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9"/>
  </p:notesMasterIdLst>
  <p:sldIdLst>
    <p:sldId id="256" r:id="rId2"/>
    <p:sldId id="257" r:id="rId3"/>
    <p:sldId id="258" r:id="rId4"/>
    <p:sldId id="259" r:id="rId5"/>
    <p:sldId id="260" r:id="rId6"/>
    <p:sldId id="261" r:id="rId7"/>
    <p:sldId id="263" r:id="rId8"/>
    <p:sldId id="409" r:id="rId9"/>
    <p:sldId id="410" r:id="rId10"/>
    <p:sldId id="465" r:id="rId11"/>
    <p:sldId id="412" r:id="rId12"/>
    <p:sldId id="413" r:id="rId13"/>
    <p:sldId id="414" r:id="rId14"/>
    <p:sldId id="415" r:id="rId15"/>
    <p:sldId id="416" r:id="rId16"/>
    <p:sldId id="417" r:id="rId17"/>
    <p:sldId id="418" r:id="rId18"/>
    <p:sldId id="433" r:id="rId19"/>
    <p:sldId id="419" r:id="rId20"/>
    <p:sldId id="420" r:id="rId21"/>
    <p:sldId id="421" r:id="rId22"/>
    <p:sldId id="422" r:id="rId23"/>
    <p:sldId id="423" r:id="rId24"/>
    <p:sldId id="424" r:id="rId25"/>
    <p:sldId id="425" r:id="rId26"/>
    <p:sldId id="426" r:id="rId27"/>
    <p:sldId id="427" r:id="rId28"/>
    <p:sldId id="428" r:id="rId29"/>
    <p:sldId id="429" r:id="rId30"/>
    <p:sldId id="430" r:id="rId31"/>
    <p:sldId id="431" r:id="rId32"/>
    <p:sldId id="432" r:id="rId33"/>
    <p:sldId id="434" r:id="rId34"/>
    <p:sldId id="435" r:id="rId35"/>
    <p:sldId id="436" r:id="rId36"/>
    <p:sldId id="437" r:id="rId37"/>
    <p:sldId id="438" r:id="rId38"/>
    <p:sldId id="439" r:id="rId39"/>
    <p:sldId id="440" r:id="rId40"/>
    <p:sldId id="441" r:id="rId41"/>
    <p:sldId id="442" r:id="rId42"/>
    <p:sldId id="445" r:id="rId43"/>
    <p:sldId id="443" r:id="rId44"/>
    <p:sldId id="444" r:id="rId45"/>
    <p:sldId id="446" r:id="rId46"/>
    <p:sldId id="447" r:id="rId47"/>
    <p:sldId id="448" r:id="rId48"/>
    <p:sldId id="281" r:id="rId49"/>
    <p:sldId id="273" r:id="rId50"/>
    <p:sldId id="401" r:id="rId51"/>
    <p:sldId id="295" r:id="rId52"/>
    <p:sldId id="464" r:id="rId53"/>
    <p:sldId id="274" r:id="rId54"/>
    <p:sldId id="275" r:id="rId55"/>
    <p:sldId id="402" r:id="rId56"/>
    <p:sldId id="403" r:id="rId57"/>
    <p:sldId id="404" r:id="rId58"/>
    <p:sldId id="405" r:id="rId59"/>
    <p:sldId id="406" r:id="rId60"/>
    <p:sldId id="407" r:id="rId61"/>
    <p:sldId id="449" r:id="rId62"/>
    <p:sldId id="450" r:id="rId63"/>
    <p:sldId id="451" r:id="rId64"/>
    <p:sldId id="452" r:id="rId65"/>
    <p:sldId id="466" r:id="rId66"/>
    <p:sldId id="472" r:id="rId67"/>
    <p:sldId id="473" r:id="rId68"/>
    <p:sldId id="474" r:id="rId69"/>
    <p:sldId id="469" r:id="rId70"/>
    <p:sldId id="475" r:id="rId71"/>
    <p:sldId id="476" r:id="rId72"/>
    <p:sldId id="477" r:id="rId73"/>
    <p:sldId id="478" r:id="rId74"/>
    <p:sldId id="479" r:id="rId75"/>
    <p:sldId id="283" r:id="rId76"/>
    <p:sldId id="453" r:id="rId77"/>
    <p:sldId id="454" r:id="rId78"/>
    <p:sldId id="461" r:id="rId79"/>
    <p:sldId id="455" r:id="rId80"/>
    <p:sldId id="456" r:id="rId81"/>
    <p:sldId id="457" r:id="rId82"/>
    <p:sldId id="458" r:id="rId83"/>
    <p:sldId id="459" r:id="rId84"/>
    <p:sldId id="460" r:id="rId85"/>
    <p:sldId id="462" r:id="rId86"/>
    <p:sldId id="463" r:id="rId87"/>
    <p:sldId id="480" r:id="rId88"/>
    <p:sldId id="481" r:id="rId89"/>
    <p:sldId id="482" r:id="rId90"/>
    <p:sldId id="467" r:id="rId91"/>
    <p:sldId id="468" r:id="rId92"/>
    <p:sldId id="470" r:id="rId93"/>
    <p:sldId id="483" r:id="rId94"/>
    <p:sldId id="484" r:id="rId95"/>
    <p:sldId id="485" r:id="rId96"/>
    <p:sldId id="486" r:id="rId97"/>
    <p:sldId id="487" r:id="rId98"/>
    <p:sldId id="488" r:id="rId99"/>
    <p:sldId id="489" r:id="rId100"/>
    <p:sldId id="490" r:id="rId101"/>
    <p:sldId id="491" r:id="rId102"/>
    <p:sldId id="492" r:id="rId103"/>
    <p:sldId id="493" r:id="rId104"/>
    <p:sldId id="498" r:id="rId105"/>
    <p:sldId id="499" r:id="rId106"/>
    <p:sldId id="500" r:id="rId107"/>
    <p:sldId id="501" r:id="rId108"/>
    <p:sldId id="494" r:id="rId109"/>
    <p:sldId id="495" r:id="rId110"/>
    <p:sldId id="497" r:id="rId111"/>
    <p:sldId id="496" r:id="rId112"/>
    <p:sldId id="502" r:id="rId113"/>
    <p:sldId id="503" r:id="rId114"/>
    <p:sldId id="504" r:id="rId115"/>
    <p:sldId id="505" r:id="rId116"/>
    <p:sldId id="506" r:id="rId117"/>
    <p:sldId id="513" r:id="rId118"/>
    <p:sldId id="514" r:id="rId119"/>
    <p:sldId id="515" r:id="rId120"/>
    <p:sldId id="516" r:id="rId121"/>
    <p:sldId id="517" r:id="rId122"/>
    <p:sldId id="507" r:id="rId123"/>
    <p:sldId id="508" r:id="rId124"/>
    <p:sldId id="509" r:id="rId125"/>
    <p:sldId id="510" r:id="rId126"/>
    <p:sldId id="511" r:id="rId127"/>
    <p:sldId id="525" r:id="rId128"/>
    <p:sldId id="535" r:id="rId129"/>
    <p:sldId id="512" r:id="rId130"/>
    <p:sldId id="536" r:id="rId131"/>
    <p:sldId id="537" r:id="rId132"/>
    <p:sldId id="538" r:id="rId133"/>
    <p:sldId id="518" r:id="rId134"/>
    <p:sldId id="519" r:id="rId135"/>
    <p:sldId id="521" r:id="rId136"/>
    <p:sldId id="522" r:id="rId137"/>
    <p:sldId id="523" r:id="rId138"/>
    <p:sldId id="524" r:id="rId139"/>
    <p:sldId id="526" r:id="rId140"/>
    <p:sldId id="527" r:id="rId141"/>
    <p:sldId id="528" r:id="rId142"/>
    <p:sldId id="529" r:id="rId143"/>
    <p:sldId id="530" r:id="rId144"/>
    <p:sldId id="531" r:id="rId145"/>
    <p:sldId id="532" r:id="rId146"/>
    <p:sldId id="533" r:id="rId147"/>
    <p:sldId id="317" r:id="rId148"/>
  </p:sldIdLst>
  <p:sldSz cx="12188825" cy="6858000"/>
  <p:notesSz cx="6858000" cy="9144000"/>
  <p:embeddedFontLst>
    <p:embeddedFont>
      <p:font typeface="Cambria Math" panose="02040503050406030204" pitchFamily="18" charset="0"/>
      <p:regular r:id="rId150"/>
    </p:embeddedFont>
    <p:embeddedFont>
      <p:font typeface="Century Gothic" panose="020B0502020202020204" pitchFamily="34" charset="0"/>
      <p:regular r:id="rId151"/>
      <p:bold r:id="rId152"/>
      <p:italic r:id="rId153"/>
      <p:boldItalic r:id="rId154"/>
    </p:embeddedFont>
    <p:embeddedFont>
      <p:font typeface="Consolas" panose="020B0609020204030204" pitchFamily="49" charset="0"/>
      <p:regular r:id="rId155"/>
      <p:bold r:id="rId156"/>
      <p:italic r:id="rId157"/>
      <p:boldItalic r:id="rId1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orient="horz" pos="1200">
          <p15:clr>
            <a:srgbClr val="A4A3A4"/>
          </p15:clr>
        </p15:guide>
        <p15:guide id="3" orient="horz" pos="3888">
          <p15:clr>
            <a:srgbClr val="A4A3A4"/>
          </p15:clr>
        </p15:guide>
        <p15:guide id="4" orient="horz" pos="2880">
          <p15:clr>
            <a:srgbClr val="A4A3A4"/>
          </p15:clr>
        </p15:guide>
        <p15:guide id="5" orient="horz" pos="3216">
          <p15:clr>
            <a:srgbClr val="A4A3A4"/>
          </p15:clr>
        </p15:guide>
        <p15:guide id="6" orient="horz" pos="816">
          <p15:clr>
            <a:srgbClr val="A4A3A4"/>
          </p15:clr>
        </p15:guide>
        <p15:guide id="7" orient="horz" pos="175">
          <p15:clr>
            <a:srgbClr val="A4A3A4"/>
          </p15:clr>
        </p15:guide>
        <p15:guide id="8" pos="3839">
          <p15:clr>
            <a:srgbClr val="A4A3A4"/>
          </p15:clr>
        </p15:guide>
        <p15:guide id="9" pos="959">
          <p15:clr>
            <a:srgbClr val="A4A3A4"/>
          </p15:clr>
        </p15:guide>
        <p15:guide id="10" pos="6719">
          <p15:clr>
            <a:srgbClr val="A4A3A4"/>
          </p15:clr>
        </p15:guide>
        <p15:guide id="11" pos="6143">
          <p15:clr>
            <a:srgbClr val="A4A3A4"/>
          </p15:clr>
        </p15:guide>
        <p15:guide id="12" pos="283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8741827-E14D-4CE4-A786-B1D9149275DA}">
  <a:tblStyle styleId="{C8741827-E14D-4CE4-A786-B1D9149275D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483"/>
    <p:restoredTop sz="67360"/>
  </p:normalViewPr>
  <p:slideViewPr>
    <p:cSldViewPr snapToGrid="0">
      <p:cViewPr>
        <p:scale>
          <a:sx n="56" d="100"/>
          <a:sy n="56" d="100"/>
        </p:scale>
        <p:origin x="1320" y="872"/>
      </p:cViewPr>
      <p:guideLst>
        <p:guide orient="horz" pos="2160"/>
        <p:guide orient="horz" pos="1200"/>
        <p:guide orient="horz" pos="3888"/>
        <p:guide orient="horz" pos="2880"/>
        <p:guide orient="horz" pos="3216"/>
        <p:guide orient="horz" pos="816"/>
        <p:guide orient="horz" pos="175"/>
        <p:guide pos="3839"/>
        <p:guide pos="959"/>
        <p:guide pos="6719"/>
        <p:guide pos="6143"/>
        <p:guide pos="2831"/>
      </p:guideLst>
    </p:cSldViewPr>
  </p:slideViewPr>
  <p:notesTextViewPr>
    <p:cViewPr>
      <p:scale>
        <a:sx n="95" d="100"/>
        <a:sy n="95" d="100"/>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notesMaster" Target="notesMasters/notesMaster1.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1.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2.fntdata"/><Relationship Id="rId156" Type="http://schemas.openxmlformats.org/officeDocument/2006/relationships/font" Target="fonts/font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5.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5" name="Google Shape;5;n"/>
          <p:cNvSpPr>
            <a:spLocks noGrp="1" noRot="1" noChangeAspect="1"/>
          </p:cNvSpPr>
          <p:nvPr>
            <p:ph type="sldImg" idx="3"/>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5pPr>
            <a:lvl6pPr marL="2743200" marR="0" lvl="5"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6pPr>
            <a:lvl7pPr marL="3200400" marR="0" lvl="6"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7pPr>
            <a:lvl8pPr marL="3657600" marR="0" lvl="7"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8pPr>
            <a:lvl9pPr marL="4114800" marR="0" lvl="8"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entury Gothic"/>
                <a:ea typeface="Century Gothic"/>
                <a:cs typeface="Century Gothic"/>
                <a:sym typeface="Century Gothic"/>
              </a:rPr>
              <a:t>‹#›</a:t>
            </a:fld>
            <a:endParaRPr sz="1200" b="0" i="0" u="none" strike="noStrike" cap="none">
              <a:solidFill>
                <a:schemeClr val="dk1"/>
              </a:solidFill>
              <a:latin typeface="Century Gothic"/>
              <a:ea typeface="Century Gothic"/>
              <a:cs typeface="Century Gothic"/>
              <a:sym typeface="Century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7" name="Google Shape;1387;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3" name="Google Shape;1393;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9" name="Google Shape;1399;p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3"/>
        <p:cNvGrpSpPr/>
        <p:nvPr/>
      </p:nvGrpSpPr>
      <p:grpSpPr>
        <a:xfrm>
          <a:off x="0" y="0"/>
          <a:ext cx="0" cy="0"/>
          <a:chOff x="0" y="0"/>
          <a:chExt cx="0" cy="0"/>
        </a:xfrm>
      </p:grpSpPr>
      <p:sp>
        <p:nvSpPr>
          <p:cNvPr id="1404" name="Google Shape;140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05" name="Google Shape;1405;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3"/>
        <p:cNvGrpSpPr/>
        <p:nvPr/>
      </p:nvGrpSpPr>
      <p:grpSpPr>
        <a:xfrm>
          <a:off x="0" y="0"/>
          <a:ext cx="0" cy="0"/>
          <a:chOff x="0" y="0"/>
          <a:chExt cx="0" cy="0"/>
        </a:xfrm>
      </p:grpSpPr>
      <p:sp>
        <p:nvSpPr>
          <p:cNvPr id="1414" name="Google Shape;141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5" name="Google Shape;1415;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9"/>
        <p:cNvGrpSpPr/>
        <p:nvPr/>
      </p:nvGrpSpPr>
      <p:grpSpPr>
        <a:xfrm>
          <a:off x="0" y="0"/>
          <a:ext cx="0" cy="0"/>
          <a:chOff x="0" y="0"/>
          <a:chExt cx="0" cy="0"/>
        </a:xfrm>
      </p:grpSpPr>
      <p:sp>
        <p:nvSpPr>
          <p:cNvPr id="1420" name="Google Shape;1420;gefc3ba5fa9_4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1" name="Google Shape;1421;gefc3ba5fa9_4_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1"/>
        <p:cNvGrpSpPr/>
        <p:nvPr/>
      </p:nvGrpSpPr>
      <p:grpSpPr>
        <a:xfrm>
          <a:off x="0" y="0"/>
          <a:ext cx="0" cy="0"/>
          <a:chOff x="0" y="0"/>
          <a:chExt cx="0" cy="0"/>
        </a:xfrm>
      </p:grpSpPr>
      <p:sp>
        <p:nvSpPr>
          <p:cNvPr id="1432" name="Google Shape;143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3" name="Google Shape;1433;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25</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590522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29</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062446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39</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977960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40</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207829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FPR = care e rata </a:t>
            </a:r>
            <a:r>
              <a:rPr lang="en-US" dirty="0" err="1"/>
              <a:t>mea</a:t>
            </a:r>
            <a:r>
              <a:rPr lang="en-US" dirty="0"/>
              <a:t> de FP-</a:t>
            </a:r>
            <a:r>
              <a:rPr lang="en-US" dirty="0" err="1"/>
              <a:t>uri</a:t>
            </a:r>
            <a:endParaRPr lang="en-US" dirty="0"/>
          </a:p>
          <a:p>
            <a:r>
              <a:rPr lang="en-US" dirty="0"/>
              <a:t>Specificity = care e rata </a:t>
            </a:r>
            <a:r>
              <a:rPr lang="en-US" dirty="0" err="1"/>
              <a:t>mea</a:t>
            </a:r>
            <a:r>
              <a:rPr lang="en-US" dirty="0"/>
              <a:t> de </a:t>
            </a:r>
            <a:r>
              <a:rPr lang="en-US" dirty="0" err="1"/>
              <a:t>detectat</a:t>
            </a:r>
            <a:r>
              <a:rPr lang="en-US" dirty="0"/>
              <a:t> false negatives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41</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65838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 Negative = Cat am </a:t>
            </a:r>
            <a:r>
              <a:rPr lang="en-US" dirty="0" err="1"/>
              <a:t>ratat</a:t>
            </a:r>
            <a:r>
              <a:rPr lang="en-US" dirty="0"/>
              <a:t> din  </a:t>
            </a:r>
            <a:r>
              <a:rPr lang="en-US" dirty="0" err="1"/>
              <a:t>ce</a:t>
            </a:r>
            <a:r>
              <a:rPr lang="en-US" dirty="0"/>
              <a:t> </a:t>
            </a:r>
            <a:r>
              <a:rPr lang="en-US" dirty="0" err="1"/>
              <a:t>trebuia</a:t>
            </a:r>
            <a:r>
              <a:rPr lang="en-US" dirty="0"/>
              <a:t> </a:t>
            </a:r>
            <a:r>
              <a:rPr lang="en-US" dirty="0" err="1"/>
              <a:t>sa</a:t>
            </a:r>
            <a:r>
              <a:rPr lang="en-US" dirty="0"/>
              <a:t> </a:t>
            </a:r>
            <a:r>
              <a:rPr lang="en-US" dirty="0" err="1"/>
              <a:t>detectez</a:t>
            </a:r>
            <a:endParaRPr lang="en-US" dirty="0"/>
          </a:p>
          <a:p>
            <a:r>
              <a:rPr lang="en-US" dirty="0"/>
              <a:t>Recall/</a:t>
            </a:r>
            <a:r>
              <a:rPr lang="en-US" dirty="0" err="1"/>
              <a:t>Sensititviy</a:t>
            </a:r>
            <a:r>
              <a:rPr lang="en-US" dirty="0"/>
              <a:t> = Cat am </a:t>
            </a:r>
            <a:r>
              <a:rPr lang="en-US" dirty="0" err="1"/>
              <a:t>nimerit</a:t>
            </a:r>
            <a:r>
              <a:rPr lang="en-US" dirty="0"/>
              <a:t> din </a:t>
            </a:r>
            <a:r>
              <a:rPr lang="en-US" dirty="0" err="1"/>
              <a:t>ce</a:t>
            </a:r>
            <a:r>
              <a:rPr lang="en-US" dirty="0"/>
              <a:t> </a:t>
            </a:r>
            <a:r>
              <a:rPr lang="en-US" dirty="0" err="1"/>
              <a:t>trebuia</a:t>
            </a:r>
            <a:r>
              <a:rPr lang="en-US" dirty="0"/>
              <a:t> </a:t>
            </a:r>
            <a:r>
              <a:rPr lang="en-US" dirty="0" err="1"/>
              <a:t>sa</a:t>
            </a:r>
            <a:r>
              <a:rPr lang="en-US" dirty="0"/>
              <a:t> </a:t>
            </a:r>
            <a:r>
              <a:rPr lang="en-US" dirty="0" err="1"/>
              <a:t>detectez</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42</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718936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relevant are samples </a:t>
            </a:r>
            <a:r>
              <a:rPr lang="en-US" dirty="0" err="1"/>
              <a:t>retrived</a:t>
            </a:r>
            <a:r>
              <a:rPr lang="en-US" dirty="0"/>
              <a:t>. </a:t>
            </a:r>
          </a:p>
          <a:p>
            <a:r>
              <a:rPr lang="en-US" dirty="0"/>
              <a:t>Cat din </a:t>
            </a:r>
            <a:r>
              <a:rPr lang="en-US" dirty="0" err="1"/>
              <a:t>cele</a:t>
            </a:r>
            <a:r>
              <a:rPr lang="en-US" dirty="0"/>
              <a:t> pe care am </a:t>
            </a:r>
            <a:r>
              <a:rPr lang="en-US" dirty="0" err="1"/>
              <a:t>dat</a:t>
            </a:r>
            <a:r>
              <a:rPr lang="en-US" dirty="0"/>
              <a:t> </a:t>
            </a:r>
            <a:r>
              <a:rPr lang="en-US" dirty="0" err="1"/>
              <a:t>eu</a:t>
            </a:r>
            <a:r>
              <a:rPr lang="en-US" dirty="0"/>
              <a:t> </a:t>
            </a:r>
            <a:r>
              <a:rPr lang="en-US" dirty="0" err="1"/>
              <a:t>raspunsul</a:t>
            </a:r>
            <a:r>
              <a:rPr lang="en-US" dirty="0"/>
              <a:t> de </a:t>
            </a:r>
            <a:r>
              <a:rPr lang="en-US" dirty="0" err="1"/>
              <a:t>pisica</a:t>
            </a:r>
            <a:r>
              <a:rPr lang="en-US" dirty="0"/>
              <a:t>, sunt </a:t>
            </a:r>
            <a:r>
              <a:rPr lang="en-US" dirty="0" err="1"/>
              <a:t>intradevar</a:t>
            </a:r>
            <a:r>
              <a:rPr lang="en-US" dirty="0"/>
              <a:t> </a:t>
            </a:r>
            <a:r>
              <a:rPr lang="en-US" dirty="0" err="1"/>
              <a:t>pisici</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43</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784123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amount relevant samples retrieved</a:t>
            </a:r>
          </a:p>
          <a:p>
            <a:endParaRPr lang="en-US" dirty="0"/>
          </a:p>
          <a:p>
            <a:r>
              <a:rPr lang="en-US" dirty="0"/>
              <a:t>False Negative = Cat am </a:t>
            </a:r>
            <a:r>
              <a:rPr lang="en-US" dirty="0" err="1"/>
              <a:t>ratat</a:t>
            </a:r>
            <a:r>
              <a:rPr lang="en-US" dirty="0"/>
              <a:t> din  </a:t>
            </a:r>
            <a:r>
              <a:rPr lang="en-US" dirty="0" err="1"/>
              <a:t>ce</a:t>
            </a:r>
            <a:r>
              <a:rPr lang="en-US" dirty="0"/>
              <a:t> </a:t>
            </a:r>
            <a:r>
              <a:rPr lang="en-US" dirty="0" err="1"/>
              <a:t>trebuia</a:t>
            </a:r>
            <a:r>
              <a:rPr lang="en-US" dirty="0"/>
              <a:t> </a:t>
            </a:r>
            <a:r>
              <a:rPr lang="en-US" dirty="0" err="1"/>
              <a:t>sa</a:t>
            </a:r>
            <a:r>
              <a:rPr lang="en-US" dirty="0"/>
              <a:t> </a:t>
            </a:r>
            <a:r>
              <a:rPr lang="en-US" dirty="0" err="1"/>
              <a:t>detectez</a:t>
            </a:r>
            <a:endParaRPr lang="en-US" dirty="0"/>
          </a:p>
          <a:p>
            <a:r>
              <a:rPr lang="en-US" dirty="0"/>
              <a:t>Recall/</a:t>
            </a:r>
            <a:r>
              <a:rPr lang="en-US" dirty="0" err="1"/>
              <a:t>Sensititviy</a:t>
            </a:r>
            <a:r>
              <a:rPr lang="en-US" dirty="0"/>
              <a:t> = Cat am </a:t>
            </a:r>
            <a:r>
              <a:rPr lang="en-US" dirty="0" err="1"/>
              <a:t>nimerit</a:t>
            </a:r>
            <a:r>
              <a:rPr lang="en-US" dirty="0"/>
              <a:t> din </a:t>
            </a:r>
            <a:r>
              <a:rPr lang="en-US" dirty="0" err="1"/>
              <a:t>ce</a:t>
            </a:r>
            <a:r>
              <a:rPr lang="en-US" dirty="0"/>
              <a:t> </a:t>
            </a:r>
            <a:r>
              <a:rPr lang="en-US" dirty="0" err="1"/>
              <a:t>trebuia</a:t>
            </a:r>
            <a:r>
              <a:rPr lang="en-US" dirty="0"/>
              <a:t> </a:t>
            </a:r>
            <a:r>
              <a:rPr lang="en-US" dirty="0" err="1"/>
              <a:t>sa</a:t>
            </a:r>
            <a:r>
              <a:rPr lang="en-US" dirty="0"/>
              <a:t> </a:t>
            </a:r>
            <a:r>
              <a:rPr lang="en-US" dirty="0" err="1"/>
              <a:t>detectez</a:t>
            </a:r>
            <a:r>
              <a:rPr lang="en-US" dirty="0"/>
              <a:t> (invers la false negative)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44</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225493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 Negative = Cat am </a:t>
            </a:r>
            <a:r>
              <a:rPr lang="en-US" dirty="0" err="1"/>
              <a:t>ratat</a:t>
            </a:r>
            <a:r>
              <a:rPr lang="en-US" dirty="0"/>
              <a:t> din  </a:t>
            </a:r>
            <a:r>
              <a:rPr lang="en-US" dirty="0" err="1"/>
              <a:t>ce</a:t>
            </a:r>
            <a:r>
              <a:rPr lang="en-US" dirty="0"/>
              <a:t> </a:t>
            </a:r>
            <a:r>
              <a:rPr lang="en-US" dirty="0" err="1"/>
              <a:t>trebuia</a:t>
            </a:r>
            <a:r>
              <a:rPr lang="en-US" dirty="0"/>
              <a:t> </a:t>
            </a:r>
            <a:r>
              <a:rPr lang="en-US" dirty="0" err="1"/>
              <a:t>sa</a:t>
            </a:r>
            <a:r>
              <a:rPr lang="en-US" dirty="0"/>
              <a:t> </a:t>
            </a:r>
            <a:r>
              <a:rPr lang="en-US" dirty="0" err="1"/>
              <a:t>detectez</a:t>
            </a:r>
            <a:endParaRPr lang="en-US" dirty="0"/>
          </a:p>
          <a:p>
            <a:r>
              <a:rPr lang="en-US" dirty="0"/>
              <a:t>Recall/</a:t>
            </a:r>
            <a:r>
              <a:rPr lang="en-US" dirty="0" err="1"/>
              <a:t>Sensititviy</a:t>
            </a:r>
            <a:r>
              <a:rPr lang="en-US" dirty="0"/>
              <a:t> = Cat am </a:t>
            </a:r>
            <a:r>
              <a:rPr lang="en-US" dirty="0" err="1"/>
              <a:t>nimerit</a:t>
            </a:r>
            <a:r>
              <a:rPr lang="en-US" dirty="0"/>
              <a:t> din </a:t>
            </a:r>
            <a:r>
              <a:rPr lang="en-US" dirty="0" err="1"/>
              <a:t>ce</a:t>
            </a:r>
            <a:r>
              <a:rPr lang="en-US" dirty="0"/>
              <a:t> </a:t>
            </a:r>
            <a:r>
              <a:rPr lang="en-US" dirty="0" err="1"/>
              <a:t>trebuia</a:t>
            </a:r>
            <a:r>
              <a:rPr lang="en-US" dirty="0"/>
              <a:t> </a:t>
            </a:r>
            <a:r>
              <a:rPr lang="en-US" dirty="0" err="1"/>
              <a:t>sa</a:t>
            </a:r>
            <a:r>
              <a:rPr lang="en-US" dirty="0"/>
              <a:t> </a:t>
            </a:r>
            <a:r>
              <a:rPr lang="en-US" dirty="0" err="1"/>
              <a:t>detectez</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45</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859574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Harmonic Mean.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46</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098225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47</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729813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dk1"/>
                </a:solidFill>
                <a:effectLst/>
                <a:latin typeface="Century Gothic"/>
                <a:ea typeface="Century Gothic"/>
                <a:cs typeface="Century Gothic"/>
                <a:sym typeface="Century Gothic"/>
              </a:rPr>
              <a:t>Homogeneity of a norm is </a:t>
            </a:r>
            <a:r>
              <a:rPr lang="en-US" dirty="0"/>
              <a:t>the property that, for any vector v and any scalar c, the norm of the scaled vector cv is equal to the absolute value of the scalar c times the norm of the original vector v</a:t>
            </a:r>
          </a:p>
          <a:p>
            <a:endParaRPr lang="en-US" dirty="0"/>
          </a:p>
          <a:p>
            <a:r>
              <a:rPr lang="en-US" dirty="0"/>
              <a:t>Norma </a:t>
            </a:r>
            <a:r>
              <a:rPr lang="en-US" dirty="0" err="1"/>
              <a:t>produsului</a:t>
            </a:r>
            <a:r>
              <a:rPr lang="en-US" dirty="0"/>
              <a:t> scalar  </a:t>
            </a:r>
            <a:r>
              <a:rPr lang="en-US" dirty="0" err="1"/>
              <a:t>este</a:t>
            </a:r>
            <a:r>
              <a:rPr lang="en-US" dirty="0"/>
              <a:t> egal cu </a:t>
            </a:r>
            <a:r>
              <a:rPr lang="en-US" dirty="0" err="1"/>
              <a:t>produsul</a:t>
            </a:r>
            <a:r>
              <a:rPr lang="en-US" dirty="0"/>
              <a:t> </a:t>
            </a:r>
            <a:r>
              <a:rPr lang="en-US" dirty="0" err="1"/>
              <a:t>intre</a:t>
            </a:r>
            <a:r>
              <a:rPr lang="en-US" dirty="0"/>
              <a:t> scalar </a:t>
            </a:r>
            <a:r>
              <a:rPr lang="en-US" dirty="0" err="1"/>
              <a:t>si</a:t>
            </a:r>
            <a:r>
              <a:rPr lang="en-US" dirty="0"/>
              <a:t> norma.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56</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7881201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Poate</a:t>
            </a:r>
            <a:r>
              <a:rPr lang="en-US" dirty="0"/>
              <a:t> </a:t>
            </a:r>
            <a:r>
              <a:rPr lang="en-US" dirty="0" err="1"/>
              <a:t>sa</a:t>
            </a:r>
            <a:r>
              <a:rPr lang="en-US" dirty="0"/>
              <a:t> </a:t>
            </a:r>
            <a:r>
              <a:rPr lang="en-US" dirty="0" err="1"/>
              <a:t>dispara</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58</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302178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59</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6268966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0" name="Google Shape;1400;p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74</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181119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76</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6068636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78</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40068603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94</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103525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105</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9725539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Explica</a:t>
            </a:r>
            <a:r>
              <a:rPr lang="en-US" dirty="0"/>
              <a:t> </a:t>
            </a:r>
            <a:r>
              <a:rPr lang="en-US" dirty="0" err="1"/>
              <a:t>aici</a:t>
            </a:r>
            <a:r>
              <a:rPr lang="en-US" dirty="0"/>
              <a:t> ca </a:t>
            </a:r>
            <a:r>
              <a:rPr lang="en-US" dirty="0" err="1"/>
              <a:t>atunci</a:t>
            </a:r>
            <a:r>
              <a:rPr lang="en-US" dirty="0"/>
              <a:t> cand </a:t>
            </a:r>
            <a:r>
              <a:rPr lang="en-US" dirty="0" err="1"/>
              <a:t>folosesti</a:t>
            </a:r>
            <a:r>
              <a:rPr lang="en-US" dirty="0"/>
              <a:t> axis, se fac </a:t>
            </a:r>
            <a:r>
              <a:rPr lang="en-US" dirty="0" err="1"/>
              <a:t>operatiile</a:t>
            </a:r>
            <a:r>
              <a:rPr lang="en-US" dirty="0"/>
              <a:t> pe </a:t>
            </a:r>
            <a:r>
              <a:rPr lang="en-US" dirty="0" err="1"/>
              <a:t>acea</a:t>
            </a:r>
            <a:r>
              <a:rPr lang="en-US" dirty="0"/>
              <a:t> </a:t>
            </a:r>
            <a:r>
              <a:rPr lang="en-US" dirty="0" err="1"/>
              <a:t>dimensiune</a:t>
            </a:r>
            <a:r>
              <a:rPr lang="en-US" dirty="0"/>
              <a:t> s </a:t>
            </a:r>
            <a:r>
              <a:rPr lang="en-US" dirty="0" err="1"/>
              <a:t>acea</a:t>
            </a:r>
            <a:r>
              <a:rPr lang="en-US" dirty="0"/>
              <a:t> </a:t>
            </a:r>
            <a:r>
              <a:rPr lang="en-US" dirty="0" err="1"/>
              <a:t>dimensiune</a:t>
            </a:r>
            <a:r>
              <a:rPr lang="en-US" dirty="0"/>
              <a:t> </a:t>
            </a:r>
            <a:r>
              <a:rPr lang="en-US" dirty="0" err="1"/>
              <a:t>dispare</a:t>
            </a:r>
            <a:endParaRPr lang="en-US" dirty="0"/>
          </a:p>
          <a:p>
            <a:r>
              <a:rPr lang="en-US" dirty="0"/>
              <a:t>De ex, in </a:t>
            </a:r>
            <a:r>
              <a:rPr lang="en-US" dirty="0" err="1"/>
              <a:t>cazul</a:t>
            </a:r>
            <a:r>
              <a:rPr lang="en-US" dirty="0"/>
              <a:t> a 3 </a:t>
            </a:r>
            <a:r>
              <a:rPr lang="en-US" dirty="0" err="1"/>
              <a:t>dimensiuni</a:t>
            </a:r>
            <a:r>
              <a:rPr lang="en-US" dirty="0"/>
              <a:t>, sum(axis=0), </a:t>
            </a:r>
            <a:r>
              <a:rPr lang="en-US" dirty="0" err="1"/>
              <a:t>presupune</a:t>
            </a:r>
            <a:r>
              <a:rPr lang="en-US" dirty="0"/>
              <a:t> </a:t>
            </a:r>
            <a:r>
              <a:rPr lang="en-US" dirty="0" err="1"/>
              <a:t>sa</a:t>
            </a:r>
            <a:r>
              <a:rPr lang="en-US" dirty="0"/>
              <a:t> </a:t>
            </a:r>
            <a:r>
              <a:rPr lang="en-US" dirty="0" err="1"/>
              <a:t>aduni</a:t>
            </a:r>
            <a:r>
              <a:rPr lang="en-US" dirty="0"/>
              <a:t> </a:t>
            </a:r>
            <a:r>
              <a:rPr lang="en-US" dirty="0" err="1"/>
              <a:t>matricile</a:t>
            </a:r>
            <a:r>
              <a:rPr lang="en-US" dirty="0"/>
              <a:t> </a:t>
            </a:r>
            <a:r>
              <a:rPr lang="en-US" dirty="0" err="1"/>
              <a:t>si</a:t>
            </a:r>
            <a:r>
              <a:rPr lang="en-US" dirty="0"/>
              <a:t> </a:t>
            </a:r>
            <a:r>
              <a:rPr lang="en-US" dirty="0" err="1"/>
              <a:t>obtiii</a:t>
            </a:r>
            <a:r>
              <a:rPr lang="en-US" dirty="0"/>
              <a:t> 2 </a:t>
            </a:r>
            <a:r>
              <a:rPr lang="en-US" dirty="0" err="1"/>
              <a:t>dimenisuni</a:t>
            </a:r>
            <a:br>
              <a:rPr lang="en-US" dirty="0"/>
            </a:br>
            <a:br>
              <a:rPr lang="en-US" dirty="0"/>
            </a:br>
            <a:r>
              <a:rPr lang="en-US" dirty="0"/>
              <a:t>sum(axis=1), </a:t>
            </a:r>
            <a:r>
              <a:rPr lang="en-US" dirty="0" err="1"/>
              <a:t>ipresupune</a:t>
            </a:r>
            <a:r>
              <a:rPr lang="en-US" dirty="0"/>
              <a:t> </a:t>
            </a:r>
            <a:r>
              <a:rPr lang="en-US" dirty="0" err="1"/>
              <a:t>sa</a:t>
            </a:r>
            <a:r>
              <a:rPr lang="en-US" dirty="0"/>
              <a:t> </a:t>
            </a:r>
            <a:r>
              <a:rPr lang="en-US" dirty="0" err="1"/>
              <a:t>aduni</a:t>
            </a:r>
            <a:r>
              <a:rPr lang="en-US" dirty="0"/>
              <a:t> </a:t>
            </a:r>
            <a:r>
              <a:rPr lang="en-US" dirty="0" err="1"/>
              <a:t>randurile</a:t>
            </a:r>
            <a:r>
              <a:rPr lang="en-US" dirty="0"/>
              <a:t> la </a:t>
            </a:r>
            <a:r>
              <a:rPr lang="en-US" dirty="0" err="1"/>
              <a:t>fiecare</a:t>
            </a:r>
            <a:r>
              <a:rPr lang="en-US" dirty="0"/>
              <a:t> </a:t>
            </a:r>
            <a:r>
              <a:rPr lang="en-US" dirty="0" err="1"/>
              <a:t>matrice</a:t>
            </a:r>
            <a:r>
              <a:rPr lang="en-US" dirty="0"/>
              <a:t> </a:t>
            </a:r>
            <a:r>
              <a:rPr lang="en-US" dirty="0" err="1"/>
              <a:t>si</a:t>
            </a:r>
            <a:r>
              <a:rPr lang="en-US" dirty="0"/>
              <a:t> </a:t>
            </a:r>
            <a:r>
              <a:rPr lang="en-US" dirty="0" err="1"/>
              <a:t>obtii</a:t>
            </a:r>
            <a:r>
              <a:rPr lang="en-US" dirty="0"/>
              <a:t> o </a:t>
            </a:r>
            <a:r>
              <a:rPr lang="en-US" dirty="0" err="1"/>
              <a:t>atrice</a:t>
            </a:r>
            <a:r>
              <a:rPr lang="en-US" dirty="0"/>
              <a:t> (nr </a:t>
            </a:r>
            <a:r>
              <a:rPr lang="en-US" dirty="0" err="1"/>
              <a:t>matrici</a:t>
            </a:r>
            <a:r>
              <a:rPr lang="en-US" dirty="0"/>
              <a:t>, nr </a:t>
            </a:r>
            <a:r>
              <a:rPr lang="en-US" dirty="0" err="1"/>
              <a:t>coloane</a:t>
            </a:r>
            <a:r>
              <a:rPr lang="en-US" dirty="0"/>
              <a:t>)</a:t>
            </a:r>
          </a:p>
          <a:p>
            <a:r>
              <a:rPr lang="en-US" dirty="0"/>
              <a:t>Sum(axis=2), </a:t>
            </a:r>
            <a:r>
              <a:rPr lang="en-US" dirty="0" err="1"/>
              <a:t>presupune</a:t>
            </a:r>
            <a:r>
              <a:rPr lang="en-US" dirty="0"/>
              <a:t> </a:t>
            </a:r>
            <a:r>
              <a:rPr lang="en-US" dirty="0" err="1"/>
              <a:t>sa</a:t>
            </a:r>
            <a:r>
              <a:rPr lang="en-US" dirty="0"/>
              <a:t> </a:t>
            </a:r>
            <a:r>
              <a:rPr lang="en-US" dirty="0" err="1"/>
              <a:t>aduni</a:t>
            </a:r>
            <a:r>
              <a:rPr lang="en-US" dirty="0"/>
              <a:t> </a:t>
            </a:r>
            <a:r>
              <a:rPr lang="en-US" dirty="0" err="1"/>
              <a:t>coloane</a:t>
            </a:r>
            <a:r>
              <a:rPr lang="en-US" dirty="0"/>
              <a:t> </a:t>
            </a:r>
            <a:r>
              <a:rPr lang="en-US" dirty="0" err="1"/>
              <a:t>si</a:t>
            </a:r>
            <a:r>
              <a:rPr lang="en-US" dirty="0"/>
              <a:t> </a:t>
            </a:r>
            <a:r>
              <a:rPr lang="en-US" dirty="0" err="1"/>
              <a:t>obtii</a:t>
            </a:r>
            <a:r>
              <a:rPr lang="en-US" dirty="0"/>
              <a:t> o </a:t>
            </a:r>
            <a:r>
              <a:rPr lang="en-US" dirty="0" err="1"/>
              <a:t>matrice</a:t>
            </a:r>
            <a:r>
              <a:rPr lang="en-US" dirty="0"/>
              <a:t> de forma( nr </a:t>
            </a:r>
            <a:r>
              <a:rPr lang="en-US" dirty="0" err="1"/>
              <a:t>matrici</a:t>
            </a:r>
            <a:r>
              <a:rPr lang="en-US" dirty="0"/>
              <a:t>, nr </a:t>
            </a:r>
            <a:r>
              <a:rPr lang="en-US" dirty="0" err="1"/>
              <a:t>randuri</a:t>
            </a:r>
            <a:r>
              <a:rPr lang="en-US" dirty="0"/>
              <a: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126</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6131804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a:t>
            </a:r>
            <a:r>
              <a:rPr lang="en-US" dirty="0" err="1"/>
              <a:t>zicem</a:t>
            </a:r>
            <a:r>
              <a:rPr lang="en-US" dirty="0"/>
              <a:t> ca ai </a:t>
            </a:r>
            <a:r>
              <a:rPr lang="en-US" dirty="0" err="1"/>
              <a:t>mai</a:t>
            </a:r>
            <a:r>
              <a:rPr lang="en-US" dirty="0"/>
              <a:t> multi ani, </a:t>
            </a:r>
            <a:r>
              <a:rPr lang="en-US" dirty="0" err="1"/>
              <a:t>si</a:t>
            </a:r>
            <a:r>
              <a:rPr lang="en-US" dirty="0"/>
              <a:t> </a:t>
            </a:r>
            <a:r>
              <a:rPr lang="en-US" dirty="0" err="1"/>
              <a:t>pentru</a:t>
            </a:r>
            <a:r>
              <a:rPr lang="en-US" dirty="0"/>
              <a:t> </a:t>
            </a:r>
            <a:r>
              <a:rPr lang="en-US" dirty="0" err="1"/>
              <a:t>fiecare</a:t>
            </a:r>
            <a:r>
              <a:rPr lang="en-US" dirty="0"/>
              <a:t> an ai </a:t>
            </a:r>
            <a:r>
              <a:rPr lang="en-US" dirty="0" err="1"/>
              <a:t>temperatura</a:t>
            </a:r>
            <a:r>
              <a:rPr lang="en-US" dirty="0"/>
              <a:t> </a:t>
            </a:r>
            <a:r>
              <a:rPr lang="en-US" dirty="0" err="1"/>
              <a:t>dimineata</a:t>
            </a:r>
            <a:r>
              <a:rPr lang="en-US" dirty="0"/>
              <a:t>, temperature la </a:t>
            </a:r>
            <a:r>
              <a:rPr lang="en-US" dirty="0" err="1"/>
              <a:t>pranz</a:t>
            </a:r>
            <a:r>
              <a:rPr lang="en-US" dirty="0"/>
              <a:t>, temperature </a:t>
            </a:r>
            <a:r>
              <a:rPr lang="en-US" dirty="0" err="1"/>
              <a:t>noaptea</a:t>
            </a:r>
            <a:endParaRPr lang="en-US" dirty="0"/>
          </a:p>
          <a:p>
            <a:r>
              <a:rPr lang="en-US" dirty="0"/>
              <a:t>(nr ani, 365, 3)</a:t>
            </a:r>
          </a:p>
          <a:p>
            <a:endParaRPr lang="en-US" dirty="0"/>
          </a:p>
          <a:p>
            <a:r>
              <a:rPr lang="en-US" dirty="0" err="1"/>
              <a:t>axa</a:t>
            </a:r>
            <a:r>
              <a:rPr lang="en-US" dirty="0"/>
              <a:t> 0 = ani</a:t>
            </a:r>
          </a:p>
          <a:p>
            <a:r>
              <a:rPr lang="en-US" dirty="0"/>
              <a:t>Axa1 = </a:t>
            </a:r>
            <a:r>
              <a:rPr lang="en-US" dirty="0" err="1"/>
              <a:t>zile</a:t>
            </a:r>
            <a:endParaRPr lang="en-US" dirty="0"/>
          </a:p>
          <a:p>
            <a:r>
              <a:rPr lang="en-US" dirty="0"/>
              <a:t>Axa2 = </a:t>
            </a:r>
            <a:r>
              <a:rPr lang="en-US" dirty="0" err="1"/>
              <a:t>momente</a:t>
            </a:r>
            <a:r>
              <a:rPr lang="en-US" dirty="0"/>
              <a:t> de </a:t>
            </a:r>
            <a:r>
              <a:rPr lang="en-US" dirty="0" err="1"/>
              <a:t>temperatura</a:t>
            </a:r>
            <a:endParaRPr lang="en-US" dirty="0"/>
          </a:p>
          <a:p>
            <a:endParaRPr lang="en-US" dirty="0"/>
          </a:p>
          <a:p>
            <a:r>
              <a:rPr lang="en-US" dirty="0" err="1"/>
              <a:t>a.mean</a:t>
            </a:r>
            <a:r>
              <a:rPr lang="en-US" dirty="0"/>
              <a:t>(axis=0) -&gt;(365, 3).  </a:t>
            </a:r>
            <a:r>
              <a:rPr lang="en-US" dirty="0" err="1"/>
              <a:t>iti</a:t>
            </a:r>
            <a:r>
              <a:rPr lang="en-US" dirty="0"/>
              <a:t> </a:t>
            </a:r>
            <a:r>
              <a:rPr lang="en-US" dirty="0" err="1"/>
              <a:t>calculeaza</a:t>
            </a:r>
            <a:r>
              <a:rPr lang="en-US" dirty="0"/>
              <a:t>, </a:t>
            </a:r>
            <a:r>
              <a:rPr lang="en-US" dirty="0" err="1"/>
              <a:t>pentru</a:t>
            </a:r>
            <a:r>
              <a:rPr lang="en-US" dirty="0"/>
              <a:t> </a:t>
            </a:r>
            <a:r>
              <a:rPr lang="en-US" dirty="0" err="1"/>
              <a:t>toti</a:t>
            </a:r>
            <a:r>
              <a:rPr lang="en-US" dirty="0"/>
              <a:t> </a:t>
            </a:r>
            <a:r>
              <a:rPr lang="en-US" dirty="0" err="1"/>
              <a:t>anii</a:t>
            </a:r>
            <a:r>
              <a:rPr lang="en-US" dirty="0"/>
              <a:t>, media </a:t>
            </a:r>
            <a:r>
              <a:rPr lang="en-US" dirty="0" err="1"/>
              <a:t>temperaturii</a:t>
            </a:r>
            <a:r>
              <a:rPr lang="en-US" dirty="0"/>
              <a:t> </a:t>
            </a:r>
            <a:r>
              <a:rPr lang="en-US" dirty="0" err="1"/>
              <a:t>dimineata</a:t>
            </a:r>
            <a:r>
              <a:rPr lang="en-US" dirty="0"/>
              <a:t>, la </a:t>
            </a:r>
            <a:r>
              <a:rPr lang="en-US" dirty="0" err="1"/>
              <a:t>pranz</a:t>
            </a:r>
            <a:r>
              <a:rPr lang="en-US" dirty="0"/>
              <a:t>, </a:t>
            </a:r>
            <a:r>
              <a:rPr lang="en-US" dirty="0" err="1"/>
              <a:t>noaptea</a:t>
            </a:r>
            <a:r>
              <a:rPr lang="en-US" dirty="0"/>
              <a:t>, </a:t>
            </a:r>
            <a:r>
              <a:rPr lang="en-US" dirty="0" err="1"/>
              <a:t>pentru</a:t>
            </a:r>
            <a:r>
              <a:rPr lang="en-US" dirty="0"/>
              <a:t> </a:t>
            </a:r>
            <a:r>
              <a:rPr lang="en-US" dirty="0" err="1"/>
              <a:t>fiecare</a:t>
            </a:r>
            <a:r>
              <a:rPr lang="en-US" dirty="0"/>
              <a:t> zi. Deci temperature </a:t>
            </a:r>
            <a:r>
              <a:rPr lang="en-US" dirty="0" err="1"/>
              <a:t>medie</a:t>
            </a:r>
            <a:r>
              <a:rPr lang="en-US" dirty="0"/>
              <a:t> </a:t>
            </a:r>
            <a:r>
              <a:rPr lang="en-US" dirty="0" err="1"/>
              <a:t>pentru</a:t>
            </a:r>
            <a:r>
              <a:rPr lang="en-US" dirty="0"/>
              <a:t> 1, 2, 3, </a:t>
            </a:r>
            <a:r>
              <a:rPr lang="en-US" dirty="0" err="1"/>
              <a:t>ianuarie</a:t>
            </a:r>
            <a:r>
              <a:rPr lang="en-US" dirty="0"/>
              <a:t> </a:t>
            </a:r>
            <a:r>
              <a:rPr lang="en-US" dirty="0" err="1"/>
              <a:t>dimineata</a:t>
            </a:r>
            <a:endParaRPr lang="en-US" dirty="0"/>
          </a:p>
          <a:p>
            <a:endParaRPr lang="en-US" dirty="0"/>
          </a:p>
          <a:p>
            <a:r>
              <a:rPr lang="en-US" dirty="0" err="1"/>
              <a:t>a.mean</a:t>
            </a:r>
            <a:r>
              <a:rPr lang="en-US" dirty="0"/>
              <a:t>(axis=1) -&gt;(nr ani,3) : </a:t>
            </a:r>
            <a:r>
              <a:rPr lang="en-US" dirty="0" err="1"/>
              <a:t>iti</a:t>
            </a:r>
            <a:r>
              <a:rPr lang="en-US" dirty="0"/>
              <a:t> </a:t>
            </a:r>
            <a:r>
              <a:rPr lang="en-US" dirty="0" err="1"/>
              <a:t>calculeaza</a:t>
            </a:r>
            <a:r>
              <a:rPr lang="en-US" dirty="0"/>
              <a:t>, </a:t>
            </a:r>
            <a:r>
              <a:rPr lang="en-US" dirty="0" err="1"/>
              <a:t>pentru</a:t>
            </a:r>
            <a:r>
              <a:rPr lang="en-US" dirty="0"/>
              <a:t> </a:t>
            </a:r>
            <a:r>
              <a:rPr lang="en-US" dirty="0" err="1"/>
              <a:t>fieacre</a:t>
            </a:r>
            <a:r>
              <a:rPr lang="en-US" dirty="0"/>
              <a:t> an,  temperature </a:t>
            </a:r>
            <a:r>
              <a:rPr lang="en-US" dirty="0" err="1"/>
              <a:t>medie</a:t>
            </a:r>
            <a:r>
              <a:rPr lang="en-US" dirty="0"/>
              <a:t> </a:t>
            </a:r>
            <a:r>
              <a:rPr lang="en-US" dirty="0" err="1"/>
              <a:t>pentru</a:t>
            </a:r>
            <a:r>
              <a:rPr lang="en-US" dirty="0"/>
              <a:t> </a:t>
            </a:r>
            <a:r>
              <a:rPr lang="en-US" dirty="0" err="1"/>
              <a:t>fiecare</a:t>
            </a:r>
            <a:r>
              <a:rPr lang="en-US" dirty="0"/>
              <a:t> moment de zi (</a:t>
            </a:r>
            <a:r>
              <a:rPr lang="en-US" dirty="0" err="1"/>
              <a:t>dimineata</a:t>
            </a:r>
            <a:r>
              <a:rPr lang="en-US" dirty="0"/>
              <a:t>, </a:t>
            </a:r>
            <a:r>
              <a:rPr lang="en-US" dirty="0" err="1"/>
              <a:t>pranz</a:t>
            </a:r>
            <a:r>
              <a:rPr lang="en-US" dirty="0"/>
              <a:t> </a:t>
            </a:r>
            <a:r>
              <a:rPr lang="en-US" dirty="0" err="1"/>
              <a:t>si</a:t>
            </a:r>
            <a:r>
              <a:rPr lang="en-US" dirty="0"/>
              <a:t> </a:t>
            </a:r>
            <a:r>
              <a:rPr lang="en-US" dirty="0" err="1"/>
              <a:t>seara</a:t>
            </a:r>
            <a:r>
              <a:rPr lang="en-US" dirty="0"/>
              <a:t>) , </a:t>
            </a:r>
            <a:r>
              <a:rPr lang="en-US" dirty="0" err="1"/>
              <a:t>pentru</a:t>
            </a:r>
            <a:r>
              <a:rPr lang="en-US" dirty="0"/>
              <a:t> tot </a:t>
            </a:r>
            <a:r>
              <a:rPr lang="en-US" dirty="0" err="1"/>
              <a:t>anul</a:t>
            </a:r>
            <a:r>
              <a:rPr lang="en-US" dirty="0"/>
              <a:t>. </a:t>
            </a:r>
          </a:p>
          <a:p>
            <a:endParaRPr lang="en-US" dirty="0"/>
          </a:p>
          <a:p>
            <a:r>
              <a:rPr lang="en-US" dirty="0" err="1"/>
              <a:t>a.mean</a:t>
            </a:r>
            <a:r>
              <a:rPr lang="en-US" dirty="0"/>
              <a:t>(axis=2) -&gt; (nr ani, 365) - &gt;</a:t>
            </a:r>
            <a:r>
              <a:rPr lang="en-US" dirty="0" err="1"/>
              <a:t>iti</a:t>
            </a:r>
            <a:r>
              <a:rPr lang="en-US" dirty="0"/>
              <a:t> </a:t>
            </a:r>
            <a:r>
              <a:rPr lang="en-US" dirty="0" err="1"/>
              <a:t>calculeaza</a:t>
            </a:r>
            <a:r>
              <a:rPr lang="en-US" dirty="0"/>
              <a:t> temperature </a:t>
            </a:r>
            <a:r>
              <a:rPr lang="en-US" dirty="0" err="1"/>
              <a:t>medie</a:t>
            </a:r>
            <a:r>
              <a:rPr lang="en-US" dirty="0"/>
              <a:t> a </a:t>
            </a:r>
            <a:r>
              <a:rPr lang="en-US" dirty="0" err="1"/>
              <a:t>fiecarei</a:t>
            </a:r>
            <a:r>
              <a:rPr lang="en-US" dirty="0"/>
              <a:t> </a:t>
            </a:r>
            <a:r>
              <a:rPr lang="en-US" dirty="0" err="1"/>
              <a:t>zile</a:t>
            </a:r>
            <a:r>
              <a:rPr lang="en-US" dirty="0"/>
              <a:t>, </a:t>
            </a:r>
            <a:r>
              <a:rPr lang="en-US" dirty="0" err="1"/>
              <a:t>pentru</a:t>
            </a:r>
            <a:r>
              <a:rPr lang="en-US" dirty="0"/>
              <a:t> </a:t>
            </a:r>
            <a:r>
              <a:rPr lang="en-US" dirty="0" err="1"/>
              <a:t>fieacre</a:t>
            </a:r>
            <a:r>
              <a:rPr lang="en-US" dirty="0"/>
              <a:t> zi din </a:t>
            </a:r>
            <a:r>
              <a:rPr lang="en-US" dirty="0" err="1"/>
              <a:t>fiecare</a:t>
            </a:r>
            <a:r>
              <a:rPr lang="en-US" dirty="0"/>
              <a:t> an.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128</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8068144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PERCENTILE X : THE VALUE ON WHICH X% OF DATA IS BELOW THIS VALUE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129</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1197267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143</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5157462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p:cNvGrpSpPr/>
        <p:nvPr/>
      </p:nvGrpSpPr>
      <p:grpSpPr>
        <a:xfrm>
          <a:off x="0" y="0"/>
          <a:ext cx="0" cy="0"/>
          <a:chOff x="0" y="0"/>
          <a:chExt cx="0" cy="0"/>
        </a:xfrm>
      </p:grpSpPr>
      <p:sp>
        <p:nvSpPr>
          <p:cNvPr id="2155" name="Google Shape;2155;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6" name="Google Shape;2156;p4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grpSp>
        <p:nvGrpSpPr>
          <p:cNvPr id="16" name="Google Shape;16;p2"/>
          <p:cNvGrpSpPr/>
          <p:nvPr/>
        </p:nvGrpSpPr>
        <p:grpSpPr>
          <a:xfrm>
            <a:off x="1584896" y="4724400"/>
            <a:ext cx="8631936" cy="64008"/>
            <a:chOff x="-4110038" y="2703513"/>
            <a:chExt cx="17394239" cy="160336"/>
          </a:xfrm>
        </p:grpSpPr>
        <p:sp>
          <p:nvSpPr>
            <p:cNvPr id="17" name="Google Shape;17;p2"/>
            <p:cNvSpPr/>
            <p:nvPr/>
          </p:nvSpPr>
          <p:spPr>
            <a:xfrm>
              <a:off x="12815888" y="2768600"/>
              <a:ext cx="468313" cy="19050"/>
            </a:xfrm>
            <a:custGeom>
              <a:avLst/>
              <a:gdLst/>
              <a:ahLst/>
              <a:cxnLst/>
              <a:rect l="l" t="t" r="r" b="b"/>
              <a:pathLst>
                <a:path w="244" h="8" extrusionOk="0">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 name="Google Shape;18;p2"/>
            <p:cNvSpPr/>
            <p:nvPr/>
          </p:nvSpPr>
          <p:spPr>
            <a:xfrm>
              <a:off x="12380913" y="2755900"/>
              <a:ext cx="461963" cy="26987"/>
            </a:xfrm>
            <a:custGeom>
              <a:avLst/>
              <a:gdLst/>
              <a:ahLst/>
              <a:cxnLst/>
              <a:rect l="l" t="t" r="r" b="b"/>
              <a:pathLst>
                <a:path w="241" h="12" extrusionOk="0">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 name="Google Shape;19;p2"/>
            <p:cNvSpPr/>
            <p:nvPr/>
          </p:nvSpPr>
          <p:spPr>
            <a:xfrm>
              <a:off x="12814300" y="2779713"/>
              <a:ext cx="1588" cy="0"/>
            </a:xfrm>
            <a:custGeom>
              <a:avLst/>
              <a:gdLst/>
              <a:ahLst/>
              <a:cxnLst/>
              <a:rect l="l" t="t" r="r" b="b"/>
              <a:pathLst>
                <a:path w="1" h="120000" extrusionOk="0">
                  <a:moveTo>
                    <a:pt x="0" y="0"/>
                  </a:moveTo>
                  <a:lnTo>
                    <a:pt x="0" y="0"/>
                  </a:lnTo>
                  <a:lnTo>
                    <a:pt x="1"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 name="Google Shape;20;p2"/>
            <p:cNvSpPr/>
            <p:nvPr/>
          </p:nvSpPr>
          <p:spPr>
            <a:xfrm>
              <a:off x="2738437" y="2795588"/>
              <a:ext cx="425450" cy="15875"/>
            </a:xfrm>
            <a:custGeom>
              <a:avLst/>
              <a:gdLst/>
              <a:ahLst/>
              <a:cxnLst/>
              <a:rect l="l" t="t" r="r" b="b"/>
              <a:pathLst>
                <a:path w="222" h="7" extrusionOk="0">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 name="Google Shape;21;p2"/>
            <p:cNvSpPr/>
            <p:nvPr/>
          </p:nvSpPr>
          <p:spPr>
            <a:xfrm>
              <a:off x="-3646488" y="2800350"/>
              <a:ext cx="46038" cy="3175"/>
            </a:xfrm>
            <a:custGeom>
              <a:avLst/>
              <a:gdLst/>
              <a:ahLst/>
              <a:cxnLst/>
              <a:rect l="l" t="t" r="r" b="b"/>
              <a:pathLst>
                <a:path w="24" h="1" extrusionOk="0">
                  <a:moveTo>
                    <a:pt x="0" y="1"/>
                  </a:moveTo>
                  <a:lnTo>
                    <a:pt x="0" y="1"/>
                  </a:lnTo>
                  <a:cubicBezTo>
                    <a:pt x="21" y="0"/>
                    <a:pt x="24" y="0"/>
                    <a:pt x="21" y="0"/>
                  </a:cubicBez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 name="Google Shape;22;p2"/>
            <p:cNvSpPr/>
            <p:nvPr/>
          </p:nvSpPr>
          <p:spPr>
            <a:xfrm>
              <a:off x="2627312" y="2816225"/>
              <a:ext cx="63500" cy="4762"/>
            </a:xfrm>
            <a:custGeom>
              <a:avLst/>
              <a:gdLst/>
              <a:ahLst/>
              <a:cxnLst/>
              <a:rect l="l" t="t" r="r" b="b"/>
              <a:pathLst>
                <a:path w="33" h="2" extrusionOk="0">
                  <a:moveTo>
                    <a:pt x="33" y="0"/>
                  </a:moveTo>
                  <a:lnTo>
                    <a:pt x="33" y="0"/>
                  </a:lnTo>
                  <a:lnTo>
                    <a:pt x="0" y="2"/>
                  </a:lnTo>
                  <a:cubicBezTo>
                    <a:pt x="14" y="1"/>
                    <a:pt x="25" y="1"/>
                    <a:pt x="3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 name="Google Shape;23;p2"/>
            <p:cNvSpPr/>
            <p:nvPr/>
          </p:nvSpPr>
          <p:spPr>
            <a:xfrm>
              <a:off x="3103562" y="2741613"/>
              <a:ext cx="28575" cy="3175"/>
            </a:xfrm>
            <a:custGeom>
              <a:avLst/>
              <a:gdLst/>
              <a:ahLst/>
              <a:cxnLst/>
              <a:rect l="l" t="t" r="r" b="b"/>
              <a:pathLst>
                <a:path w="15" h="1" extrusionOk="0">
                  <a:moveTo>
                    <a:pt x="15" y="0"/>
                  </a:moveTo>
                  <a:lnTo>
                    <a:pt x="15" y="0"/>
                  </a:lnTo>
                  <a:cubicBezTo>
                    <a:pt x="15" y="0"/>
                    <a:pt x="15" y="0"/>
                    <a:pt x="15" y="0"/>
                  </a:cubicBezTo>
                  <a:lnTo>
                    <a:pt x="0" y="1"/>
                  </a:lnTo>
                  <a:lnTo>
                    <a:pt x="0" y="1"/>
                  </a:lnTo>
                  <a:lnTo>
                    <a:pt x="1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 name="Google Shape;24;p2"/>
            <p:cNvSpPr/>
            <p:nvPr/>
          </p:nvSpPr>
          <p:spPr>
            <a:xfrm>
              <a:off x="1227137" y="2836863"/>
              <a:ext cx="20638" cy="0"/>
            </a:xfrm>
            <a:custGeom>
              <a:avLst/>
              <a:gdLst/>
              <a:ahLst/>
              <a:cxnLst/>
              <a:rect l="l" t="t" r="r" b="b"/>
              <a:pathLst>
                <a:path w="11" h="120000" extrusionOk="0">
                  <a:moveTo>
                    <a:pt x="11" y="0"/>
                  </a:moveTo>
                  <a:lnTo>
                    <a:pt x="11" y="0"/>
                  </a:ln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3660775" y="2713038"/>
              <a:ext cx="331788" cy="20637"/>
            </a:xfrm>
            <a:custGeom>
              <a:avLst/>
              <a:gdLst/>
              <a:ahLst/>
              <a:cxnLst/>
              <a:rect l="l" t="t" r="r" b="b"/>
              <a:pathLst>
                <a:path w="173" h="9" extrusionOk="0">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 name="Google Shape;26;p2"/>
            <p:cNvSpPr/>
            <p:nvPr/>
          </p:nvSpPr>
          <p:spPr>
            <a:xfrm>
              <a:off x="-1674813" y="2768600"/>
              <a:ext cx="1588" cy="0"/>
            </a:xfrm>
            <a:custGeom>
              <a:avLst/>
              <a:gdLst/>
              <a:ahLst/>
              <a:cxnLst/>
              <a:rect l="l" t="t" r="r" b="b"/>
              <a:pathLst>
                <a:path w="1" h="120000" extrusionOk="0">
                  <a:moveTo>
                    <a:pt x="0" y="0"/>
                  </a:moveTo>
                  <a:lnTo>
                    <a:pt x="0" y="0"/>
                  </a:lnTo>
                  <a:lnTo>
                    <a:pt x="1"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 name="Google Shape;27;p2"/>
            <p:cNvSpPr/>
            <p:nvPr/>
          </p:nvSpPr>
          <p:spPr>
            <a:xfrm>
              <a:off x="-1673225" y="2767013"/>
              <a:ext cx="36513" cy="1587"/>
            </a:xfrm>
            <a:custGeom>
              <a:avLst/>
              <a:gdLst/>
              <a:ahLst/>
              <a:cxnLst/>
              <a:rect l="l" t="t" r="r" b="b"/>
              <a:pathLst>
                <a:path w="19" h="1" extrusionOk="0">
                  <a:moveTo>
                    <a:pt x="3" y="0"/>
                  </a:moveTo>
                  <a:lnTo>
                    <a:pt x="3" y="0"/>
                  </a:lnTo>
                  <a:lnTo>
                    <a:pt x="0" y="1"/>
                  </a:lnTo>
                  <a:cubicBezTo>
                    <a:pt x="4" y="0"/>
                    <a:pt x="19"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 name="Google Shape;28;p2"/>
            <p:cNvSpPr/>
            <p:nvPr/>
          </p:nvSpPr>
          <p:spPr>
            <a:xfrm>
              <a:off x="2690812" y="2811463"/>
              <a:ext cx="47625" cy="4762"/>
            </a:xfrm>
            <a:custGeom>
              <a:avLst/>
              <a:gdLst/>
              <a:ahLst/>
              <a:cxnLst/>
              <a:rect l="l" t="t" r="r" b="b"/>
              <a:pathLst>
                <a:path w="25" h="2" extrusionOk="0">
                  <a:moveTo>
                    <a:pt x="13" y="0"/>
                  </a:moveTo>
                  <a:lnTo>
                    <a:pt x="13" y="0"/>
                  </a:lnTo>
                  <a:cubicBezTo>
                    <a:pt x="12" y="0"/>
                    <a:pt x="7" y="1"/>
                    <a:pt x="0" y="2"/>
                  </a:cubicBezTo>
                  <a:lnTo>
                    <a:pt x="25"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 name="Google Shape;29;p2"/>
            <p:cNvSpPr/>
            <p:nvPr/>
          </p:nvSpPr>
          <p:spPr>
            <a:xfrm>
              <a:off x="2822575" y="2794000"/>
              <a:ext cx="163513" cy="4762"/>
            </a:xfrm>
            <a:custGeom>
              <a:avLst/>
              <a:gdLst/>
              <a:ahLst/>
              <a:cxnLst/>
              <a:rect l="l" t="t" r="r" b="b"/>
              <a:pathLst>
                <a:path w="85" h="2" extrusionOk="0">
                  <a:moveTo>
                    <a:pt x="0" y="2"/>
                  </a:moveTo>
                  <a:lnTo>
                    <a:pt x="0" y="2"/>
                  </a:lnTo>
                  <a:lnTo>
                    <a:pt x="62" y="1"/>
                  </a:lnTo>
                  <a:lnTo>
                    <a:pt x="8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 name="Google Shape;30;p2"/>
            <p:cNvSpPr/>
            <p:nvPr/>
          </p:nvSpPr>
          <p:spPr>
            <a:xfrm>
              <a:off x="715962" y="2809875"/>
              <a:ext cx="1911350" cy="50800"/>
            </a:xfrm>
            <a:custGeom>
              <a:avLst/>
              <a:gdLst/>
              <a:ahLst/>
              <a:cxnLst/>
              <a:rect l="l" t="t" r="r" b="b"/>
              <a:pathLst>
                <a:path w="996" h="23" extrusionOk="0">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 name="Google Shape;31;p2"/>
            <p:cNvSpPr/>
            <p:nvPr/>
          </p:nvSpPr>
          <p:spPr>
            <a:xfrm>
              <a:off x="1995487" y="2822575"/>
              <a:ext cx="20638" cy="0"/>
            </a:xfrm>
            <a:custGeom>
              <a:avLst/>
              <a:gdLst/>
              <a:ahLst/>
              <a:cxnLst/>
              <a:rect l="l" t="t" r="r" b="b"/>
              <a:pathLst>
                <a:path w="10" h="120000" extrusionOk="0">
                  <a:moveTo>
                    <a:pt x="10" y="0"/>
                  </a:moveTo>
                  <a:lnTo>
                    <a:pt x="10" y="0"/>
                  </a:lnTo>
                  <a:lnTo>
                    <a:pt x="0" y="0"/>
                  </a:lnTo>
                  <a:cubicBezTo>
                    <a:pt x="1" y="0"/>
                    <a:pt x="4" y="0"/>
                    <a:pt x="1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 name="Google Shape;32;p2"/>
            <p:cNvSpPr/>
            <p:nvPr/>
          </p:nvSpPr>
          <p:spPr>
            <a:xfrm>
              <a:off x="1630362" y="2830513"/>
              <a:ext cx="22225" cy="0"/>
            </a:xfrm>
            <a:custGeom>
              <a:avLst/>
              <a:gdLst/>
              <a:ahLst/>
              <a:cxnLst/>
              <a:rect l="l" t="t" r="r" b="b"/>
              <a:pathLst>
                <a:path w="12" h="120000" extrusionOk="0">
                  <a:moveTo>
                    <a:pt x="11" y="0"/>
                  </a:moveTo>
                  <a:lnTo>
                    <a:pt x="11" y="0"/>
                  </a:lnTo>
                  <a:cubicBezTo>
                    <a:pt x="12" y="0"/>
                    <a:pt x="11" y="0"/>
                    <a:pt x="12" y="0"/>
                  </a:cubicBez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 name="Google Shape;33;p2"/>
            <p:cNvSpPr/>
            <p:nvPr/>
          </p:nvSpPr>
          <p:spPr>
            <a:xfrm>
              <a:off x="2651125" y="2798763"/>
              <a:ext cx="46038" cy="1587"/>
            </a:xfrm>
            <a:custGeom>
              <a:avLst/>
              <a:gdLst/>
              <a:ahLst/>
              <a:cxnLst/>
              <a:rect l="l" t="t" r="r" b="b"/>
              <a:pathLst>
                <a:path w="24" h="1" extrusionOk="0">
                  <a:moveTo>
                    <a:pt x="3" y="1"/>
                  </a:moveTo>
                  <a:lnTo>
                    <a:pt x="3" y="1"/>
                  </a:lnTo>
                  <a:lnTo>
                    <a:pt x="24" y="0"/>
                  </a:lnTo>
                  <a:lnTo>
                    <a:pt x="8" y="1"/>
                  </a:lnTo>
                  <a:cubicBezTo>
                    <a:pt x="2" y="1"/>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 name="Google Shape;34;p2"/>
            <p:cNvSpPr/>
            <p:nvPr/>
          </p:nvSpPr>
          <p:spPr>
            <a:xfrm>
              <a:off x="2698750" y="2809875"/>
              <a:ext cx="19050" cy="1587"/>
            </a:xfrm>
            <a:custGeom>
              <a:avLst/>
              <a:gdLst/>
              <a:ahLst/>
              <a:cxnLst/>
              <a:rect l="l" t="t" r="r" b="b"/>
              <a:pathLst>
                <a:path w="10" h="1" extrusionOk="0">
                  <a:moveTo>
                    <a:pt x="4" y="0"/>
                  </a:moveTo>
                  <a:lnTo>
                    <a:pt x="4" y="0"/>
                  </a:lnTo>
                  <a:lnTo>
                    <a:pt x="0" y="1"/>
                  </a:lnTo>
                  <a:lnTo>
                    <a:pt x="9" y="1"/>
                  </a:lnTo>
                  <a:cubicBezTo>
                    <a:pt x="10" y="0"/>
                    <a:pt x="9" y="0"/>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 name="Google Shape;35;p2"/>
            <p:cNvSpPr/>
            <p:nvPr/>
          </p:nvSpPr>
          <p:spPr>
            <a:xfrm>
              <a:off x="469900" y="2800350"/>
              <a:ext cx="23813" cy="3175"/>
            </a:xfrm>
            <a:custGeom>
              <a:avLst/>
              <a:gdLst/>
              <a:ahLst/>
              <a:cxnLst/>
              <a:rect l="l" t="t" r="r" b="b"/>
              <a:pathLst>
                <a:path w="13" h="1" extrusionOk="0">
                  <a:moveTo>
                    <a:pt x="13" y="0"/>
                  </a:moveTo>
                  <a:lnTo>
                    <a:pt x="13" y="0"/>
                  </a:lnTo>
                  <a:lnTo>
                    <a:pt x="0" y="1"/>
                  </a:lnTo>
                  <a:cubicBezTo>
                    <a:pt x="8" y="1"/>
                    <a:pt x="11" y="1"/>
                    <a:pt x="1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 name="Google Shape;36;p2"/>
            <p:cNvSpPr/>
            <p:nvPr/>
          </p:nvSpPr>
          <p:spPr>
            <a:xfrm>
              <a:off x="998537" y="2811463"/>
              <a:ext cx="1076325" cy="20637"/>
            </a:xfrm>
            <a:custGeom>
              <a:avLst/>
              <a:gdLst/>
              <a:ahLst/>
              <a:cxnLst/>
              <a:rect l="l" t="t" r="r" b="b"/>
              <a:pathLst>
                <a:path w="561" h="9" extrusionOk="0">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 name="Google Shape;37;p2"/>
            <p:cNvSpPr/>
            <p:nvPr/>
          </p:nvSpPr>
          <p:spPr>
            <a:xfrm>
              <a:off x="2495550" y="2803525"/>
              <a:ext cx="17463" cy="0"/>
            </a:xfrm>
            <a:custGeom>
              <a:avLst/>
              <a:gdLst/>
              <a:ahLst/>
              <a:cxnLst/>
              <a:rect l="l" t="t" r="r" b="b"/>
              <a:pathLst>
                <a:path w="9" h="120000" extrusionOk="0">
                  <a:moveTo>
                    <a:pt x="9" y="0"/>
                  </a:moveTo>
                  <a:lnTo>
                    <a:pt x="9" y="0"/>
                  </a:lnTo>
                  <a:lnTo>
                    <a:pt x="0" y="0"/>
                  </a:lnTo>
                  <a:lnTo>
                    <a:pt x="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 name="Google Shape;38;p2"/>
            <p:cNvSpPr/>
            <p:nvPr/>
          </p:nvSpPr>
          <p:spPr>
            <a:xfrm>
              <a:off x="2538412" y="2816225"/>
              <a:ext cx="1057275" cy="31750"/>
            </a:xfrm>
            <a:custGeom>
              <a:avLst/>
              <a:gdLst/>
              <a:ahLst/>
              <a:cxnLst/>
              <a:rect l="l" t="t" r="r" b="b"/>
              <a:pathLst>
                <a:path w="551" h="14" extrusionOk="0">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 name="Google Shape;39;p2"/>
            <p:cNvSpPr/>
            <p:nvPr/>
          </p:nvSpPr>
          <p:spPr>
            <a:xfrm>
              <a:off x="11777663" y="2757488"/>
              <a:ext cx="19050" cy="3175"/>
            </a:xfrm>
            <a:custGeom>
              <a:avLst/>
              <a:gdLst/>
              <a:ahLst/>
              <a:cxnLst/>
              <a:rect l="l" t="t" r="r" b="b"/>
              <a:pathLst>
                <a:path w="10" h="1" extrusionOk="0">
                  <a:moveTo>
                    <a:pt x="0" y="0"/>
                  </a:moveTo>
                  <a:lnTo>
                    <a:pt x="0" y="0"/>
                  </a:lnTo>
                  <a:lnTo>
                    <a:pt x="10" y="1"/>
                  </a:lnTo>
                  <a:cubicBezTo>
                    <a:pt x="8" y="1"/>
                    <a:pt x="4"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 name="Google Shape;40;p2"/>
            <p:cNvSpPr/>
            <p:nvPr/>
          </p:nvSpPr>
          <p:spPr>
            <a:xfrm>
              <a:off x="5983288" y="2741613"/>
              <a:ext cx="38100" cy="0"/>
            </a:xfrm>
            <a:custGeom>
              <a:avLst/>
              <a:gdLst/>
              <a:ahLst/>
              <a:cxnLst/>
              <a:rect l="l" t="t" r="r" b="b"/>
              <a:pathLst>
                <a:path w="20" h="120000" extrusionOk="0">
                  <a:moveTo>
                    <a:pt x="0" y="0"/>
                  </a:moveTo>
                  <a:lnTo>
                    <a:pt x="0" y="0"/>
                  </a:lnTo>
                  <a:lnTo>
                    <a:pt x="20"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 name="Google Shape;41;p2"/>
            <p:cNvSpPr/>
            <p:nvPr/>
          </p:nvSpPr>
          <p:spPr>
            <a:xfrm>
              <a:off x="6832600" y="2713038"/>
              <a:ext cx="53975" cy="1587"/>
            </a:xfrm>
            <a:custGeom>
              <a:avLst/>
              <a:gdLst/>
              <a:ahLst/>
              <a:cxnLst/>
              <a:rect l="l" t="t" r="r" b="b"/>
              <a:pathLst>
                <a:path w="28" h="1" extrusionOk="0">
                  <a:moveTo>
                    <a:pt x="0" y="1"/>
                  </a:moveTo>
                  <a:lnTo>
                    <a:pt x="0" y="1"/>
                  </a:lnTo>
                  <a:lnTo>
                    <a:pt x="28" y="0"/>
                  </a:lnTo>
                  <a:cubicBezTo>
                    <a:pt x="17" y="0"/>
                    <a:pt x="8"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 name="Google Shape;42;p2"/>
            <p:cNvSpPr/>
            <p:nvPr/>
          </p:nvSpPr>
          <p:spPr>
            <a:xfrm>
              <a:off x="11317288" y="2755900"/>
              <a:ext cx="9525" cy="0"/>
            </a:xfrm>
            <a:custGeom>
              <a:avLst/>
              <a:gdLst/>
              <a:ahLst/>
              <a:cxnLst/>
              <a:rect l="l" t="t" r="r" b="b"/>
              <a:pathLst>
                <a:path w="5" h="120000" extrusionOk="0">
                  <a:moveTo>
                    <a:pt x="5" y="0"/>
                  </a:moveTo>
                  <a:lnTo>
                    <a:pt x="5" y="0"/>
                  </a:lnTo>
                  <a:lnTo>
                    <a:pt x="4" y="0"/>
                  </a:lnTo>
                  <a:lnTo>
                    <a:pt x="0" y="0"/>
                  </a:lnTo>
                  <a:lnTo>
                    <a:pt x="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3" name="Google Shape;43;p2"/>
            <p:cNvSpPr/>
            <p:nvPr/>
          </p:nvSpPr>
          <p:spPr>
            <a:xfrm>
              <a:off x="8534400" y="2735263"/>
              <a:ext cx="30163" cy="0"/>
            </a:xfrm>
            <a:custGeom>
              <a:avLst/>
              <a:gdLst/>
              <a:ahLst/>
              <a:cxnLst/>
              <a:rect l="l" t="t" r="r" b="b"/>
              <a:pathLst>
                <a:path w="16" h="120000" extrusionOk="0">
                  <a:moveTo>
                    <a:pt x="0" y="0"/>
                  </a:moveTo>
                  <a:lnTo>
                    <a:pt x="0" y="0"/>
                  </a:lnTo>
                  <a:cubicBezTo>
                    <a:pt x="4" y="0"/>
                    <a:pt x="9" y="0"/>
                    <a:pt x="16" y="0"/>
                  </a:cubicBezTo>
                  <a:cubicBezTo>
                    <a:pt x="15" y="0"/>
                    <a:pt x="9"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 name="Google Shape;44;p2"/>
            <p:cNvSpPr/>
            <p:nvPr/>
          </p:nvSpPr>
          <p:spPr>
            <a:xfrm>
              <a:off x="6821488" y="2714625"/>
              <a:ext cx="9525" cy="0"/>
            </a:xfrm>
            <a:custGeom>
              <a:avLst/>
              <a:gdLst/>
              <a:ahLst/>
              <a:cxnLst/>
              <a:rect l="l" t="t" r="r" b="b"/>
              <a:pathLst>
                <a:path w="5" h="120000" extrusionOk="0">
                  <a:moveTo>
                    <a:pt x="0" y="0"/>
                  </a:moveTo>
                  <a:lnTo>
                    <a:pt x="0" y="0"/>
                  </a:lnTo>
                  <a:lnTo>
                    <a:pt x="2"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 name="Google Shape;45;p2"/>
            <p:cNvSpPr/>
            <p:nvPr/>
          </p:nvSpPr>
          <p:spPr>
            <a:xfrm>
              <a:off x="5583238" y="2719388"/>
              <a:ext cx="25400" cy="0"/>
            </a:xfrm>
            <a:custGeom>
              <a:avLst/>
              <a:gdLst/>
              <a:ahLst/>
              <a:cxnLst/>
              <a:rect l="l" t="t" r="r" b="b"/>
              <a:pathLst>
                <a:path w="13" h="120000" extrusionOk="0">
                  <a:moveTo>
                    <a:pt x="13" y="0"/>
                  </a:moveTo>
                  <a:lnTo>
                    <a:pt x="13" y="0"/>
                  </a:lnTo>
                  <a:lnTo>
                    <a:pt x="0"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 name="Google Shape;46;p2"/>
            <p:cNvSpPr/>
            <p:nvPr/>
          </p:nvSpPr>
          <p:spPr>
            <a:xfrm>
              <a:off x="5638800" y="2740025"/>
              <a:ext cx="23813" cy="1587"/>
            </a:xfrm>
            <a:custGeom>
              <a:avLst/>
              <a:gdLst/>
              <a:ahLst/>
              <a:cxnLst/>
              <a:rect l="l" t="t" r="r" b="b"/>
              <a:pathLst>
                <a:path w="12" h="1" extrusionOk="0">
                  <a:moveTo>
                    <a:pt x="12" y="0"/>
                  </a:moveTo>
                  <a:lnTo>
                    <a:pt x="12" y="0"/>
                  </a:lnTo>
                  <a:lnTo>
                    <a:pt x="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 name="Google Shape;47;p2"/>
            <p:cNvSpPr/>
            <p:nvPr/>
          </p:nvSpPr>
          <p:spPr>
            <a:xfrm>
              <a:off x="4303712" y="2728913"/>
              <a:ext cx="50800" cy="0"/>
            </a:xfrm>
            <a:custGeom>
              <a:avLst/>
              <a:gdLst/>
              <a:ahLst/>
              <a:cxnLst/>
              <a:rect l="l" t="t" r="r" b="b"/>
              <a:pathLst>
                <a:path w="26" h="120000" extrusionOk="0">
                  <a:moveTo>
                    <a:pt x="26" y="0"/>
                  </a:moveTo>
                  <a:lnTo>
                    <a:pt x="26" y="0"/>
                  </a:lnTo>
                  <a:lnTo>
                    <a:pt x="0" y="0"/>
                  </a:lnTo>
                  <a:cubicBezTo>
                    <a:pt x="13" y="0"/>
                    <a:pt x="20" y="0"/>
                    <a:pt x="2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 name="Google Shape;48;p2"/>
            <p:cNvSpPr/>
            <p:nvPr/>
          </p:nvSpPr>
          <p:spPr>
            <a:xfrm>
              <a:off x="5519738" y="2735263"/>
              <a:ext cx="9525" cy="3175"/>
            </a:xfrm>
            <a:custGeom>
              <a:avLst/>
              <a:gdLst/>
              <a:ahLst/>
              <a:cxnLst/>
              <a:rect l="l" t="t" r="r" b="b"/>
              <a:pathLst>
                <a:path w="5" h="1" extrusionOk="0">
                  <a:moveTo>
                    <a:pt x="4" y="0"/>
                  </a:moveTo>
                  <a:lnTo>
                    <a:pt x="4" y="0"/>
                  </a:lnTo>
                  <a:lnTo>
                    <a:pt x="0" y="1"/>
                  </a:lnTo>
                  <a:cubicBezTo>
                    <a:pt x="3" y="1"/>
                    <a:pt x="5"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 name="Google Shape;49;p2"/>
            <p:cNvSpPr/>
            <p:nvPr/>
          </p:nvSpPr>
          <p:spPr>
            <a:xfrm>
              <a:off x="12096750" y="2784475"/>
              <a:ext cx="6350" cy="0"/>
            </a:xfrm>
            <a:custGeom>
              <a:avLst/>
              <a:gdLst/>
              <a:ahLst/>
              <a:cxnLst/>
              <a:rect l="l" t="t" r="r" b="b"/>
              <a:pathLst>
                <a:path w="3" h="120000" extrusionOk="0">
                  <a:moveTo>
                    <a:pt x="3" y="0"/>
                  </a:moveTo>
                  <a:lnTo>
                    <a:pt x="3" y="0"/>
                  </a:lnTo>
                  <a:lnTo>
                    <a:pt x="1"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 name="Google Shape;50;p2"/>
            <p:cNvSpPr/>
            <p:nvPr/>
          </p:nvSpPr>
          <p:spPr>
            <a:xfrm>
              <a:off x="12225338" y="2773363"/>
              <a:ext cx="46038" cy="0"/>
            </a:xfrm>
            <a:custGeom>
              <a:avLst/>
              <a:gdLst/>
              <a:ahLst/>
              <a:cxnLst/>
              <a:rect l="l" t="t" r="r" b="b"/>
              <a:pathLst>
                <a:path w="24" h="120000" extrusionOk="0">
                  <a:moveTo>
                    <a:pt x="0" y="0"/>
                  </a:moveTo>
                  <a:lnTo>
                    <a:pt x="0" y="0"/>
                  </a:lnTo>
                  <a:lnTo>
                    <a:pt x="24" y="0"/>
                  </a:lnTo>
                  <a:cubicBezTo>
                    <a:pt x="15" y="0"/>
                    <a:pt x="6"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1" name="Google Shape;51;p2"/>
            <p:cNvSpPr/>
            <p:nvPr/>
          </p:nvSpPr>
          <p:spPr>
            <a:xfrm>
              <a:off x="9274175" y="2746375"/>
              <a:ext cx="55563" cy="4762"/>
            </a:xfrm>
            <a:custGeom>
              <a:avLst/>
              <a:gdLst/>
              <a:ahLst/>
              <a:cxnLst/>
              <a:rect l="l" t="t" r="r" b="b"/>
              <a:pathLst>
                <a:path w="29" h="2" extrusionOk="0">
                  <a:moveTo>
                    <a:pt x="0" y="1"/>
                  </a:moveTo>
                  <a:lnTo>
                    <a:pt x="0" y="1"/>
                  </a:lnTo>
                  <a:cubicBezTo>
                    <a:pt x="7" y="1"/>
                    <a:pt x="23" y="2"/>
                    <a:pt x="15" y="2"/>
                  </a:cubicBezTo>
                  <a:cubicBezTo>
                    <a:pt x="29" y="2"/>
                    <a:pt x="2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 name="Google Shape;52;p2"/>
            <p:cNvSpPr/>
            <p:nvPr/>
          </p:nvSpPr>
          <p:spPr>
            <a:xfrm>
              <a:off x="11847513" y="2827338"/>
              <a:ext cx="34925" cy="3175"/>
            </a:xfrm>
            <a:custGeom>
              <a:avLst/>
              <a:gdLst/>
              <a:ahLst/>
              <a:cxnLst/>
              <a:rect l="l" t="t" r="r" b="b"/>
              <a:pathLst>
                <a:path w="18" h="1" extrusionOk="0">
                  <a:moveTo>
                    <a:pt x="3" y="1"/>
                  </a:moveTo>
                  <a:lnTo>
                    <a:pt x="3" y="1"/>
                  </a:lnTo>
                  <a:cubicBezTo>
                    <a:pt x="7" y="1"/>
                    <a:pt x="13" y="0"/>
                    <a:pt x="18" y="0"/>
                  </a:cubicBezTo>
                  <a:cubicBezTo>
                    <a:pt x="8" y="0"/>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 name="Google Shape;53;p2"/>
            <p:cNvSpPr/>
            <p:nvPr/>
          </p:nvSpPr>
          <p:spPr>
            <a:xfrm>
              <a:off x="11882438" y="2825750"/>
              <a:ext cx="25400" cy="1587"/>
            </a:xfrm>
            <a:custGeom>
              <a:avLst/>
              <a:gdLst/>
              <a:ahLst/>
              <a:cxnLst/>
              <a:rect l="l" t="t" r="r" b="b"/>
              <a:pathLst>
                <a:path w="14" h="1" extrusionOk="0">
                  <a:moveTo>
                    <a:pt x="0" y="1"/>
                  </a:moveTo>
                  <a:lnTo>
                    <a:pt x="0" y="1"/>
                  </a:lnTo>
                  <a:lnTo>
                    <a:pt x="14"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 name="Google Shape;54;p2"/>
            <p:cNvSpPr/>
            <p:nvPr/>
          </p:nvSpPr>
          <p:spPr>
            <a:xfrm>
              <a:off x="8915400" y="2809875"/>
              <a:ext cx="15875" cy="1587"/>
            </a:xfrm>
            <a:custGeom>
              <a:avLst/>
              <a:gdLst/>
              <a:ahLst/>
              <a:cxnLst/>
              <a:rect l="l" t="t" r="r" b="b"/>
              <a:pathLst>
                <a:path w="8" h="1" extrusionOk="0">
                  <a:moveTo>
                    <a:pt x="8" y="1"/>
                  </a:moveTo>
                  <a:lnTo>
                    <a:pt x="8" y="1"/>
                  </a:lnTo>
                  <a:cubicBezTo>
                    <a:pt x="6" y="0"/>
                    <a:pt x="3" y="0"/>
                    <a:pt x="0" y="0"/>
                  </a:cubicBezTo>
                  <a:cubicBezTo>
                    <a:pt x="1" y="0"/>
                    <a:pt x="4"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 name="Google Shape;55;p2"/>
            <p:cNvSpPr/>
            <p:nvPr/>
          </p:nvSpPr>
          <p:spPr>
            <a:xfrm>
              <a:off x="12109450" y="2752725"/>
              <a:ext cx="454025" cy="23812"/>
            </a:xfrm>
            <a:custGeom>
              <a:avLst/>
              <a:gdLst/>
              <a:ahLst/>
              <a:cxnLst/>
              <a:rect l="l" t="t" r="r" b="b"/>
              <a:pathLst>
                <a:path w="236" h="10" extrusionOk="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 name="Google Shape;56;p2"/>
            <p:cNvSpPr/>
            <p:nvPr/>
          </p:nvSpPr>
          <p:spPr>
            <a:xfrm>
              <a:off x="12182475" y="2816225"/>
              <a:ext cx="9525" cy="0"/>
            </a:xfrm>
            <a:custGeom>
              <a:avLst/>
              <a:gdLst/>
              <a:ahLst/>
              <a:cxnLst/>
              <a:rect l="l" t="t" r="r" b="b"/>
              <a:pathLst>
                <a:path w="5" h="120000" extrusionOk="0">
                  <a:moveTo>
                    <a:pt x="0" y="0"/>
                  </a:moveTo>
                  <a:lnTo>
                    <a:pt x="0" y="0"/>
                  </a:lnTo>
                  <a:lnTo>
                    <a:pt x="1"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 name="Google Shape;57;p2"/>
            <p:cNvSpPr/>
            <p:nvPr/>
          </p:nvSpPr>
          <p:spPr>
            <a:xfrm>
              <a:off x="4348162" y="2827338"/>
              <a:ext cx="17463" cy="3175"/>
            </a:xfrm>
            <a:custGeom>
              <a:avLst/>
              <a:gdLst/>
              <a:ahLst/>
              <a:cxnLst/>
              <a:rect l="l" t="t" r="r" b="b"/>
              <a:pathLst>
                <a:path w="9" h="1" extrusionOk="0">
                  <a:moveTo>
                    <a:pt x="8" y="0"/>
                  </a:moveTo>
                  <a:lnTo>
                    <a:pt x="8" y="0"/>
                  </a:lnTo>
                  <a:lnTo>
                    <a:pt x="0" y="1"/>
                  </a:lnTo>
                  <a:cubicBezTo>
                    <a:pt x="7" y="0"/>
                    <a:pt x="9" y="0"/>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 name="Google Shape;58;p2"/>
            <p:cNvSpPr/>
            <p:nvPr/>
          </p:nvSpPr>
          <p:spPr>
            <a:xfrm>
              <a:off x="12071350" y="2790825"/>
              <a:ext cx="0" cy="0"/>
            </a:xfrm>
            <a:custGeom>
              <a:avLst/>
              <a:gdLst/>
              <a:ahLst/>
              <a:cxnLst/>
              <a:rect l="l" t="t" r="r" b="b"/>
              <a:pathLst>
                <a:path w="120000" h="120000" extrusionOk="0">
                  <a:moveTo>
                    <a:pt x="0" y="0"/>
                  </a:moveTo>
                  <a:lnTo>
                    <a:pt x="0" y="0"/>
                  </a:lnTo>
                  <a:lnTo>
                    <a:pt x="0"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 name="Google Shape;59;p2"/>
            <p:cNvSpPr/>
            <p:nvPr/>
          </p:nvSpPr>
          <p:spPr>
            <a:xfrm>
              <a:off x="4754563" y="2827338"/>
              <a:ext cx="4763" cy="0"/>
            </a:xfrm>
            <a:custGeom>
              <a:avLst/>
              <a:gdLst/>
              <a:ahLst/>
              <a:cxnLst/>
              <a:rect l="l" t="t" r="r" b="b"/>
              <a:pathLst>
                <a:path w="2" h="120000" extrusionOk="0">
                  <a:moveTo>
                    <a:pt x="2" y="0"/>
                  </a:moveTo>
                  <a:lnTo>
                    <a:pt x="2" y="0"/>
                  </a:lnTo>
                  <a:lnTo>
                    <a:pt x="0" y="0"/>
                  </a:lnTo>
                  <a:cubicBezTo>
                    <a:pt x="1" y="0"/>
                    <a:pt x="1" y="0"/>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 name="Google Shape;60;p2"/>
            <p:cNvSpPr/>
            <p:nvPr/>
          </p:nvSpPr>
          <p:spPr>
            <a:xfrm>
              <a:off x="4852988" y="2719388"/>
              <a:ext cx="9525" cy="3175"/>
            </a:xfrm>
            <a:custGeom>
              <a:avLst/>
              <a:gdLst/>
              <a:ahLst/>
              <a:cxnLst/>
              <a:rect l="l" t="t" r="r" b="b"/>
              <a:pathLst>
                <a:path w="5" h="1" extrusionOk="0">
                  <a:moveTo>
                    <a:pt x="5" y="1"/>
                  </a:moveTo>
                  <a:lnTo>
                    <a:pt x="5" y="1"/>
                  </a:lnTo>
                  <a:cubicBezTo>
                    <a:pt x="5" y="1"/>
                    <a:pt x="5" y="1"/>
                    <a:pt x="4" y="0"/>
                  </a:cubicBezTo>
                  <a:cubicBezTo>
                    <a:pt x="0" y="1"/>
                    <a:pt x="2" y="1"/>
                    <a:pt x="5"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 name="Google Shape;61;p2"/>
            <p:cNvSpPr/>
            <p:nvPr/>
          </p:nvSpPr>
          <p:spPr>
            <a:xfrm>
              <a:off x="4759325" y="2827338"/>
              <a:ext cx="0" cy="0"/>
            </a:xfrm>
            <a:custGeom>
              <a:avLst/>
              <a:gdLst/>
              <a:ahLst/>
              <a:cxnLst/>
              <a:rect l="l" t="t" r="r" b="b"/>
              <a:pathLst>
                <a:path w="120000" h="120000" extrusionOk="0">
                  <a:moveTo>
                    <a:pt x="0" y="0"/>
                  </a:moveTo>
                  <a:lnTo>
                    <a:pt x="0" y="0"/>
                  </a:lnTo>
                  <a:cubicBezTo>
                    <a:pt x="0" y="0"/>
                    <a:pt x="0" y="0"/>
                    <a:pt x="0" y="0"/>
                  </a:cubicBez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 name="Google Shape;62;p2"/>
            <p:cNvSpPr/>
            <p:nvPr/>
          </p:nvSpPr>
          <p:spPr>
            <a:xfrm>
              <a:off x="6654800" y="2805113"/>
              <a:ext cx="19050" cy="1587"/>
            </a:xfrm>
            <a:custGeom>
              <a:avLst/>
              <a:gdLst/>
              <a:ahLst/>
              <a:cxnLst/>
              <a:rect l="l" t="t" r="r" b="b"/>
              <a:pathLst>
                <a:path w="10" h="1" extrusionOk="0">
                  <a:moveTo>
                    <a:pt x="10" y="1"/>
                  </a:moveTo>
                  <a:lnTo>
                    <a:pt x="10" y="1"/>
                  </a:lnTo>
                  <a:lnTo>
                    <a:pt x="2" y="0"/>
                  </a:lnTo>
                  <a:cubicBezTo>
                    <a:pt x="0" y="0"/>
                    <a:pt x="2" y="0"/>
                    <a:pt x="1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 name="Google Shape;63;p2"/>
            <p:cNvSpPr/>
            <p:nvPr/>
          </p:nvSpPr>
          <p:spPr>
            <a:xfrm>
              <a:off x="6289675" y="2798763"/>
              <a:ext cx="6350" cy="0"/>
            </a:xfrm>
            <a:custGeom>
              <a:avLst/>
              <a:gdLst/>
              <a:ahLst/>
              <a:cxnLst/>
              <a:rect l="l" t="t" r="r" b="b"/>
              <a:pathLst>
                <a:path w="3" h="120000" extrusionOk="0">
                  <a:moveTo>
                    <a:pt x="3" y="0"/>
                  </a:moveTo>
                  <a:lnTo>
                    <a:pt x="3"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 name="Google Shape;64;p2"/>
            <p:cNvSpPr/>
            <p:nvPr/>
          </p:nvSpPr>
          <p:spPr>
            <a:xfrm>
              <a:off x="9140825" y="2725738"/>
              <a:ext cx="44450" cy="0"/>
            </a:xfrm>
            <a:custGeom>
              <a:avLst/>
              <a:gdLst/>
              <a:ahLst/>
              <a:cxnLst/>
              <a:rect l="l" t="t" r="r" b="b"/>
              <a:pathLst>
                <a:path w="23" h="120000" extrusionOk="0">
                  <a:moveTo>
                    <a:pt x="23" y="0"/>
                  </a:moveTo>
                  <a:lnTo>
                    <a:pt x="23" y="0"/>
                  </a:lnTo>
                  <a:lnTo>
                    <a:pt x="0" y="0"/>
                  </a:lnTo>
                  <a:lnTo>
                    <a:pt x="2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 name="Google Shape;65;p2"/>
            <p:cNvSpPr/>
            <p:nvPr/>
          </p:nvSpPr>
          <p:spPr>
            <a:xfrm>
              <a:off x="4737100" y="2827338"/>
              <a:ext cx="17463" cy="3175"/>
            </a:xfrm>
            <a:custGeom>
              <a:avLst/>
              <a:gdLst/>
              <a:ahLst/>
              <a:cxnLst/>
              <a:rect l="l" t="t" r="r" b="b"/>
              <a:pathLst>
                <a:path w="9" h="1" extrusionOk="0">
                  <a:moveTo>
                    <a:pt x="9" y="0"/>
                  </a:moveTo>
                  <a:lnTo>
                    <a:pt x="9" y="0"/>
                  </a:lnTo>
                  <a:lnTo>
                    <a:pt x="0" y="1"/>
                  </a:lnTo>
                  <a:cubicBezTo>
                    <a:pt x="5" y="0"/>
                    <a:pt x="8" y="0"/>
                    <a:pt x="9"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 name="Google Shape;66;p2"/>
            <p:cNvSpPr/>
            <p:nvPr/>
          </p:nvSpPr>
          <p:spPr>
            <a:xfrm>
              <a:off x="7239000" y="2779713"/>
              <a:ext cx="11113" cy="3175"/>
            </a:xfrm>
            <a:custGeom>
              <a:avLst/>
              <a:gdLst/>
              <a:ahLst/>
              <a:cxnLst/>
              <a:rect l="l" t="t" r="r" b="b"/>
              <a:pathLst>
                <a:path w="6" h="1" extrusionOk="0">
                  <a:moveTo>
                    <a:pt x="6" y="0"/>
                  </a:moveTo>
                  <a:lnTo>
                    <a:pt x="6" y="0"/>
                  </a:lnTo>
                  <a:lnTo>
                    <a:pt x="0" y="1"/>
                  </a:lnTo>
                  <a:lnTo>
                    <a:pt x="4" y="1"/>
                  </a:lnTo>
                  <a:lnTo>
                    <a:pt x="6"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 name="Google Shape;67;p2"/>
            <p:cNvSpPr/>
            <p:nvPr/>
          </p:nvSpPr>
          <p:spPr>
            <a:xfrm>
              <a:off x="7181850" y="2773363"/>
              <a:ext cx="468313" cy="15875"/>
            </a:xfrm>
            <a:custGeom>
              <a:avLst/>
              <a:gdLst/>
              <a:ahLst/>
              <a:cxnLst/>
              <a:rect l="l" t="t" r="r" b="b"/>
              <a:pathLst>
                <a:path w="244" h="7" extrusionOk="0">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 name="Google Shape;68;p2"/>
            <p:cNvSpPr/>
            <p:nvPr/>
          </p:nvSpPr>
          <p:spPr>
            <a:xfrm>
              <a:off x="7407275" y="2787650"/>
              <a:ext cx="26988" cy="0"/>
            </a:xfrm>
            <a:custGeom>
              <a:avLst/>
              <a:gdLst/>
              <a:ahLst/>
              <a:cxnLst/>
              <a:rect l="l" t="t" r="r" b="b"/>
              <a:pathLst>
                <a:path w="14" h="120000" extrusionOk="0">
                  <a:moveTo>
                    <a:pt x="14" y="0"/>
                  </a:moveTo>
                  <a:lnTo>
                    <a:pt x="14" y="0"/>
                  </a:lnTo>
                  <a:lnTo>
                    <a:pt x="0" y="0"/>
                  </a:lnTo>
                  <a:cubicBezTo>
                    <a:pt x="8" y="0"/>
                    <a:pt x="11" y="0"/>
                    <a:pt x="1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 name="Google Shape;69;p2"/>
            <p:cNvSpPr/>
            <p:nvPr/>
          </p:nvSpPr>
          <p:spPr>
            <a:xfrm>
              <a:off x="8123238" y="2794000"/>
              <a:ext cx="31750" cy="1587"/>
            </a:xfrm>
            <a:custGeom>
              <a:avLst/>
              <a:gdLst/>
              <a:ahLst/>
              <a:cxnLst/>
              <a:rect l="l" t="t" r="r" b="b"/>
              <a:pathLst>
                <a:path w="16" h="1" extrusionOk="0">
                  <a:moveTo>
                    <a:pt x="0" y="1"/>
                  </a:moveTo>
                  <a:lnTo>
                    <a:pt x="0" y="1"/>
                  </a:lnTo>
                  <a:lnTo>
                    <a:pt x="16"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 name="Google Shape;70;p2"/>
            <p:cNvSpPr/>
            <p:nvPr/>
          </p:nvSpPr>
          <p:spPr>
            <a:xfrm>
              <a:off x="3070225" y="2794000"/>
              <a:ext cx="101600" cy="4762"/>
            </a:xfrm>
            <a:custGeom>
              <a:avLst/>
              <a:gdLst/>
              <a:ahLst/>
              <a:cxnLst/>
              <a:rect l="l" t="t" r="r" b="b"/>
              <a:pathLst>
                <a:path w="53" h="2" extrusionOk="0">
                  <a:moveTo>
                    <a:pt x="0" y="0"/>
                  </a:moveTo>
                  <a:lnTo>
                    <a:pt x="0" y="0"/>
                  </a:lnTo>
                  <a:cubicBezTo>
                    <a:pt x="2" y="1"/>
                    <a:pt x="53" y="2"/>
                    <a:pt x="52" y="0"/>
                  </a:cubicBez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 name="Google Shape;71;p2"/>
            <p:cNvSpPr/>
            <p:nvPr/>
          </p:nvSpPr>
          <p:spPr>
            <a:xfrm>
              <a:off x="9963150" y="2778125"/>
              <a:ext cx="41275" cy="0"/>
            </a:xfrm>
            <a:custGeom>
              <a:avLst/>
              <a:gdLst/>
              <a:ahLst/>
              <a:cxnLst/>
              <a:rect l="l" t="t" r="r" b="b"/>
              <a:pathLst>
                <a:path w="21" h="120000" extrusionOk="0">
                  <a:moveTo>
                    <a:pt x="21" y="0"/>
                  </a:moveTo>
                  <a:lnTo>
                    <a:pt x="21" y="0"/>
                  </a:lnTo>
                  <a:lnTo>
                    <a:pt x="3" y="0"/>
                  </a:lnTo>
                  <a:lnTo>
                    <a:pt x="0" y="0"/>
                  </a:lnTo>
                  <a:cubicBezTo>
                    <a:pt x="4" y="0"/>
                    <a:pt x="15"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 name="Google Shape;72;p2"/>
            <p:cNvSpPr/>
            <p:nvPr/>
          </p:nvSpPr>
          <p:spPr>
            <a:xfrm>
              <a:off x="7523163" y="2773363"/>
              <a:ext cx="30163" cy="3175"/>
            </a:xfrm>
            <a:custGeom>
              <a:avLst/>
              <a:gdLst/>
              <a:ahLst/>
              <a:cxnLst/>
              <a:rect l="l" t="t" r="r" b="b"/>
              <a:pathLst>
                <a:path w="16" h="1" extrusionOk="0">
                  <a:moveTo>
                    <a:pt x="16" y="0"/>
                  </a:moveTo>
                  <a:lnTo>
                    <a:pt x="16" y="0"/>
                  </a:lnTo>
                  <a:cubicBezTo>
                    <a:pt x="6" y="0"/>
                    <a:pt x="2" y="1"/>
                    <a:pt x="0" y="1"/>
                  </a:cubicBezTo>
                  <a:cubicBezTo>
                    <a:pt x="6" y="1"/>
                    <a:pt x="12" y="1"/>
                    <a:pt x="1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 name="Google Shape;73;p2"/>
            <p:cNvSpPr/>
            <p:nvPr/>
          </p:nvSpPr>
          <p:spPr>
            <a:xfrm>
              <a:off x="10009188" y="2787650"/>
              <a:ext cx="115888" cy="3175"/>
            </a:xfrm>
            <a:custGeom>
              <a:avLst/>
              <a:gdLst/>
              <a:ahLst/>
              <a:cxnLst/>
              <a:rect l="l" t="t" r="r" b="b"/>
              <a:pathLst>
                <a:path w="60" h="2" extrusionOk="0">
                  <a:moveTo>
                    <a:pt x="0" y="0"/>
                  </a:moveTo>
                  <a:lnTo>
                    <a:pt x="0" y="0"/>
                  </a:lnTo>
                  <a:cubicBezTo>
                    <a:pt x="7" y="0"/>
                    <a:pt x="18" y="1"/>
                    <a:pt x="19" y="2"/>
                  </a:cubicBezTo>
                  <a:cubicBezTo>
                    <a:pt x="34" y="2"/>
                    <a:pt x="45" y="1"/>
                    <a:pt x="60" y="1"/>
                  </a:cubicBezTo>
                  <a:cubicBezTo>
                    <a:pt x="43" y="1"/>
                    <a:pt x="23"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 name="Google Shape;74;p2"/>
            <p:cNvSpPr/>
            <p:nvPr/>
          </p:nvSpPr>
          <p:spPr>
            <a:xfrm>
              <a:off x="10125075" y="2789238"/>
              <a:ext cx="1588" cy="0"/>
            </a:xfrm>
            <a:custGeom>
              <a:avLst/>
              <a:gdLst/>
              <a:ahLst/>
              <a:cxnLst/>
              <a:rect l="l" t="t" r="r" b="b"/>
              <a:pathLst>
                <a:path w="1" h="120000" extrusionOk="0">
                  <a:moveTo>
                    <a:pt x="1" y="0"/>
                  </a:moveTo>
                  <a:lnTo>
                    <a:pt x="1" y="0"/>
                  </a:lnTo>
                  <a:lnTo>
                    <a:pt x="0" y="0"/>
                  </a:lnTo>
                  <a:lnTo>
                    <a:pt x="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 name="Google Shape;75;p2"/>
            <p:cNvSpPr/>
            <p:nvPr/>
          </p:nvSpPr>
          <p:spPr>
            <a:xfrm>
              <a:off x="-4110038" y="2703513"/>
              <a:ext cx="16486189" cy="134937"/>
            </a:xfrm>
            <a:custGeom>
              <a:avLst/>
              <a:gdLst/>
              <a:ahLst/>
              <a:cxnLst/>
              <a:rect l="l" t="t" r="r" b="b"/>
              <a:pathLst>
                <a:path w="8594" h="60" extrusionOk="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 name="Google Shape;76;p2"/>
            <p:cNvSpPr/>
            <p:nvPr/>
          </p:nvSpPr>
          <p:spPr>
            <a:xfrm>
              <a:off x="12117388" y="2779713"/>
              <a:ext cx="127000" cy="4762"/>
            </a:xfrm>
            <a:custGeom>
              <a:avLst/>
              <a:gdLst/>
              <a:ahLst/>
              <a:cxnLst/>
              <a:rect l="l" t="t" r="r" b="b"/>
              <a:pathLst>
                <a:path w="66" h="2" extrusionOk="0">
                  <a:moveTo>
                    <a:pt x="19" y="2"/>
                  </a:moveTo>
                  <a:lnTo>
                    <a:pt x="19" y="2"/>
                  </a:lnTo>
                  <a:cubicBezTo>
                    <a:pt x="33" y="2"/>
                    <a:pt x="66" y="2"/>
                    <a:pt x="60" y="0"/>
                  </a:cubicBezTo>
                  <a:cubicBezTo>
                    <a:pt x="60" y="2"/>
                    <a:pt x="0" y="0"/>
                    <a:pt x="19"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 name="Google Shape;77;p2"/>
            <p:cNvSpPr/>
            <p:nvPr/>
          </p:nvSpPr>
          <p:spPr>
            <a:xfrm>
              <a:off x="12182475" y="2787650"/>
              <a:ext cx="79375" cy="1587"/>
            </a:xfrm>
            <a:custGeom>
              <a:avLst/>
              <a:gdLst/>
              <a:ahLst/>
              <a:cxnLst/>
              <a:rect l="l" t="t" r="r" b="b"/>
              <a:pathLst>
                <a:path w="41" h="1" extrusionOk="0">
                  <a:moveTo>
                    <a:pt x="25" y="1"/>
                  </a:moveTo>
                  <a:lnTo>
                    <a:pt x="25" y="1"/>
                  </a:lnTo>
                  <a:cubicBezTo>
                    <a:pt x="27" y="1"/>
                    <a:pt x="26" y="0"/>
                    <a:pt x="41" y="0"/>
                  </a:cubicBezTo>
                  <a:lnTo>
                    <a:pt x="0" y="0"/>
                  </a:lnTo>
                  <a:lnTo>
                    <a:pt x="2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 name="Google Shape;78;p2"/>
            <p:cNvSpPr/>
            <p:nvPr/>
          </p:nvSpPr>
          <p:spPr>
            <a:xfrm>
              <a:off x="12307888" y="2809875"/>
              <a:ext cx="249238" cy="15875"/>
            </a:xfrm>
            <a:custGeom>
              <a:avLst/>
              <a:gdLst/>
              <a:ahLst/>
              <a:cxnLst/>
              <a:rect l="l" t="t" r="r" b="b"/>
              <a:pathLst>
                <a:path w="130" h="7" extrusionOk="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 name="Google Shape;79;p2"/>
            <p:cNvSpPr/>
            <p:nvPr/>
          </p:nvSpPr>
          <p:spPr>
            <a:xfrm>
              <a:off x="12252325" y="2825750"/>
              <a:ext cx="73025" cy="1587"/>
            </a:xfrm>
            <a:custGeom>
              <a:avLst/>
              <a:gdLst/>
              <a:ahLst/>
              <a:cxnLst/>
              <a:rect l="l" t="t" r="r" b="b"/>
              <a:pathLst>
                <a:path w="38" h="1" extrusionOk="0">
                  <a:moveTo>
                    <a:pt x="4" y="1"/>
                  </a:moveTo>
                  <a:lnTo>
                    <a:pt x="4" y="1"/>
                  </a:lnTo>
                  <a:lnTo>
                    <a:pt x="38" y="0"/>
                  </a:lnTo>
                  <a:lnTo>
                    <a:pt x="34" y="0"/>
                  </a:lnTo>
                  <a:lnTo>
                    <a:pt x="0" y="1"/>
                  </a:lnTo>
                  <a:lnTo>
                    <a:pt x="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 name="Google Shape;80;p2"/>
            <p:cNvSpPr/>
            <p:nvPr/>
          </p:nvSpPr>
          <p:spPr>
            <a:xfrm>
              <a:off x="10779125" y="2733675"/>
              <a:ext cx="66675" cy="4762"/>
            </a:xfrm>
            <a:custGeom>
              <a:avLst/>
              <a:gdLst/>
              <a:ahLst/>
              <a:cxnLst/>
              <a:rect l="l" t="t" r="r" b="b"/>
              <a:pathLst>
                <a:path w="35" h="2" extrusionOk="0">
                  <a:moveTo>
                    <a:pt x="35" y="2"/>
                  </a:moveTo>
                  <a:lnTo>
                    <a:pt x="35" y="2"/>
                  </a:lnTo>
                  <a:cubicBezTo>
                    <a:pt x="32" y="0"/>
                    <a:pt x="11" y="1"/>
                    <a:pt x="0" y="2"/>
                  </a:cubicBezTo>
                  <a:cubicBezTo>
                    <a:pt x="9" y="2"/>
                    <a:pt x="22" y="2"/>
                    <a:pt x="3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 name="Google Shape;81;p2"/>
            <p:cNvSpPr/>
            <p:nvPr/>
          </p:nvSpPr>
          <p:spPr>
            <a:xfrm>
              <a:off x="-2471738" y="2738438"/>
              <a:ext cx="496888" cy="1587"/>
            </a:xfrm>
            <a:custGeom>
              <a:avLst/>
              <a:gdLst/>
              <a:ahLst/>
              <a:cxnLst/>
              <a:rect l="l" t="t" r="r" b="b"/>
              <a:pathLst>
                <a:path w="259" h="1" extrusionOk="0">
                  <a:moveTo>
                    <a:pt x="259" y="0"/>
                  </a:moveTo>
                  <a:lnTo>
                    <a:pt x="259" y="0"/>
                  </a:lnTo>
                  <a:lnTo>
                    <a:pt x="0" y="1"/>
                  </a:lnTo>
                  <a:lnTo>
                    <a:pt x="25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 name="Google Shape;82;p2"/>
            <p:cNvSpPr/>
            <p:nvPr/>
          </p:nvSpPr>
          <p:spPr>
            <a:xfrm>
              <a:off x="9136063" y="2735263"/>
              <a:ext cx="387350" cy="14287"/>
            </a:xfrm>
            <a:custGeom>
              <a:avLst/>
              <a:gdLst/>
              <a:ahLst/>
              <a:cxnLst/>
              <a:rect l="l" t="t" r="r" b="b"/>
              <a:pathLst>
                <a:path w="202" h="6" extrusionOk="0">
                  <a:moveTo>
                    <a:pt x="30" y="6"/>
                  </a:moveTo>
                  <a:lnTo>
                    <a:pt x="30" y="6"/>
                  </a:lnTo>
                  <a:cubicBezTo>
                    <a:pt x="100" y="5"/>
                    <a:pt x="131" y="3"/>
                    <a:pt x="202" y="3"/>
                  </a:cubicBezTo>
                  <a:cubicBezTo>
                    <a:pt x="109" y="0"/>
                    <a:pt x="79" y="6"/>
                    <a:pt x="0" y="3"/>
                  </a:cubicBezTo>
                  <a:lnTo>
                    <a:pt x="30"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 name="Google Shape;83;p2"/>
            <p:cNvSpPr/>
            <p:nvPr/>
          </p:nvSpPr>
          <p:spPr>
            <a:xfrm>
              <a:off x="9139238" y="2725738"/>
              <a:ext cx="142875" cy="9525"/>
            </a:xfrm>
            <a:custGeom>
              <a:avLst/>
              <a:gdLst/>
              <a:ahLst/>
              <a:cxnLst/>
              <a:rect l="l" t="t" r="r" b="b"/>
              <a:pathLst>
                <a:path w="75" h="4" extrusionOk="0">
                  <a:moveTo>
                    <a:pt x="54" y="0"/>
                  </a:moveTo>
                  <a:lnTo>
                    <a:pt x="54" y="0"/>
                  </a:lnTo>
                  <a:cubicBezTo>
                    <a:pt x="65" y="2"/>
                    <a:pt x="0" y="3"/>
                    <a:pt x="10" y="4"/>
                  </a:cubicBezTo>
                  <a:cubicBezTo>
                    <a:pt x="57" y="4"/>
                    <a:pt x="32" y="2"/>
                    <a:pt x="75" y="2"/>
                  </a:cubicBezTo>
                  <a:lnTo>
                    <a:pt x="5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 name="Google Shape;84;p2"/>
            <p:cNvSpPr/>
            <p:nvPr/>
          </p:nvSpPr>
          <p:spPr>
            <a:xfrm>
              <a:off x="9805988" y="2817813"/>
              <a:ext cx="39688" cy="3175"/>
            </a:xfrm>
            <a:custGeom>
              <a:avLst/>
              <a:gdLst/>
              <a:ahLst/>
              <a:cxnLst/>
              <a:rect l="l" t="t" r="r" b="b"/>
              <a:pathLst>
                <a:path w="21" h="1" extrusionOk="0">
                  <a:moveTo>
                    <a:pt x="21" y="0"/>
                  </a:moveTo>
                  <a:lnTo>
                    <a:pt x="21" y="0"/>
                  </a:lnTo>
                  <a:lnTo>
                    <a:pt x="0" y="1"/>
                  </a:lnTo>
                  <a:lnTo>
                    <a:pt x="17" y="1"/>
                  </a:lnTo>
                  <a:lnTo>
                    <a:pt x="2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 name="Google Shape;85;p2"/>
            <p:cNvSpPr/>
            <p:nvPr/>
          </p:nvSpPr>
          <p:spPr>
            <a:xfrm>
              <a:off x="8580438" y="2725738"/>
              <a:ext cx="66675" cy="3175"/>
            </a:xfrm>
            <a:custGeom>
              <a:avLst/>
              <a:gdLst/>
              <a:ahLst/>
              <a:cxnLst/>
              <a:rect l="l" t="t" r="r" b="b"/>
              <a:pathLst>
                <a:path w="35" h="1" extrusionOk="0">
                  <a:moveTo>
                    <a:pt x="27" y="1"/>
                  </a:moveTo>
                  <a:lnTo>
                    <a:pt x="27" y="1"/>
                  </a:lnTo>
                  <a:lnTo>
                    <a:pt x="35" y="1"/>
                  </a:lnTo>
                  <a:lnTo>
                    <a:pt x="0" y="0"/>
                  </a:lnTo>
                  <a:lnTo>
                    <a:pt x="27"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 name="Google Shape;86;p2"/>
            <p:cNvSpPr/>
            <p:nvPr/>
          </p:nvSpPr>
          <p:spPr>
            <a:xfrm>
              <a:off x="8647113" y="2725738"/>
              <a:ext cx="15875" cy="3175"/>
            </a:xfrm>
            <a:custGeom>
              <a:avLst/>
              <a:gdLst/>
              <a:ahLst/>
              <a:cxnLst/>
              <a:rect l="l" t="t" r="r" b="b"/>
              <a:pathLst>
                <a:path w="8" h="1" extrusionOk="0">
                  <a:moveTo>
                    <a:pt x="8" y="0"/>
                  </a:moveTo>
                  <a:lnTo>
                    <a:pt x="8" y="0"/>
                  </a:lnTo>
                  <a:lnTo>
                    <a:pt x="0" y="1"/>
                  </a:lnTo>
                  <a:lnTo>
                    <a:pt x="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 name="Google Shape;87;p2"/>
            <p:cNvSpPr/>
            <p:nvPr/>
          </p:nvSpPr>
          <p:spPr>
            <a:xfrm>
              <a:off x="9794875" y="2830513"/>
              <a:ext cx="90488" cy="1587"/>
            </a:xfrm>
            <a:custGeom>
              <a:avLst/>
              <a:gdLst/>
              <a:ahLst/>
              <a:cxnLst/>
              <a:rect l="l" t="t" r="r" b="b"/>
              <a:pathLst>
                <a:path w="47" h="1" extrusionOk="0">
                  <a:moveTo>
                    <a:pt x="0" y="0"/>
                  </a:moveTo>
                  <a:lnTo>
                    <a:pt x="0" y="0"/>
                  </a:lnTo>
                  <a:lnTo>
                    <a:pt x="32" y="1"/>
                  </a:lnTo>
                  <a:lnTo>
                    <a:pt x="47"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 name="Google Shape;88;p2"/>
            <p:cNvSpPr/>
            <p:nvPr/>
          </p:nvSpPr>
          <p:spPr>
            <a:xfrm>
              <a:off x="9232900" y="2795588"/>
              <a:ext cx="84138" cy="3175"/>
            </a:xfrm>
            <a:custGeom>
              <a:avLst/>
              <a:gdLst/>
              <a:ahLst/>
              <a:cxnLst/>
              <a:rect l="l" t="t" r="r" b="b"/>
              <a:pathLst>
                <a:path w="44" h="1" extrusionOk="0">
                  <a:moveTo>
                    <a:pt x="16" y="1"/>
                  </a:moveTo>
                  <a:lnTo>
                    <a:pt x="16" y="1"/>
                  </a:lnTo>
                  <a:lnTo>
                    <a:pt x="44" y="1"/>
                  </a:lnTo>
                  <a:cubicBezTo>
                    <a:pt x="39" y="1"/>
                    <a:pt x="0" y="0"/>
                    <a:pt x="16"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 name="Google Shape;89;p2"/>
            <p:cNvSpPr/>
            <p:nvPr/>
          </p:nvSpPr>
          <p:spPr>
            <a:xfrm>
              <a:off x="8158163" y="2725738"/>
              <a:ext cx="71438" cy="3175"/>
            </a:xfrm>
            <a:custGeom>
              <a:avLst/>
              <a:gdLst/>
              <a:ahLst/>
              <a:cxnLst/>
              <a:rect l="l" t="t" r="r" b="b"/>
              <a:pathLst>
                <a:path w="37" h="1" extrusionOk="0">
                  <a:moveTo>
                    <a:pt x="34" y="0"/>
                  </a:moveTo>
                  <a:lnTo>
                    <a:pt x="34" y="0"/>
                  </a:lnTo>
                  <a:lnTo>
                    <a:pt x="0" y="1"/>
                  </a:lnTo>
                  <a:lnTo>
                    <a:pt x="3" y="1"/>
                  </a:lnTo>
                  <a:lnTo>
                    <a:pt x="37" y="0"/>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 name="Google Shape;90;p2"/>
            <p:cNvSpPr/>
            <p:nvPr/>
          </p:nvSpPr>
          <p:spPr>
            <a:xfrm>
              <a:off x="8734425" y="2814638"/>
              <a:ext cx="144463" cy="3175"/>
            </a:xfrm>
            <a:custGeom>
              <a:avLst/>
              <a:gdLst/>
              <a:ahLst/>
              <a:cxnLst/>
              <a:rect l="l" t="t" r="r" b="b"/>
              <a:pathLst>
                <a:path w="76" h="2" extrusionOk="0">
                  <a:moveTo>
                    <a:pt x="56" y="0"/>
                  </a:moveTo>
                  <a:lnTo>
                    <a:pt x="56" y="0"/>
                  </a:lnTo>
                  <a:cubicBezTo>
                    <a:pt x="76" y="2"/>
                    <a:pt x="0" y="0"/>
                    <a:pt x="40" y="2"/>
                  </a:cubicBezTo>
                  <a:cubicBezTo>
                    <a:pt x="76" y="2"/>
                    <a:pt x="61" y="1"/>
                    <a:pt x="5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 name="Google Shape;91;p2"/>
            <p:cNvSpPr/>
            <p:nvPr/>
          </p:nvSpPr>
          <p:spPr>
            <a:xfrm>
              <a:off x="8023225" y="2782888"/>
              <a:ext cx="26988" cy="1587"/>
            </a:xfrm>
            <a:custGeom>
              <a:avLst/>
              <a:gdLst/>
              <a:ahLst/>
              <a:cxnLst/>
              <a:rect l="l" t="t" r="r" b="b"/>
              <a:pathLst>
                <a:path w="14" h="1" extrusionOk="0">
                  <a:moveTo>
                    <a:pt x="14" y="0"/>
                  </a:moveTo>
                  <a:lnTo>
                    <a:pt x="14" y="0"/>
                  </a:lnTo>
                  <a:cubicBezTo>
                    <a:pt x="9" y="0"/>
                    <a:pt x="5" y="0"/>
                    <a:pt x="0" y="1"/>
                  </a:cubicBezTo>
                  <a:lnTo>
                    <a:pt x="1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 name="Google Shape;92;p2"/>
            <p:cNvSpPr/>
            <p:nvPr/>
          </p:nvSpPr>
          <p:spPr>
            <a:xfrm>
              <a:off x="8050213" y="2782888"/>
              <a:ext cx="77788" cy="1587"/>
            </a:xfrm>
            <a:custGeom>
              <a:avLst/>
              <a:gdLst/>
              <a:ahLst/>
              <a:cxnLst/>
              <a:rect l="l" t="t" r="r" b="b"/>
              <a:pathLst>
                <a:path w="40" h="1" extrusionOk="0">
                  <a:moveTo>
                    <a:pt x="0" y="0"/>
                  </a:moveTo>
                  <a:lnTo>
                    <a:pt x="0" y="0"/>
                  </a:lnTo>
                  <a:cubicBezTo>
                    <a:pt x="15" y="0"/>
                    <a:pt x="30" y="1"/>
                    <a:pt x="40" y="1"/>
                  </a:cubicBezTo>
                  <a:cubicBezTo>
                    <a:pt x="21" y="0"/>
                    <a:pt x="15"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 name="Google Shape;93;p2"/>
            <p:cNvSpPr/>
            <p:nvPr/>
          </p:nvSpPr>
          <p:spPr>
            <a:xfrm>
              <a:off x="7715250" y="2779713"/>
              <a:ext cx="90488" cy="7937"/>
            </a:xfrm>
            <a:custGeom>
              <a:avLst/>
              <a:gdLst/>
              <a:ahLst/>
              <a:cxnLst/>
              <a:rect l="l" t="t" r="r" b="b"/>
              <a:pathLst>
                <a:path w="47" h="3" extrusionOk="0">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 name="Google Shape;94;p2"/>
            <p:cNvSpPr/>
            <p:nvPr/>
          </p:nvSpPr>
          <p:spPr>
            <a:xfrm>
              <a:off x="6508750" y="2713038"/>
              <a:ext cx="247650" cy="6350"/>
            </a:xfrm>
            <a:custGeom>
              <a:avLst/>
              <a:gdLst/>
              <a:ahLst/>
              <a:cxnLst/>
              <a:rect l="l" t="t" r="r" b="b"/>
              <a:pathLst>
                <a:path w="129" h="3" extrusionOk="0">
                  <a:moveTo>
                    <a:pt x="0" y="0"/>
                  </a:moveTo>
                  <a:lnTo>
                    <a:pt x="0" y="0"/>
                  </a:lnTo>
                  <a:cubicBezTo>
                    <a:pt x="50" y="1"/>
                    <a:pt x="63" y="1"/>
                    <a:pt x="60" y="2"/>
                  </a:cubicBezTo>
                  <a:cubicBezTo>
                    <a:pt x="108" y="3"/>
                    <a:pt x="100" y="0"/>
                    <a:pt x="129"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 name="Google Shape;95;p2"/>
            <p:cNvSpPr/>
            <p:nvPr/>
          </p:nvSpPr>
          <p:spPr>
            <a:xfrm>
              <a:off x="6756400" y="2713038"/>
              <a:ext cx="33338" cy="0"/>
            </a:xfrm>
            <a:custGeom>
              <a:avLst/>
              <a:gdLst/>
              <a:ahLst/>
              <a:cxnLst/>
              <a:rect l="l" t="t" r="r" b="b"/>
              <a:pathLst>
                <a:path w="18" h="120000" extrusionOk="0">
                  <a:moveTo>
                    <a:pt x="0" y="0"/>
                  </a:moveTo>
                  <a:lnTo>
                    <a:pt x="0" y="0"/>
                  </a:lnTo>
                  <a:lnTo>
                    <a:pt x="18"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 name="Google Shape;96;p2"/>
            <p:cNvSpPr/>
            <p:nvPr/>
          </p:nvSpPr>
          <p:spPr>
            <a:xfrm>
              <a:off x="8047038" y="2820988"/>
              <a:ext cx="58738" cy="4762"/>
            </a:xfrm>
            <a:custGeom>
              <a:avLst/>
              <a:gdLst/>
              <a:ahLst/>
              <a:cxnLst/>
              <a:rect l="l" t="t" r="r" b="b"/>
              <a:pathLst>
                <a:path w="31" h="2" extrusionOk="0">
                  <a:moveTo>
                    <a:pt x="31" y="0"/>
                  </a:moveTo>
                  <a:lnTo>
                    <a:pt x="31" y="0"/>
                  </a:lnTo>
                  <a:lnTo>
                    <a:pt x="0" y="2"/>
                  </a:lnTo>
                  <a:lnTo>
                    <a:pt x="11" y="2"/>
                  </a:lnTo>
                  <a:lnTo>
                    <a:pt x="3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 name="Google Shape;97;p2"/>
            <p:cNvSpPr/>
            <p:nvPr/>
          </p:nvSpPr>
          <p:spPr>
            <a:xfrm>
              <a:off x="6348413" y="2711451"/>
              <a:ext cx="82550" cy="1587"/>
            </a:xfrm>
            <a:custGeom>
              <a:avLst/>
              <a:gdLst/>
              <a:ahLst/>
              <a:cxnLst/>
              <a:rect l="l" t="t" r="r" b="b"/>
              <a:pathLst>
                <a:path w="43" h="1" extrusionOk="0">
                  <a:moveTo>
                    <a:pt x="9" y="1"/>
                  </a:moveTo>
                  <a:lnTo>
                    <a:pt x="9" y="1"/>
                  </a:lnTo>
                  <a:cubicBezTo>
                    <a:pt x="18" y="1"/>
                    <a:pt x="33" y="1"/>
                    <a:pt x="41" y="1"/>
                  </a:cubicBezTo>
                  <a:cubicBezTo>
                    <a:pt x="43" y="0"/>
                    <a:pt x="0" y="1"/>
                    <a:pt x="9"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 name="Google Shape;98;p2"/>
            <p:cNvSpPr/>
            <p:nvPr/>
          </p:nvSpPr>
          <p:spPr>
            <a:xfrm>
              <a:off x="6734175" y="2771775"/>
              <a:ext cx="96838" cy="6350"/>
            </a:xfrm>
            <a:custGeom>
              <a:avLst/>
              <a:gdLst/>
              <a:ahLst/>
              <a:cxnLst/>
              <a:rect l="l" t="t" r="r" b="b"/>
              <a:pathLst>
                <a:path w="50" h="3" extrusionOk="0">
                  <a:moveTo>
                    <a:pt x="0" y="2"/>
                  </a:moveTo>
                  <a:lnTo>
                    <a:pt x="0" y="2"/>
                  </a:lnTo>
                  <a:cubicBezTo>
                    <a:pt x="6" y="3"/>
                    <a:pt x="37" y="2"/>
                    <a:pt x="50" y="3"/>
                  </a:cubicBezTo>
                  <a:cubicBezTo>
                    <a:pt x="32" y="2"/>
                    <a:pt x="17"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 name="Google Shape;99;p2"/>
            <p:cNvSpPr/>
            <p:nvPr/>
          </p:nvSpPr>
          <p:spPr>
            <a:xfrm>
              <a:off x="6091238" y="2722563"/>
              <a:ext cx="95250" cy="7937"/>
            </a:xfrm>
            <a:custGeom>
              <a:avLst/>
              <a:gdLst/>
              <a:ahLst/>
              <a:cxnLst/>
              <a:rect l="l" t="t" r="r" b="b"/>
              <a:pathLst>
                <a:path w="49" h="4" extrusionOk="0">
                  <a:moveTo>
                    <a:pt x="0" y="1"/>
                  </a:moveTo>
                  <a:lnTo>
                    <a:pt x="0" y="1"/>
                  </a:lnTo>
                  <a:cubicBezTo>
                    <a:pt x="10" y="2"/>
                    <a:pt x="24" y="2"/>
                    <a:pt x="18" y="4"/>
                  </a:cubicBezTo>
                  <a:cubicBezTo>
                    <a:pt x="31" y="3"/>
                    <a:pt x="4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 name="Google Shape;100;p2"/>
            <p:cNvSpPr/>
            <p:nvPr/>
          </p:nvSpPr>
          <p:spPr>
            <a:xfrm>
              <a:off x="6559550" y="2773363"/>
              <a:ext cx="80963" cy="3175"/>
            </a:xfrm>
            <a:custGeom>
              <a:avLst/>
              <a:gdLst/>
              <a:ahLst/>
              <a:cxnLst/>
              <a:rect l="l" t="t" r="r" b="b"/>
              <a:pathLst>
                <a:path w="42" h="1" extrusionOk="0">
                  <a:moveTo>
                    <a:pt x="0" y="1"/>
                  </a:moveTo>
                  <a:lnTo>
                    <a:pt x="0" y="1"/>
                  </a:lnTo>
                  <a:lnTo>
                    <a:pt x="8" y="1"/>
                  </a:lnTo>
                  <a:lnTo>
                    <a:pt x="42"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 name="Google Shape;101;p2"/>
            <p:cNvSpPr/>
            <p:nvPr/>
          </p:nvSpPr>
          <p:spPr>
            <a:xfrm>
              <a:off x="6640513" y="2806700"/>
              <a:ext cx="227013" cy="15875"/>
            </a:xfrm>
            <a:custGeom>
              <a:avLst/>
              <a:gdLst/>
              <a:ahLst/>
              <a:cxnLst/>
              <a:rect l="l" t="t" r="r" b="b"/>
              <a:pathLst>
                <a:path w="118" h="7" extrusionOk="0">
                  <a:moveTo>
                    <a:pt x="80" y="7"/>
                  </a:moveTo>
                  <a:lnTo>
                    <a:pt x="80" y="7"/>
                  </a:lnTo>
                  <a:cubicBezTo>
                    <a:pt x="118" y="5"/>
                    <a:pt x="19" y="3"/>
                    <a:pt x="85" y="1"/>
                  </a:cubicBezTo>
                  <a:cubicBezTo>
                    <a:pt x="0" y="0"/>
                    <a:pt x="92" y="4"/>
                    <a:pt x="29" y="4"/>
                  </a:cubicBezTo>
                  <a:cubicBezTo>
                    <a:pt x="66" y="4"/>
                    <a:pt x="84" y="6"/>
                    <a:pt x="80"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 name="Google Shape;102;p2"/>
            <p:cNvSpPr/>
            <p:nvPr/>
          </p:nvSpPr>
          <p:spPr>
            <a:xfrm>
              <a:off x="6661150" y="2814638"/>
              <a:ext cx="34925" cy="1587"/>
            </a:xfrm>
            <a:custGeom>
              <a:avLst/>
              <a:gdLst/>
              <a:ahLst/>
              <a:cxnLst/>
              <a:rect l="l" t="t" r="r" b="b"/>
              <a:pathLst>
                <a:path w="18" h="1" extrusionOk="0">
                  <a:moveTo>
                    <a:pt x="18" y="1"/>
                  </a:moveTo>
                  <a:lnTo>
                    <a:pt x="18" y="1"/>
                  </a:lnTo>
                  <a:lnTo>
                    <a:pt x="0" y="0"/>
                  </a:lnTo>
                  <a:lnTo>
                    <a:pt x="18"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 name="Google Shape;103;p2"/>
            <p:cNvSpPr/>
            <p:nvPr/>
          </p:nvSpPr>
          <p:spPr>
            <a:xfrm>
              <a:off x="5661025" y="2789238"/>
              <a:ext cx="23813" cy="1587"/>
            </a:xfrm>
            <a:custGeom>
              <a:avLst/>
              <a:gdLst/>
              <a:ahLst/>
              <a:cxnLst/>
              <a:rect l="l" t="t" r="r" b="b"/>
              <a:pathLst>
                <a:path w="13" h="1" extrusionOk="0">
                  <a:moveTo>
                    <a:pt x="0" y="1"/>
                  </a:moveTo>
                  <a:lnTo>
                    <a:pt x="0" y="1"/>
                  </a:lnTo>
                  <a:lnTo>
                    <a:pt x="13"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 name="Google Shape;104;p2"/>
            <p:cNvSpPr/>
            <p:nvPr/>
          </p:nvSpPr>
          <p:spPr>
            <a:xfrm>
              <a:off x="6162675" y="2814638"/>
              <a:ext cx="258763" cy="7937"/>
            </a:xfrm>
            <a:custGeom>
              <a:avLst/>
              <a:gdLst/>
              <a:ahLst/>
              <a:cxnLst/>
              <a:rect l="l" t="t" r="r" b="b"/>
              <a:pathLst>
                <a:path w="135" h="4" extrusionOk="0">
                  <a:moveTo>
                    <a:pt x="77" y="2"/>
                  </a:moveTo>
                  <a:lnTo>
                    <a:pt x="77" y="2"/>
                  </a:lnTo>
                  <a:lnTo>
                    <a:pt x="135" y="0"/>
                  </a:lnTo>
                  <a:cubicBezTo>
                    <a:pt x="96" y="1"/>
                    <a:pt x="0" y="1"/>
                    <a:pt x="6" y="4"/>
                  </a:cubicBezTo>
                  <a:cubicBezTo>
                    <a:pt x="37" y="4"/>
                    <a:pt x="75" y="4"/>
                    <a:pt x="90" y="3"/>
                  </a:cubicBezTo>
                  <a:lnTo>
                    <a:pt x="77"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 name="Google Shape;105;p2"/>
            <p:cNvSpPr/>
            <p:nvPr/>
          </p:nvSpPr>
          <p:spPr>
            <a:xfrm>
              <a:off x="5019675" y="2713038"/>
              <a:ext cx="73025" cy="4762"/>
            </a:xfrm>
            <a:custGeom>
              <a:avLst/>
              <a:gdLst/>
              <a:ahLst/>
              <a:cxnLst/>
              <a:rect l="l" t="t" r="r" b="b"/>
              <a:pathLst>
                <a:path w="38" h="2" extrusionOk="0">
                  <a:moveTo>
                    <a:pt x="13" y="1"/>
                  </a:moveTo>
                  <a:lnTo>
                    <a:pt x="13" y="1"/>
                  </a:lnTo>
                  <a:lnTo>
                    <a:pt x="38" y="0"/>
                  </a:lnTo>
                  <a:lnTo>
                    <a:pt x="7" y="0"/>
                  </a:lnTo>
                  <a:cubicBezTo>
                    <a:pt x="16" y="0"/>
                    <a:pt x="0" y="2"/>
                    <a:pt x="1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 name="Google Shape;106;p2"/>
            <p:cNvSpPr/>
            <p:nvPr/>
          </p:nvSpPr>
          <p:spPr>
            <a:xfrm>
              <a:off x="5021263" y="2713038"/>
              <a:ext cx="11113" cy="0"/>
            </a:xfrm>
            <a:custGeom>
              <a:avLst/>
              <a:gdLst/>
              <a:ahLst/>
              <a:cxnLst/>
              <a:rect l="l" t="t" r="r" b="b"/>
              <a:pathLst>
                <a:path w="6" h="120000" extrusionOk="0">
                  <a:moveTo>
                    <a:pt x="0" y="0"/>
                  </a:moveTo>
                  <a:lnTo>
                    <a:pt x="0" y="0"/>
                  </a:ln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 name="Google Shape;107;p2"/>
            <p:cNvSpPr/>
            <p:nvPr/>
          </p:nvSpPr>
          <p:spPr>
            <a:xfrm>
              <a:off x="5864225" y="2784475"/>
              <a:ext cx="101600" cy="4762"/>
            </a:xfrm>
            <a:custGeom>
              <a:avLst/>
              <a:gdLst/>
              <a:ahLst/>
              <a:cxnLst/>
              <a:rect l="l" t="t" r="r" b="b"/>
              <a:pathLst>
                <a:path w="53" h="2" extrusionOk="0">
                  <a:moveTo>
                    <a:pt x="3" y="2"/>
                  </a:moveTo>
                  <a:lnTo>
                    <a:pt x="3" y="2"/>
                  </a:lnTo>
                  <a:cubicBezTo>
                    <a:pt x="21" y="2"/>
                    <a:pt x="36" y="2"/>
                    <a:pt x="53" y="1"/>
                  </a:cubicBezTo>
                  <a:cubicBezTo>
                    <a:pt x="46" y="1"/>
                    <a:pt x="0" y="0"/>
                    <a:pt x="3"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 name="Google Shape;108;p2"/>
            <p:cNvSpPr/>
            <p:nvPr/>
          </p:nvSpPr>
          <p:spPr>
            <a:xfrm>
              <a:off x="4703763" y="2722563"/>
              <a:ext cx="84138" cy="1587"/>
            </a:xfrm>
            <a:custGeom>
              <a:avLst/>
              <a:gdLst/>
              <a:ahLst/>
              <a:cxnLst/>
              <a:rect l="l" t="t" r="r" b="b"/>
              <a:pathLst>
                <a:path w="44" h="1" extrusionOk="0">
                  <a:moveTo>
                    <a:pt x="3" y="1"/>
                  </a:moveTo>
                  <a:lnTo>
                    <a:pt x="3" y="1"/>
                  </a:lnTo>
                  <a:lnTo>
                    <a:pt x="44" y="0"/>
                  </a:lnTo>
                  <a:lnTo>
                    <a:pt x="0" y="0"/>
                  </a:lnTo>
                  <a:lnTo>
                    <a:pt x="3"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 name="Google Shape;109;p2"/>
            <p:cNvSpPr/>
            <p:nvPr/>
          </p:nvSpPr>
          <p:spPr>
            <a:xfrm>
              <a:off x="4264025" y="2713038"/>
              <a:ext cx="77788" cy="4762"/>
            </a:xfrm>
            <a:custGeom>
              <a:avLst/>
              <a:gdLst/>
              <a:ahLst/>
              <a:cxnLst/>
              <a:rect l="l" t="t" r="r" b="b"/>
              <a:pathLst>
                <a:path w="41" h="2" extrusionOk="0">
                  <a:moveTo>
                    <a:pt x="41" y="1"/>
                  </a:moveTo>
                  <a:lnTo>
                    <a:pt x="41" y="1"/>
                  </a:lnTo>
                  <a:lnTo>
                    <a:pt x="34" y="0"/>
                  </a:lnTo>
                  <a:lnTo>
                    <a:pt x="0" y="1"/>
                  </a:lnTo>
                  <a:lnTo>
                    <a:pt x="7" y="2"/>
                  </a:lnTo>
                  <a:lnTo>
                    <a:pt x="4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 name="Google Shape;110;p2"/>
            <p:cNvSpPr/>
            <p:nvPr/>
          </p:nvSpPr>
          <p:spPr>
            <a:xfrm>
              <a:off x="4800600" y="2822575"/>
              <a:ext cx="117475" cy="7937"/>
            </a:xfrm>
            <a:custGeom>
              <a:avLst/>
              <a:gdLst/>
              <a:ahLst/>
              <a:cxnLst/>
              <a:rect l="l" t="t" r="r" b="b"/>
              <a:pathLst>
                <a:path w="61" h="3" extrusionOk="0">
                  <a:moveTo>
                    <a:pt x="11" y="2"/>
                  </a:moveTo>
                  <a:lnTo>
                    <a:pt x="11" y="2"/>
                  </a:lnTo>
                  <a:cubicBezTo>
                    <a:pt x="39" y="3"/>
                    <a:pt x="61" y="0"/>
                    <a:pt x="54" y="0"/>
                  </a:cubicBezTo>
                  <a:lnTo>
                    <a:pt x="0" y="0"/>
                  </a:lnTo>
                  <a:cubicBezTo>
                    <a:pt x="13" y="2"/>
                    <a:pt x="15" y="0"/>
                    <a:pt x="46" y="0"/>
                  </a:cubicBezTo>
                  <a:lnTo>
                    <a:pt x="11"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 name="Google Shape;111;p2"/>
            <p:cNvSpPr/>
            <p:nvPr/>
          </p:nvSpPr>
          <p:spPr>
            <a:xfrm>
              <a:off x="187325" y="2714625"/>
              <a:ext cx="1925638" cy="31750"/>
            </a:xfrm>
            <a:custGeom>
              <a:avLst/>
              <a:gdLst/>
              <a:ahLst/>
              <a:cxnLst/>
              <a:rect l="l" t="t" r="r" b="b"/>
              <a:pathLst>
                <a:path w="1004" h="14" extrusionOk="0">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 name="Google Shape;112;p2"/>
            <p:cNvSpPr/>
            <p:nvPr/>
          </p:nvSpPr>
          <p:spPr>
            <a:xfrm>
              <a:off x="1947862" y="2735263"/>
              <a:ext cx="47625" cy="0"/>
            </a:xfrm>
            <a:custGeom>
              <a:avLst/>
              <a:gdLst/>
              <a:ahLst/>
              <a:cxnLst/>
              <a:rect l="l" t="t" r="r" b="b"/>
              <a:pathLst>
                <a:path w="25" h="120000" extrusionOk="0">
                  <a:moveTo>
                    <a:pt x="0" y="0"/>
                  </a:moveTo>
                  <a:lnTo>
                    <a:pt x="0" y="0"/>
                  </a:lnTo>
                  <a:lnTo>
                    <a:pt x="2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 name="Google Shape;113;p2"/>
            <p:cNvSpPr/>
            <p:nvPr/>
          </p:nvSpPr>
          <p:spPr>
            <a:xfrm>
              <a:off x="112712" y="2724150"/>
              <a:ext cx="74613" cy="0"/>
            </a:xfrm>
            <a:custGeom>
              <a:avLst/>
              <a:gdLst/>
              <a:ahLst/>
              <a:cxnLst/>
              <a:rect l="l" t="t" r="r" b="b"/>
              <a:pathLst>
                <a:path w="39" h="120000" extrusionOk="0">
                  <a:moveTo>
                    <a:pt x="0" y="0"/>
                  </a:moveTo>
                  <a:lnTo>
                    <a:pt x="0" y="0"/>
                  </a:lnTo>
                  <a:lnTo>
                    <a:pt x="39" y="0"/>
                  </a:lnTo>
                  <a:cubicBezTo>
                    <a:pt x="27" y="0"/>
                    <a:pt x="14"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 name="Google Shape;114;p2"/>
            <p:cNvSpPr/>
            <p:nvPr/>
          </p:nvSpPr>
          <p:spPr>
            <a:xfrm>
              <a:off x="2187575" y="2717800"/>
              <a:ext cx="176213" cy="6350"/>
            </a:xfrm>
            <a:custGeom>
              <a:avLst/>
              <a:gdLst/>
              <a:ahLst/>
              <a:cxnLst/>
              <a:rect l="l" t="t" r="r" b="b"/>
              <a:pathLst>
                <a:path w="92" h="3" extrusionOk="0">
                  <a:moveTo>
                    <a:pt x="71" y="3"/>
                  </a:moveTo>
                  <a:lnTo>
                    <a:pt x="71" y="3"/>
                  </a:lnTo>
                  <a:cubicBezTo>
                    <a:pt x="47" y="2"/>
                    <a:pt x="88" y="1"/>
                    <a:pt x="92" y="0"/>
                  </a:cubicBezTo>
                  <a:lnTo>
                    <a:pt x="8" y="1"/>
                  </a:lnTo>
                  <a:cubicBezTo>
                    <a:pt x="8" y="1"/>
                    <a:pt x="0" y="2"/>
                    <a:pt x="2" y="3"/>
                  </a:cubicBezTo>
                  <a:lnTo>
                    <a:pt x="71"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 name="Google Shape;115;p2"/>
            <p:cNvSpPr/>
            <p:nvPr/>
          </p:nvSpPr>
          <p:spPr>
            <a:xfrm>
              <a:off x="2112962" y="2714625"/>
              <a:ext cx="90488" cy="4762"/>
            </a:xfrm>
            <a:custGeom>
              <a:avLst/>
              <a:gdLst/>
              <a:ahLst/>
              <a:cxnLst/>
              <a:rect l="l" t="t" r="r" b="b"/>
              <a:pathLst>
                <a:path w="47" h="2" extrusionOk="0">
                  <a:moveTo>
                    <a:pt x="22" y="0"/>
                  </a:moveTo>
                  <a:lnTo>
                    <a:pt x="22" y="0"/>
                  </a:lnTo>
                  <a:cubicBezTo>
                    <a:pt x="19" y="1"/>
                    <a:pt x="11" y="1"/>
                    <a:pt x="0" y="2"/>
                  </a:cubicBezTo>
                  <a:lnTo>
                    <a:pt x="47" y="2"/>
                  </a:lnTo>
                  <a:cubicBezTo>
                    <a:pt x="47" y="1"/>
                    <a:pt x="41" y="0"/>
                    <a:pt x="2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 name="Google Shape;116;p2"/>
            <p:cNvSpPr/>
            <p:nvPr/>
          </p:nvSpPr>
          <p:spPr>
            <a:xfrm>
              <a:off x="2101850" y="2811463"/>
              <a:ext cx="71438" cy="3175"/>
            </a:xfrm>
            <a:custGeom>
              <a:avLst/>
              <a:gdLst/>
              <a:ahLst/>
              <a:cxnLst/>
              <a:rect l="l" t="t" r="r" b="b"/>
              <a:pathLst>
                <a:path w="37" h="1" extrusionOk="0">
                  <a:moveTo>
                    <a:pt x="37" y="0"/>
                  </a:moveTo>
                  <a:lnTo>
                    <a:pt x="37" y="0"/>
                  </a:lnTo>
                  <a:lnTo>
                    <a:pt x="22" y="1"/>
                  </a:lnTo>
                  <a:lnTo>
                    <a:pt x="0" y="1"/>
                  </a:lnTo>
                  <a:lnTo>
                    <a:pt x="3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 name="Google Shape;117;p2"/>
            <p:cNvSpPr/>
            <p:nvPr/>
          </p:nvSpPr>
          <p:spPr>
            <a:xfrm>
              <a:off x="1724025" y="2805113"/>
              <a:ext cx="120650" cy="4762"/>
            </a:xfrm>
            <a:custGeom>
              <a:avLst/>
              <a:gdLst/>
              <a:ahLst/>
              <a:cxnLst/>
              <a:rect l="l" t="t" r="r" b="b"/>
              <a:pathLst>
                <a:path w="63" h="2" extrusionOk="0">
                  <a:moveTo>
                    <a:pt x="0" y="0"/>
                  </a:moveTo>
                  <a:lnTo>
                    <a:pt x="0" y="0"/>
                  </a:lnTo>
                  <a:cubicBezTo>
                    <a:pt x="18" y="2"/>
                    <a:pt x="52" y="1"/>
                    <a:pt x="63" y="0"/>
                  </a:cubicBezTo>
                  <a:cubicBezTo>
                    <a:pt x="24" y="0"/>
                    <a:pt x="41"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 name="Google Shape;118;p2"/>
            <p:cNvSpPr/>
            <p:nvPr/>
          </p:nvSpPr>
          <p:spPr>
            <a:xfrm>
              <a:off x="1744662" y="2833688"/>
              <a:ext cx="73025" cy="3175"/>
            </a:xfrm>
            <a:custGeom>
              <a:avLst/>
              <a:gdLst/>
              <a:ahLst/>
              <a:cxnLst/>
              <a:rect l="l" t="t" r="r" b="b"/>
              <a:pathLst>
                <a:path w="38" h="1" extrusionOk="0">
                  <a:moveTo>
                    <a:pt x="38" y="0"/>
                  </a:moveTo>
                  <a:lnTo>
                    <a:pt x="38" y="0"/>
                  </a:lnTo>
                  <a:lnTo>
                    <a:pt x="0" y="1"/>
                  </a:lnTo>
                  <a:lnTo>
                    <a:pt x="3" y="1"/>
                  </a:lnTo>
                  <a:lnTo>
                    <a:pt x="3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 name="Google Shape;119;p2"/>
            <p:cNvSpPr/>
            <p:nvPr/>
          </p:nvSpPr>
          <p:spPr>
            <a:xfrm>
              <a:off x="-474663" y="2741613"/>
              <a:ext cx="34925" cy="0"/>
            </a:xfrm>
            <a:custGeom>
              <a:avLst/>
              <a:gdLst/>
              <a:ahLst/>
              <a:cxnLst/>
              <a:rect l="l" t="t" r="r" b="b"/>
              <a:pathLst>
                <a:path w="18" h="120000" extrusionOk="0">
                  <a:moveTo>
                    <a:pt x="18" y="0"/>
                  </a:moveTo>
                  <a:lnTo>
                    <a:pt x="18" y="0"/>
                  </a:lnTo>
                  <a:lnTo>
                    <a:pt x="0" y="0"/>
                  </a:lnTo>
                  <a:lnTo>
                    <a:pt x="1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 name="Google Shape;120;p2"/>
            <p:cNvSpPr/>
            <p:nvPr/>
          </p:nvSpPr>
          <p:spPr>
            <a:xfrm>
              <a:off x="-947738" y="2725738"/>
              <a:ext cx="1239838" cy="19050"/>
            </a:xfrm>
            <a:custGeom>
              <a:avLst/>
              <a:gdLst/>
              <a:ahLst/>
              <a:cxnLst/>
              <a:rect l="l" t="t" r="r" b="b"/>
              <a:pathLst>
                <a:path w="647" h="8" extrusionOk="0">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 name="Google Shape;121;p2"/>
            <p:cNvSpPr/>
            <p:nvPr/>
          </p:nvSpPr>
          <p:spPr>
            <a:xfrm>
              <a:off x="-1944688" y="2741613"/>
              <a:ext cx="4763" cy="0"/>
            </a:xfrm>
            <a:custGeom>
              <a:avLst/>
              <a:gdLst/>
              <a:ahLst/>
              <a:cxnLst/>
              <a:rect l="l" t="t" r="r" b="b"/>
              <a:pathLst>
                <a:path w="2" h="120000" extrusionOk="0">
                  <a:moveTo>
                    <a:pt x="1" y="0"/>
                  </a:moveTo>
                  <a:lnTo>
                    <a:pt x="1" y="0"/>
                  </a:lnTo>
                  <a:lnTo>
                    <a:pt x="2" y="0"/>
                  </a:lnTo>
                  <a:cubicBezTo>
                    <a:pt x="0" y="0"/>
                    <a:pt x="0"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 name="Google Shape;122;p2"/>
            <p:cNvSpPr/>
            <p:nvPr/>
          </p:nvSpPr>
          <p:spPr>
            <a:xfrm>
              <a:off x="-1939925" y="2735263"/>
              <a:ext cx="173038" cy="6350"/>
            </a:xfrm>
            <a:custGeom>
              <a:avLst/>
              <a:gdLst/>
              <a:ahLst/>
              <a:cxnLst/>
              <a:rect l="l" t="t" r="r" b="b"/>
              <a:pathLst>
                <a:path w="90" h="3" extrusionOk="0">
                  <a:moveTo>
                    <a:pt x="36" y="3"/>
                  </a:moveTo>
                  <a:lnTo>
                    <a:pt x="36" y="3"/>
                  </a:lnTo>
                  <a:lnTo>
                    <a:pt x="90" y="0"/>
                  </a:lnTo>
                  <a:lnTo>
                    <a:pt x="6" y="1"/>
                  </a:lnTo>
                  <a:lnTo>
                    <a:pt x="0" y="3"/>
                  </a:lnTo>
                  <a:cubicBezTo>
                    <a:pt x="8" y="2"/>
                    <a:pt x="37" y="1"/>
                    <a:pt x="48" y="2"/>
                  </a:cubicBezTo>
                  <a:lnTo>
                    <a:pt x="36"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 name="Google Shape;123;p2"/>
            <p:cNvSpPr/>
            <p:nvPr/>
          </p:nvSpPr>
          <p:spPr>
            <a:xfrm>
              <a:off x="-1773238" y="2733675"/>
              <a:ext cx="123825" cy="12700"/>
            </a:xfrm>
            <a:custGeom>
              <a:avLst/>
              <a:gdLst/>
              <a:ahLst/>
              <a:cxnLst/>
              <a:rect l="l" t="t" r="r" b="b"/>
              <a:pathLst>
                <a:path w="65" h="6" extrusionOk="0">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 name="Google Shape;124;p2"/>
            <p:cNvSpPr/>
            <p:nvPr/>
          </p:nvSpPr>
          <p:spPr>
            <a:xfrm>
              <a:off x="-1057275" y="2735263"/>
              <a:ext cx="57150" cy="3175"/>
            </a:xfrm>
            <a:custGeom>
              <a:avLst/>
              <a:gdLst/>
              <a:ahLst/>
              <a:cxnLst/>
              <a:rect l="l" t="t" r="r" b="b"/>
              <a:pathLst>
                <a:path w="30" h="1" extrusionOk="0">
                  <a:moveTo>
                    <a:pt x="12" y="0"/>
                  </a:moveTo>
                  <a:lnTo>
                    <a:pt x="12" y="0"/>
                  </a:lnTo>
                  <a:lnTo>
                    <a:pt x="0" y="1"/>
                  </a:lnTo>
                  <a:lnTo>
                    <a:pt x="3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 name="Google Shape;125;p2"/>
            <p:cNvSpPr/>
            <p:nvPr/>
          </p:nvSpPr>
          <p:spPr>
            <a:xfrm>
              <a:off x="-1116013" y="2738438"/>
              <a:ext cx="58738" cy="3175"/>
            </a:xfrm>
            <a:custGeom>
              <a:avLst/>
              <a:gdLst/>
              <a:ahLst/>
              <a:cxnLst/>
              <a:rect l="l" t="t" r="r" b="b"/>
              <a:pathLst>
                <a:path w="30" h="2" extrusionOk="0">
                  <a:moveTo>
                    <a:pt x="30" y="0"/>
                  </a:moveTo>
                  <a:lnTo>
                    <a:pt x="30" y="0"/>
                  </a:lnTo>
                  <a:lnTo>
                    <a:pt x="0" y="0"/>
                  </a:lnTo>
                  <a:cubicBezTo>
                    <a:pt x="2" y="0"/>
                    <a:pt x="4" y="1"/>
                    <a:pt x="9" y="2"/>
                  </a:cubicBezTo>
                  <a:lnTo>
                    <a:pt x="3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 name="Google Shape;126;p2"/>
            <p:cNvSpPr/>
            <p:nvPr/>
          </p:nvSpPr>
          <p:spPr>
            <a:xfrm>
              <a:off x="-1349375" y="2735263"/>
              <a:ext cx="84138" cy="0"/>
            </a:xfrm>
            <a:custGeom>
              <a:avLst/>
              <a:gdLst/>
              <a:ahLst/>
              <a:cxnLst/>
              <a:rect l="l" t="t" r="r" b="b"/>
              <a:pathLst>
                <a:path w="44" h="120000" extrusionOk="0">
                  <a:moveTo>
                    <a:pt x="44" y="0"/>
                  </a:moveTo>
                  <a:lnTo>
                    <a:pt x="44" y="0"/>
                  </a:lnTo>
                  <a:lnTo>
                    <a:pt x="0" y="0"/>
                  </a:lnTo>
                  <a:lnTo>
                    <a:pt x="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 name="Google Shape;127;p2"/>
            <p:cNvSpPr/>
            <p:nvPr/>
          </p:nvSpPr>
          <p:spPr>
            <a:xfrm>
              <a:off x="-1265238" y="2735263"/>
              <a:ext cx="65088" cy="3175"/>
            </a:xfrm>
            <a:custGeom>
              <a:avLst/>
              <a:gdLst/>
              <a:ahLst/>
              <a:cxnLst/>
              <a:rect l="l" t="t" r="r" b="b"/>
              <a:pathLst>
                <a:path w="34" h="1" extrusionOk="0">
                  <a:moveTo>
                    <a:pt x="34" y="1"/>
                  </a:moveTo>
                  <a:lnTo>
                    <a:pt x="34" y="1"/>
                  </a:lnTo>
                  <a:lnTo>
                    <a:pt x="33" y="0"/>
                  </a:lnTo>
                  <a:lnTo>
                    <a:pt x="0" y="0"/>
                  </a:lnTo>
                  <a:lnTo>
                    <a:pt x="3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 name="Google Shape;128;p2"/>
            <p:cNvSpPr/>
            <p:nvPr/>
          </p:nvSpPr>
          <p:spPr>
            <a:xfrm>
              <a:off x="-1219200" y="2728913"/>
              <a:ext cx="103188" cy="9525"/>
            </a:xfrm>
            <a:custGeom>
              <a:avLst/>
              <a:gdLst/>
              <a:ahLst/>
              <a:cxnLst/>
              <a:rect l="l" t="t" r="r" b="b"/>
              <a:pathLst>
                <a:path w="54" h="4" extrusionOk="0">
                  <a:moveTo>
                    <a:pt x="54" y="4"/>
                  </a:moveTo>
                  <a:lnTo>
                    <a:pt x="54" y="4"/>
                  </a:lnTo>
                  <a:cubicBezTo>
                    <a:pt x="49" y="2"/>
                    <a:pt x="43" y="0"/>
                    <a:pt x="0" y="1"/>
                  </a:cubicBezTo>
                  <a:lnTo>
                    <a:pt x="9" y="3"/>
                  </a:lnTo>
                  <a:lnTo>
                    <a:pt x="54"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 name="Google Shape;129;p2"/>
            <p:cNvSpPr/>
            <p:nvPr/>
          </p:nvSpPr>
          <p:spPr>
            <a:xfrm>
              <a:off x="1225550" y="2830513"/>
              <a:ext cx="73025" cy="3175"/>
            </a:xfrm>
            <a:custGeom>
              <a:avLst/>
              <a:gdLst/>
              <a:ahLst/>
              <a:cxnLst/>
              <a:rect l="l" t="t" r="r" b="b"/>
              <a:pathLst>
                <a:path w="38" h="2" extrusionOk="0">
                  <a:moveTo>
                    <a:pt x="34" y="0"/>
                  </a:moveTo>
                  <a:lnTo>
                    <a:pt x="34" y="0"/>
                  </a:lnTo>
                  <a:lnTo>
                    <a:pt x="0" y="1"/>
                  </a:lnTo>
                  <a:lnTo>
                    <a:pt x="4" y="2"/>
                  </a:lnTo>
                  <a:lnTo>
                    <a:pt x="38" y="1"/>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 name="Google Shape;130;p2"/>
            <p:cNvSpPr/>
            <p:nvPr/>
          </p:nvSpPr>
          <p:spPr>
            <a:xfrm>
              <a:off x="874712" y="2827338"/>
              <a:ext cx="39688" cy="3175"/>
            </a:xfrm>
            <a:custGeom>
              <a:avLst/>
              <a:gdLst/>
              <a:ahLst/>
              <a:cxnLst/>
              <a:rect l="l" t="t" r="r" b="b"/>
              <a:pathLst>
                <a:path w="21" h="1" extrusionOk="0">
                  <a:moveTo>
                    <a:pt x="21" y="0"/>
                  </a:moveTo>
                  <a:lnTo>
                    <a:pt x="21" y="0"/>
                  </a:lnTo>
                  <a:lnTo>
                    <a:pt x="0" y="1"/>
                  </a:lnTo>
                  <a:cubicBezTo>
                    <a:pt x="9" y="1"/>
                    <a:pt x="16" y="1"/>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 name="Google Shape;131;p2"/>
            <p:cNvSpPr/>
            <p:nvPr/>
          </p:nvSpPr>
          <p:spPr>
            <a:xfrm>
              <a:off x="417512" y="2827338"/>
              <a:ext cx="457200" cy="31750"/>
            </a:xfrm>
            <a:custGeom>
              <a:avLst/>
              <a:gdLst/>
              <a:ahLst/>
              <a:cxnLst/>
              <a:rect l="l" t="t" r="r" b="b"/>
              <a:pathLst>
                <a:path w="238" h="14" extrusionOk="0">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 name="Google Shape;132;p2"/>
            <p:cNvSpPr/>
            <p:nvPr/>
          </p:nvSpPr>
          <p:spPr>
            <a:xfrm>
              <a:off x="755650" y="2859087"/>
              <a:ext cx="68263" cy="4762"/>
            </a:xfrm>
            <a:custGeom>
              <a:avLst/>
              <a:gdLst/>
              <a:ahLst/>
              <a:cxnLst/>
              <a:rect l="l" t="t" r="r" b="b"/>
              <a:pathLst>
                <a:path w="36" h="2" extrusionOk="0">
                  <a:moveTo>
                    <a:pt x="0" y="1"/>
                  </a:moveTo>
                  <a:lnTo>
                    <a:pt x="0" y="1"/>
                  </a:lnTo>
                  <a:cubicBezTo>
                    <a:pt x="19" y="2"/>
                    <a:pt x="24" y="1"/>
                    <a:pt x="36" y="1"/>
                  </a:cubicBezTo>
                  <a:cubicBezTo>
                    <a:pt x="33" y="0"/>
                    <a:pt x="15"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 name="Google Shape;133;p2"/>
            <p:cNvSpPr/>
            <p:nvPr/>
          </p:nvSpPr>
          <p:spPr>
            <a:xfrm>
              <a:off x="-133350" y="2798763"/>
              <a:ext cx="111125" cy="4762"/>
            </a:xfrm>
            <a:custGeom>
              <a:avLst/>
              <a:gdLst/>
              <a:ahLst/>
              <a:cxnLst/>
              <a:rect l="l" t="t" r="r" b="b"/>
              <a:pathLst>
                <a:path w="58" h="2" extrusionOk="0">
                  <a:moveTo>
                    <a:pt x="37" y="0"/>
                  </a:moveTo>
                  <a:lnTo>
                    <a:pt x="37" y="0"/>
                  </a:lnTo>
                  <a:cubicBezTo>
                    <a:pt x="34" y="1"/>
                    <a:pt x="0" y="1"/>
                    <a:pt x="7" y="2"/>
                  </a:cubicBezTo>
                  <a:lnTo>
                    <a:pt x="58" y="2"/>
                  </a:lnTo>
                  <a:cubicBezTo>
                    <a:pt x="46" y="2"/>
                    <a:pt x="42" y="1"/>
                    <a:pt x="3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 name="Google Shape;134;p2"/>
            <p:cNvSpPr/>
            <p:nvPr/>
          </p:nvSpPr>
          <p:spPr>
            <a:xfrm>
              <a:off x="-22225" y="2800350"/>
              <a:ext cx="44450" cy="3175"/>
            </a:xfrm>
            <a:custGeom>
              <a:avLst/>
              <a:gdLst/>
              <a:ahLst/>
              <a:cxnLst/>
              <a:rect l="l" t="t" r="r" b="b"/>
              <a:pathLst>
                <a:path w="23" h="1" extrusionOk="0">
                  <a:moveTo>
                    <a:pt x="23" y="0"/>
                  </a:moveTo>
                  <a:lnTo>
                    <a:pt x="23" y="0"/>
                  </a:lnTo>
                  <a:lnTo>
                    <a:pt x="0" y="1"/>
                  </a:lnTo>
                  <a:cubicBezTo>
                    <a:pt x="6" y="1"/>
                    <a:pt x="13"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 name="Google Shape;135;p2"/>
            <p:cNvSpPr/>
            <p:nvPr/>
          </p:nvSpPr>
          <p:spPr>
            <a:xfrm>
              <a:off x="-66675" y="2798763"/>
              <a:ext cx="6350" cy="0"/>
            </a:xfrm>
            <a:custGeom>
              <a:avLst/>
              <a:gdLst/>
              <a:ahLst/>
              <a:cxnLst/>
              <a:rect l="l" t="t" r="r" b="b"/>
              <a:pathLst>
                <a:path w="3" h="120000" extrusionOk="0">
                  <a:moveTo>
                    <a:pt x="0" y="0"/>
                  </a:moveTo>
                  <a:lnTo>
                    <a:pt x="0" y="0"/>
                  </a:lnTo>
                  <a:lnTo>
                    <a:pt x="2" y="0"/>
                  </a:lnTo>
                  <a:cubicBezTo>
                    <a:pt x="3" y="0"/>
                    <a:pt x="3"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 name="Google Shape;136;p2"/>
            <p:cNvSpPr/>
            <p:nvPr/>
          </p:nvSpPr>
          <p:spPr>
            <a:xfrm>
              <a:off x="-1566863" y="2730500"/>
              <a:ext cx="65088" cy="3175"/>
            </a:xfrm>
            <a:custGeom>
              <a:avLst/>
              <a:gdLst/>
              <a:ahLst/>
              <a:cxnLst/>
              <a:rect l="l" t="t" r="r" b="b"/>
              <a:pathLst>
                <a:path w="34" h="1" extrusionOk="0">
                  <a:moveTo>
                    <a:pt x="33" y="1"/>
                  </a:moveTo>
                  <a:lnTo>
                    <a:pt x="33" y="1"/>
                  </a:lnTo>
                  <a:cubicBezTo>
                    <a:pt x="34" y="0"/>
                    <a:pt x="12" y="1"/>
                    <a:pt x="0" y="1"/>
                  </a:cubicBezTo>
                  <a:cubicBezTo>
                    <a:pt x="9" y="1"/>
                    <a:pt x="22" y="1"/>
                    <a:pt x="3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 name="Google Shape;137;p2"/>
            <p:cNvSpPr/>
            <p:nvPr/>
          </p:nvSpPr>
          <p:spPr>
            <a:xfrm>
              <a:off x="-3175000" y="2740025"/>
              <a:ext cx="38100" cy="0"/>
            </a:xfrm>
            <a:custGeom>
              <a:avLst/>
              <a:gdLst/>
              <a:ahLst/>
              <a:cxnLst/>
              <a:rect l="l" t="t" r="r" b="b"/>
              <a:pathLst>
                <a:path w="20" h="120000" extrusionOk="0">
                  <a:moveTo>
                    <a:pt x="20" y="0"/>
                  </a:moveTo>
                  <a:lnTo>
                    <a:pt x="20" y="0"/>
                  </a:lnTo>
                  <a:lnTo>
                    <a:pt x="0" y="0"/>
                  </a:lnTo>
                  <a:cubicBezTo>
                    <a:pt x="7" y="0"/>
                    <a:pt x="11" y="0"/>
                    <a:pt x="2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8" name="Google Shape;138;p2"/>
            <p:cNvSpPr/>
            <p:nvPr/>
          </p:nvSpPr>
          <p:spPr>
            <a:xfrm>
              <a:off x="-3735388" y="2803525"/>
              <a:ext cx="6350" cy="1587"/>
            </a:xfrm>
            <a:custGeom>
              <a:avLst/>
              <a:gdLst/>
              <a:ahLst/>
              <a:cxnLst/>
              <a:rect l="l" t="t" r="r" b="b"/>
              <a:pathLst>
                <a:path w="4" h="1" extrusionOk="0">
                  <a:moveTo>
                    <a:pt x="4" y="0"/>
                  </a:moveTo>
                  <a:lnTo>
                    <a:pt x="4" y="0"/>
                  </a:lnTo>
                  <a:cubicBezTo>
                    <a:pt x="3" y="0"/>
                    <a:pt x="2" y="1"/>
                    <a:pt x="0" y="1"/>
                  </a:cubicBezTo>
                  <a:cubicBezTo>
                    <a:pt x="2" y="1"/>
                    <a:pt x="3"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9" name="Google Shape;139;p2"/>
            <p:cNvSpPr/>
            <p:nvPr/>
          </p:nvSpPr>
          <p:spPr>
            <a:xfrm>
              <a:off x="-3924300" y="2803525"/>
              <a:ext cx="188913" cy="3175"/>
            </a:xfrm>
            <a:custGeom>
              <a:avLst/>
              <a:gdLst/>
              <a:ahLst/>
              <a:cxnLst/>
              <a:rect l="l" t="t" r="r" b="b"/>
              <a:pathLst>
                <a:path w="98" h="2" extrusionOk="0">
                  <a:moveTo>
                    <a:pt x="98" y="1"/>
                  </a:moveTo>
                  <a:lnTo>
                    <a:pt x="98" y="1"/>
                  </a:lnTo>
                  <a:cubicBezTo>
                    <a:pt x="84" y="2"/>
                    <a:pt x="42" y="0"/>
                    <a:pt x="26" y="1"/>
                  </a:cubicBezTo>
                  <a:lnTo>
                    <a:pt x="28" y="1"/>
                  </a:lnTo>
                  <a:lnTo>
                    <a:pt x="0" y="2"/>
                  </a:lnTo>
                  <a:cubicBezTo>
                    <a:pt x="27" y="2"/>
                    <a:pt x="82" y="2"/>
                    <a:pt x="9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40" name="Google Shape;140;p2"/>
          <p:cNvSpPr txBox="1">
            <a:spLocks noGrp="1"/>
          </p:cNvSpPr>
          <p:nvPr>
            <p:ph type="subTitle" idx="1"/>
          </p:nvPr>
        </p:nvSpPr>
        <p:spPr>
          <a:xfrm>
            <a:off x="1522413" y="5105400"/>
            <a:ext cx="9143999" cy="1066800"/>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920"/>
              <a:buNone/>
              <a:defRPr>
                <a:solidFill>
                  <a:schemeClr val="lt1"/>
                </a:solidFill>
              </a:defRPr>
            </a:lvl1pPr>
            <a:lvl2pPr lvl="1" algn="ctr">
              <a:lnSpc>
                <a:spcPct val="90000"/>
              </a:lnSpc>
              <a:spcBef>
                <a:spcPts val="600"/>
              </a:spcBef>
              <a:spcAft>
                <a:spcPts val="0"/>
              </a:spcAft>
              <a:buSzPts val="2000"/>
              <a:buNone/>
              <a:defRPr>
                <a:solidFill>
                  <a:srgbClr val="888888"/>
                </a:solidFill>
              </a:defRPr>
            </a:lvl2pPr>
            <a:lvl3pPr lvl="2" algn="ctr">
              <a:lnSpc>
                <a:spcPct val="90000"/>
              </a:lnSpc>
              <a:spcBef>
                <a:spcPts val="600"/>
              </a:spcBef>
              <a:spcAft>
                <a:spcPts val="0"/>
              </a:spcAft>
              <a:buSzPts val="1440"/>
              <a:buNone/>
              <a:defRPr>
                <a:solidFill>
                  <a:srgbClr val="888888"/>
                </a:solidFill>
              </a:defRPr>
            </a:lvl3pPr>
            <a:lvl4pPr lvl="3" algn="ctr">
              <a:lnSpc>
                <a:spcPct val="90000"/>
              </a:lnSpc>
              <a:spcBef>
                <a:spcPts val="600"/>
              </a:spcBef>
              <a:spcAft>
                <a:spcPts val="0"/>
              </a:spcAft>
              <a:buSzPts val="1600"/>
              <a:buNone/>
              <a:defRPr>
                <a:solidFill>
                  <a:srgbClr val="888888"/>
                </a:solidFill>
              </a:defRPr>
            </a:lvl4pPr>
            <a:lvl5pPr lvl="4" algn="ctr">
              <a:lnSpc>
                <a:spcPct val="90000"/>
              </a:lnSpc>
              <a:spcBef>
                <a:spcPts val="600"/>
              </a:spcBef>
              <a:spcAft>
                <a:spcPts val="0"/>
              </a:spcAft>
              <a:buSzPts val="1600"/>
              <a:buNone/>
              <a:defRPr>
                <a:solidFill>
                  <a:srgbClr val="888888"/>
                </a:solidFill>
              </a:defRPr>
            </a:lvl5pPr>
            <a:lvl6pPr lvl="5" algn="ctr">
              <a:lnSpc>
                <a:spcPct val="90000"/>
              </a:lnSpc>
              <a:spcBef>
                <a:spcPts val="600"/>
              </a:spcBef>
              <a:spcAft>
                <a:spcPts val="0"/>
              </a:spcAft>
              <a:buSzPts val="1600"/>
              <a:buNone/>
              <a:defRPr>
                <a:solidFill>
                  <a:srgbClr val="888888"/>
                </a:solidFill>
              </a:defRPr>
            </a:lvl6pPr>
            <a:lvl7pPr lvl="6" algn="ctr">
              <a:lnSpc>
                <a:spcPct val="90000"/>
              </a:lnSpc>
              <a:spcBef>
                <a:spcPts val="600"/>
              </a:spcBef>
              <a:spcAft>
                <a:spcPts val="0"/>
              </a:spcAft>
              <a:buSzPts val="1280"/>
              <a:buNone/>
              <a:defRPr>
                <a:solidFill>
                  <a:srgbClr val="888888"/>
                </a:solidFill>
              </a:defRPr>
            </a:lvl7pPr>
            <a:lvl8pPr lvl="7" algn="ctr">
              <a:lnSpc>
                <a:spcPct val="90000"/>
              </a:lnSpc>
              <a:spcBef>
                <a:spcPts val="600"/>
              </a:spcBef>
              <a:spcAft>
                <a:spcPts val="0"/>
              </a:spcAft>
              <a:buSzPts val="1600"/>
              <a:buNone/>
              <a:defRPr>
                <a:solidFill>
                  <a:srgbClr val="888888"/>
                </a:solidFill>
              </a:defRPr>
            </a:lvl8pPr>
            <a:lvl9pPr lvl="8" algn="ctr">
              <a:lnSpc>
                <a:spcPct val="90000"/>
              </a:lnSpc>
              <a:spcBef>
                <a:spcPts val="600"/>
              </a:spcBef>
              <a:spcAft>
                <a:spcPts val="0"/>
              </a:spcAft>
              <a:buSzPts val="1280"/>
              <a:buNone/>
              <a:defRPr>
                <a:solidFill>
                  <a:srgbClr val="888888"/>
                </a:solidFill>
              </a:defRPr>
            </a:lvl9pPr>
          </a:lstStyle>
          <a:p>
            <a:endParaRPr/>
          </a:p>
        </p:txBody>
      </p:sp>
      <p:sp>
        <p:nvSpPr>
          <p:cNvPr id="141" name="Google Shape;141;p2"/>
          <p:cNvSpPr txBox="1">
            <a:spLocks noGrp="1"/>
          </p:cNvSpPr>
          <p:nvPr>
            <p:ph type="ctr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entury Gothic"/>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2"/>
        <p:cNvGrpSpPr/>
        <p:nvPr/>
      </p:nvGrpSpPr>
      <p:grpSpPr>
        <a:xfrm>
          <a:off x="0" y="0"/>
          <a:ext cx="0" cy="0"/>
          <a:chOff x="0" y="0"/>
          <a:chExt cx="0" cy="0"/>
        </a:xfrm>
      </p:grpSpPr>
      <p:grpSp>
        <p:nvGrpSpPr>
          <p:cNvPr id="143" name="Google Shape;143;p3"/>
          <p:cNvGrpSpPr/>
          <p:nvPr/>
        </p:nvGrpSpPr>
        <p:grpSpPr>
          <a:xfrm>
            <a:off x="1522413" y="1514475"/>
            <a:ext cx="10569575" cy="64008"/>
            <a:chOff x="1522413" y="1514475"/>
            <a:chExt cx="10569575" cy="64008"/>
          </a:xfrm>
        </p:grpSpPr>
        <p:sp>
          <p:nvSpPr>
            <p:cNvPr id="144" name="Google Shape;144;p3"/>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5" name="Google Shape;145;p3"/>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6" name="Google Shape;146;p3"/>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7" name="Google Shape;147;p3"/>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8" name="Google Shape;148;p3"/>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9" name="Google Shape;149;p3"/>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0" name="Google Shape;150;p3"/>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1" name="Google Shape;151;p3"/>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2" name="Google Shape;152;p3"/>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3" name="Google Shape;153;p3"/>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4" name="Google Shape;154;p3"/>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5" name="Google Shape;155;p3"/>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6" name="Google Shape;156;p3"/>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7" name="Google Shape;157;p3"/>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8" name="Google Shape;158;p3"/>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9" name="Google Shape;159;p3"/>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0" name="Google Shape;160;p3"/>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1" name="Google Shape;161;p3"/>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2" name="Google Shape;162;p3"/>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3" name="Google Shape;163;p3"/>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4" name="Google Shape;164;p3"/>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5" name="Google Shape;165;p3"/>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6" name="Google Shape;166;p3"/>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7" name="Google Shape;167;p3"/>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8" name="Google Shape;168;p3"/>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9" name="Google Shape;169;p3"/>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0" name="Google Shape;170;p3"/>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1" name="Google Shape;171;p3"/>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2" name="Google Shape;172;p3"/>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3" name="Google Shape;173;p3"/>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4" name="Google Shape;174;p3"/>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5" name="Google Shape;175;p3"/>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6" name="Google Shape;176;p3"/>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7" name="Google Shape;177;p3"/>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8" name="Google Shape;178;p3"/>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9" name="Google Shape;179;p3"/>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0" name="Google Shape;180;p3"/>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1" name="Google Shape;181;p3"/>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2" name="Google Shape;182;p3"/>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3" name="Google Shape;183;p3"/>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4" name="Google Shape;184;p3"/>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5" name="Google Shape;185;p3"/>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6" name="Google Shape;186;p3"/>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7" name="Google Shape;187;p3"/>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8" name="Google Shape;188;p3"/>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9" name="Google Shape;189;p3"/>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0" name="Google Shape;190;p3"/>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1" name="Google Shape;191;p3"/>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2" name="Google Shape;192;p3"/>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3" name="Google Shape;193;p3"/>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4" name="Google Shape;194;p3"/>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5" name="Google Shape;195;p3"/>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6" name="Google Shape;196;p3"/>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7" name="Google Shape;197;p3"/>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8" name="Google Shape;198;p3"/>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9" name="Google Shape;199;p3"/>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0" name="Google Shape;200;p3"/>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1" name="Google Shape;201;p3"/>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2" name="Google Shape;202;p3"/>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3" name="Google Shape;203;p3"/>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4" name="Google Shape;204;p3"/>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5" name="Google Shape;205;p3"/>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6" name="Google Shape;206;p3"/>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7" name="Google Shape;207;p3"/>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8" name="Google Shape;208;p3"/>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9" name="Google Shape;209;p3"/>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0" name="Google Shape;210;p3"/>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1" name="Google Shape;211;p3"/>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2" name="Google Shape;212;p3"/>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3" name="Google Shape;213;p3"/>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4" name="Google Shape;214;p3"/>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5" name="Google Shape;215;p3"/>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6" name="Google Shape;216;p3"/>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7" name="Google Shape;217;p3"/>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218" name="Google Shape;218;p3"/>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3"/>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3"/>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1" name="Google Shape;221;p3"/>
          <p:cNvSpPr txBox="1">
            <a:spLocks noGrp="1"/>
          </p:cNvSpPr>
          <p:nvPr>
            <p:ph type="body" idx="1"/>
          </p:nvPr>
        </p:nvSpPr>
        <p:spPr>
          <a:xfrm>
            <a:off x="6246815" y="1905000"/>
            <a:ext cx="4419598" cy="4267200"/>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222" name="Google Shape;222;p3"/>
          <p:cNvSpPr txBox="1">
            <a:spLocks noGrp="1"/>
          </p:cNvSpPr>
          <p:nvPr>
            <p:ph type="body" idx="2"/>
          </p:nvPr>
        </p:nvSpPr>
        <p:spPr>
          <a:xfrm>
            <a:off x="1522413" y="1905000"/>
            <a:ext cx="4419599" cy="4267200"/>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223" name="Google Shape;223;p3"/>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4"/>
        <p:cNvGrpSpPr/>
        <p:nvPr/>
      </p:nvGrpSpPr>
      <p:grpSpPr>
        <a:xfrm>
          <a:off x="0" y="0"/>
          <a:ext cx="0" cy="0"/>
          <a:chOff x="0" y="0"/>
          <a:chExt cx="0" cy="0"/>
        </a:xfrm>
      </p:grpSpPr>
      <p:grpSp>
        <p:nvGrpSpPr>
          <p:cNvPr id="225" name="Google Shape;225;p4"/>
          <p:cNvGrpSpPr/>
          <p:nvPr/>
        </p:nvGrpSpPr>
        <p:grpSpPr>
          <a:xfrm>
            <a:off x="1584896" y="4724400"/>
            <a:ext cx="8631936" cy="64008"/>
            <a:chOff x="-4110038" y="2703513"/>
            <a:chExt cx="17394239" cy="160336"/>
          </a:xfrm>
        </p:grpSpPr>
        <p:sp>
          <p:nvSpPr>
            <p:cNvPr id="226" name="Google Shape;226;p4"/>
            <p:cNvSpPr/>
            <p:nvPr/>
          </p:nvSpPr>
          <p:spPr>
            <a:xfrm>
              <a:off x="12815888" y="2768600"/>
              <a:ext cx="468313" cy="19050"/>
            </a:xfrm>
            <a:custGeom>
              <a:avLst/>
              <a:gdLst/>
              <a:ahLst/>
              <a:cxnLst/>
              <a:rect l="l" t="t" r="r" b="b"/>
              <a:pathLst>
                <a:path w="244" h="8" extrusionOk="0">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7" name="Google Shape;227;p4"/>
            <p:cNvSpPr/>
            <p:nvPr/>
          </p:nvSpPr>
          <p:spPr>
            <a:xfrm>
              <a:off x="12380913" y="2755900"/>
              <a:ext cx="461963" cy="26987"/>
            </a:xfrm>
            <a:custGeom>
              <a:avLst/>
              <a:gdLst/>
              <a:ahLst/>
              <a:cxnLst/>
              <a:rect l="l" t="t" r="r" b="b"/>
              <a:pathLst>
                <a:path w="241" h="12" extrusionOk="0">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8" name="Google Shape;228;p4"/>
            <p:cNvSpPr/>
            <p:nvPr/>
          </p:nvSpPr>
          <p:spPr>
            <a:xfrm>
              <a:off x="12814300" y="2779713"/>
              <a:ext cx="1588" cy="0"/>
            </a:xfrm>
            <a:custGeom>
              <a:avLst/>
              <a:gdLst/>
              <a:ahLst/>
              <a:cxnLst/>
              <a:rect l="l" t="t" r="r" b="b"/>
              <a:pathLst>
                <a:path w="1" h="120000" extrusionOk="0">
                  <a:moveTo>
                    <a:pt x="0" y="0"/>
                  </a:moveTo>
                  <a:lnTo>
                    <a:pt x="0" y="0"/>
                  </a:lnTo>
                  <a:lnTo>
                    <a:pt x="1"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9" name="Google Shape;229;p4"/>
            <p:cNvSpPr/>
            <p:nvPr/>
          </p:nvSpPr>
          <p:spPr>
            <a:xfrm>
              <a:off x="2738437" y="2795588"/>
              <a:ext cx="425450" cy="15875"/>
            </a:xfrm>
            <a:custGeom>
              <a:avLst/>
              <a:gdLst/>
              <a:ahLst/>
              <a:cxnLst/>
              <a:rect l="l" t="t" r="r" b="b"/>
              <a:pathLst>
                <a:path w="222" h="7" extrusionOk="0">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0" name="Google Shape;230;p4"/>
            <p:cNvSpPr/>
            <p:nvPr/>
          </p:nvSpPr>
          <p:spPr>
            <a:xfrm>
              <a:off x="-3646488" y="2800350"/>
              <a:ext cx="46038" cy="3175"/>
            </a:xfrm>
            <a:custGeom>
              <a:avLst/>
              <a:gdLst/>
              <a:ahLst/>
              <a:cxnLst/>
              <a:rect l="l" t="t" r="r" b="b"/>
              <a:pathLst>
                <a:path w="24" h="1" extrusionOk="0">
                  <a:moveTo>
                    <a:pt x="0" y="1"/>
                  </a:moveTo>
                  <a:lnTo>
                    <a:pt x="0" y="1"/>
                  </a:lnTo>
                  <a:cubicBezTo>
                    <a:pt x="21" y="0"/>
                    <a:pt x="24" y="0"/>
                    <a:pt x="21" y="0"/>
                  </a:cubicBez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1" name="Google Shape;231;p4"/>
            <p:cNvSpPr/>
            <p:nvPr/>
          </p:nvSpPr>
          <p:spPr>
            <a:xfrm>
              <a:off x="2627312" y="2816225"/>
              <a:ext cx="63500" cy="4762"/>
            </a:xfrm>
            <a:custGeom>
              <a:avLst/>
              <a:gdLst/>
              <a:ahLst/>
              <a:cxnLst/>
              <a:rect l="l" t="t" r="r" b="b"/>
              <a:pathLst>
                <a:path w="33" h="2" extrusionOk="0">
                  <a:moveTo>
                    <a:pt x="33" y="0"/>
                  </a:moveTo>
                  <a:lnTo>
                    <a:pt x="33" y="0"/>
                  </a:lnTo>
                  <a:lnTo>
                    <a:pt x="0" y="2"/>
                  </a:lnTo>
                  <a:cubicBezTo>
                    <a:pt x="14" y="1"/>
                    <a:pt x="25" y="1"/>
                    <a:pt x="3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2" name="Google Shape;232;p4"/>
            <p:cNvSpPr/>
            <p:nvPr/>
          </p:nvSpPr>
          <p:spPr>
            <a:xfrm>
              <a:off x="3103562" y="2741613"/>
              <a:ext cx="28575" cy="3175"/>
            </a:xfrm>
            <a:custGeom>
              <a:avLst/>
              <a:gdLst/>
              <a:ahLst/>
              <a:cxnLst/>
              <a:rect l="l" t="t" r="r" b="b"/>
              <a:pathLst>
                <a:path w="15" h="1" extrusionOk="0">
                  <a:moveTo>
                    <a:pt x="15" y="0"/>
                  </a:moveTo>
                  <a:lnTo>
                    <a:pt x="15" y="0"/>
                  </a:lnTo>
                  <a:cubicBezTo>
                    <a:pt x="15" y="0"/>
                    <a:pt x="15" y="0"/>
                    <a:pt x="15" y="0"/>
                  </a:cubicBezTo>
                  <a:lnTo>
                    <a:pt x="0" y="1"/>
                  </a:lnTo>
                  <a:lnTo>
                    <a:pt x="0" y="1"/>
                  </a:lnTo>
                  <a:lnTo>
                    <a:pt x="1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3" name="Google Shape;233;p4"/>
            <p:cNvSpPr/>
            <p:nvPr/>
          </p:nvSpPr>
          <p:spPr>
            <a:xfrm>
              <a:off x="1227137" y="2836863"/>
              <a:ext cx="20638" cy="0"/>
            </a:xfrm>
            <a:custGeom>
              <a:avLst/>
              <a:gdLst/>
              <a:ahLst/>
              <a:cxnLst/>
              <a:rect l="l" t="t" r="r" b="b"/>
              <a:pathLst>
                <a:path w="11" h="120000" extrusionOk="0">
                  <a:moveTo>
                    <a:pt x="11" y="0"/>
                  </a:moveTo>
                  <a:lnTo>
                    <a:pt x="11" y="0"/>
                  </a:ln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4" name="Google Shape;234;p4"/>
            <p:cNvSpPr/>
            <p:nvPr/>
          </p:nvSpPr>
          <p:spPr>
            <a:xfrm>
              <a:off x="3660775" y="2713038"/>
              <a:ext cx="331788" cy="20637"/>
            </a:xfrm>
            <a:custGeom>
              <a:avLst/>
              <a:gdLst/>
              <a:ahLst/>
              <a:cxnLst/>
              <a:rect l="l" t="t" r="r" b="b"/>
              <a:pathLst>
                <a:path w="173" h="9" extrusionOk="0">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5" name="Google Shape;235;p4"/>
            <p:cNvSpPr/>
            <p:nvPr/>
          </p:nvSpPr>
          <p:spPr>
            <a:xfrm>
              <a:off x="-1674813" y="2768600"/>
              <a:ext cx="1588" cy="0"/>
            </a:xfrm>
            <a:custGeom>
              <a:avLst/>
              <a:gdLst/>
              <a:ahLst/>
              <a:cxnLst/>
              <a:rect l="l" t="t" r="r" b="b"/>
              <a:pathLst>
                <a:path w="1" h="120000" extrusionOk="0">
                  <a:moveTo>
                    <a:pt x="0" y="0"/>
                  </a:moveTo>
                  <a:lnTo>
                    <a:pt x="0" y="0"/>
                  </a:lnTo>
                  <a:lnTo>
                    <a:pt x="1"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6" name="Google Shape;236;p4"/>
            <p:cNvSpPr/>
            <p:nvPr/>
          </p:nvSpPr>
          <p:spPr>
            <a:xfrm>
              <a:off x="-1673225" y="2767013"/>
              <a:ext cx="36513" cy="1587"/>
            </a:xfrm>
            <a:custGeom>
              <a:avLst/>
              <a:gdLst/>
              <a:ahLst/>
              <a:cxnLst/>
              <a:rect l="l" t="t" r="r" b="b"/>
              <a:pathLst>
                <a:path w="19" h="1" extrusionOk="0">
                  <a:moveTo>
                    <a:pt x="3" y="0"/>
                  </a:moveTo>
                  <a:lnTo>
                    <a:pt x="3" y="0"/>
                  </a:lnTo>
                  <a:lnTo>
                    <a:pt x="0" y="1"/>
                  </a:lnTo>
                  <a:cubicBezTo>
                    <a:pt x="4" y="0"/>
                    <a:pt x="19"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7" name="Google Shape;237;p4"/>
            <p:cNvSpPr/>
            <p:nvPr/>
          </p:nvSpPr>
          <p:spPr>
            <a:xfrm>
              <a:off x="2690812" y="2811463"/>
              <a:ext cx="47625" cy="4762"/>
            </a:xfrm>
            <a:custGeom>
              <a:avLst/>
              <a:gdLst/>
              <a:ahLst/>
              <a:cxnLst/>
              <a:rect l="l" t="t" r="r" b="b"/>
              <a:pathLst>
                <a:path w="25" h="2" extrusionOk="0">
                  <a:moveTo>
                    <a:pt x="13" y="0"/>
                  </a:moveTo>
                  <a:lnTo>
                    <a:pt x="13" y="0"/>
                  </a:lnTo>
                  <a:cubicBezTo>
                    <a:pt x="12" y="0"/>
                    <a:pt x="7" y="1"/>
                    <a:pt x="0" y="2"/>
                  </a:cubicBezTo>
                  <a:lnTo>
                    <a:pt x="25"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8" name="Google Shape;238;p4"/>
            <p:cNvSpPr/>
            <p:nvPr/>
          </p:nvSpPr>
          <p:spPr>
            <a:xfrm>
              <a:off x="2822575" y="2794000"/>
              <a:ext cx="163513" cy="4762"/>
            </a:xfrm>
            <a:custGeom>
              <a:avLst/>
              <a:gdLst/>
              <a:ahLst/>
              <a:cxnLst/>
              <a:rect l="l" t="t" r="r" b="b"/>
              <a:pathLst>
                <a:path w="85" h="2" extrusionOk="0">
                  <a:moveTo>
                    <a:pt x="0" y="2"/>
                  </a:moveTo>
                  <a:lnTo>
                    <a:pt x="0" y="2"/>
                  </a:lnTo>
                  <a:lnTo>
                    <a:pt x="62" y="1"/>
                  </a:lnTo>
                  <a:lnTo>
                    <a:pt x="8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9" name="Google Shape;239;p4"/>
            <p:cNvSpPr/>
            <p:nvPr/>
          </p:nvSpPr>
          <p:spPr>
            <a:xfrm>
              <a:off x="715962" y="2809875"/>
              <a:ext cx="1911350" cy="50800"/>
            </a:xfrm>
            <a:custGeom>
              <a:avLst/>
              <a:gdLst/>
              <a:ahLst/>
              <a:cxnLst/>
              <a:rect l="l" t="t" r="r" b="b"/>
              <a:pathLst>
                <a:path w="996" h="23" extrusionOk="0">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0" name="Google Shape;240;p4"/>
            <p:cNvSpPr/>
            <p:nvPr/>
          </p:nvSpPr>
          <p:spPr>
            <a:xfrm>
              <a:off x="1995487" y="2822575"/>
              <a:ext cx="20638" cy="0"/>
            </a:xfrm>
            <a:custGeom>
              <a:avLst/>
              <a:gdLst/>
              <a:ahLst/>
              <a:cxnLst/>
              <a:rect l="l" t="t" r="r" b="b"/>
              <a:pathLst>
                <a:path w="10" h="120000" extrusionOk="0">
                  <a:moveTo>
                    <a:pt x="10" y="0"/>
                  </a:moveTo>
                  <a:lnTo>
                    <a:pt x="10" y="0"/>
                  </a:lnTo>
                  <a:lnTo>
                    <a:pt x="0" y="0"/>
                  </a:lnTo>
                  <a:cubicBezTo>
                    <a:pt x="1" y="0"/>
                    <a:pt x="4" y="0"/>
                    <a:pt x="1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1" name="Google Shape;241;p4"/>
            <p:cNvSpPr/>
            <p:nvPr/>
          </p:nvSpPr>
          <p:spPr>
            <a:xfrm>
              <a:off x="1630362" y="2830513"/>
              <a:ext cx="22225" cy="0"/>
            </a:xfrm>
            <a:custGeom>
              <a:avLst/>
              <a:gdLst/>
              <a:ahLst/>
              <a:cxnLst/>
              <a:rect l="l" t="t" r="r" b="b"/>
              <a:pathLst>
                <a:path w="12" h="120000" extrusionOk="0">
                  <a:moveTo>
                    <a:pt x="11" y="0"/>
                  </a:moveTo>
                  <a:lnTo>
                    <a:pt x="11" y="0"/>
                  </a:lnTo>
                  <a:cubicBezTo>
                    <a:pt x="12" y="0"/>
                    <a:pt x="11" y="0"/>
                    <a:pt x="12" y="0"/>
                  </a:cubicBez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2" name="Google Shape;242;p4"/>
            <p:cNvSpPr/>
            <p:nvPr/>
          </p:nvSpPr>
          <p:spPr>
            <a:xfrm>
              <a:off x="2651125" y="2798763"/>
              <a:ext cx="46038" cy="1587"/>
            </a:xfrm>
            <a:custGeom>
              <a:avLst/>
              <a:gdLst/>
              <a:ahLst/>
              <a:cxnLst/>
              <a:rect l="l" t="t" r="r" b="b"/>
              <a:pathLst>
                <a:path w="24" h="1" extrusionOk="0">
                  <a:moveTo>
                    <a:pt x="3" y="1"/>
                  </a:moveTo>
                  <a:lnTo>
                    <a:pt x="3" y="1"/>
                  </a:lnTo>
                  <a:lnTo>
                    <a:pt x="24" y="0"/>
                  </a:lnTo>
                  <a:lnTo>
                    <a:pt x="8" y="1"/>
                  </a:lnTo>
                  <a:cubicBezTo>
                    <a:pt x="2" y="1"/>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3" name="Google Shape;243;p4"/>
            <p:cNvSpPr/>
            <p:nvPr/>
          </p:nvSpPr>
          <p:spPr>
            <a:xfrm>
              <a:off x="2698750" y="2809875"/>
              <a:ext cx="19050" cy="1587"/>
            </a:xfrm>
            <a:custGeom>
              <a:avLst/>
              <a:gdLst/>
              <a:ahLst/>
              <a:cxnLst/>
              <a:rect l="l" t="t" r="r" b="b"/>
              <a:pathLst>
                <a:path w="10" h="1" extrusionOk="0">
                  <a:moveTo>
                    <a:pt x="4" y="0"/>
                  </a:moveTo>
                  <a:lnTo>
                    <a:pt x="4" y="0"/>
                  </a:lnTo>
                  <a:lnTo>
                    <a:pt x="0" y="1"/>
                  </a:lnTo>
                  <a:lnTo>
                    <a:pt x="9" y="1"/>
                  </a:lnTo>
                  <a:cubicBezTo>
                    <a:pt x="10" y="0"/>
                    <a:pt x="9" y="0"/>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4" name="Google Shape;244;p4"/>
            <p:cNvSpPr/>
            <p:nvPr/>
          </p:nvSpPr>
          <p:spPr>
            <a:xfrm>
              <a:off x="469900" y="2800350"/>
              <a:ext cx="23813" cy="3175"/>
            </a:xfrm>
            <a:custGeom>
              <a:avLst/>
              <a:gdLst/>
              <a:ahLst/>
              <a:cxnLst/>
              <a:rect l="l" t="t" r="r" b="b"/>
              <a:pathLst>
                <a:path w="13" h="1" extrusionOk="0">
                  <a:moveTo>
                    <a:pt x="13" y="0"/>
                  </a:moveTo>
                  <a:lnTo>
                    <a:pt x="13" y="0"/>
                  </a:lnTo>
                  <a:lnTo>
                    <a:pt x="0" y="1"/>
                  </a:lnTo>
                  <a:cubicBezTo>
                    <a:pt x="8" y="1"/>
                    <a:pt x="11" y="1"/>
                    <a:pt x="1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5" name="Google Shape;245;p4"/>
            <p:cNvSpPr/>
            <p:nvPr/>
          </p:nvSpPr>
          <p:spPr>
            <a:xfrm>
              <a:off x="998537" y="2811463"/>
              <a:ext cx="1076325" cy="20637"/>
            </a:xfrm>
            <a:custGeom>
              <a:avLst/>
              <a:gdLst/>
              <a:ahLst/>
              <a:cxnLst/>
              <a:rect l="l" t="t" r="r" b="b"/>
              <a:pathLst>
                <a:path w="561" h="9" extrusionOk="0">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6" name="Google Shape;246;p4"/>
            <p:cNvSpPr/>
            <p:nvPr/>
          </p:nvSpPr>
          <p:spPr>
            <a:xfrm>
              <a:off x="2495550" y="2803525"/>
              <a:ext cx="17463" cy="0"/>
            </a:xfrm>
            <a:custGeom>
              <a:avLst/>
              <a:gdLst/>
              <a:ahLst/>
              <a:cxnLst/>
              <a:rect l="l" t="t" r="r" b="b"/>
              <a:pathLst>
                <a:path w="9" h="120000" extrusionOk="0">
                  <a:moveTo>
                    <a:pt x="9" y="0"/>
                  </a:moveTo>
                  <a:lnTo>
                    <a:pt x="9" y="0"/>
                  </a:lnTo>
                  <a:lnTo>
                    <a:pt x="0" y="0"/>
                  </a:lnTo>
                  <a:lnTo>
                    <a:pt x="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7" name="Google Shape;247;p4"/>
            <p:cNvSpPr/>
            <p:nvPr/>
          </p:nvSpPr>
          <p:spPr>
            <a:xfrm>
              <a:off x="2538412" y="2816225"/>
              <a:ext cx="1057275" cy="31750"/>
            </a:xfrm>
            <a:custGeom>
              <a:avLst/>
              <a:gdLst/>
              <a:ahLst/>
              <a:cxnLst/>
              <a:rect l="l" t="t" r="r" b="b"/>
              <a:pathLst>
                <a:path w="551" h="14" extrusionOk="0">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8" name="Google Shape;248;p4"/>
            <p:cNvSpPr/>
            <p:nvPr/>
          </p:nvSpPr>
          <p:spPr>
            <a:xfrm>
              <a:off x="11777663" y="2757488"/>
              <a:ext cx="19050" cy="3175"/>
            </a:xfrm>
            <a:custGeom>
              <a:avLst/>
              <a:gdLst/>
              <a:ahLst/>
              <a:cxnLst/>
              <a:rect l="l" t="t" r="r" b="b"/>
              <a:pathLst>
                <a:path w="10" h="1" extrusionOk="0">
                  <a:moveTo>
                    <a:pt x="0" y="0"/>
                  </a:moveTo>
                  <a:lnTo>
                    <a:pt x="0" y="0"/>
                  </a:lnTo>
                  <a:lnTo>
                    <a:pt x="10" y="1"/>
                  </a:lnTo>
                  <a:cubicBezTo>
                    <a:pt x="8" y="1"/>
                    <a:pt x="4"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9" name="Google Shape;249;p4"/>
            <p:cNvSpPr/>
            <p:nvPr/>
          </p:nvSpPr>
          <p:spPr>
            <a:xfrm>
              <a:off x="5983288" y="2741613"/>
              <a:ext cx="38100" cy="0"/>
            </a:xfrm>
            <a:custGeom>
              <a:avLst/>
              <a:gdLst/>
              <a:ahLst/>
              <a:cxnLst/>
              <a:rect l="l" t="t" r="r" b="b"/>
              <a:pathLst>
                <a:path w="20" h="120000" extrusionOk="0">
                  <a:moveTo>
                    <a:pt x="0" y="0"/>
                  </a:moveTo>
                  <a:lnTo>
                    <a:pt x="0" y="0"/>
                  </a:lnTo>
                  <a:lnTo>
                    <a:pt x="20"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0" name="Google Shape;250;p4"/>
            <p:cNvSpPr/>
            <p:nvPr/>
          </p:nvSpPr>
          <p:spPr>
            <a:xfrm>
              <a:off x="6832600" y="2713038"/>
              <a:ext cx="53975" cy="1587"/>
            </a:xfrm>
            <a:custGeom>
              <a:avLst/>
              <a:gdLst/>
              <a:ahLst/>
              <a:cxnLst/>
              <a:rect l="l" t="t" r="r" b="b"/>
              <a:pathLst>
                <a:path w="28" h="1" extrusionOk="0">
                  <a:moveTo>
                    <a:pt x="0" y="1"/>
                  </a:moveTo>
                  <a:lnTo>
                    <a:pt x="0" y="1"/>
                  </a:lnTo>
                  <a:lnTo>
                    <a:pt x="28" y="0"/>
                  </a:lnTo>
                  <a:cubicBezTo>
                    <a:pt x="17" y="0"/>
                    <a:pt x="8"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1" name="Google Shape;251;p4"/>
            <p:cNvSpPr/>
            <p:nvPr/>
          </p:nvSpPr>
          <p:spPr>
            <a:xfrm>
              <a:off x="11317288" y="2755900"/>
              <a:ext cx="9525" cy="0"/>
            </a:xfrm>
            <a:custGeom>
              <a:avLst/>
              <a:gdLst/>
              <a:ahLst/>
              <a:cxnLst/>
              <a:rect l="l" t="t" r="r" b="b"/>
              <a:pathLst>
                <a:path w="5" h="120000" extrusionOk="0">
                  <a:moveTo>
                    <a:pt x="5" y="0"/>
                  </a:moveTo>
                  <a:lnTo>
                    <a:pt x="5" y="0"/>
                  </a:lnTo>
                  <a:lnTo>
                    <a:pt x="4" y="0"/>
                  </a:lnTo>
                  <a:lnTo>
                    <a:pt x="0" y="0"/>
                  </a:lnTo>
                  <a:lnTo>
                    <a:pt x="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2" name="Google Shape;252;p4"/>
            <p:cNvSpPr/>
            <p:nvPr/>
          </p:nvSpPr>
          <p:spPr>
            <a:xfrm>
              <a:off x="8534400" y="2735263"/>
              <a:ext cx="30163" cy="0"/>
            </a:xfrm>
            <a:custGeom>
              <a:avLst/>
              <a:gdLst/>
              <a:ahLst/>
              <a:cxnLst/>
              <a:rect l="l" t="t" r="r" b="b"/>
              <a:pathLst>
                <a:path w="16" h="120000" extrusionOk="0">
                  <a:moveTo>
                    <a:pt x="0" y="0"/>
                  </a:moveTo>
                  <a:lnTo>
                    <a:pt x="0" y="0"/>
                  </a:lnTo>
                  <a:cubicBezTo>
                    <a:pt x="4" y="0"/>
                    <a:pt x="9" y="0"/>
                    <a:pt x="16" y="0"/>
                  </a:cubicBezTo>
                  <a:cubicBezTo>
                    <a:pt x="15" y="0"/>
                    <a:pt x="9"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3" name="Google Shape;253;p4"/>
            <p:cNvSpPr/>
            <p:nvPr/>
          </p:nvSpPr>
          <p:spPr>
            <a:xfrm>
              <a:off x="6821488" y="2714625"/>
              <a:ext cx="9525" cy="0"/>
            </a:xfrm>
            <a:custGeom>
              <a:avLst/>
              <a:gdLst/>
              <a:ahLst/>
              <a:cxnLst/>
              <a:rect l="l" t="t" r="r" b="b"/>
              <a:pathLst>
                <a:path w="5" h="120000" extrusionOk="0">
                  <a:moveTo>
                    <a:pt x="0" y="0"/>
                  </a:moveTo>
                  <a:lnTo>
                    <a:pt x="0" y="0"/>
                  </a:lnTo>
                  <a:lnTo>
                    <a:pt x="2"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4" name="Google Shape;254;p4"/>
            <p:cNvSpPr/>
            <p:nvPr/>
          </p:nvSpPr>
          <p:spPr>
            <a:xfrm>
              <a:off x="5583238" y="2719388"/>
              <a:ext cx="25400" cy="0"/>
            </a:xfrm>
            <a:custGeom>
              <a:avLst/>
              <a:gdLst/>
              <a:ahLst/>
              <a:cxnLst/>
              <a:rect l="l" t="t" r="r" b="b"/>
              <a:pathLst>
                <a:path w="13" h="120000" extrusionOk="0">
                  <a:moveTo>
                    <a:pt x="13" y="0"/>
                  </a:moveTo>
                  <a:lnTo>
                    <a:pt x="13" y="0"/>
                  </a:lnTo>
                  <a:lnTo>
                    <a:pt x="0"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5" name="Google Shape;255;p4"/>
            <p:cNvSpPr/>
            <p:nvPr/>
          </p:nvSpPr>
          <p:spPr>
            <a:xfrm>
              <a:off x="5638800" y="2740025"/>
              <a:ext cx="23813" cy="1587"/>
            </a:xfrm>
            <a:custGeom>
              <a:avLst/>
              <a:gdLst/>
              <a:ahLst/>
              <a:cxnLst/>
              <a:rect l="l" t="t" r="r" b="b"/>
              <a:pathLst>
                <a:path w="12" h="1" extrusionOk="0">
                  <a:moveTo>
                    <a:pt x="12" y="0"/>
                  </a:moveTo>
                  <a:lnTo>
                    <a:pt x="12" y="0"/>
                  </a:lnTo>
                  <a:lnTo>
                    <a:pt x="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6" name="Google Shape;256;p4"/>
            <p:cNvSpPr/>
            <p:nvPr/>
          </p:nvSpPr>
          <p:spPr>
            <a:xfrm>
              <a:off x="4303712" y="2728913"/>
              <a:ext cx="50800" cy="0"/>
            </a:xfrm>
            <a:custGeom>
              <a:avLst/>
              <a:gdLst/>
              <a:ahLst/>
              <a:cxnLst/>
              <a:rect l="l" t="t" r="r" b="b"/>
              <a:pathLst>
                <a:path w="26" h="120000" extrusionOk="0">
                  <a:moveTo>
                    <a:pt x="26" y="0"/>
                  </a:moveTo>
                  <a:lnTo>
                    <a:pt x="26" y="0"/>
                  </a:lnTo>
                  <a:lnTo>
                    <a:pt x="0" y="0"/>
                  </a:lnTo>
                  <a:cubicBezTo>
                    <a:pt x="13" y="0"/>
                    <a:pt x="20" y="0"/>
                    <a:pt x="2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7" name="Google Shape;257;p4"/>
            <p:cNvSpPr/>
            <p:nvPr/>
          </p:nvSpPr>
          <p:spPr>
            <a:xfrm>
              <a:off x="5519738" y="2735263"/>
              <a:ext cx="9525" cy="3175"/>
            </a:xfrm>
            <a:custGeom>
              <a:avLst/>
              <a:gdLst/>
              <a:ahLst/>
              <a:cxnLst/>
              <a:rect l="l" t="t" r="r" b="b"/>
              <a:pathLst>
                <a:path w="5" h="1" extrusionOk="0">
                  <a:moveTo>
                    <a:pt x="4" y="0"/>
                  </a:moveTo>
                  <a:lnTo>
                    <a:pt x="4" y="0"/>
                  </a:lnTo>
                  <a:lnTo>
                    <a:pt x="0" y="1"/>
                  </a:lnTo>
                  <a:cubicBezTo>
                    <a:pt x="3" y="1"/>
                    <a:pt x="5"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8" name="Google Shape;258;p4"/>
            <p:cNvSpPr/>
            <p:nvPr/>
          </p:nvSpPr>
          <p:spPr>
            <a:xfrm>
              <a:off x="12096750" y="2784475"/>
              <a:ext cx="6350" cy="0"/>
            </a:xfrm>
            <a:custGeom>
              <a:avLst/>
              <a:gdLst/>
              <a:ahLst/>
              <a:cxnLst/>
              <a:rect l="l" t="t" r="r" b="b"/>
              <a:pathLst>
                <a:path w="3" h="120000" extrusionOk="0">
                  <a:moveTo>
                    <a:pt x="3" y="0"/>
                  </a:moveTo>
                  <a:lnTo>
                    <a:pt x="3" y="0"/>
                  </a:lnTo>
                  <a:lnTo>
                    <a:pt x="1"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9" name="Google Shape;259;p4"/>
            <p:cNvSpPr/>
            <p:nvPr/>
          </p:nvSpPr>
          <p:spPr>
            <a:xfrm>
              <a:off x="12225338" y="2773363"/>
              <a:ext cx="46038" cy="0"/>
            </a:xfrm>
            <a:custGeom>
              <a:avLst/>
              <a:gdLst/>
              <a:ahLst/>
              <a:cxnLst/>
              <a:rect l="l" t="t" r="r" b="b"/>
              <a:pathLst>
                <a:path w="24" h="120000" extrusionOk="0">
                  <a:moveTo>
                    <a:pt x="0" y="0"/>
                  </a:moveTo>
                  <a:lnTo>
                    <a:pt x="0" y="0"/>
                  </a:lnTo>
                  <a:lnTo>
                    <a:pt x="24" y="0"/>
                  </a:lnTo>
                  <a:cubicBezTo>
                    <a:pt x="15" y="0"/>
                    <a:pt x="6"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0" name="Google Shape;260;p4"/>
            <p:cNvSpPr/>
            <p:nvPr/>
          </p:nvSpPr>
          <p:spPr>
            <a:xfrm>
              <a:off x="9274175" y="2746375"/>
              <a:ext cx="55563" cy="4762"/>
            </a:xfrm>
            <a:custGeom>
              <a:avLst/>
              <a:gdLst/>
              <a:ahLst/>
              <a:cxnLst/>
              <a:rect l="l" t="t" r="r" b="b"/>
              <a:pathLst>
                <a:path w="29" h="2" extrusionOk="0">
                  <a:moveTo>
                    <a:pt x="0" y="1"/>
                  </a:moveTo>
                  <a:lnTo>
                    <a:pt x="0" y="1"/>
                  </a:lnTo>
                  <a:cubicBezTo>
                    <a:pt x="7" y="1"/>
                    <a:pt x="23" y="2"/>
                    <a:pt x="15" y="2"/>
                  </a:cubicBezTo>
                  <a:cubicBezTo>
                    <a:pt x="29" y="2"/>
                    <a:pt x="2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1" name="Google Shape;261;p4"/>
            <p:cNvSpPr/>
            <p:nvPr/>
          </p:nvSpPr>
          <p:spPr>
            <a:xfrm>
              <a:off x="11847513" y="2827338"/>
              <a:ext cx="34925" cy="3175"/>
            </a:xfrm>
            <a:custGeom>
              <a:avLst/>
              <a:gdLst/>
              <a:ahLst/>
              <a:cxnLst/>
              <a:rect l="l" t="t" r="r" b="b"/>
              <a:pathLst>
                <a:path w="18" h="1" extrusionOk="0">
                  <a:moveTo>
                    <a:pt x="3" y="1"/>
                  </a:moveTo>
                  <a:lnTo>
                    <a:pt x="3" y="1"/>
                  </a:lnTo>
                  <a:cubicBezTo>
                    <a:pt x="7" y="1"/>
                    <a:pt x="13" y="0"/>
                    <a:pt x="18" y="0"/>
                  </a:cubicBezTo>
                  <a:cubicBezTo>
                    <a:pt x="8" y="0"/>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2" name="Google Shape;262;p4"/>
            <p:cNvSpPr/>
            <p:nvPr/>
          </p:nvSpPr>
          <p:spPr>
            <a:xfrm>
              <a:off x="11882438" y="2825750"/>
              <a:ext cx="25400" cy="1587"/>
            </a:xfrm>
            <a:custGeom>
              <a:avLst/>
              <a:gdLst/>
              <a:ahLst/>
              <a:cxnLst/>
              <a:rect l="l" t="t" r="r" b="b"/>
              <a:pathLst>
                <a:path w="14" h="1" extrusionOk="0">
                  <a:moveTo>
                    <a:pt x="0" y="1"/>
                  </a:moveTo>
                  <a:lnTo>
                    <a:pt x="0" y="1"/>
                  </a:lnTo>
                  <a:lnTo>
                    <a:pt x="14"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3" name="Google Shape;263;p4"/>
            <p:cNvSpPr/>
            <p:nvPr/>
          </p:nvSpPr>
          <p:spPr>
            <a:xfrm>
              <a:off x="8915400" y="2809875"/>
              <a:ext cx="15875" cy="1587"/>
            </a:xfrm>
            <a:custGeom>
              <a:avLst/>
              <a:gdLst/>
              <a:ahLst/>
              <a:cxnLst/>
              <a:rect l="l" t="t" r="r" b="b"/>
              <a:pathLst>
                <a:path w="8" h="1" extrusionOk="0">
                  <a:moveTo>
                    <a:pt x="8" y="1"/>
                  </a:moveTo>
                  <a:lnTo>
                    <a:pt x="8" y="1"/>
                  </a:lnTo>
                  <a:cubicBezTo>
                    <a:pt x="6" y="0"/>
                    <a:pt x="3" y="0"/>
                    <a:pt x="0" y="0"/>
                  </a:cubicBezTo>
                  <a:cubicBezTo>
                    <a:pt x="1" y="0"/>
                    <a:pt x="4"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4" name="Google Shape;264;p4"/>
            <p:cNvSpPr/>
            <p:nvPr/>
          </p:nvSpPr>
          <p:spPr>
            <a:xfrm>
              <a:off x="12109450" y="2752725"/>
              <a:ext cx="454025" cy="23812"/>
            </a:xfrm>
            <a:custGeom>
              <a:avLst/>
              <a:gdLst/>
              <a:ahLst/>
              <a:cxnLst/>
              <a:rect l="l" t="t" r="r" b="b"/>
              <a:pathLst>
                <a:path w="236" h="10" extrusionOk="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5" name="Google Shape;265;p4"/>
            <p:cNvSpPr/>
            <p:nvPr/>
          </p:nvSpPr>
          <p:spPr>
            <a:xfrm>
              <a:off x="12182475" y="2816225"/>
              <a:ext cx="9525" cy="0"/>
            </a:xfrm>
            <a:custGeom>
              <a:avLst/>
              <a:gdLst/>
              <a:ahLst/>
              <a:cxnLst/>
              <a:rect l="l" t="t" r="r" b="b"/>
              <a:pathLst>
                <a:path w="5" h="120000" extrusionOk="0">
                  <a:moveTo>
                    <a:pt x="0" y="0"/>
                  </a:moveTo>
                  <a:lnTo>
                    <a:pt x="0" y="0"/>
                  </a:lnTo>
                  <a:lnTo>
                    <a:pt x="1"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6" name="Google Shape;266;p4"/>
            <p:cNvSpPr/>
            <p:nvPr/>
          </p:nvSpPr>
          <p:spPr>
            <a:xfrm>
              <a:off x="4348162" y="2827338"/>
              <a:ext cx="17463" cy="3175"/>
            </a:xfrm>
            <a:custGeom>
              <a:avLst/>
              <a:gdLst/>
              <a:ahLst/>
              <a:cxnLst/>
              <a:rect l="l" t="t" r="r" b="b"/>
              <a:pathLst>
                <a:path w="9" h="1" extrusionOk="0">
                  <a:moveTo>
                    <a:pt x="8" y="0"/>
                  </a:moveTo>
                  <a:lnTo>
                    <a:pt x="8" y="0"/>
                  </a:lnTo>
                  <a:lnTo>
                    <a:pt x="0" y="1"/>
                  </a:lnTo>
                  <a:cubicBezTo>
                    <a:pt x="7" y="0"/>
                    <a:pt x="9" y="0"/>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7" name="Google Shape;267;p4"/>
            <p:cNvSpPr/>
            <p:nvPr/>
          </p:nvSpPr>
          <p:spPr>
            <a:xfrm>
              <a:off x="12071350" y="2790825"/>
              <a:ext cx="0" cy="0"/>
            </a:xfrm>
            <a:custGeom>
              <a:avLst/>
              <a:gdLst/>
              <a:ahLst/>
              <a:cxnLst/>
              <a:rect l="l" t="t" r="r" b="b"/>
              <a:pathLst>
                <a:path w="120000" h="120000" extrusionOk="0">
                  <a:moveTo>
                    <a:pt x="0" y="0"/>
                  </a:moveTo>
                  <a:lnTo>
                    <a:pt x="0" y="0"/>
                  </a:lnTo>
                  <a:lnTo>
                    <a:pt x="0"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8" name="Google Shape;268;p4"/>
            <p:cNvSpPr/>
            <p:nvPr/>
          </p:nvSpPr>
          <p:spPr>
            <a:xfrm>
              <a:off x="4754563" y="2827338"/>
              <a:ext cx="4763" cy="0"/>
            </a:xfrm>
            <a:custGeom>
              <a:avLst/>
              <a:gdLst/>
              <a:ahLst/>
              <a:cxnLst/>
              <a:rect l="l" t="t" r="r" b="b"/>
              <a:pathLst>
                <a:path w="2" h="120000" extrusionOk="0">
                  <a:moveTo>
                    <a:pt x="2" y="0"/>
                  </a:moveTo>
                  <a:lnTo>
                    <a:pt x="2" y="0"/>
                  </a:lnTo>
                  <a:lnTo>
                    <a:pt x="0" y="0"/>
                  </a:lnTo>
                  <a:cubicBezTo>
                    <a:pt x="1" y="0"/>
                    <a:pt x="1" y="0"/>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9" name="Google Shape;269;p4"/>
            <p:cNvSpPr/>
            <p:nvPr/>
          </p:nvSpPr>
          <p:spPr>
            <a:xfrm>
              <a:off x="4852988" y="2719388"/>
              <a:ext cx="9525" cy="3175"/>
            </a:xfrm>
            <a:custGeom>
              <a:avLst/>
              <a:gdLst/>
              <a:ahLst/>
              <a:cxnLst/>
              <a:rect l="l" t="t" r="r" b="b"/>
              <a:pathLst>
                <a:path w="5" h="1" extrusionOk="0">
                  <a:moveTo>
                    <a:pt x="5" y="1"/>
                  </a:moveTo>
                  <a:lnTo>
                    <a:pt x="5" y="1"/>
                  </a:lnTo>
                  <a:cubicBezTo>
                    <a:pt x="5" y="1"/>
                    <a:pt x="5" y="1"/>
                    <a:pt x="4" y="0"/>
                  </a:cubicBezTo>
                  <a:cubicBezTo>
                    <a:pt x="0" y="1"/>
                    <a:pt x="2" y="1"/>
                    <a:pt x="5"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0" name="Google Shape;270;p4"/>
            <p:cNvSpPr/>
            <p:nvPr/>
          </p:nvSpPr>
          <p:spPr>
            <a:xfrm>
              <a:off x="4759325" y="2827338"/>
              <a:ext cx="0" cy="0"/>
            </a:xfrm>
            <a:custGeom>
              <a:avLst/>
              <a:gdLst/>
              <a:ahLst/>
              <a:cxnLst/>
              <a:rect l="l" t="t" r="r" b="b"/>
              <a:pathLst>
                <a:path w="120000" h="120000" extrusionOk="0">
                  <a:moveTo>
                    <a:pt x="0" y="0"/>
                  </a:moveTo>
                  <a:lnTo>
                    <a:pt x="0" y="0"/>
                  </a:lnTo>
                  <a:cubicBezTo>
                    <a:pt x="0" y="0"/>
                    <a:pt x="0" y="0"/>
                    <a:pt x="0" y="0"/>
                  </a:cubicBez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1" name="Google Shape;271;p4"/>
            <p:cNvSpPr/>
            <p:nvPr/>
          </p:nvSpPr>
          <p:spPr>
            <a:xfrm>
              <a:off x="6654800" y="2805113"/>
              <a:ext cx="19050" cy="1587"/>
            </a:xfrm>
            <a:custGeom>
              <a:avLst/>
              <a:gdLst/>
              <a:ahLst/>
              <a:cxnLst/>
              <a:rect l="l" t="t" r="r" b="b"/>
              <a:pathLst>
                <a:path w="10" h="1" extrusionOk="0">
                  <a:moveTo>
                    <a:pt x="10" y="1"/>
                  </a:moveTo>
                  <a:lnTo>
                    <a:pt x="10" y="1"/>
                  </a:lnTo>
                  <a:lnTo>
                    <a:pt x="2" y="0"/>
                  </a:lnTo>
                  <a:cubicBezTo>
                    <a:pt x="0" y="0"/>
                    <a:pt x="2" y="0"/>
                    <a:pt x="1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2" name="Google Shape;272;p4"/>
            <p:cNvSpPr/>
            <p:nvPr/>
          </p:nvSpPr>
          <p:spPr>
            <a:xfrm>
              <a:off x="6289675" y="2798763"/>
              <a:ext cx="6350" cy="0"/>
            </a:xfrm>
            <a:custGeom>
              <a:avLst/>
              <a:gdLst/>
              <a:ahLst/>
              <a:cxnLst/>
              <a:rect l="l" t="t" r="r" b="b"/>
              <a:pathLst>
                <a:path w="3" h="120000" extrusionOk="0">
                  <a:moveTo>
                    <a:pt x="3" y="0"/>
                  </a:moveTo>
                  <a:lnTo>
                    <a:pt x="3"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3" name="Google Shape;273;p4"/>
            <p:cNvSpPr/>
            <p:nvPr/>
          </p:nvSpPr>
          <p:spPr>
            <a:xfrm>
              <a:off x="9140825" y="2725738"/>
              <a:ext cx="44450" cy="0"/>
            </a:xfrm>
            <a:custGeom>
              <a:avLst/>
              <a:gdLst/>
              <a:ahLst/>
              <a:cxnLst/>
              <a:rect l="l" t="t" r="r" b="b"/>
              <a:pathLst>
                <a:path w="23" h="120000" extrusionOk="0">
                  <a:moveTo>
                    <a:pt x="23" y="0"/>
                  </a:moveTo>
                  <a:lnTo>
                    <a:pt x="23" y="0"/>
                  </a:lnTo>
                  <a:lnTo>
                    <a:pt x="0" y="0"/>
                  </a:lnTo>
                  <a:lnTo>
                    <a:pt x="2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4" name="Google Shape;274;p4"/>
            <p:cNvSpPr/>
            <p:nvPr/>
          </p:nvSpPr>
          <p:spPr>
            <a:xfrm>
              <a:off x="4737100" y="2827338"/>
              <a:ext cx="17463" cy="3175"/>
            </a:xfrm>
            <a:custGeom>
              <a:avLst/>
              <a:gdLst/>
              <a:ahLst/>
              <a:cxnLst/>
              <a:rect l="l" t="t" r="r" b="b"/>
              <a:pathLst>
                <a:path w="9" h="1" extrusionOk="0">
                  <a:moveTo>
                    <a:pt x="9" y="0"/>
                  </a:moveTo>
                  <a:lnTo>
                    <a:pt x="9" y="0"/>
                  </a:lnTo>
                  <a:lnTo>
                    <a:pt x="0" y="1"/>
                  </a:lnTo>
                  <a:cubicBezTo>
                    <a:pt x="5" y="0"/>
                    <a:pt x="8" y="0"/>
                    <a:pt x="9"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5" name="Google Shape;275;p4"/>
            <p:cNvSpPr/>
            <p:nvPr/>
          </p:nvSpPr>
          <p:spPr>
            <a:xfrm>
              <a:off x="7239000" y="2779713"/>
              <a:ext cx="11113" cy="3175"/>
            </a:xfrm>
            <a:custGeom>
              <a:avLst/>
              <a:gdLst/>
              <a:ahLst/>
              <a:cxnLst/>
              <a:rect l="l" t="t" r="r" b="b"/>
              <a:pathLst>
                <a:path w="6" h="1" extrusionOk="0">
                  <a:moveTo>
                    <a:pt x="6" y="0"/>
                  </a:moveTo>
                  <a:lnTo>
                    <a:pt x="6" y="0"/>
                  </a:lnTo>
                  <a:lnTo>
                    <a:pt x="0" y="1"/>
                  </a:lnTo>
                  <a:lnTo>
                    <a:pt x="4" y="1"/>
                  </a:lnTo>
                  <a:lnTo>
                    <a:pt x="6"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6" name="Google Shape;276;p4"/>
            <p:cNvSpPr/>
            <p:nvPr/>
          </p:nvSpPr>
          <p:spPr>
            <a:xfrm>
              <a:off x="7181850" y="2773363"/>
              <a:ext cx="468313" cy="15875"/>
            </a:xfrm>
            <a:custGeom>
              <a:avLst/>
              <a:gdLst/>
              <a:ahLst/>
              <a:cxnLst/>
              <a:rect l="l" t="t" r="r" b="b"/>
              <a:pathLst>
                <a:path w="244" h="7" extrusionOk="0">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7" name="Google Shape;277;p4"/>
            <p:cNvSpPr/>
            <p:nvPr/>
          </p:nvSpPr>
          <p:spPr>
            <a:xfrm>
              <a:off x="7407275" y="2787650"/>
              <a:ext cx="26988" cy="0"/>
            </a:xfrm>
            <a:custGeom>
              <a:avLst/>
              <a:gdLst/>
              <a:ahLst/>
              <a:cxnLst/>
              <a:rect l="l" t="t" r="r" b="b"/>
              <a:pathLst>
                <a:path w="14" h="120000" extrusionOk="0">
                  <a:moveTo>
                    <a:pt x="14" y="0"/>
                  </a:moveTo>
                  <a:lnTo>
                    <a:pt x="14" y="0"/>
                  </a:lnTo>
                  <a:lnTo>
                    <a:pt x="0" y="0"/>
                  </a:lnTo>
                  <a:cubicBezTo>
                    <a:pt x="8" y="0"/>
                    <a:pt x="11" y="0"/>
                    <a:pt x="1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8" name="Google Shape;278;p4"/>
            <p:cNvSpPr/>
            <p:nvPr/>
          </p:nvSpPr>
          <p:spPr>
            <a:xfrm>
              <a:off x="8123238" y="2794000"/>
              <a:ext cx="31750" cy="1587"/>
            </a:xfrm>
            <a:custGeom>
              <a:avLst/>
              <a:gdLst/>
              <a:ahLst/>
              <a:cxnLst/>
              <a:rect l="l" t="t" r="r" b="b"/>
              <a:pathLst>
                <a:path w="16" h="1" extrusionOk="0">
                  <a:moveTo>
                    <a:pt x="0" y="1"/>
                  </a:moveTo>
                  <a:lnTo>
                    <a:pt x="0" y="1"/>
                  </a:lnTo>
                  <a:lnTo>
                    <a:pt x="16"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9" name="Google Shape;279;p4"/>
            <p:cNvSpPr/>
            <p:nvPr/>
          </p:nvSpPr>
          <p:spPr>
            <a:xfrm>
              <a:off x="3070225" y="2794000"/>
              <a:ext cx="101600" cy="4762"/>
            </a:xfrm>
            <a:custGeom>
              <a:avLst/>
              <a:gdLst/>
              <a:ahLst/>
              <a:cxnLst/>
              <a:rect l="l" t="t" r="r" b="b"/>
              <a:pathLst>
                <a:path w="53" h="2" extrusionOk="0">
                  <a:moveTo>
                    <a:pt x="0" y="0"/>
                  </a:moveTo>
                  <a:lnTo>
                    <a:pt x="0" y="0"/>
                  </a:lnTo>
                  <a:cubicBezTo>
                    <a:pt x="2" y="1"/>
                    <a:pt x="53" y="2"/>
                    <a:pt x="52" y="0"/>
                  </a:cubicBez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0" name="Google Shape;280;p4"/>
            <p:cNvSpPr/>
            <p:nvPr/>
          </p:nvSpPr>
          <p:spPr>
            <a:xfrm>
              <a:off x="9963150" y="2778125"/>
              <a:ext cx="41275" cy="0"/>
            </a:xfrm>
            <a:custGeom>
              <a:avLst/>
              <a:gdLst/>
              <a:ahLst/>
              <a:cxnLst/>
              <a:rect l="l" t="t" r="r" b="b"/>
              <a:pathLst>
                <a:path w="21" h="120000" extrusionOk="0">
                  <a:moveTo>
                    <a:pt x="21" y="0"/>
                  </a:moveTo>
                  <a:lnTo>
                    <a:pt x="21" y="0"/>
                  </a:lnTo>
                  <a:lnTo>
                    <a:pt x="3" y="0"/>
                  </a:lnTo>
                  <a:lnTo>
                    <a:pt x="0" y="0"/>
                  </a:lnTo>
                  <a:cubicBezTo>
                    <a:pt x="4" y="0"/>
                    <a:pt x="15"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1" name="Google Shape;281;p4"/>
            <p:cNvSpPr/>
            <p:nvPr/>
          </p:nvSpPr>
          <p:spPr>
            <a:xfrm>
              <a:off x="7523163" y="2773363"/>
              <a:ext cx="30163" cy="3175"/>
            </a:xfrm>
            <a:custGeom>
              <a:avLst/>
              <a:gdLst/>
              <a:ahLst/>
              <a:cxnLst/>
              <a:rect l="l" t="t" r="r" b="b"/>
              <a:pathLst>
                <a:path w="16" h="1" extrusionOk="0">
                  <a:moveTo>
                    <a:pt x="16" y="0"/>
                  </a:moveTo>
                  <a:lnTo>
                    <a:pt x="16" y="0"/>
                  </a:lnTo>
                  <a:cubicBezTo>
                    <a:pt x="6" y="0"/>
                    <a:pt x="2" y="1"/>
                    <a:pt x="0" y="1"/>
                  </a:cubicBezTo>
                  <a:cubicBezTo>
                    <a:pt x="6" y="1"/>
                    <a:pt x="12" y="1"/>
                    <a:pt x="1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2" name="Google Shape;282;p4"/>
            <p:cNvSpPr/>
            <p:nvPr/>
          </p:nvSpPr>
          <p:spPr>
            <a:xfrm>
              <a:off x="10009188" y="2787650"/>
              <a:ext cx="115888" cy="3175"/>
            </a:xfrm>
            <a:custGeom>
              <a:avLst/>
              <a:gdLst/>
              <a:ahLst/>
              <a:cxnLst/>
              <a:rect l="l" t="t" r="r" b="b"/>
              <a:pathLst>
                <a:path w="60" h="2" extrusionOk="0">
                  <a:moveTo>
                    <a:pt x="0" y="0"/>
                  </a:moveTo>
                  <a:lnTo>
                    <a:pt x="0" y="0"/>
                  </a:lnTo>
                  <a:cubicBezTo>
                    <a:pt x="7" y="0"/>
                    <a:pt x="18" y="1"/>
                    <a:pt x="19" y="2"/>
                  </a:cubicBezTo>
                  <a:cubicBezTo>
                    <a:pt x="34" y="2"/>
                    <a:pt x="45" y="1"/>
                    <a:pt x="60" y="1"/>
                  </a:cubicBezTo>
                  <a:cubicBezTo>
                    <a:pt x="43" y="1"/>
                    <a:pt x="23"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3" name="Google Shape;283;p4"/>
            <p:cNvSpPr/>
            <p:nvPr/>
          </p:nvSpPr>
          <p:spPr>
            <a:xfrm>
              <a:off x="10125075" y="2789238"/>
              <a:ext cx="1588" cy="0"/>
            </a:xfrm>
            <a:custGeom>
              <a:avLst/>
              <a:gdLst/>
              <a:ahLst/>
              <a:cxnLst/>
              <a:rect l="l" t="t" r="r" b="b"/>
              <a:pathLst>
                <a:path w="1" h="120000" extrusionOk="0">
                  <a:moveTo>
                    <a:pt x="1" y="0"/>
                  </a:moveTo>
                  <a:lnTo>
                    <a:pt x="1" y="0"/>
                  </a:lnTo>
                  <a:lnTo>
                    <a:pt x="0" y="0"/>
                  </a:lnTo>
                  <a:lnTo>
                    <a:pt x="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4" name="Google Shape;284;p4"/>
            <p:cNvSpPr/>
            <p:nvPr/>
          </p:nvSpPr>
          <p:spPr>
            <a:xfrm>
              <a:off x="-4110038" y="2703513"/>
              <a:ext cx="16486189" cy="134937"/>
            </a:xfrm>
            <a:custGeom>
              <a:avLst/>
              <a:gdLst/>
              <a:ahLst/>
              <a:cxnLst/>
              <a:rect l="l" t="t" r="r" b="b"/>
              <a:pathLst>
                <a:path w="8594" h="60" extrusionOk="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5" name="Google Shape;285;p4"/>
            <p:cNvSpPr/>
            <p:nvPr/>
          </p:nvSpPr>
          <p:spPr>
            <a:xfrm>
              <a:off x="12117388" y="2779713"/>
              <a:ext cx="127000" cy="4762"/>
            </a:xfrm>
            <a:custGeom>
              <a:avLst/>
              <a:gdLst/>
              <a:ahLst/>
              <a:cxnLst/>
              <a:rect l="l" t="t" r="r" b="b"/>
              <a:pathLst>
                <a:path w="66" h="2" extrusionOk="0">
                  <a:moveTo>
                    <a:pt x="19" y="2"/>
                  </a:moveTo>
                  <a:lnTo>
                    <a:pt x="19" y="2"/>
                  </a:lnTo>
                  <a:cubicBezTo>
                    <a:pt x="33" y="2"/>
                    <a:pt x="66" y="2"/>
                    <a:pt x="60" y="0"/>
                  </a:cubicBezTo>
                  <a:cubicBezTo>
                    <a:pt x="60" y="2"/>
                    <a:pt x="0" y="0"/>
                    <a:pt x="19"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6" name="Google Shape;286;p4"/>
            <p:cNvSpPr/>
            <p:nvPr/>
          </p:nvSpPr>
          <p:spPr>
            <a:xfrm>
              <a:off x="12182475" y="2787650"/>
              <a:ext cx="79375" cy="1587"/>
            </a:xfrm>
            <a:custGeom>
              <a:avLst/>
              <a:gdLst/>
              <a:ahLst/>
              <a:cxnLst/>
              <a:rect l="l" t="t" r="r" b="b"/>
              <a:pathLst>
                <a:path w="41" h="1" extrusionOk="0">
                  <a:moveTo>
                    <a:pt x="25" y="1"/>
                  </a:moveTo>
                  <a:lnTo>
                    <a:pt x="25" y="1"/>
                  </a:lnTo>
                  <a:cubicBezTo>
                    <a:pt x="27" y="1"/>
                    <a:pt x="26" y="0"/>
                    <a:pt x="41" y="0"/>
                  </a:cubicBezTo>
                  <a:lnTo>
                    <a:pt x="0" y="0"/>
                  </a:lnTo>
                  <a:lnTo>
                    <a:pt x="2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7" name="Google Shape;287;p4"/>
            <p:cNvSpPr/>
            <p:nvPr/>
          </p:nvSpPr>
          <p:spPr>
            <a:xfrm>
              <a:off x="12307888" y="2809875"/>
              <a:ext cx="249238" cy="15875"/>
            </a:xfrm>
            <a:custGeom>
              <a:avLst/>
              <a:gdLst/>
              <a:ahLst/>
              <a:cxnLst/>
              <a:rect l="l" t="t" r="r" b="b"/>
              <a:pathLst>
                <a:path w="130" h="7" extrusionOk="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8" name="Google Shape;288;p4"/>
            <p:cNvSpPr/>
            <p:nvPr/>
          </p:nvSpPr>
          <p:spPr>
            <a:xfrm>
              <a:off x="12252325" y="2825750"/>
              <a:ext cx="73025" cy="1587"/>
            </a:xfrm>
            <a:custGeom>
              <a:avLst/>
              <a:gdLst/>
              <a:ahLst/>
              <a:cxnLst/>
              <a:rect l="l" t="t" r="r" b="b"/>
              <a:pathLst>
                <a:path w="38" h="1" extrusionOk="0">
                  <a:moveTo>
                    <a:pt x="4" y="1"/>
                  </a:moveTo>
                  <a:lnTo>
                    <a:pt x="4" y="1"/>
                  </a:lnTo>
                  <a:lnTo>
                    <a:pt x="38" y="0"/>
                  </a:lnTo>
                  <a:lnTo>
                    <a:pt x="34" y="0"/>
                  </a:lnTo>
                  <a:lnTo>
                    <a:pt x="0" y="1"/>
                  </a:lnTo>
                  <a:lnTo>
                    <a:pt x="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9" name="Google Shape;289;p4"/>
            <p:cNvSpPr/>
            <p:nvPr/>
          </p:nvSpPr>
          <p:spPr>
            <a:xfrm>
              <a:off x="10779125" y="2733675"/>
              <a:ext cx="66675" cy="4762"/>
            </a:xfrm>
            <a:custGeom>
              <a:avLst/>
              <a:gdLst/>
              <a:ahLst/>
              <a:cxnLst/>
              <a:rect l="l" t="t" r="r" b="b"/>
              <a:pathLst>
                <a:path w="35" h="2" extrusionOk="0">
                  <a:moveTo>
                    <a:pt x="35" y="2"/>
                  </a:moveTo>
                  <a:lnTo>
                    <a:pt x="35" y="2"/>
                  </a:lnTo>
                  <a:cubicBezTo>
                    <a:pt x="32" y="0"/>
                    <a:pt x="11" y="1"/>
                    <a:pt x="0" y="2"/>
                  </a:cubicBezTo>
                  <a:cubicBezTo>
                    <a:pt x="9" y="2"/>
                    <a:pt x="22" y="2"/>
                    <a:pt x="3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0" name="Google Shape;290;p4"/>
            <p:cNvSpPr/>
            <p:nvPr/>
          </p:nvSpPr>
          <p:spPr>
            <a:xfrm>
              <a:off x="-2471738" y="2738438"/>
              <a:ext cx="496888" cy="1587"/>
            </a:xfrm>
            <a:custGeom>
              <a:avLst/>
              <a:gdLst/>
              <a:ahLst/>
              <a:cxnLst/>
              <a:rect l="l" t="t" r="r" b="b"/>
              <a:pathLst>
                <a:path w="259" h="1" extrusionOk="0">
                  <a:moveTo>
                    <a:pt x="259" y="0"/>
                  </a:moveTo>
                  <a:lnTo>
                    <a:pt x="259" y="0"/>
                  </a:lnTo>
                  <a:lnTo>
                    <a:pt x="0" y="1"/>
                  </a:lnTo>
                  <a:lnTo>
                    <a:pt x="25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1" name="Google Shape;291;p4"/>
            <p:cNvSpPr/>
            <p:nvPr/>
          </p:nvSpPr>
          <p:spPr>
            <a:xfrm>
              <a:off x="9136063" y="2735263"/>
              <a:ext cx="387350" cy="14287"/>
            </a:xfrm>
            <a:custGeom>
              <a:avLst/>
              <a:gdLst/>
              <a:ahLst/>
              <a:cxnLst/>
              <a:rect l="l" t="t" r="r" b="b"/>
              <a:pathLst>
                <a:path w="202" h="6" extrusionOk="0">
                  <a:moveTo>
                    <a:pt x="30" y="6"/>
                  </a:moveTo>
                  <a:lnTo>
                    <a:pt x="30" y="6"/>
                  </a:lnTo>
                  <a:cubicBezTo>
                    <a:pt x="100" y="5"/>
                    <a:pt x="131" y="3"/>
                    <a:pt x="202" y="3"/>
                  </a:cubicBezTo>
                  <a:cubicBezTo>
                    <a:pt x="109" y="0"/>
                    <a:pt x="79" y="6"/>
                    <a:pt x="0" y="3"/>
                  </a:cubicBezTo>
                  <a:lnTo>
                    <a:pt x="30"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2" name="Google Shape;292;p4"/>
            <p:cNvSpPr/>
            <p:nvPr/>
          </p:nvSpPr>
          <p:spPr>
            <a:xfrm>
              <a:off x="9139238" y="2725738"/>
              <a:ext cx="142875" cy="9525"/>
            </a:xfrm>
            <a:custGeom>
              <a:avLst/>
              <a:gdLst/>
              <a:ahLst/>
              <a:cxnLst/>
              <a:rect l="l" t="t" r="r" b="b"/>
              <a:pathLst>
                <a:path w="75" h="4" extrusionOk="0">
                  <a:moveTo>
                    <a:pt x="54" y="0"/>
                  </a:moveTo>
                  <a:lnTo>
                    <a:pt x="54" y="0"/>
                  </a:lnTo>
                  <a:cubicBezTo>
                    <a:pt x="65" y="2"/>
                    <a:pt x="0" y="3"/>
                    <a:pt x="10" y="4"/>
                  </a:cubicBezTo>
                  <a:cubicBezTo>
                    <a:pt x="57" y="4"/>
                    <a:pt x="32" y="2"/>
                    <a:pt x="75" y="2"/>
                  </a:cubicBezTo>
                  <a:lnTo>
                    <a:pt x="5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3" name="Google Shape;293;p4"/>
            <p:cNvSpPr/>
            <p:nvPr/>
          </p:nvSpPr>
          <p:spPr>
            <a:xfrm>
              <a:off x="9805988" y="2817813"/>
              <a:ext cx="39688" cy="3175"/>
            </a:xfrm>
            <a:custGeom>
              <a:avLst/>
              <a:gdLst/>
              <a:ahLst/>
              <a:cxnLst/>
              <a:rect l="l" t="t" r="r" b="b"/>
              <a:pathLst>
                <a:path w="21" h="1" extrusionOk="0">
                  <a:moveTo>
                    <a:pt x="21" y="0"/>
                  </a:moveTo>
                  <a:lnTo>
                    <a:pt x="21" y="0"/>
                  </a:lnTo>
                  <a:lnTo>
                    <a:pt x="0" y="1"/>
                  </a:lnTo>
                  <a:lnTo>
                    <a:pt x="17" y="1"/>
                  </a:lnTo>
                  <a:lnTo>
                    <a:pt x="2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4" name="Google Shape;294;p4"/>
            <p:cNvSpPr/>
            <p:nvPr/>
          </p:nvSpPr>
          <p:spPr>
            <a:xfrm>
              <a:off x="8580438" y="2725738"/>
              <a:ext cx="66675" cy="3175"/>
            </a:xfrm>
            <a:custGeom>
              <a:avLst/>
              <a:gdLst/>
              <a:ahLst/>
              <a:cxnLst/>
              <a:rect l="l" t="t" r="r" b="b"/>
              <a:pathLst>
                <a:path w="35" h="1" extrusionOk="0">
                  <a:moveTo>
                    <a:pt x="27" y="1"/>
                  </a:moveTo>
                  <a:lnTo>
                    <a:pt x="27" y="1"/>
                  </a:lnTo>
                  <a:lnTo>
                    <a:pt x="35" y="1"/>
                  </a:lnTo>
                  <a:lnTo>
                    <a:pt x="0" y="0"/>
                  </a:lnTo>
                  <a:lnTo>
                    <a:pt x="27"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5" name="Google Shape;295;p4"/>
            <p:cNvSpPr/>
            <p:nvPr/>
          </p:nvSpPr>
          <p:spPr>
            <a:xfrm>
              <a:off x="8647113" y="2725738"/>
              <a:ext cx="15875" cy="3175"/>
            </a:xfrm>
            <a:custGeom>
              <a:avLst/>
              <a:gdLst/>
              <a:ahLst/>
              <a:cxnLst/>
              <a:rect l="l" t="t" r="r" b="b"/>
              <a:pathLst>
                <a:path w="8" h="1" extrusionOk="0">
                  <a:moveTo>
                    <a:pt x="8" y="0"/>
                  </a:moveTo>
                  <a:lnTo>
                    <a:pt x="8" y="0"/>
                  </a:lnTo>
                  <a:lnTo>
                    <a:pt x="0" y="1"/>
                  </a:lnTo>
                  <a:lnTo>
                    <a:pt x="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6" name="Google Shape;296;p4"/>
            <p:cNvSpPr/>
            <p:nvPr/>
          </p:nvSpPr>
          <p:spPr>
            <a:xfrm>
              <a:off x="9794875" y="2830513"/>
              <a:ext cx="90488" cy="1587"/>
            </a:xfrm>
            <a:custGeom>
              <a:avLst/>
              <a:gdLst/>
              <a:ahLst/>
              <a:cxnLst/>
              <a:rect l="l" t="t" r="r" b="b"/>
              <a:pathLst>
                <a:path w="47" h="1" extrusionOk="0">
                  <a:moveTo>
                    <a:pt x="0" y="0"/>
                  </a:moveTo>
                  <a:lnTo>
                    <a:pt x="0" y="0"/>
                  </a:lnTo>
                  <a:lnTo>
                    <a:pt x="32" y="1"/>
                  </a:lnTo>
                  <a:lnTo>
                    <a:pt x="47"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7" name="Google Shape;297;p4"/>
            <p:cNvSpPr/>
            <p:nvPr/>
          </p:nvSpPr>
          <p:spPr>
            <a:xfrm>
              <a:off x="9232900" y="2795588"/>
              <a:ext cx="84138" cy="3175"/>
            </a:xfrm>
            <a:custGeom>
              <a:avLst/>
              <a:gdLst/>
              <a:ahLst/>
              <a:cxnLst/>
              <a:rect l="l" t="t" r="r" b="b"/>
              <a:pathLst>
                <a:path w="44" h="1" extrusionOk="0">
                  <a:moveTo>
                    <a:pt x="16" y="1"/>
                  </a:moveTo>
                  <a:lnTo>
                    <a:pt x="16" y="1"/>
                  </a:lnTo>
                  <a:lnTo>
                    <a:pt x="44" y="1"/>
                  </a:lnTo>
                  <a:cubicBezTo>
                    <a:pt x="39" y="1"/>
                    <a:pt x="0" y="0"/>
                    <a:pt x="16"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8" name="Google Shape;298;p4"/>
            <p:cNvSpPr/>
            <p:nvPr/>
          </p:nvSpPr>
          <p:spPr>
            <a:xfrm>
              <a:off x="8158163" y="2725738"/>
              <a:ext cx="71438" cy="3175"/>
            </a:xfrm>
            <a:custGeom>
              <a:avLst/>
              <a:gdLst/>
              <a:ahLst/>
              <a:cxnLst/>
              <a:rect l="l" t="t" r="r" b="b"/>
              <a:pathLst>
                <a:path w="37" h="1" extrusionOk="0">
                  <a:moveTo>
                    <a:pt x="34" y="0"/>
                  </a:moveTo>
                  <a:lnTo>
                    <a:pt x="34" y="0"/>
                  </a:lnTo>
                  <a:lnTo>
                    <a:pt x="0" y="1"/>
                  </a:lnTo>
                  <a:lnTo>
                    <a:pt x="3" y="1"/>
                  </a:lnTo>
                  <a:lnTo>
                    <a:pt x="37" y="0"/>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9" name="Google Shape;299;p4"/>
            <p:cNvSpPr/>
            <p:nvPr/>
          </p:nvSpPr>
          <p:spPr>
            <a:xfrm>
              <a:off x="8734425" y="2814638"/>
              <a:ext cx="144463" cy="3175"/>
            </a:xfrm>
            <a:custGeom>
              <a:avLst/>
              <a:gdLst/>
              <a:ahLst/>
              <a:cxnLst/>
              <a:rect l="l" t="t" r="r" b="b"/>
              <a:pathLst>
                <a:path w="76" h="2" extrusionOk="0">
                  <a:moveTo>
                    <a:pt x="56" y="0"/>
                  </a:moveTo>
                  <a:lnTo>
                    <a:pt x="56" y="0"/>
                  </a:lnTo>
                  <a:cubicBezTo>
                    <a:pt x="76" y="2"/>
                    <a:pt x="0" y="0"/>
                    <a:pt x="40" y="2"/>
                  </a:cubicBezTo>
                  <a:cubicBezTo>
                    <a:pt x="76" y="2"/>
                    <a:pt x="61" y="1"/>
                    <a:pt x="5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0" name="Google Shape;300;p4"/>
            <p:cNvSpPr/>
            <p:nvPr/>
          </p:nvSpPr>
          <p:spPr>
            <a:xfrm>
              <a:off x="8023225" y="2782888"/>
              <a:ext cx="26988" cy="1587"/>
            </a:xfrm>
            <a:custGeom>
              <a:avLst/>
              <a:gdLst/>
              <a:ahLst/>
              <a:cxnLst/>
              <a:rect l="l" t="t" r="r" b="b"/>
              <a:pathLst>
                <a:path w="14" h="1" extrusionOk="0">
                  <a:moveTo>
                    <a:pt x="14" y="0"/>
                  </a:moveTo>
                  <a:lnTo>
                    <a:pt x="14" y="0"/>
                  </a:lnTo>
                  <a:cubicBezTo>
                    <a:pt x="9" y="0"/>
                    <a:pt x="5" y="0"/>
                    <a:pt x="0" y="1"/>
                  </a:cubicBezTo>
                  <a:lnTo>
                    <a:pt x="1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1" name="Google Shape;301;p4"/>
            <p:cNvSpPr/>
            <p:nvPr/>
          </p:nvSpPr>
          <p:spPr>
            <a:xfrm>
              <a:off x="8050213" y="2782888"/>
              <a:ext cx="77788" cy="1587"/>
            </a:xfrm>
            <a:custGeom>
              <a:avLst/>
              <a:gdLst/>
              <a:ahLst/>
              <a:cxnLst/>
              <a:rect l="l" t="t" r="r" b="b"/>
              <a:pathLst>
                <a:path w="40" h="1" extrusionOk="0">
                  <a:moveTo>
                    <a:pt x="0" y="0"/>
                  </a:moveTo>
                  <a:lnTo>
                    <a:pt x="0" y="0"/>
                  </a:lnTo>
                  <a:cubicBezTo>
                    <a:pt x="15" y="0"/>
                    <a:pt x="30" y="1"/>
                    <a:pt x="40" y="1"/>
                  </a:cubicBezTo>
                  <a:cubicBezTo>
                    <a:pt x="21" y="0"/>
                    <a:pt x="15"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2" name="Google Shape;302;p4"/>
            <p:cNvSpPr/>
            <p:nvPr/>
          </p:nvSpPr>
          <p:spPr>
            <a:xfrm>
              <a:off x="7715250" y="2779713"/>
              <a:ext cx="90488" cy="7937"/>
            </a:xfrm>
            <a:custGeom>
              <a:avLst/>
              <a:gdLst/>
              <a:ahLst/>
              <a:cxnLst/>
              <a:rect l="l" t="t" r="r" b="b"/>
              <a:pathLst>
                <a:path w="47" h="3" extrusionOk="0">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3" name="Google Shape;303;p4"/>
            <p:cNvSpPr/>
            <p:nvPr/>
          </p:nvSpPr>
          <p:spPr>
            <a:xfrm>
              <a:off x="6508750" y="2713038"/>
              <a:ext cx="247650" cy="6350"/>
            </a:xfrm>
            <a:custGeom>
              <a:avLst/>
              <a:gdLst/>
              <a:ahLst/>
              <a:cxnLst/>
              <a:rect l="l" t="t" r="r" b="b"/>
              <a:pathLst>
                <a:path w="129" h="3" extrusionOk="0">
                  <a:moveTo>
                    <a:pt x="0" y="0"/>
                  </a:moveTo>
                  <a:lnTo>
                    <a:pt x="0" y="0"/>
                  </a:lnTo>
                  <a:cubicBezTo>
                    <a:pt x="50" y="1"/>
                    <a:pt x="63" y="1"/>
                    <a:pt x="60" y="2"/>
                  </a:cubicBezTo>
                  <a:cubicBezTo>
                    <a:pt x="108" y="3"/>
                    <a:pt x="100" y="0"/>
                    <a:pt x="129"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4" name="Google Shape;304;p4"/>
            <p:cNvSpPr/>
            <p:nvPr/>
          </p:nvSpPr>
          <p:spPr>
            <a:xfrm>
              <a:off x="6756400" y="2713038"/>
              <a:ext cx="33338" cy="0"/>
            </a:xfrm>
            <a:custGeom>
              <a:avLst/>
              <a:gdLst/>
              <a:ahLst/>
              <a:cxnLst/>
              <a:rect l="l" t="t" r="r" b="b"/>
              <a:pathLst>
                <a:path w="18" h="120000" extrusionOk="0">
                  <a:moveTo>
                    <a:pt x="0" y="0"/>
                  </a:moveTo>
                  <a:lnTo>
                    <a:pt x="0" y="0"/>
                  </a:lnTo>
                  <a:lnTo>
                    <a:pt x="18"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5" name="Google Shape;305;p4"/>
            <p:cNvSpPr/>
            <p:nvPr/>
          </p:nvSpPr>
          <p:spPr>
            <a:xfrm>
              <a:off x="8047038" y="2820988"/>
              <a:ext cx="58738" cy="4762"/>
            </a:xfrm>
            <a:custGeom>
              <a:avLst/>
              <a:gdLst/>
              <a:ahLst/>
              <a:cxnLst/>
              <a:rect l="l" t="t" r="r" b="b"/>
              <a:pathLst>
                <a:path w="31" h="2" extrusionOk="0">
                  <a:moveTo>
                    <a:pt x="31" y="0"/>
                  </a:moveTo>
                  <a:lnTo>
                    <a:pt x="31" y="0"/>
                  </a:lnTo>
                  <a:lnTo>
                    <a:pt x="0" y="2"/>
                  </a:lnTo>
                  <a:lnTo>
                    <a:pt x="11" y="2"/>
                  </a:lnTo>
                  <a:lnTo>
                    <a:pt x="3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6" name="Google Shape;306;p4"/>
            <p:cNvSpPr/>
            <p:nvPr/>
          </p:nvSpPr>
          <p:spPr>
            <a:xfrm>
              <a:off x="6348413" y="2711451"/>
              <a:ext cx="82550" cy="1587"/>
            </a:xfrm>
            <a:custGeom>
              <a:avLst/>
              <a:gdLst/>
              <a:ahLst/>
              <a:cxnLst/>
              <a:rect l="l" t="t" r="r" b="b"/>
              <a:pathLst>
                <a:path w="43" h="1" extrusionOk="0">
                  <a:moveTo>
                    <a:pt x="9" y="1"/>
                  </a:moveTo>
                  <a:lnTo>
                    <a:pt x="9" y="1"/>
                  </a:lnTo>
                  <a:cubicBezTo>
                    <a:pt x="18" y="1"/>
                    <a:pt x="33" y="1"/>
                    <a:pt x="41" y="1"/>
                  </a:cubicBezTo>
                  <a:cubicBezTo>
                    <a:pt x="43" y="0"/>
                    <a:pt x="0" y="1"/>
                    <a:pt x="9"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7" name="Google Shape;307;p4"/>
            <p:cNvSpPr/>
            <p:nvPr/>
          </p:nvSpPr>
          <p:spPr>
            <a:xfrm>
              <a:off x="6734175" y="2771775"/>
              <a:ext cx="96838" cy="6350"/>
            </a:xfrm>
            <a:custGeom>
              <a:avLst/>
              <a:gdLst/>
              <a:ahLst/>
              <a:cxnLst/>
              <a:rect l="l" t="t" r="r" b="b"/>
              <a:pathLst>
                <a:path w="50" h="3" extrusionOk="0">
                  <a:moveTo>
                    <a:pt x="0" y="2"/>
                  </a:moveTo>
                  <a:lnTo>
                    <a:pt x="0" y="2"/>
                  </a:lnTo>
                  <a:cubicBezTo>
                    <a:pt x="6" y="3"/>
                    <a:pt x="37" y="2"/>
                    <a:pt x="50" y="3"/>
                  </a:cubicBezTo>
                  <a:cubicBezTo>
                    <a:pt x="32" y="2"/>
                    <a:pt x="17"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8" name="Google Shape;308;p4"/>
            <p:cNvSpPr/>
            <p:nvPr/>
          </p:nvSpPr>
          <p:spPr>
            <a:xfrm>
              <a:off x="6091238" y="2722563"/>
              <a:ext cx="95250" cy="7937"/>
            </a:xfrm>
            <a:custGeom>
              <a:avLst/>
              <a:gdLst/>
              <a:ahLst/>
              <a:cxnLst/>
              <a:rect l="l" t="t" r="r" b="b"/>
              <a:pathLst>
                <a:path w="49" h="4" extrusionOk="0">
                  <a:moveTo>
                    <a:pt x="0" y="1"/>
                  </a:moveTo>
                  <a:lnTo>
                    <a:pt x="0" y="1"/>
                  </a:lnTo>
                  <a:cubicBezTo>
                    <a:pt x="10" y="2"/>
                    <a:pt x="24" y="2"/>
                    <a:pt x="18" y="4"/>
                  </a:cubicBezTo>
                  <a:cubicBezTo>
                    <a:pt x="31" y="3"/>
                    <a:pt x="4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9" name="Google Shape;309;p4"/>
            <p:cNvSpPr/>
            <p:nvPr/>
          </p:nvSpPr>
          <p:spPr>
            <a:xfrm>
              <a:off x="6559550" y="2773363"/>
              <a:ext cx="80963" cy="3175"/>
            </a:xfrm>
            <a:custGeom>
              <a:avLst/>
              <a:gdLst/>
              <a:ahLst/>
              <a:cxnLst/>
              <a:rect l="l" t="t" r="r" b="b"/>
              <a:pathLst>
                <a:path w="42" h="1" extrusionOk="0">
                  <a:moveTo>
                    <a:pt x="0" y="1"/>
                  </a:moveTo>
                  <a:lnTo>
                    <a:pt x="0" y="1"/>
                  </a:lnTo>
                  <a:lnTo>
                    <a:pt x="8" y="1"/>
                  </a:lnTo>
                  <a:lnTo>
                    <a:pt x="42"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0" name="Google Shape;310;p4"/>
            <p:cNvSpPr/>
            <p:nvPr/>
          </p:nvSpPr>
          <p:spPr>
            <a:xfrm>
              <a:off x="6640513" y="2806700"/>
              <a:ext cx="227013" cy="15875"/>
            </a:xfrm>
            <a:custGeom>
              <a:avLst/>
              <a:gdLst/>
              <a:ahLst/>
              <a:cxnLst/>
              <a:rect l="l" t="t" r="r" b="b"/>
              <a:pathLst>
                <a:path w="118" h="7" extrusionOk="0">
                  <a:moveTo>
                    <a:pt x="80" y="7"/>
                  </a:moveTo>
                  <a:lnTo>
                    <a:pt x="80" y="7"/>
                  </a:lnTo>
                  <a:cubicBezTo>
                    <a:pt x="118" y="5"/>
                    <a:pt x="19" y="3"/>
                    <a:pt x="85" y="1"/>
                  </a:cubicBezTo>
                  <a:cubicBezTo>
                    <a:pt x="0" y="0"/>
                    <a:pt x="92" y="4"/>
                    <a:pt x="29" y="4"/>
                  </a:cubicBezTo>
                  <a:cubicBezTo>
                    <a:pt x="66" y="4"/>
                    <a:pt x="84" y="6"/>
                    <a:pt x="80"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1" name="Google Shape;311;p4"/>
            <p:cNvSpPr/>
            <p:nvPr/>
          </p:nvSpPr>
          <p:spPr>
            <a:xfrm>
              <a:off x="6661150" y="2814638"/>
              <a:ext cx="34925" cy="1587"/>
            </a:xfrm>
            <a:custGeom>
              <a:avLst/>
              <a:gdLst/>
              <a:ahLst/>
              <a:cxnLst/>
              <a:rect l="l" t="t" r="r" b="b"/>
              <a:pathLst>
                <a:path w="18" h="1" extrusionOk="0">
                  <a:moveTo>
                    <a:pt x="18" y="1"/>
                  </a:moveTo>
                  <a:lnTo>
                    <a:pt x="18" y="1"/>
                  </a:lnTo>
                  <a:lnTo>
                    <a:pt x="0" y="0"/>
                  </a:lnTo>
                  <a:lnTo>
                    <a:pt x="18"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2" name="Google Shape;312;p4"/>
            <p:cNvSpPr/>
            <p:nvPr/>
          </p:nvSpPr>
          <p:spPr>
            <a:xfrm>
              <a:off x="5661025" y="2789238"/>
              <a:ext cx="23813" cy="1587"/>
            </a:xfrm>
            <a:custGeom>
              <a:avLst/>
              <a:gdLst/>
              <a:ahLst/>
              <a:cxnLst/>
              <a:rect l="l" t="t" r="r" b="b"/>
              <a:pathLst>
                <a:path w="13" h="1" extrusionOk="0">
                  <a:moveTo>
                    <a:pt x="0" y="1"/>
                  </a:moveTo>
                  <a:lnTo>
                    <a:pt x="0" y="1"/>
                  </a:lnTo>
                  <a:lnTo>
                    <a:pt x="13"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3" name="Google Shape;313;p4"/>
            <p:cNvSpPr/>
            <p:nvPr/>
          </p:nvSpPr>
          <p:spPr>
            <a:xfrm>
              <a:off x="6162675" y="2814638"/>
              <a:ext cx="258763" cy="7937"/>
            </a:xfrm>
            <a:custGeom>
              <a:avLst/>
              <a:gdLst/>
              <a:ahLst/>
              <a:cxnLst/>
              <a:rect l="l" t="t" r="r" b="b"/>
              <a:pathLst>
                <a:path w="135" h="4" extrusionOk="0">
                  <a:moveTo>
                    <a:pt x="77" y="2"/>
                  </a:moveTo>
                  <a:lnTo>
                    <a:pt x="77" y="2"/>
                  </a:lnTo>
                  <a:lnTo>
                    <a:pt x="135" y="0"/>
                  </a:lnTo>
                  <a:cubicBezTo>
                    <a:pt x="96" y="1"/>
                    <a:pt x="0" y="1"/>
                    <a:pt x="6" y="4"/>
                  </a:cubicBezTo>
                  <a:cubicBezTo>
                    <a:pt x="37" y="4"/>
                    <a:pt x="75" y="4"/>
                    <a:pt x="90" y="3"/>
                  </a:cubicBezTo>
                  <a:lnTo>
                    <a:pt x="77"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4" name="Google Shape;314;p4"/>
            <p:cNvSpPr/>
            <p:nvPr/>
          </p:nvSpPr>
          <p:spPr>
            <a:xfrm>
              <a:off x="5019675" y="2713038"/>
              <a:ext cx="73025" cy="4762"/>
            </a:xfrm>
            <a:custGeom>
              <a:avLst/>
              <a:gdLst/>
              <a:ahLst/>
              <a:cxnLst/>
              <a:rect l="l" t="t" r="r" b="b"/>
              <a:pathLst>
                <a:path w="38" h="2" extrusionOk="0">
                  <a:moveTo>
                    <a:pt x="13" y="1"/>
                  </a:moveTo>
                  <a:lnTo>
                    <a:pt x="13" y="1"/>
                  </a:lnTo>
                  <a:lnTo>
                    <a:pt x="38" y="0"/>
                  </a:lnTo>
                  <a:lnTo>
                    <a:pt x="7" y="0"/>
                  </a:lnTo>
                  <a:cubicBezTo>
                    <a:pt x="16" y="0"/>
                    <a:pt x="0" y="2"/>
                    <a:pt x="1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5" name="Google Shape;315;p4"/>
            <p:cNvSpPr/>
            <p:nvPr/>
          </p:nvSpPr>
          <p:spPr>
            <a:xfrm>
              <a:off x="5021263" y="2713038"/>
              <a:ext cx="11113" cy="0"/>
            </a:xfrm>
            <a:custGeom>
              <a:avLst/>
              <a:gdLst/>
              <a:ahLst/>
              <a:cxnLst/>
              <a:rect l="l" t="t" r="r" b="b"/>
              <a:pathLst>
                <a:path w="6" h="120000" extrusionOk="0">
                  <a:moveTo>
                    <a:pt x="0" y="0"/>
                  </a:moveTo>
                  <a:lnTo>
                    <a:pt x="0" y="0"/>
                  </a:ln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6" name="Google Shape;316;p4"/>
            <p:cNvSpPr/>
            <p:nvPr/>
          </p:nvSpPr>
          <p:spPr>
            <a:xfrm>
              <a:off x="5864225" y="2784475"/>
              <a:ext cx="101600" cy="4762"/>
            </a:xfrm>
            <a:custGeom>
              <a:avLst/>
              <a:gdLst/>
              <a:ahLst/>
              <a:cxnLst/>
              <a:rect l="l" t="t" r="r" b="b"/>
              <a:pathLst>
                <a:path w="53" h="2" extrusionOk="0">
                  <a:moveTo>
                    <a:pt x="3" y="2"/>
                  </a:moveTo>
                  <a:lnTo>
                    <a:pt x="3" y="2"/>
                  </a:lnTo>
                  <a:cubicBezTo>
                    <a:pt x="21" y="2"/>
                    <a:pt x="36" y="2"/>
                    <a:pt x="53" y="1"/>
                  </a:cubicBezTo>
                  <a:cubicBezTo>
                    <a:pt x="46" y="1"/>
                    <a:pt x="0" y="0"/>
                    <a:pt x="3"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7" name="Google Shape;317;p4"/>
            <p:cNvSpPr/>
            <p:nvPr/>
          </p:nvSpPr>
          <p:spPr>
            <a:xfrm>
              <a:off x="4703763" y="2722563"/>
              <a:ext cx="84138" cy="1587"/>
            </a:xfrm>
            <a:custGeom>
              <a:avLst/>
              <a:gdLst/>
              <a:ahLst/>
              <a:cxnLst/>
              <a:rect l="l" t="t" r="r" b="b"/>
              <a:pathLst>
                <a:path w="44" h="1" extrusionOk="0">
                  <a:moveTo>
                    <a:pt x="3" y="1"/>
                  </a:moveTo>
                  <a:lnTo>
                    <a:pt x="3" y="1"/>
                  </a:lnTo>
                  <a:lnTo>
                    <a:pt x="44" y="0"/>
                  </a:lnTo>
                  <a:lnTo>
                    <a:pt x="0" y="0"/>
                  </a:lnTo>
                  <a:lnTo>
                    <a:pt x="3"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8" name="Google Shape;318;p4"/>
            <p:cNvSpPr/>
            <p:nvPr/>
          </p:nvSpPr>
          <p:spPr>
            <a:xfrm>
              <a:off x="4264025" y="2713038"/>
              <a:ext cx="77788" cy="4762"/>
            </a:xfrm>
            <a:custGeom>
              <a:avLst/>
              <a:gdLst/>
              <a:ahLst/>
              <a:cxnLst/>
              <a:rect l="l" t="t" r="r" b="b"/>
              <a:pathLst>
                <a:path w="41" h="2" extrusionOk="0">
                  <a:moveTo>
                    <a:pt x="41" y="1"/>
                  </a:moveTo>
                  <a:lnTo>
                    <a:pt x="41" y="1"/>
                  </a:lnTo>
                  <a:lnTo>
                    <a:pt x="34" y="0"/>
                  </a:lnTo>
                  <a:lnTo>
                    <a:pt x="0" y="1"/>
                  </a:lnTo>
                  <a:lnTo>
                    <a:pt x="7" y="2"/>
                  </a:lnTo>
                  <a:lnTo>
                    <a:pt x="4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9" name="Google Shape;319;p4"/>
            <p:cNvSpPr/>
            <p:nvPr/>
          </p:nvSpPr>
          <p:spPr>
            <a:xfrm>
              <a:off x="4800600" y="2822575"/>
              <a:ext cx="117475" cy="7937"/>
            </a:xfrm>
            <a:custGeom>
              <a:avLst/>
              <a:gdLst/>
              <a:ahLst/>
              <a:cxnLst/>
              <a:rect l="l" t="t" r="r" b="b"/>
              <a:pathLst>
                <a:path w="61" h="3" extrusionOk="0">
                  <a:moveTo>
                    <a:pt x="11" y="2"/>
                  </a:moveTo>
                  <a:lnTo>
                    <a:pt x="11" y="2"/>
                  </a:lnTo>
                  <a:cubicBezTo>
                    <a:pt x="39" y="3"/>
                    <a:pt x="61" y="0"/>
                    <a:pt x="54" y="0"/>
                  </a:cubicBezTo>
                  <a:lnTo>
                    <a:pt x="0" y="0"/>
                  </a:lnTo>
                  <a:cubicBezTo>
                    <a:pt x="13" y="2"/>
                    <a:pt x="15" y="0"/>
                    <a:pt x="46" y="0"/>
                  </a:cubicBezTo>
                  <a:lnTo>
                    <a:pt x="11"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0" name="Google Shape;320;p4"/>
            <p:cNvSpPr/>
            <p:nvPr/>
          </p:nvSpPr>
          <p:spPr>
            <a:xfrm>
              <a:off x="187325" y="2714625"/>
              <a:ext cx="1925638" cy="31750"/>
            </a:xfrm>
            <a:custGeom>
              <a:avLst/>
              <a:gdLst/>
              <a:ahLst/>
              <a:cxnLst/>
              <a:rect l="l" t="t" r="r" b="b"/>
              <a:pathLst>
                <a:path w="1004" h="14" extrusionOk="0">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1" name="Google Shape;321;p4"/>
            <p:cNvSpPr/>
            <p:nvPr/>
          </p:nvSpPr>
          <p:spPr>
            <a:xfrm>
              <a:off x="1947862" y="2735263"/>
              <a:ext cx="47625" cy="0"/>
            </a:xfrm>
            <a:custGeom>
              <a:avLst/>
              <a:gdLst/>
              <a:ahLst/>
              <a:cxnLst/>
              <a:rect l="l" t="t" r="r" b="b"/>
              <a:pathLst>
                <a:path w="25" h="120000" extrusionOk="0">
                  <a:moveTo>
                    <a:pt x="0" y="0"/>
                  </a:moveTo>
                  <a:lnTo>
                    <a:pt x="0" y="0"/>
                  </a:lnTo>
                  <a:lnTo>
                    <a:pt x="2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2" name="Google Shape;322;p4"/>
            <p:cNvSpPr/>
            <p:nvPr/>
          </p:nvSpPr>
          <p:spPr>
            <a:xfrm>
              <a:off x="112712" y="2724150"/>
              <a:ext cx="74613" cy="0"/>
            </a:xfrm>
            <a:custGeom>
              <a:avLst/>
              <a:gdLst/>
              <a:ahLst/>
              <a:cxnLst/>
              <a:rect l="l" t="t" r="r" b="b"/>
              <a:pathLst>
                <a:path w="39" h="120000" extrusionOk="0">
                  <a:moveTo>
                    <a:pt x="0" y="0"/>
                  </a:moveTo>
                  <a:lnTo>
                    <a:pt x="0" y="0"/>
                  </a:lnTo>
                  <a:lnTo>
                    <a:pt x="39" y="0"/>
                  </a:lnTo>
                  <a:cubicBezTo>
                    <a:pt x="27" y="0"/>
                    <a:pt x="14"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3" name="Google Shape;323;p4"/>
            <p:cNvSpPr/>
            <p:nvPr/>
          </p:nvSpPr>
          <p:spPr>
            <a:xfrm>
              <a:off x="2187575" y="2717800"/>
              <a:ext cx="176213" cy="6350"/>
            </a:xfrm>
            <a:custGeom>
              <a:avLst/>
              <a:gdLst/>
              <a:ahLst/>
              <a:cxnLst/>
              <a:rect l="l" t="t" r="r" b="b"/>
              <a:pathLst>
                <a:path w="92" h="3" extrusionOk="0">
                  <a:moveTo>
                    <a:pt x="71" y="3"/>
                  </a:moveTo>
                  <a:lnTo>
                    <a:pt x="71" y="3"/>
                  </a:lnTo>
                  <a:cubicBezTo>
                    <a:pt x="47" y="2"/>
                    <a:pt x="88" y="1"/>
                    <a:pt x="92" y="0"/>
                  </a:cubicBezTo>
                  <a:lnTo>
                    <a:pt x="8" y="1"/>
                  </a:lnTo>
                  <a:cubicBezTo>
                    <a:pt x="8" y="1"/>
                    <a:pt x="0" y="2"/>
                    <a:pt x="2" y="3"/>
                  </a:cubicBezTo>
                  <a:lnTo>
                    <a:pt x="71"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4" name="Google Shape;324;p4"/>
            <p:cNvSpPr/>
            <p:nvPr/>
          </p:nvSpPr>
          <p:spPr>
            <a:xfrm>
              <a:off x="2112962" y="2714625"/>
              <a:ext cx="90488" cy="4762"/>
            </a:xfrm>
            <a:custGeom>
              <a:avLst/>
              <a:gdLst/>
              <a:ahLst/>
              <a:cxnLst/>
              <a:rect l="l" t="t" r="r" b="b"/>
              <a:pathLst>
                <a:path w="47" h="2" extrusionOk="0">
                  <a:moveTo>
                    <a:pt x="22" y="0"/>
                  </a:moveTo>
                  <a:lnTo>
                    <a:pt x="22" y="0"/>
                  </a:lnTo>
                  <a:cubicBezTo>
                    <a:pt x="19" y="1"/>
                    <a:pt x="11" y="1"/>
                    <a:pt x="0" y="2"/>
                  </a:cubicBezTo>
                  <a:lnTo>
                    <a:pt x="47" y="2"/>
                  </a:lnTo>
                  <a:cubicBezTo>
                    <a:pt x="47" y="1"/>
                    <a:pt x="41" y="0"/>
                    <a:pt x="2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5" name="Google Shape;325;p4"/>
            <p:cNvSpPr/>
            <p:nvPr/>
          </p:nvSpPr>
          <p:spPr>
            <a:xfrm>
              <a:off x="2101850" y="2811463"/>
              <a:ext cx="71438" cy="3175"/>
            </a:xfrm>
            <a:custGeom>
              <a:avLst/>
              <a:gdLst/>
              <a:ahLst/>
              <a:cxnLst/>
              <a:rect l="l" t="t" r="r" b="b"/>
              <a:pathLst>
                <a:path w="37" h="1" extrusionOk="0">
                  <a:moveTo>
                    <a:pt x="37" y="0"/>
                  </a:moveTo>
                  <a:lnTo>
                    <a:pt x="37" y="0"/>
                  </a:lnTo>
                  <a:lnTo>
                    <a:pt x="22" y="1"/>
                  </a:lnTo>
                  <a:lnTo>
                    <a:pt x="0" y="1"/>
                  </a:lnTo>
                  <a:lnTo>
                    <a:pt x="3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6" name="Google Shape;326;p4"/>
            <p:cNvSpPr/>
            <p:nvPr/>
          </p:nvSpPr>
          <p:spPr>
            <a:xfrm>
              <a:off x="1724025" y="2805113"/>
              <a:ext cx="120650" cy="4762"/>
            </a:xfrm>
            <a:custGeom>
              <a:avLst/>
              <a:gdLst/>
              <a:ahLst/>
              <a:cxnLst/>
              <a:rect l="l" t="t" r="r" b="b"/>
              <a:pathLst>
                <a:path w="63" h="2" extrusionOk="0">
                  <a:moveTo>
                    <a:pt x="0" y="0"/>
                  </a:moveTo>
                  <a:lnTo>
                    <a:pt x="0" y="0"/>
                  </a:lnTo>
                  <a:cubicBezTo>
                    <a:pt x="18" y="2"/>
                    <a:pt x="52" y="1"/>
                    <a:pt x="63" y="0"/>
                  </a:cubicBezTo>
                  <a:cubicBezTo>
                    <a:pt x="24" y="0"/>
                    <a:pt x="41"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7" name="Google Shape;327;p4"/>
            <p:cNvSpPr/>
            <p:nvPr/>
          </p:nvSpPr>
          <p:spPr>
            <a:xfrm>
              <a:off x="1744662" y="2833688"/>
              <a:ext cx="73025" cy="3175"/>
            </a:xfrm>
            <a:custGeom>
              <a:avLst/>
              <a:gdLst/>
              <a:ahLst/>
              <a:cxnLst/>
              <a:rect l="l" t="t" r="r" b="b"/>
              <a:pathLst>
                <a:path w="38" h="1" extrusionOk="0">
                  <a:moveTo>
                    <a:pt x="38" y="0"/>
                  </a:moveTo>
                  <a:lnTo>
                    <a:pt x="38" y="0"/>
                  </a:lnTo>
                  <a:lnTo>
                    <a:pt x="0" y="1"/>
                  </a:lnTo>
                  <a:lnTo>
                    <a:pt x="3" y="1"/>
                  </a:lnTo>
                  <a:lnTo>
                    <a:pt x="3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8" name="Google Shape;328;p4"/>
            <p:cNvSpPr/>
            <p:nvPr/>
          </p:nvSpPr>
          <p:spPr>
            <a:xfrm>
              <a:off x="-474663" y="2741613"/>
              <a:ext cx="34925" cy="0"/>
            </a:xfrm>
            <a:custGeom>
              <a:avLst/>
              <a:gdLst/>
              <a:ahLst/>
              <a:cxnLst/>
              <a:rect l="l" t="t" r="r" b="b"/>
              <a:pathLst>
                <a:path w="18" h="120000" extrusionOk="0">
                  <a:moveTo>
                    <a:pt x="18" y="0"/>
                  </a:moveTo>
                  <a:lnTo>
                    <a:pt x="18" y="0"/>
                  </a:lnTo>
                  <a:lnTo>
                    <a:pt x="0" y="0"/>
                  </a:lnTo>
                  <a:lnTo>
                    <a:pt x="1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9" name="Google Shape;329;p4"/>
            <p:cNvSpPr/>
            <p:nvPr/>
          </p:nvSpPr>
          <p:spPr>
            <a:xfrm>
              <a:off x="-947738" y="2725738"/>
              <a:ext cx="1239838" cy="19050"/>
            </a:xfrm>
            <a:custGeom>
              <a:avLst/>
              <a:gdLst/>
              <a:ahLst/>
              <a:cxnLst/>
              <a:rect l="l" t="t" r="r" b="b"/>
              <a:pathLst>
                <a:path w="647" h="8" extrusionOk="0">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0" name="Google Shape;330;p4"/>
            <p:cNvSpPr/>
            <p:nvPr/>
          </p:nvSpPr>
          <p:spPr>
            <a:xfrm>
              <a:off x="-1944688" y="2741613"/>
              <a:ext cx="4763" cy="0"/>
            </a:xfrm>
            <a:custGeom>
              <a:avLst/>
              <a:gdLst/>
              <a:ahLst/>
              <a:cxnLst/>
              <a:rect l="l" t="t" r="r" b="b"/>
              <a:pathLst>
                <a:path w="2" h="120000" extrusionOk="0">
                  <a:moveTo>
                    <a:pt x="1" y="0"/>
                  </a:moveTo>
                  <a:lnTo>
                    <a:pt x="1" y="0"/>
                  </a:lnTo>
                  <a:lnTo>
                    <a:pt x="2" y="0"/>
                  </a:lnTo>
                  <a:cubicBezTo>
                    <a:pt x="0" y="0"/>
                    <a:pt x="0"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1" name="Google Shape;331;p4"/>
            <p:cNvSpPr/>
            <p:nvPr/>
          </p:nvSpPr>
          <p:spPr>
            <a:xfrm>
              <a:off x="-1939925" y="2735263"/>
              <a:ext cx="173038" cy="6350"/>
            </a:xfrm>
            <a:custGeom>
              <a:avLst/>
              <a:gdLst/>
              <a:ahLst/>
              <a:cxnLst/>
              <a:rect l="l" t="t" r="r" b="b"/>
              <a:pathLst>
                <a:path w="90" h="3" extrusionOk="0">
                  <a:moveTo>
                    <a:pt x="36" y="3"/>
                  </a:moveTo>
                  <a:lnTo>
                    <a:pt x="36" y="3"/>
                  </a:lnTo>
                  <a:lnTo>
                    <a:pt x="90" y="0"/>
                  </a:lnTo>
                  <a:lnTo>
                    <a:pt x="6" y="1"/>
                  </a:lnTo>
                  <a:lnTo>
                    <a:pt x="0" y="3"/>
                  </a:lnTo>
                  <a:cubicBezTo>
                    <a:pt x="8" y="2"/>
                    <a:pt x="37" y="1"/>
                    <a:pt x="48" y="2"/>
                  </a:cubicBezTo>
                  <a:lnTo>
                    <a:pt x="36"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2" name="Google Shape;332;p4"/>
            <p:cNvSpPr/>
            <p:nvPr/>
          </p:nvSpPr>
          <p:spPr>
            <a:xfrm>
              <a:off x="-1773238" y="2733675"/>
              <a:ext cx="123825" cy="12700"/>
            </a:xfrm>
            <a:custGeom>
              <a:avLst/>
              <a:gdLst/>
              <a:ahLst/>
              <a:cxnLst/>
              <a:rect l="l" t="t" r="r" b="b"/>
              <a:pathLst>
                <a:path w="65" h="6" extrusionOk="0">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3" name="Google Shape;333;p4"/>
            <p:cNvSpPr/>
            <p:nvPr/>
          </p:nvSpPr>
          <p:spPr>
            <a:xfrm>
              <a:off x="-1057275" y="2735263"/>
              <a:ext cx="57150" cy="3175"/>
            </a:xfrm>
            <a:custGeom>
              <a:avLst/>
              <a:gdLst/>
              <a:ahLst/>
              <a:cxnLst/>
              <a:rect l="l" t="t" r="r" b="b"/>
              <a:pathLst>
                <a:path w="30" h="1" extrusionOk="0">
                  <a:moveTo>
                    <a:pt x="12" y="0"/>
                  </a:moveTo>
                  <a:lnTo>
                    <a:pt x="12" y="0"/>
                  </a:lnTo>
                  <a:lnTo>
                    <a:pt x="0" y="1"/>
                  </a:lnTo>
                  <a:lnTo>
                    <a:pt x="3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4" name="Google Shape;334;p4"/>
            <p:cNvSpPr/>
            <p:nvPr/>
          </p:nvSpPr>
          <p:spPr>
            <a:xfrm>
              <a:off x="-1116013" y="2738438"/>
              <a:ext cx="58738" cy="3175"/>
            </a:xfrm>
            <a:custGeom>
              <a:avLst/>
              <a:gdLst/>
              <a:ahLst/>
              <a:cxnLst/>
              <a:rect l="l" t="t" r="r" b="b"/>
              <a:pathLst>
                <a:path w="30" h="2" extrusionOk="0">
                  <a:moveTo>
                    <a:pt x="30" y="0"/>
                  </a:moveTo>
                  <a:lnTo>
                    <a:pt x="30" y="0"/>
                  </a:lnTo>
                  <a:lnTo>
                    <a:pt x="0" y="0"/>
                  </a:lnTo>
                  <a:cubicBezTo>
                    <a:pt x="2" y="0"/>
                    <a:pt x="4" y="1"/>
                    <a:pt x="9" y="2"/>
                  </a:cubicBezTo>
                  <a:lnTo>
                    <a:pt x="3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5" name="Google Shape;335;p4"/>
            <p:cNvSpPr/>
            <p:nvPr/>
          </p:nvSpPr>
          <p:spPr>
            <a:xfrm>
              <a:off x="-1349375" y="2735263"/>
              <a:ext cx="84138" cy="0"/>
            </a:xfrm>
            <a:custGeom>
              <a:avLst/>
              <a:gdLst/>
              <a:ahLst/>
              <a:cxnLst/>
              <a:rect l="l" t="t" r="r" b="b"/>
              <a:pathLst>
                <a:path w="44" h="120000" extrusionOk="0">
                  <a:moveTo>
                    <a:pt x="44" y="0"/>
                  </a:moveTo>
                  <a:lnTo>
                    <a:pt x="44" y="0"/>
                  </a:lnTo>
                  <a:lnTo>
                    <a:pt x="0" y="0"/>
                  </a:lnTo>
                  <a:lnTo>
                    <a:pt x="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6" name="Google Shape;336;p4"/>
            <p:cNvSpPr/>
            <p:nvPr/>
          </p:nvSpPr>
          <p:spPr>
            <a:xfrm>
              <a:off x="-1265238" y="2735263"/>
              <a:ext cx="65088" cy="3175"/>
            </a:xfrm>
            <a:custGeom>
              <a:avLst/>
              <a:gdLst/>
              <a:ahLst/>
              <a:cxnLst/>
              <a:rect l="l" t="t" r="r" b="b"/>
              <a:pathLst>
                <a:path w="34" h="1" extrusionOk="0">
                  <a:moveTo>
                    <a:pt x="34" y="1"/>
                  </a:moveTo>
                  <a:lnTo>
                    <a:pt x="34" y="1"/>
                  </a:lnTo>
                  <a:lnTo>
                    <a:pt x="33" y="0"/>
                  </a:lnTo>
                  <a:lnTo>
                    <a:pt x="0" y="0"/>
                  </a:lnTo>
                  <a:lnTo>
                    <a:pt x="3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7" name="Google Shape;337;p4"/>
            <p:cNvSpPr/>
            <p:nvPr/>
          </p:nvSpPr>
          <p:spPr>
            <a:xfrm>
              <a:off x="-1219200" y="2728913"/>
              <a:ext cx="103188" cy="9525"/>
            </a:xfrm>
            <a:custGeom>
              <a:avLst/>
              <a:gdLst/>
              <a:ahLst/>
              <a:cxnLst/>
              <a:rect l="l" t="t" r="r" b="b"/>
              <a:pathLst>
                <a:path w="54" h="4" extrusionOk="0">
                  <a:moveTo>
                    <a:pt x="54" y="4"/>
                  </a:moveTo>
                  <a:lnTo>
                    <a:pt x="54" y="4"/>
                  </a:lnTo>
                  <a:cubicBezTo>
                    <a:pt x="49" y="2"/>
                    <a:pt x="43" y="0"/>
                    <a:pt x="0" y="1"/>
                  </a:cubicBezTo>
                  <a:lnTo>
                    <a:pt x="9" y="3"/>
                  </a:lnTo>
                  <a:lnTo>
                    <a:pt x="54"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8" name="Google Shape;338;p4"/>
            <p:cNvSpPr/>
            <p:nvPr/>
          </p:nvSpPr>
          <p:spPr>
            <a:xfrm>
              <a:off x="1225550" y="2830513"/>
              <a:ext cx="73025" cy="3175"/>
            </a:xfrm>
            <a:custGeom>
              <a:avLst/>
              <a:gdLst/>
              <a:ahLst/>
              <a:cxnLst/>
              <a:rect l="l" t="t" r="r" b="b"/>
              <a:pathLst>
                <a:path w="38" h="2" extrusionOk="0">
                  <a:moveTo>
                    <a:pt x="34" y="0"/>
                  </a:moveTo>
                  <a:lnTo>
                    <a:pt x="34" y="0"/>
                  </a:lnTo>
                  <a:lnTo>
                    <a:pt x="0" y="1"/>
                  </a:lnTo>
                  <a:lnTo>
                    <a:pt x="4" y="2"/>
                  </a:lnTo>
                  <a:lnTo>
                    <a:pt x="38" y="1"/>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9" name="Google Shape;339;p4"/>
            <p:cNvSpPr/>
            <p:nvPr/>
          </p:nvSpPr>
          <p:spPr>
            <a:xfrm>
              <a:off x="874712" y="2827338"/>
              <a:ext cx="39688" cy="3175"/>
            </a:xfrm>
            <a:custGeom>
              <a:avLst/>
              <a:gdLst/>
              <a:ahLst/>
              <a:cxnLst/>
              <a:rect l="l" t="t" r="r" b="b"/>
              <a:pathLst>
                <a:path w="21" h="1" extrusionOk="0">
                  <a:moveTo>
                    <a:pt x="21" y="0"/>
                  </a:moveTo>
                  <a:lnTo>
                    <a:pt x="21" y="0"/>
                  </a:lnTo>
                  <a:lnTo>
                    <a:pt x="0" y="1"/>
                  </a:lnTo>
                  <a:cubicBezTo>
                    <a:pt x="9" y="1"/>
                    <a:pt x="16" y="1"/>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0" name="Google Shape;340;p4"/>
            <p:cNvSpPr/>
            <p:nvPr/>
          </p:nvSpPr>
          <p:spPr>
            <a:xfrm>
              <a:off x="417512" y="2827338"/>
              <a:ext cx="457200" cy="31750"/>
            </a:xfrm>
            <a:custGeom>
              <a:avLst/>
              <a:gdLst/>
              <a:ahLst/>
              <a:cxnLst/>
              <a:rect l="l" t="t" r="r" b="b"/>
              <a:pathLst>
                <a:path w="238" h="14" extrusionOk="0">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1" name="Google Shape;341;p4"/>
            <p:cNvSpPr/>
            <p:nvPr/>
          </p:nvSpPr>
          <p:spPr>
            <a:xfrm>
              <a:off x="755650" y="2859087"/>
              <a:ext cx="68263" cy="4762"/>
            </a:xfrm>
            <a:custGeom>
              <a:avLst/>
              <a:gdLst/>
              <a:ahLst/>
              <a:cxnLst/>
              <a:rect l="l" t="t" r="r" b="b"/>
              <a:pathLst>
                <a:path w="36" h="2" extrusionOk="0">
                  <a:moveTo>
                    <a:pt x="0" y="1"/>
                  </a:moveTo>
                  <a:lnTo>
                    <a:pt x="0" y="1"/>
                  </a:lnTo>
                  <a:cubicBezTo>
                    <a:pt x="19" y="2"/>
                    <a:pt x="24" y="1"/>
                    <a:pt x="36" y="1"/>
                  </a:cubicBezTo>
                  <a:cubicBezTo>
                    <a:pt x="33" y="0"/>
                    <a:pt x="15"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2" name="Google Shape;342;p4"/>
            <p:cNvSpPr/>
            <p:nvPr/>
          </p:nvSpPr>
          <p:spPr>
            <a:xfrm>
              <a:off x="-133350" y="2798763"/>
              <a:ext cx="111125" cy="4762"/>
            </a:xfrm>
            <a:custGeom>
              <a:avLst/>
              <a:gdLst/>
              <a:ahLst/>
              <a:cxnLst/>
              <a:rect l="l" t="t" r="r" b="b"/>
              <a:pathLst>
                <a:path w="58" h="2" extrusionOk="0">
                  <a:moveTo>
                    <a:pt x="37" y="0"/>
                  </a:moveTo>
                  <a:lnTo>
                    <a:pt x="37" y="0"/>
                  </a:lnTo>
                  <a:cubicBezTo>
                    <a:pt x="34" y="1"/>
                    <a:pt x="0" y="1"/>
                    <a:pt x="7" y="2"/>
                  </a:cubicBezTo>
                  <a:lnTo>
                    <a:pt x="58" y="2"/>
                  </a:lnTo>
                  <a:cubicBezTo>
                    <a:pt x="46" y="2"/>
                    <a:pt x="42" y="1"/>
                    <a:pt x="3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3" name="Google Shape;343;p4"/>
            <p:cNvSpPr/>
            <p:nvPr/>
          </p:nvSpPr>
          <p:spPr>
            <a:xfrm>
              <a:off x="-22225" y="2800350"/>
              <a:ext cx="44450" cy="3175"/>
            </a:xfrm>
            <a:custGeom>
              <a:avLst/>
              <a:gdLst/>
              <a:ahLst/>
              <a:cxnLst/>
              <a:rect l="l" t="t" r="r" b="b"/>
              <a:pathLst>
                <a:path w="23" h="1" extrusionOk="0">
                  <a:moveTo>
                    <a:pt x="23" y="0"/>
                  </a:moveTo>
                  <a:lnTo>
                    <a:pt x="23" y="0"/>
                  </a:lnTo>
                  <a:lnTo>
                    <a:pt x="0" y="1"/>
                  </a:lnTo>
                  <a:cubicBezTo>
                    <a:pt x="6" y="1"/>
                    <a:pt x="13"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4" name="Google Shape;344;p4"/>
            <p:cNvSpPr/>
            <p:nvPr/>
          </p:nvSpPr>
          <p:spPr>
            <a:xfrm>
              <a:off x="-66675" y="2798763"/>
              <a:ext cx="6350" cy="0"/>
            </a:xfrm>
            <a:custGeom>
              <a:avLst/>
              <a:gdLst/>
              <a:ahLst/>
              <a:cxnLst/>
              <a:rect l="l" t="t" r="r" b="b"/>
              <a:pathLst>
                <a:path w="3" h="120000" extrusionOk="0">
                  <a:moveTo>
                    <a:pt x="0" y="0"/>
                  </a:moveTo>
                  <a:lnTo>
                    <a:pt x="0" y="0"/>
                  </a:lnTo>
                  <a:lnTo>
                    <a:pt x="2" y="0"/>
                  </a:lnTo>
                  <a:cubicBezTo>
                    <a:pt x="3" y="0"/>
                    <a:pt x="3"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5" name="Google Shape;345;p4"/>
            <p:cNvSpPr/>
            <p:nvPr/>
          </p:nvSpPr>
          <p:spPr>
            <a:xfrm>
              <a:off x="-1566863" y="2730500"/>
              <a:ext cx="65088" cy="3175"/>
            </a:xfrm>
            <a:custGeom>
              <a:avLst/>
              <a:gdLst/>
              <a:ahLst/>
              <a:cxnLst/>
              <a:rect l="l" t="t" r="r" b="b"/>
              <a:pathLst>
                <a:path w="34" h="1" extrusionOk="0">
                  <a:moveTo>
                    <a:pt x="33" y="1"/>
                  </a:moveTo>
                  <a:lnTo>
                    <a:pt x="33" y="1"/>
                  </a:lnTo>
                  <a:cubicBezTo>
                    <a:pt x="34" y="0"/>
                    <a:pt x="12" y="1"/>
                    <a:pt x="0" y="1"/>
                  </a:cubicBezTo>
                  <a:cubicBezTo>
                    <a:pt x="9" y="1"/>
                    <a:pt x="22" y="1"/>
                    <a:pt x="3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6" name="Google Shape;346;p4"/>
            <p:cNvSpPr/>
            <p:nvPr/>
          </p:nvSpPr>
          <p:spPr>
            <a:xfrm>
              <a:off x="-3175000" y="2740025"/>
              <a:ext cx="38100" cy="0"/>
            </a:xfrm>
            <a:custGeom>
              <a:avLst/>
              <a:gdLst/>
              <a:ahLst/>
              <a:cxnLst/>
              <a:rect l="l" t="t" r="r" b="b"/>
              <a:pathLst>
                <a:path w="20" h="120000" extrusionOk="0">
                  <a:moveTo>
                    <a:pt x="20" y="0"/>
                  </a:moveTo>
                  <a:lnTo>
                    <a:pt x="20" y="0"/>
                  </a:lnTo>
                  <a:lnTo>
                    <a:pt x="0" y="0"/>
                  </a:lnTo>
                  <a:cubicBezTo>
                    <a:pt x="7" y="0"/>
                    <a:pt x="11" y="0"/>
                    <a:pt x="2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7" name="Google Shape;347;p4"/>
            <p:cNvSpPr/>
            <p:nvPr/>
          </p:nvSpPr>
          <p:spPr>
            <a:xfrm>
              <a:off x="-3735388" y="2803525"/>
              <a:ext cx="6350" cy="1587"/>
            </a:xfrm>
            <a:custGeom>
              <a:avLst/>
              <a:gdLst/>
              <a:ahLst/>
              <a:cxnLst/>
              <a:rect l="l" t="t" r="r" b="b"/>
              <a:pathLst>
                <a:path w="4" h="1" extrusionOk="0">
                  <a:moveTo>
                    <a:pt x="4" y="0"/>
                  </a:moveTo>
                  <a:lnTo>
                    <a:pt x="4" y="0"/>
                  </a:lnTo>
                  <a:cubicBezTo>
                    <a:pt x="3" y="0"/>
                    <a:pt x="2" y="1"/>
                    <a:pt x="0" y="1"/>
                  </a:cubicBezTo>
                  <a:cubicBezTo>
                    <a:pt x="2" y="1"/>
                    <a:pt x="3"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8" name="Google Shape;348;p4"/>
            <p:cNvSpPr/>
            <p:nvPr/>
          </p:nvSpPr>
          <p:spPr>
            <a:xfrm>
              <a:off x="-3924300" y="2803525"/>
              <a:ext cx="188913" cy="3175"/>
            </a:xfrm>
            <a:custGeom>
              <a:avLst/>
              <a:gdLst/>
              <a:ahLst/>
              <a:cxnLst/>
              <a:rect l="l" t="t" r="r" b="b"/>
              <a:pathLst>
                <a:path w="98" h="2" extrusionOk="0">
                  <a:moveTo>
                    <a:pt x="98" y="1"/>
                  </a:moveTo>
                  <a:lnTo>
                    <a:pt x="98" y="1"/>
                  </a:lnTo>
                  <a:cubicBezTo>
                    <a:pt x="84" y="2"/>
                    <a:pt x="42" y="0"/>
                    <a:pt x="26" y="1"/>
                  </a:cubicBezTo>
                  <a:lnTo>
                    <a:pt x="28" y="1"/>
                  </a:lnTo>
                  <a:lnTo>
                    <a:pt x="0" y="2"/>
                  </a:lnTo>
                  <a:cubicBezTo>
                    <a:pt x="27" y="2"/>
                    <a:pt x="82" y="2"/>
                    <a:pt x="9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349" name="Google Shape;349;p4"/>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4"/>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1" name="Google Shape;351;p4"/>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52" name="Google Shape;352;p4"/>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0"/>
              </a:spcBef>
              <a:spcAft>
                <a:spcPts val="0"/>
              </a:spcAft>
              <a:buSzPts val="1920"/>
              <a:buNone/>
              <a:defRPr sz="2400">
                <a:solidFill>
                  <a:schemeClr val="lt1"/>
                </a:solidFill>
              </a:defRPr>
            </a:lvl1pPr>
            <a:lvl2pPr marL="914400" lvl="1" indent="-228600" algn="l">
              <a:lnSpc>
                <a:spcPct val="90000"/>
              </a:lnSpc>
              <a:spcBef>
                <a:spcPts val="600"/>
              </a:spcBef>
              <a:spcAft>
                <a:spcPts val="0"/>
              </a:spcAft>
              <a:buSzPts val="1800"/>
              <a:buNone/>
              <a:defRPr sz="1800">
                <a:solidFill>
                  <a:srgbClr val="888888"/>
                </a:solidFill>
              </a:defRPr>
            </a:lvl2pPr>
            <a:lvl3pPr marL="1371600" lvl="2" indent="-228600" algn="l">
              <a:lnSpc>
                <a:spcPct val="90000"/>
              </a:lnSpc>
              <a:spcBef>
                <a:spcPts val="600"/>
              </a:spcBef>
              <a:spcAft>
                <a:spcPts val="0"/>
              </a:spcAft>
              <a:buSzPts val="1280"/>
              <a:buNone/>
              <a:defRPr sz="1600">
                <a:solidFill>
                  <a:srgbClr val="888888"/>
                </a:solidFill>
              </a:defRPr>
            </a:lvl3pPr>
            <a:lvl4pPr marL="1828800" lvl="3" indent="-228600" algn="l">
              <a:lnSpc>
                <a:spcPct val="90000"/>
              </a:lnSpc>
              <a:spcBef>
                <a:spcPts val="600"/>
              </a:spcBef>
              <a:spcAft>
                <a:spcPts val="0"/>
              </a:spcAft>
              <a:buSzPts val="1400"/>
              <a:buNone/>
              <a:defRPr sz="1400">
                <a:solidFill>
                  <a:srgbClr val="888888"/>
                </a:solidFill>
              </a:defRPr>
            </a:lvl4pPr>
            <a:lvl5pPr marL="2286000" lvl="4" indent="-228600" algn="l">
              <a:lnSpc>
                <a:spcPct val="90000"/>
              </a:lnSpc>
              <a:spcBef>
                <a:spcPts val="600"/>
              </a:spcBef>
              <a:spcAft>
                <a:spcPts val="0"/>
              </a:spcAft>
              <a:buSzPts val="1400"/>
              <a:buNone/>
              <a:defRPr sz="1400">
                <a:solidFill>
                  <a:srgbClr val="888888"/>
                </a:solidFill>
              </a:defRPr>
            </a:lvl5pPr>
            <a:lvl6pPr marL="2743200" lvl="5" indent="-228600" algn="l">
              <a:lnSpc>
                <a:spcPct val="90000"/>
              </a:lnSpc>
              <a:spcBef>
                <a:spcPts val="600"/>
              </a:spcBef>
              <a:spcAft>
                <a:spcPts val="0"/>
              </a:spcAft>
              <a:buSzPts val="1400"/>
              <a:buNone/>
              <a:defRPr sz="1400">
                <a:solidFill>
                  <a:srgbClr val="888888"/>
                </a:solidFill>
              </a:defRPr>
            </a:lvl6pPr>
            <a:lvl7pPr marL="3200400" lvl="6" indent="-228600" algn="l">
              <a:lnSpc>
                <a:spcPct val="90000"/>
              </a:lnSpc>
              <a:spcBef>
                <a:spcPts val="600"/>
              </a:spcBef>
              <a:spcAft>
                <a:spcPts val="0"/>
              </a:spcAft>
              <a:buSzPts val="1120"/>
              <a:buNone/>
              <a:defRPr sz="1400">
                <a:solidFill>
                  <a:srgbClr val="888888"/>
                </a:solidFill>
              </a:defRPr>
            </a:lvl7pPr>
            <a:lvl8pPr marL="3657600" lvl="7" indent="-228600" algn="l">
              <a:lnSpc>
                <a:spcPct val="90000"/>
              </a:lnSpc>
              <a:spcBef>
                <a:spcPts val="600"/>
              </a:spcBef>
              <a:spcAft>
                <a:spcPts val="0"/>
              </a:spcAft>
              <a:buSzPts val="1400"/>
              <a:buNone/>
              <a:defRPr sz="1400">
                <a:solidFill>
                  <a:srgbClr val="888888"/>
                </a:solidFill>
              </a:defRPr>
            </a:lvl8pPr>
            <a:lvl9pPr marL="4114800" lvl="8" indent="-228600" algn="l">
              <a:lnSpc>
                <a:spcPct val="90000"/>
              </a:lnSpc>
              <a:spcBef>
                <a:spcPts val="600"/>
              </a:spcBef>
              <a:spcAft>
                <a:spcPts val="0"/>
              </a:spcAft>
              <a:buSzPts val="1120"/>
              <a:buNone/>
              <a:defRPr sz="1400">
                <a:solidFill>
                  <a:srgbClr val="888888"/>
                </a:solidFill>
              </a:defRPr>
            </a:lvl9pPr>
          </a:lstStyle>
          <a:p>
            <a:endParaRPr/>
          </a:p>
        </p:txBody>
      </p:sp>
      <p:sp>
        <p:nvSpPr>
          <p:cNvPr id="353" name="Google Shape;353;p4"/>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400"/>
              <a:buFont typeface="Century Gothic"/>
              <a:buNone/>
              <a:defRPr sz="44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54"/>
        <p:cNvGrpSpPr/>
        <p:nvPr/>
      </p:nvGrpSpPr>
      <p:grpSpPr>
        <a:xfrm>
          <a:off x="0" y="0"/>
          <a:ext cx="0" cy="0"/>
          <a:chOff x="0" y="0"/>
          <a:chExt cx="0" cy="0"/>
        </a:xfrm>
      </p:grpSpPr>
      <p:grpSp>
        <p:nvGrpSpPr>
          <p:cNvPr id="355" name="Google Shape;355;p5"/>
          <p:cNvGrpSpPr/>
          <p:nvPr/>
        </p:nvGrpSpPr>
        <p:grpSpPr>
          <a:xfrm>
            <a:off x="1522413" y="1514475"/>
            <a:ext cx="10569575" cy="64008"/>
            <a:chOff x="1522413" y="1514475"/>
            <a:chExt cx="10569575" cy="64008"/>
          </a:xfrm>
        </p:grpSpPr>
        <p:sp>
          <p:nvSpPr>
            <p:cNvPr id="356" name="Google Shape;356;p5"/>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7" name="Google Shape;357;p5"/>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8" name="Google Shape;358;p5"/>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9" name="Google Shape;359;p5"/>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0" name="Google Shape;360;p5"/>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1" name="Google Shape;361;p5"/>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2" name="Google Shape;362;p5"/>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3" name="Google Shape;363;p5"/>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4" name="Google Shape;364;p5"/>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5" name="Google Shape;365;p5"/>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6" name="Google Shape;366;p5"/>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7" name="Google Shape;367;p5"/>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8" name="Google Shape;368;p5"/>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9" name="Google Shape;369;p5"/>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0" name="Google Shape;370;p5"/>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1" name="Google Shape;371;p5"/>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2" name="Google Shape;372;p5"/>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3" name="Google Shape;373;p5"/>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4" name="Google Shape;374;p5"/>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5" name="Google Shape;375;p5"/>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6" name="Google Shape;376;p5"/>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7" name="Google Shape;377;p5"/>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8" name="Google Shape;378;p5"/>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9" name="Google Shape;379;p5"/>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0" name="Google Shape;380;p5"/>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1" name="Google Shape;381;p5"/>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2" name="Google Shape;382;p5"/>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3" name="Google Shape;383;p5"/>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4" name="Google Shape;384;p5"/>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5" name="Google Shape;385;p5"/>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6" name="Google Shape;386;p5"/>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7" name="Google Shape;387;p5"/>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8" name="Google Shape;388;p5"/>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9" name="Google Shape;389;p5"/>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0" name="Google Shape;390;p5"/>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1" name="Google Shape;391;p5"/>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2" name="Google Shape;392;p5"/>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3" name="Google Shape;393;p5"/>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4" name="Google Shape;394;p5"/>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5" name="Google Shape;395;p5"/>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6" name="Google Shape;396;p5"/>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7" name="Google Shape;397;p5"/>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8" name="Google Shape;398;p5"/>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9" name="Google Shape;399;p5"/>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0" name="Google Shape;400;p5"/>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1" name="Google Shape;401;p5"/>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2" name="Google Shape;402;p5"/>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3" name="Google Shape;403;p5"/>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4" name="Google Shape;404;p5"/>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5" name="Google Shape;405;p5"/>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6" name="Google Shape;406;p5"/>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7" name="Google Shape;407;p5"/>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8" name="Google Shape;408;p5"/>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9" name="Google Shape;409;p5"/>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0" name="Google Shape;410;p5"/>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1" name="Google Shape;411;p5"/>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2" name="Google Shape;412;p5"/>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3" name="Google Shape;413;p5"/>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4" name="Google Shape;414;p5"/>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5" name="Google Shape;415;p5"/>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6" name="Google Shape;416;p5"/>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7" name="Google Shape;417;p5"/>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8" name="Google Shape;418;p5"/>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9" name="Google Shape;419;p5"/>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0" name="Google Shape;420;p5"/>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1" name="Google Shape;421;p5"/>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2" name="Google Shape;422;p5"/>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3" name="Google Shape;423;p5"/>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4" name="Google Shape;424;p5"/>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5" name="Google Shape;425;p5"/>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6" name="Google Shape;426;p5"/>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7" name="Google Shape;427;p5"/>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8" name="Google Shape;428;p5"/>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9" name="Google Shape;429;p5"/>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430" name="Google Shape;430;p5"/>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1" name="Google Shape;431;p5"/>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2" name="Google Shape;432;p5"/>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33" name="Google Shape;433;p5"/>
          <p:cNvSpPr txBox="1">
            <a:spLocks noGrp="1"/>
          </p:cNvSpPr>
          <p:nvPr>
            <p:ph type="body" idx="1"/>
          </p:nvPr>
        </p:nvSpPr>
        <p:spPr>
          <a:xfrm>
            <a:off x="6249860" y="2819399"/>
            <a:ext cx="4416552" cy="3352801"/>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434" name="Google Shape;434;p5"/>
          <p:cNvSpPr txBox="1">
            <a:spLocks noGrp="1"/>
          </p:cNvSpPr>
          <p:nvPr>
            <p:ph type="body" idx="2"/>
          </p:nvPr>
        </p:nvSpPr>
        <p:spPr>
          <a:xfrm>
            <a:off x="6249860" y="1905000"/>
            <a:ext cx="4416552" cy="762000"/>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0"/>
              </a:spcBef>
              <a:spcAft>
                <a:spcPts val="0"/>
              </a:spcAft>
              <a:buSzPts val="1920"/>
              <a:buNone/>
              <a:defRPr sz="2400" b="0"/>
            </a:lvl1pPr>
            <a:lvl2pPr marL="914400" lvl="1" indent="-228600" algn="l">
              <a:lnSpc>
                <a:spcPct val="90000"/>
              </a:lnSpc>
              <a:spcBef>
                <a:spcPts val="600"/>
              </a:spcBef>
              <a:spcAft>
                <a:spcPts val="0"/>
              </a:spcAft>
              <a:buSzPts val="2000"/>
              <a:buNone/>
              <a:defRPr sz="2000" b="1"/>
            </a:lvl2pPr>
            <a:lvl3pPr marL="1371600" lvl="2" indent="-228600" algn="l">
              <a:lnSpc>
                <a:spcPct val="90000"/>
              </a:lnSpc>
              <a:spcBef>
                <a:spcPts val="600"/>
              </a:spcBef>
              <a:spcAft>
                <a:spcPts val="0"/>
              </a:spcAft>
              <a:buSzPts val="1440"/>
              <a:buNone/>
              <a:defRPr sz="1800" b="1"/>
            </a:lvl3pPr>
            <a:lvl4pPr marL="1828800" lvl="3" indent="-228600" algn="l">
              <a:lnSpc>
                <a:spcPct val="90000"/>
              </a:lnSpc>
              <a:spcBef>
                <a:spcPts val="600"/>
              </a:spcBef>
              <a:spcAft>
                <a:spcPts val="0"/>
              </a:spcAft>
              <a:buSzPts val="1600"/>
              <a:buNone/>
              <a:defRPr sz="1600" b="1"/>
            </a:lvl4pPr>
            <a:lvl5pPr marL="2286000" lvl="4" indent="-228600" algn="l">
              <a:lnSpc>
                <a:spcPct val="90000"/>
              </a:lnSpc>
              <a:spcBef>
                <a:spcPts val="600"/>
              </a:spcBef>
              <a:spcAft>
                <a:spcPts val="0"/>
              </a:spcAft>
              <a:buSzPts val="1600"/>
              <a:buNone/>
              <a:defRPr sz="1600" b="1"/>
            </a:lvl5pPr>
            <a:lvl6pPr marL="2743200" lvl="5" indent="-228600" algn="l">
              <a:lnSpc>
                <a:spcPct val="90000"/>
              </a:lnSpc>
              <a:spcBef>
                <a:spcPts val="600"/>
              </a:spcBef>
              <a:spcAft>
                <a:spcPts val="0"/>
              </a:spcAft>
              <a:buSzPts val="1600"/>
              <a:buNone/>
              <a:defRPr sz="1600" b="1"/>
            </a:lvl6pPr>
            <a:lvl7pPr marL="3200400" lvl="6" indent="-228600" algn="l">
              <a:lnSpc>
                <a:spcPct val="90000"/>
              </a:lnSpc>
              <a:spcBef>
                <a:spcPts val="600"/>
              </a:spcBef>
              <a:spcAft>
                <a:spcPts val="0"/>
              </a:spcAft>
              <a:buSzPts val="1280"/>
              <a:buNone/>
              <a:defRPr sz="1600" b="1"/>
            </a:lvl7pPr>
            <a:lvl8pPr marL="3657600" lvl="7" indent="-228600" algn="l">
              <a:lnSpc>
                <a:spcPct val="90000"/>
              </a:lnSpc>
              <a:spcBef>
                <a:spcPts val="600"/>
              </a:spcBef>
              <a:spcAft>
                <a:spcPts val="0"/>
              </a:spcAft>
              <a:buSzPts val="1600"/>
              <a:buNone/>
              <a:defRPr sz="1600" b="1"/>
            </a:lvl8pPr>
            <a:lvl9pPr marL="4114800" lvl="8" indent="-228600" algn="l">
              <a:lnSpc>
                <a:spcPct val="90000"/>
              </a:lnSpc>
              <a:spcBef>
                <a:spcPts val="600"/>
              </a:spcBef>
              <a:spcAft>
                <a:spcPts val="0"/>
              </a:spcAft>
              <a:buSzPts val="1280"/>
              <a:buNone/>
              <a:defRPr sz="1600" b="1"/>
            </a:lvl9pPr>
          </a:lstStyle>
          <a:p>
            <a:endParaRPr/>
          </a:p>
        </p:txBody>
      </p:sp>
      <p:sp>
        <p:nvSpPr>
          <p:cNvPr id="435" name="Google Shape;435;p5"/>
          <p:cNvSpPr txBox="1">
            <a:spLocks noGrp="1"/>
          </p:cNvSpPr>
          <p:nvPr>
            <p:ph type="body" idx="3"/>
          </p:nvPr>
        </p:nvSpPr>
        <p:spPr>
          <a:xfrm>
            <a:off x="1522413" y="2819399"/>
            <a:ext cx="4416552" cy="3352801"/>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436" name="Google Shape;436;p5"/>
          <p:cNvSpPr txBox="1">
            <a:spLocks noGrp="1"/>
          </p:cNvSpPr>
          <p:nvPr>
            <p:ph type="body" idx="4"/>
          </p:nvPr>
        </p:nvSpPr>
        <p:spPr>
          <a:xfrm>
            <a:off x="1522413" y="1905000"/>
            <a:ext cx="4416552" cy="762000"/>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0"/>
              </a:spcBef>
              <a:spcAft>
                <a:spcPts val="0"/>
              </a:spcAft>
              <a:buSzPts val="1920"/>
              <a:buNone/>
              <a:defRPr sz="2400" b="0"/>
            </a:lvl1pPr>
            <a:lvl2pPr marL="914400" lvl="1" indent="-228600" algn="l">
              <a:lnSpc>
                <a:spcPct val="90000"/>
              </a:lnSpc>
              <a:spcBef>
                <a:spcPts val="600"/>
              </a:spcBef>
              <a:spcAft>
                <a:spcPts val="0"/>
              </a:spcAft>
              <a:buSzPts val="2000"/>
              <a:buNone/>
              <a:defRPr sz="2000" b="1"/>
            </a:lvl2pPr>
            <a:lvl3pPr marL="1371600" lvl="2" indent="-228600" algn="l">
              <a:lnSpc>
                <a:spcPct val="90000"/>
              </a:lnSpc>
              <a:spcBef>
                <a:spcPts val="600"/>
              </a:spcBef>
              <a:spcAft>
                <a:spcPts val="0"/>
              </a:spcAft>
              <a:buSzPts val="1440"/>
              <a:buNone/>
              <a:defRPr sz="1800" b="1"/>
            </a:lvl3pPr>
            <a:lvl4pPr marL="1828800" lvl="3" indent="-228600" algn="l">
              <a:lnSpc>
                <a:spcPct val="90000"/>
              </a:lnSpc>
              <a:spcBef>
                <a:spcPts val="600"/>
              </a:spcBef>
              <a:spcAft>
                <a:spcPts val="0"/>
              </a:spcAft>
              <a:buSzPts val="1600"/>
              <a:buNone/>
              <a:defRPr sz="1600" b="1"/>
            </a:lvl4pPr>
            <a:lvl5pPr marL="2286000" lvl="4" indent="-228600" algn="l">
              <a:lnSpc>
                <a:spcPct val="90000"/>
              </a:lnSpc>
              <a:spcBef>
                <a:spcPts val="600"/>
              </a:spcBef>
              <a:spcAft>
                <a:spcPts val="0"/>
              </a:spcAft>
              <a:buSzPts val="1600"/>
              <a:buNone/>
              <a:defRPr sz="1600" b="1"/>
            </a:lvl5pPr>
            <a:lvl6pPr marL="2743200" lvl="5" indent="-228600" algn="l">
              <a:lnSpc>
                <a:spcPct val="90000"/>
              </a:lnSpc>
              <a:spcBef>
                <a:spcPts val="600"/>
              </a:spcBef>
              <a:spcAft>
                <a:spcPts val="0"/>
              </a:spcAft>
              <a:buSzPts val="1600"/>
              <a:buNone/>
              <a:defRPr sz="1600" b="1"/>
            </a:lvl6pPr>
            <a:lvl7pPr marL="3200400" lvl="6" indent="-228600" algn="l">
              <a:lnSpc>
                <a:spcPct val="90000"/>
              </a:lnSpc>
              <a:spcBef>
                <a:spcPts val="600"/>
              </a:spcBef>
              <a:spcAft>
                <a:spcPts val="0"/>
              </a:spcAft>
              <a:buSzPts val="1280"/>
              <a:buNone/>
              <a:defRPr sz="1600" b="1"/>
            </a:lvl7pPr>
            <a:lvl8pPr marL="3657600" lvl="7" indent="-228600" algn="l">
              <a:lnSpc>
                <a:spcPct val="90000"/>
              </a:lnSpc>
              <a:spcBef>
                <a:spcPts val="600"/>
              </a:spcBef>
              <a:spcAft>
                <a:spcPts val="0"/>
              </a:spcAft>
              <a:buSzPts val="1600"/>
              <a:buNone/>
              <a:defRPr sz="1600" b="1"/>
            </a:lvl8pPr>
            <a:lvl9pPr marL="4114800" lvl="8" indent="-228600" algn="l">
              <a:lnSpc>
                <a:spcPct val="90000"/>
              </a:lnSpc>
              <a:spcBef>
                <a:spcPts val="600"/>
              </a:spcBef>
              <a:spcAft>
                <a:spcPts val="0"/>
              </a:spcAft>
              <a:buSzPts val="1280"/>
              <a:buNone/>
              <a:defRPr sz="1600" b="1"/>
            </a:lvl9pPr>
          </a:lstStyle>
          <a:p>
            <a:endParaRPr/>
          </a:p>
        </p:txBody>
      </p:sp>
      <p:sp>
        <p:nvSpPr>
          <p:cNvPr id="437" name="Google Shape;437;p5"/>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48"/>
        <p:cNvGrpSpPr/>
        <p:nvPr/>
      </p:nvGrpSpPr>
      <p:grpSpPr>
        <a:xfrm>
          <a:off x="0" y="0"/>
          <a:ext cx="0" cy="0"/>
          <a:chOff x="0" y="0"/>
          <a:chExt cx="0" cy="0"/>
        </a:xfrm>
      </p:grpSpPr>
      <p:grpSp>
        <p:nvGrpSpPr>
          <p:cNvPr id="749" name="Google Shape;749;p7"/>
          <p:cNvGrpSpPr/>
          <p:nvPr/>
        </p:nvGrpSpPr>
        <p:grpSpPr>
          <a:xfrm>
            <a:off x="1522413" y="1514475"/>
            <a:ext cx="10569575" cy="64008"/>
            <a:chOff x="1522413" y="1514475"/>
            <a:chExt cx="10569575" cy="64008"/>
          </a:xfrm>
        </p:grpSpPr>
        <p:sp>
          <p:nvSpPr>
            <p:cNvPr id="750" name="Google Shape;750;p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1" name="Google Shape;751;p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2" name="Google Shape;752;p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3" name="Google Shape;753;p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4" name="Google Shape;754;p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5" name="Google Shape;755;p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6" name="Google Shape;756;p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7" name="Google Shape;757;p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8" name="Google Shape;758;p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9" name="Google Shape;759;p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0" name="Google Shape;760;p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1" name="Google Shape;761;p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2" name="Google Shape;762;p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3" name="Google Shape;763;p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4" name="Google Shape;764;p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5" name="Google Shape;765;p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6" name="Google Shape;766;p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7" name="Google Shape;767;p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8" name="Google Shape;768;p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9" name="Google Shape;769;p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0" name="Google Shape;770;p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1" name="Google Shape;771;p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2" name="Google Shape;772;p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3" name="Google Shape;773;p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4" name="Google Shape;774;p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5" name="Google Shape;775;p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6" name="Google Shape;776;p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7" name="Google Shape;777;p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8" name="Google Shape;778;p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9" name="Google Shape;779;p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0" name="Google Shape;780;p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1" name="Google Shape;781;p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2" name="Google Shape;782;p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3" name="Google Shape;783;p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4" name="Google Shape;784;p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5" name="Google Shape;785;p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6" name="Google Shape;786;p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7" name="Google Shape;787;p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8" name="Google Shape;788;p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9" name="Google Shape;789;p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0" name="Google Shape;790;p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1" name="Google Shape;791;p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2" name="Google Shape;792;p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3" name="Google Shape;793;p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4" name="Google Shape;794;p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5" name="Google Shape;795;p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6" name="Google Shape;796;p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7" name="Google Shape;797;p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8" name="Google Shape;798;p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9" name="Google Shape;799;p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0" name="Google Shape;800;p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1" name="Google Shape;801;p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2" name="Google Shape;802;p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3" name="Google Shape;803;p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4" name="Google Shape;804;p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5" name="Google Shape;805;p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6" name="Google Shape;806;p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7" name="Google Shape;807;p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8" name="Google Shape;808;p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9" name="Google Shape;809;p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0" name="Google Shape;810;p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1" name="Google Shape;811;p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2" name="Google Shape;812;p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3" name="Google Shape;813;p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4" name="Google Shape;814;p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5" name="Google Shape;815;p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6" name="Google Shape;816;p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7" name="Google Shape;817;p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8" name="Google Shape;818;p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9" name="Google Shape;819;p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0" name="Google Shape;820;p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1" name="Google Shape;821;p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2" name="Google Shape;822;p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3" name="Google Shape;823;p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824" name="Google Shape;824;p7"/>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5" name="Google Shape;825;p7"/>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6" name="Google Shape;826;p7"/>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27" name="Google Shape;827;p7"/>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55600" algn="l">
              <a:lnSpc>
                <a:spcPct val="90000"/>
              </a:lnSpc>
              <a:spcBef>
                <a:spcPts val="600"/>
              </a:spcBef>
              <a:spcAft>
                <a:spcPts val="0"/>
              </a:spcAft>
              <a:buSzPts val="2000"/>
              <a:buChar char="►"/>
              <a:defRPr/>
            </a:lvl2pPr>
            <a:lvl3pPr marL="1371600" lvl="2" indent="-320039" algn="l">
              <a:lnSpc>
                <a:spcPct val="90000"/>
              </a:lnSpc>
              <a:spcBef>
                <a:spcPts val="600"/>
              </a:spcBef>
              <a:spcAft>
                <a:spcPts val="0"/>
              </a:spcAft>
              <a:buSzPts val="1440"/>
              <a:buChar char="►"/>
              <a:defRPr/>
            </a:lvl3pPr>
            <a:lvl4pPr marL="1828800" lvl="3" indent="-330200" algn="l">
              <a:lnSpc>
                <a:spcPct val="90000"/>
              </a:lnSpc>
              <a:spcBef>
                <a:spcPts val="600"/>
              </a:spcBef>
              <a:spcAft>
                <a:spcPts val="0"/>
              </a:spcAft>
              <a:buSzPts val="16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828" name="Google Shape;828;p7"/>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9"/>
        <p:cNvGrpSpPr/>
        <p:nvPr/>
      </p:nvGrpSpPr>
      <p:grpSpPr>
        <a:xfrm>
          <a:off x="0" y="0"/>
          <a:ext cx="0" cy="0"/>
          <a:chOff x="0" y="0"/>
          <a:chExt cx="0" cy="0"/>
        </a:xfrm>
      </p:grpSpPr>
      <p:grpSp>
        <p:nvGrpSpPr>
          <p:cNvPr id="830" name="Google Shape;830;p8"/>
          <p:cNvGrpSpPr/>
          <p:nvPr/>
        </p:nvGrpSpPr>
        <p:grpSpPr>
          <a:xfrm>
            <a:off x="1522413" y="1514475"/>
            <a:ext cx="10569575" cy="64008"/>
            <a:chOff x="1522413" y="1514475"/>
            <a:chExt cx="10569575" cy="64008"/>
          </a:xfrm>
        </p:grpSpPr>
        <p:sp>
          <p:nvSpPr>
            <p:cNvPr id="831" name="Google Shape;831;p8"/>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2" name="Google Shape;832;p8"/>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3" name="Google Shape;833;p8"/>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4" name="Google Shape;834;p8"/>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5" name="Google Shape;835;p8"/>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6" name="Google Shape;836;p8"/>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7" name="Google Shape;837;p8"/>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8" name="Google Shape;838;p8"/>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9" name="Google Shape;839;p8"/>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0" name="Google Shape;840;p8"/>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1" name="Google Shape;841;p8"/>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2" name="Google Shape;842;p8"/>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3" name="Google Shape;843;p8"/>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4" name="Google Shape;844;p8"/>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5" name="Google Shape;845;p8"/>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6" name="Google Shape;846;p8"/>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7" name="Google Shape;847;p8"/>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8" name="Google Shape;848;p8"/>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9" name="Google Shape;849;p8"/>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0" name="Google Shape;850;p8"/>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1" name="Google Shape;851;p8"/>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2" name="Google Shape;852;p8"/>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3" name="Google Shape;853;p8"/>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4" name="Google Shape;854;p8"/>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5" name="Google Shape;855;p8"/>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6" name="Google Shape;856;p8"/>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7" name="Google Shape;857;p8"/>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8" name="Google Shape;858;p8"/>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9" name="Google Shape;859;p8"/>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0" name="Google Shape;860;p8"/>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1" name="Google Shape;861;p8"/>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2" name="Google Shape;862;p8"/>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3" name="Google Shape;863;p8"/>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4" name="Google Shape;864;p8"/>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5" name="Google Shape;865;p8"/>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6" name="Google Shape;866;p8"/>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7" name="Google Shape;867;p8"/>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8" name="Google Shape;868;p8"/>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9" name="Google Shape;869;p8"/>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0" name="Google Shape;870;p8"/>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1" name="Google Shape;871;p8"/>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2" name="Google Shape;872;p8"/>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3" name="Google Shape;873;p8"/>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4" name="Google Shape;874;p8"/>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5" name="Google Shape;875;p8"/>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6" name="Google Shape;876;p8"/>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7" name="Google Shape;877;p8"/>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8" name="Google Shape;878;p8"/>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9" name="Google Shape;879;p8"/>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0" name="Google Shape;880;p8"/>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1" name="Google Shape;881;p8"/>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2" name="Google Shape;882;p8"/>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3" name="Google Shape;883;p8"/>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4" name="Google Shape;884;p8"/>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5" name="Google Shape;885;p8"/>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6" name="Google Shape;886;p8"/>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7" name="Google Shape;887;p8"/>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8" name="Google Shape;888;p8"/>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9" name="Google Shape;889;p8"/>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0" name="Google Shape;890;p8"/>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1" name="Google Shape;891;p8"/>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2" name="Google Shape;892;p8"/>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3" name="Google Shape;893;p8"/>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4" name="Google Shape;894;p8"/>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5" name="Google Shape;895;p8"/>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6" name="Google Shape;896;p8"/>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7" name="Google Shape;897;p8"/>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8" name="Google Shape;898;p8"/>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9" name="Google Shape;899;p8"/>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0" name="Google Shape;900;p8"/>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1" name="Google Shape;901;p8"/>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2" name="Google Shape;902;p8"/>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3" name="Google Shape;903;p8"/>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4" name="Google Shape;904;p8"/>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905" name="Google Shape;905;p8"/>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6" name="Google Shape;906;p8"/>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7" name="Google Shape;907;p8"/>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08" name="Google Shape;908;p8"/>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9"/>
        <p:cNvGrpSpPr/>
        <p:nvPr/>
      </p:nvGrpSpPr>
      <p:grpSpPr>
        <a:xfrm>
          <a:off x="0" y="0"/>
          <a:ext cx="0" cy="0"/>
          <a:chOff x="0" y="0"/>
          <a:chExt cx="0" cy="0"/>
        </a:xfrm>
      </p:grpSpPr>
      <p:sp>
        <p:nvSpPr>
          <p:cNvPr id="910" name="Google Shape;910;p9"/>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1" name="Google Shape;911;p9"/>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2" name="Google Shape;912;p9"/>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13"/>
        <p:cNvGrpSpPr/>
        <p:nvPr/>
      </p:nvGrpSpPr>
      <p:grpSpPr>
        <a:xfrm>
          <a:off x="0" y="0"/>
          <a:ext cx="0" cy="0"/>
          <a:chOff x="0" y="0"/>
          <a:chExt cx="0" cy="0"/>
        </a:xfrm>
      </p:grpSpPr>
      <p:grpSp>
        <p:nvGrpSpPr>
          <p:cNvPr id="914" name="Google Shape;914;p10"/>
          <p:cNvGrpSpPr/>
          <p:nvPr/>
        </p:nvGrpSpPr>
        <p:grpSpPr>
          <a:xfrm flipH="1">
            <a:off x="1447500" y="1630821"/>
            <a:ext cx="6291028" cy="4575885"/>
            <a:chOff x="4417839" y="1630821"/>
            <a:chExt cx="6291028" cy="4575885"/>
          </a:xfrm>
        </p:grpSpPr>
        <p:grpSp>
          <p:nvGrpSpPr>
            <p:cNvPr id="915" name="Google Shape;915;p10"/>
            <p:cNvGrpSpPr/>
            <p:nvPr/>
          </p:nvGrpSpPr>
          <p:grpSpPr>
            <a:xfrm>
              <a:off x="5414491" y="1630821"/>
              <a:ext cx="5294376" cy="4114800"/>
              <a:chOff x="3310555" y="716546"/>
              <a:chExt cx="5294376" cy="4114800"/>
            </a:xfrm>
          </p:grpSpPr>
          <p:grpSp>
            <p:nvGrpSpPr>
              <p:cNvPr id="916" name="Google Shape;916;p10"/>
              <p:cNvGrpSpPr/>
              <p:nvPr/>
            </p:nvGrpSpPr>
            <p:grpSpPr>
              <a:xfrm flipH="1">
                <a:off x="3310555" y="737968"/>
                <a:ext cx="5294376" cy="54864"/>
                <a:chOff x="1522413" y="1514475"/>
                <a:chExt cx="10569575" cy="64008"/>
              </a:xfrm>
            </p:grpSpPr>
            <p:sp>
              <p:nvSpPr>
                <p:cNvPr id="917" name="Google Shape;917;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8" name="Google Shape;918;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9" name="Google Shape;919;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0" name="Google Shape;920;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1" name="Google Shape;921;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2" name="Google Shape;922;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3" name="Google Shape;923;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4" name="Google Shape;924;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5" name="Google Shape;925;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6" name="Google Shape;926;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7" name="Google Shape;927;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8" name="Google Shape;928;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9" name="Google Shape;929;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0" name="Google Shape;930;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1" name="Google Shape;931;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2" name="Google Shape;932;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3" name="Google Shape;933;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4" name="Google Shape;934;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5" name="Google Shape;935;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6" name="Google Shape;936;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7" name="Google Shape;937;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8" name="Google Shape;938;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9" name="Google Shape;939;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0" name="Google Shape;940;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1" name="Google Shape;941;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2" name="Google Shape;942;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3" name="Google Shape;943;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4" name="Google Shape;944;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5" name="Google Shape;945;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6" name="Google Shape;946;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7" name="Google Shape;947;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8" name="Google Shape;948;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9" name="Google Shape;949;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0" name="Google Shape;950;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1" name="Google Shape;951;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2" name="Google Shape;952;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3" name="Google Shape;953;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4" name="Google Shape;954;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5" name="Google Shape;955;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6" name="Google Shape;956;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7" name="Google Shape;957;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8" name="Google Shape;958;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9" name="Google Shape;959;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0" name="Google Shape;960;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1" name="Google Shape;961;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2" name="Google Shape;962;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3" name="Google Shape;963;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4" name="Google Shape;964;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5" name="Google Shape;965;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6" name="Google Shape;966;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7" name="Google Shape;967;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8" name="Google Shape;968;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9" name="Google Shape;969;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0" name="Google Shape;970;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1" name="Google Shape;971;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2" name="Google Shape;972;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3" name="Google Shape;973;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4" name="Google Shape;974;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5" name="Google Shape;975;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6" name="Google Shape;976;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7" name="Google Shape;977;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8" name="Google Shape;978;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9" name="Google Shape;979;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0" name="Google Shape;980;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1" name="Google Shape;981;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2" name="Google Shape;982;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3" name="Google Shape;983;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4" name="Google Shape;984;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5" name="Google Shape;985;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6" name="Google Shape;986;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7" name="Google Shape;987;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8" name="Google Shape;988;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9" name="Google Shape;989;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0" name="Google Shape;990;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991" name="Google Shape;991;p10"/>
              <p:cNvGrpSpPr/>
              <p:nvPr/>
            </p:nvGrpSpPr>
            <p:grpSpPr>
              <a:xfrm rot="-5400000" flipH="1">
                <a:off x="6492229" y="2755658"/>
                <a:ext cx="4114800" cy="36576"/>
                <a:chOff x="1522413" y="1514475"/>
                <a:chExt cx="10569575" cy="64008"/>
              </a:xfrm>
            </p:grpSpPr>
            <p:sp>
              <p:nvSpPr>
                <p:cNvPr id="992" name="Google Shape;992;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3" name="Google Shape;993;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4" name="Google Shape;994;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5" name="Google Shape;995;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6" name="Google Shape;996;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7" name="Google Shape;997;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8" name="Google Shape;998;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9" name="Google Shape;999;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0" name="Google Shape;1000;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1" name="Google Shape;1001;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2" name="Google Shape;1002;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3" name="Google Shape;1003;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4" name="Google Shape;1004;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5" name="Google Shape;1005;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6" name="Google Shape;1006;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7" name="Google Shape;1007;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8" name="Google Shape;1008;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9" name="Google Shape;1009;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0" name="Google Shape;1010;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1" name="Google Shape;1011;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2" name="Google Shape;1012;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3" name="Google Shape;1013;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4" name="Google Shape;1014;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5" name="Google Shape;1015;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6" name="Google Shape;1016;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7" name="Google Shape;1017;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8" name="Google Shape;1018;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9" name="Google Shape;1019;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0" name="Google Shape;1020;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1" name="Google Shape;1021;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2" name="Google Shape;1022;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3" name="Google Shape;1023;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4" name="Google Shape;1024;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5" name="Google Shape;1025;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6" name="Google Shape;1026;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7" name="Google Shape;1027;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8" name="Google Shape;1028;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9" name="Google Shape;1029;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0" name="Google Shape;1030;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1" name="Google Shape;1031;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2" name="Google Shape;1032;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3" name="Google Shape;1033;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4" name="Google Shape;1034;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5" name="Google Shape;1035;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6" name="Google Shape;1036;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7" name="Google Shape;1037;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8" name="Google Shape;1038;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9" name="Google Shape;1039;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0" name="Google Shape;1040;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1" name="Google Shape;1041;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2" name="Google Shape;1042;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3" name="Google Shape;1043;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4" name="Google Shape;1044;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5" name="Google Shape;1045;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6" name="Google Shape;1046;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7" name="Google Shape;1047;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8" name="Google Shape;1048;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9" name="Google Shape;1049;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0" name="Google Shape;1050;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1" name="Google Shape;1051;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2" name="Google Shape;1052;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3" name="Google Shape;1053;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4" name="Google Shape;1054;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5" name="Google Shape;1055;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6" name="Google Shape;1056;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7" name="Google Shape;1057;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8" name="Google Shape;1058;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9" name="Google Shape;1059;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0" name="Google Shape;1060;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1" name="Google Shape;1061;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2" name="Google Shape;1062;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3" name="Google Shape;1063;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4" name="Google Shape;1064;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5" name="Google Shape;1065;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grpSp>
          <p:nvGrpSpPr>
            <p:cNvPr id="1066" name="Google Shape;1066;p10"/>
            <p:cNvGrpSpPr/>
            <p:nvPr/>
          </p:nvGrpSpPr>
          <p:grpSpPr>
            <a:xfrm rot="10800000">
              <a:off x="4417839" y="2091906"/>
              <a:ext cx="5294376" cy="4114800"/>
              <a:chOff x="3310555" y="716546"/>
              <a:chExt cx="5294376" cy="4114800"/>
            </a:xfrm>
          </p:grpSpPr>
          <p:grpSp>
            <p:nvGrpSpPr>
              <p:cNvPr id="1067" name="Google Shape;1067;p10"/>
              <p:cNvGrpSpPr/>
              <p:nvPr/>
            </p:nvGrpSpPr>
            <p:grpSpPr>
              <a:xfrm flipH="1">
                <a:off x="3310555" y="737968"/>
                <a:ext cx="5294376" cy="54864"/>
                <a:chOff x="1522413" y="1514475"/>
                <a:chExt cx="10569575" cy="64008"/>
              </a:xfrm>
            </p:grpSpPr>
            <p:sp>
              <p:nvSpPr>
                <p:cNvPr id="1068" name="Google Shape;1068;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9" name="Google Shape;1069;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0" name="Google Shape;1070;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1" name="Google Shape;1071;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2" name="Google Shape;1072;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3" name="Google Shape;1073;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4" name="Google Shape;1074;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5" name="Google Shape;1075;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6" name="Google Shape;1076;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7" name="Google Shape;1077;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8" name="Google Shape;1078;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9" name="Google Shape;1079;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0" name="Google Shape;1080;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1" name="Google Shape;1081;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2" name="Google Shape;1082;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3" name="Google Shape;1083;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4" name="Google Shape;1084;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5" name="Google Shape;1085;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6" name="Google Shape;1086;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7" name="Google Shape;1087;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8" name="Google Shape;1088;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9" name="Google Shape;1089;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0" name="Google Shape;1090;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1" name="Google Shape;1091;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2" name="Google Shape;1092;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3" name="Google Shape;1093;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4" name="Google Shape;1094;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5" name="Google Shape;1095;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6" name="Google Shape;1096;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7" name="Google Shape;1097;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8" name="Google Shape;1098;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9" name="Google Shape;1099;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0" name="Google Shape;1100;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1" name="Google Shape;1101;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2" name="Google Shape;1102;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3" name="Google Shape;1103;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4" name="Google Shape;1104;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5" name="Google Shape;1105;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6" name="Google Shape;1106;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7" name="Google Shape;1107;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8" name="Google Shape;1108;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9" name="Google Shape;1109;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0" name="Google Shape;1110;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1" name="Google Shape;1111;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2" name="Google Shape;1112;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3" name="Google Shape;1113;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4" name="Google Shape;1114;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5" name="Google Shape;1115;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6" name="Google Shape;1116;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7" name="Google Shape;1117;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8" name="Google Shape;1118;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9" name="Google Shape;1119;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0" name="Google Shape;1120;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1" name="Google Shape;1121;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2" name="Google Shape;1122;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3" name="Google Shape;1123;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4" name="Google Shape;1124;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5" name="Google Shape;1125;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6" name="Google Shape;1126;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7" name="Google Shape;1127;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8" name="Google Shape;1128;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9" name="Google Shape;1129;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0" name="Google Shape;1130;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1" name="Google Shape;1131;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2" name="Google Shape;1132;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3" name="Google Shape;1133;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4" name="Google Shape;1134;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5" name="Google Shape;1135;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6" name="Google Shape;1136;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7" name="Google Shape;1137;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8" name="Google Shape;1138;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9" name="Google Shape;1139;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0" name="Google Shape;1140;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1" name="Google Shape;1141;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1142" name="Google Shape;1142;p10"/>
              <p:cNvGrpSpPr/>
              <p:nvPr/>
            </p:nvGrpSpPr>
            <p:grpSpPr>
              <a:xfrm rot="-5400000" flipH="1">
                <a:off x="6492229" y="2755658"/>
                <a:ext cx="4114800" cy="36576"/>
                <a:chOff x="1522413" y="1514475"/>
                <a:chExt cx="10569575" cy="64008"/>
              </a:xfrm>
            </p:grpSpPr>
            <p:sp>
              <p:nvSpPr>
                <p:cNvPr id="1143" name="Google Shape;1143;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4" name="Google Shape;1144;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5" name="Google Shape;1145;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6" name="Google Shape;1146;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7" name="Google Shape;1147;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8" name="Google Shape;1148;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9" name="Google Shape;1149;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0" name="Google Shape;1150;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1" name="Google Shape;1151;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2" name="Google Shape;1152;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3" name="Google Shape;1153;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4" name="Google Shape;1154;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5" name="Google Shape;1155;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6" name="Google Shape;1156;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7" name="Google Shape;1157;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8" name="Google Shape;1158;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9" name="Google Shape;1159;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0" name="Google Shape;1160;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1" name="Google Shape;1161;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2" name="Google Shape;1162;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3" name="Google Shape;1163;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4" name="Google Shape;1164;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5" name="Google Shape;1165;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6" name="Google Shape;1166;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7" name="Google Shape;1167;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8" name="Google Shape;1168;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9" name="Google Shape;1169;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0" name="Google Shape;1170;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1" name="Google Shape;1171;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2" name="Google Shape;1172;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3" name="Google Shape;1173;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4" name="Google Shape;1174;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5" name="Google Shape;1175;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6" name="Google Shape;1176;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7" name="Google Shape;1177;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8" name="Google Shape;1178;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9" name="Google Shape;1179;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0" name="Google Shape;1180;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1" name="Google Shape;1181;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2" name="Google Shape;1182;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3" name="Google Shape;1183;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4" name="Google Shape;1184;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5" name="Google Shape;1185;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6" name="Google Shape;1186;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7" name="Google Shape;1187;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8" name="Google Shape;1188;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9" name="Google Shape;1189;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0" name="Google Shape;1190;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1" name="Google Shape;1191;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2" name="Google Shape;1192;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3" name="Google Shape;1193;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4" name="Google Shape;1194;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5" name="Google Shape;1195;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6" name="Google Shape;1196;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7" name="Google Shape;1197;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8" name="Google Shape;1198;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9" name="Google Shape;1199;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0" name="Google Shape;1200;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1" name="Google Shape;1201;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2" name="Google Shape;1202;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3" name="Google Shape;1203;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4" name="Google Shape;1204;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5" name="Google Shape;1205;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6" name="Google Shape;1206;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7" name="Google Shape;1207;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8" name="Google Shape;1208;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9" name="Google Shape;1209;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0" name="Google Shape;1210;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1" name="Google Shape;1211;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2" name="Google Shape;1212;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3" name="Google Shape;1213;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4" name="Google Shape;1214;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5" name="Google Shape;1215;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6" name="Google Shape;1216;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grpSp>
      <p:sp>
        <p:nvSpPr>
          <p:cNvPr id="1217" name="Google Shape;1217;p10"/>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8" name="Google Shape;1218;p10"/>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9" name="Google Shape;1219;p10"/>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0" name="Google Shape;1220;p10"/>
          <p:cNvSpPr>
            <a:spLocks noGrp="1"/>
          </p:cNvSpPr>
          <p:nvPr>
            <p:ph type="pic" idx="2"/>
          </p:nvPr>
        </p:nvSpPr>
        <p:spPr>
          <a:xfrm>
            <a:off x="1745838" y="1884311"/>
            <a:ext cx="5669280" cy="4041648"/>
          </a:xfrm>
          <a:prstGeom prst="rect">
            <a:avLst/>
          </a:prstGeom>
          <a:solidFill>
            <a:schemeClr val="lt1"/>
          </a:solidFill>
          <a:ln>
            <a:noFill/>
          </a:ln>
        </p:spPr>
        <p:txBody>
          <a:bodyPr spcFirstLastPara="1" wrap="square" lIns="91425" tIns="914400" rIns="91425" bIns="45700" anchor="t" anchorCtr="0">
            <a:noAutofit/>
          </a:bodyPr>
          <a:lstStyle>
            <a:lvl1pPr marR="0" lvl="0" algn="ctr" rtl="0">
              <a:lnSpc>
                <a:spcPct val="90000"/>
              </a:lnSpc>
              <a:spcBef>
                <a:spcPts val="1800"/>
              </a:spcBef>
              <a:spcAft>
                <a:spcPts val="0"/>
              </a:spcAft>
              <a:buClr>
                <a:schemeClr val="dk2"/>
              </a:buClr>
              <a:buSzPts val="1920"/>
              <a:buFont typeface="Noto Sans Symbols"/>
              <a:buNone/>
              <a:defRPr sz="24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600"/>
              </a:spcBef>
              <a:spcAft>
                <a:spcPts val="0"/>
              </a:spcAft>
              <a:buClr>
                <a:schemeClr val="dk2"/>
              </a:buClr>
              <a:buSzPts val="2800"/>
              <a:buFont typeface="Noto Sans Symbols"/>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600"/>
              </a:spcBef>
              <a:spcAft>
                <a:spcPts val="0"/>
              </a:spcAft>
              <a:buClr>
                <a:schemeClr val="dk2"/>
              </a:buClr>
              <a:buSzPts val="1920"/>
              <a:buFont typeface="Noto Sans Symbols"/>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600"/>
              </a:spcBef>
              <a:spcAft>
                <a:spcPts val="0"/>
              </a:spcAft>
              <a:buClr>
                <a:schemeClr val="dk2"/>
              </a:buClr>
              <a:buSzPts val="1600"/>
              <a:buFont typeface="Noto Sans Symbols"/>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600"/>
              </a:spcBef>
              <a:spcAft>
                <a:spcPts val="0"/>
              </a:spcAft>
              <a:buClr>
                <a:schemeClr val="dk2"/>
              </a:buClr>
              <a:buSzPts val="1600"/>
              <a:buFont typeface="Noto Sans Symbols"/>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1221" name="Google Shape;1221;p10"/>
          <p:cNvSpPr txBox="1">
            <a:spLocks noGrp="1"/>
          </p:cNvSpPr>
          <p:nvPr>
            <p:ph type="body" idx="1"/>
          </p:nvPr>
        </p:nvSpPr>
        <p:spPr>
          <a:xfrm>
            <a:off x="7905959" y="3411748"/>
            <a:ext cx="2743200" cy="27432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200"/>
              </a:spcBef>
              <a:spcAft>
                <a:spcPts val="0"/>
              </a:spcAft>
              <a:buSzPts val="1280"/>
              <a:buNone/>
              <a:defRPr sz="1600"/>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600"/>
              </a:spcBef>
              <a:spcAft>
                <a:spcPts val="0"/>
              </a:spcAft>
              <a:buSzPts val="800"/>
              <a:buNone/>
              <a:defRPr sz="1000"/>
            </a:lvl3pPr>
            <a:lvl4pPr marL="1828800" lvl="3" indent="-228600" algn="l">
              <a:lnSpc>
                <a:spcPct val="90000"/>
              </a:lnSpc>
              <a:spcBef>
                <a:spcPts val="600"/>
              </a:spcBef>
              <a:spcAft>
                <a:spcPts val="0"/>
              </a:spcAft>
              <a:buSzPts val="900"/>
              <a:buNone/>
              <a:defRPr sz="900"/>
            </a:lvl4pPr>
            <a:lvl5pPr marL="2286000" lvl="4" indent="-228600" algn="l">
              <a:lnSpc>
                <a:spcPct val="90000"/>
              </a:lnSpc>
              <a:spcBef>
                <a:spcPts val="600"/>
              </a:spcBef>
              <a:spcAft>
                <a:spcPts val="0"/>
              </a:spcAft>
              <a:buSzPts val="900"/>
              <a:buNone/>
              <a:defRPr sz="900"/>
            </a:lvl5pPr>
            <a:lvl6pPr marL="2743200" lvl="5" indent="-228600" algn="l">
              <a:lnSpc>
                <a:spcPct val="90000"/>
              </a:lnSpc>
              <a:spcBef>
                <a:spcPts val="600"/>
              </a:spcBef>
              <a:spcAft>
                <a:spcPts val="0"/>
              </a:spcAft>
              <a:buSzPts val="900"/>
              <a:buNone/>
              <a:defRPr sz="900"/>
            </a:lvl6pPr>
            <a:lvl7pPr marL="3200400" lvl="6" indent="-228600" algn="l">
              <a:lnSpc>
                <a:spcPct val="90000"/>
              </a:lnSpc>
              <a:spcBef>
                <a:spcPts val="600"/>
              </a:spcBef>
              <a:spcAft>
                <a:spcPts val="0"/>
              </a:spcAft>
              <a:buSzPts val="720"/>
              <a:buNone/>
              <a:defRPr sz="900"/>
            </a:lvl7pPr>
            <a:lvl8pPr marL="3657600" lvl="7" indent="-228600" algn="l">
              <a:lnSpc>
                <a:spcPct val="90000"/>
              </a:lnSpc>
              <a:spcBef>
                <a:spcPts val="600"/>
              </a:spcBef>
              <a:spcAft>
                <a:spcPts val="0"/>
              </a:spcAft>
              <a:buSzPts val="900"/>
              <a:buNone/>
              <a:defRPr sz="900"/>
            </a:lvl8pPr>
            <a:lvl9pPr marL="4114800" lvl="8" indent="-228600" algn="l">
              <a:lnSpc>
                <a:spcPct val="90000"/>
              </a:lnSpc>
              <a:spcBef>
                <a:spcPts val="600"/>
              </a:spcBef>
              <a:spcAft>
                <a:spcPts val="0"/>
              </a:spcAft>
              <a:buSzPts val="720"/>
              <a:buNone/>
              <a:defRPr sz="900"/>
            </a:lvl9pPr>
          </a:lstStyle>
          <a:p>
            <a:endParaRPr/>
          </a:p>
        </p:txBody>
      </p:sp>
      <p:sp>
        <p:nvSpPr>
          <p:cNvPr id="1222" name="Google Shape;1222;p10"/>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entury Gothic"/>
              <a:buNone/>
              <a:defRPr sz="3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23"/>
        <p:cNvGrpSpPr/>
        <p:nvPr/>
      </p:nvGrpSpPr>
      <p:grpSpPr>
        <a:xfrm>
          <a:off x="0" y="0"/>
          <a:ext cx="0" cy="0"/>
          <a:chOff x="0" y="0"/>
          <a:chExt cx="0" cy="0"/>
        </a:xfrm>
      </p:grpSpPr>
      <p:grpSp>
        <p:nvGrpSpPr>
          <p:cNvPr id="1224" name="Google Shape;1224;p11"/>
          <p:cNvGrpSpPr/>
          <p:nvPr/>
        </p:nvGrpSpPr>
        <p:grpSpPr>
          <a:xfrm>
            <a:off x="1522413" y="1514475"/>
            <a:ext cx="10569575" cy="64008"/>
            <a:chOff x="1522413" y="1514475"/>
            <a:chExt cx="10569575" cy="64008"/>
          </a:xfrm>
        </p:grpSpPr>
        <p:sp>
          <p:nvSpPr>
            <p:cNvPr id="1225" name="Google Shape;1225;p11"/>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6" name="Google Shape;1226;p11"/>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7" name="Google Shape;1227;p11"/>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8" name="Google Shape;1228;p11"/>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9" name="Google Shape;1229;p11"/>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0" name="Google Shape;1230;p11"/>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1" name="Google Shape;1231;p11"/>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2" name="Google Shape;1232;p11"/>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3" name="Google Shape;1233;p11"/>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4" name="Google Shape;1234;p11"/>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5" name="Google Shape;1235;p11"/>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6" name="Google Shape;1236;p11"/>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7" name="Google Shape;1237;p11"/>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8" name="Google Shape;1238;p11"/>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9" name="Google Shape;1239;p11"/>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0" name="Google Shape;1240;p11"/>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1" name="Google Shape;1241;p11"/>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2" name="Google Shape;1242;p11"/>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3" name="Google Shape;1243;p11"/>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4" name="Google Shape;1244;p11"/>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5" name="Google Shape;1245;p11"/>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6" name="Google Shape;1246;p11"/>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7" name="Google Shape;1247;p11"/>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8" name="Google Shape;1248;p11"/>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9" name="Google Shape;1249;p11"/>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0" name="Google Shape;1250;p11"/>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1" name="Google Shape;1251;p11"/>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2" name="Google Shape;1252;p11"/>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3" name="Google Shape;1253;p11"/>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4" name="Google Shape;1254;p11"/>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5" name="Google Shape;1255;p11"/>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6" name="Google Shape;1256;p11"/>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7" name="Google Shape;1257;p11"/>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8" name="Google Shape;1258;p11"/>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9" name="Google Shape;1259;p11"/>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0" name="Google Shape;1260;p11"/>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1" name="Google Shape;1261;p11"/>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2" name="Google Shape;1262;p11"/>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3" name="Google Shape;1263;p11"/>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4" name="Google Shape;1264;p11"/>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5" name="Google Shape;1265;p11"/>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6" name="Google Shape;1266;p11"/>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7" name="Google Shape;1267;p11"/>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8" name="Google Shape;1268;p11"/>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9" name="Google Shape;1269;p11"/>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0" name="Google Shape;1270;p11"/>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1" name="Google Shape;1271;p11"/>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2" name="Google Shape;1272;p11"/>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3" name="Google Shape;1273;p11"/>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4" name="Google Shape;1274;p11"/>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5" name="Google Shape;1275;p11"/>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6" name="Google Shape;1276;p11"/>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7" name="Google Shape;1277;p11"/>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8" name="Google Shape;1278;p11"/>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9" name="Google Shape;1279;p11"/>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0" name="Google Shape;1280;p11"/>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1" name="Google Shape;1281;p11"/>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2" name="Google Shape;1282;p11"/>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3" name="Google Shape;1283;p11"/>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4" name="Google Shape;1284;p11"/>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5" name="Google Shape;1285;p11"/>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6" name="Google Shape;1286;p11"/>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7" name="Google Shape;1287;p11"/>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8" name="Google Shape;1288;p11"/>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9" name="Google Shape;1289;p11"/>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0" name="Google Shape;1290;p11"/>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1" name="Google Shape;1291;p11"/>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2" name="Google Shape;1292;p11"/>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3" name="Google Shape;1293;p11"/>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4" name="Google Shape;1294;p11"/>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5" name="Google Shape;1295;p11"/>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6" name="Google Shape;1296;p11"/>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7" name="Google Shape;1297;p11"/>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8" name="Google Shape;1298;p11"/>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299" name="Google Shape;1299;p11"/>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0" name="Google Shape;1300;p11"/>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1" name="Google Shape;1301;p11"/>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02" name="Google Shape;1302;p11"/>
          <p:cNvSpPr txBox="1">
            <a:spLocks noGrp="1"/>
          </p:cNvSpPr>
          <p:nvPr>
            <p:ph type="body" idx="1"/>
          </p:nvPr>
        </p:nvSpPr>
        <p:spPr>
          <a:xfrm rot="5400000">
            <a:off x="3960814" y="-533400"/>
            <a:ext cx="4267200" cy="9144000"/>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42900" algn="l">
              <a:lnSpc>
                <a:spcPct val="90000"/>
              </a:lnSpc>
              <a:spcBef>
                <a:spcPts val="600"/>
              </a:spcBef>
              <a:spcAft>
                <a:spcPts val="0"/>
              </a:spcAft>
              <a:buSzPts val="1800"/>
              <a:buChar char="►"/>
              <a:defRPr/>
            </a:lvl2pPr>
            <a:lvl3pPr marL="1371600" lvl="2" indent="-320039" algn="l">
              <a:lnSpc>
                <a:spcPct val="90000"/>
              </a:lnSpc>
              <a:spcBef>
                <a:spcPts val="600"/>
              </a:spcBef>
              <a:spcAft>
                <a:spcPts val="0"/>
              </a:spcAft>
              <a:buSzPts val="1440"/>
              <a:buChar char="►"/>
              <a:defRPr/>
            </a:lvl3pPr>
            <a:lvl4pPr marL="1828800" lvl="3" indent="-342900" algn="l">
              <a:lnSpc>
                <a:spcPct val="90000"/>
              </a:lnSpc>
              <a:spcBef>
                <a:spcPts val="600"/>
              </a:spcBef>
              <a:spcAft>
                <a:spcPts val="0"/>
              </a:spcAft>
              <a:buSzPts val="18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1303" name="Google Shape;1303;p11"/>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04"/>
        <p:cNvGrpSpPr/>
        <p:nvPr/>
      </p:nvGrpSpPr>
      <p:grpSpPr>
        <a:xfrm>
          <a:off x="0" y="0"/>
          <a:ext cx="0" cy="0"/>
          <a:chOff x="0" y="0"/>
          <a:chExt cx="0" cy="0"/>
        </a:xfrm>
      </p:grpSpPr>
      <p:grpSp>
        <p:nvGrpSpPr>
          <p:cNvPr id="1305" name="Google Shape;1305;p12"/>
          <p:cNvGrpSpPr/>
          <p:nvPr/>
        </p:nvGrpSpPr>
        <p:grpSpPr>
          <a:xfrm rot="5400000">
            <a:off x="6864412" y="3472598"/>
            <a:ext cx="6492240" cy="64008"/>
            <a:chOff x="1522413" y="1514475"/>
            <a:chExt cx="10569575" cy="64008"/>
          </a:xfrm>
        </p:grpSpPr>
        <p:sp>
          <p:nvSpPr>
            <p:cNvPr id="1306" name="Google Shape;1306;p12"/>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7" name="Google Shape;1307;p12"/>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8" name="Google Shape;1308;p12"/>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9" name="Google Shape;1309;p12"/>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0" name="Google Shape;1310;p12"/>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1" name="Google Shape;1311;p12"/>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2" name="Google Shape;1312;p12"/>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3" name="Google Shape;1313;p12"/>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4" name="Google Shape;1314;p12"/>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5" name="Google Shape;1315;p12"/>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6" name="Google Shape;1316;p12"/>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7" name="Google Shape;1317;p12"/>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8" name="Google Shape;1318;p12"/>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9" name="Google Shape;1319;p12"/>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0" name="Google Shape;1320;p12"/>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1" name="Google Shape;1321;p12"/>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2" name="Google Shape;1322;p12"/>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3" name="Google Shape;1323;p12"/>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4" name="Google Shape;1324;p12"/>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5" name="Google Shape;1325;p12"/>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6" name="Google Shape;1326;p12"/>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7" name="Google Shape;1327;p12"/>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8" name="Google Shape;1328;p12"/>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9" name="Google Shape;1329;p12"/>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0" name="Google Shape;1330;p12"/>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1" name="Google Shape;1331;p12"/>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2" name="Google Shape;1332;p12"/>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3" name="Google Shape;1333;p12"/>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4" name="Google Shape;1334;p12"/>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5" name="Google Shape;1335;p12"/>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6" name="Google Shape;1336;p12"/>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7" name="Google Shape;1337;p12"/>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8" name="Google Shape;1338;p12"/>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9" name="Google Shape;1339;p12"/>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0" name="Google Shape;1340;p12"/>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1" name="Google Shape;1341;p12"/>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2" name="Google Shape;1342;p12"/>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3" name="Google Shape;1343;p12"/>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4" name="Google Shape;1344;p12"/>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5" name="Google Shape;1345;p12"/>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6" name="Google Shape;1346;p12"/>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7" name="Google Shape;1347;p12"/>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8" name="Google Shape;1348;p12"/>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9" name="Google Shape;1349;p12"/>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0" name="Google Shape;1350;p12"/>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1" name="Google Shape;1351;p12"/>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2" name="Google Shape;1352;p12"/>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3" name="Google Shape;1353;p12"/>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4" name="Google Shape;1354;p12"/>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5" name="Google Shape;1355;p12"/>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6" name="Google Shape;1356;p12"/>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7" name="Google Shape;1357;p12"/>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8" name="Google Shape;1358;p12"/>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9" name="Google Shape;1359;p12"/>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0" name="Google Shape;1360;p12"/>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1" name="Google Shape;1361;p12"/>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2" name="Google Shape;1362;p12"/>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3" name="Google Shape;1363;p12"/>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4" name="Google Shape;1364;p12"/>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5" name="Google Shape;1365;p12"/>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6" name="Google Shape;1366;p12"/>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7" name="Google Shape;1367;p12"/>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8" name="Google Shape;1368;p12"/>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9" name="Google Shape;1369;p12"/>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0" name="Google Shape;1370;p12"/>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1" name="Google Shape;1371;p12"/>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2" name="Google Shape;1372;p12"/>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3" name="Google Shape;1373;p12"/>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4" name="Google Shape;1374;p12"/>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5" name="Google Shape;1375;p12"/>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6" name="Google Shape;1376;p12"/>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7" name="Google Shape;1377;p12"/>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8" name="Google Shape;1378;p12"/>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9" name="Google Shape;1379;p12"/>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380" name="Google Shape;1380;p12"/>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1" name="Google Shape;1381;p12"/>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2" name="Google Shape;1382;p12"/>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83" name="Google Shape;1383;p12"/>
          <p:cNvSpPr txBox="1">
            <a:spLocks noGrp="1"/>
          </p:cNvSpPr>
          <p:nvPr>
            <p:ph type="body" idx="1"/>
          </p:nvPr>
        </p:nvSpPr>
        <p:spPr>
          <a:xfrm rot="5400000">
            <a:off x="2230726" y="-1344901"/>
            <a:ext cx="5898573" cy="9144001"/>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42900" algn="l">
              <a:lnSpc>
                <a:spcPct val="90000"/>
              </a:lnSpc>
              <a:spcBef>
                <a:spcPts val="600"/>
              </a:spcBef>
              <a:spcAft>
                <a:spcPts val="0"/>
              </a:spcAft>
              <a:buSzPts val="1800"/>
              <a:buChar char="►"/>
              <a:defRPr/>
            </a:lvl2pPr>
            <a:lvl3pPr marL="1371600" lvl="2" indent="-320039" algn="l">
              <a:lnSpc>
                <a:spcPct val="90000"/>
              </a:lnSpc>
              <a:spcBef>
                <a:spcPts val="600"/>
              </a:spcBef>
              <a:spcAft>
                <a:spcPts val="0"/>
              </a:spcAft>
              <a:buSzPts val="1440"/>
              <a:buChar char="►"/>
              <a:defRPr/>
            </a:lvl3pPr>
            <a:lvl4pPr marL="1828800" lvl="3" indent="-342900" algn="l">
              <a:lnSpc>
                <a:spcPct val="90000"/>
              </a:lnSpc>
              <a:spcBef>
                <a:spcPts val="600"/>
              </a:spcBef>
              <a:spcAft>
                <a:spcPts val="0"/>
              </a:spcAft>
              <a:buSzPts val="18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1384" name="Google Shape;1384;p12"/>
          <p:cNvSpPr txBox="1">
            <a:spLocks noGrp="1"/>
          </p:cNvSpPr>
          <p:nvPr>
            <p:ph type="title"/>
          </p:nvPr>
        </p:nvSpPr>
        <p:spPr>
          <a:xfrm rot="5400000">
            <a:off x="8096538" y="2539713"/>
            <a:ext cx="5901747" cy="1371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1" name="Google Shape;11;p1"/>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1"/>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lt1"/>
                </a:solidFill>
                <a:latin typeface="Century Gothic"/>
                <a:ea typeface="Century Gothic"/>
                <a:cs typeface="Century Gothic"/>
                <a:sym typeface="Century Gothic"/>
              </a:defRPr>
            </a:lvl1pPr>
            <a:lvl2pPr marL="0" marR="0" lvl="1" indent="0" algn="r" rtl="0">
              <a:spcBef>
                <a:spcPts val="0"/>
              </a:spcBef>
              <a:buNone/>
              <a:defRPr sz="1000" b="0" i="0" u="none" strike="noStrike" cap="none">
                <a:solidFill>
                  <a:schemeClr val="lt1"/>
                </a:solidFill>
                <a:latin typeface="Century Gothic"/>
                <a:ea typeface="Century Gothic"/>
                <a:cs typeface="Century Gothic"/>
                <a:sym typeface="Century Gothic"/>
              </a:defRPr>
            </a:lvl2pPr>
            <a:lvl3pPr marL="0" marR="0" lvl="2" indent="0" algn="r" rtl="0">
              <a:spcBef>
                <a:spcPts val="0"/>
              </a:spcBef>
              <a:buNone/>
              <a:defRPr sz="1000" b="0" i="0" u="none" strike="noStrike" cap="none">
                <a:solidFill>
                  <a:schemeClr val="lt1"/>
                </a:solidFill>
                <a:latin typeface="Century Gothic"/>
                <a:ea typeface="Century Gothic"/>
                <a:cs typeface="Century Gothic"/>
                <a:sym typeface="Century Gothic"/>
              </a:defRPr>
            </a:lvl3pPr>
            <a:lvl4pPr marL="0" marR="0" lvl="3" indent="0" algn="r" rtl="0">
              <a:spcBef>
                <a:spcPts val="0"/>
              </a:spcBef>
              <a:buNone/>
              <a:defRPr sz="1000" b="0" i="0" u="none" strike="noStrike" cap="none">
                <a:solidFill>
                  <a:schemeClr val="lt1"/>
                </a:solidFill>
                <a:latin typeface="Century Gothic"/>
                <a:ea typeface="Century Gothic"/>
                <a:cs typeface="Century Gothic"/>
                <a:sym typeface="Century Gothic"/>
              </a:defRPr>
            </a:lvl4pPr>
            <a:lvl5pPr marL="0" marR="0" lvl="4" indent="0" algn="r" rtl="0">
              <a:spcBef>
                <a:spcPts val="0"/>
              </a:spcBef>
              <a:buNone/>
              <a:defRPr sz="1000" b="0" i="0" u="none" strike="noStrike" cap="none">
                <a:solidFill>
                  <a:schemeClr val="lt1"/>
                </a:solidFill>
                <a:latin typeface="Century Gothic"/>
                <a:ea typeface="Century Gothic"/>
                <a:cs typeface="Century Gothic"/>
                <a:sym typeface="Century Gothic"/>
              </a:defRPr>
            </a:lvl5pPr>
            <a:lvl6pPr marL="0" marR="0" lvl="5" indent="0" algn="r" rtl="0">
              <a:spcBef>
                <a:spcPts val="0"/>
              </a:spcBef>
              <a:buNone/>
              <a:defRPr sz="1000" b="0" i="0" u="none" strike="noStrike" cap="none">
                <a:solidFill>
                  <a:schemeClr val="lt1"/>
                </a:solidFill>
                <a:latin typeface="Century Gothic"/>
                <a:ea typeface="Century Gothic"/>
                <a:cs typeface="Century Gothic"/>
                <a:sym typeface="Century Gothic"/>
              </a:defRPr>
            </a:lvl6pPr>
            <a:lvl7pPr marL="0" marR="0" lvl="6" indent="0" algn="r" rtl="0">
              <a:spcBef>
                <a:spcPts val="0"/>
              </a:spcBef>
              <a:buNone/>
              <a:defRPr sz="1000" b="0" i="0" u="none" strike="noStrike" cap="none">
                <a:solidFill>
                  <a:schemeClr val="lt1"/>
                </a:solidFill>
                <a:latin typeface="Century Gothic"/>
                <a:ea typeface="Century Gothic"/>
                <a:cs typeface="Century Gothic"/>
                <a:sym typeface="Century Gothic"/>
              </a:defRPr>
            </a:lvl7pPr>
            <a:lvl8pPr marL="0" marR="0" lvl="7" indent="0" algn="r" rtl="0">
              <a:spcBef>
                <a:spcPts val="0"/>
              </a:spcBef>
              <a:buNone/>
              <a:defRPr sz="1000" b="0" i="0" u="none" strike="noStrike" cap="none">
                <a:solidFill>
                  <a:schemeClr val="lt1"/>
                </a:solidFill>
                <a:latin typeface="Century Gothic"/>
                <a:ea typeface="Century Gothic"/>
                <a:cs typeface="Century Gothic"/>
                <a:sym typeface="Century Gothic"/>
              </a:defRPr>
            </a:lvl8pPr>
            <a:lvl9pPr marL="0" marR="0" lvl="8" indent="0" algn="r" rtl="0">
              <a:spcBef>
                <a:spcPts val="0"/>
              </a:spcBef>
              <a:buNone/>
              <a:defRPr sz="100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1"/>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Autofit/>
          </a:bodyPr>
          <a:lstStyle>
            <a:lvl1pPr marL="457200" marR="0" lvl="0" indent="-350520" algn="l" rtl="0">
              <a:lnSpc>
                <a:spcPct val="90000"/>
              </a:lnSpc>
              <a:spcBef>
                <a:spcPts val="1800"/>
              </a:spcBef>
              <a:spcAft>
                <a:spcPts val="0"/>
              </a:spcAft>
              <a:buClr>
                <a:schemeClr val="dk2"/>
              </a:buClr>
              <a:buSzPts val="192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lt1"/>
              </a:buClr>
              <a:buSzPts val="3200"/>
              <a:buFont typeface="Century Gothic"/>
              <a:buNone/>
              <a:defRPr sz="3200" b="0" i="0" u="none" strike="noStrike" cap="non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 name="TextBox 2">
            <a:extLst>
              <a:ext uri="{FF2B5EF4-FFF2-40B4-BE49-F238E27FC236}">
                <a16:creationId xmlns:a16="http://schemas.microsoft.com/office/drawing/2014/main" id="{72F5CB98-81C4-1CF6-AB04-BCF90A5F2D77}"/>
              </a:ext>
            </a:extLst>
          </p:cNvPr>
          <p:cNvSpPr txBox="1"/>
          <p:nvPr userDrawn="1">
            <p:extLst>
              <p:ext uri="{1162E1C5-73C7-4A58-AE30-91384D911F3F}">
                <p184:classification xmlns:p184="http://schemas.microsoft.com/office/powerpoint/2018/4/main" val="hdr"/>
              </p:ext>
            </p:extLst>
          </p:nvPr>
        </p:nvSpPr>
        <p:spPr>
          <a:xfrm>
            <a:off x="11233150" y="63500"/>
            <a:ext cx="92075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5.xml"/><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5.xml"/><Relationship Id="rId5" Type="http://schemas.openxmlformats.org/officeDocument/2006/relationships/image" Target="../media/image16.sv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hyperlink" Target="https://numpy.org/doc/stable/" TargetMode="External"/><Relationship Id="rId2" Type="http://schemas.openxmlformats.org/officeDocument/2006/relationships/hyperlink" Target="https://numpy.org/" TargetMode="Externa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hyperlink" Target="https://numpy.org/" TargetMode="Externa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8"/>
        <p:cNvGrpSpPr/>
        <p:nvPr/>
      </p:nvGrpSpPr>
      <p:grpSpPr>
        <a:xfrm>
          <a:off x="0" y="0"/>
          <a:ext cx="0" cy="0"/>
          <a:chOff x="0" y="0"/>
          <a:chExt cx="0" cy="0"/>
        </a:xfrm>
      </p:grpSpPr>
      <p:sp>
        <p:nvSpPr>
          <p:cNvPr id="1389" name="Google Shape;1389;p13"/>
          <p:cNvSpPr txBox="1">
            <a:spLocks noGrp="1"/>
          </p:cNvSpPr>
          <p:nvPr>
            <p:ph type="subTitle"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r>
              <a:rPr lang="en-US"/>
              <a:t>Course 1</a:t>
            </a:r>
            <a:endParaRPr/>
          </a:p>
        </p:txBody>
      </p:sp>
      <p:sp>
        <p:nvSpPr>
          <p:cNvPr id="1390" name="Google Shape;1390;p13"/>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400"/>
              <a:buFont typeface="Century Gothic"/>
              <a:buNone/>
            </a:pPr>
            <a:r>
              <a:rPr lang="en-US" dirty="0"/>
              <a:t>Neural Networks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14"/>
          <p:cNvSpPr txBox="1">
            <a:spLocks noGrp="1"/>
          </p:cNvSpPr>
          <p:nvPr>
            <p:ph type="body" idx="1"/>
          </p:nvPr>
        </p:nvSpPr>
        <p:spPr>
          <a:xfrm>
            <a:off x="1522414" y="1653540"/>
            <a:ext cx="9905999" cy="4038600"/>
          </a:xfrm>
          <a:prstGeom prst="rect">
            <a:avLst/>
          </a:prstGeom>
          <a:noFill/>
          <a:ln>
            <a:noFill/>
          </a:ln>
        </p:spPr>
        <p:txBody>
          <a:bodyPr spcFirstLastPara="1" wrap="square" lIns="91425" tIns="45700" rIns="91425" bIns="45700" anchor="t" anchorCtr="0">
            <a:noAutofit/>
          </a:bodyPr>
          <a:lstStyle/>
          <a:p>
            <a:pPr marL="274320" lvl="0" indent="-274320" algn="l" rtl="0">
              <a:lnSpc>
                <a:spcPct val="90000"/>
              </a:lnSpc>
              <a:spcBef>
                <a:spcPts val="0"/>
              </a:spcBef>
              <a:spcAft>
                <a:spcPts val="0"/>
              </a:spcAft>
              <a:buSzPts val="1920"/>
              <a:buChar char="►"/>
            </a:pPr>
            <a:r>
              <a:rPr lang="en-US" dirty="0"/>
              <a:t>Course evaluation</a:t>
            </a:r>
            <a:endParaRPr dirty="0"/>
          </a:p>
          <a:p>
            <a:pPr marL="274320" lvl="0" indent="0" algn="l" rtl="0">
              <a:lnSpc>
                <a:spcPct val="90000"/>
              </a:lnSpc>
              <a:spcBef>
                <a:spcPts val="0"/>
              </a:spcBef>
              <a:spcAft>
                <a:spcPts val="0"/>
              </a:spcAft>
              <a:buNone/>
            </a:pPr>
            <a:endParaRPr dirty="0"/>
          </a:p>
          <a:p>
            <a:pPr marL="274320" lvl="0" indent="-274320" algn="l" rtl="0">
              <a:lnSpc>
                <a:spcPct val="90000"/>
              </a:lnSpc>
              <a:spcBef>
                <a:spcPts val="0"/>
              </a:spcBef>
              <a:spcAft>
                <a:spcPts val="0"/>
              </a:spcAft>
              <a:buSzPts val="1920"/>
              <a:buChar char="►"/>
            </a:pPr>
            <a:r>
              <a:rPr lang="en-US" dirty="0"/>
              <a:t>Machine learning concepts</a:t>
            </a:r>
            <a:endParaRPr dirty="0"/>
          </a:p>
          <a:p>
            <a:pPr marL="274320" lvl="0" indent="-274320" algn="l" rtl="0">
              <a:lnSpc>
                <a:spcPct val="90000"/>
              </a:lnSpc>
              <a:spcBef>
                <a:spcPts val="1800"/>
              </a:spcBef>
              <a:spcAft>
                <a:spcPts val="0"/>
              </a:spcAft>
              <a:buSzPts val="1920"/>
              <a:buChar char="►"/>
            </a:pPr>
            <a:r>
              <a:rPr lang="en-US" dirty="0"/>
              <a:t>Basic Linear Algebra</a:t>
            </a:r>
          </a:p>
          <a:p>
            <a:pPr marL="274320" lvl="0" indent="-274320" algn="l" rtl="0">
              <a:lnSpc>
                <a:spcPct val="90000"/>
              </a:lnSpc>
              <a:spcBef>
                <a:spcPts val="1800"/>
              </a:spcBef>
              <a:spcAft>
                <a:spcPts val="0"/>
              </a:spcAft>
              <a:buSzPts val="1920"/>
              <a:buChar char="►"/>
            </a:pPr>
            <a:r>
              <a:rPr lang="en-US" dirty="0" err="1"/>
              <a:t>Numpy</a:t>
            </a:r>
            <a:endParaRPr lang="en-US" dirty="0"/>
          </a:p>
          <a:p>
            <a:pPr marL="731520" lvl="1" indent="-274320">
              <a:spcBef>
                <a:spcPts val="1200"/>
              </a:spcBef>
              <a:buSzPts val="1920"/>
            </a:pPr>
            <a:r>
              <a:rPr lang="en-US" dirty="0"/>
              <a:t>Datatype</a:t>
            </a:r>
          </a:p>
          <a:p>
            <a:pPr marL="731520" lvl="1" indent="-274320">
              <a:spcBef>
                <a:spcPts val="1200"/>
              </a:spcBef>
              <a:buSzPts val="1920"/>
            </a:pPr>
            <a:r>
              <a:rPr lang="en-US" dirty="0"/>
              <a:t>Arrays</a:t>
            </a:r>
          </a:p>
          <a:p>
            <a:pPr marL="731520" lvl="1" indent="-274320">
              <a:spcBef>
                <a:spcPts val="1200"/>
              </a:spcBef>
              <a:buSzPts val="1920"/>
            </a:pPr>
            <a:r>
              <a:rPr lang="en-US" dirty="0"/>
              <a:t>Shapes</a:t>
            </a:r>
          </a:p>
          <a:p>
            <a:pPr marL="731520" lvl="1" indent="-274320">
              <a:spcBef>
                <a:spcPts val="1200"/>
              </a:spcBef>
              <a:buSzPts val="1920"/>
            </a:pPr>
            <a:r>
              <a:rPr lang="en-US" dirty="0"/>
              <a:t>Indexing &amp; slicing</a:t>
            </a:r>
          </a:p>
          <a:p>
            <a:pPr marL="731520" lvl="1" indent="-274320">
              <a:spcBef>
                <a:spcPts val="1200"/>
              </a:spcBef>
              <a:buSzPts val="1920"/>
            </a:pPr>
            <a:r>
              <a:rPr lang="en-US" dirty="0"/>
              <a:t>Operations</a:t>
            </a:r>
          </a:p>
          <a:p>
            <a:pPr marL="731520" lvl="1" indent="-274320">
              <a:spcBef>
                <a:spcPts val="1200"/>
              </a:spcBef>
              <a:buSzPts val="1920"/>
            </a:pPr>
            <a:r>
              <a:rPr lang="en-US" dirty="0"/>
              <a:t>Serialization</a:t>
            </a:r>
            <a:endParaRPr dirty="0"/>
          </a:p>
        </p:txBody>
      </p:sp>
      <p:sp>
        <p:nvSpPr>
          <p:cNvPr id="1396" name="Google Shape;1396;p14"/>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Overview</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1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
        <p:nvSpPr>
          <p:cNvPr id="1402" name="Google Shape;1402;p15"/>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400"/>
              <a:buFont typeface="Century Gothic"/>
              <a:buNone/>
            </a:pPr>
            <a:r>
              <a:rPr lang="en-US"/>
              <a:t>Course Evaluation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sp>
        <p:nvSpPr>
          <p:cNvPr id="1407" name="Google Shape;1407;p16"/>
          <p:cNvSpPr txBox="1">
            <a:spLocks noGrp="1"/>
          </p:cNvSpPr>
          <p:nvPr>
            <p:ph type="body" idx="1"/>
          </p:nvPr>
        </p:nvSpPr>
        <p:spPr>
          <a:xfrm>
            <a:off x="6249860" y="2819399"/>
            <a:ext cx="4416552" cy="3627896"/>
          </a:xfrm>
          <a:prstGeom prst="rect">
            <a:avLst/>
          </a:prstGeom>
          <a:noFill/>
          <a:ln>
            <a:noFill/>
          </a:ln>
        </p:spPr>
        <p:txBody>
          <a:bodyPr spcFirstLastPara="1" wrap="square" lIns="91425" tIns="45700" rIns="91425" bIns="45700" anchor="t" anchorCtr="0">
            <a:noAutofit/>
          </a:bodyPr>
          <a:lstStyle/>
          <a:p>
            <a:pPr marL="274320" lvl="0" indent="-274320" algn="l" rtl="0">
              <a:lnSpc>
                <a:spcPct val="90000"/>
              </a:lnSpc>
              <a:spcBef>
                <a:spcPts val="0"/>
              </a:spcBef>
              <a:spcAft>
                <a:spcPts val="0"/>
              </a:spcAft>
              <a:buSzPts val="1920"/>
              <a:buChar char="►"/>
            </a:pPr>
            <a:endParaRPr lang="en-US" dirty="0"/>
          </a:p>
          <a:p>
            <a:pPr marL="274320" lvl="0" indent="-274320" algn="l" rtl="0">
              <a:lnSpc>
                <a:spcPct val="90000"/>
              </a:lnSpc>
              <a:spcBef>
                <a:spcPts val="0"/>
              </a:spcBef>
              <a:spcAft>
                <a:spcPts val="0"/>
              </a:spcAft>
              <a:buSzPts val="1920"/>
              <a:buChar char="►"/>
            </a:pPr>
            <a:r>
              <a:rPr lang="en-US" dirty="0"/>
              <a:t>60% of final grade</a:t>
            </a:r>
            <a:endParaRPr dirty="0"/>
          </a:p>
          <a:p>
            <a:pPr marL="274320" lvl="0" indent="-274320" algn="l" rtl="0">
              <a:spcBef>
                <a:spcPts val="1800"/>
              </a:spcBef>
              <a:spcAft>
                <a:spcPts val="0"/>
              </a:spcAft>
              <a:buSzPts val="1920"/>
              <a:buChar char="►"/>
            </a:pPr>
            <a:r>
              <a:rPr lang="en-US" dirty="0"/>
              <a:t>Points can be received by completing 5 assignments</a:t>
            </a:r>
            <a:endParaRPr dirty="0"/>
          </a:p>
          <a:p>
            <a:pPr marL="0" lvl="0" indent="0" algn="l" rtl="0">
              <a:lnSpc>
                <a:spcPct val="90000"/>
              </a:lnSpc>
              <a:spcBef>
                <a:spcPts val="1800"/>
              </a:spcBef>
              <a:spcAft>
                <a:spcPts val="0"/>
              </a:spcAft>
              <a:buSzPts val="1920"/>
              <a:buNone/>
            </a:pPr>
            <a:endParaRPr dirty="0"/>
          </a:p>
          <a:p>
            <a:pPr marL="0" lvl="0" indent="0" algn="l" rtl="0">
              <a:lnSpc>
                <a:spcPct val="90000"/>
              </a:lnSpc>
              <a:spcBef>
                <a:spcPts val="1800"/>
              </a:spcBef>
              <a:spcAft>
                <a:spcPts val="0"/>
              </a:spcAft>
              <a:buSzPts val="1920"/>
              <a:buNone/>
            </a:pPr>
            <a:br>
              <a:rPr lang="en-US" dirty="0"/>
            </a:br>
            <a:endParaRPr lang="en-US" dirty="0"/>
          </a:p>
          <a:p>
            <a:pPr marL="0" lvl="0" indent="0" algn="l" rtl="0">
              <a:lnSpc>
                <a:spcPct val="90000"/>
              </a:lnSpc>
              <a:spcBef>
                <a:spcPts val="1800"/>
              </a:spcBef>
              <a:spcAft>
                <a:spcPts val="0"/>
              </a:spcAft>
              <a:buSzPts val="1920"/>
              <a:buNone/>
            </a:pPr>
            <a:endParaRPr lang="en-US" dirty="0"/>
          </a:p>
          <a:p>
            <a:pPr marL="0" lvl="0" indent="0" algn="l" rtl="0">
              <a:lnSpc>
                <a:spcPct val="90000"/>
              </a:lnSpc>
              <a:spcBef>
                <a:spcPts val="1800"/>
              </a:spcBef>
              <a:spcAft>
                <a:spcPts val="0"/>
              </a:spcAft>
              <a:buSzPts val="1920"/>
              <a:buNone/>
            </a:pPr>
            <a:endParaRPr dirty="0"/>
          </a:p>
        </p:txBody>
      </p:sp>
      <p:sp>
        <p:nvSpPr>
          <p:cNvPr id="1411" name="Google Shape;1411;p16"/>
          <p:cNvSpPr txBox="1">
            <a:spLocks noGrp="1"/>
          </p:cNvSpPr>
          <p:nvPr>
            <p:ph type="body" idx="2"/>
          </p:nvPr>
        </p:nvSpPr>
        <p:spPr>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920"/>
              <a:buNone/>
            </a:pPr>
            <a:r>
              <a:rPr lang="en-US" u="sng"/>
              <a:t>Laboratory Requirements</a:t>
            </a:r>
            <a:endParaRPr u="sng"/>
          </a:p>
        </p:txBody>
      </p:sp>
      <p:sp>
        <p:nvSpPr>
          <p:cNvPr id="1408" name="Google Shape;1408;p16"/>
          <p:cNvSpPr txBox="1">
            <a:spLocks noGrp="1"/>
          </p:cNvSpPr>
          <p:nvPr>
            <p:ph type="body" idx="3"/>
          </p:nvPr>
        </p:nvSpPr>
        <p:spPr>
          <a:xfrm>
            <a:off x="1522412" y="2819399"/>
            <a:ext cx="4727447" cy="3352801"/>
          </a:xfrm>
          <a:prstGeom prst="rect">
            <a:avLst/>
          </a:prstGeom>
          <a:noFill/>
          <a:ln>
            <a:noFill/>
          </a:ln>
        </p:spPr>
        <p:txBody>
          <a:bodyPr spcFirstLastPara="1" wrap="square" lIns="91425" tIns="45700" rIns="91425" bIns="45700" anchor="t" anchorCtr="0">
            <a:noAutofit/>
          </a:bodyPr>
          <a:lstStyle/>
          <a:p>
            <a:pPr marL="274320" lvl="0" indent="-274320" algn="l" rtl="0">
              <a:lnSpc>
                <a:spcPct val="90000"/>
              </a:lnSpc>
              <a:spcBef>
                <a:spcPts val="1800"/>
              </a:spcBef>
              <a:spcAft>
                <a:spcPts val="0"/>
              </a:spcAft>
              <a:buSzPts val="1920"/>
              <a:buChar char="►"/>
            </a:pPr>
            <a:r>
              <a:rPr lang="en-US" dirty="0"/>
              <a:t>40% of final grade</a:t>
            </a:r>
          </a:p>
          <a:p>
            <a:pPr marL="274320" lvl="0" indent="-274320" algn="l" rtl="0">
              <a:lnSpc>
                <a:spcPct val="90000"/>
              </a:lnSpc>
              <a:spcBef>
                <a:spcPts val="1800"/>
              </a:spcBef>
              <a:spcAft>
                <a:spcPts val="0"/>
              </a:spcAft>
              <a:buSzPts val="1920"/>
              <a:buChar char="►"/>
            </a:pPr>
            <a:r>
              <a:rPr lang="en-US" dirty="0"/>
              <a:t>Points will be received from a final test that will take place during the examination session</a:t>
            </a:r>
          </a:p>
          <a:p>
            <a:pPr marL="274320" lvl="0" indent="-274320" algn="l" rtl="0">
              <a:lnSpc>
                <a:spcPct val="90000"/>
              </a:lnSpc>
              <a:spcBef>
                <a:spcPts val="1800"/>
              </a:spcBef>
              <a:spcAft>
                <a:spcPts val="0"/>
              </a:spcAft>
              <a:buSzPts val="1920"/>
              <a:buChar char="►"/>
            </a:pPr>
            <a:endParaRPr dirty="0"/>
          </a:p>
          <a:p>
            <a:pPr marL="0" lvl="0" indent="0" algn="l" rtl="0">
              <a:lnSpc>
                <a:spcPct val="90000"/>
              </a:lnSpc>
              <a:spcBef>
                <a:spcPts val="1800"/>
              </a:spcBef>
              <a:spcAft>
                <a:spcPts val="0"/>
              </a:spcAft>
              <a:buSzPts val="1920"/>
              <a:buNone/>
            </a:pPr>
            <a:r>
              <a:rPr lang="en-US" dirty="0"/>
              <a:t>   Minimum 35 points out of 100</a:t>
            </a:r>
            <a:endParaRPr dirty="0"/>
          </a:p>
        </p:txBody>
      </p:sp>
      <p:sp>
        <p:nvSpPr>
          <p:cNvPr id="1409" name="Google Shape;1409;p16"/>
          <p:cNvSpPr txBox="1">
            <a:spLocks noGrp="1"/>
          </p:cNvSpPr>
          <p:nvPr>
            <p:ph type="body" idx="4"/>
          </p:nvPr>
        </p:nvSpPr>
        <p:spPr>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920"/>
              <a:buNone/>
            </a:pPr>
            <a:r>
              <a:rPr lang="en-US" u="sng"/>
              <a:t>Course Requirements</a:t>
            </a:r>
            <a:endParaRPr u="sng"/>
          </a:p>
        </p:txBody>
      </p:sp>
      <p:sp>
        <p:nvSpPr>
          <p:cNvPr id="1410" name="Google Shape;1410;p16"/>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Evaluation</a:t>
            </a:r>
            <a:endParaRPr/>
          </a:p>
        </p:txBody>
      </p:sp>
      <p:sp>
        <p:nvSpPr>
          <p:cNvPr id="1412" name="Google Shape;1412;p16"/>
          <p:cNvSpPr/>
          <p:nvPr/>
        </p:nvSpPr>
        <p:spPr>
          <a:xfrm>
            <a:off x="6486010" y="5679539"/>
            <a:ext cx="4703765"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lt1"/>
                </a:solidFill>
                <a:latin typeface="Century Gothic"/>
                <a:ea typeface="Century Gothic"/>
                <a:cs typeface="Century Gothic"/>
                <a:sym typeface="Century Gothic"/>
              </a:rPr>
              <a:t>Minimum 35 points out of 100</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6"/>
        <p:cNvGrpSpPr/>
        <p:nvPr/>
      </p:nvGrpSpPr>
      <p:grpSpPr>
        <a:xfrm>
          <a:off x="0" y="0"/>
          <a:ext cx="0" cy="0"/>
          <a:chOff x="0" y="0"/>
          <a:chExt cx="0" cy="0"/>
        </a:xfrm>
      </p:grpSpPr>
      <p:sp>
        <p:nvSpPr>
          <p:cNvPr id="1417" name="Google Shape;1417;p17"/>
          <p:cNvSpPr txBox="1">
            <a:spLocks noGrp="1"/>
          </p:cNvSpPr>
          <p:nvPr>
            <p:ph type="body" idx="1"/>
          </p:nvPr>
        </p:nvSpPr>
        <p:spPr>
          <a:xfrm>
            <a:off x="1522413" y="1905000"/>
            <a:ext cx="9905999" cy="4038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r>
              <a:rPr lang="en-US" u="sng" dirty="0"/>
              <a:t>More about the Laboratory</a:t>
            </a:r>
            <a:r>
              <a:rPr lang="en-US" dirty="0"/>
              <a:t>:</a:t>
            </a:r>
          </a:p>
          <a:p>
            <a:pPr marL="0" lvl="0" indent="0" algn="l" rtl="0">
              <a:lnSpc>
                <a:spcPct val="90000"/>
              </a:lnSpc>
              <a:spcBef>
                <a:spcPts val="0"/>
              </a:spcBef>
              <a:spcAft>
                <a:spcPts val="0"/>
              </a:spcAft>
              <a:buSzPts val="1920"/>
              <a:buNone/>
            </a:pPr>
            <a:r>
              <a:rPr lang="en-US" dirty="0"/>
              <a:t>	</a:t>
            </a:r>
            <a:r>
              <a:rPr lang="en-US" sz="1600" dirty="0"/>
              <a:t>(subject to change)</a:t>
            </a:r>
            <a:endParaRPr dirty="0"/>
          </a:p>
          <a:p>
            <a:pPr marL="0" lvl="0" indent="0" algn="l" rtl="0">
              <a:lnSpc>
                <a:spcPct val="90000"/>
              </a:lnSpc>
              <a:spcBef>
                <a:spcPts val="1800"/>
              </a:spcBef>
              <a:spcAft>
                <a:spcPts val="0"/>
              </a:spcAft>
              <a:buSzPts val="1920"/>
              <a:buNone/>
            </a:pPr>
            <a:r>
              <a:rPr lang="en-US" dirty="0"/>
              <a:t>100 points divided in 5 assignments:</a:t>
            </a:r>
            <a:endParaRPr dirty="0"/>
          </a:p>
          <a:p>
            <a:pPr marL="576072" lvl="1" indent="-299720" algn="l" rtl="0">
              <a:spcBef>
                <a:spcPts val="600"/>
              </a:spcBef>
              <a:spcAft>
                <a:spcPts val="0"/>
              </a:spcAft>
              <a:buSzPts val="2400"/>
              <a:buChar char="►"/>
            </a:pPr>
            <a:r>
              <a:rPr lang="en-US" sz="2400" dirty="0"/>
              <a:t> First Half of the semester:</a:t>
            </a:r>
            <a:endParaRPr sz="2400" dirty="0"/>
          </a:p>
          <a:p>
            <a:pPr marL="804672" lvl="2" indent="-238759" algn="l" rtl="0">
              <a:spcBef>
                <a:spcPts val="600"/>
              </a:spcBef>
              <a:spcAft>
                <a:spcPts val="0"/>
              </a:spcAft>
              <a:buSzPts val="1600"/>
              <a:buChar char="▪"/>
            </a:pPr>
            <a:r>
              <a:rPr lang="en-US" sz="2000" dirty="0"/>
              <a:t>Assignment 1: 10 points (Deadline: 3</a:t>
            </a:r>
            <a:r>
              <a:rPr lang="en-US" sz="2000" baseline="30000" dirty="0"/>
              <a:t>rd</a:t>
            </a:r>
            <a:r>
              <a:rPr lang="en-US" sz="2000" dirty="0"/>
              <a:t>  week)</a:t>
            </a:r>
            <a:endParaRPr sz="2400" dirty="0"/>
          </a:p>
          <a:p>
            <a:pPr marL="804672" lvl="2" indent="-238759" algn="l" rtl="0">
              <a:spcBef>
                <a:spcPts val="600"/>
              </a:spcBef>
              <a:spcAft>
                <a:spcPts val="0"/>
              </a:spcAft>
              <a:buSzPts val="1600"/>
              <a:buChar char="▪"/>
            </a:pPr>
            <a:r>
              <a:rPr lang="en-US" sz="2000" dirty="0"/>
              <a:t>Assignment 2: 15 points </a:t>
            </a:r>
            <a:r>
              <a:rPr lang="en-US" sz="1800" dirty="0"/>
              <a:t>(Deadline: 4</a:t>
            </a:r>
            <a:r>
              <a:rPr lang="en-US" sz="1800" baseline="30000" dirty="0"/>
              <a:t>th</a:t>
            </a:r>
            <a:r>
              <a:rPr lang="en-US" sz="1800" dirty="0"/>
              <a:t>  week)</a:t>
            </a:r>
            <a:endParaRPr dirty="0"/>
          </a:p>
          <a:p>
            <a:pPr marL="804672" lvl="2" indent="-238759" algn="l" rtl="0">
              <a:spcBef>
                <a:spcPts val="600"/>
              </a:spcBef>
              <a:spcAft>
                <a:spcPts val="0"/>
              </a:spcAft>
              <a:buSzPts val="1600"/>
              <a:buChar char="▪"/>
            </a:pPr>
            <a:r>
              <a:rPr lang="en-US" sz="2000" dirty="0"/>
              <a:t>Assignment 3: 30 points </a:t>
            </a:r>
            <a:r>
              <a:rPr lang="en-US" sz="1800" dirty="0"/>
              <a:t>(Deadline: 7</a:t>
            </a:r>
            <a:r>
              <a:rPr lang="en-US" sz="1800" baseline="30000" dirty="0"/>
              <a:t>th</a:t>
            </a:r>
            <a:r>
              <a:rPr lang="en-US" sz="1800" dirty="0"/>
              <a:t>  week)</a:t>
            </a:r>
            <a:endParaRPr dirty="0"/>
          </a:p>
          <a:p>
            <a:pPr marL="804672" lvl="0" indent="-127000" algn="l" rtl="0">
              <a:spcBef>
                <a:spcPts val="600"/>
              </a:spcBef>
              <a:spcAft>
                <a:spcPts val="0"/>
              </a:spcAft>
              <a:buNone/>
            </a:pPr>
            <a:endParaRPr sz="2000" dirty="0"/>
          </a:p>
          <a:p>
            <a:pPr marL="576072" lvl="1" indent="-299720" algn="l" rtl="0">
              <a:spcBef>
                <a:spcPts val="600"/>
              </a:spcBef>
              <a:spcAft>
                <a:spcPts val="0"/>
              </a:spcAft>
              <a:buSzPts val="2400"/>
              <a:buChar char="►"/>
            </a:pPr>
            <a:r>
              <a:rPr lang="en-US" sz="2400" dirty="0"/>
              <a:t> Second Half of the semester</a:t>
            </a:r>
            <a:endParaRPr dirty="0"/>
          </a:p>
          <a:p>
            <a:pPr marL="804672" lvl="2" indent="-238759" algn="l" rtl="0">
              <a:spcBef>
                <a:spcPts val="600"/>
              </a:spcBef>
              <a:spcAft>
                <a:spcPts val="0"/>
              </a:spcAft>
              <a:buSzPts val="1600"/>
              <a:buChar char="▪"/>
            </a:pPr>
            <a:r>
              <a:rPr lang="en-US" sz="2000" dirty="0"/>
              <a:t>Assignment 4: 15 points	 (Deadline: 10</a:t>
            </a:r>
            <a:r>
              <a:rPr lang="en-US" sz="2000" baseline="30000" dirty="0"/>
              <a:t>th</a:t>
            </a:r>
            <a:r>
              <a:rPr lang="en-US" sz="2000" dirty="0"/>
              <a:t> week)</a:t>
            </a:r>
            <a:endParaRPr sz="2000" dirty="0"/>
          </a:p>
          <a:p>
            <a:pPr marL="804672" lvl="2" indent="-238759" algn="l" rtl="0">
              <a:spcBef>
                <a:spcPts val="600"/>
              </a:spcBef>
              <a:spcAft>
                <a:spcPts val="0"/>
              </a:spcAft>
              <a:buSzPts val="1600"/>
              <a:buChar char="▪"/>
            </a:pPr>
            <a:r>
              <a:rPr lang="en-US" sz="2000" dirty="0"/>
              <a:t>Assignment 5: 30 points (Deadline: 13</a:t>
            </a:r>
            <a:r>
              <a:rPr lang="en-US" sz="2000" baseline="30000" dirty="0"/>
              <a:t>th</a:t>
            </a:r>
            <a:r>
              <a:rPr lang="en-US" sz="2000" dirty="0"/>
              <a:t>  week)</a:t>
            </a:r>
          </a:p>
          <a:p>
            <a:pPr marL="804672" lvl="2" indent="-238759" algn="l" rtl="0">
              <a:spcBef>
                <a:spcPts val="600"/>
              </a:spcBef>
              <a:spcAft>
                <a:spcPts val="0"/>
              </a:spcAft>
              <a:buSzPts val="1600"/>
              <a:buChar char="▪"/>
            </a:pPr>
            <a:endParaRPr lang="en-US" sz="2000" dirty="0"/>
          </a:p>
          <a:p>
            <a:pPr marL="804672" lvl="2" indent="-238759" algn="l" rtl="0">
              <a:spcBef>
                <a:spcPts val="600"/>
              </a:spcBef>
              <a:spcAft>
                <a:spcPts val="0"/>
              </a:spcAft>
              <a:buSzPts val="1600"/>
              <a:buChar char="▪"/>
            </a:pPr>
            <a:endParaRPr lang="en-US" sz="2400" dirty="0"/>
          </a:p>
          <a:p>
            <a:pPr marL="301752" lvl="1" indent="0" algn="l" rtl="0">
              <a:lnSpc>
                <a:spcPct val="90000"/>
              </a:lnSpc>
              <a:spcBef>
                <a:spcPts val="600"/>
              </a:spcBef>
              <a:spcAft>
                <a:spcPts val="0"/>
              </a:spcAft>
              <a:buSzPts val="2000"/>
              <a:buNone/>
            </a:pPr>
            <a:endParaRPr dirty="0"/>
          </a:p>
          <a:p>
            <a:pPr marL="274320" lvl="0" indent="-152400" algn="l" rtl="0">
              <a:lnSpc>
                <a:spcPct val="90000"/>
              </a:lnSpc>
              <a:spcBef>
                <a:spcPts val="1800"/>
              </a:spcBef>
              <a:spcAft>
                <a:spcPts val="0"/>
              </a:spcAft>
              <a:buSzPts val="1920"/>
              <a:buNone/>
            </a:pPr>
            <a:endParaRPr dirty="0"/>
          </a:p>
        </p:txBody>
      </p:sp>
      <p:sp>
        <p:nvSpPr>
          <p:cNvPr id="1418" name="Google Shape;1418;p17"/>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Evaluation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2"/>
        <p:cNvGrpSpPr/>
        <p:nvPr/>
      </p:nvGrpSpPr>
      <p:grpSpPr>
        <a:xfrm>
          <a:off x="0" y="0"/>
          <a:ext cx="0" cy="0"/>
          <a:chOff x="0" y="0"/>
          <a:chExt cx="0" cy="0"/>
        </a:xfrm>
      </p:grpSpPr>
      <p:sp>
        <p:nvSpPr>
          <p:cNvPr id="1423" name="Google Shape;1423;p18"/>
          <p:cNvSpPr txBox="1">
            <a:spLocks noGrp="1"/>
          </p:cNvSpPr>
          <p:nvPr>
            <p:ph type="body" idx="1"/>
          </p:nvPr>
        </p:nvSpPr>
        <p:spPr>
          <a:xfrm>
            <a:off x="1522413" y="1905000"/>
            <a:ext cx="9906000" cy="4038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2"/>
              </a:buClr>
              <a:buSzPts val="1920"/>
              <a:buFont typeface="Noto Sans Symbols"/>
              <a:buNone/>
            </a:pPr>
            <a:r>
              <a:rPr lang="en-US" sz="2400" b="0" i="0" u="sng" strike="noStrike" cap="none" dirty="0">
                <a:solidFill>
                  <a:schemeClr val="lt1"/>
                </a:solidFill>
                <a:latin typeface="Century Gothic"/>
                <a:ea typeface="Century Gothic"/>
                <a:cs typeface="Century Gothic"/>
                <a:sym typeface="Century Gothic"/>
              </a:rPr>
              <a:t>More about the Laboratory</a:t>
            </a:r>
            <a:r>
              <a:rPr lang="en-US" sz="2400" b="0" i="0" u="none" strike="noStrike" cap="none" dirty="0">
                <a:solidFill>
                  <a:schemeClr val="lt1"/>
                </a:solidFill>
                <a:latin typeface="Century Gothic"/>
                <a:ea typeface="Century Gothic"/>
                <a:cs typeface="Century Gothic"/>
                <a:sym typeface="Century Gothic"/>
              </a:rPr>
              <a:t>:</a:t>
            </a:r>
            <a:endParaRPr dirty="0"/>
          </a:p>
          <a:p>
            <a:pPr marL="0" marR="0" lvl="0" indent="0" algn="l" rtl="0">
              <a:lnSpc>
                <a:spcPct val="90000"/>
              </a:lnSpc>
              <a:spcBef>
                <a:spcPts val="1800"/>
              </a:spcBef>
              <a:spcAft>
                <a:spcPts val="0"/>
              </a:spcAft>
              <a:buClr>
                <a:schemeClr val="dk2"/>
              </a:buClr>
              <a:buSzPts val="1920"/>
              <a:buFont typeface="Noto Sans Symbols"/>
              <a:buNone/>
            </a:pPr>
            <a:r>
              <a:rPr lang="en-US" sz="2400" b="0" i="0" u="none" strike="noStrike" cap="none" dirty="0">
                <a:solidFill>
                  <a:schemeClr val="lt1"/>
                </a:solidFill>
                <a:latin typeface="Century Gothic"/>
                <a:ea typeface="Century Gothic"/>
                <a:cs typeface="Century Gothic"/>
                <a:sym typeface="Century Gothic"/>
              </a:rPr>
              <a:t>Assignments must be solved using python, </a:t>
            </a:r>
            <a:r>
              <a:rPr lang="en-US" sz="2400" b="0" i="0" u="none" strike="noStrike" cap="none" dirty="0" err="1">
                <a:solidFill>
                  <a:schemeClr val="lt1"/>
                </a:solidFill>
                <a:latin typeface="Century Gothic"/>
                <a:ea typeface="Century Gothic"/>
                <a:cs typeface="Century Gothic"/>
                <a:sym typeface="Century Gothic"/>
              </a:rPr>
              <a:t>numpy</a:t>
            </a:r>
            <a:r>
              <a:rPr lang="en-US" sz="2400" b="0" i="0" u="none" strike="noStrike" cap="none" dirty="0">
                <a:solidFill>
                  <a:schemeClr val="lt1"/>
                </a:solidFill>
                <a:latin typeface="Century Gothic"/>
                <a:ea typeface="Century Gothic"/>
                <a:cs typeface="Century Gothic"/>
                <a:sym typeface="Century Gothic"/>
              </a:rPr>
              <a:t> and </a:t>
            </a:r>
            <a:r>
              <a:rPr lang="en-US" sz="2400" b="0" i="0" u="none" strike="noStrike" cap="none" dirty="0" err="1">
                <a:solidFill>
                  <a:schemeClr val="lt1"/>
                </a:solidFill>
                <a:latin typeface="Century Gothic"/>
                <a:ea typeface="Century Gothic"/>
                <a:cs typeface="Century Gothic"/>
                <a:sym typeface="Century Gothic"/>
              </a:rPr>
              <a:t>pytorch</a:t>
            </a:r>
            <a:endParaRPr sz="2400" b="0" i="0" u="none" strike="noStrike" cap="none" dirty="0">
              <a:solidFill>
                <a:schemeClr val="lt1"/>
              </a:solidFill>
              <a:latin typeface="Century Gothic"/>
              <a:ea typeface="Century Gothic"/>
              <a:cs typeface="Century Gothic"/>
              <a:sym typeface="Century Gothic"/>
            </a:endParaRPr>
          </a:p>
          <a:p>
            <a:pPr marL="0" marR="0" lvl="0" indent="0" algn="l" rtl="0">
              <a:lnSpc>
                <a:spcPct val="90000"/>
              </a:lnSpc>
              <a:spcBef>
                <a:spcPts val="1800"/>
              </a:spcBef>
              <a:spcAft>
                <a:spcPts val="0"/>
              </a:spcAft>
              <a:buClr>
                <a:schemeClr val="dk2"/>
              </a:buClr>
              <a:buSzPts val="1920"/>
              <a:buFont typeface="Noto Sans Symbols"/>
              <a:buNone/>
            </a:pPr>
            <a:r>
              <a:rPr lang="en-US" sz="2400" b="0" i="0" u="none" strike="noStrike" cap="none" dirty="0">
                <a:solidFill>
                  <a:schemeClr val="lt1"/>
                </a:solidFill>
                <a:latin typeface="Century Gothic"/>
                <a:ea typeface="Century Gothic"/>
                <a:cs typeface="Century Gothic"/>
                <a:sym typeface="Century Gothic"/>
              </a:rPr>
              <a:t>During the first half of the semester:</a:t>
            </a:r>
            <a:endParaRPr dirty="0"/>
          </a:p>
          <a:p>
            <a:pPr marL="914400" marR="0" lvl="0" indent="-381000" algn="l" rtl="0">
              <a:lnSpc>
                <a:spcPct val="90000"/>
              </a:lnSpc>
              <a:spcBef>
                <a:spcPts val="1800"/>
              </a:spcBef>
              <a:spcAft>
                <a:spcPts val="0"/>
              </a:spcAft>
              <a:buClr>
                <a:schemeClr val="lt1"/>
              </a:buClr>
              <a:buSzPts val="2400"/>
              <a:buFont typeface="Century Gothic"/>
              <a:buChar char="●"/>
            </a:pPr>
            <a:r>
              <a:rPr lang="en-US" sz="2400" b="0" i="0" u="none" strike="noStrike" cap="none" dirty="0">
                <a:solidFill>
                  <a:schemeClr val="lt1"/>
                </a:solidFill>
                <a:latin typeface="Century Gothic"/>
                <a:ea typeface="Century Gothic"/>
                <a:cs typeface="Century Gothic"/>
                <a:sym typeface="Century Gothic"/>
              </a:rPr>
              <a:t>no machine learning framework must be used</a:t>
            </a:r>
            <a:endParaRPr sz="2400" b="0" i="0" u="none" strike="noStrike" cap="none" dirty="0">
              <a:solidFill>
                <a:schemeClr val="lt1"/>
              </a:solidFill>
              <a:latin typeface="Century Gothic"/>
              <a:ea typeface="Century Gothic"/>
              <a:cs typeface="Century Gothic"/>
              <a:sym typeface="Century Gothic"/>
            </a:endParaRPr>
          </a:p>
          <a:p>
            <a:pPr marL="0" marR="0" lvl="0" indent="0" algn="l" rtl="0">
              <a:lnSpc>
                <a:spcPct val="90000"/>
              </a:lnSpc>
              <a:spcBef>
                <a:spcPts val="1800"/>
              </a:spcBef>
              <a:spcAft>
                <a:spcPts val="0"/>
              </a:spcAft>
              <a:buClr>
                <a:schemeClr val="dk2"/>
              </a:buClr>
              <a:buSzPts val="1920"/>
              <a:buFont typeface="Noto Sans Symbols"/>
              <a:buNone/>
            </a:pPr>
            <a:r>
              <a:rPr lang="en-US" sz="2400" b="0" i="0" u="none" strike="noStrike" cap="none" dirty="0">
                <a:solidFill>
                  <a:schemeClr val="lt1"/>
                </a:solidFill>
                <a:latin typeface="Century Gothic"/>
                <a:ea typeface="Century Gothic"/>
                <a:cs typeface="Century Gothic"/>
                <a:sym typeface="Century Gothic"/>
              </a:rPr>
              <a:t>During the second half of the semester:</a:t>
            </a:r>
            <a:endParaRPr dirty="0"/>
          </a:p>
          <a:p>
            <a:pPr marL="914400" marR="0" lvl="0" indent="-381000" algn="l" rtl="0">
              <a:lnSpc>
                <a:spcPct val="90000"/>
              </a:lnSpc>
              <a:spcBef>
                <a:spcPts val="1800"/>
              </a:spcBef>
              <a:spcAft>
                <a:spcPts val="0"/>
              </a:spcAft>
              <a:buClr>
                <a:schemeClr val="lt1"/>
              </a:buClr>
              <a:buSzPts val="2400"/>
              <a:buFont typeface="Century Gothic"/>
              <a:buChar char="●"/>
            </a:pPr>
            <a:r>
              <a:rPr lang="en-US" dirty="0"/>
              <a:t>using the </a:t>
            </a:r>
            <a:r>
              <a:rPr lang="en-US" dirty="0" err="1"/>
              <a:t>pytorch</a:t>
            </a:r>
            <a:r>
              <a:rPr lang="en-US" dirty="0"/>
              <a:t> machine learning framework</a:t>
            </a:r>
            <a:endParaRPr sz="2400" b="0" i="0" u="none" strike="noStrike" cap="none" dirty="0">
              <a:solidFill>
                <a:schemeClr val="lt1"/>
              </a:solidFill>
              <a:latin typeface="Century Gothic"/>
              <a:ea typeface="Century Gothic"/>
              <a:cs typeface="Century Gothic"/>
              <a:sym typeface="Century Gothic"/>
            </a:endParaRPr>
          </a:p>
          <a:p>
            <a:pPr marL="274320" marR="0" lvl="0" indent="-152400" algn="l" rtl="0">
              <a:lnSpc>
                <a:spcPct val="90000"/>
              </a:lnSpc>
              <a:spcBef>
                <a:spcPts val="1800"/>
              </a:spcBef>
              <a:spcAft>
                <a:spcPts val="0"/>
              </a:spcAft>
              <a:buClr>
                <a:schemeClr val="dk2"/>
              </a:buClr>
              <a:buSzPts val="1920"/>
              <a:buFont typeface="Noto Sans Symbols"/>
              <a:buNone/>
            </a:pPr>
            <a:endParaRPr sz="2400" b="0" i="0" u="none" strike="noStrike" cap="none" dirty="0">
              <a:solidFill>
                <a:schemeClr val="lt1"/>
              </a:solidFill>
              <a:latin typeface="Century Gothic"/>
              <a:ea typeface="Century Gothic"/>
              <a:cs typeface="Century Gothic"/>
              <a:sym typeface="Century Gothic"/>
            </a:endParaRPr>
          </a:p>
        </p:txBody>
      </p:sp>
      <p:sp>
        <p:nvSpPr>
          <p:cNvPr id="1424" name="Google Shape;1424;p18"/>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3200"/>
              <a:buFont typeface="Century Gothic"/>
              <a:buNone/>
            </a:pPr>
            <a:r>
              <a:rPr lang="en-US" sz="3200" b="0" i="0" u="none" strike="noStrike" cap="none">
                <a:solidFill>
                  <a:schemeClr val="lt1"/>
                </a:solidFill>
                <a:latin typeface="Century Gothic"/>
                <a:ea typeface="Century Gothic"/>
                <a:cs typeface="Century Gothic"/>
                <a:sym typeface="Century Gothic"/>
              </a:rPr>
              <a:t>Evaluation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4"/>
        <p:cNvGrpSpPr/>
        <p:nvPr/>
      </p:nvGrpSpPr>
      <p:grpSpPr>
        <a:xfrm>
          <a:off x="0" y="0"/>
          <a:ext cx="0" cy="0"/>
          <a:chOff x="0" y="0"/>
          <a:chExt cx="0" cy="0"/>
        </a:xfrm>
      </p:grpSpPr>
      <p:sp>
        <p:nvSpPr>
          <p:cNvPr id="1435" name="Google Shape;1435;p2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r>
              <a:rPr lang="en-US" dirty="0"/>
              <a:t>Overview of neural networks</a:t>
            </a:r>
            <a:endParaRPr dirty="0"/>
          </a:p>
        </p:txBody>
      </p:sp>
      <p:sp>
        <p:nvSpPr>
          <p:cNvPr id="1436" name="Google Shape;1436;p20"/>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400"/>
              <a:buFont typeface="Century Gothic"/>
              <a:buNone/>
            </a:pPr>
            <a:r>
              <a:rPr lang="en-US" dirty="0"/>
              <a:t>Basic Neural Network Elements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p:txBody>
          <a:bodyPr/>
          <a:lstStyle/>
          <a:p>
            <a:pPr marL="0" indent="0">
              <a:lnSpc>
                <a:spcPct val="100000"/>
              </a:lnSpc>
              <a:buNone/>
            </a:pPr>
            <a:r>
              <a:rPr lang="en-US" dirty="0">
                <a:latin typeface="Arial" panose="020B0604020202020204" pitchFamily="34" charset="0"/>
                <a:cs typeface="Arial" panose="020B0604020202020204" pitchFamily="34" charset="0"/>
              </a:rPr>
              <a:t>A.I.(Artificial Intelligence) refers to the </a:t>
            </a:r>
            <a:r>
              <a:rPr lang="en-US" b="1" u="sng" dirty="0">
                <a:latin typeface="Arial" panose="020B0604020202020204" pitchFamily="34" charset="0"/>
                <a:cs typeface="Arial" panose="020B0604020202020204" pitchFamily="34" charset="0"/>
              </a:rPr>
              <a:t>simulation</a:t>
            </a:r>
            <a:r>
              <a:rPr lang="en-US" dirty="0">
                <a:latin typeface="Arial" panose="020B0604020202020204" pitchFamily="34" charset="0"/>
                <a:cs typeface="Arial" panose="020B0604020202020204" pitchFamily="34" charset="0"/>
              </a:rPr>
              <a:t> of human intelligence in machines.</a:t>
            </a: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r>
              <a:rPr lang="en-US" dirty="0">
                <a:latin typeface="Arial" panose="020B0604020202020204" pitchFamily="34" charset="0"/>
                <a:cs typeface="Arial" panose="020B0604020202020204" pitchFamily="34" charset="0"/>
              </a:rPr>
              <a:t>In practice – we can consider this form of simulation an approximation on what we (human) consider intelligence.</a:t>
            </a:r>
          </a:p>
        </p:txBody>
      </p:sp>
    </p:spTree>
    <p:extLst>
      <p:ext uri="{BB962C8B-B14F-4D97-AF65-F5344CB8AC3E}">
        <p14:creationId xmlns:p14="http://schemas.microsoft.com/office/powerpoint/2010/main" val="2903653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p:txBody>
          <a:bodyPr/>
          <a:lstStyle/>
          <a:p>
            <a:pPr marL="0" indent="0">
              <a:lnSpc>
                <a:spcPct val="100000"/>
              </a:lnSpc>
              <a:buNone/>
            </a:pPr>
            <a:r>
              <a:rPr lang="en-US" dirty="0">
                <a:latin typeface="Arial" panose="020B0604020202020204" pitchFamily="34" charset="0"/>
                <a:cs typeface="Arial" panose="020B0604020202020204" pitchFamily="34" charset="0"/>
              </a:rPr>
              <a:t>Let’s see a simple example: </a:t>
            </a: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r>
              <a:rPr lang="en-US" dirty="0">
                <a:latin typeface="Arial" panose="020B0604020202020204" pitchFamily="34" charset="0"/>
                <a:cs typeface="Arial" panose="020B0604020202020204" pitchFamily="34" charset="0"/>
              </a:rPr>
              <a:t>How can we translate this behavior/functionality to a computer ?</a:t>
            </a:r>
          </a:p>
        </p:txBody>
      </p:sp>
      <p:grpSp>
        <p:nvGrpSpPr>
          <p:cNvPr id="16" name="Group 15">
            <a:extLst>
              <a:ext uri="{FF2B5EF4-FFF2-40B4-BE49-F238E27FC236}">
                <a16:creationId xmlns:a16="http://schemas.microsoft.com/office/drawing/2014/main" id="{52E7DA3F-C3D0-82C8-5F90-2EC92AAEA761}"/>
              </a:ext>
            </a:extLst>
          </p:cNvPr>
          <p:cNvGrpSpPr/>
          <p:nvPr/>
        </p:nvGrpSpPr>
        <p:grpSpPr>
          <a:xfrm>
            <a:off x="2360612" y="2590800"/>
            <a:ext cx="7848600" cy="914400"/>
            <a:chOff x="2665412" y="2743200"/>
            <a:chExt cx="7848600" cy="914400"/>
          </a:xfrm>
        </p:grpSpPr>
        <p:pic>
          <p:nvPicPr>
            <p:cNvPr id="5" name="Graphic 4" descr="Horse with solid fill">
              <a:extLst>
                <a:ext uri="{FF2B5EF4-FFF2-40B4-BE49-F238E27FC236}">
                  <a16:creationId xmlns:a16="http://schemas.microsoft.com/office/drawing/2014/main" id="{26121170-84C3-E599-CCF8-A56256A487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32808" y="2743200"/>
              <a:ext cx="914400" cy="914400"/>
            </a:xfrm>
            <a:prstGeom prst="rect">
              <a:avLst/>
            </a:prstGeom>
          </p:spPr>
        </p:pic>
        <p:pic>
          <p:nvPicPr>
            <p:cNvPr id="7" name="Graphic 6" descr="Male profile with solid fill">
              <a:extLst>
                <a:ext uri="{FF2B5EF4-FFF2-40B4-BE49-F238E27FC236}">
                  <a16:creationId xmlns:a16="http://schemas.microsoft.com/office/drawing/2014/main" id="{9D1B5DF1-1167-1B99-0F82-E5F7DCC8FD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65412" y="2743200"/>
              <a:ext cx="914400" cy="914400"/>
            </a:xfrm>
            <a:prstGeom prst="rect">
              <a:avLst/>
            </a:prstGeom>
          </p:spPr>
        </p:pic>
        <p:cxnSp>
          <p:nvCxnSpPr>
            <p:cNvPr id="9" name="Straight Arrow Connector 8">
              <a:extLst>
                <a:ext uri="{FF2B5EF4-FFF2-40B4-BE49-F238E27FC236}">
                  <a16:creationId xmlns:a16="http://schemas.microsoft.com/office/drawing/2014/main" id="{2BFDB596-5F08-CD30-D87F-12AF02CD233C}"/>
                </a:ext>
              </a:extLst>
            </p:cNvPr>
            <p:cNvCxnSpPr>
              <a:stCxn id="7" idx="3"/>
              <a:endCxn id="5" idx="1"/>
            </p:cNvCxnSpPr>
            <p:nvPr/>
          </p:nvCxnSpPr>
          <p:spPr>
            <a:xfrm>
              <a:off x="3579812" y="3200400"/>
              <a:ext cx="2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01D342-52E4-0509-5FB2-4C8EB7B82E89}"/>
                </a:ext>
              </a:extLst>
            </p:cNvPr>
            <p:cNvSpPr txBox="1"/>
            <p:nvPr/>
          </p:nvSpPr>
          <p:spPr>
            <a:xfrm>
              <a:off x="3770608" y="2918799"/>
              <a:ext cx="2133600" cy="646331"/>
            </a:xfrm>
            <a:prstGeom prst="rect">
              <a:avLst/>
            </a:prstGeom>
            <a:noFill/>
          </p:spPr>
          <p:txBody>
            <a:bodyPr wrap="square" rtlCol="0">
              <a:spAutoFit/>
            </a:bodyPr>
            <a:lstStyle/>
            <a:p>
              <a:pPr algn="ctr"/>
              <a:r>
                <a:rPr lang="en-US" dirty="0"/>
                <a:t>We look at an </a:t>
              </a:r>
            </a:p>
            <a:p>
              <a:pPr algn="ctr"/>
              <a:r>
                <a:rPr lang="en-US" dirty="0"/>
                <a:t>animal</a:t>
              </a:r>
            </a:p>
          </p:txBody>
        </p:sp>
        <p:sp>
          <p:nvSpPr>
            <p:cNvPr id="11" name="Rectangle: Rounded Corners 10">
              <a:extLst>
                <a:ext uri="{FF2B5EF4-FFF2-40B4-BE49-F238E27FC236}">
                  <a16:creationId xmlns:a16="http://schemas.microsoft.com/office/drawing/2014/main" id="{19689768-F9AB-6982-271D-B12AD7239EBD}"/>
                </a:ext>
              </a:extLst>
            </p:cNvPr>
            <p:cNvSpPr/>
            <p:nvPr/>
          </p:nvSpPr>
          <p:spPr>
            <a:xfrm>
              <a:off x="9442035" y="3009899"/>
              <a:ext cx="1071977"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Horse</a:t>
              </a:r>
            </a:p>
          </p:txBody>
        </p:sp>
        <p:cxnSp>
          <p:nvCxnSpPr>
            <p:cNvPr id="13" name="Straight Arrow Connector 12">
              <a:extLst>
                <a:ext uri="{FF2B5EF4-FFF2-40B4-BE49-F238E27FC236}">
                  <a16:creationId xmlns:a16="http://schemas.microsoft.com/office/drawing/2014/main" id="{C6A88774-2FF5-17FC-428C-7A0B552A27FF}"/>
                </a:ext>
              </a:extLst>
            </p:cNvPr>
            <p:cNvCxnSpPr>
              <a:stCxn id="5" idx="3"/>
              <a:endCxn id="11" idx="1"/>
            </p:cNvCxnSpPr>
            <p:nvPr/>
          </p:nvCxnSpPr>
          <p:spPr>
            <a:xfrm flipV="1">
              <a:off x="7047208" y="3200399"/>
              <a:ext cx="23948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3789EA-6A10-BA34-B475-634AF2EBEB4B}"/>
                </a:ext>
              </a:extLst>
            </p:cNvPr>
            <p:cNvSpPr txBox="1"/>
            <p:nvPr/>
          </p:nvSpPr>
          <p:spPr>
            <a:xfrm>
              <a:off x="7078122" y="2918798"/>
              <a:ext cx="2133600" cy="646331"/>
            </a:xfrm>
            <a:prstGeom prst="rect">
              <a:avLst/>
            </a:prstGeom>
            <a:noFill/>
          </p:spPr>
          <p:txBody>
            <a:bodyPr wrap="square" rtlCol="0">
              <a:spAutoFit/>
            </a:bodyPr>
            <a:lstStyle/>
            <a:p>
              <a:pPr algn="ctr"/>
              <a:r>
                <a:rPr lang="en-US" dirty="0"/>
                <a:t>And we </a:t>
              </a:r>
            </a:p>
            <a:p>
              <a:pPr algn="ctr"/>
              <a:r>
                <a:rPr lang="en-US" dirty="0"/>
                <a:t>recognize it</a:t>
              </a:r>
            </a:p>
          </p:txBody>
        </p:sp>
      </p:grpSp>
    </p:spTree>
    <p:extLst>
      <p:ext uri="{BB962C8B-B14F-4D97-AF65-F5344CB8AC3E}">
        <p14:creationId xmlns:p14="http://schemas.microsoft.com/office/powerpoint/2010/main" val="23243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DBA67EAD-BA9B-5233-8929-8917B736461C}"/>
              </a:ext>
            </a:extLst>
          </p:cNvPr>
          <p:cNvGraphicFramePr>
            <a:graphicFrameLocks noGrp="1"/>
          </p:cNvGraphicFramePr>
          <p:nvPr/>
        </p:nvGraphicFramePr>
        <p:xfrm>
          <a:off x="1751012" y="2057400"/>
          <a:ext cx="9525000" cy="1143000"/>
        </p:xfrm>
        <a:graphic>
          <a:graphicData uri="http://schemas.openxmlformats.org/drawingml/2006/table">
            <a:tbl>
              <a:tblPr firstRow="1" bandRow="1">
                <a:tableStyleId>{073A0DAA-6AF3-43AB-8588-CEC1D06C72B9}</a:tableStyleId>
              </a:tblPr>
              <a:tblGrid>
                <a:gridCol w="4762500">
                  <a:extLst>
                    <a:ext uri="{9D8B030D-6E8A-4147-A177-3AD203B41FA5}">
                      <a16:colId xmlns:a16="http://schemas.microsoft.com/office/drawing/2014/main" val="2151303053"/>
                    </a:ext>
                  </a:extLst>
                </a:gridCol>
                <a:gridCol w="4762500">
                  <a:extLst>
                    <a:ext uri="{9D8B030D-6E8A-4147-A177-3AD203B41FA5}">
                      <a16:colId xmlns:a16="http://schemas.microsoft.com/office/drawing/2014/main" val="2552834896"/>
                    </a:ext>
                  </a:extLst>
                </a:gridCol>
              </a:tblGrid>
              <a:tr h="419292">
                <a:tc>
                  <a:txBody>
                    <a:bodyPr/>
                    <a:lstStyle/>
                    <a:p>
                      <a:r>
                        <a:rPr lang="en-US" dirty="0"/>
                        <a:t>Human behavior</a:t>
                      </a:r>
                    </a:p>
                  </a:txBody>
                  <a:tcPr/>
                </a:tc>
                <a:tc>
                  <a:txBody>
                    <a:bodyPr/>
                    <a:lstStyle/>
                    <a:p>
                      <a:r>
                        <a:rPr lang="en-US" dirty="0"/>
                        <a:t>Computer behavior</a:t>
                      </a:r>
                    </a:p>
                  </a:txBody>
                  <a:tcPr/>
                </a:tc>
                <a:extLst>
                  <a:ext uri="{0D108BD9-81ED-4DB2-BD59-A6C34878D82A}">
                    <a16:rowId xmlns:a16="http://schemas.microsoft.com/office/drawing/2014/main" val="1479506464"/>
                  </a:ext>
                </a:extLst>
              </a:tr>
              <a:tr h="723708">
                <a:tc>
                  <a:txBody>
                    <a:bodyPr/>
                    <a:lstStyle/>
                    <a:p>
                      <a:endParaRPr lang="en-US" dirty="0"/>
                    </a:p>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extLst>
                  <a:ext uri="{0D108BD9-81ED-4DB2-BD59-A6C34878D82A}">
                    <a16:rowId xmlns:a16="http://schemas.microsoft.com/office/drawing/2014/main" val="968564101"/>
                  </a:ext>
                </a:extLst>
              </a:tr>
            </a:tbl>
          </a:graphicData>
        </a:graphic>
      </p:graphicFrame>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pSp>
        <p:nvGrpSpPr>
          <p:cNvPr id="16" name="Group 15">
            <a:extLst>
              <a:ext uri="{FF2B5EF4-FFF2-40B4-BE49-F238E27FC236}">
                <a16:creationId xmlns:a16="http://schemas.microsoft.com/office/drawing/2014/main" id="{52E7DA3F-C3D0-82C8-5F90-2EC92AAEA761}"/>
              </a:ext>
            </a:extLst>
          </p:cNvPr>
          <p:cNvGrpSpPr/>
          <p:nvPr/>
        </p:nvGrpSpPr>
        <p:grpSpPr>
          <a:xfrm>
            <a:off x="1869994" y="2600016"/>
            <a:ext cx="4191000" cy="488272"/>
            <a:chOff x="2665412" y="2743200"/>
            <a:chExt cx="7848600" cy="914400"/>
          </a:xfrm>
        </p:grpSpPr>
        <p:pic>
          <p:nvPicPr>
            <p:cNvPr id="5" name="Graphic 4" descr="Horse with solid fill">
              <a:extLst>
                <a:ext uri="{FF2B5EF4-FFF2-40B4-BE49-F238E27FC236}">
                  <a16:creationId xmlns:a16="http://schemas.microsoft.com/office/drawing/2014/main" id="{26121170-84C3-E599-CCF8-A56256A487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32808" y="2743200"/>
              <a:ext cx="914400" cy="914400"/>
            </a:xfrm>
            <a:prstGeom prst="rect">
              <a:avLst/>
            </a:prstGeom>
          </p:spPr>
        </p:pic>
        <p:pic>
          <p:nvPicPr>
            <p:cNvPr id="7" name="Graphic 6" descr="Male profile with solid fill">
              <a:extLst>
                <a:ext uri="{FF2B5EF4-FFF2-40B4-BE49-F238E27FC236}">
                  <a16:creationId xmlns:a16="http://schemas.microsoft.com/office/drawing/2014/main" id="{9D1B5DF1-1167-1B99-0F82-E5F7DCC8FD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65412" y="2743200"/>
              <a:ext cx="914400" cy="914400"/>
            </a:xfrm>
            <a:prstGeom prst="rect">
              <a:avLst/>
            </a:prstGeom>
          </p:spPr>
        </p:pic>
        <p:cxnSp>
          <p:nvCxnSpPr>
            <p:cNvPr id="9" name="Straight Arrow Connector 8">
              <a:extLst>
                <a:ext uri="{FF2B5EF4-FFF2-40B4-BE49-F238E27FC236}">
                  <a16:creationId xmlns:a16="http://schemas.microsoft.com/office/drawing/2014/main" id="{2BFDB596-5F08-CD30-D87F-12AF02CD233C}"/>
                </a:ext>
              </a:extLst>
            </p:cNvPr>
            <p:cNvCxnSpPr>
              <a:stCxn id="7" idx="3"/>
              <a:endCxn id="5" idx="1"/>
            </p:cNvCxnSpPr>
            <p:nvPr/>
          </p:nvCxnSpPr>
          <p:spPr>
            <a:xfrm>
              <a:off x="3579812" y="3200400"/>
              <a:ext cx="2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01D342-52E4-0509-5FB2-4C8EB7B82E89}"/>
                </a:ext>
              </a:extLst>
            </p:cNvPr>
            <p:cNvSpPr txBox="1"/>
            <p:nvPr/>
          </p:nvSpPr>
          <p:spPr>
            <a:xfrm>
              <a:off x="3729557" y="2743200"/>
              <a:ext cx="2133600" cy="587055"/>
            </a:xfrm>
            <a:prstGeom prst="rect">
              <a:avLst/>
            </a:prstGeom>
            <a:noFill/>
          </p:spPr>
          <p:txBody>
            <a:bodyPr wrap="square" rtlCol="0">
              <a:spAutoFit/>
            </a:bodyPr>
            <a:lstStyle/>
            <a:p>
              <a:pPr algn="ctr"/>
              <a:r>
                <a:rPr lang="en-US" sz="1200" dirty="0"/>
                <a:t>We look at an </a:t>
              </a:r>
            </a:p>
            <a:p>
              <a:pPr algn="ctr"/>
              <a:r>
                <a:rPr lang="en-US" sz="1200" dirty="0"/>
                <a:t>animal</a:t>
              </a:r>
            </a:p>
          </p:txBody>
        </p:sp>
        <p:sp>
          <p:nvSpPr>
            <p:cNvPr id="11" name="Rectangle: Rounded Corners 10">
              <a:extLst>
                <a:ext uri="{FF2B5EF4-FFF2-40B4-BE49-F238E27FC236}">
                  <a16:creationId xmlns:a16="http://schemas.microsoft.com/office/drawing/2014/main" id="{19689768-F9AB-6982-271D-B12AD7239EBD}"/>
                </a:ext>
              </a:extLst>
            </p:cNvPr>
            <p:cNvSpPr/>
            <p:nvPr/>
          </p:nvSpPr>
          <p:spPr>
            <a:xfrm>
              <a:off x="9442035" y="3009899"/>
              <a:ext cx="1071977"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rPr>
                <a:t>Horse</a:t>
              </a:r>
            </a:p>
          </p:txBody>
        </p:sp>
        <p:cxnSp>
          <p:nvCxnSpPr>
            <p:cNvPr id="13" name="Straight Arrow Connector 12">
              <a:extLst>
                <a:ext uri="{FF2B5EF4-FFF2-40B4-BE49-F238E27FC236}">
                  <a16:creationId xmlns:a16="http://schemas.microsoft.com/office/drawing/2014/main" id="{C6A88774-2FF5-17FC-428C-7A0B552A27FF}"/>
                </a:ext>
              </a:extLst>
            </p:cNvPr>
            <p:cNvCxnSpPr>
              <a:stCxn id="5" idx="3"/>
              <a:endCxn id="11" idx="1"/>
            </p:cNvCxnSpPr>
            <p:nvPr/>
          </p:nvCxnSpPr>
          <p:spPr>
            <a:xfrm flipV="1">
              <a:off x="7047208" y="3200399"/>
              <a:ext cx="23948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3789EA-6A10-BA34-B475-634AF2EBEB4B}"/>
                </a:ext>
              </a:extLst>
            </p:cNvPr>
            <p:cNvSpPr txBox="1"/>
            <p:nvPr/>
          </p:nvSpPr>
          <p:spPr>
            <a:xfrm>
              <a:off x="6946467" y="2743200"/>
              <a:ext cx="2133600" cy="587055"/>
            </a:xfrm>
            <a:prstGeom prst="rect">
              <a:avLst/>
            </a:prstGeom>
            <a:noFill/>
          </p:spPr>
          <p:txBody>
            <a:bodyPr wrap="square" rtlCol="0">
              <a:spAutoFit/>
            </a:bodyPr>
            <a:lstStyle/>
            <a:p>
              <a:pPr algn="ctr"/>
              <a:r>
                <a:rPr lang="en-US" sz="1200" dirty="0"/>
                <a:t>And we </a:t>
              </a:r>
            </a:p>
            <a:p>
              <a:pPr algn="ctr"/>
              <a:r>
                <a:rPr lang="en-US" sz="1200" dirty="0"/>
                <a:t>recognize it</a:t>
              </a:r>
            </a:p>
          </p:txBody>
        </p:sp>
      </p:grpSp>
      <p:pic>
        <p:nvPicPr>
          <p:cNvPr id="8" name="Graphic 7" descr="Camera with solid fill">
            <a:extLst>
              <a:ext uri="{FF2B5EF4-FFF2-40B4-BE49-F238E27FC236}">
                <a16:creationId xmlns:a16="http://schemas.microsoft.com/office/drawing/2014/main" id="{04347E5B-780C-DA3A-2304-1948682CB8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80639" y="2609646"/>
            <a:ext cx="343202" cy="343202"/>
          </a:xfrm>
          <a:prstGeom prst="rect">
            <a:avLst/>
          </a:prstGeom>
        </p:spPr>
      </p:pic>
      <p:sp>
        <p:nvSpPr>
          <p:cNvPr id="6" name="Content Placeholder 2">
            <a:extLst>
              <a:ext uri="{FF2B5EF4-FFF2-40B4-BE49-F238E27FC236}">
                <a16:creationId xmlns:a16="http://schemas.microsoft.com/office/drawing/2014/main" id="{CFF73EC0-A0DB-A501-C2D4-A366362DF9C2}"/>
              </a:ext>
            </a:extLst>
          </p:cNvPr>
          <p:cNvSpPr txBox="1">
            <a:spLocks/>
          </p:cNvSpPr>
          <p:nvPr/>
        </p:nvSpPr>
        <p:spPr>
          <a:xfrm>
            <a:off x="1602354" y="1401762"/>
            <a:ext cx="9782801" cy="51816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20040" algn="l" rtl="0">
              <a:lnSpc>
                <a:spcPct val="90000"/>
              </a:lnSpc>
              <a:spcBef>
                <a:spcPts val="1800"/>
              </a:spcBef>
              <a:spcAft>
                <a:spcPts val="0"/>
              </a:spcAft>
              <a:buClr>
                <a:schemeClr val="dk2"/>
              </a:buClr>
              <a:buSzPts val="144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pPr marL="0" indent="0">
              <a:lnSpc>
                <a:spcPct val="100000"/>
              </a:lnSpc>
              <a:buFont typeface="Noto Sans Symbols"/>
              <a:buNone/>
            </a:pPr>
            <a:r>
              <a:rPr lang="en-US" dirty="0">
                <a:latin typeface="Arial" panose="020B0604020202020204" pitchFamily="34" charset="0"/>
                <a:cs typeface="Arial" panose="020B0604020202020204" pitchFamily="34" charset="0"/>
              </a:rPr>
              <a:t>Let’s see a simple example:</a:t>
            </a:r>
          </a:p>
          <a:p>
            <a:pPr marL="0" indent="0">
              <a:lnSpc>
                <a:spcPct val="100000"/>
              </a:lnSpc>
              <a:buFont typeface="Noto Sans Symbols"/>
              <a:buNone/>
            </a:pPr>
            <a:endParaRPr lang="en-US" dirty="0">
              <a:latin typeface="Arial" panose="020B0604020202020204" pitchFamily="34" charset="0"/>
              <a:cs typeface="Arial" panose="020B0604020202020204" pitchFamily="34" charset="0"/>
            </a:endParaRPr>
          </a:p>
          <a:p>
            <a:pPr marL="0" indent="0">
              <a:lnSpc>
                <a:spcPct val="100000"/>
              </a:lnSpc>
              <a:buFont typeface="Noto Sans Symbols"/>
              <a:buNone/>
            </a:pPr>
            <a:endParaRPr lang="en-US" dirty="0">
              <a:latin typeface="Arial" panose="020B0604020202020204" pitchFamily="34" charset="0"/>
              <a:cs typeface="Arial" panose="020B0604020202020204" pitchFamily="34" charset="0"/>
            </a:endParaRPr>
          </a:p>
          <a:p>
            <a:pPr indent="-457200">
              <a:lnSpc>
                <a:spcPct val="100000"/>
              </a:lnSpc>
              <a:buFont typeface="Noto Sans Symbols"/>
              <a:buAutoNum type="arabicPeriod"/>
            </a:pPr>
            <a:r>
              <a:rPr lang="en-US" sz="1800" dirty="0">
                <a:latin typeface="Arial" panose="020B0604020202020204" pitchFamily="34" charset="0"/>
                <a:cs typeface="Arial" panose="020B0604020202020204" pitchFamily="34" charset="0"/>
              </a:rPr>
              <a:t>First, we need the ability “to look” </a:t>
            </a:r>
            <a:r>
              <a:rPr lang="en-US" sz="1800" dirty="0">
                <a:latin typeface="Arial" panose="020B0604020202020204" pitchFamily="34" charset="0"/>
                <a:cs typeface="Arial" panose="020B0604020202020204" pitchFamily="34" charset="0"/>
                <a:sym typeface="Wingdings" panose="05000000000000000000" pitchFamily="2" charset="2"/>
              </a:rPr>
              <a:t> this simply translate into taking a picture</a:t>
            </a:r>
          </a:p>
          <a:p>
            <a:pPr indent="-457200">
              <a:lnSpc>
                <a:spcPct val="100000"/>
              </a:lnSpc>
              <a:buFont typeface="Noto Sans Symbols"/>
              <a:buAutoNum type="arabicPeriod"/>
            </a:pPr>
            <a:r>
              <a:rPr lang="en-US" sz="1800" dirty="0">
                <a:latin typeface="Arial" panose="020B0604020202020204" pitchFamily="34" charset="0"/>
                <a:cs typeface="Arial" panose="020B0604020202020204" pitchFamily="34" charset="0"/>
                <a:sym typeface="Wingdings" panose="05000000000000000000" pitchFamily="2" charset="2"/>
              </a:rPr>
              <a:t>That picture is transferred to a computer where it is converted into a matrix of (</a:t>
            </a:r>
            <a:r>
              <a:rPr lang="en-US" sz="1800" b="1" i="1" dirty="0">
                <a:latin typeface="Arial" panose="020B0604020202020204" pitchFamily="34" charset="0"/>
                <a:cs typeface="Arial" panose="020B0604020202020204" pitchFamily="34" charset="0"/>
                <a:sym typeface="Wingdings" panose="05000000000000000000" pitchFamily="2" charset="2"/>
              </a:rPr>
              <a:t>w</a:t>
            </a:r>
            <a:r>
              <a:rPr lang="en-US" sz="1800" dirty="0">
                <a:latin typeface="Arial" panose="020B0604020202020204" pitchFamily="34" charset="0"/>
                <a:cs typeface="Arial" panose="020B0604020202020204" pitchFamily="34" charset="0"/>
                <a:sym typeface="Wingdings" panose="05000000000000000000" pitchFamily="2" charset="2"/>
              </a:rPr>
              <a:t> x </a:t>
            </a:r>
            <a:r>
              <a:rPr lang="en-US" sz="1800" b="1" i="1" dirty="0">
                <a:latin typeface="Arial" panose="020B0604020202020204" pitchFamily="34" charset="0"/>
                <a:cs typeface="Arial" panose="020B0604020202020204" pitchFamily="34" charset="0"/>
                <a:sym typeface="Wingdings" panose="05000000000000000000" pitchFamily="2" charset="2"/>
              </a:rPr>
              <a:t>h</a:t>
            </a:r>
            <a:r>
              <a:rPr lang="en-US" sz="1800" dirty="0">
                <a:latin typeface="Arial" panose="020B0604020202020204" pitchFamily="34" charset="0"/>
                <a:cs typeface="Arial" panose="020B0604020202020204" pitchFamily="34" charset="0"/>
                <a:sym typeface="Wingdings" panose="05000000000000000000" pitchFamily="2" charset="2"/>
              </a:rPr>
              <a:t>), where “</a:t>
            </a:r>
            <a:r>
              <a:rPr lang="en-US" sz="1800" b="1" i="1" dirty="0">
                <a:latin typeface="Arial" panose="020B0604020202020204" pitchFamily="34" charset="0"/>
                <a:cs typeface="Arial" panose="020B0604020202020204" pitchFamily="34" charset="0"/>
                <a:sym typeface="Wingdings" panose="05000000000000000000" pitchFamily="2" charset="2"/>
              </a:rPr>
              <a:t>w</a:t>
            </a:r>
            <a:r>
              <a:rPr lang="en-US" sz="1800" dirty="0">
                <a:latin typeface="Arial" panose="020B0604020202020204" pitchFamily="34" charset="0"/>
                <a:cs typeface="Arial" panose="020B0604020202020204" pitchFamily="34" charset="0"/>
                <a:sym typeface="Wingdings" panose="05000000000000000000" pitchFamily="2" charset="2"/>
              </a:rPr>
              <a:t>” is the width of the picture and “</a:t>
            </a:r>
            <a:r>
              <a:rPr lang="en-US" sz="1800" b="1" i="1" dirty="0">
                <a:latin typeface="Arial" panose="020B0604020202020204" pitchFamily="34" charset="0"/>
                <a:cs typeface="Arial" panose="020B0604020202020204" pitchFamily="34" charset="0"/>
                <a:sym typeface="Wingdings" panose="05000000000000000000" pitchFamily="2" charset="2"/>
              </a:rPr>
              <a:t>h</a:t>
            </a:r>
            <a:r>
              <a:rPr lang="en-US" sz="1800" dirty="0">
                <a:latin typeface="Arial" panose="020B0604020202020204" pitchFamily="34" charset="0"/>
                <a:cs typeface="Arial" panose="020B0604020202020204" pitchFamily="34" charset="0"/>
                <a:sym typeface="Wingdings" panose="05000000000000000000" pitchFamily="2" charset="2"/>
              </a:rPr>
              <a:t>” is its height. Each cell of that matrix is a color (a numerical value) that reflects the color of the pixels from the original picture.</a:t>
            </a:r>
          </a:p>
          <a:p>
            <a:pPr indent="-457200">
              <a:lnSpc>
                <a:spcPct val="100000"/>
              </a:lnSpc>
              <a:buFont typeface="Noto Sans Symbols"/>
              <a:buAutoNum type="arabicPeriod"/>
            </a:pP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We convert the matrix into a vector of numbers by concatenating each row one after another</a:t>
            </a:r>
          </a:p>
          <a:p>
            <a:pPr indent="-457200">
              <a:lnSpc>
                <a:spcPct val="100000"/>
              </a:lnSpc>
              <a:buFont typeface="Noto Sans Symbols"/>
              <a:buAutoNum type="arabicPeriod"/>
            </a:pP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Now we need a function that takes “</a:t>
            </a:r>
            <a:r>
              <a:rPr lang="en-US" sz="1800" b="1" i="1" dirty="0">
                <a:solidFill>
                  <a:schemeClr val="bg1"/>
                </a:solidFill>
                <a:latin typeface="Arial" panose="020B0604020202020204" pitchFamily="34" charset="0"/>
                <a:cs typeface="Arial" panose="020B0604020202020204" pitchFamily="34" charset="0"/>
                <a:sym typeface="Wingdings" panose="05000000000000000000" pitchFamily="2" charset="2"/>
              </a:rPr>
              <a:t>w</a:t>
            </a: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 x “</a:t>
            </a:r>
            <a:r>
              <a:rPr lang="en-US" sz="1800" b="1" i="1" dirty="0">
                <a:solidFill>
                  <a:schemeClr val="bg1"/>
                </a:solidFill>
                <a:latin typeface="Arial" panose="020B0604020202020204" pitchFamily="34" charset="0"/>
                <a:cs typeface="Arial" panose="020B0604020202020204" pitchFamily="34" charset="0"/>
                <a:sym typeface="Wingdings" panose="05000000000000000000" pitchFamily="2" charset="2"/>
              </a:rPr>
              <a:t>h</a:t>
            </a: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 parameters (let’s call it function </a:t>
            </a:r>
            <a:r>
              <a:rPr lang="en-US" sz="1800" b="1" i="1" dirty="0">
                <a:solidFill>
                  <a:schemeClr val="bg1"/>
                </a:solidFill>
                <a:latin typeface="Arial" panose="020B0604020202020204" pitchFamily="34" charset="0"/>
                <a:cs typeface="Arial" panose="020B0604020202020204" pitchFamily="34" charset="0"/>
                <a:sym typeface="Wingdings" panose="05000000000000000000" pitchFamily="2" charset="2"/>
              </a:rPr>
              <a:t>f</a:t>
            </a: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 and returns a number with a very special meaning: if the result is 1, it corresponds to the word “horse”, if the result is 2, it corresponds to the word “cat’ and so on.</a:t>
            </a:r>
          </a:p>
          <a:p>
            <a:pPr indent="-457200">
              <a:lnSpc>
                <a:spcPct val="100000"/>
              </a:lnSpc>
              <a:buFont typeface="Noto Sans Symbols"/>
              <a:buAutoNum type="arabicPeriod"/>
            </a:pPr>
            <a:r>
              <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rPr>
              <a:t>Finally, we use a map with associations (1 horse, 2 cat, …) and we print the result.</a:t>
            </a:r>
          </a:p>
        </p:txBody>
      </p:sp>
    </p:spTree>
    <p:extLst>
      <p:ext uri="{BB962C8B-B14F-4D97-AF65-F5344CB8AC3E}">
        <p14:creationId xmlns:p14="http://schemas.microsoft.com/office/powerpoint/2010/main" val="3224247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DBA67EAD-BA9B-5233-8929-8917B736461C}"/>
              </a:ext>
            </a:extLst>
          </p:cNvPr>
          <p:cNvGraphicFramePr>
            <a:graphicFrameLocks noGrp="1"/>
          </p:cNvGraphicFramePr>
          <p:nvPr/>
        </p:nvGraphicFramePr>
        <p:xfrm>
          <a:off x="1751012" y="2057400"/>
          <a:ext cx="9525000" cy="1143000"/>
        </p:xfrm>
        <a:graphic>
          <a:graphicData uri="http://schemas.openxmlformats.org/drawingml/2006/table">
            <a:tbl>
              <a:tblPr firstRow="1" bandRow="1">
                <a:tableStyleId>{073A0DAA-6AF3-43AB-8588-CEC1D06C72B9}</a:tableStyleId>
              </a:tblPr>
              <a:tblGrid>
                <a:gridCol w="4762500">
                  <a:extLst>
                    <a:ext uri="{9D8B030D-6E8A-4147-A177-3AD203B41FA5}">
                      <a16:colId xmlns:a16="http://schemas.microsoft.com/office/drawing/2014/main" val="2151303053"/>
                    </a:ext>
                  </a:extLst>
                </a:gridCol>
                <a:gridCol w="4762500">
                  <a:extLst>
                    <a:ext uri="{9D8B030D-6E8A-4147-A177-3AD203B41FA5}">
                      <a16:colId xmlns:a16="http://schemas.microsoft.com/office/drawing/2014/main" val="2552834896"/>
                    </a:ext>
                  </a:extLst>
                </a:gridCol>
              </a:tblGrid>
              <a:tr h="419292">
                <a:tc>
                  <a:txBody>
                    <a:bodyPr/>
                    <a:lstStyle/>
                    <a:p>
                      <a:r>
                        <a:rPr lang="en-US" dirty="0"/>
                        <a:t>Human behavior</a:t>
                      </a:r>
                    </a:p>
                  </a:txBody>
                  <a:tcPr/>
                </a:tc>
                <a:tc>
                  <a:txBody>
                    <a:bodyPr/>
                    <a:lstStyle/>
                    <a:p>
                      <a:r>
                        <a:rPr lang="en-US" dirty="0"/>
                        <a:t>Computer behavior</a:t>
                      </a:r>
                    </a:p>
                  </a:txBody>
                  <a:tcPr/>
                </a:tc>
                <a:extLst>
                  <a:ext uri="{0D108BD9-81ED-4DB2-BD59-A6C34878D82A}">
                    <a16:rowId xmlns:a16="http://schemas.microsoft.com/office/drawing/2014/main" val="1479506464"/>
                  </a:ext>
                </a:extLst>
              </a:tr>
              <a:tr h="723708">
                <a:tc>
                  <a:txBody>
                    <a:bodyPr/>
                    <a:lstStyle/>
                    <a:p>
                      <a:endParaRPr lang="en-US" dirty="0"/>
                    </a:p>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extLst>
                  <a:ext uri="{0D108BD9-81ED-4DB2-BD59-A6C34878D82A}">
                    <a16:rowId xmlns:a16="http://schemas.microsoft.com/office/drawing/2014/main" val="968564101"/>
                  </a:ext>
                </a:extLst>
              </a:tr>
            </a:tbl>
          </a:graphicData>
        </a:graphic>
      </p:graphicFrame>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pSp>
        <p:nvGrpSpPr>
          <p:cNvPr id="16" name="Group 15">
            <a:extLst>
              <a:ext uri="{FF2B5EF4-FFF2-40B4-BE49-F238E27FC236}">
                <a16:creationId xmlns:a16="http://schemas.microsoft.com/office/drawing/2014/main" id="{52E7DA3F-C3D0-82C8-5F90-2EC92AAEA761}"/>
              </a:ext>
            </a:extLst>
          </p:cNvPr>
          <p:cNvGrpSpPr/>
          <p:nvPr/>
        </p:nvGrpSpPr>
        <p:grpSpPr>
          <a:xfrm>
            <a:off x="1869994" y="2600016"/>
            <a:ext cx="4191000" cy="488272"/>
            <a:chOff x="2665412" y="2743200"/>
            <a:chExt cx="7848600" cy="914400"/>
          </a:xfrm>
        </p:grpSpPr>
        <p:pic>
          <p:nvPicPr>
            <p:cNvPr id="5" name="Graphic 4" descr="Horse with solid fill">
              <a:extLst>
                <a:ext uri="{FF2B5EF4-FFF2-40B4-BE49-F238E27FC236}">
                  <a16:creationId xmlns:a16="http://schemas.microsoft.com/office/drawing/2014/main" id="{26121170-84C3-E599-CCF8-A56256A487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32808" y="2743200"/>
              <a:ext cx="914400" cy="914400"/>
            </a:xfrm>
            <a:prstGeom prst="rect">
              <a:avLst/>
            </a:prstGeom>
          </p:spPr>
        </p:pic>
        <p:pic>
          <p:nvPicPr>
            <p:cNvPr id="7" name="Graphic 6" descr="Male profile with solid fill">
              <a:extLst>
                <a:ext uri="{FF2B5EF4-FFF2-40B4-BE49-F238E27FC236}">
                  <a16:creationId xmlns:a16="http://schemas.microsoft.com/office/drawing/2014/main" id="{9D1B5DF1-1167-1B99-0F82-E5F7DCC8FD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65412" y="2743200"/>
              <a:ext cx="914400" cy="914400"/>
            </a:xfrm>
            <a:prstGeom prst="rect">
              <a:avLst/>
            </a:prstGeom>
          </p:spPr>
        </p:pic>
        <p:cxnSp>
          <p:nvCxnSpPr>
            <p:cNvPr id="9" name="Straight Arrow Connector 8">
              <a:extLst>
                <a:ext uri="{FF2B5EF4-FFF2-40B4-BE49-F238E27FC236}">
                  <a16:creationId xmlns:a16="http://schemas.microsoft.com/office/drawing/2014/main" id="{2BFDB596-5F08-CD30-D87F-12AF02CD233C}"/>
                </a:ext>
              </a:extLst>
            </p:cNvPr>
            <p:cNvCxnSpPr>
              <a:stCxn id="7" idx="3"/>
              <a:endCxn id="5" idx="1"/>
            </p:cNvCxnSpPr>
            <p:nvPr/>
          </p:nvCxnSpPr>
          <p:spPr>
            <a:xfrm>
              <a:off x="3579812" y="3200400"/>
              <a:ext cx="2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01D342-52E4-0509-5FB2-4C8EB7B82E89}"/>
                </a:ext>
              </a:extLst>
            </p:cNvPr>
            <p:cNvSpPr txBox="1"/>
            <p:nvPr/>
          </p:nvSpPr>
          <p:spPr>
            <a:xfrm>
              <a:off x="3729557" y="2743200"/>
              <a:ext cx="2133600" cy="587055"/>
            </a:xfrm>
            <a:prstGeom prst="rect">
              <a:avLst/>
            </a:prstGeom>
            <a:noFill/>
          </p:spPr>
          <p:txBody>
            <a:bodyPr wrap="square" rtlCol="0">
              <a:spAutoFit/>
            </a:bodyPr>
            <a:lstStyle/>
            <a:p>
              <a:pPr algn="ctr"/>
              <a:r>
                <a:rPr lang="en-US" sz="1200" dirty="0"/>
                <a:t>We look at an </a:t>
              </a:r>
            </a:p>
            <a:p>
              <a:pPr algn="ctr"/>
              <a:r>
                <a:rPr lang="en-US" sz="1200" dirty="0"/>
                <a:t>animal</a:t>
              </a:r>
            </a:p>
          </p:txBody>
        </p:sp>
        <p:sp>
          <p:nvSpPr>
            <p:cNvPr id="11" name="Rectangle: Rounded Corners 10">
              <a:extLst>
                <a:ext uri="{FF2B5EF4-FFF2-40B4-BE49-F238E27FC236}">
                  <a16:creationId xmlns:a16="http://schemas.microsoft.com/office/drawing/2014/main" id="{19689768-F9AB-6982-271D-B12AD7239EBD}"/>
                </a:ext>
              </a:extLst>
            </p:cNvPr>
            <p:cNvSpPr/>
            <p:nvPr/>
          </p:nvSpPr>
          <p:spPr>
            <a:xfrm>
              <a:off x="9442035" y="3009899"/>
              <a:ext cx="1071977"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rPr>
                <a:t>Horse</a:t>
              </a:r>
            </a:p>
          </p:txBody>
        </p:sp>
        <p:cxnSp>
          <p:nvCxnSpPr>
            <p:cNvPr id="13" name="Straight Arrow Connector 12">
              <a:extLst>
                <a:ext uri="{FF2B5EF4-FFF2-40B4-BE49-F238E27FC236}">
                  <a16:creationId xmlns:a16="http://schemas.microsoft.com/office/drawing/2014/main" id="{C6A88774-2FF5-17FC-428C-7A0B552A27FF}"/>
                </a:ext>
              </a:extLst>
            </p:cNvPr>
            <p:cNvCxnSpPr>
              <a:stCxn id="5" idx="3"/>
              <a:endCxn id="11" idx="1"/>
            </p:cNvCxnSpPr>
            <p:nvPr/>
          </p:nvCxnSpPr>
          <p:spPr>
            <a:xfrm flipV="1">
              <a:off x="7047208" y="3200399"/>
              <a:ext cx="23948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3789EA-6A10-BA34-B475-634AF2EBEB4B}"/>
                </a:ext>
              </a:extLst>
            </p:cNvPr>
            <p:cNvSpPr txBox="1"/>
            <p:nvPr/>
          </p:nvSpPr>
          <p:spPr>
            <a:xfrm>
              <a:off x="6946467" y="2743200"/>
              <a:ext cx="2133600" cy="587055"/>
            </a:xfrm>
            <a:prstGeom prst="rect">
              <a:avLst/>
            </a:prstGeom>
            <a:noFill/>
          </p:spPr>
          <p:txBody>
            <a:bodyPr wrap="square" rtlCol="0">
              <a:spAutoFit/>
            </a:bodyPr>
            <a:lstStyle/>
            <a:p>
              <a:pPr algn="ctr"/>
              <a:r>
                <a:rPr lang="en-US" sz="1200" dirty="0"/>
                <a:t>And we </a:t>
              </a:r>
            </a:p>
            <a:p>
              <a:pPr algn="ctr"/>
              <a:r>
                <a:rPr lang="en-US" sz="1200" dirty="0"/>
                <a:t>recognize it</a:t>
              </a:r>
            </a:p>
          </p:txBody>
        </p:sp>
      </p:grpSp>
      <p:pic>
        <p:nvPicPr>
          <p:cNvPr id="8" name="Graphic 7" descr="Camera with solid fill">
            <a:extLst>
              <a:ext uri="{FF2B5EF4-FFF2-40B4-BE49-F238E27FC236}">
                <a16:creationId xmlns:a16="http://schemas.microsoft.com/office/drawing/2014/main" id="{04347E5B-780C-DA3A-2304-1948682CB8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80639" y="2609646"/>
            <a:ext cx="343202" cy="343202"/>
          </a:xfrm>
          <a:prstGeom prst="rect">
            <a:avLst/>
          </a:prstGeom>
        </p:spPr>
      </p:pic>
      <p:graphicFrame>
        <p:nvGraphicFramePr>
          <p:cNvPr id="12" name="Table 13">
            <a:extLst>
              <a:ext uri="{FF2B5EF4-FFF2-40B4-BE49-F238E27FC236}">
                <a16:creationId xmlns:a16="http://schemas.microsoft.com/office/drawing/2014/main" id="{5EAE7D55-E13A-7624-CDCB-9A92C59E496B}"/>
              </a:ext>
            </a:extLst>
          </p:cNvPr>
          <p:cNvGraphicFramePr>
            <a:graphicFrameLocks noGrp="1"/>
          </p:cNvGraphicFramePr>
          <p:nvPr/>
        </p:nvGraphicFramePr>
        <p:xfrm>
          <a:off x="7302244" y="2537407"/>
          <a:ext cx="416560" cy="48768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162028540"/>
                    </a:ext>
                  </a:extLst>
                </a:gridCol>
                <a:gridCol w="208280">
                  <a:extLst>
                    <a:ext uri="{9D8B030D-6E8A-4147-A177-3AD203B41FA5}">
                      <a16:colId xmlns:a16="http://schemas.microsoft.com/office/drawing/2014/main" val="1742995053"/>
                    </a:ext>
                  </a:extLst>
                </a:gridCol>
              </a:tblGrid>
              <a:tr h="0">
                <a:tc>
                  <a:txBody>
                    <a:bodyPr/>
                    <a:lstStyle/>
                    <a:p>
                      <a:endParaRPr lang="en-US" sz="200" dirty="0">
                        <a:latin typeface="Arial" panose="020B0604020202020204" pitchFamily="34" charset="0"/>
                        <a:cs typeface="Arial" panose="020B0604020202020204" pitchFamily="34" charset="0"/>
                      </a:endParaRPr>
                    </a:p>
                  </a:txBody>
                  <a:tcPr>
                    <a:solidFill>
                      <a:schemeClr val="tx1">
                        <a:lumMod val="40000"/>
                        <a:lumOff val="60000"/>
                      </a:schemeClr>
                    </a:solidFill>
                  </a:tcPr>
                </a:tc>
                <a:tc>
                  <a:txBody>
                    <a:bodyPr/>
                    <a:lstStyle/>
                    <a:p>
                      <a:endParaRPr lang="en-US" sz="200" dirty="0">
                        <a:latin typeface="Arial" panose="020B0604020202020204" pitchFamily="34" charset="0"/>
                        <a:cs typeface="Arial" panose="020B0604020202020204" pitchFamily="34" charset="0"/>
                      </a:endParaRPr>
                    </a:p>
                  </a:txBody>
                  <a:tcPr>
                    <a:solidFill>
                      <a:schemeClr val="tx1">
                        <a:lumMod val="40000"/>
                        <a:lumOff val="60000"/>
                      </a:schemeClr>
                    </a:solidFill>
                  </a:tcPr>
                </a:tc>
                <a:extLst>
                  <a:ext uri="{0D108BD9-81ED-4DB2-BD59-A6C34878D82A}">
                    <a16:rowId xmlns:a16="http://schemas.microsoft.com/office/drawing/2014/main" val="2023657070"/>
                  </a:ext>
                </a:extLst>
              </a:tr>
              <a:tr h="0">
                <a:tc>
                  <a:txBody>
                    <a:bodyPr/>
                    <a:lstStyle/>
                    <a:p>
                      <a:endParaRPr lang="en-US" sz="200">
                        <a:latin typeface="Arial" panose="020B0604020202020204" pitchFamily="34" charset="0"/>
                        <a:cs typeface="Arial" panose="020B0604020202020204" pitchFamily="34" charset="0"/>
                      </a:endParaRPr>
                    </a:p>
                  </a:txBody>
                  <a:tcPr>
                    <a:solidFill>
                      <a:schemeClr val="tx1">
                        <a:lumMod val="40000"/>
                        <a:lumOff val="60000"/>
                      </a:schemeClr>
                    </a:solidFill>
                  </a:tcPr>
                </a:tc>
                <a:tc>
                  <a:txBody>
                    <a:bodyPr/>
                    <a:lstStyle/>
                    <a:p>
                      <a:endParaRPr lang="en-US" sz="200">
                        <a:latin typeface="Arial" panose="020B0604020202020204" pitchFamily="34" charset="0"/>
                        <a:cs typeface="Arial" panose="020B0604020202020204" pitchFamily="34" charset="0"/>
                      </a:endParaRPr>
                    </a:p>
                  </a:txBody>
                  <a:tcPr>
                    <a:solidFill>
                      <a:schemeClr val="tx1">
                        <a:lumMod val="40000"/>
                        <a:lumOff val="60000"/>
                      </a:schemeClr>
                    </a:solidFill>
                  </a:tcPr>
                </a:tc>
                <a:extLst>
                  <a:ext uri="{0D108BD9-81ED-4DB2-BD59-A6C34878D82A}">
                    <a16:rowId xmlns:a16="http://schemas.microsoft.com/office/drawing/2014/main" val="2925383746"/>
                  </a:ext>
                </a:extLst>
              </a:tr>
              <a:tr h="0">
                <a:tc>
                  <a:txBody>
                    <a:bodyPr/>
                    <a:lstStyle/>
                    <a:p>
                      <a:endParaRPr lang="en-US" sz="200">
                        <a:latin typeface="Arial" panose="020B0604020202020204" pitchFamily="34" charset="0"/>
                        <a:cs typeface="Arial" panose="020B0604020202020204" pitchFamily="34" charset="0"/>
                      </a:endParaRPr>
                    </a:p>
                  </a:txBody>
                  <a:tcPr>
                    <a:solidFill>
                      <a:schemeClr val="tx1">
                        <a:lumMod val="40000"/>
                        <a:lumOff val="60000"/>
                      </a:schemeClr>
                    </a:solidFill>
                  </a:tcPr>
                </a:tc>
                <a:tc>
                  <a:txBody>
                    <a:bodyPr/>
                    <a:lstStyle/>
                    <a:p>
                      <a:endParaRPr lang="en-US" sz="200">
                        <a:latin typeface="Arial" panose="020B0604020202020204" pitchFamily="34" charset="0"/>
                        <a:cs typeface="Arial" panose="020B0604020202020204" pitchFamily="34" charset="0"/>
                      </a:endParaRPr>
                    </a:p>
                  </a:txBody>
                  <a:tcPr>
                    <a:solidFill>
                      <a:schemeClr val="tx1">
                        <a:lumMod val="40000"/>
                        <a:lumOff val="60000"/>
                      </a:schemeClr>
                    </a:solidFill>
                  </a:tcPr>
                </a:tc>
                <a:extLst>
                  <a:ext uri="{0D108BD9-81ED-4DB2-BD59-A6C34878D82A}">
                    <a16:rowId xmlns:a16="http://schemas.microsoft.com/office/drawing/2014/main" val="4234647235"/>
                  </a:ext>
                </a:extLst>
              </a:tr>
              <a:tr h="0">
                <a:tc>
                  <a:txBody>
                    <a:bodyPr/>
                    <a:lstStyle/>
                    <a:p>
                      <a:endParaRPr lang="en-US" sz="200">
                        <a:latin typeface="Arial" panose="020B0604020202020204" pitchFamily="34" charset="0"/>
                        <a:cs typeface="Arial" panose="020B0604020202020204" pitchFamily="34" charset="0"/>
                      </a:endParaRPr>
                    </a:p>
                  </a:txBody>
                  <a:tcPr>
                    <a:solidFill>
                      <a:schemeClr val="tx1">
                        <a:lumMod val="40000"/>
                        <a:lumOff val="60000"/>
                      </a:schemeClr>
                    </a:solidFill>
                  </a:tcPr>
                </a:tc>
                <a:tc>
                  <a:txBody>
                    <a:bodyPr/>
                    <a:lstStyle/>
                    <a:p>
                      <a:endParaRPr lang="en-US" sz="200" dirty="0">
                        <a:latin typeface="Arial" panose="020B0604020202020204" pitchFamily="34" charset="0"/>
                        <a:cs typeface="Arial" panose="020B0604020202020204" pitchFamily="34" charset="0"/>
                      </a:endParaRPr>
                    </a:p>
                  </a:txBody>
                  <a:tcPr>
                    <a:solidFill>
                      <a:schemeClr val="tx1">
                        <a:lumMod val="40000"/>
                        <a:lumOff val="60000"/>
                      </a:schemeClr>
                    </a:solidFill>
                  </a:tcPr>
                </a:tc>
                <a:extLst>
                  <a:ext uri="{0D108BD9-81ED-4DB2-BD59-A6C34878D82A}">
                    <a16:rowId xmlns:a16="http://schemas.microsoft.com/office/drawing/2014/main" val="457979923"/>
                  </a:ext>
                </a:extLst>
              </a:tr>
            </a:tbl>
          </a:graphicData>
        </a:graphic>
      </p:graphicFrame>
      <p:sp>
        <p:nvSpPr>
          <p:cNvPr id="32" name="Arrow: Right 31">
            <a:extLst>
              <a:ext uri="{FF2B5EF4-FFF2-40B4-BE49-F238E27FC236}">
                <a16:creationId xmlns:a16="http://schemas.microsoft.com/office/drawing/2014/main" id="{B23A759B-BDE9-F875-193D-3B475F376933}"/>
              </a:ext>
            </a:extLst>
          </p:cNvPr>
          <p:cNvSpPr/>
          <p:nvPr/>
        </p:nvSpPr>
        <p:spPr>
          <a:xfrm>
            <a:off x="7040690"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a:extLst>
              <a:ext uri="{FF2B5EF4-FFF2-40B4-BE49-F238E27FC236}">
                <a16:creationId xmlns:a16="http://schemas.microsoft.com/office/drawing/2014/main" id="{82E53420-0CA2-3AA1-DC7D-6474211DD7A1}"/>
              </a:ext>
            </a:extLst>
          </p:cNvPr>
          <p:cNvSpPr>
            <a:spLocks noGrp="1"/>
          </p:cNvSpPr>
          <p:nvPr>
            <p:ph type="body" idx="1"/>
          </p:nvPr>
        </p:nvSpPr>
        <p:spPr/>
        <p:txBody>
          <a:bodyPr/>
          <a:lstStyle/>
          <a:p>
            <a:endParaRPr lang="en-US"/>
          </a:p>
        </p:txBody>
      </p:sp>
      <p:sp>
        <p:nvSpPr>
          <p:cNvPr id="17" name="Content Placeholder 2">
            <a:extLst>
              <a:ext uri="{FF2B5EF4-FFF2-40B4-BE49-F238E27FC236}">
                <a16:creationId xmlns:a16="http://schemas.microsoft.com/office/drawing/2014/main" id="{E0642945-AABD-E643-77D2-002D76219B39}"/>
              </a:ext>
            </a:extLst>
          </p:cNvPr>
          <p:cNvSpPr txBox="1">
            <a:spLocks/>
          </p:cNvSpPr>
          <p:nvPr/>
        </p:nvSpPr>
        <p:spPr>
          <a:xfrm>
            <a:off x="1602354" y="1401762"/>
            <a:ext cx="9782801" cy="51816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20040" algn="l" rtl="0">
              <a:lnSpc>
                <a:spcPct val="90000"/>
              </a:lnSpc>
              <a:spcBef>
                <a:spcPts val="1800"/>
              </a:spcBef>
              <a:spcAft>
                <a:spcPts val="0"/>
              </a:spcAft>
              <a:buClr>
                <a:schemeClr val="dk2"/>
              </a:buClr>
              <a:buSzPts val="144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pPr marL="0" indent="0">
              <a:lnSpc>
                <a:spcPct val="100000"/>
              </a:lnSpc>
              <a:buFont typeface="Noto Sans Symbols"/>
              <a:buNone/>
            </a:pPr>
            <a:r>
              <a:rPr lang="en-US">
                <a:latin typeface="Arial" panose="020B0604020202020204" pitchFamily="34" charset="0"/>
                <a:cs typeface="Arial" panose="020B0604020202020204" pitchFamily="34" charset="0"/>
              </a:rPr>
              <a:t>Let’s see a simple example:</a:t>
            </a:r>
          </a:p>
          <a:p>
            <a:pPr marL="0" indent="0">
              <a:lnSpc>
                <a:spcPct val="100000"/>
              </a:lnSpc>
              <a:buFont typeface="Noto Sans Symbols"/>
              <a:buNone/>
            </a:pPr>
            <a:endParaRPr lang="en-US">
              <a:latin typeface="Arial" panose="020B0604020202020204" pitchFamily="34" charset="0"/>
              <a:cs typeface="Arial" panose="020B0604020202020204" pitchFamily="34" charset="0"/>
            </a:endParaRPr>
          </a:p>
          <a:p>
            <a:pPr marL="0" indent="0">
              <a:lnSpc>
                <a:spcPct val="100000"/>
              </a:lnSpc>
              <a:buFont typeface="Noto Sans Symbols"/>
              <a:buNone/>
            </a:pPr>
            <a:endParaRPr lang="en-US">
              <a:latin typeface="Arial" panose="020B0604020202020204" pitchFamily="34" charset="0"/>
              <a:cs typeface="Arial" panose="020B0604020202020204" pitchFamily="34" charset="0"/>
            </a:endParaRPr>
          </a:p>
          <a:p>
            <a:pPr indent="-457200">
              <a:lnSpc>
                <a:spcPct val="100000"/>
              </a:lnSpc>
              <a:buFont typeface="Noto Sans Symbols"/>
              <a:buAutoNum type="arabicPeriod"/>
            </a:pPr>
            <a:r>
              <a:rPr lang="en-US" sz="1800">
                <a:latin typeface="Arial" panose="020B0604020202020204" pitchFamily="34" charset="0"/>
                <a:cs typeface="Arial" panose="020B0604020202020204" pitchFamily="34" charset="0"/>
              </a:rPr>
              <a:t>First, we need the ability “to look” </a:t>
            </a:r>
            <a:r>
              <a:rPr lang="en-US" sz="1800">
                <a:latin typeface="Arial" panose="020B0604020202020204" pitchFamily="34" charset="0"/>
                <a:cs typeface="Arial" panose="020B0604020202020204" pitchFamily="34" charset="0"/>
                <a:sym typeface="Wingdings" panose="05000000000000000000" pitchFamily="2" charset="2"/>
              </a:rPr>
              <a:t> this simply translate into taking a picture</a:t>
            </a:r>
          </a:p>
          <a:p>
            <a:pPr indent="-457200">
              <a:lnSpc>
                <a:spcPct val="100000"/>
              </a:lnSpc>
              <a:buFont typeface="Noto Sans Symbols"/>
              <a:buAutoNum type="arabicPeriod"/>
            </a:pPr>
            <a:r>
              <a:rPr lang="en-US" sz="1800">
                <a:latin typeface="Arial" panose="020B0604020202020204" pitchFamily="34" charset="0"/>
                <a:cs typeface="Arial" panose="020B0604020202020204" pitchFamily="34" charset="0"/>
                <a:sym typeface="Wingdings" panose="05000000000000000000" pitchFamily="2" charset="2"/>
              </a:rPr>
              <a:t>That picture is transferred to a computer where it is converted into a matrix of (</a:t>
            </a:r>
            <a:r>
              <a:rPr lang="en-US" sz="1800" b="1" i="1">
                <a:latin typeface="Arial" panose="020B0604020202020204" pitchFamily="34" charset="0"/>
                <a:cs typeface="Arial" panose="020B0604020202020204" pitchFamily="34" charset="0"/>
                <a:sym typeface="Wingdings" panose="05000000000000000000" pitchFamily="2" charset="2"/>
              </a:rPr>
              <a:t>w</a:t>
            </a:r>
            <a:r>
              <a:rPr lang="en-US" sz="1800">
                <a:latin typeface="Arial" panose="020B0604020202020204" pitchFamily="34" charset="0"/>
                <a:cs typeface="Arial" panose="020B0604020202020204" pitchFamily="34" charset="0"/>
                <a:sym typeface="Wingdings" panose="05000000000000000000" pitchFamily="2" charset="2"/>
              </a:rPr>
              <a:t> x </a:t>
            </a:r>
            <a:r>
              <a:rPr lang="en-US" sz="1800" b="1" i="1">
                <a:latin typeface="Arial" panose="020B0604020202020204" pitchFamily="34" charset="0"/>
                <a:cs typeface="Arial" panose="020B0604020202020204" pitchFamily="34" charset="0"/>
                <a:sym typeface="Wingdings" panose="05000000000000000000" pitchFamily="2" charset="2"/>
              </a:rPr>
              <a:t>h</a:t>
            </a:r>
            <a:r>
              <a:rPr lang="en-US" sz="1800">
                <a:latin typeface="Arial" panose="020B0604020202020204" pitchFamily="34" charset="0"/>
                <a:cs typeface="Arial" panose="020B0604020202020204" pitchFamily="34" charset="0"/>
                <a:sym typeface="Wingdings" panose="05000000000000000000" pitchFamily="2" charset="2"/>
              </a:rPr>
              <a:t>), where “</a:t>
            </a:r>
            <a:r>
              <a:rPr lang="en-US" sz="1800" b="1" i="1">
                <a:latin typeface="Arial" panose="020B0604020202020204" pitchFamily="34" charset="0"/>
                <a:cs typeface="Arial" panose="020B0604020202020204" pitchFamily="34" charset="0"/>
                <a:sym typeface="Wingdings" panose="05000000000000000000" pitchFamily="2" charset="2"/>
              </a:rPr>
              <a:t>w</a:t>
            </a:r>
            <a:r>
              <a:rPr lang="en-US" sz="1800">
                <a:latin typeface="Arial" panose="020B0604020202020204" pitchFamily="34" charset="0"/>
                <a:cs typeface="Arial" panose="020B0604020202020204" pitchFamily="34" charset="0"/>
                <a:sym typeface="Wingdings" panose="05000000000000000000" pitchFamily="2" charset="2"/>
              </a:rPr>
              <a:t>” is the width of the picture and “</a:t>
            </a:r>
            <a:r>
              <a:rPr lang="en-US" sz="1800" b="1" i="1">
                <a:latin typeface="Arial" panose="020B0604020202020204" pitchFamily="34" charset="0"/>
                <a:cs typeface="Arial" panose="020B0604020202020204" pitchFamily="34" charset="0"/>
                <a:sym typeface="Wingdings" panose="05000000000000000000" pitchFamily="2" charset="2"/>
              </a:rPr>
              <a:t>h</a:t>
            </a:r>
            <a:r>
              <a:rPr lang="en-US" sz="1800">
                <a:latin typeface="Arial" panose="020B0604020202020204" pitchFamily="34" charset="0"/>
                <a:cs typeface="Arial" panose="020B0604020202020204" pitchFamily="34" charset="0"/>
                <a:sym typeface="Wingdings" panose="05000000000000000000" pitchFamily="2" charset="2"/>
              </a:rPr>
              <a:t>” is its height. Each cell of that matrix is a color (a numerical value) that reflects the color of the pixels from the original picture.</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We convert the matrix into a vector of numbers by concatenating each row one after another</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Now we need a function that takes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w</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x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h</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parameters (let’s call it function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f</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and returns a number with a very special meaning: if the result is 1, it corresponds to the word “horse”, if the result is 2, it corresponds to the word “cat’ and so on.</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Finally, we use a map with associations (1 horse, 2 cat, …) and we print the result.</a:t>
            </a:r>
            <a:endPar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18170452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DBA67EAD-BA9B-5233-8929-8917B736461C}"/>
              </a:ext>
            </a:extLst>
          </p:cNvPr>
          <p:cNvGraphicFramePr>
            <a:graphicFrameLocks noGrp="1"/>
          </p:cNvGraphicFramePr>
          <p:nvPr/>
        </p:nvGraphicFramePr>
        <p:xfrm>
          <a:off x="1751012" y="2057400"/>
          <a:ext cx="9525000" cy="1143000"/>
        </p:xfrm>
        <a:graphic>
          <a:graphicData uri="http://schemas.openxmlformats.org/drawingml/2006/table">
            <a:tbl>
              <a:tblPr firstRow="1" bandRow="1">
                <a:tableStyleId>{073A0DAA-6AF3-43AB-8588-CEC1D06C72B9}</a:tableStyleId>
              </a:tblPr>
              <a:tblGrid>
                <a:gridCol w="4762500">
                  <a:extLst>
                    <a:ext uri="{9D8B030D-6E8A-4147-A177-3AD203B41FA5}">
                      <a16:colId xmlns:a16="http://schemas.microsoft.com/office/drawing/2014/main" val="2151303053"/>
                    </a:ext>
                  </a:extLst>
                </a:gridCol>
                <a:gridCol w="4762500">
                  <a:extLst>
                    <a:ext uri="{9D8B030D-6E8A-4147-A177-3AD203B41FA5}">
                      <a16:colId xmlns:a16="http://schemas.microsoft.com/office/drawing/2014/main" val="2552834896"/>
                    </a:ext>
                  </a:extLst>
                </a:gridCol>
              </a:tblGrid>
              <a:tr h="419292">
                <a:tc>
                  <a:txBody>
                    <a:bodyPr/>
                    <a:lstStyle/>
                    <a:p>
                      <a:r>
                        <a:rPr lang="en-US" dirty="0"/>
                        <a:t>Human behavior</a:t>
                      </a:r>
                    </a:p>
                  </a:txBody>
                  <a:tcPr/>
                </a:tc>
                <a:tc>
                  <a:txBody>
                    <a:bodyPr/>
                    <a:lstStyle/>
                    <a:p>
                      <a:r>
                        <a:rPr lang="en-US" dirty="0"/>
                        <a:t>Computer behavior</a:t>
                      </a:r>
                    </a:p>
                  </a:txBody>
                  <a:tcPr/>
                </a:tc>
                <a:extLst>
                  <a:ext uri="{0D108BD9-81ED-4DB2-BD59-A6C34878D82A}">
                    <a16:rowId xmlns:a16="http://schemas.microsoft.com/office/drawing/2014/main" val="1479506464"/>
                  </a:ext>
                </a:extLst>
              </a:tr>
              <a:tr h="723708">
                <a:tc>
                  <a:txBody>
                    <a:bodyPr/>
                    <a:lstStyle/>
                    <a:p>
                      <a:endParaRPr lang="en-US" dirty="0"/>
                    </a:p>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extLst>
                  <a:ext uri="{0D108BD9-81ED-4DB2-BD59-A6C34878D82A}">
                    <a16:rowId xmlns:a16="http://schemas.microsoft.com/office/drawing/2014/main" val="968564101"/>
                  </a:ext>
                </a:extLst>
              </a:tr>
            </a:tbl>
          </a:graphicData>
        </a:graphic>
      </p:graphicFrame>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pSp>
        <p:nvGrpSpPr>
          <p:cNvPr id="16" name="Group 15">
            <a:extLst>
              <a:ext uri="{FF2B5EF4-FFF2-40B4-BE49-F238E27FC236}">
                <a16:creationId xmlns:a16="http://schemas.microsoft.com/office/drawing/2014/main" id="{52E7DA3F-C3D0-82C8-5F90-2EC92AAEA761}"/>
              </a:ext>
            </a:extLst>
          </p:cNvPr>
          <p:cNvGrpSpPr/>
          <p:nvPr/>
        </p:nvGrpSpPr>
        <p:grpSpPr>
          <a:xfrm>
            <a:off x="1869994" y="2600016"/>
            <a:ext cx="4191000" cy="488272"/>
            <a:chOff x="2665412" y="2743200"/>
            <a:chExt cx="7848600" cy="914400"/>
          </a:xfrm>
        </p:grpSpPr>
        <p:pic>
          <p:nvPicPr>
            <p:cNvPr id="5" name="Graphic 4" descr="Horse with solid fill">
              <a:extLst>
                <a:ext uri="{FF2B5EF4-FFF2-40B4-BE49-F238E27FC236}">
                  <a16:creationId xmlns:a16="http://schemas.microsoft.com/office/drawing/2014/main" id="{26121170-84C3-E599-CCF8-A56256A487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32808" y="2743200"/>
              <a:ext cx="914400" cy="914400"/>
            </a:xfrm>
            <a:prstGeom prst="rect">
              <a:avLst/>
            </a:prstGeom>
          </p:spPr>
        </p:pic>
        <p:pic>
          <p:nvPicPr>
            <p:cNvPr id="7" name="Graphic 6" descr="Male profile with solid fill">
              <a:extLst>
                <a:ext uri="{FF2B5EF4-FFF2-40B4-BE49-F238E27FC236}">
                  <a16:creationId xmlns:a16="http://schemas.microsoft.com/office/drawing/2014/main" id="{9D1B5DF1-1167-1B99-0F82-E5F7DCC8FD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65412" y="2743200"/>
              <a:ext cx="914400" cy="914400"/>
            </a:xfrm>
            <a:prstGeom prst="rect">
              <a:avLst/>
            </a:prstGeom>
          </p:spPr>
        </p:pic>
        <p:cxnSp>
          <p:nvCxnSpPr>
            <p:cNvPr id="9" name="Straight Arrow Connector 8">
              <a:extLst>
                <a:ext uri="{FF2B5EF4-FFF2-40B4-BE49-F238E27FC236}">
                  <a16:creationId xmlns:a16="http://schemas.microsoft.com/office/drawing/2014/main" id="{2BFDB596-5F08-CD30-D87F-12AF02CD233C}"/>
                </a:ext>
              </a:extLst>
            </p:cNvPr>
            <p:cNvCxnSpPr>
              <a:stCxn id="7" idx="3"/>
              <a:endCxn id="5" idx="1"/>
            </p:cNvCxnSpPr>
            <p:nvPr/>
          </p:nvCxnSpPr>
          <p:spPr>
            <a:xfrm>
              <a:off x="3579812" y="3200400"/>
              <a:ext cx="2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01D342-52E4-0509-5FB2-4C8EB7B82E89}"/>
                </a:ext>
              </a:extLst>
            </p:cNvPr>
            <p:cNvSpPr txBox="1"/>
            <p:nvPr/>
          </p:nvSpPr>
          <p:spPr>
            <a:xfrm>
              <a:off x="3729557" y="2743200"/>
              <a:ext cx="2133600" cy="587055"/>
            </a:xfrm>
            <a:prstGeom prst="rect">
              <a:avLst/>
            </a:prstGeom>
            <a:noFill/>
          </p:spPr>
          <p:txBody>
            <a:bodyPr wrap="square" rtlCol="0">
              <a:spAutoFit/>
            </a:bodyPr>
            <a:lstStyle/>
            <a:p>
              <a:pPr algn="ctr"/>
              <a:r>
                <a:rPr lang="en-US" sz="1200" dirty="0"/>
                <a:t>We look at an </a:t>
              </a:r>
            </a:p>
            <a:p>
              <a:pPr algn="ctr"/>
              <a:r>
                <a:rPr lang="en-US" sz="1200" dirty="0"/>
                <a:t>animal</a:t>
              </a:r>
            </a:p>
          </p:txBody>
        </p:sp>
        <p:sp>
          <p:nvSpPr>
            <p:cNvPr id="11" name="Rectangle: Rounded Corners 10">
              <a:extLst>
                <a:ext uri="{FF2B5EF4-FFF2-40B4-BE49-F238E27FC236}">
                  <a16:creationId xmlns:a16="http://schemas.microsoft.com/office/drawing/2014/main" id="{19689768-F9AB-6982-271D-B12AD7239EBD}"/>
                </a:ext>
              </a:extLst>
            </p:cNvPr>
            <p:cNvSpPr/>
            <p:nvPr/>
          </p:nvSpPr>
          <p:spPr>
            <a:xfrm>
              <a:off x="9442035" y="3009899"/>
              <a:ext cx="1071977"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rPr>
                <a:t>Horse</a:t>
              </a:r>
            </a:p>
          </p:txBody>
        </p:sp>
        <p:cxnSp>
          <p:nvCxnSpPr>
            <p:cNvPr id="13" name="Straight Arrow Connector 12">
              <a:extLst>
                <a:ext uri="{FF2B5EF4-FFF2-40B4-BE49-F238E27FC236}">
                  <a16:creationId xmlns:a16="http://schemas.microsoft.com/office/drawing/2014/main" id="{C6A88774-2FF5-17FC-428C-7A0B552A27FF}"/>
                </a:ext>
              </a:extLst>
            </p:cNvPr>
            <p:cNvCxnSpPr>
              <a:stCxn id="5" idx="3"/>
              <a:endCxn id="11" idx="1"/>
            </p:cNvCxnSpPr>
            <p:nvPr/>
          </p:nvCxnSpPr>
          <p:spPr>
            <a:xfrm flipV="1">
              <a:off x="7047208" y="3200399"/>
              <a:ext cx="23948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3789EA-6A10-BA34-B475-634AF2EBEB4B}"/>
                </a:ext>
              </a:extLst>
            </p:cNvPr>
            <p:cNvSpPr txBox="1"/>
            <p:nvPr/>
          </p:nvSpPr>
          <p:spPr>
            <a:xfrm>
              <a:off x="6946467" y="2743200"/>
              <a:ext cx="2133600" cy="587055"/>
            </a:xfrm>
            <a:prstGeom prst="rect">
              <a:avLst/>
            </a:prstGeom>
            <a:noFill/>
          </p:spPr>
          <p:txBody>
            <a:bodyPr wrap="square" rtlCol="0">
              <a:spAutoFit/>
            </a:bodyPr>
            <a:lstStyle/>
            <a:p>
              <a:pPr algn="ctr"/>
              <a:r>
                <a:rPr lang="en-US" sz="1200" dirty="0"/>
                <a:t>And we </a:t>
              </a:r>
            </a:p>
            <a:p>
              <a:pPr algn="ctr"/>
              <a:r>
                <a:rPr lang="en-US" sz="1200" dirty="0"/>
                <a:t>recognize it</a:t>
              </a:r>
            </a:p>
          </p:txBody>
        </p:sp>
      </p:grpSp>
      <p:pic>
        <p:nvPicPr>
          <p:cNvPr id="8" name="Graphic 7" descr="Camera with solid fill">
            <a:extLst>
              <a:ext uri="{FF2B5EF4-FFF2-40B4-BE49-F238E27FC236}">
                <a16:creationId xmlns:a16="http://schemas.microsoft.com/office/drawing/2014/main" id="{04347E5B-780C-DA3A-2304-1948682CB8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80639" y="2609646"/>
            <a:ext cx="343202" cy="343202"/>
          </a:xfrm>
          <a:prstGeom prst="rect">
            <a:avLst/>
          </a:prstGeom>
        </p:spPr>
      </p:pic>
      <p:graphicFrame>
        <p:nvGraphicFramePr>
          <p:cNvPr id="12" name="Table 13">
            <a:extLst>
              <a:ext uri="{FF2B5EF4-FFF2-40B4-BE49-F238E27FC236}">
                <a16:creationId xmlns:a16="http://schemas.microsoft.com/office/drawing/2014/main" id="{5EAE7D55-E13A-7624-CDCB-9A92C59E496B}"/>
              </a:ext>
            </a:extLst>
          </p:cNvPr>
          <p:cNvGraphicFramePr>
            <a:graphicFrameLocks noGrp="1"/>
          </p:cNvGraphicFramePr>
          <p:nvPr/>
        </p:nvGraphicFramePr>
        <p:xfrm>
          <a:off x="7302244" y="2537407"/>
          <a:ext cx="416560" cy="48768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162028540"/>
                    </a:ext>
                  </a:extLst>
                </a:gridCol>
                <a:gridCol w="208280">
                  <a:extLst>
                    <a:ext uri="{9D8B030D-6E8A-4147-A177-3AD203B41FA5}">
                      <a16:colId xmlns:a16="http://schemas.microsoft.com/office/drawing/2014/main" val="1742995053"/>
                    </a:ext>
                  </a:extLst>
                </a:gridCol>
              </a:tblGrid>
              <a:tr h="0">
                <a:tc>
                  <a:txBody>
                    <a:bodyPr/>
                    <a:lstStyle/>
                    <a:p>
                      <a:endParaRPr lang="en-US" sz="200" dirty="0">
                        <a:latin typeface="Arial" panose="020B0604020202020204" pitchFamily="34" charset="0"/>
                        <a:cs typeface="Arial" panose="020B0604020202020204" pitchFamily="34" charset="0"/>
                      </a:endParaRPr>
                    </a:p>
                  </a:txBody>
                  <a:tcPr>
                    <a:solidFill>
                      <a:srgbClr val="FF0000"/>
                    </a:solidFill>
                  </a:tcPr>
                </a:tc>
                <a:tc>
                  <a:txBody>
                    <a:bodyPr/>
                    <a:lstStyle/>
                    <a:p>
                      <a:endParaRPr lang="en-US" sz="200" dirty="0">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2023657070"/>
                  </a:ext>
                </a:extLst>
              </a:tr>
              <a:tr h="0">
                <a:tc>
                  <a:txBody>
                    <a:bodyPr/>
                    <a:lstStyle/>
                    <a:p>
                      <a:endParaRPr lang="en-US" sz="200">
                        <a:latin typeface="Arial" panose="020B0604020202020204" pitchFamily="34" charset="0"/>
                        <a:cs typeface="Arial" panose="020B0604020202020204" pitchFamily="34" charset="0"/>
                      </a:endParaRPr>
                    </a:p>
                  </a:txBody>
                  <a:tcPr>
                    <a:solidFill>
                      <a:srgbClr val="FFFF00"/>
                    </a:solidFill>
                  </a:tcPr>
                </a:tc>
                <a:tc>
                  <a:txBody>
                    <a:bodyPr/>
                    <a:lstStyle/>
                    <a:p>
                      <a:endParaRPr lang="en-US" sz="200">
                        <a:latin typeface="Arial" panose="020B0604020202020204" pitchFamily="34" charset="0"/>
                        <a:cs typeface="Arial" panose="020B0604020202020204" pitchFamily="34" charset="0"/>
                      </a:endParaRPr>
                    </a:p>
                  </a:txBody>
                  <a:tcPr>
                    <a:solidFill>
                      <a:srgbClr val="FFFF00"/>
                    </a:solidFill>
                  </a:tcPr>
                </a:tc>
                <a:extLst>
                  <a:ext uri="{0D108BD9-81ED-4DB2-BD59-A6C34878D82A}">
                    <a16:rowId xmlns:a16="http://schemas.microsoft.com/office/drawing/2014/main" val="2925383746"/>
                  </a:ext>
                </a:extLst>
              </a:tr>
              <a:tr h="0">
                <a:tc>
                  <a:txBody>
                    <a:bodyPr/>
                    <a:lstStyle/>
                    <a:p>
                      <a:endParaRPr lang="en-US" sz="200">
                        <a:latin typeface="Arial" panose="020B0604020202020204" pitchFamily="34" charset="0"/>
                        <a:cs typeface="Arial" panose="020B0604020202020204" pitchFamily="34" charset="0"/>
                      </a:endParaRPr>
                    </a:p>
                  </a:txBody>
                  <a:tcPr>
                    <a:solidFill>
                      <a:schemeClr val="accent5">
                        <a:lumMod val="75000"/>
                      </a:schemeClr>
                    </a:solidFill>
                  </a:tcPr>
                </a:tc>
                <a:tc>
                  <a:txBody>
                    <a:bodyPr/>
                    <a:lstStyle/>
                    <a:p>
                      <a:endParaRPr lang="en-US" sz="200">
                        <a:latin typeface="Arial" panose="020B0604020202020204" pitchFamily="34" charset="0"/>
                        <a:cs typeface="Arial" panose="020B0604020202020204" pitchFamily="34" charset="0"/>
                      </a:endParaRPr>
                    </a:p>
                  </a:txBody>
                  <a:tcPr>
                    <a:solidFill>
                      <a:schemeClr val="accent5">
                        <a:lumMod val="75000"/>
                      </a:schemeClr>
                    </a:solidFill>
                  </a:tcPr>
                </a:tc>
                <a:extLst>
                  <a:ext uri="{0D108BD9-81ED-4DB2-BD59-A6C34878D82A}">
                    <a16:rowId xmlns:a16="http://schemas.microsoft.com/office/drawing/2014/main" val="4234647235"/>
                  </a:ext>
                </a:extLst>
              </a:tr>
              <a:tr h="0">
                <a:tc>
                  <a:txBody>
                    <a:bodyPr/>
                    <a:lstStyle/>
                    <a:p>
                      <a:endParaRPr lang="en-US" sz="200">
                        <a:latin typeface="Arial" panose="020B0604020202020204" pitchFamily="34" charset="0"/>
                        <a:cs typeface="Arial" panose="020B0604020202020204" pitchFamily="34" charset="0"/>
                      </a:endParaRPr>
                    </a:p>
                  </a:txBody>
                  <a:tcPr>
                    <a:solidFill>
                      <a:srgbClr val="0070C0"/>
                    </a:solidFill>
                  </a:tcPr>
                </a:tc>
                <a:tc>
                  <a:txBody>
                    <a:bodyPr/>
                    <a:lstStyle/>
                    <a:p>
                      <a:endParaRPr lang="en-US" sz="200" dirty="0">
                        <a:latin typeface="Arial" panose="020B0604020202020204" pitchFamily="34" charset="0"/>
                        <a:cs typeface="Arial" panose="020B0604020202020204" pitchFamily="34" charset="0"/>
                      </a:endParaRPr>
                    </a:p>
                  </a:txBody>
                  <a:tcPr>
                    <a:solidFill>
                      <a:srgbClr val="0070C0"/>
                    </a:solidFill>
                  </a:tcPr>
                </a:tc>
                <a:extLst>
                  <a:ext uri="{0D108BD9-81ED-4DB2-BD59-A6C34878D82A}">
                    <a16:rowId xmlns:a16="http://schemas.microsoft.com/office/drawing/2014/main" val="457979923"/>
                  </a:ext>
                </a:extLst>
              </a:tr>
            </a:tbl>
          </a:graphicData>
        </a:graphic>
      </p:graphicFrame>
      <p:grpSp>
        <p:nvGrpSpPr>
          <p:cNvPr id="25" name="Group 24">
            <a:extLst>
              <a:ext uri="{FF2B5EF4-FFF2-40B4-BE49-F238E27FC236}">
                <a16:creationId xmlns:a16="http://schemas.microsoft.com/office/drawing/2014/main" id="{1233E029-B8F2-303F-E72A-678B1DEB2E94}"/>
              </a:ext>
            </a:extLst>
          </p:cNvPr>
          <p:cNvGrpSpPr/>
          <p:nvPr/>
        </p:nvGrpSpPr>
        <p:grpSpPr>
          <a:xfrm>
            <a:off x="7967380" y="2704316"/>
            <a:ext cx="609600" cy="152400"/>
            <a:chOff x="7999412" y="1600200"/>
            <a:chExt cx="609600" cy="152400"/>
          </a:xfrm>
        </p:grpSpPr>
        <p:sp>
          <p:nvSpPr>
            <p:cNvPr id="17" name="Rectangle 16">
              <a:extLst>
                <a:ext uri="{FF2B5EF4-FFF2-40B4-BE49-F238E27FC236}">
                  <a16:creationId xmlns:a16="http://schemas.microsoft.com/office/drawing/2014/main" id="{065532B3-2E7C-D72D-BA8E-692E01F128BE}"/>
                </a:ext>
              </a:extLst>
            </p:cNvPr>
            <p:cNvSpPr/>
            <p:nvPr/>
          </p:nvSpPr>
          <p:spPr>
            <a:xfrm>
              <a:off x="7999412" y="1600200"/>
              <a:ext cx="76200" cy="152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8" name="Rectangle 17">
              <a:extLst>
                <a:ext uri="{FF2B5EF4-FFF2-40B4-BE49-F238E27FC236}">
                  <a16:creationId xmlns:a16="http://schemas.microsoft.com/office/drawing/2014/main" id="{0992A406-FE65-1EEF-B2ED-4CCE4B830931}"/>
                </a:ext>
              </a:extLst>
            </p:cNvPr>
            <p:cNvSpPr/>
            <p:nvPr/>
          </p:nvSpPr>
          <p:spPr>
            <a:xfrm>
              <a:off x="8075612" y="1600200"/>
              <a:ext cx="76200" cy="152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9" name="Rectangle 18">
              <a:extLst>
                <a:ext uri="{FF2B5EF4-FFF2-40B4-BE49-F238E27FC236}">
                  <a16:creationId xmlns:a16="http://schemas.microsoft.com/office/drawing/2014/main" id="{505C959E-F571-351C-44AC-8BACFF11809B}"/>
                </a:ext>
              </a:extLst>
            </p:cNvPr>
            <p:cNvSpPr/>
            <p:nvPr/>
          </p:nvSpPr>
          <p:spPr>
            <a:xfrm>
              <a:off x="8151812" y="1600200"/>
              <a:ext cx="76200" cy="152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0" name="Rectangle 19">
              <a:extLst>
                <a:ext uri="{FF2B5EF4-FFF2-40B4-BE49-F238E27FC236}">
                  <a16:creationId xmlns:a16="http://schemas.microsoft.com/office/drawing/2014/main" id="{BEB13801-BA64-98D4-2086-A16F5FAC4A64}"/>
                </a:ext>
              </a:extLst>
            </p:cNvPr>
            <p:cNvSpPr/>
            <p:nvPr/>
          </p:nvSpPr>
          <p:spPr>
            <a:xfrm>
              <a:off x="8228012" y="1600200"/>
              <a:ext cx="76200" cy="152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Rectangle 20">
              <a:extLst>
                <a:ext uri="{FF2B5EF4-FFF2-40B4-BE49-F238E27FC236}">
                  <a16:creationId xmlns:a16="http://schemas.microsoft.com/office/drawing/2014/main" id="{DBFC08B4-4910-67F0-2F37-85BA9D2AC073}"/>
                </a:ext>
              </a:extLst>
            </p:cNvPr>
            <p:cNvSpPr/>
            <p:nvPr/>
          </p:nvSpPr>
          <p:spPr>
            <a:xfrm>
              <a:off x="8304212" y="1600200"/>
              <a:ext cx="76200" cy="1524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2" name="Rectangle 21">
              <a:extLst>
                <a:ext uri="{FF2B5EF4-FFF2-40B4-BE49-F238E27FC236}">
                  <a16:creationId xmlns:a16="http://schemas.microsoft.com/office/drawing/2014/main" id="{4CC3B10E-7154-E822-1391-7C246E78B6EF}"/>
                </a:ext>
              </a:extLst>
            </p:cNvPr>
            <p:cNvSpPr/>
            <p:nvPr/>
          </p:nvSpPr>
          <p:spPr>
            <a:xfrm>
              <a:off x="8380412" y="1600200"/>
              <a:ext cx="76200" cy="1524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3" name="Rectangle 22">
              <a:extLst>
                <a:ext uri="{FF2B5EF4-FFF2-40B4-BE49-F238E27FC236}">
                  <a16:creationId xmlns:a16="http://schemas.microsoft.com/office/drawing/2014/main" id="{F2844035-D443-84BD-387A-12FEF344D041}"/>
                </a:ext>
              </a:extLst>
            </p:cNvPr>
            <p:cNvSpPr/>
            <p:nvPr/>
          </p:nvSpPr>
          <p:spPr>
            <a:xfrm>
              <a:off x="8456612" y="1600200"/>
              <a:ext cx="76200" cy="1524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4" name="Rectangle 23">
              <a:extLst>
                <a:ext uri="{FF2B5EF4-FFF2-40B4-BE49-F238E27FC236}">
                  <a16:creationId xmlns:a16="http://schemas.microsoft.com/office/drawing/2014/main" id="{79265451-A91B-6FFC-0EFF-2159E3C7CA00}"/>
                </a:ext>
              </a:extLst>
            </p:cNvPr>
            <p:cNvSpPr/>
            <p:nvPr/>
          </p:nvSpPr>
          <p:spPr>
            <a:xfrm>
              <a:off x="8532812" y="1600200"/>
              <a:ext cx="76200" cy="1524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grpSp>
      <p:sp>
        <p:nvSpPr>
          <p:cNvPr id="32" name="Arrow: Right 31">
            <a:extLst>
              <a:ext uri="{FF2B5EF4-FFF2-40B4-BE49-F238E27FC236}">
                <a16:creationId xmlns:a16="http://schemas.microsoft.com/office/drawing/2014/main" id="{B23A759B-BDE9-F875-193D-3B475F376933}"/>
              </a:ext>
            </a:extLst>
          </p:cNvPr>
          <p:cNvSpPr/>
          <p:nvPr/>
        </p:nvSpPr>
        <p:spPr>
          <a:xfrm>
            <a:off x="7040690"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32">
            <a:extLst>
              <a:ext uri="{FF2B5EF4-FFF2-40B4-BE49-F238E27FC236}">
                <a16:creationId xmlns:a16="http://schemas.microsoft.com/office/drawing/2014/main" id="{3142CDFD-313A-5FC0-385F-2DD077088420}"/>
              </a:ext>
            </a:extLst>
          </p:cNvPr>
          <p:cNvSpPr/>
          <p:nvPr/>
        </p:nvSpPr>
        <p:spPr>
          <a:xfrm>
            <a:off x="7746998"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a:extLst>
              <a:ext uri="{FF2B5EF4-FFF2-40B4-BE49-F238E27FC236}">
                <a16:creationId xmlns:a16="http://schemas.microsoft.com/office/drawing/2014/main" id="{AC651982-6E77-B851-A373-B969AD545AE8}"/>
              </a:ext>
            </a:extLst>
          </p:cNvPr>
          <p:cNvSpPr>
            <a:spLocks noGrp="1"/>
          </p:cNvSpPr>
          <p:nvPr>
            <p:ph type="body" idx="1"/>
          </p:nvPr>
        </p:nvSpPr>
        <p:spPr/>
        <p:txBody>
          <a:bodyPr/>
          <a:lstStyle/>
          <a:p>
            <a:endParaRPr lang="en-US"/>
          </a:p>
        </p:txBody>
      </p:sp>
      <p:sp>
        <p:nvSpPr>
          <p:cNvPr id="26" name="Content Placeholder 2">
            <a:extLst>
              <a:ext uri="{FF2B5EF4-FFF2-40B4-BE49-F238E27FC236}">
                <a16:creationId xmlns:a16="http://schemas.microsoft.com/office/drawing/2014/main" id="{E9E5B61A-99F9-C6E3-EAF3-043E97158FD7}"/>
              </a:ext>
            </a:extLst>
          </p:cNvPr>
          <p:cNvSpPr txBox="1">
            <a:spLocks/>
          </p:cNvSpPr>
          <p:nvPr/>
        </p:nvSpPr>
        <p:spPr>
          <a:xfrm>
            <a:off x="1602354" y="1401762"/>
            <a:ext cx="9782801" cy="51816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20040" algn="l" rtl="0">
              <a:lnSpc>
                <a:spcPct val="90000"/>
              </a:lnSpc>
              <a:spcBef>
                <a:spcPts val="1800"/>
              </a:spcBef>
              <a:spcAft>
                <a:spcPts val="0"/>
              </a:spcAft>
              <a:buClr>
                <a:schemeClr val="dk2"/>
              </a:buClr>
              <a:buSzPts val="144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pPr marL="0" indent="0">
              <a:lnSpc>
                <a:spcPct val="100000"/>
              </a:lnSpc>
              <a:buFont typeface="Noto Sans Symbols"/>
              <a:buNone/>
            </a:pPr>
            <a:r>
              <a:rPr lang="en-US">
                <a:latin typeface="Arial" panose="020B0604020202020204" pitchFamily="34" charset="0"/>
                <a:cs typeface="Arial" panose="020B0604020202020204" pitchFamily="34" charset="0"/>
              </a:rPr>
              <a:t>Let’s see a simple example:</a:t>
            </a:r>
          </a:p>
          <a:p>
            <a:pPr marL="0" indent="0">
              <a:lnSpc>
                <a:spcPct val="100000"/>
              </a:lnSpc>
              <a:buFont typeface="Noto Sans Symbols"/>
              <a:buNone/>
            </a:pPr>
            <a:endParaRPr lang="en-US">
              <a:latin typeface="Arial" panose="020B0604020202020204" pitchFamily="34" charset="0"/>
              <a:cs typeface="Arial" panose="020B0604020202020204" pitchFamily="34" charset="0"/>
            </a:endParaRPr>
          </a:p>
          <a:p>
            <a:pPr marL="0" indent="0">
              <a:lnSpc>
                <a:spcPct val="100000"/>
              </a:lnSpc>
              <a:buFont typeface="Noto Sans Symbols"/>
              <a:buNone/>
            </a:pPr>
            <a:endParaRPr lang="en-US">
              <a:latin typeface="Arial" panose="020B0604020202020204" pitchFamily="34" charset="0"/>
              <a:cs typeface="Arial" panose="020B0604020202020204" pitchFamily="34" charset="0"/>
            </a:endParaRPr>
          </a:p>
          <a:p>
            <a:pPr indent="-457200">
              <a:lnSpc>
                <a:spcPct val="100000"/>
              </a:lnSpc>
              <a:buFont typeface="Noto Sans Symbols"/>
              <a:buAutoNum type="arabicPeriod"/>
            </a:pPr>
            <a:r>
              <a:rPr lang="en-US" sz="1800">
                <a:latin typeface="Arial" panose="020B0604020202020204" pitchFamily="34" charset="0"/>
                <a:cs typeface="Arial" panose="020B0604020202020204" pitchFamily="34" charset="0"/>
              </a:rPr>
              <a:t>First, we need the ability “to look” </a:t>
            </a:r>
            <a:r>
              <a:rPr lang="en-US" sz="1800">
                <a:latin typeface="Arial" panose="020B0604020202020204" pitchFamily="34" charset="0"/>
                <a:cs typeface="Arial" panose="020B0604020202020204" pitchFamily="34" charset="0"/>
                <a:sym typeface="Wingdings" panose="05000000000000000000" pitchFamily="2" charset="2"/>
              </a:rPr>
              <a:t> this simply translate into taking a picture</a:t>
            </a:r>
          </a:p>
          <a:p>
            <a:pPr indent="-457200">
              <a:lnSpc>
                <a:spcPct val="100000"/>
              </a:lnSpc>
              <a:buFont typeface="Noto Sans Symbols"/>
              <a:buAutoNum type="arabicPeriod"/>
            </a:pPr>
            <a:r>
              <a:rPr lang="en-US" sz="1800">
                <a:latin typeface="Arial" panose="020B0604020202020204" pitchFamily="34" charset="0"/>
                <a:cs typeface="Arial" panose="020B0604020202020204" pitchFamily="34" charset="0"/>
                <a:sym typeface="Wingdings" panose="05000000000000000000" pitchFamily="2" charset="2"/>
              </a:rPr>
              <a:t>That picture is transferred to a computer where it is converted into a matrix of (</a:t>
            </a:r>
            <a:r>
              <a:rPr lang="en-US" sz="1800" b="1" i="1">
                <a:latin typeface="Arial" panose="020B0604020202020204" pitchFamily="34" charset="0"/>
                <a:cs typeface="Arial" panose="020B0604020202020204" pitchFamily="34" charset="0"/>
                <a:sym typeface="Wingdings" panose="05000000000000000000" pitchFamily="2" charset="2"/>
              </a:rPr>
              <a:t>w</a:t>
            </a:r>
            <a:r>
              <a:rPr lang="en-US" sz="1800">
                <a:latin typeface="Arial" panose="020B0604020202020204" pitchFamily="34" charset="0"/>
                <a:cs typeface="Arial" panose="020B0604020202020204" pitchFamily="34" charset="0"/>
                <a:sym typeface="Wingdings" panose="05000000000000000000" pitchFamily="2" charset="2"/>
              </a:rPr>
              <a:t> x </a:t>
            </a:r>
            <a:r>
              <a:rPr lang="en-US" sz="1800" b="1" i="1">
                <a:latin typeface="Arial" panose="020B0604020202020204" pitchFamily="34" charset="0"/>
                <a:cs typeface="Arial" panose="020B0604020202020204" pitchFamily="34" charset="0"/>
                <a:sym typeface="Wingdings" panose="05000000000000000000" pitchFamily="2" charset="2"/>
              </a:rPr>
              <a:t>h</a:t>
            </a:r>
            <a:r>
              <a:rPr lang="en-US" sz="1800">
                <a:latin typeface="Arial" panose="020B0604020202020204" pitchFamily="34" charset="0"/>
                <a:cs typeface="Arial" panose="020B0604020202020204" pitchFamily="34" charset="0"/>
                <a:sym typeface="Wingdings" panose="05000000000000000000" pitchFamily="2" charset="2"/>
              </a:rPr>
              <a:t>), where “</a:t>
            </a:r>
            <a:r>
              <a:rPr lang="en-US" sz="1800" b="1" i="1">
                <a:latin typeface="Arial" panose="020B0604020202020204" pitchFamily="34" charset="0"/>
                <a:cs typeface="Arial" panose="020B0604020202020204" pitchFamily="34" charset="0"/>
                <a:sym typeface="Wingdings" panose="05000000000000000000" pitchFamily="2" charset="2"/>
              </a:rPr>
              <a:t>w</a:t>
            </a:r>
            <a:r>
              <a:rPr lang="en-US" sz="1800">
                <a:latin typeface="Arial" panose="020B0604020202020204" pitchFamily="34" charset="0"/>
                <a:cs typeface="Arial" panose="020B0604020202020204" pitchFamily="34" charset="0"/>
                <a:sym typeface="Wingdings" panose="05000000000000000000" pitchFamily="2" charset="2"/>
              </a:rPr>
              <a:t>” is the width of the picture and “</a:t>
            </a:r>
            <a:r>
              <a:rPr lang="en-US" sz="1800" b="1" i="1">
                <a:latin typeface="Arial" panose="020B0604020202020204" pitchFamily="34" charset="0"/>
                <a:cs typeface="Arial" panose="020B0604020202020204" pitchFamily="34" charset="0"/>
                <a:sym typeface="Wingdings" panose="05000000000000000000" pitchFamily="2" charset="2"/>
              </a:rPr>
              <a:t>h</a:t>
            </a:r>
            <a:r>
              <a:rPr lang="en-US" sz="1800">
                <a:latin typeface="Arial" panose="020B0604020202020204" pitchFamily="34" charset="0"/>
                <a:cs typeface="Arial" panose="020B0604020202020204" pitchFamily="34" charset="0"/>
                <a:sym typeface="Wingdings" panose="05000000000000000000" pitchFamily="2" charset="2"/>
              </a:rPr>
              <a:t>” is its height. Each cell of that matrix is a color (a numerical value) that reflects the color of the pixels from the original picture.</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We convert the matrix into a vector of numbers by concatenating each row one after another</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Now we need a function that takes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w</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x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h</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parameters (let’s call it function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f</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and returns a number with a very special meaning: if the result is 1, it corresponds to the word “horse”, if the result is 2, it corresponds to the word “cat’ and so on.</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Finally, we use a map with associations (1 horse, 2 cat, …) and we print the result.</a:t>
            </a:r>
            <a:endPar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30606286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DBA67EAD-BA9B-5233-8929-8917B736461C}"/>
              </a:ext>
            </a:extLst>
          </p:cNvPr>
          <p:cNvGraphicFramePr>
            <a:graphicFrameLocks noGrp="1"/>
          </p:cNvGraphicFramePr>
          <p:nvPr/>
        </p:nvGraphicFramePr>
        <p:xfrm>
          <a:off x="1751012" y="2057400"/>
          <a:ext cx="9525000" cy="1143000"/>
        </p:xfrm>
        <a:graphic>
          <a:graphicData uri="http://schemas.openxmlformats.org/drawingml/2006/table">
            <a:tbl>
              <a:tblPr firstRow="1" bandRow="1">
                <a:tableStyleId>{073A0DAA-6AF3-43AB-8588-CEC1D06C72B9}</a:tableStyleId>
              </a:tblPr>
              <a:tblGrid>
                <a:gridCol w="4762500">
                  <a:extLst>
                    <a:ext uri="{9D8B030D-6E8A-4147-A177-3AD203B41FA5}">
                      <a16:colId xmlns:a16="http://schemas.microsoft.com/office/drawing/2014/main" val="2151303053"/>
                    </a:ext>
                  </a:extLst>
                </a:gridCol>
                <a:gridCol w="4762500">
                  <a:extLst>
                    <a:ext uri="{9D8B030D-6E8A-4147-A177-3AD203B41FA5}">
                      <a16:colId xmlns:a16="http://schemas.microsoft.com/office/drawing/2014/main" val="2552834896"/>
                    </a:ext>
                  </a:extLst>
                </a:gridCol>
              </a:tblGrid>
              <a:tr h="419292">
                <a:tc>
                  <a:txBody>
                    <a:bodyPr/>
                    <a:lstStyle/>
                    <a:p>
                      <a:r>
                        <a:rPr lang="en-US" dirty="0"/>
                        <a:t>Human behavior</a:t>
                      </a:r>
                    </a:p>
                  </a:txBody>
                  <a:tcPr/>
                </a:tc>
                <a:tc>
                  <a:txBody>
                    <a:bodyPr/>
                    <a:lstStyle/>
                    <a:p>
                      <a:r>
                        <a:rPr lang="en-US" dirty="0"/>
                        <a:t>Computer behavior</a:t>
                      </a:r>
                    </a:p>
                  </a:txBody>
                  <a:tcPr/>
                </a:tc>
                <a:extLst>
                  <a:ext uri="{0D108BD9-81ED-4DB2-BD59-A6C34878D82A}">
                    <a16:rowId xmlns:a16="http://schemas.microsoft.com/office/drawing/2014/main" val="1479506464"/>
                  </a:ext>
                </a:extLst>
              </a:tr>
              <a:tr h="723708">
                <a:tc>
                  <a:txBody>
                    <a:bodyPr/>
                    <a:lstStyle/>
                    <a:p>
                      <a:endParaRPr lang="en-US" dirty="0"/>
                    </a:p>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extLst>
                  <a:ext uri="{0D108BD9-81ED-4DB2-BD59-A6C34878D82A}">
                    <a16:rowId xmlns:a16="http://schemas.microsoft.com/office/drawing/2014/main" val="968564101"/>
                  </a:ext>
                </a:extLst>
              </a:tr>
            </a:tbl>
          </a:graphicData>
        </a:graphic>
      </p:graphicFrame>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pSp>
        <p:nvGrpSpPr>
          <p:cNvPr id="16" name="Group 15">
            <a:extLst>
              <a:ext uri="{FF2B5EF4-FFF2-40B4-BE49-F238E27FC236}">
                <a16:creationId xmlns:a16="http://schemas.microsoft.com/office/drawing/2014/main" id="{52E7DA3F-C3D0-82C8-5F90-2EC92AAEA761}"/>
              </a:ext>
            </a:extLst>
          </p:cNvPr>
          <p:cNvGrpSpPr/>
          <p:nvPr/>
        </p:nvGrpSpPr>
        <p:grpSpPr>
          <a:xfrm>
            <a:off x="1869994" y="2600016"/>
            <a:ext cx="4191000" cy="488272"/>
            <a:chOff x="2665412" y="2743200"/>
            <a:chExt cx="7848600" cy="914400"/>
          </a:xfrm>
        </p:grpSpPr>
        <p:pic>
          <p:nvPicPr>
            <p:cNvPr id="5" name="Graphic 4" descr="Horse with solid fill">
              <a:extLst>
                <a:ext uri="{FF2B5EF4-FFF2-40B4-BE49-F238E27FC236}">
                  <a16:creationId xmlns:a16="http://schemas.microsoft.com/office/drawing/2014/main" id="{26121170-84C3-E599-CCF8-A56256A487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32808" y="2743200"/>
              <a:ext cx="914400" cy="914400"/>
            </a:xfrm>
            <a:prstGeom prst="rect">
              <a:avLst/>
            </a:prstGeom>
          </p:spPr>
        </p:pic>
        <p:pic>
          <p:nvPicPr>
            <p:cNvPr id="7" name="Graphic 6" descr="Male profile with solid fill">
              <a:extLst>
                <a:ext uri="{FF2B5EF4-FFF2-40B4-BE49-F238E27FC236}">
                  <a16:creationId xmlns:a16="http://schemas.microsoft.com/office/drawing/2014/main" id="{9D1B5DF1-1167-1B99-0F82-E5F7DCC8FD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65412" y="2743200"/>
              <a:ext cx="914400" cy="914400"/>
            </a:xfrm>
            <a:prstGeom prst="rect">
              <a:avLst/>
            </a:prstGeom>
          </p:spPr>
        </p:pic>
        <p:cxnSp>
          <p:nvCxnSpPr>
            <p:cNvPr id="9" name="Straight Arrow Connector 8">
              <a:extLst>
                <a:ext uri="{FF2B5EF4-FFF2-40B4-BE49-F238E27FC236}">
                  <a16:creationId xmlns:a16="http://schemas.microsoft.com/office/drawing/2014/main" id="{2BFDB596-5F08-CD30-D87F-12AF02CD233C}"/>
                </a:ext>
              </a:extLst>
            </p:cNvPr>
            <p:cNvCxnSpPr>
              <a:stCxn id="7" idx="3"/>
              <a:endCxn id="5" idx="1"/>
            </p:cNvCxnSpPr>
            <p:nvPr/>
          </p:nvCxnSpPr>
          <p:spPr>
            <a:xfrm>
              <a:off x="3579812" y="3200400"/>
              <a:ext cx="2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01D342-52E4-0509-5FB2-4C8EB7B82E89}"/>
                </a:ext>
              </a:extLst>
            </p:cNvPr>
            <p:cNvSpPr txBox="1"/>
            <p:nvPr/>
          </p:nvSpPr>
          <p:spPr>
            <a:xfrm>
              <a:off x="3729557" y="2743200"/>
              <a:ext cx="2133600" cy="587055"/>
            </a:xfrm>
            <a:prstGeom prst="rect">
              <a:avLst/>
            </a:prstGeom>
            <a:noFill/>
          </p:spPr>
          <p:txBody>
            <a:bodyPr wrap="square" rtlCol="0">
              <a:spAutoFit/>
            </a:bodyPr>
            <a:lstStyle/>
            <a:p>
              <a:pPr algn="ctr"/>
              <a:r>
                <a:rPr lang="en-US" sz="1200" dirty="0"/>
                <a:t>We look at an </a:t>
              </a:r>
            </a:p>
            <a:p>
              <a:pPr algn="ctr"/>
              <a:r>
                <a:rPr lang="en-US" sz="1200" dirty="0"/>
                <a:t>animal</a:t>
              </a:r>
            </a:p>
          </p:txBody>
        </p:sp>
        <p:sp>
          <p:nvSpPr>
            <p:cNvPr id="11" name="Rectangle: Rounded Corners 10">
              <a:extLst>
                <a:ext uri="{FF2B5EF4-FFF2-40B4-BE49-F238E27FC236}">
                  <a16:creationId xmlns:a16="http://schemas.microsoft.com/office/drawing/2014/main" id="{19689768-F9AB-6982-271D-B12AD7239EBD}"/>
                </a:ext>
              </a:extLst>
            </p:cNvPr>
            <p:cNvSpPr/>
            <p:nvPr/>
          </p:nvSpPr>
          <p:spPr>
            <a:xfrm>
              <a:off x="9442035" y="3009899"/>
              <a:ext cx="1071977"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rPr>
                <a:t>Horse</a:t>
              </a:r>
            </a:p>
          </p:txBody>
        </p:sp>
        <p:cxnSp>
          <p:nvCxnSpPr>
            <p:cNvPr id="13" name="Straight Arrow Connector 12">
              <a:extLst>
                <a:ext uri="{FF2B5EF4-FFF2-40B4-BE49-F238E27FC236}">
                  <a16:creationId xmlns:a16="http://schemas.microsoft.com/office/drawing/2014/main" id="{C6A88774-2FF5-17FC-428C-7A0B552A27FF}"/>
                </a:ext>
              </a:extLst>
            </p:cNvPr>
            <p:cNvCxnSpPr>
              <a:stCxn id="5" idx="3"/>
              <a:endCxn id="11" idx="1"/>
            </p:cNvCxnSpPr>
            <p:nvPr/>
          </p:nvCxnSpPr>
          <p:spPr>
            <a:xfrm flipV="1">
              <a:off x="7047208" y="3200399"/>
              <a:ext cx="23948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3789EA-6A10-BA34-B475-634AF2EBEB4B}"/>
                </a:ext>
              </a:extLst>
            </p:cNvPr>
            <p:cNvSpPr txBox="1"/>
            <p:nvPr/>
          </p:nvSpPr>
          <p:spPr>
            <a:xfrm>
              <a:off x="6946467" y="2743200"/>
              <a:ext cx="2133600" cy="587055"/>
            </a:xfrm>
            <a:prstGeom prst="rect">
              <a:avLst/>
            </a:prstGeom>
            <a:noFill/>
          </p:spPr>
          <p:txBody>
            <a:bodyPr wrap="square" rtlCol="0">
              <a:spAutoFit/>
            </a:bodyPr>
            <a:lstStyle/>
            <a:p>
              <a:pPr algn="ctr"/>
              <a:r>
                <a:rPr lang="en-US" sz="1200" dirty="0"/>
                <a:t>And we </a:t>
              </a:r>
            </a:p>
            <a:p>
              <a:pPr algn="ctr"/>
              <a:r>
                <a:rPr lang="en-US" sz="1200" dirty="0"/>
                <a:t>recognize it</a:t>
              </a:r>
            </a:p>
          </p:txBody>
        </p:sp>
      </p:grpSp>
      <p:pic>
        <p:nvPicPr>
          <p:cNvPr id="8" name="Graphic 7" descr="Camera with solid fill">
            <a:extLst>
              <a:ext uri="{FF2B5EF4-FFF2-40B4-BE49-F238E27FC236}">
                <a16:creationId xmlns:a16="http://schemas.microsoft.com/office/drawing/2014/main" id="{04347E5B-780C-DA3A-2304-1948682CB8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80639" y="2609646"/>
            <a:ext cx="343202" cy="343202"/>
          </a:xfrm>
          <a:prstGeom prst="rect">
            <a:avLst/>
          </a:prstGeom>
        </p:spPr>
      </p:pic>
      <p:graphicFrame>
        <p:nvGraphicFramePr>
          <p:cNvPr id="12" name="Table 13">
            <a:extLst>
              <a:ext uri="{FF2B5EF4-FFF2-40B4-BE49-F238E27FC236}">
                <a16:creationId xmlns:a16="http://schemas.microsoft.com/office/drawing/2014/main" id="{5EAE7D55-E13A-7624-CDCB-9A92C59E496B}"/>
              </a:ext>
            </a:extLst>
          </p:cNvPr>
          <p:cNvGraphicFramePr>
            <a:graphicFrameLocks noGrp="1"/>
          </p:cNvGraphicFramePr>
          <p:nvPr/>
        </p:nvGraphicFramePr>
        <p:xfrm>
          <a:off x="7302244" y="2537407"/>
          <a:ext cx="416560" cy="48768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162028540"/>
                    </a:ext>
                  </a:extLst>
                </a:gridCol>
                <a:gridCol w="208280">
                  <a:extLst>
                    <a:ext uri="{9D8B030D-6E8A-4147-A177-3AD203B41FA5}">
                      <a16:colId xmlns:a16="http://schemas.microsoft.com/office/drawing/2014/main" val="1742995053"/>
                    </a:ext>
                  </a:extLst>
                </a:gridCol>
              </a:tblGrid>
              <a:tr h="0">
                <a:tc>
                  <a:txBody>
                    <a:bodyPr/>
                    <a:lstStyle/>
                    <a:p>
                      <a:endParaRPr lang="en-US" sz="200" dirty="0">
                        <a:latin typeface="Arial" panose="020B0604020202020204" pitchFamily="34" charset="0"/>
                        <a:cs typeface="Arial" panose="020B0604020202020204" pitchFamily="34" charset="0"/>
                      </a:endParaRPr>
                    </a:p>
                  </a:txBody>
                  <a:tcPr>
                    <a:solidFill>
                      <a:srgbClr val="FF0000"/>
                    </a:solidFill>
                  </a:tcPr>
                </a:tc>
                <a:tc>
                  <a:txBody>
                    <a:bodyPr/>
                    <a:lstStyle/>
                    <a:p>
                      <a:endParaRPr lang="en-US" sz="200" dirty="0">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2023657070"/>
                  </a:ext>
                </a:extLst>
              </a:tr>
              <a:tr h="0">
                <a:tc>
                  <a:txBody>
                    <a:bodyPr/>
                    <a:lstStyle/>
                    <a:p>
                      <a:endParaRPr lang="en-US" sz="200">
                        <a:latin typeface="Arial" panose="020B0604020202020204" pitchFamily="34" charset="0"/>
                        <a:cs typeface="Arial" panose="020B0604020202020204" pitchFamily="34" charset="0"/>
                      </a:endParaRPr>
                    </a:p>
                  </a:txBody>
                  <a:tcPr>
                    <a:solidFill>
                      <a:srgbClr val="FFFF00"/>
                    </a:solidFill>
                  </a:tcPr>
                </a:tc>
                <a:tc>
                  <a:txBody>
                    <a:bodyPr/>
                    <a:lstStyle/>
                    <a:p>
                      <a:endParaRPr lang="en-US" sz="200">
                        <a:latin typeface="Arial" panose="020B0604020202020204" pitchFamily="34" charset="0"/>
                        <a:cs typeface="Arial" panose="020B0604020202020204" pitchFamily="34" charset="0"/>
                      </a:endParaRPr>
                    </a:p>
                  </a:txBody>
                  <a:tcPr>
                    <a:solidFill>
                      <a:srgbClr val="FFFF00"/>
                    </a:solidFill>
                  </a:tcPr>
                </a:tc>
                <a:extLst>
                  <a:ext uri="{0D108BD9-81ED-4DB2-BD59-A6C34878D82A}">
                    <a16:rowId xmlns:a16="http://schemas.microsoft.com/office/drawing/2014/main" val="2925383746"/>
                  </a:ext>
                </a:extLst>
              </a:tr>
              <a:tr h="0">
                <a:tc>
                  <a:txBody>
                    <a:bodyPr/>
                    <a:lstStyle/>
                    <a:p>
                      <a:endParaRPr lang="en-US" sz="200">
                        <a:latin typeface="Arial" panose="020B0604020202020204" pitchFamily="34" charset="0"/>
                        <a:cs typeface="Arial" panose="020B0604020202020204" pitchFamily="34" charset="0"/>
                      </a:endParaRPr>
                    </a:p>
                  </a:txBody>
                  <a:tcPr>
                    <a:solidFill>
                      <a:schemeClr val="accent5">
                        <a:lumMod val="75000"/>
                      </a:schemeClr>
                    </a:solidFill>
                  </a:tcPr>
                </a:tc>
                <a:tc>
                  <a:txBody>
                    <a:bodyPr/>
                    <a:lstStyle/>
                    <a:p>
                      <a:endParaRPr lang="en-US" sz="200">
                        <a:latin typeface="Arial" panose="020B0604020202020204" pitchFamily="34" charset="0"/>
                        <a:cs typeface="Arial" panose="020B0604020202020204" pitchFamily="34" charset="0"/>
                      </a:endParaRPr>
                    </a:p>
                  </a:txBody>
                  <a:tcPr>
                    <a:solidFill>
                      <a:schemeClr val="accent5">
                        <a:lumMod val="75000"/>
                      </a:schemeClr>
                    </a:solidFill>
                  </a:tcPr>
                </a:tc>
                <a:extLst>
                  <a:ext uri="{0D108BD9-81ED-4DB2-BD59-A6C34878D82A}">
                    <a16:rowId xmlns:a16="http://schemas.microsoft.com/office/drawing/2014/main" val="4234647235"/>
                  </a:ext>
                </a:extLst>
              </a:tr>
              <a:tr h="0">
                <a:tc>
                  <a:txBody>
                    <a:bodyPr/>
                    <a:lstStyle/>
                    <a:p>
                      <a:endParaRPr lang="en-US" sz="200">
                        <a:latin typeface="Arial" panose="020B0604020202020204" pitchFamily="34" charset="0"/>
                        <a:cs typeface="Arial" panose="020B0604020202020204" pitchFamily="34" charset="0"/>
                      </a:endParaRPr>
                    </a:p>
                  </a:txBody>
                  <a:tcPr>
                    <a:solidFill>
                      <a:srgbClr val="0070C0"/>
                    </a:solidFill>
                  </a:tcPr>
                </a:tc>
                <a:tc>
                  <a:txBody>
                    <a:bodyPr/>
                    <a:lstStyle/>
                    <a:p>
                      <a:endParaRPr lang="en-US" sz="200" dirty="0">
                        <a:latin typeface="Arial" panose="020B0604020202020204" pitchFamily="34" charset="0"/>
                        <a:cs typeface="Arial" panose="020B0604020202020204" pitchFamily="34" charset="0"/>
                      </a:endParaRPr>
                    </a:p>
                  </a:txBody>
                  <a:tcPr>
                    <a:solidFill>
                      <a:srgbClr val="0070C0"/>
                    </a:solidFill>
                  </a:tcPr>
                </a:tc>
                <a:extLst>
                  <a:ext uri="{0D108BD9-81ED-4DB2-BD59-A6C34878D82A}">
                    <a16:rowId xmlns:a16="http://schemas.microsoft.com/office/drawing/2014/main" val="457979923"/>
                  </a:ext>
                </a:extLst>
              </a:tr>
            </a:tbl>
          </a:graphicData>
        </a:graphic>
      </p:graphicFrame>
      <p:grpSp>
        <p:nvGrpSpPr>
          <p:cNvPr id="25" name="Group 24">
            <a:extLst>
              <a:ext uri="{FF2B5EF4-FFF2-40B4-BE49-F238E27FC236}">
                <a16:creationId xmlns:a16="http://schemas.microsoft.com/office/drawing/2014/main" id="{1233E029-B8F2-303F-E72A-678B1DEB2E94}"/>
              </a:ext>
            </a:extLst>
          </p:cNvPr>
          <p:cNvGrpSpPr/>
          <p:nvPr/>
        </p:nvGrpSpPr>
        <p:grpSpPr>
          <a:xfrm>
            <a:off x="7967380" y="2704316"/>
            <a:ext cx="609600" cy="152400"/>
            <a:chOff x="7999412" y="1600200"/>
            <a:chExt cx="609600" cy="152400"/>
          </a:xfrm>
        </p:grpSpPr>
        <p:sp>
          <p:nvSpPr>
            <p:cNvPr id="17" name="Rectangle 16">
              <a:extLst>
                <a:ext uri="{FF2B5EF4-FFF2-40B4-BE49-F238E27FC236}">
                  <a16:creationId xmlns:a16="http://schemas.microsoft.com/office/drawing/2014/main" id="{065532B3-2E7C-D72D-BA8E-692E01F128BE}"/>
                </a:ext>
              </a:extLst>
            </p:cNvPr>
            <p:cNvSpPr/>
            <p:nvPr/>
          </p:nvSpPr>
          <p:spPr>
            <a:xfrm>
              <a:off x="7999412" y="1600200"/>
              <a:ext cx="76200" cy="152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8" name="Rectangle 17">
              <a:extLst>
                <a:ext uri="{FF2B5EF4-FFF2-40B4-BE49-F238E27FC236}">
                  <a16:creationId xmlns:a16="http://schemas.microsoft.com/office/drawing/2014/main" id="{0992A406-FE65-1EEF-B2ED-4CCE4B830931}"/>
                </a:ext>
              </a:extLst>
            </p:cNvPr>
            <p:cNvSpPr/>
            <p:nvPr/>
          </p:nvSpPr>
          <p:spPr>
            <a:xfrm>
              <a:off x="8075612" y="1600200"/>
              <a:ext cx="76200" cy="152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9" name="Rectangle 18">
              <a:extLst>
                <a:ext uri="{FF2B5EF4-FFF2-40B4-BE49-F238E27FC236}">
                  <a16:creationId xmlns:a16="http://schemas.microsoft.com/office/drawing/2014/main" id="{505C959E-F571-351C-44AC-8BACFF11809B}"/>
                </a:ext>
              </a:extLst>
            </p:cNvPr>
            <p:cNvSpPr/>
            <p:nvPr/>
          </p:nvSpPr>
          <p:spPr>
            <a:xfrm>
              <a:off x="8151812" y="1600200"/>
              <a:ext cx="76200" cy="152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0" name="Rectangle 19">
              <a:extLst>
                <a:ext uri="{FF2B5EF4-FFF2-40B4-BE49-F238E27FC236}">
                  <a16:creationId xmlns:a16="http://schemas.microsoft.com/office/drawing/2014/main" id="{BEB13801-BA64-98D4-2086-A16F5FAC4A64}"/>
                </a:ext>
              </a:extLst>
            </p:cNvPr>
            <p:cNvSpPr/>
            <p:nvPr/>
          </p:nvSpPr>
          <p:spPr>
            <a:xfrm>
              <a:off x="8228012" y="1600200"/>
              <a:ext cx="76200" cy="152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Rectangle 20">
              <a:extLst>
                <a:ext uri="{FF2B5EF4-FFF2-40B4-BE49-F238E27FC236}">
                  <a16:creationId xmlns:a16="http://schemas.microsoft.com/office/drawing/2014/main" id="{DBFC08B4-4910-67F0-2F37-85BA9D2AC073}"/>
                </a:ext>
              </a:extLst>
            </p:cNvPr>
            <p:cNvSpPr/>
            <p:nvPr/>
          </p:nvSpPr>
          <p:spPr>
            <a:xfrm>
              <a:off x="8304212" y="1600200"/>
              <a:ext cx="76200" cy="1524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2" name="Rectangle 21">
              <a:extLst>
                <a:ext uri="{FF2B5EF4-FFF2-40B4-BE49-F238E27FC236}">
                  <a16:creationId xmlns:a16="http://schemas.microsoft.com/office/drawing/2014/main" id="{4CC3B10E-7154-E822-1391-7C246E78B6EF}"/>
                </a:ext>
              </a:extLst>
            </p:cNvPr>
            <p:cNvSpPr/>
            <p:nvPr/>
          </p:nvSpPr>
          <p:spPr>
            <a:xfrm>
              <a:off x="8380412" y="1600200"/>
              <a:ext cx="76200" cy="1524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3" name="Rectangle 22">
              <a:extLst>
                <a:ext uri="{FF2B5EF4-FFF2-40B4-BE49-F238E27FC236}">
                  <a16:creationId xmlns:a16="http://schemas.microsoft.com/office/drawing/2014/main" id="{F2844035-D443-84BD-387A-12FEF344D041}"/>
                </a:ext>
              </a:extLst>
            </p:cNvPr>
            <p:cNvSpPr/>
            <p:nvPr/>
          </p:nvSpPr>
          <p:spPr>
            <a:xfrm>
              <a:off x="8456612" y="1600200"/>
              <a:ext cx="76200" cy="1524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4" name="Rectangle 23">
              <a:extLst>
                <a:ext uri="{FF2B5EF4-FFF2-40B4-BE49-F238E27FC236}">
                  <a16:creationId xmlns:a16="http://schemas.microsoft.com/office/drawing/2014/main" id="{79265451-A91B-6FFC-0EFF-2159E3C7CA00}"/>
                </a:ext>
              </a:extLst>
            </p:cNvPr>
            <p:cNvSpPr/>
            <p:nvPr/>
          </p:nvSpPr>
          <p:spPr>
            <a:xfrm>
              <a:off x="8532812" y="1600200"/>
              <a:ext cx="76200" cy="1524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grpSp>
      <p:sp>
        <p:nvSpPr>
          <p:cNvPr id="27" name="TextBox 26">
            <a:extLst>
              <a:ext uri="{FF2B5EF4-FFF2-40B4-BE49-F238E27FC236}">
                <a16:creationId xmlns:a16="http://schemas.microsoft.com/office/drawing/2014/main" id="{FAF3B449-16C0-010B-554E-AC6A3D87C639}"/>
              </a:ext>
            </a:extLst>
          </p:cNvPr>
          <p:cNvSpPr txBox="1"/>
          <p:nvPr/>
        </p:nvSpPr>
        <p:spPr>
          <a:xfrm>
            <a:off x="8798184" y="2440312"/>
            <a:ext cx="914401" cy="584775"/>
          </a:xfrm>
          <a:prstGeom prst="rect">
            <a:avLst/>
          </a:prstGeom>
          <a:noFill/>
        </p:spPr>
        <p:txBody>
          <a:bodyPr wrap="square" rtlCol="0">
            <a:spAutoFit/>
          </a:bodyPr>
          <a:lstStyle/>
          <a:p>
            <a:r>
              <a:rPr lang="en-US" sz="32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f</a:t>
            </a:r>
            <a:r>
              <a:rPr lang="en-US" sz="20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r>
              <a:rPr lang="en-US" sz="20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endParaRPr lang="en-US" dirty="0">
              <a:ln w="9525">
                <a:solidFill>
                  <a:schemeClr val="tx2"/>
                </a:solidFill>
                <a:prstDash val="solid"/>
              </a:ln>
              <a:latin typeface="Arial" panose="020B0604020202020204" pitchFamily="34" charset="0"/>
              <a:cs typeface="Arial" panose="020B0604020202020204" pitchFamily="34" charset="0"/>
            </a:endParaRPr>
          </a:p>
        </p:txBody>
      </p:sp>
      <p:sp>
        <p:nvSpPr>
          <p:cNvPr id="32" name="Arrow: Right 31">
            <a:extLst>
              <a:ext uri="{FF2B5EF4-FFF2-40B4-BE49-F238E27FC236}">
                <a16:creationId xmlns:a16="http://schemas.microsoft.com/office/drawing/2014/main" id="{B23A759B-BDE9-F875-193D-3B475F376933}"/>
              </a:ext>
            </a:extLst>
          </p:cNvPr>
          <p:cNvSpPr/>
          <p:nvPr/>
        </p:nvSpPr>
        <p:spPr>
          <a:xfrm>
            <a:off x="7040690"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32">
            <a:extLst>
              <a:ext uri="{FF2B5EF4-FFF2-40B4-BE49-F238E27FC236}">
                <a16:creationId xmlns:a16="http://schemas.microsoft.com/office/drawing/2014/main" id="{3142CDFD-313A-5FC0-385F-2DD077088420}"/>
              </a:ext>
            </a:extLst>
          </p:cNvPr>
          <p:cNvSpPr/>
          <p:nvPr/>
        </p:nvSpPr>
        <p:spPr>
          <a:xfrm>
            <a:off x="7746998"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Right 33">
            <a:extLst>
              <a:ext uri="{FF2B5EF4-FFF2-40B4-BE49-F238E27FC236}">
                <a16:creationId xmlns:a16="http://schemas.microsoft.com/office/drawing/2014/main" id="{13D1BD9C-2E17-A961-D53A-338EB84D6EF3}"/>
              </a:ext>
            </a:extLst>
          </p:cNvPr>
          <p:cNvSpPr/>
          <p:nvPr/>
        </p:nvSpPr>
        <p:spPr>
          <a:xfrm>
            <a:off x="8660544" y="2756754"/>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a:extLst>
              <a:ext uri="{FF2B5EF4-FFF2-40B4-BE49-F238E27FC236}">
                <a16:creationId xmlns:a16="http://schemas.microsoft.com/office/drawing/2014/main" id="{CC1A82A0-482E-E629-C844-91C940AEE76E}"/>
              </a:ext>
            </a:extLst>
          </p:cNvPr>
          <p:cNvSpPr>
            <a:spLocks noGrp="1"/>
          </p:cNvSpPr>
          <p:nvPr>
            <p:ph type="body" idx="1"/>
          </p:nvPr>
        </p:nvSpPr>
        <p:spPr/>
        <p:txBody>
          <a:bodyPr/>
          <a:lstStyle/>
          <a:p>
            <a:endParaRPr lang="en-US"/>
          </a:p>
        </p:txBody>
      </p:sp>
      <p:sp>
        <p:nvSpPr>
          <p:cNvPr id="26" name="Content Placeholder 2">
            <a:extLst>
              <a:ext uri="{FF2B5EF4-FFF2-40B4-BE49-F238E27FC236}">
                <a16:creationId xmlns:a16="http://schemas.microsoft.com/office/drawing/2014/main" id="{72EE8674-6827-61A6-4FFB-D396D4DFCFED}"/>
              </a:ext>
            </a:extLst>
          </p:cNvPr>
          <p:cNvSpPr txBox="1">
            <a:spLocks/>
          </p:cNvSpPr>
          <p:nvPr/>
        </p:nvSpPr>
        <p:spPr>
          <a:xfrm>
            <a:off x="1602354" y="1401762"/>
            <a:ext cx="9782801" cy="51816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20040" algn="l" rtl="0">
              <a:lnSpc>
                <a:spcPct val="90000"/>
              </a:lnSpc>
              <a:spcBef>
                <a:spcPts val="1800"/>
              </a:spcBef>
              <a:spcAft>
                <a:spcPts val="0"/>
              </a:spcAft>
              <a:buClr>
                <a:schemeClr val="dk2"/>
              </a:buClr>
              <a:buSzPts val="144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pPr marL="0" indent="0">
              <a:lnSpc>
                <a:spcPct val="100000"/>
              </a:lnSpc>
              <a:buFont typeface="Noto Sans Symbols"/>
              <a:buNone/>
            </a:pPr>
            <a:r>
              <a:rPr lang="en-US">
                <a:latin typeface="Arial" panose="020B0604020202020204" pitchFamily="34" charset="0"/>
                <a:cs typeface="Arial" panose="020B0604020202020204" pitchFamily="34" charset="0"/>
              </a:rPr>
              <a:t>Let’s see a simple example:</a:t>
            </a:r>
          </a:p>
          <a:p>
            <a:pPr marL="0" indent="0">
              <a:lnSpc>
                <a:spcPct val="100000"/>
              </a:lnSpc>
              <a:buFont typeface="Noto Sans Symbols"/>
              <a:buNone/>
            </a:pPr>
            <a:endParaRPr lang="en-US">
              <a:latin typeface="Arial" panose="020B0604020202020204" pitchFamily="34" charset="0"/>
              <a:cs typeface="Arial" panose="020B0604020202020204" pitchFamily="34" charset="0"/>
            </a:endParaRPr>
          </a:p>
          <a:p>
            <a:pPr marL="0" indent="0">
              <a:lnSpc>
                <a:spcPct val="100000"/>
              </a:lnSpc>
              <a:buFont typeface="Noto Sans Symbols"/>
              <a:buNone/>
            </a:pPr>
            <a:endParaRPr lang="en-US">
              <a:latin typeface="Arial" panose="020B0604020202020204" pitchFamily="34" charset="0"/>
              <a:cs typeface="Arial" panose="020B0604020202020204" pitchFamily="34" charset="0"/>
            </a:endParaRPr>
          </a:p>
          <a:p>
            <a:pPr indent="-457200">
              <a:lnSpc>
                <a:spcPct val="100000"/>
              </a:lnSpc>
              <a:buFont typeface="Noto Sans Symbols"/>
              <a:buAutoNum type="arabicPeriod"/>
            </a:pPr>
            <a:r>
              <a:rPr lang="en-US" sz="1800">
                <a:latin typeface="Arial" panose="020B0604020202020204" pitchFamily="34" charset="0"/>
                <a:cs typeface="Arial" panose="020B0604020202020204" pitchFamily="34" charset="0"/>
              </a:rPr>
              <a:t>First, we need the ability “to look” </a:t>
            </a:r>
            <a:r>
              <a:rPr lang="en-US" sz="1800">
                <a:latin typeface="Arial" panose="020B0604020202020204" pitchFamily="34" charset="0"/>
                <a:cs typeface="Arial" panose="020B0604020202020204" pitchFamily="34" charset="0"/>
                <a:sym typeface="Wingdings" panose="05000000000000000000" pitchFamily="2" charset="2"/>
              </a:rPr>
              <a:t> this simply translate into taking a picture</a:t>
            </a:r>
          </a:p>
          <a:p>
            <a:pPr indent="-457200">
              <a:lnSpc>
                <a:spcPct val="100000"/>
              </a:lnSpc>
              <a:buFont typeface="Noto Sans Symbols"/>
              <a:buAutoNum type="arabicPeriod"/>
            </a:pPr>
            <a:r>
              <a:rPr lang="en-US" sz="1800">
                <a:latin typeface="Arial" panose="020B0604020202020204" pitchFamily="34" charset="0"/>
                <a:cs typeface="Arial" panose="020B0604020202020204" pitchFamily="34" charset="0"/>
                <a:sym typeface="Wingdings" panose="05000000000000000000" pitchFamily="2" charset="2"/>
              </a:rPr>
              <a:t>That picture is transferred to a computer where it is converted into a matrix of (</a:t>
            </a:r>
            <a:r>
              <a:rPr lang="en-US" sz="1800" b="1" i="1">
                <a:latin typeface="Arial" panose="020B0604020202020204" pitchFamily="34" charset="0"/>
                <a:cs typeface="Arial" panose="020B0604020202020204" pitchFamily="34" charset="0"/>
                <a:sym typeface="Wingdings" panose="05000000000000000000" pitchFamily="2" charset="2"/>
              </a:rPr>
              <a:t>w</a:t>
            </a:r>
            <a:r>
              <a:rPr lang="en-US" sz="1800">
                <a:latin typeface="Arial" panose="020B0604020202020204" pitchFamily="34" charset="0"/>
                <a:cs typeface="Arial" panose="020B0604020202020204" pitchFamily="34" charset="0"/>
                <a:sym typeface="Wingdings" panose="05000000000000000000" pitchFamily="2" charset="2"/>
              </a:rPr>
              <a:t> x </a:t>
            </a:r>
            <a:r>
              <a:rPr lang="en-US" sz="1800" b="1" i="1">
                <a:latin typeface="Arial" panose="020B0604020202020204" pitchFamily="34" charset="0"/>
                <a:cs typeface="Arial" panose="020B0604020202020204" pitchFamily="34" charset="0"/>
                <a:sym typeface="Wingdings" panose="05000000000000000000" pitchFamily="2" charset="2"/>
              </a:rPr>
              <a:t>h</a:t>
            </a:r>
            <a:r>
              <a:rPr lang="en-US" sz="1800">
                <a:latin typeface="Arial" panose="020B0604020202020204" pitchFamily="34" charset="0"/>
                <a:cs typeface="Arial" panose="020B0604020202020204" pitchFamily="34" charset="0"/>
                <a:sym typeface="Wingdings" panose="05000000000000000000" pitchFamily="2" charset="2"/>
              </a:rPr>
              <a:t>), where “</a:t>
            </a:r>
            <a:r>
              <a:rPr lang="en-US" sz="1800" b="1" i="1">
                <a:latin typeface="Arial" panose="020B0604020202020204" pitchFamily="34" charset="0"/>
                <a:cs typeface="Arial" panose="020B0604020202020204" pitchFamily="34" charset="0"/>
                <a:sym typeface="Wingdings" panose="05000000000000000000" pitchFamily="2" charset="2"/>
              </a:rPr>
              <a:t>w</a:t>
            </a:r>
            <a:r>
              <a:rPr lang="en-US" sz="1800">
                <a:latin typeface="Arial" panose="020B0604020202020204" pitchFamily="34" charset="0"/>
                <a:cs typeface="Arial" panose="020B0604020202020204" pitchFamily="34" charset="0"/>
                <a:sym typeface="Wingdings" panose="05000000000000000000" pitchFamily="2" charset="2"/>
              </a:rPr>
              <a:t>” is the width of the picture and “</a:t>
            </a:r>
            <a:r>
              <a:rPr lang="en-US" sz="1800" b="1" i="1">
                <a:latin typeface="Arial" panose="020B0604020202020204" pitchFamily="34" charset="0"/>
                <a:cs typeface="Arial" panose="020B0604020202020204" pitchFamily="34" charset="0"/>
                <a:sym typeface="Wingdings" panose="05000000000000000000" pitchFamily="2" charset="2"/>
              </a:rPr>
              <a:t>h</a:t>
            </a:r>
            <a:r>
              <a:rPr lang="en-US" sz="1800">
                <a:latin typeface="Arial" panose="020B0604020202020204" pitchFamily="34" charset="0"/>
                <a:cs typeface="Arial" panose="020B0604020202020204" pitchFamily="34" charset="0"/>
                <a:sym typeface="Wingdings" panose="05000000000000000000" pitchFamily="2" charset="2"/>
              </a:rPr>
              <a:t>” is its height. Each cell of that matrix is a color (a numerical value) that reflects the color of the pixels from the original picture.</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We convert the matrix into a vector of numbers by concatenating each row one after another</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Now we need a function that takes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w</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x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h</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parameters (let’s call it function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f</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and returns a number with a very special meaning: if the result is 1, it corresponds to the word “horse”, if the result is 2, it corresponds to the word “cat’ and so on.</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Finally, we use a map with associations (1 horse, 2 cat, …) and we print the result.</a:t>
            </a:r>
            <a:endPar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24229520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DBA67EAD-BA9B-5233-8929-8917B736461C}"/>
              </a:ext>
            </a:extLst>
          </p:cNvPr>
          <p:cNvGraphicFramePr>
            <a:graphicFrameLocks noGrp="1"/>
          </p:cNvGraphicFramePr>
          <p:nvPr/>
        </p:nvGraphicFramePr>
        <p:xfrm>
          <a:off x="1751012" y="2057400"/>
          <a:ext cx="9525000" cy="1143000"/>
        </p:xfrm>
        <a:graphic>
          <a:graphicData uri="http://schemas.openxmlformats.org/drawingml/2006/table">
            <a:tbl>
              <a:tblPr firstRow="1" bandRow="1">
                <a:tableStyleId>{073A0DAA-6AF3-43AB-8588-CEC1D06C72B9}</a:tableStyleId>
              </a:tblPr>
              <a:tblGrid>
                <a:gridCol w="4762500">
                  <a:extLst>
                    <a:ext uri="{9D8B030D-6E8A-4147-A177-3AD203B41FA5}">
                      <a16:colId xmlns:a16="http://schemas.microsoft.com/office/drawing/2014/main" val="2151303053"/>
                    </a:ext>
                  </a:extLst>
                </a:gridCol>
                <a:gridCol w="4762500">
                  <a:extLst>
                    <a:ext uri="{9D8B030D-6E8A-4147-A177-3AD203B41FA5}">
                      <a16:colId xmlns:a16="http://schemas.microsoft.com/office/drawing/2014/main" val="2552834896"/>
                    </a:ext>
                  </a:extLst>
                </a:gridCol>
              </a:tblGrid>
              <a:tr h="419292">
                <a:tc>
                  <a:txBody>
                    <a:bodyPr/>
                    <a:lstStyle/>
                    <a:p>
                      <a:r>
                        <a:rPr lang="en-US" dirty="0"/>
                        <a:t>Human behavior</a:t>
                      </a:r>
                    </a:p>
                  </a:txBody>
                  <a:tcPr/>
                </a:tc>
                <a:tc>
                  <a:txBody>
                    <a:bodyPr/>
                    <a:lstStyle/>
                    <a:p>
                      <a:r>
                        <a:rPr lang="en-US" dirty="0"/>
                        <a:t>Computer behavior</a:t>
                      </a:r>
                    </a:p>
                  </a:txBody>
                  <a:tcPr/>
                </a:tc>
                <a:extLst>
                  <a:ext uri="{0D108BD9-81ED-4DB2-BD59-A6C34878D82A}">
                    <a16:rowId xmlns:a16="http://schemas.microsoft.com/office/drawing/2014/main" val="1479506464"/>
                  </a:ext>
                </a:extLst>
              </a:tr>
              <a:tr h="723708">
                <a:tc>
                  <a:txBody>
                    <a:bodyPr/>
                    <a:lstStyle/>
                    <a:p>
                      <a:endParaRPr lang="en-US" dirty="0"/>
                    </a:p>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extLst>
                  <a:ext uri="{0D108BD9-81ED-4DB2-BD59-A6C34878D82A}">
                    <a16:rowId xmlns:a16="http://schemas.microsoft.com/office/drawing/2014/main" val="968564101"/>
                  </a:ext>
                </a:extLst>
              </a:tr>
            </a:tbl>
          </a:graphicData>
        </a:graphic>
      </p:graphicFrame>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pSp>
        <p:nvGrpSpPr>
          <p:cNvPr id="16" name="Group 15">
            <a:extLst>
              <a:ext uri="{FF2B5EF4-FFF2-40B4-BE49-F238E27FC236}">
                <a16:creationId xmlns:a16="http://schemas.microsoft.com/office/drawing/2014/main" id="{52E7DA3F-C3D0-82C8-5F90-2EC92AAEA761}"/>
              </a:ext>
            </a:extLst>
          </p:cNvPr>
          <p:cNvGrpSpPr/>
          <p:nvPr/>
        </p:nvGrpSpPr>
        <p:grpSpPr>
          <a:xfrm>
            <a:off x="1869994" y="2600016"/>
            <a:ext cx="4191000" cy="488272"/>
            <a:chOff x="2665412" y="2743200"/>
            <a:chExt cx="7848600" cy="914400"/>
          </a:xfrm>
        </p:grpSpPr>
        <p:pic>
          <p:nvPicPr>
            <p:cNvPr id="5" name="Graphic 4" descr="Horse with solid fill">
              <a:extLst>
                <a:ext uri="{FF2B5EF4-FFF2-40B4-BE49-F238E27FC236}">
                  <a16:creationId xmlns:a16="http://schemas.microsoft.com/office/drawing/2014/main" id="{26121170-84C3-E599-CCF8-A56256A487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32808" y="2743200"/>
              <a:ext cx="914400" cy="914400"/>
            </a:xfrm>
            <a:prstGeom prst="rect">
              <a:avLst/>
            </a:prstGeom>
          </p:spPr>
        </p:pic>
        <p:pic>
          <p:nvPicPr>
            <p:cNvPr id="7" name="Graphic 6" descr="Male profile with solid fill">
              <a:extLst>
                <a:ext uri="{FF2B5EF4-FFF2-40B4-BE49-F238E27FC236}">
                  <a16:creationId xmlns:a16="http://schemas.microsoft.com/office/drawing/2014/main" id="{9D1B5DF1-1167-1B99-0F82-E5F7DCC8FD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65412" y="2743200"/>
              <a:ext cx="914400" cy="914400"/>
            </a:xfrm>
            <a:prstGeom prst="rect">
              <a:avLst/>
            </a:prstGeom>
          </p:spPr>
        </p:pic>
        <p:cxnSp>
          <p:nvCxnSpPr>
            <p:cNvPr id="9" name="Straight Arrow Connector 8">
              <a:extLst>
                <a:ext uri="{FF2B5EF4-FFF2-40B4-BE49-F238E27FC236}">
                  <a16:creationId xmlns:a16="http://schemas.microsoft.com/office/drawing/2014/main" id="{2BFDB596-5F08-CD30-D87F-12AF02CD233C}"/>
                </a:ext>
              </a:extLst>
            </p:cNvPr>
            <p:cNvCxnSpPr>
              <a:stCxn id="7" idx="3"/>
              <a:endCxn id="5" idx="1"/>
            </p:cNvCxnSpPr>
            <p:nvPr/>
          </p:nvCxnSpPr>
          <p:spPr>
            <a:xfrm>
              <a:off x="3579812" y="3200400"/>
              <a:ext cx="2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01D342-52E4-0509-5FB2-4C8EB7B82E89}"/>
                </a:ext>
              </a:extLst>
            </p:cNvPr>
            <p:cNvSpPr txBox="1"/>
            <p:nvPr/>
          </p:nvSpPr>
          <p:spPr>
            <a:xfrm>
              <a:off x="3729557" y="2743200"/>
              <a:ext cx="2133600" cy="587055"/>
            </a:xfrm>
            <a:prstGeom prst="rect">
              <a:avLst/>
            </a:prstGeom>
            <a:noFill/>
          </p:spPr>
          <p:txBody>
            <a:bodyPr wrap="square" rtlCol="0">
              <a:spAutoFit/>
            </a:bodyPr>
            <a:lstStyle/>
            <a:p>
              <a:pPr algn="ctr"/>
              <a:r>
                <a:rPr lang="en-US" sz="1200" dirty="0"/>
                <a:t>We look at an </a:t>
              </a:r>
            </a:p>
            <a:p>
              <a:pPr algn="ctr"/>
              <a:r>
                <a:rPr lang="en-US" sz="1200" dirty="0"/>
                <a:t>animal</a:t>
              </a:r>
            </a:p>
          </p:txBody>
        </p:sp>
        <p:sp>
          <p:nvSpPr>
            <p:cNvPr id="11" name="Rectangle: Rounded Corners 10">
              <a:extLst>
                <a:ext uri="{FF2B5EF4-FFF2-40B4-BE49-F238E27FC236}">
                  <a16:creationId xmlns:a16="http://schemas.microsoft.com/office/drawing/2014/main" id="{19689768-F9AB-6982-271D-B12AD7239EBD}"/>
                </a:ext>
              </a:extLst>
            </p:cNvPr>
            <p:cNvSpPr/>
            <p:nvPr/>
          </p:nvSpPr>
          <p:spPr>
            <a:xfrm>
              <a:off x="9442035" y="3009899"/>
              <a:ext cx="1071977"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rPr>
                <a:t>Horse</a:t>
              </a:r>
            </a:p>
          </p:txBody>
        </p:sp>
        <p:cxnSp>
          <p:nvCxnSpPr>
            <p:cNvPr id="13" name="Straight Arrow Connector 12">
              <a:extLst>
                <a:ext uri="{FF2B5EF4-FFF2-40B4-BE49-F238E27FC236}">
                  <a16:creationId xmlns:a16="http://schemas.microsoft.com/office/drawing/2014/main" id="{C6A88774-2FF5-17FC-428C-7A0B552A27FF}"/>
                </a:ext>
              </a:extLst>
            </p:cNvPr>
            <p:cNvCxnSpPr>
              <a:stCxn id="5" idx="3"/>
              <a:endCxn id="11" idx="1"/>
            </p:cNvCxnSpPr>
            <p:nvPr/>
          </p:nvCxnSpPr>
          <p:spPr>
            <a:xfrm flipV="1">
              <a:off x="7047208" y="3200399"/>
              <a:ext cx="23948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3789EA-6A10-BA34-B475-634AF2EBEB4B}"/>
                </a:ext>
              </a:extLst>
            </p:cNvPr>
            <p:cNvSpPr txBox="1"/>
            <p:nvPr/>
          </p:nvSpPr>
          <p:spPr>
            <a:xfrm>
              <a:off x="6946467" y="2743200"/>
              <a:ext cx="2133600" cy="587055"/>
            </a:xfrm>
            <a:prstGeom prst="rect">
              <a:avLst/>
            </a:prstGeom>
            <a:noFill/>
          </p:spPr>
          <p:txBody>
            <a:bodyPr wrap="square" rtlCol="0">
              <a:spAutoFit/>
            </a:bodyPr>
            <a:lstStyle/>
            <a:p>
              <a:pPr algn="ctr"/>
              <a:r>
                <a:rPr lang="en-US" sz="1200" dirty="0"/>
                <a:t>And we </a:t>
              </a:r>
            </a:p>
            <a:p>
              <a:pPr algn="ctr"/>
              <a:r>
                <a:rPr lang="en-US" sz="1200" dirty="0"/>
                <a:t>recognize it</a:t>
              </a:r>
            </a:p>
          </p:txBody>
        </p:sp>
      </p:grpSp>
      <p:pic>
        <p:nvPicPr>
          <p:cNvPr id="8" name="Graphic 7" descr="Camera with solid fill">
            <a:extLst>
              <a:ext uri="{FF2B5EF4-FFF2-40B4-BE49-F238E27FC236}">
                <a16:creationId xmlns:a16="http://schemas.microsoft.com/office/drawing/2014/main" id="{04347E5B-780C-DA3A-2304-1948682CB8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80639" y="2609646"/>
            <a:ext cx="343202" cy="343202"/>
          </a:xfrm>
          <a:prstGeom prst="rect">
            <a:avLst/>
          </a:prstGeom>
        </p:spPr>
      </p:pic>
      <p:graphicFrame>
        <p:nvGraphicFramePr>
          <p:cNvPr id="12" name="Table 13">
            <a:extLst>
              <a:ext uri="{FF2B5EF4-FFF2-40B4-BE49-F238E27FC236}">
                <a16:creationId xmlns:a16="http://schemas.microsoft.com/office/drawing/2014/main" id="{5EAE7D55-E13A-7624-CDCB-9A92C59E496B}"/>
              </a:ext>
            </a:extLst>
          </p:cNvPr>
          <p:cNvGraphicFramePr>
            <a:graphicFrameLocks noGrp="1"/>
          </p:cNvGraphicFramePr>
          <p:nvPr/>
        </p:nvGraphicFramePr>
        <p:xfrm>
          <a:off x="7302244" y="2537407"/>
          <a:ext cx="416560" cy="48768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162028540"/>
                    </a:ext>
                  </a:extLst>
                </a:gridCol>
                <a:gridCol w="208280">
                  <a:extLst>
                    <a:ext uri="{9D8B030D-6E8A-4147-A177-3AD203B41FA5}">
                      <a16:colId xmlns:a16="http://schemas.microsoft.com/office/drawing/2014/main" val="1742995053"/>
                    </a:ext>
                  </a:extLst>
                </a:gridCol>
              </a:tblGrid>
              <a:tr h="0">
                <a:tc>
                  <a:txBody>
                    <a:bodyPr/>
                    <a:lstStyle/>
                    <a:p>
                      <a:endParaRPr lang="en-US" sz="200" dirty="0">
                        <a:latin typeface="Arial" panose="020B0604020202020204" pitchFamily="34" charset="0"/>
                        <a:cs typeface="Arial" panose="020B0604020202020204" pitchFamily="34" charset="0"/>
                      </a:endParaRPr>
                    </a:p>
                  </a:txBody>
                  <a:tcPr>
                    <a:solidFill>
                      <a:srgbClr val="FF0000"/>
                    </a:solidFill>
                  </a:tcPr>
                </a:tc>
                <a:tc>
                  <a:txBody>
                    <a:bodyPr/>
                    <a:lstStyle/>
                    <a:p>
                      <a:endParaRPr lang="en-US" sz="200" dirty="0">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2023657070"/>
                  </a:ext>
                </a:extLst>
              </a:tr>
              <a:tr h="0">
                <a:tc>
                  <a:txBody>
                    <a:bodyPr/>
                    <a:lstStyle/>
                    <a:p>
                      <a:endParaRPr lang="en-US" sz="200">
                        <a:latin typeface="Arial" panose="020B0604020202020204" pitchFamily="34" charset="0"/>
                        <a:cs typeface="Arial" panose="020B0604020202020204" pitchFamily="34" charset="0"/>
                      </a:endParaRPr>
                    </a:p>
                  </a:txBody>
                  <a:tcPr>
                    <a:solidFill>
                      <a:srgbClr val="FFFF00"/>
                    </a:solidFill>
                  </a:tcPr>
                </a:tc>
                <a:tc>
                  <a:txBody>
                    <a:bodyPr/>
                    <a:lstStyle/>
                    <a:p>
                      <a:endParaRPr lang="en-US" sz="200">
                        <a:latin typeface="Arial" panose="020B0604020202020204" pitchFamily="34" charset="0"/>
                        <a:cs typeface="Arial" panose="020B0604020202020204" pitchFamily="34" charset="0"/>
                      </a:endParaRPr>
                    </a:p>
                  </a:txBody>
                  <a:tcPr>
                    <a:solidFill>
                      <a:srgbClr val="FFFF00"/>
                    </a:solidFill>
                  </a:tcPr>
                </a:tc>
                <a:extLst>
                  <a:ext uri="{0D108BD9-81ED-4DB2-BD59-A6C34878D82A}">
                    <a16:rowId xmlns:a16="http://schemas.microsoft.com/office/drawing/2014/main" val="2925383746"/>
                  </a:ext>
                </a:extLst>
              </a:tr>
              <a:tr h="0">
                <a:tc>
                  <a:txBody>
                    <a:bodyPr/>
                    <a:lstStyle/>
                    <a:p>
                      <a:endParaRPr lang="en-US" sz="200">
                        <a:latin typeface="Arial" panose="020B0604020202020204" pitchFamily="34" charset="0"/>
                        <a:cs typeface="Arial" panose="020B0604020202020204" pitchFamily="34" charset="0"/>
                      </a:endParaRPr>
                    </a:p>
                  </a:txBody>
                  <a:tcPr>
                    <a:solidFill>
                      <a:schemeClr val="accent5">
                        <a:lumMod val="75000"/>
                      </a:schemeClr>
                    </a:solidFill>
                  </a:tcPr>
                </a:tc>
                <a:tc>
                  <a:txBody>
                    <a:bodyPr/>
                    <a:lstStyle/>
                    <a:p>
                      <a:endParaRPr lang="en-US" sz="200">
                        <a:latin typeface="Arial" panose="020B0604020202020204" pitchFamily="34" charset="0"/>
                        <a:cs typeface="Arial" panose="020B0604020202020204" pitchFamily="34" charset="0"/>
                      </a:endParaRPr>
                    </a:p>
                  </a:txBody>
                  <a:tcPr>
                    <a:solidFill>
                      <a:schemeClr val="accent5">
                        <a:lumMod val="75000"/>
                      </a:schemeClr>
                    </a:solidFill>
                  </a:tcPr>
                </a:tc>
                <a:extLst>
                  <a:ext uri="{0D108BD9-81ED-4DB2-BD59-A6C34878D82A}">
                    <a16:rowId xmlns:a16="http://schemas.microsoft.com/office/drawing/2014/main" val="4234647235"/>
                  </a:ext>
                </a:extLst>
              </a:tr>
              <a:tr h="0">
                <a:tc>
                  <a:txBody>
                    <a:bodyPr/>
                    <a:lstStyle/>
                    <a:p>
                      <a:endParaRPr lang="en-US" sz="200">
                        <a:latin typeface="Arial" panose="020B0604020202020204" pitchFamily="34" charset="0"/>
                        <a:cs typeface="Arial" panose="020B0604020202020204" pitchFamily="34" charset="0"/>
                      </a:endParaRPr>
                    </a:p>
                  </a:txBody>
                  <a:tcPr>
                    <a:solidFill>
                      <a:srgbClr val="0070C0"/>
                    </a:solidFill>
                  </a:tcPr>
                </a:tc>
                <a:tc>
                  <a:txBody>
                    <a:bodyPr/>
                    <a:lstStyle/>
                    <a:p>
                      <a:endParaRPr lang="en-US" sz="200" dirty="0">
                        <a:latin typeface="Arial" panose="020B0604020202020204" pitchFamily="34" charset="0"/>
                        <a:cs typeface="Arial" panose="020B0604020202020204" pitchFamily="34" charset="0"/>
                      </a:endParaRPr>
                    </a:p>
                  </a:txBody>
                  <a:tcPr>
                    <a:solidFill>
                      <a:srgbClr val="0070C0"/>
                    </a:solidFill>
                  </a:tcPr>
                </a:tc>
                <a:extLst>
                  <a:ext uri="{0D108BD9-81ED-4DB2-BD59-A6C34878D82A}">
                    <a16:rowId xmlns:a16="http://schemas.microsoft.com/office/drawing/2014/main" val="457979923"/>
                  </a:ext>
                </a:extLst>
              </a:tr>
            </a:tbl>
          </a:graphicData>
        </a:graphic>
      </p:graphicFrame>
      <p:grpSp>
        <p:nvGrpSpPr>
          <p:cNvPr id="25" name="Group 24">
            <a:extLst>
              <a:ext uri="{FF2B5EF4-FFF2-40B4-BE49-F238E27FC236}">
                <a16:creationId xmlns:a16="http://schemas.microsoft.com/office/drawing/2014/main" id="{1233E029-B8F2-303F-E72A-678B1DEB2E94}"/>
              </a:ext>
            </a:extLst>
          </p:cNvPr>
          <p:cNvGrpSpPr/>
          <p:nvPr/>
        </p:nvGrpSpPr>
        <p:grpSpPr>
          <a:xfrm>
            <a:off x="7967380" y="2704316"/>
            <a:ext cx="609600" cy="152400"/>
            <a:chOff x="7999412" y="1600200"/>
            <a:chExt cx="609600" cy="152400"/>
          </a:xfrm>
        </p:grpSpPr>
        <p:sp>
          <p:nvSpPr>
            <p:cNvPr id="17" name="Rectangle 16">
              <a:extLst>
                <a:ext uri="{FF2B5EF4-FFF2-40B4-BE49-F238E27FC236}">
                  <a16:creationId xmlns:a16="http://schemas.microsoft.com/office/drawing/2014/main" id="{065532B3-2E7C-D72D-BA8E-692E01F128BE}"/>
                </a:ext>
              </a:extLst>
            </p:cNvPr>
            <p:cNvSpPr/>
            <p:nvPr/>
          </p:nvSpPr>
          <p:spPr>
            <a:xfrm>
              <a:off x="7999412" y="1600200"/>
              <a:ext cx="76200" cy="152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8" name="Rectangle 17">
              <a:extLst>
                <a:ext uri="{FF2B5EF4-FFF2-40B4-BE49-F238E27FC236}">
                  <a16:creationId xmlns:a16="http://schemas.microsoft.com/office/drawing/2014/main" id="{0992A406-FE65-1EEF-B2ED-4CCE4B830931}"/>
                </a:ext>
              </a:extLst>
            </p:cNvPr>
            <p:cNvSpPr/>
            <p:nvPr/>
          </p:nvSpPr>
          <p:spPr>
            <a:xfrm>
              <a:off x="8075612" y="1600200"/>
              <a:ext cx="76200" cy="152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9" name="Rectangle 18">
              <a:extLst>
                <a:ext uri="{FF2B5EF4-FFF2-40B4-BE49-F238E27FC236}">
                  <a16:creationId xmlns:a16="http://schemas.microsoft.com/office/drawing/2014/main" id="{505C959E-F571-351C-44AC-8BACFF11809B}"/>
                </a:ext>
              </a:extLst>
            </p:cNvPr>
            <p:cNvSpPr/>
            <p:nvPr/>
          </p:nvSpPr>
          <p:spPr>
            <a:xfrm>
              <a:off x="8151812" y="1600200"/>
              <a:ext cx="76200" cy="152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0" name="Rectangle 19">
              <a:extLst>
                <a:ext uri="{FF2B5EF4-FFF2-40B4-BE49-F238E27FC236}">
                  <a16:creationId xmlns:a16="http://schemas.microsoft.com/office/drawing/2014/main" id="{BEB13801-BA64-98D4-2086-A16F5FAC4A64}"/>
                </a:ext>
              </a:extLst>
            </p:cNvPr>
            <p:cNvSpPr/>
            <p:nvPr/>
          </p:nvSpPr>
          <p:spPr>
            <a:xfrm>
              <a:off x="8228012" y="1600200"/>
              <a:ext cx="76200" cy="152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Rectangle 20">
              <a:extLst>
                <a:ext uri="{FF2B5EF4-FFF2-40B4-BE49-F238E27FC236}">
                  <a16:creationId xmlns:a16="http://schemas.microsoft.com/office/drawing/2014/main" id="{DBFC08B4-4910-67F0-2F37-85BA9D2AC073}"/>
                </a:ext>
              </a:extLst>
            </p:cNvPr>
            <p:cNvSpPr/>
            <p:nvPr/>
          </p:nvSpPr>
          <p:spPr>
            <a:xfrm>
              <a:off x="8304212" y="1600200"/>
              <a:ext cx="76200" cy="1524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2" name="Rectangle 21">
              <a:extLst>
                <a:ext uri="{FF2B5EF4-FFF2-40B4-BE49-F238E27FC236}">
                  <a16:creationId xmlns:a16="http://schemas.microsoft.com/office/drawing/2014/main" id="{4CC3B10E-7154-E822-1391-7C246E78B6EF}"/>
                </a:ext>
              </a:extLst>
            </p:cNvPr>
            <p:cNvSpPr/>
            <p:nvPr/>
          </p:nvSpPr>
          <p:spPr>
            <a:xfrm>
              <a:off x="8380412" y="1600200"/>
              <a:ext cx="76200" cy="1524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3" name="Rectangle 22">
              <a:extLst>
                <a:ext uri="{FF2B5EF4-FFF2-40B4-BE49-F238E27FC236}">
                  <a16:creationId xmlns:a16="http://schemas.microsoft.com/office/drawing/2014/main" id="{F2844035-D443-84BD-387A-12FEF344D041}"/>
                </a:ext>
              </a:extLst>
            </p:cNvPr>
            <p:cNvSpPr/>
            <p:nvPr/>
          </p:nvSpPr>
          <p:spPr>
            <a:xfrm>
              <a:off x="8456612" y="1600200"/>
              <a:ext cx="76200" cy="1524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4" name="Rectangle 23">
              <a:extLst>
                <a:ext uri="{FF2B5EF4-FFF2-40B4-BE49-F238E27FC236}">
                  <a16:creationId xmlns:a16="http://schemas.microsoft.com/office/drawing/2014/main" id="{79265451-A91B-6FFC-0EFF-2159E3C7CA00}"/>
                </a:ext>
              </a:extLst>
            </p:cNvPr>
            <p:cNvSpPr/>
            <p:nvPr/>
          </p:nvSpPr>
          <p:spPr>
            <a:xfrm>
              <a:off x="8532812" y="1600200"/>
              <a:ext cx="76200" cy="1524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grpSp>
      <p:sp>
        <p:nvSpPr>
          <p:cNvPr id="27" name="TextBox 26">
            <a:extLst>
              <a:ext uri="{FF2B5EF4-FFF2-40B4-BE49-F238E27FC236}">
                <a16:creationId xmlns:a16="http://schemas.microsoft.com/office/drawing/2014/main" id="{FAF3B449-16C0-010B-554E-AC6A3D87C639}"/>
              </a:ext>
            </a:extLst>
          </p:cNvPr>
          <p:cNvSpPr txBox="1"/>
          <p:nvPr/>
        </p:nvSpPr>
        <p:spPr>
          <a:xfrm>
            <a:off x="8798184" y="2440312"/>
            <a:ext cx="914401" cy="584775"/>
          </a:xfrm>
          <a:prstGeom prst="rect">
            <a:avLst/>
          </a:prstGeom>
          <a:noFill/>
        </p:spPr>
        <p:txBody>
          <a:bodyPr wrap="square" rtlCol="0">
            <a:spAutoFit/>
          </a:bodyPr>
          <a:lstStyle/>
          <a:p>
            <a:r>
              <a:rPr lang="en-US" sz="32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f</a:t>
            </a:r>
            <a:r>
              <a:rPr lang="en-US" sz="20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r>
              <a:rPr lang="en-US" sz="20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endParaRPr lang="en-US" dirty="0">
              <a:ln w="9525">
                <a:solidFill>
                  <a:schemeClr val="tx2"/>
                </a:solidFill>
                <a:prstDash val="solid"/>
              </a:ln>
              <a:latin typeface="Arial" panose="020B0604020202020204" pitchFamily="34" charset="0"/>
              <a:cs typeface="Arial" panose="020B0604020202020204" pitchFamily="34" charset="0"/>
            </a:endParaRPr>
          </a:p>
        </p:txBody>
      </p:sp>
      <p:graphicFrame>
        <p:nvGraphicFramePr>
          <p:cNvPr id="29" name="Table 29">
            <a:extLst>
              <a:ext uri="{FF2B5EF4-FFF2-40B4-BE49-F238E27FC236}">
                <a16:creationId xmlns:a16="http://schemas.microsoft.com/office/drawing/2014/main" id="{16BD953A-4607-7E06-8126-1985B66BA404}"/>
              </a:ext>
            </a:extLst>
          </p:cNvPr>
          <p:cNvGraphicFramePr>
            <a:graphicFrameLocks noGrp="1"/>
          </p:cNvGraphicFramePr>
          <p:nvPr/>
        </p:nvGraphicFramePr>
        <p:xfrm>
          <a:off x="9658761" y="2491728"/>
          <a:ext cx="732228" cy="640080"/>
        </p:xfrm>
        <a:graphic>
          <a:graphicData uri="http://schemas.openxmlformats.org/drawingml/2006/table">
            <a:tbl>
              <a:tblPr firstRow="1" bandRow="1">
                <a:tableStyleId>{5940675A-B579-460E-94D1-54222C63F5DA}</a:tableStyleId>
              </a:tblPr>
              <a:tblGrid>
                <a:gridCol w="732228">
                  <a:extLst>
                    <a:ext uri="{9D8B030D-6E8A-4147-A177-3AD203B41FA5}">
                      <a16:colId xmlns:a16="http://schemas.microsoft.com/office/drawing/2014/main" val="3283320820"/>
                    </a:ext>
                  </a:extLst>
                </a:gridCol>
              </a:tblGrid>
              <a:tr h="194925">
                <a:tc>
                  <a:txBody>
                    <a:bodyPr/>
                    <a:lstStyle/>
                    <a:p>
                      <a:r>
                        <a:rPr lang="en-US" sz="800" b="1" dirty="0">
                          <a:latin typeface="Arial" panose="020B0604020202020204" pitchFamily="34" charset="0"/>
                          <a:cs typeface="Arial" panose="020B0604020202020204" pitchFamily="34" charset="0"/>
                        </a:rPr>
                        <a:t>1 </a:t>
                      </a:r>
                      <a:r>
                        <a:rPr lang="en-US" sz="800" b="1" dirty="0">
                          <a:latin typeface="Arial" panose="020B0604020202020204" pitchFamily="34" charset="0"/>
                          <a:cs typeface="Arial" panose="020B0604020202020204" pitchFamily="34" charset="0"/>
                          <a:sym typeface="Wingdings" panose="05000000000000000000" pitchFamily="2" charset="2"/>
                        </a:rPr>
                        <a:t> horse</a:t>
                      </a:r>
                      <a:endParaRPr lang="en-US" sz="8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57874194"/>
                  </a:ext>
                </a:extLst>
              </a:tr>
              <a:tr h="194925">
                <a:tc>
                  <a:txBody>
                    <a:bodyPr/>
                    <a:lstStyle/>
                    <a:p>
                      <a:r>
                        <a:rPr lang="en-US" sz="800" b="1" dirty="0">
                          <a:latin typeface="Arial" panose="020B0604020202020204" pitchFamily="34" charset="0"/>
                          <a:cs typeface="Arial" panose="020B0604020202020204" pitchFamily="34" charset="0"/>
                        </a:rPr>
                        <a:t>2 </a:t>
                      </a:r>
                      <a:r>
                        <a:rPr lang="en-US" sz="800" b="1" dirty="0">
                          <a:latin typeface="Arial" panose="020B0604020202020204" pitchFamily="34" charset="0"/>
                          <a:cs typeface="Arial" panose="020B0604020202020204" pitchFamily="34" charset="0"/>
                          <a:sym typeface="Wingdings" panose="05000000000000000000" pitchFamily="2" charset="2"/>
                        </a:rPr>
                        <a:t> cat</a:t>
                      </a:r>
                      <a:endParaRPr lang="en-US" sz="8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61230464"/>
                  </a:ext>
                </a:extLst>
              </a:tr>
              <a:tr h="194925">
                <a:tc>
                  <a:txBody>
                    <a:bodyPr/>
                    <a:lstStyle/>
                    <a:p>
                      <a:r>
                        <a:rPr lang="en-US" sz="800" b="1"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866998153"/>
                  </a:ext>
                </a:extLst>
              </a:tr>
            </a:tbl>
          </a:graphicData>
        </a:graphic>
      </p:graphicFrame>
      <p:sp>
        <p:nvSpPr>
          <p:cNvPr id="31" name="Rectangle: Rounded Corners 30">
            <a:extLst>
              <a:ext uri="{FF2B5EF4-FFF2-40B4-BE49-F238E27FC236}">
                <a16:creationId xmlns:a16="http://schemas.microsoft.com/office/drawing/2014/main" id="{C4AF1F5A-4870-77DB-020B-A534C46B0F15}"/>
              </a:ext>
            </a:extLst>
          </p:cNvPr>
          <p:cNvSpPr/>
          <p:nvPr/>
        </p:nvSpPr>
        <p:spPr>
          <a:xfrm>
            <a:off x="10630059" y="2710045"/>
            <a:ext cx="572415" cy="2034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rPr>
              <a:t>Horse</a:t>
            </a:r>
            <a:endParaRPr lang="en-US" sz="1050" b="1" dirty="0">
              <a:solidFill>
                <a:schemeClr val="tx1">
                  <a:lumMod val="75000"/>
                  <a:lumOff val="25000"/>
                </a:schemeClr>
              </a:solidFill>
            </a:endParaRPr>
          </a:p>
        </p:txBody>
      </p:sp>
      <p:sp>
        <p:nvSpPr>
          <p:cNvPr id="32" name="Arrow: Right 31">
            <a:extLst>
              <a:ext uri="{FF2B5EF4-FFF2-40B4-BE49-F238E27FC236}">
                <a16:creationId xmlns:a16="http://schemas.microsoft.com/office/drawing/2014/main" id="{B23A759B-BDE9-F875-193D-3B475F376933}"/>
              </a:ext>
            </a:extLst>
          </p:cNvPr>
          <p:cNvSpPr/>
          <p:nvPr/>
        </p:nvSpPr>
        <p:spPr>
          <a:xfrm>
            <a:off x="7040690"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32">
            <a:extLst>
              <a:ext uri="{FF2B5EF4-FFF2-40B4-BE49-F238E27FC236}">
                <a16:creationId xmlns:a16="http://schemas.microsoft.com/office/drawing/2014/main" id="{3142CDFD-313A-5FC0-385F-2DD077088420}"/>
              </a:ext>
            </a:extLst>
          </p:cNvPr>
          <p:cNvSpPr/>
          <p:nvPr/>
        </p:nvSpPr>
        <p:spPr>
          <a:xfrm>
            <a:off x="7746998"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Right 33">
            <a:extLst>
              <a:ext uri="{FF2B5EF4-FFF2-40B4-BE49-F238E27FC236}">
                <a16:creationId xmlns:a16="http://schemas.microsoft.com/office/drawing/2014/main" id="{13D1BD9C-2E17-A961-D53A-338EB84D6EF3}"/>
              </a:ext>
            </a:extLst>
          </p:cNvPr>
          <p:cNvSpPr/>
          <p:nvPr/>
        </p:nvSpPr>
        <p:spPr>
          <a:xfrm>
            <a:off x="8660544" y="2756754"/>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1F83710D-8093-40C7-6A10-D0F3AA0F7B19}"/>
              </a:ext>
            </a:extLst>
          </p:cNvPr>
          <p:cNvSpPr/>
          <p:nvPr/>
        </p:nvSpPr>
        <p:spPr>
          <a:xfrm>
            <a:off x="9445473" y="2756754"/>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D585F502-A5B3-1591-EE43-FD7A9B05081D}"/>
              </a:ext>
            </a:extLst>
          </p:cNvPr>
          <p:cNvSpPr/>
          <p:nvPr/>
        </p:nvSpPr>
        <p:spPr>
          <a:xfrm>
            <a:off x="10420107"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a:extLst>
              <a:ext uri="{FF2B5EF4-FFF2-40B4-BE49-F238E27FC236}">
                <a16:creationId xmlns:a16="http://schemas.microsoft.com/office/drawing/2014/main" id="{75C417E9-E36A-9E8E-69EF-CAA69C42BFDF}"/>
              </a:ext>
            </a:extLst>
          </p:cNvPr>
          <p:cNvSpPr>
            <a:spLocks noGrp="1"/>
          </p:cNvSpPr>
          <p:nvPr>
            <p:ph type="body" idx="1"/>
          </p:nvPr>
        </p:nvSpPr>
        <p:spPr/>
        <p:txBody>
          <a:bodyPr/>
          <a:lstStyle/>
          <a:p>
            <a:endParaRPr lang="en-US"/>
          </a:p>
        </p:txBody>
      </p:sp>
      <p:sp>
        <p:nvSpPr>
          <p:cNvPr id="26" name="Content Placeholder 2">
            <a:extLst>
              <a:ext uri="{FF2B5EF4-FFF2-40B4-BE49-F238E27FC236}">
                <a16:creationId xmlns:a16="http://schemas.microsoft.com/office/drawing/2014/main" id="{5143CBB0-9D3B-E60D-9FE0-98C556597F69}"/>
              </a:ext>
            </a:extLst>
          </p:cNvPr>
          <p:cNvSpPr txBox="1">
            <a:spLocks/>
          </p:cNvSpPr>
          <p:nvPr/>
        </p:nvSpPr>
        <p:spPr>
          <a:xfrm>
            <a:off x="1602354" y="1401762"/>
            <a:ext cx="9782801" cy="51816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20040" algn="l" rtl="0">
              <a:lnSpc>
                <a:spcPct val="90000"/>
              </a:lnSpc>
              <a:spcBef>
                <a:spcPts val="1800"/>
              </a:spcBef>
              <a:spcAft>
                <a:spcPts val="0"/>
              </a:spcAft>
              <a:buClr>
                <a:schemeClr val="dk2"/>
              </a:buClr>
              <a:buSzPts val="144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pPr marL="0" indent="0">
              <a:lnSpc>
                <a:spcPct val="100000"/>
              </a:lnSpc>
              <a:buFont typeface="Noto Sans Symbols"/>
              <a:buNone/>
            </a:pPr>
            <a:r>
              <a:rPr lang="en-US">
                <a:latin typeface="Arial" panose="020B0604020202020204" pitchFamily="34" charset="0"/>
                <a:cs typeface="Arial" panose="020B0604020202020204" pitchFamily="34" charset="0"/>
              </a:rPr>
              <a:t>Let’s see a simple example:</a:t>
            </a:r>
          </a:p>
          <a:p>
            <a:pPr marL="0" indent="0">
              <a:lnSpc>
                <a:spcPct val="100000"/>
              </a:lnSpc>
              <a:buFont typeface="Noto Sans Symbols"/>
              <a:buNone/>
            </a:pPr>
            <a:endParaRPr lang="en-US">
              <a:latin typeface="Arial" panose="020B0604020202020204" pitchFamily="34" charset="0"/>
              <a:cs typeface="Arial" panose="020B0604020202020204" pitchFamily="34" charset="0"/>
            </a:endParaRPr>
          </a:p>
          <a:p>
            <a:pPr marL="0" indent="0">
              <a:lnSpc>
                <a:spcPct val="100000"/>
              </a:lnSpc>
              <a:buFont typeface="Noto Sans Symbols"/>
              <a:buNone/>
            </a:pPr>
            <a:endParaRPr lang="en-US">
              <a:latin typeface="Arial" panose="020B0604020202020204" pitchFamily="34" charset="0"/>
              <a:cs typeface="Arial" panose="020B0604020202020204" pitchFamily="34" charset="0"/>
            </a:endParaRPr>
          </a:p>
          <a:p>
            <a:pPr indent="-457200">
              <a:lnSpc>
                <a:spcPct val="100000"/>
              </a:lnSpc>
              <a:buFont typeface="Noto Sans Symbols"/>
              <a:buAutoNum type="arabicPeriod"/>
            </a:pPr>
            <a:r>
              <a:rPr lang="en-US" sz="1800">
                <a:latin typeface="Arial" panose="020B0604020202020204" pitchFamily="34" charset="0"/>
                <a:cs typeface="Arial" panose="020B0604020202020204" pitchFamily="34" charset="0"/>
              </a:rPr>
              <a:t>First, we need the ability “to look” </a:t>
            </a:r>
            <a:r>
              <a:rPr lang="en-US" sz="1800">
                <a:latin typeface="Arial" panose="020B0604020202020204" pitchFamily="34" charset="0"/>
                <a:cs typeface="Arial" panose="020B0604020202020204" pitchFamily="34" charset="0"/>
                <a:sym typeface="Wingdings" panose="05000000000000000000" pitchFamily="2" charset="2"/>
              </a:rPr>
              <a:t> this simply translate into taking a picture</a:t>
            </a:r>
          </a:p>
          <a:p>
            <a:pPr indent="-457200">
              <a:lnSpc>
                <a:spcPct val="100000"/>
              </a:lnSpc>
              <a:buFont typeface="Noto Sans Symbols"/>
              <a:buAutoNum type="arabicPeriod"/>
            </a:pPr>
            <a:r>
              <a:rPr lang="en-US" sz="1800">
                <a:latin typeface="Arial" panose="020B0604020202020204" pitchFamily="34" charset="0"/>
                <a:cs typeface="Arial" panose="020B0604020202020204" pitchFamily="34" charset="0"/>
                <a:sym typeface="Wingdings" panose="05000000000000000000" pitchFamily="2" charset="2"/>
              </a:rPr>
              <a:t>That picture is transferred to a computer where it is converted into a matrix of (</a:t>
            </a:r>
            <a:r>
              <a:rPr lang="en-US" sz="1800" b="1" i="1">
                <a:latin typeface="Arial" panose="020B0604020202020204" pitchFamily="34" charset="0"/>
                <a:cs typeface="Arial" panose="020B0604020202020204" pitchFamily="34" charset="0"/>
                <a:sym typeface="Wingdings" panose="05000000000000000000" pitchFamily="2" charset="2"/>
              </a:rPr>
              <a:t>w</a:t>
            </a:r>
            <a:r>
              <a:rPr lang="en-US" sz="1800">
                <a:latin typeface="Arial" panose="020B0604020202020204" pitchFamily="34" charset="0"/>
                <a:cs typeface="Arial" panose="020B0604020202020204" pitchFamily="34" charset="0"/>
                <a:sym typeface="Wingdings" panose="05000000000000000000" pitchFamily="2" charset="2"/>
              </a:rPr>
              <a:t> x </a:t>
            </a:r>
            <a:r>
              <a:rPr lang="en-US" sz="1800" b="1" i="1">
                <a:latin typeface="Arial" panose="020B0604020202020204" pitchFamily="34" charset="0"/>
                <a:cs typeface="Arial" panose="020B0604020202020204" pitchFamily="34" charset="0"/>
                <a:sym typeface="Wingdings" panose="05000000000000000000" pitchFamily="2" charset="2"/>
              </a:rPr>
              <a:t>h</a:t>
            </a:r>
            <a:r>
              <a:rPr lang="en-US" sz="1800">
                <a:latin typeface="Arial" panose="020B0604020202020204" pitchFamily="34" charset="0"/>
                <a:cs typeface="Arial" panose="020B0604020202020204" pitchFamily="34" charset="0"/>
                <a:sym typeface="Wingdings" panose="05000000000000000000" pitchFamily="2" charset="2"/>
              </a:rPr>
              <a:t>), where “</a:t>
            </a:r>
            <a:r>
              <a:rPr lang="en-US" sz="1800" b="1" i="1">
                <a:latin typeface="Arial" panose="020B0604020202020204" pitchFamily="34" charset="0"/>
                <a:cs typeface="Arial" panose="020B0604020202020204" pitchFamily="34" charset="0"/>
                <a:sym typeface="Wingdings" panose="05000000000000000000" pitchFamily="2" charset="2"/>
              </a:rPr>
              <a:t>w</a:t>
            </a:r>
            <a:r>
              <a:rPr lang="en-US" sz="1800">
                <a:latin typeface="Arial" panose="020B0604020202020204" pitchFamily="34" charset="0"/>
                <a:cs typeface="Arial" panose="020B0604020202020204" pitchFamily="34" charset="0"/>
                <a:sym typeface="Wingdings" panose="05000000000000000000" pitchFamily="2" charset="2"/>
              </a:rPr>
              <a:t>” is the width of the picture and “</a:t>
            </a:r>
            <a:r>
              <a:rPr lang="en-US" sz="1800" b="1" i="1">
                <a:latin typeface="Arial" panose="020B0604020202020204" pitchFamily="34" charset="0"/>
                <a:cs typeface="Arial" panose="020B0604020202020204" pitchFamily="34" charset="0"/>
                <a:sym typeface="Wingdings" panose="05000000000000000000" pitchFamily="2" charset="2"/>
              </a:rPr>
              <a:t>h</a:t>
            </a:r>
            <a:r>
              <a:rPr lang="en-US" sz="1800">
                <a:latin typeface="Arial" panose="020B0604020202020204" pitchFamily="34" charset="0"/>
                <a:cs typeface="Arial" panose="020B0604020202020204" pitchFamily="34" charset="0"/>
                <a:sym typeface="Wingdings" panose="05000000000000000000" pitchFamily="2" charset="2"/>
              </a:rPr>
              <a:t>” is its height. Each cell of that matrix is a color (a numerical value) that reflects the color of the pixels from the original picture.</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We convert the matrix into a vector of numbers by concatenating each row one after another</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Now we need a function that takes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w</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x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h</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parameters (let’s call it function </a:t>
            </a:r>
            <a:r>
              <a:rPr lang="en-US" sz="1800" b="1" i="1">
                <a:solidFill>
                  <a:schemeClr val="bg1"/>
                </a:solidFill>
                <a:latin typeface="Arial" panose="020B0604020202020204" pitchFamily="34" charset="0"/>
                <a:cs typeface="Arial" panose="020B0604020202020204" pitchFamily="34" charset="0"/>
                <a:sym typeface="Wingdings" panose="05000000000000000000" pitchFamily="2" charset="2"/>
              </a:rPr>
              <a:t>f</a:t>
            </a: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 and returns a number with a very special meaning: if the result is 1, it corresponds to the word “horse”, if the result is 2, it corresponds to the word “cat’ and so on.</a:t>
            </a:r>
          </a:p>
          <a:p>
            <a:pPr indent="-457200">
              <a:lnSpc>
                <a:spcPct val="100000"/>
              </a:lnSpc>
              <a:buFont typeface="Noto Sans Symbols"/>
              <a:buAutoNum type="arabicPeriod"/>
            </a:pPr>
            <a:r>
              <a:rPr lang="en-US" sz="1800">
                <a:solidFill>
                  <a:schemeClr val="bg1"/>
                </a:solidFill>
                <a:latin typeface="Arial" panose="020B0604020202020204" pitchFamily="34" charset="0"/>
                <a:cs typeface="Arial" panose="020B0604020202020204" pitchFamily="34" charset="0"/>
                <a:sym typeface="Wingdings" panose="05000000000000000000" pitchFamily="2" charset="2"/>
              </a:rPr>
              <a:t>Finally, we use a map with associations (1 horse, 2 cat, …) and we print the result.</a:t>
            </a:r>
            <a:endParaRPr lang="en-US" sz="1800" dirty="0">
              <a:solidFill>
                <a:schemeClr val="bg1"/>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13993357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DBA67EAD-BA9B-5233-8929-8917B736461C}"/>
              </a:ext>
            </a:extLst>
          </p:cNvPr>
          <p:cNvGraphicFramePr>
            <a:graphicFrameLocks noGrp="1"/>
          </p:cNvGraphicFramePr>
          <p:nvPr/>
        </p:nvGraphicFramePr>
        <p:xfrm>
          <a:off x="1751012" y="2057400"/>
          <a:ext cx="9525000" cy="1143000"/>
        </p:xfrm>
        <a:graphic>
          <a:graphicData uri="http://schemas.openxmlformats.org/drawingml/2006/table">
            <a:tbl>
              <a:tblPr firstRow="1" bandRow="1">
                <a:tableStyleId>{073A0DAA-6AF3-43AB-8588-CEC1D06C72B9}</a:tableStyleId>
              </a:tblPr>
              <a:tblGrid>
                <a:gridCol w="4762500">
                  <a:extLst>
                    <a:ext uri="{9D8B030D-6E8A-4147-A177-3AD203B41FA5}">
                      <a16:colId xmlns:a16="http://schemas.microsoft.com/office/drawing/2014/main" val="2151303053"/>
                    </a:ext>
                  </a:extLst>
                </a:gridCol>
                <a:gridCol w="4762500">
                  <a:extLst>
                    <a:ext uri="{9D8B030D-6E8A-4147-A177-3AD203B41FA5}">
                      <a16:colId xmlns:a16="http://schemas.microsoft.com/office/drawing/2014/main" val="2552834896"/>
                    </a:ext>
                  </a:extLst>
                </a:gridCol>
              </a:tblGrid>
              <a:tr h="419292">
                <a:tc>
                  <a:txBody>
                    <a:bodyPr/>
                    <a:lstStyle/>
                    <a:p>
                      <a:r>
                        <a:rPr lang="en-US" dirty="0"/>
                        <a:t>Human behavior</a:t>
                      </a:r>
                    </a:p>
                  </a:txBody>
                  <a:tcPr/>
                </a:tc>
                <a:tc>
                  <a:txBody>
                    <a:bodyPr/>
                    <a:lstStyle/>
                    <a:p>
                      <a:r>
                        <a:rPr lang="en-US" dirty="0"/>
                        <a:t>Computer behavior</a:t>
                      </a:r>
                    </a:p>
                  </a:txBody>
                  <a:tcPr/>
                </a:tc>
                <a:extLst>
                  <a:ext uri="{0D108BD9-81ED-4DB2-BD59-A6C34878D82A}">
                    <a16:rowId xmlns:a16="http://schemas.microsoft.com/office/drawing/2014/main" val="1479506464"/>
                  </a:ext>
                </a:extLst>
              </a:tr>
              <a:tr h="723708">
                <a:tc>
                  <a:txBody>
                    <a:bodyPr/>
                    <a:lstStyle/>
                    <a:p>
                      <a:endParaRPr lang="en-US" dirty="0"/>
                    </a:p>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extLst>
                  <a:ext uri="{0D108BD9-81ED-4DB2-BD59-A6C34878D82A}">
                    <a16:rowId xmlns:a16="http://schemas.microsoft.com/office/drawing/2014/main" val="968564101"/>
                  </a:ext>
                </a:extLst>
              </a:tr>
            </a:tbl>
          </a:graphicData>
        </a:graphic>
      </p:graphicFrame>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pSp>
        <p:nvGrpSpPr>
          <p:cNvPr id="16" name="Group 15">
            <a:extLst>
              <a:ext uri="{FF2B5EF4-FFF2-40B4-BE49-F238E27FC236}">
                <a16:creationId xmlns:a16="http://schemas.microsoft.com/office/drawing/2014/main" id="{52E7DA3F-C3D0-82C8-5F90-2EC92AAEA761}"/>
              </a:ext>
            </a:extLst>
          </p:cNvPr>
          <p:cNvGrpSpPr/>
          <p:nvPr/>
        </p:nvGrpSpPr>
        <p:grpSpPr>
          <a:xfrm>
            <a:off x="1869994" y="2600016"/>
            <a:ext cx="4191000" cy="488272"/>
            <a:chOff x="2665412" y="2743200"/>
            <a:chExt cx="7848600" cy="914400"/>
          </a:xfrm>
        </p:grpSpPr>
        <p:pic>
          <p:nvPicPr>
            <p:cNvPr id="5" name="Graphic 4" descr="Horse with solid fill">
              <a:extLst>
                <a:ext uri="{FF2B5EF4-FFF2-40B4-BE49-F238E27FC236}">
                  <a16:creationId xmlns:a16="http://schemas.microsoft.com/office/drawing/2014/main" id="{26121170-84C3-E599-CCF8-A56256A487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32808" y="2743200"/>
              <a:ext cx="914400" cy="914400"/>
            </a:xfrm>
            <a:prstGeom prst="rect">
              <a:avLst/>
            </a:prstGeom>
          </p:spPr>
        </p:pic>
        <p:pic>
          <p:nvPicPr>
            <p:cNvPr id="7" name="Graphic 6" descr="Male profile with solid fill">
              <a:extLst>
                <a:ext uri="{FF2B5EF4-FFF2-40B4-BE49-F238E27FC236}">
                  <a16:creationId xmlns:a16="http://schemas.microsoft.com/office/drawing/2014/main" id="{9D1B5DF1-1167-1B99-0F82-E5F7DCC8FD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65412" y="2743200"/>
              <a:ext cx="914400" cy="914400"/>
            </a:xfrm>
            <a:prstGeom prst="rect">
              <a:avLst/>
            </a:prstGeom>
          </p:spPr>
        </p:pic>
        <p:cxnSp>
          <p:nvCxnSpPr>
            <p:cNvPr id="9" name="Straight Arrow Connector 8">
              <a:extLst>
                <a:ext uri="{FF2B5EF4-FFF2-40B4-BE49-F238E27FC236}">
                  <a16:creationId xmlns:a16="http://schemas.microsoft.com/office/drawing/2014/main" id="{2BFDB596-5F08-CD30-D87F-12AF02CD233C}"/>
                </a:ext>
              </a:extLst>
            </p:cNvPr>
            <p:cNvCxnSpPr>
              <a:stCxn id="7" idx="3"/>
              <a:endCxn id="5" idx="1"/>
            </p:cNvCxnSpPr>
            <p:nvPr/>
          </p:nvCxnSpPr>
          <p:spPr>
            <a:xfrm>
              <a:off x="3579812" y="3200400"/>
              <a:ext cx="25529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01D342-52E4-0509-5FB2-4C8EB7B82E89}"/>
                </a:ext>
              </a:extLst>
            </p:cNvPr>
            <p:cNvSpPr txBox="1"/>
            <p:nvPr/>
          </p:nvSpPr>
          <p:spPr>
            <a:xfrm>
              <a:off x="3729557" y="2743200"/>
              <a:ext cx="2133600" cy="587055"/>
            </a:xfrm>
            <a:prstGeom prst="rect">
              <a:avLst/>
            </a:prstGeom>
            <a:noFill/>
          </p:spPr>
          <p:txBody>
            <a:bodyPr wrap="square" rtlCol="0">
              <a:spAutoFit/>
            </a:bodyPr>
            <a:lstStyle/>
            <a:p>
              <a:pPr algn="ctr"/>
              <a:r>
                <a:rPr lang="en-US" sz="1200" dirty="0"/>
                <a:t>We look at an </a:t>
              </a:r>
            </a:p>
            <a:p>
              <a:pPr algn="ctr"/>
              <a:r>
                <a:rPr lang="en-US" sz="1200" dirty="0"/>
                <a:t>animal</a:t>
              </a:r>
            </a:p>
          </p:txBody>
        </p:sp>
        <p:sp>
          <p:nvSpPr>
            <p:cNvPr id="11" name="Rectangle: Rounded Corners 10">
              <a:extLst>
                <a:ext uri="{FF2B5EF4-FFF2-40B4-BE49-F238E27FC236}">
                  <a16:creationId xmlns:a16="http://schemas.microsoft.com/office/drawing/2014/main" id="{19689768-F9AB-6982-271D-B12AD7239EBD}"/>
                </a:ext>
              </a:extLst>
            </p:cNvPr>
            <p:cNvSpPr/>
            <p:nvPr/>
          </p:nvSpPr>
          <p:spPr>
            <a:xfrm>
              <a:off x="9442035" y="3009899"/>
              <a:ext cx="1071977"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rPr>
                <a:t>Horse</a:t>
              </a:r>
            </a:p>
          </p:txBody>
        </p:sp>
        <p:cxnSp>
          <p:nvCxnSpPr>
            <p:cNvPr id="13" name="Straight Arrow Connector 12">
              <a:extLst>
                <a:ext uri="{FF2B5EF4-FFF2-40B4-BE49-F238E27FC236}">
                  <a16:creationId xmlns:a16="http://schemas.microsoft.com/office/drawing/2014/main" id="{C6A88774-2FF5-17FC-428C-7A0B552A27FF}"/>
                </a:ext>
              </a:extLst>
            </p:cNvPr>
            <p:cNvCxnSpPr>
              <a:stCxn id="5" idx="3"/>
              <a:endCxn id="11" idx="1"/>
            </p:cNvCxnSpPr>
            <p:nvPr/>
          </p:nvCxnSpPr>
          <p:spPr>
            <a:xfrm flipV="1">
              <a:off x="7047208" y="3200399"/>
              <a:ext cx="23948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3789EA-6A10-BA34-B475-634AF2EBEB4B}"/>
                </a:ext>
              </a:extLst>
            </p:cNvPr>
            <p:cNvSpPr txBox="1"/>
            <p:nvPr/>
          </p:nvSpPr>
          <p:spPr>
            <a:xfrm>
              <a:off x="6946467" y="2743200"/>
              <a:ext cx="2133600" cy="587055"/>
            </a:xfrm>
            <a:prstGeom prst="rect">
              <a:avLst/>
            </a:prstGeom>
            <a:noFill/>
          </p:spPr>
          <p:txBody>
            <a:bodyPr wrap="square" rtlCol="0">
              <a:spAutoFit/>
            </a:bodyPr>
            <a:lstStyle/>
            <a:p>
              <a:pPr algn="ctr"/>
              <a:r>
                <a:rPr lang="en-US" sz="1200" dirty="0"/>
                <a:t>And we </a:t>
              </a:r>
            </a:p>
            <a:p>
              <a:pPr algn="ctr"/>
              <a:r>
                <a:rPr lang="en-US" sz="1200" dirty="0"/>
                <a:t>recognize it</a:t>
              </a:r>
            </a:p>
          </p:txBody>
        </p:sp>
      </p:grpSp>
      <p:pic>
        <p:nvPicPr>
          <p:cNvPr id="8" name="Graphic 7" descr="Camera with solid fill">
            <a:extLst>
              <a:ext uri="{FF2B5EF4-FFF2-40B4-BE49-F238E27FC236}">
                <a16:creationId xmlns:a16="http://schemas.microsoft.com/office/drawing/2014/main" id="{04347E5B-780C-DA3A-2304-1948682CB8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80639" y="2609646"/>
            <a:ext cx="343202" cy="343202"/>
          </a:xfrm>
          <a:prstGeom prst="rect">
            <a:avLst/>
          </a:prstGeom>
        </p:spPr>
      </p:pic>
      <p:graphicFrame>
        <p:nvGraphicFramePr>
          <p:cNvPr id="12" name="Table 13">
            <a:extLst>
              <a:ext uri="{FF2B5EF4-FFF2-40B4-BE49-F238E27FC236}">
                <a16:creationId xmlns:a16="http://schemas.microsoft.com/office/drawing/2014/main" id="{5EAE7D55-E13A-7624-CDCB-9A92C59E496B}"/>
              </a:ext>
            </a:extLst>
          </p:cNvPr>
          <p:cNvGraphicFramePr>
            <a:graphicFrameLocks noGrp="1"/>
          </p:cNvGraphicFramePr>
          <p:nvPr/>
        </p:nvGraphicFramePr>
        <p:xfrm>
          <a:off x="7302244" y="2537407"/>
          <a:ext cx="416560" cy="48768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3162028540"/>
                    </a:ext>
                  </a:extLst>
                </a:gridCol>
                <a:gridCol w="208280">
                  <a:extLst>
                    <a:ext uri="{9D8B030D-6E8A-4147-A177-3AD203B41FA5}">
                      <a16:colId xmlns:a16="http://schemas.microsoft.com/office/drawing/2014/main" val="1742995053"/>
                    </a:ext>
                  </a:extLst>
                </a:gridCol>
              </a:tblGrid>
              <a:tr h="0">
                <a:tc>
                  <a:txBody>
                    <a:bodyPr/>
                    <a:lstStyle/>
                    <a:p>
                      <a:endParaRPr lang="en-US" sz="200" dirty="0">
                        <a:latin typeface="Arial" panose="020B0604020202020204" pitchFamily="34" charset="0"/>
                        <a:cs typeface="Arial" panose="020B0604020202020204" pitchFamily="34" charset="0"/>
                      </a:endParaRPr>
                    </a:p>
                  </a:txBody>
                  <a:tcPr>
                    <a:solidFill>
                      <a:srgbClr val="FF0000"/>
                    </a:solidFill>
                  </a:tcPr>
                </a:tc>
                <a:tc>
                  <a:txBody>
                    <a:bodyPr/>
                    <a:lstStyle/>
                    <a:p>
                      <a:endParaRPr lang="en-US" sz="200" dirty="0">
                        <a:latin typeface="Arial" panose="020B0604020202020204" pitchFamily="34" charset="0"/>
                        <a:cs typeface="Arial" panose="020B0604020202020204" pitchFamily="34" charset="0"/>
                      </a:endParaRPr>
                    </a:p>
                  </a:txBody>
                  <a:tcPr>
                    <a:solidFill>
                      <a:srgbClr val="FF0000"/>
                    </a:solidFill>
                  </a:tcPr>
                </a:tc>
                <a:extLst>
                  <a:ext uri="{0D108BD9-81ED-4DB2-BD59-A6C34878D82A}">
                    <a16:rowId xmlns:a16="http://schemas.microsoft.com/office/drawing/2014/main" val="2023657070"/>
                  </a:ext>
                </a:extLst>
              </a:tr>
              <a:tr h="0">
                <a:tc>
                  <a:txBody>
                    <a:bodyPr/>
                    <a:lstStyle/>
                    <a:p>
                      <a:endParaRPr lang="en-US" sz="200">
                        <a:latin typeface="Arial" panose="020B0604020202020204" pitchFamily="34" charset="0"/>
                        <a:cs typeface="Arial" panose="020B0604020202020204" pitchFamily="34" charset="0"/>
                      </a:endParaRPr>
                    </a:p>
                  </a:txBody>
                  <a:tcPr>
                    <a:solidFill>
                      <a:srgbClr val="FFFF00"/>
                    </a:solidFill>
                  </a:tcPr>
                </a:tc>
                <a:tc>
                  <a:txBody>
                    <a:bodyPr/>
                    <a:lstStyle/>
                    <a:p>
                      <a:endParaRPr lang="en-US" sz="200">
                        <a:latin typeface="Arial" panose="020B0604020202020204" pitchFamily="34" charset="0"/>
                        <a:cs typeface="Arial" panose="020B0604020202020204" pitchFamily="34" charset="0"/>
                      </a:endParaRPr>
                    </a:p>
                  </a:txBody>
                  <a:tcPr>
                    <a:solidFill>
                      <a:srgbClr val="FFFF00"/>
                    </a:solidFill>
                  </a:tcPr>
                </a:tc>
                <a:extLst>
                  <a:ext uri="{0D108BD9-81ED-4DB2-BD59-A6C34878D82A}">
                    <a16:rowId xmlns:a16="http://schemas.microsoft.com/office/drawing/2014/main" val="2925383746"/>
                  </a:ext>
                </a:extLst>
              </a:tr>
              <a:tr h="0">
                <a:tc>
                  <a:txBody>
                    <a:bodyPr/>
                    <a:lstStyle/>
                    <a:p>
                      <a:endParaRPr lang="en-US" sz="200">
                        <a:latin typeface="Arial" panose="020B0604020202020204" pitchFamily="34" charset="0"/>
                        <a:cs typeface="Arial" panose="020B0604020202020204" pitchFamily="34" charset="0"/>
                      </a:endParaRPr>
                    </a:p>
                  </a:txBody>
                  <a:tcPr>
                    <a:solidFill>
                      <a:schemeClr val="accent5">
                        <a:lumMod val="75000"/>
                      </a:schemeClr>
                    </a:solidFill>
                  </a:tcPr>
                </a:tc>
                <a:tc>
                  <a:txBody>
                    <a:bodyPr/>
                    <a:lstStyle/>
                    <a:p>
                      <a:endParaRPr lang="en-US" sz="200">
                        <a:latin typeface="Arial" panose="020B0604020202020204" pitchFamily="34" charset="0"/>
                        <a:cs typeface="Arial" panose="020B0604020202020204" pitchFamily="34" charset="0"/>
                      </a:endParaRPr>
                    </a:p>
                  </a:txBody>
                  <a:tcPr>
                    <a:solidFill>
                      <a:schemeClr val="accent5">
                        <a:lumMod val="75000"/>
                      </a:schemeClr>
                    </a:solidFill>
                  </a:tcPr>
                </a:tc>
                <a:extLst>
                  <a:ext uri="{0D108BD9-81ED-4DB2-BD59-A6C34878D82A}">
                    <a16:rowId xmlns:a16="http://schemas.microsoft.com/office/drawing/2014/main" val="4234647235"/>
                  </a:ext>
                </a:extLst>
              </a:tr>
              <a:tr h="0">
                <a:tc>
                  <a:txBody>
                    <a:bodyPr/>
                    <a:lstStyle/>
                    <a:p>
                      <a:endParaRPr lang="en-US" sz="200">
                        <a:latin typeface="Arial" panose="020B0604020202020204" pitchFamily="34" charset="0"/>
                        <a:cs typeface="Arial" panose="020B0604020202020204" pitchFamily="34" charset="0"/>
                      </a:endParaRPr>
                    </a:p>
                  </a:txBody>
                  <a:tcPr>
                    <a:solidFill>
                      <a:srgbClr val="0070C0"/>
                    </a:solidFill>
                  </a:tcPr>
                </a:tc>
                <a:tc>
                  <a:txBody>
                    <a:bodyPr/>
                    <a:lstStyle/>
                    <a:p>
                      <a:endParaRPr lang="en-US" sz="200" dirty="0">
                        <a:latin typeface="Arial" panose="020B0604020202020204" pitchFamily="34" charset="0"/>
                        <a:cs typeface="Arial" panose="020B0604020202020204" pitchFamily="34" charset="0"/>
                      </a:endParaRPr>
                    </a:p>
                  </a:txBody>
                  <a:tcPr>
                    <a:solidFill>
                      <a:srgbClr val="0070C0"/>
                    </a:solidFill>
                  </a:tcPr>
                </a:tc>
                <a:extLst>
                  <a:ext uri="{0D108BD9-81ED-4DB2-BD59-A6C34878D82A}">
                    <a16:rowId xmlns:a16="http://schemas.microsoft.com/office/drawing/2014/main" val="457979923"/>
                  </a:ext>
                </a:extLst>
              </a:tr>
            </a:tbl>
          </a:graphicData>
        </a:graphic>
      </p:graphicFrame>
      <p:grpSp>
        <p:nvGrpSpPr>
          <p:cNvPr id="25" name="Group 24">
            <a:extLst>
              <a:ext uri="{FF2B5EF4-FFF2-40B4-BE49-F238E27FC236}">
                <a16:creationId xmlns:a16="http://schemas.microsoft.com/office/drawing/2014/main" id="{1233E029-B8F2-303F-E72A-678B1DEB2E94}"/>
              </a:ext>
            </a:extLst>
          </p:cNvPr>
          <p:cNvGrpSpPr/>
          <p:nvPr/>
        </p:nvGrpSpPr>
        <p:grpSpPr>
          <a:xfrm>
            <a:off x="7967380" y="2704316"/>
            <a:ext cx="609600" cy="152400"/>
            <a:chOff x="7999412" y="1600200"/>
            <a:chExt cx="609600" cy="152400"/>
          </a:xfrm>
        </p:grpSpPr>
        <p:sp>
          <p:nvSpPr>
            <p:cNvPr id="17" name="Rectangle 16">
              <a:extLst>
                <a:ext uri="{FF2B5EF4-FFF2-40B4-BE49-F238E27FC236}">
                  <a16:creationId xmlns:a16="http://schemas.microsoft.com/office/drawing/2014/main" id="{065532B3-2E7C-D72D-BA8E-692E01F128BE}"/>
                </a:ext>
              </a:extLst>
            </p:cNvPr>
            <p:cNvSpPr/>
            <p:nvPr/>
          </p:nvSpPr>
          <p:spPr>
            <a:xfrm>
              <a:off x="7999412" y="1600200"/>
              <a:ext cx="76200" cy="152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8" name="Rectangle 17">
              <a:extLst>
                <a:ext uri="{FF2B5EF4-FFF2-40B4-BE49-F238E27FC236}">
                  <a16:creationId xmlns:a16="http://schemas.microsoft.com/office/drawing/2014/main" id="{0992A406-FE65-1EEF-B2ED-4CCE4B830931}"/>
                </a:ext>
              </a:extLst>
            </p:cNvPr>
            <p:cNvSpPr/>
            <p:nvPr/>
          </p:nvSpPr>
          <p:spPr>
            <a:xfrm>
              <a:off x="8075612" y="1600200"/>
              <a:ext cx="76200" cy="152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9" name="Rectangle 18">
              <a:extLst>
                <a:ext uri="{FF2B5EF4-FFF2-40B4-BE49-F238E27FC236}">
                  <a16:creationId xmlns:a16="http://schemas.microsoft.com/office/drawing/2014/main" id="{505C959E-F571-351C-44AC-8BACFF11809B}"/>
                </a:ext>
              </a:extLst>
            </p:cNvPr>
            <p:cNvSpPr/>
            <p:nvPr/>
          </p:nvSpPr>
          <p:spPr>
            <a:xfrm>
              <a:off x="8151812" y="1600200"/>
              <a:ext cx="76200" cy="152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0" name="Rectangle 19">
              <a:extLst>
                <a:ext uri="{FF2B5EF4-FFF2-40B4-BE49-F238E27FC236}">
                  <a16:creationId xmlns:a16="http://schemas.microsoft.com/office/drawing/2014/main" id="{BEB13801-BA64-98D4-2086-A16F5FAC4A64}"/>
                </a:ext>
              </a:extLst>
            </p:cNvPr>
            <p:cNvSpPr/>
            <p:nvPr/>
          </p:nvSpPr>
          <p:spPr>
            <a:xfrm>
              <a:off x="8228012" y="1600200"/>
              <a:ext cx="76200" cy="1524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Rectangle 20">
              <a:extLst>
                <a:ext uri="{FF2B5EF4-FFF2-40B4-BE49-F238E27FC236}">
                  <a16:creationId xmlns:a16="http://schemas.microsoft.com/office/drawing/2014/main" id="{DBFC08B4-4910-67F0-2F37-85BA9D2AC073}"/>
                </a:ext>
              </a:extLst>
            </p:cNvPr>
            <p:cNvSpPr/>
            <p:nvPr/>
          </p:nvSpPr>
          <p:spPr>
            <a:xfrm>
              <a:off x="8304212" y="1600200"/>
              <a:ext cx="76200" cy="1524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2" name="Rectangle 21">
              <a:extLst>
                <a:ext uri="{FF2B5EF4-FFF2-40B4-BE49-F238E27FC236}">
                  <a16:creationId xmlns:a16="http://schemas.microsoft.com/office/drawing/2014/main" id="{4CC3B10E-7154-E822-1391-7C246E78B6EF}"/>
                </a:ext>
              </a:extLst>
            </p:cNvPr>
            <p:cNvSpPr/>
            <p:nvPr/>
          </p:nvSpPr>
          <p:spPr>
            <a:xfrm>
              <a:off x="8380412" y="1600200"/>
              <a:ext cx="76200" cy="15240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3" name="Rectangle 22">
              <a:extLst>
                <a:ext uri="{FF2B5EF4-FFF2-40B4-BE49-F238E27FC236}">
                  <a16:creationId xmlns:a16="http://schemas.microsoft.com/office/drawing/2014/main" id="{F2844035-D443-84BD-387A-12FEF344D041}"/>
                </a:ext>
              </a:extLst>
            </p:cNvPr>
            <p:cNvSpPr/>
            <p:nvPr/>
          </p:nvSpPr>
          <p:spPr>
            <a:xfrm>
              <a:off x="8456612" y="1600200"/>
              <a:ext cx="76200" cy="1524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4" name="Rectangle 23">
              <a:extLst>
                <a:ext uri="{FF2B5EF4-FFF2-40B4-BE49-F238E27FC236}">
                  <a16:creationId xmlns:a16="http://schemas.microsoft.com/office/drawing/2014/main" id="{79265451-A91B-6FFC-0EFF-2159E3C7CA00}"/>
                </a:ext>
              </a:extLst>
            </p:cNvPr>
            <p:cNvSpPr/>
            <p:nvPr/>
          </p:nvSpPr>
          <p:spPr>
            <a:xfrm>
              <a:off x="8532812" y="1600200"/>
              <a:ext cx="76200" cy="1524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grpSp>
      <p:sp>
        <p:nvSpPr>
          <p:cNvPr id="27" name="TextBox 26">
            <a:extLst>
              <a:ext uri="{FF2B5EF4-FFF2-40B4-BE49-F238E27FC236}">
                <a16:creationId xmlns:a16="http://schemas.microsoft.com/office/drawing/2014/main" id="{FAF3B449-16C0-010B-554E-AC6A3D87C639}"/>
              </a:ext>
            </a:extLst>
          </p:cNvPr>
          <p:cNvSpPr txBox="1"/>
          <p:nvPr/>
        </p:nvSpPr>
        <p:spPr>
          <a:xfrm>
            <a:off x="8798184" y="2440312"/>
            <a:ext cx="914401" cy="584775"/>
          </a:xfrm>
          <a:prstGeom prst="rect">
            <a:avLst/>
          </a:prstGeom>
          <a:noFill/>
        </p:spPr>
        <p:txBody>
          <a:bodyPr wrap="square" rtlCol="0">
            <a:spAutoFit/>
          </a:bodyPr>
          <a:lstStyle/>
          <a:p>
            <a:r>
              <a:rPr lang="en-US" sz="32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f</a:t>
            </a:r>
            <a:r>
              <a:rPr lang="en-US" sz="20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r>
              <a:rPr lang="en-US" sz="20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endParaRPr lang="en-US" dirty="0">
              <a:ln w="9525">
                <a:solidFill>
                  <a:schemeClr val="tx2"/>
                </a:solidFill>
                <a:prstDash val="solid"/>
              </a:ln>
              <a:latin typeface="Arial" panose="020B0604020202020204" pitchFamily="34" charset="0"/>
              <a:cs typeface="Arial" panose="020B0604020202020204" pitchFamily="34" charset="0"/>
            </a:endParaRPr>
          </a:p>
        </p:txBody>
      </p:sp>
      <p:graphicFrame>
        <p:nvGraphicFramePr>
          <p:cNvPr id="29" name="Table 29">
            <a:extLst>
              <a:ext uri="{FF2B5EF4-FFF2-40B4-BE49-F238E27FC236}">
                <a16:creationId xmlns:a16="http://schemas.microsoft.com/office/drawing/2014/main" id="{16BD953A-4607-7E06-8126-1985B66BA404}"/>
              </a:ext>
            </a:extLst>
          </p:cNvPr>
          <p:cNvGraphicFramePr>
            <a:graphicFrameLocks noGrp="1"/>
          </p:cNvGraphicFramePr>
          <p:nvPr/>
        </p:nvGraphicFramePr>
        <p:xfrm>
          <a:off x="9658761" y="2491728"/>
          <a:ext cx="732228" cy="640080"/>
        </p:xfrm>
        <a:graphic>
          <a:graphicData uri="http://schemas.openxmlformats.org/drawingml/2006/table">
            <a:tbl>
              <a:tblPr firstRow="1" bandRow="1">
                <a:tableStyleId>{5940675A-B579-460E-94D1-54222C63F5DA}</a:tableStyleId>
              </a:tblPr>
              <a:tblGrid>
                <a:gridCol w="732228">
                  <a:extLst>
                    <a:ext uri="{9D8B030D-6E8A-4147-A177-3AD203B41FA5}">
                      <a16:colId xmlns:a16="http://schemas.microsoft.com/office/drawing/2014/main" val="3283320820"/>
                    </a:ext>
                  </a:extLst>
                </a:gridCol>
              </a:tblGrid>
              <a:tr h="194925">
                <a:tc>
                  <a:txBody>
                    <a:bodyPr/>
                    <a:lstStyle/>
                    <a:p>
                      <a:r>
                        <a:rPr lang="en-US" sz="800" b="1" dirty="0">
                          <a:latin typeface="Arial" panose="020B0604020202020204" pitchFamily="34" charset="0"/>
                          <a:cs typeface="Arial" panose="020B0604020202020204" pitchFamily="34" charset="0"/>
                        </a:rPr>
                        <a:t>1 </a:t>
                      </a:r>
                      <a:r>
                        <a:rPr lang="en-US" sz="800" b="1" dirty="0">
                          <a:latin typeface="Arial" panose="020B0604020202020204" pitchFamily="34" charset="0"/>
                          <a:cs typeface="Arial" panose="020B0604020202020204" pitchFamily="34" charset="0"/>
                          <a:sym typeface="Wingdings" panose="05000000000000000000" pitchFamily="2" charset="2"/>
                        </a:rPr>
                        <a:t> horse</a:t>
                      </a:r>
                      <a:endParaRPr lang="en-US" sz="8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57874194"/>
                  </a:ext>
                </a:extLst>
              </a:tr>
              <a:tr h="194925">
                <a:tc>
                  <a:txBody>
                    <a:bodyPr/>
                    <a:lstStyle/>
                    <a:p>
                      <a:r>
                        <a:rPr lang="en-US" sz="800" b="1" dirty="0">
                          <a:latin typeface="Arial" panose="020B0604020202020204" pitchFamily="34" charset="0"/>
                          <a:cs typeface="Arial" panose="020B0604020202020204" pitchFamily="34" charset="0"/>
                        </a:rPr>
                        <a:t>2 </a:t>
                      </a:r>
                      <a:r>
                        <a:rPr lang="en-US" sz="800" b="1" dirty="0">
                          <a:latin typeface="Arial" panose="020B0604020202020204" pitchFamily="34" charset="0"/>
                          <a:cs typeface="Arial" panose="020B0604020202020204" pitchFamily="34" charset="0"/>
                          <a:sym typeface="Wingdings" panose="05000000000000000000" pitchFamily="2" charset="2"/>
                        </a:rPr>
                        <a:t> cat</a:t>
                      </a:r>
                      <a:endParaRPr lang="en-US" sz="8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61230464"/>
                  </a:ext>
                </a:extLst>
              </a:tr>
              <a:tr h="194925">
                <a:tc>
                  <a:txBody>
                    <a:bodyPr/>
                    <a:lstStyle/>
                    <a:p>
                      <a:r>
                        <a:rPr lang="en-US" sz="800" b="1"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866998153"/>
                  </a:ext>
                </a:extLst>
              </a:tr>
            </a:tbl>
          </a:graphicData>
        </a:graphic>
      </p:graphicFrame>
      <p:sp>
        <p:nvSpPr>
          <p:cNvPr id="31" name="Rectangle: Rounded Corners 30">
            <a:extLst>
              <a:ext uri="{FF2B5EF4-FFF2-40B4-BE49-F238E27FC236}">
                <a16:creationId xmlns:a16="http://schemas.microsoft.com/office/drawing/2014/main" id="{C4AF1F5A-4870-77DB-020B-A534C46B0F15}"/>
              </a:ext>
            </a:extLst>
          </p:cNvPr>
          <p:cNvSpPr/>
          <p:nvPr/>
        </p:nvSpPr>
        <p:spPr>
          <a:xfrm>
            <a:off x="10630059" y="2710045"/>
            <a:ext cx="572415" cy="2034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75000"/>
                    <a:lumOff val="25000"/>
                  </a:schemeClr>
                </a:solidFill>
              </a:rPr>
              <a:t>Horse</a:t>
            </a:r>
          </a:p>
        </p:txBody>
      </p:sp>
      <p:sp>
        <p:nvSpPr>
          <p:cNvPr id="32" name="Arrow: Right 31">
            <a:extLst>
              <a:ext uri="{FF2B5EF4-FFF2-40B4-BE49-F238E27FC236}">
                <a16:creationId xmlns:a16="http://schemas.microsoft.com/office/drawing/2014/main" id="{B23A759B-BDE9-F875-193D-3B475F376933}"/>
              </a:ext>
            </a:extLst>
          </p:cNvPr>
          <p:cNvSpPr/>
          <p:nvPr/>
        </p:nvSpPr>
        <p:spPr>
          <a:xfrm>
            <a:off x="7040690"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32">
            <a:extLst>
              <a:ext uri="{FF2B5EF4-FFF2-40B4-BE49-F238E27FC236}">
                <a16:creationId xmlns:a16="http://schemas.microsoft.com/office/drawing/2014/main" id="{3142CDFD-313A-5FC0-385F-2DD077088420}"/>
              </a:ext>
            </a:extLst>
          </p:cNvPr>
          <p:cNvSpPr/>
          <p:nvPr/>
        </p:nvSpPr>
        <p:spPr>
          <a:xfrm>
            <a:off x="7746998"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Right 33">
            <a:extLst>
              <a:ext uri="{FF2B5EF4-FFF2-40B4-BE49-F238E27FC236}">
                <a16:creationId xmlns:a16="http://schemas.microsoft.com/office/drawing/2014/main" id="{13D1BD9C-2E17-A961-D53A-338EB84D6EF3}"/>
              </a:ext>
            </a:extLst>
          </p:cNvPr>
          <p:cNvSpPr/>
          <p:nvPr/>
        </p:nvSpPr>
        <p:spPr>
          <a:xfrm>
            <a:off x="8660544" y="2756754"/>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1F83710D-8093-40C7-6A10-D0F3AA0F7B19}"/>
              </a:ext>
            </a:extLst>
          </p:cNvPr>
          <p:cNvSpPr/>
          <p:nvPr/>
        </p:nvSpPr>
        <p:spPr>
          <a:xfrm>
            <a:off x="9445473" y="2756754"/>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D585F502-A5B3-1591-EE43-FD7A9B05081D}"/>
              </a:ext>
            </a:extLst>
          </p:cNvPr>
          <p:cNvSpPr/>
          <p:nvPr/>
        </p:nvSpPr>
        <p:spPr>
          <a:xfrm>
            <a:off x="10420107" y="2767951"/>
            <a:ext cx="187506" cy="7620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5B7203F-61FE-6966-DDAF-7808967B9D00}"/>
              </a:ext>
            </a:extLst>
          </p:cNvPr>
          <p:cNvSpPr/>
          <p:nvPr/>
        </p:nvSpPr>
        <p:spPr>
          <a:xfrm>
            <a:off x="8848050" y="2491728"/>
            <a:ext cx="646642" cy="588664"/>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7">
            <a:extLst>
              <a:ext uri="{FF2B5EF4-FFF2-40B4-BE49-F238E27FC236}">
                <a16:creationId xmlns:a16="http://schemas.microsoft.com/office/drawing/2014/main" id="{238AC7BE-500B-6532-E4BA-F2FF8B14A0E4}"/>
              </a:ext>
            </a:extLst>
          </p:cNvPr>
          <p:cNvSpPr>
            <a:spLocks noGrp="1"/>
          </p:cNvSpPr>
          <p:nvPr>
            <p:ph type="body" idx="1"/>
          </p:nvPr>
        </p:nvSpPr>
        <p:spPr/>
        <p:txBody>
          <a:bodyPr/>
          <a:lstStyle/>
          <a:p>
            <a:endParaRPr lang="en-US" dirty="0"/>
          </a:p>
        </p:txBody>
      </p:sp>
      <p:sp>
        <p:nvSpPr>
          <p:cNvPr id="37" name="Content Placeholder 2">
            <a:extLst>
              <a:ext uri="{FF2B5EF4-FFF2-40B4-BE49-F238E27FC236}">
                <a16:creationId xmlns:a16="http://schemas.microsoft.com/office/drawing/2014/main" id="{746A7E1B-C416-3C24-8A0C-BE5842163C8A}"/>
              </a:ext>
            </a:extLst>
          </p:cNvPr>
          <p:cNvSpPr txBox="1">
            <a:spLocks/>
          </p:cNvSpPr>
          <p:nvPr/>
        </p:nvSpPr>
        <p:spPr>
          <a:xfrm>
            <a:off x="1602354" y="1401762"/>
            <a:ext cx="9782801" cy="51816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20040" algn="l" rtl="0">
              <a:lnSpc>
                <a:spcPct val="90000"/>
              </a:lnSpc>
              <a:spcBef>
                <a:spcPts val="1800"/>
              </a:spcBef>
              <a:spcAft>
                <a:spcPts val="0"/>
              </a:spcAft>
              <a:buClr>
                <a:schemeClr val="dk2"/>
              </a:buClr>
              <a:buSzPts val="144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pPr marL="0" indent="0">
              <a:lnSpc>
                <a:spcPct val="100000"/>
              </a:lnSpc>
              <a:buFont typeface="Noto Sans Symbols"/>
              <a:buNone/>
            </a:pPr>
            <a:r>
              <a:rPr lang="en-US" dirty="0">
                <a:latin typeface="Arial" panose="020B0604020202020204" pitchFamily="34" charset="0"/>
                <a:cs typeface="Arial" panose="020B0604020202020204" pitchFamily="34" charset="0"/>
              </a:rPr>
              <a:t>Let’s see a simple example:</a:t>
            </a:r>
          </a:p>
          <a:p>
            <a:pPr marL="0" indent="0">
              <a:lnSpc>
                <a:spcPct val="100000"/>
              </a:lnSpc>
              <a:buFont typeface="Noto Sans Symbols"/>
              <a:buNone/>
            </a:pPr>
            <a:endParaRPr lang="en-US" dirty="0">
              <a:solidFill>
                <a:schemeClr val="tx1">
                  <a:lumMod val="75000"/>
                  <a:lumOff val="25000"/>
                </a:schemeClr>
              </a:solidFill>
              <a:latin typeface="Arial" panose="020B0604020202020204" pitchFamily="34" charset="0"/>
              <a:cs typeface="Arial" panose="020B0604020202020204" pitchFamily="34" charset="0"/>
            </a:endParaRPr>
          </a:p>
          <a:p>
            <a:pPr marL="0" indent="0">
              <a:lnSpc>
                <a:spcPct val="100000"/>
              </a:lnSpc>
              <a:buFont typeface="Noto Sans Symbols"/>
              <a:buNone/>
            </a:pPr>
            <a:endParaRPr lang="en-US" dirty="0">
              <a:solidFill>
                <a:schemeClr val="tx1">
                  <a:lumMod val="75000"/>
                  <a:lumOff val="25000"/>
                </a:schemeClr>
              </a:solidFill>
              <a:latin typeface="Arial" panose="020B0604020202020204" pitchFamily="34" charset="0"/>
              <a:cs typeface="Arial" panose="020B0604020202020204" pitchFamily="34" charset="0"/>
            </a:endParaRPr>
          </a:p>
          <a:p>
            <a:pPr indent="-457200">
              <a:lnSpc>
                <a:spcPct val="100000"/>
              </a:lnSpc>
              <a:buFont typeface="Noto Sans Symbols"/>
              <a:buAutoNum type="arabicPeriod"/>
            </a:pPr>
            <a:r>
              <a:rPr lang="en-US" sz="1800" dirty="0">
                <a:solidFill>
                  <a:schemeClr val="tx1">
                    <a:lumMod val="75000"/>
                    <a:lumOff val="25000"/>
                  </a:schemeClr>
                </a:solidFill>
                <a:latin typeface="Arial" panose="020B0604020202020204" pitchFamily="34" charset="0"/>
                <a:cs typeface="Arial" panose="020B0604020202020204" pitchFamily="34" charset="0"/>
              </a:rPr>
              <a:t>First, we need the ability “to look” </a:t>
            </a: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 this simply translate into taking a picture</a:t>
            </a:r>
          </a:p>
          <a:p>
            <a:pPr indent="-457200">
              <a:lnSpc>
                <a:spcPct val="100000"/>
              </a:lnSpc>
              <a:buFont typeface="Noto Sans Symbols"/>
              <a:buAutoNum type="arabicPeriod"/>
            </a:pP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That picture is transferred to a computer where it is converted into a matrix of (</a:t>
            </a:r>
            <a:r>
              <a:rPr lang="en-US" sz="1800" b="1" i="1"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w</a:t>
            </a: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 x </a:t>
            </a:r>
            <a:r>
              <a:rPr lang="en-US" sz="1800" b="1" i="1"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h</a:t>
            </a: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 where “</a:t>
            </a:r>
            <a:r>
              <a:rPr lang="en-US" sz="1800" b="1" i="1"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w</a:t>
            </a: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 is the width of the picture and “</a:t>
            </a:r>
            <a:r>
              <a:rPr lang="en-US" sz="1800" b="1" i="1"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h</a:t>
            </a: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 is its height. Each cell of that matrix is a color (a numerical value) that reflects the color of the pixels from the original picture.</a:t>
            </a:r>
          </a:p>
          <a:p>
            <a:pPr indent="-457200">
              <a:lnSpc>
                <a:spcPct val="100000"/>
              </a:lnSpc>
              <a:buFont typeface="Noto Sans Symbols"/>
              <a:buAutoNum type="arabicPeriod"/>
            </a:pP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We convert the matrix into a vector of numbers by concatenating each row one after another</a:t>
            </a:r>
          </a:p>
          <a:p>
            <a:pPr indent="-457200">
              <a:lnSpc>
                <a:spcPct val="100000"/>
              </a:lnSpc>
              <a:buFont typeface="Noto Sans Symbols"/>
              <a:buAutoNum type="arabicPeriod"/>
            </a:pP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Now we need a function that takes “</a:t>
            </a:r>
            <a:r>
              <a:rPr lang="en-US" sz="1800" b="1" i="1"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w</a:t>
            </a: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 x “</a:t>
            </a:r>
            <a:r>
              <a:rPr lang="en-US" sz="1800" b="1" i="1"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h</a:t>
            </a: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 parameters (let’s call it function </a:t>
            </a:r>
            <a:r>
              <a:rPr lang="en-US" sz="1800" b="1" i="1"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f</a:t>
            </a: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 and returns a number with a very special meaning: if the result is 1, it corresponds to the word “horse”, if the result is 2, it corresponds to the word “cat’ and so on.</a:t>
            </a:r>
          </a:p>
          <a:p>
            <a:pPr indent="-457200">
              <a:lnSpc>
                <a:spcPct val="100000"/>
              </a:lnSpc>
              <a:buFont typeface="Noto Sans Symbols"/>
              <a:buAutoNum type="arabicPeriod"/>
            </a:pPr>
            <a:r>
              <a:rPr lang="en-US" sz="1800" dirty="0">
                <a:solidFill>
                  <a:schemeClr val="tx1">
                    <a:lumMod val="75000"/>
                    <a:lumOff val="25000"/>
                  </a:schemeClr>
                </a:solidFill>
                <a:latin typeface="Arial" panose="020B0604020202020204" pitchFamily="34" charset="0"/>
                <a:cs typeface="Arial" panose="020B0604020202020204" pitchFamily="34" charset="0"/>
                <a:sym typeface="Wingdings" panose="05000000000000000000" pitchFamily="2" charset="2"/>
              </a:rPr>
              <a:t>Finally, we use a map with associations (1 horse, 2 cat, …) and we print the result.</a:t>
            </a:r>
          </a:p>
        </p:txBody>
      </p:sp>
      <p:sp>
        <p:nvSpPr>
          <p:cNvPr id="14" name="Callout: Up Arrow 13">
            <a:extLst>
              <a:ext uri="{FF2B5EF4-FFF2-40B4-BE49-F238E27FC236}">
                <a16:creationId xmlns:a16="http://schemas.microsoft.com/office/drawing/2014/main" id="{4ADABE34-880D-AFF8-41E1-FDD327285974}"/>
              </a:ext>
            </a:extLst>
          </p:cNvPr>
          <p:cNvSpPr/>
          <p:nvPr/>
        </p:nvSpPr>
        <p:spPr>
          <a:xfrm>
            <a:off x="7116341" y="3137132"/>
            <a:ext cx="4110059" cy="1663468"/>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This is where the </a:t>
            </a:r>
            <a:r>
              <a:rPr lang="en-US" b="1" i="1" dirty="0">
                <a:solidFill>
                  <a:srgbClr val="FFC000"/>
                </a:solidFill>
              </a:rPr>
              <a:t>magic</a:t>
            </a:r>
            <a:r>
              <a:rPr lang="en-US" dirty="0"/>
              <a:t> happens.</a:t>
            </a:r>
          </a:p>
          <a:p>
            <a:pPr algn="ctr"/>
            <a:r>
              <a:rPr lang="en-US" dirty="0"/>
              <a:t>The question is how do we find this function or if it exists ?</a:t>
            </a:r>
          </a:p>
        </p:txBody>
      </p:sp>
    </p:spTree>
    <p:extLst>
      <p:ext uri="{BB962C8B-B14F-4D97-AF65-F5344CB8AC3E}">
        <p14:creationId xmlns:p14="http://schemas.microsoft.com/office/powerpoint/2010/main" val="8057882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dirty="0">
                    <a:latin typeface="Arial" panose="020B0604020202020204" pitchFamily="34" charset="0"/>
                    <a:cs typeface="Arial" panose="020B0604020202020204" pitchFamily="34" charset="0"/>
                  </a:rPr>
                  <a:t>Let’s make this more generic – in the previous example, the function “</a:t>
                </a:r>
                <a:r>
                  <a:rPr lang="en-US" b="1" i="1" dirty="0">
                    <a:latin typeface="Arial" panose="020B0604020202020204" pitchFamily="34" charset="0"/>
                    <a:cs typeface="Arial" panose="020B0604020202020204" pitchFamily="34" charset="0"/>
                  </a:rPr>
                  <a:t>f </a:t>
                </a:r>
                <a:r>
                  <a:rPr lang="en-US" dirty="0">
                    <a:latin typeface="Arial" panose="020B0604020202020204" pitchFamily="34" charset="0"/>
                    <a:cs typeface="Arial" panose="020B0604020202020204" pitchFamily="34" charset="0"/>
                  </a:rPr>
                  <a:t>” was meant to return one value. </a:t>
                </a: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r>
                  <a:rPr lang="en-US" dirty="0">
                    <a:latin typeface="Arial" panose="020B0604020202020204" pitchFamily="34" charset="0"/>
                    <a:cs typeface="Arial" panose="020B0604020202020204" pitchFamily="34" charset="0"/>
                  </a:rPr>
                  <a:t>In practice, depending on what kind of task we want to achieve, “</a:t>
                </a:r>
                <a:r>
                  <a:rPr lang="en-US" b="1" i="1"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 can return multiple values:</a:t>
                </a: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𝑓</m:t>
                      </m:r>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𝑅</m:t>
                          </m:r>
                        </m:e>
                        <m:sup>
                          <m:r>
                            <a:rPr lang="en-US" b="0" i="1" smtClean="0">
                              <a:latin typeface="Cambria Math" panose="02040503050406030204" pitchFamily="18" charset="0"/>
                              <a:cs typeface="Arial" panose="020B0604020202020204" pitchFamily="34" charset="0"/>
                            </a:rPr>
                            <m:t>𝑛</m:t>
                          </m:r>
                        </m:sup>
                      </m:sSup>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𝑅</m:t>
                          </m:r>
                        </m:e>
                        <m:sup>
                          <m:r>
                            <a:rPr lang="en-US" b="0" i="1" smtClean="0">
                              <a:latin typeface="Cambria Math" panose="02040503050406030204" pitchFamily="18" charset="0"/>
                              <a:cs typeface="Arial" panose="020B0604020202020204" pitchFamily="34" charset="0"/>
                            </a:rPr>
                            <m:t>𝑚</m:t>
                          </m:r>
                        </m:sup>
                      </m:sSup>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𝑤𝑖𝑡h</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𝑚</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𝑁</m:t>
                      </m:r>
                      <m:r>
                        <a:rPr lang="en-US" b="0" i="1" smtClean="0">
                          <a:latin typeface="Cambria Math" panose="02040503050406030204" pitchFamily="18" charset="0"/>
                          <a:ea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𝑎𝑛𝑑</m:t>
                      </m:r>
                      <m:r>
                        <a:rPr lang="en-US" b="0" i="1" smtClean="0">
                          <a:latin typeface="Cambria Math" panose="02040503050406030204" pitchFamily="18" charset="0"/>
                          <a:ea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𝑛</m:t>
                      </m:r>
                      <m:r>
                        <a:rPr lang="en-US" b="0" i="1" smtClean="0">
                          <a:latin typeface="Cambria Math" panose="02040503050406030204" pitchFamily="18" charset="0"/>
                          <a:ea typeface="Cambria Math" panose="02040503050406030204" pitchFamily="18" charset="0"/>
                          <a:cs typeface="Arial" panose="020B0604020202020204" pitchFamily="34" charset="0"/>
                        </a:rPr>
                        <m:t>≥1, </m:t>
                      </m:r>
                      <m:r>
                        <a:rPr lang="en-US" b="0" i="1" smtClean="0">
                          <a:latin typeface="Cambria Math" panose="02040503050406030204" pitchFamily="18" charset="0"/>
                          <a:ea typeface="Cambria Math" panose="02040503050406030204" pitchFamily="18" charset="0"/>
                          <a:cs typeface="Arial" panose="020B0604020202020204" pitchFamily="34" charset="0"/>
                        </a:rPr>
                        <m:t>𝑚</m:t>
                      </m:r>
                      <m:r>
                        <a:rPr lang="en-US" b="0" i="1" smtClean="0">
                          <a:latin typeface="Cambria Math" panose="02040503050406030204" pitchFamily="18" charset="0"/>
                          <a:ea typeface="Cambria Math" panose="02040503050406030204" pitchFamily="18" charset="0"/>
                          <a:cs typeface="Arial" panose="020B0604020202020204" pitchFamily="34" charset="0"/>
                        </a:rPr>
                        <m:t>≥1</m:t>
                      </m:r>
                    </m:oMath>
                  </m:oMathPara>
                </a14:m>
                <a:endParaRPr lang="en-US"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782801" cy="5181600"/>
              </a:xfrm>
              <a:blipFill>
                <a:blip r:embed="rId2"/>
                <a:stretch>
                  <a:fillRect l="-1246" t="-1294" r="-249"/>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18888017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dirty="0">
                <a:latin typeface="Arial" panose="020B0604020202020204" pitchFamily="34" charset="0"/>
                <a:cs typeface="Arial" panose="020B0604020202020204" pitchFamily="34" charset="0"/>
              </a:rPr>
              <a:t>So … the question here is </a:t>
            </a:r>
            <a:r>
              <a:rPr lang="en-US" dirty="0">
                <a:latin typeface="Arial" panose="020B0604020202020204" pitchFamily="34" charset="0"/>
                <a:cs typeface="Arial" panose="020B0604020202020204" pitchFamily="34" charset="0"/>
                <a:sym typeface="Wingdings" panose="05000000000000000000" pitchFamily="2" charset="2"/>
              </a:rPr>
              <a:t> </a:t>
            </a:r>
            <a:r>
              <a:rPr lang="en-US" b="1" i="1" dirty="0">
                <a:latin typeface="Arial" panose="020B0604020202020204" pitchFamily="34" charset="0"/>
                <a:cs typeface="Arial" panose="020B0604020202020204" pitchFamily="34" charset="0"/>
                <a:sym typeface="Wingdings" panose="05000000000000000000" pitchFamily="2" charset="2"/>
              </a:rPr>
              <a:t>Is there a function f that can satisfy our requirements ?</a:t>
            </a:r>
            <a:endParaRPr lang="en-US" i="1" dirty="0">
              <a:latin typeface="Arial" panose="020B0604020202020204" pitchFamily="34" charset="0"/>
              <a:cs typeface="Arial" panose="020B0604020202020204" pitchFamily="34" charset="0"/>
              <a:sym typeface="Wingdings" panose="05000000000000000000" pitchFamily="2" charset="2"/>
            </a:endParaRPr>
          </a:p>
          <a:p>
            <a:pPr marL="0" indent="0">
              <a:lnSpc>
                <a:spcPct val="100000"/>
              </a:lnSpc>
              <a:buNone/>
            </a:pPr>
            <a:endParaRPr lang="en-US" i="1" dirty="0">
              <a:latin typeface="Arial" panose="020B0604020202020204" pitchFamily="34" charset="0"/>
              <a:cs typeface="Arial" panose="020B0604020202020204" pitchFamily="34" charset="0"/>
              <a:sym typeface="Wingdings" panose="05000000000000000000" pitchFamily="2" charset="2"/>
            </a:endParaRPr>
          </a:p>
          <a:p>
            <a:pPr marL="0" indent="0">
              <a:lnSpc>
                <a:spcPct val="100000"/>
              </a:lnSpc>
              <a:buNone/>
            </a:pPr>
            <a:r>
              <a:rPr lang="en-US" dirty="0">
                <a:latin typeface="Arial" panose="020B0604020202020204" pitchFamily="34" charset="0"/>
                <a:cs typeface="Arial" panose="020B0604020202020204" pitchFamily="34" charset="0"/>
                <a:sym typeface="Wingdings" panose="05000000000000000000" pitchFamily="2" charset="2"/>
              </a:rPr>
              <a:t>The answer is that </a:t>
            </a:r>
            <a:r>
              <a:rPr lang="en-US" b="1" dirty="0">
                <a:latin typeface="Arial" panose="020B0604020202020204" pitchFamily="34" charset="0"/>
                <a:cs typeface="Arial" panose="020B0604020202020204" pitchFamily="34" charset="0"/>
                <a:sym typeface="Wingdings" panose="05000000000000000000" pitchFamily="2" charset="2"/>
              </a:rPr>
              <a:t>we should not search for an exact function, but one that approximates the results as much as possible !</a:t>
            </a:r>
          </a:p>
          <a:p>
            <a:pPr marL="0" indent="0">
              <a:lnSpc>
                <a:spcPct val="100000"/>
              </a:lnSpc>
              <a:buNone/>
            </a:pPr>
            <a:endParaRPr lang="en-US" b="1" dirty="0">
              <a:latin typeface="Arial" panose="020B0604020202020204" pitchFamily="34" charset="0"/>
              <a:cs typeface="Arial" panose="020B0604020202020204" pitchFamily="34" charset="0"/>
              <a:sym typeface="Wingdings" panose="05000000000000000000" pitchFamily="2" charset="2"/>
            </a:endParaRPr>
          </a:p>
          <a:p>
            <a:pPr marL="0" indent="0">
              <a:lnSpc>
                <a:spcPct val="100000"/>
              </a:lnSpc>
              <a:buNone/>
            </a:pPr>
            <a:r>
              <a:rPr lang="en-US" dirty="0">
                <a:latin typeface="Arial" panose="020B0604020202020204" pitchFamily="34" charset="0"/>
                <a:cs typeface="Arial" panose="020B0604020202020204" pitchFamily="34" charset="0"/>
                <a:sym typeface="Wingdings" panose="05000000000000000000" pitchFamily="2" charset="2"/>
              </a:rPr>
              <a:t>The function that we find (meaning its form and its parameters) is called a </a:t>
            </a:r>
            <a:r>
              <a:rPr lang="en-US" b="1" dirty="0">
                <a:latin typeface="Arial" panose="020B0604020202020204" pitchFamily="34" charset="0"/>
                <a:cs typeface="Arial" panose="020B0604020202020204" pitchFamily="34" charset="0"/>
                <a:sym typeface="Wingdings" panose="05000000000000000000" pitchFamily="2" charset="2"/>
              </a:rPr>
              <a:t>model</a:t>
            </a:r>
            <a:r>
              <a:rPr lang="en-US" dirty="0">
                <a:latin typeface="Arial" panose="020B0604020202020204" pitchFamily="34" charset="0"/>
                <a:cs typeface="Arial" panose="020B0604020202020204" pitchFamily="34" charset="0"/>
                <a:sym typeface="Wingdings" panose="05000000000000000000" pitchFamily="2" charset="2"/>
              </a:rPr>
              <a:t> !</a:t>
            </a:r>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834345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8612" y="1600200"/>
                <a:ext cx="9782801" cy="5181600"/>
              </a:xfrm>
            </p:spPr>
            <p:txBody>
              <a:bodyPr>
                <a:normAutofit/>
              </a:bodyPr>
              <a:lstStyle/>
              <a:p>
                <a:pPr marL="0" indent="0">
                  <a:lnSpc>
                    <a:spcPct val="100000"/>
                  </a:lnSpc>
                  <a:buNone/>
                </a:pPr>
                <a:r>
                  <a:rPr lang="en-US" dirty="0">
                    <a:latin typeface="Arial" panose="020B0604020202020204" pitchFamily="34" charset="0"/>
                    <a:cs typeface="Arial" panose="020B0604020202020204" pitchFamily="34" charset="0"/>
                  </a:rPr>
                  <a:t>Let’s consider that for a specific problem, we manage to find a function </a:t>
                </a:r>
                <a:r>
                  <a:rPr lang="en-US" b="1" i="1" dirty="0">
                    <a:latin typeface="Arial" panose="020B0604020202020204" pitchFamily="34" charset="0"/>
                    <a:cs typeface="Arial" panose="020B0604020202020204" pitchFamily="34" charset="0"/>
                  </a:rPr>
                  <a:t>f</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that looks like the following:</a:t>
                </a: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𝑓</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𝑥</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𝑦</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𝑧</m:t>
                          </m:r>
                        </m:e>
                      </m:d>
                      <m:r>
                        <a:rPr lang="en-US" b="0" i="1" smtClean="0">
                          <a:latin typeface="Cambria Math" panose="02040503050406030204" pitchFamily="18" charset="0"/>
                          <a:cs typeface="Arial" panose="020B0604020202020204" pitchFamily="34" charset="0"/>
                        </a:rPr>
                        <m:t>=5</m:t>
                      </m:r>
                      <m:r>
                        <a:rPr lang="en-US" b="0" i="1" smtClean="0">
                          <a:latin typeface="Cambria Math" panose="02040503050406030204" pitchFamily="18" charset="0"/>
                          <a:ea typeface="Cambria Math" panose="02040503050406030204" pitchFamily="18" charset="0"/>
                          <a:cs typeface="Arial" panose="020B0604020202020204" pitchFamily="34" charset="0"/>
                        </a:rPr>
                        <m:t>𝑥</m:t>
                      </m:r>
                      <m:r>
                        <a:rPr lang="en-US" b="0" i="1" smtClean="0">
                          <a:latin typeface="Cambria Math" panose="02040503050406030204" pitchFamily="18" charset="0"/>
                          <a:ea typeface="Cambria Math" panose="02040503050406030204" pitchFamily="18" charset="0"/>
                          <a:cs typeface="Arial" panose="020B0604020202020204" pitchFamily="34" charset="0"/>
                        </a:rPr>
                        <m:t>+9</m:t>
                      </m:r>
                      <m:r>
                        <a:rPr lang="en-US" b="0" i="1" smtClean="0">
                          <a:latin typeface="Cambria Math" panose="02040503050406030204" pitchFamily="18" charset="0"/>
                          <a:ea typeface="Cambria Math" panose="02040503050406030204" pitchFamily="18" charset="0"/>
                          <a:cs typeface="Arial" panose="020B0604020202020204" pitchFamily="34" charset="0"/>
                        </a:rPr>
                        <m:t>𝑦</m:t>
                      </m:r>
                      <m:r>
                        <a:rPr lang="en-US" b="0" i="1" smtClean="0">
                          <a:latin typeface="Cambria Math" panose="02040503050406030204" pitchFamily="18" charset="0"/>
                          <a:ea typeface="Cambria Math" panose="02040503050406030204" pitchFamily="18" charset="0"/>
                          <a:cs typeface="Arial" panose="020B0604020202020204" pitchFamily="34" charset="0"/>
                        </a:rPr>
                        <m:t>−10</m:t>
                      </m:r>
                      <m:r>
                        <a:rPr lang="en-US" b="0" i="1" smtClean="0">
                          <a:latin typeface="Cambria Math" panose="02040503050406030204" pitchFamily="18" charset="0"/>
                          <a:ea typeface="Cambria Math" panose="02040503050406030204" pitchFamily="18" charset="0"/>
                          <a:cs typeface="Arial" panose="020B0604020202020204" pitchFamily="34" charset="0"/>
                        </a:rPr>
                        <m:t>𝑧</m:t>
                      </m:r>
                    </m:oMath>
                  </m:oMathPara>
                </a14:m>
                <a:endParaRPr lang="en-US" b="0" dirty="0">
                  <a:latin typeface="Arial" panose="020B0604020202020204" pitchFamily="34" charset="0"/>
                  <a:ea typeface="Cambria Math" panose="02040503050406030204" pitchFamily="18" charset="0"/>
                  <a:cs typeface="Arial" panose="020B0604020202020204" pitchFamily="34" charset="0"/>
                </a:endParaRPr>
              </a:p>
              <a:p>
                <a:pPr marL="0" indent="0">
                  <a:lnSpc>
                    <a:spcPct val="100000"/>
                  </a:lnSpc>
                  <a:buNone/>
                </a:pPr>
                <a:endParaRPr lang="en-US" dirty="0">
                  <a:latin typeface="Arial" panose="020B0604020202020204" pitchFamily="34" charset="0"/>
                  <a:ea typeface="Cambria Math" panose="02040503050406030204" pitchFamily="18" charset="0"/>
                  <a:cs typeface="Arial" panose="020B0604020202020204" pitchFamily="34" charset="0"/>
                </a:endParaRPr>
              </a:p>
              <a:p>
                <a:pPr marL="0" indent="0">
                  <a:lnSpc>
                    <a:spcPct val="100000"/>
                  </a:lnSpc>
                  <a:buNone/>
                </a:pPr>
                <a:r>
                  <a:rPr lang="en-US" dirty="0">
                    <a:latin typeface="Arial" panose="020B0604020202020204" pitchFamily="34" charset="0"/>
                    <a:ea typeface="Cambria Math" panose="02040503050406030204" pitchFamily="18" charset="0"/>
                    <a:cs typeface="Arial" panose="020B0604020202020204" pitchFamily="34" charset="0"/>
                  </a:rPr>
                  <a:t>For this example, we can say that the model is </a:t>
                </a:r>
                <a:r>
                  <a:rPr lang="en-US" b="1" dirty="0">
                    <a:latin typeface="Arial" panose="020B0604020202020204" pitchFamily="34" charset="0"/>
                    <a:ea typeface="Cambria Math" panose="02040503050406030204" pitchFamily="18" charset="0"/>
                    <a:cs typeface="Arial" panose="020B0604020202020204" pitchFamily="34" charset="0"/>
                  </a:rPr>
                  <a:t>[5, 9 and -10]</a:t>
                </a:r>
              </a:p>
              <a:p>
                <a:pPr marL="0" indent="0">
                  <a:lnSpc>
                    <a:spcPct val="100000"/>
                  </a:lnSpc>
                  <a:buNone/>
                </a:pPr>
                <a:endParaRPr lang="en-US"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8612" y="1600200"/>
                <a:ext cx="9782801" cy="5181600"/>
              </a:xfrm>
              <a:blipFill>
                <a:blip r:embed="rId2"/>
                <a:stretch>
                  <a:fillRect l="-907" r="-1036"/>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9392722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dirty="0">
                <a:latin typeface="Arial" panose="020B0604020202020204" pitchFamily="34" charset="0"/>
                <a:cs typeface="Arial" panose="020B0604020202020204" pitchFamily="34" charset="0"/>
              </a:rPr>
              <a:t>So … the new question is how can we approximate a function/model that has to obtain a specific value ?</a:t>
            </a: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r>
              <a:rPr lang="en-US" dirty="0">
                <a:latin typeface="Arial" panose="020B0604020202020204" pitchFamily="34" charset="0"/>
                <a:cs typeface="Arial" panose="020B0604020202020204" pitchFamily="34" charset="0"/>
              </a:rPr>
              <a:t>Or even more, assuming we have such a function/model, how can we measure its effectiveness ?</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2241522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5181600"/>
          </a:xfrm>
        </p:spPr>
        <p:txBody>
          <a:bodyPr>
            <a:normAutofit/>
          </a:bodyPr>
          <a:lstStyle/>
          <a:p>
            <a:pPr marL="0" indent="0">
              <a:lnSpc>
                <a:spcPct val="100000"/>
              </a:lnSpc>
              <a:buNone/>
            </a:pPr>
            <a:r>
              <a:rPr lang="en-US" dirty="0">
                <a:latin typeface="Arial" panose="020B0604020202020204" pitchFamily="34" charset="0"/>
                <a:cs typeface="Arial" panose="020B0604020202020204" pitchFamily="34" charset="0"/>
              </a:rPr>
              <a:t>To answer both these questions – we will need a dataset.</a:t>
            </a:r>
          </a:p>
          <a:p>
            <a:pPr marL="0" indent="0">
              <a:lnSpc>
                <a:spcPct val="100000"/>
              </a:lnSpc>
              <a:buNone/>
            </a:pPr>
            <a:r>
              <a:rPr lang="en-US" dirty="0">
                <a:latin typeface="Arial" panose="020B0604020202020204" pitchFamily="34" charset="0"/>
                <a:cs typeface="Arial" panose="020B0604020202020204" pitchFamily="34" charset="0"/>
              </a:rPr>
              <a:t>A data set (for classification) is a set of entries where we know their output. For example, assuming we are trying to find the function “</a:t>
            </a:r>
            <a:r>
              <a:rPr lang="en-US" b="1" i="1" dirty="0">
                <a:latin typeface="Arial" panose="020B0604020202020204" pitchFamily="34" charset="0"/>
                <a:cs typeface="Arial" panose="020B0604020202020204" pitchFamily="34" charset="0"/>
              </a:rPr>
              <a:t>add</a:t>
            </a:r>
            <a:r>
              <a:rPr lang="en-US" dirty="0">
                <a:latin typeface="Arial" panose="020B0604020202020204" pitchFamily="34" charset="0"/>
                <a:cs typeface="Arial" panose="020B0604020202020204" pitchFamily="34" charset="0"/>
              </a:rPr>
              <a:t> ” for two numbers, the data set will look like this: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B9F07A65-2B04-2DDE-5F25-18E82585B5CB}"/>
              </a:ext>
            </a:extLst>
          </p:cNvPr>
          <p:cNvGraphicFramePr>
            <a:graphicFrameLocks noGrp="1"/>
          </p:cNvGraphicFramePr>
          <p:nvPr/>
        </p:nvGraphicFramePr>
        <p:xfrm>
          <a:off x="2589212" y="4160520"/>
          <a:ext cx="8125884" cy="2468880"/>
        </p:xfrm>
        <a:graphic>
          <a:graphicData uri="http://schemas.openxmlformats.org/drawingml/2006/table">
            <a:tbl>
              <a:tblPr firstRow="1" bandRow="1">
                <a:tableStyleId>{073A0DAA-6AF3-43AB-8588-CEC1D06C72B9}</a:tableStyleId>
              </a:tblPr>
              <a:tblGrid>
                <a:gridCol w="2031471">
                  <a:extLst>
                    <a:ext uri="{9D8B030D-6E8A-4147-A177-3AD203B41FA5}">
                      <a16:colId xmlns:a16="http://schemas.microsoft.com/office/drawing/2014/main" val="1831150280"/>
                    </a:ext>
                  </a:extLst>
                </a:gridCol>
                <a:gridCol w="2031471">
                  <a:extLst>
                    <a:ext uri="{9D8B030D-6E8A-4147-A177-3AD203B41FA5}">
                      <a16:colId xmlns:a16="http://schemas.microsoft.com/office/drawing/2014/main" val="1605783292"/>
                    </a:ext>
                  </a:extLst>
                </a:gridCol>
                <a:gridCol w="2031471">
                  <a:extLst>
                    <a:ext uri="{9D8B030D-6E8A-4147-A177-3AD203B41FA5}">
                      <a16:colId xmlns:a16="http://schemas.microsoft.com/office/drawing/2014/main" val="1522850436"/>
                    </a:ext>
                  </a:extLst>
                </a:gridCol>
                <a:gridCol w="2031471">
                  <a:extLst>
                    <a:ext uri="{9D8B030D-6E8A-4147-A177-3AD203B41FA5}">
                      <a16:colId xmlns:a16="http://schemas.microsoft.com/office/drawing/2014/main" val="703508570"/>
                    </a:ext>
                  </a:extLst>
                </a:gridCol>
              </a:tblGrid>
              <a:tr h="257175">
                <a:tc>
                  <a:txBody>
                    <a:bodyPr/>
                    <a:lstStyle/>
                    <a:p>
                      <a:pPr algn="ctr"/>
                      <a:r>
                        <a:rPr lang="en-US" sz="1600" dirty="0">
                          <a:latin typeface="Arial" panose="020B0604020202020204" pitchFamily="34" charset="0"/>
                          <a:cs typeface="Arial" panose="020B0604020202020204" pitchFamily="34" charset="0"/>
                        </a:rPr>
                        <a:t>Entry</a:t>
                      </a:r>
                    </a:p>
                  </a:txBody>
                  <a:tcPr/>
                </a:tc>
                <a:tc>
                  <a:txBody>
                    <a:bodyPr/>
                    <a:lstStyle/>
                    <a:p>
                      <a:pPr algn="ctr"/>
                      <a:r>
                        <a:rPr lang="en-US" sz="1600" dirty="0">
                          <a:latin typeface="Arial" panose="020B0604020202020204" pitchFamily="34" charset="0"/>
                          <a:cs typeface="Arial" panose="020B0604020202020204" pitchFamily="34" charset="0"/>
                        </a:rPr>
                        <a:t>x</a:t>
                      </a:r>
                      <a:r>
                        <a:rPr lang="en-US" sz="1600" baseline="-25000" dirty="0">
                          <a:latin typeface="Arial" panose="020B0604020202020204" pitchFamily="34" charset="0"/>
                          <a:cs typeface="Arial" panose="020B0604020202020204" pitchFamily="34" charset="0"/>
                        </a:rPr>
                        <a:t>1</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x</a:t>
                      </a:r>
                      <a:r>
                        <a:rPr lang="en-US" sz="1600" baseline="-25000" dirty="0">
                          <a:latin typeface="Arial" panose="020B0604020202020204" pitchFamily="34" charset="0"/>
                          <a:cs typeface="Arial" panose="020B0604020202020204" pitchFamily="34" charset="0"/>
                        </a:rPr>
                        <a:t>2</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Output (x</a:t>
                      </a:r>
                      <a:r>
                        <a:rPr lang="en-US" sz="1600" baseline="-25000" dirty="0">
                          <a:latin typeface="Arial" panose="020B0604020202020204" pitchFamily="34" charset="0"/>
                          <a:cs typeface="Arial" panose="020B0604020202020204" pitchFamily="34" charset="0"/>
                        </a:rPr>
                        <a:t>1</a:t>
                      </a:r>
                      <a:r>
                        <a:rPr lang="en-US" sz="1600" baseline="0" dirty="0">
                          <a:latin typeface="Arial" panose="020B0604020202020204" pitchFamily="34" charset="0"/>
                          <a:cs typeface="Arial" panose="020B0604020202020204" pitchFamily="34" charset="0"/>
                        </a:rPr>
                        <a:t>+x</a:t>
                      </a:r>
                      <a:r>
                        <a:rPr lang="en-US" sz="1600" baseline="-25000" dirty="0">
                          <a:latin typeface="Arial" panose="020B0604020202020204" pitchFamily="34" charset="0"/>
                          <a:cs typeface="Arial" panose="020B0604020202020204" pitchFamily="34" charset="0"/>
                        </a:rPr>
                        <a:t>2</a:t>
                      </a:r>
                      <a:r>
                        <a:rPr lang="en-US" sz="1600" baseline="0"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01558309"/>
                  </a:ext>
                </a:extLst>
              </a:tr>
              <a:tr h="257175">
                <a:tc>
                  <a:txBody>
                    <a:bodyPr/>
                    <a:lstStyle/>
                    <a:p>
                      <a:pPr algn="ctr"/>
                      <a:r>
                        <a:rPr lang="en-US" sz="1400" dirty="0">
                          <a:latin typeface="Arial" panose="020B0604020202020204" pitchFamily="34" charset="0"/>
                          <a:cs typeface="Arial" panose="020B0604020202020204" pitchFamily="34" charset="0"/>
                        </a:rPr>
                        <a:t>#1</a:t>
                      </a:r>
                    </a:p>
                  </a:txBody>
                  <a:tcPr/>
                </a:tc>
                <a:tc>
                  <a:txBody>
                    <a:bodyPr/>
                    <a:lstStyle/>
                    <a:p>
                      <a:pPr algn="ctr"/>
                      <a:r>
                        <a:rPr lang="en-US" sz="1400" dirty="0">
                          <a:latin typeface="Arial" panose="020B0604020202020204" pitchFamily="34" charset="0"/>
                          <a:cs typeface="Arial" panose="020B0604020202020204" pitchFamily="34" charset="0"/>
                        </a:rPr>
                        <a:t>5</a:t>
                      </a:r>
                    </a:p>
                  </a:txBody>
                  <a:tcPr/>
                </a:tc>
                <a:tc>
                  <a:txBody>
                    <a:bodyPr/>
                    <a:lstStyle/>
                    <a:p>
                      <a:pPr algn="ctr"/>
                      <a:r>
                        <a:rPr lang="en-US" sz="1400" dirty="0">
                          <a:latin typeface="Arial" panose="020B0604020202020204" pitchFamily="34" charset="0"/>
                          <a:cs typeface="Arial" panose="020B0604020202020204" pitchFamily="34" charset="0"/>
                        </a:rPr>
                        <a:t>20</a:t>
                      </a:r>
                    </a:p>
                  </a:txBody>
                  <a:tcPr/>
                </a:tc>
                <a:tc>
                  <a:txBody>
                    <a:bodyPr/>
                    <a:lstStyle/>
                    <a:p>
                      <a:pPr algn="ctr"/>
                      <a:r>
                        <a:rPr lang="en-US" sz="1400" dirty="0">
                          <a:latin typeface="Arial" panose="020B0604020202020204" pitchFamily="34" charset="0"/>
                          <a:cs typeface="Arial" panose="020B0604020202020204" pitchFamily="34" charset="0"/>
                        </a:rPr>
                        <a:t>25</a:t>
                      </a:r>
                    </a:p>
                  </a:txBody>
                  <a:tcPr/>
                </a:tc>
                <a:extLst>
                  <a:ext uri="{0D108BD9-81ED-4DB2-BD59-A6C34878D82A}">
                    <a16:rowId xmlns:a16="http://schemas.microsoft.com/office/drawing/2014/main" val="1261043233"/>
                  </a:ext>
                </a:extLst>
              </a:tr>
              <a:tr h="257175">
                <a:tc>
                  <a:txBody>
                    <a:bodyPr/>
                    <a:lstStyle/>
                    <a:p>
                      <a:pPr algn="ctr"/>
                      <a:r>
                        <a:rPr lang="en-US" sz="1400" dirty="0">
                          <a:latin typeface="Arial" panose="020B0604020202020204" pitchFamily="34" charset="0"/>
                          <a:cs typeface="Arial" panose="020B0604020202020204" pitchFamily="34" charset="0"/>
                        </a:rPr>
                        <a:t>#2</a:t>
                      </a:r>
                    </a:p>
                  </a:txBody>
                  <a:tcPr/>
                </a:tc>
                <a:tc>
                  <a:txBody>
                    <a:bodyPr/>
                    <a:lstStyle/>
                    <a:p>
                      <a:pPr algn="ctr"/>
                      <a:r>
                        <a:rPr lang="en-US" sz="1400" dirty="0">
                          <a:latin typeface="Arial" panose="020B0604020202020204" pitchFamily="34" charset="0"/>
                          <a:cs typeface="Arial" panose="020B0604020202020204" pitchFamily="34" charset="0"/>
                        </a:rPr>
                        <a:t>2</a:t>
                      </a:r>
                    </a:p>
                  </a:txBody>
                  <a:tcPr/>
                </a:tc>
                <a:tc>
                  <a:txBody>
                    <a:bodyPr/>
                    <a:lstStyle/>
                    <a:p>
                      <a:pPr algn="ctr"/>
                      <a:r>
                        <a:rPr lang="en-US" sz="1400" dirty="0">
                          <a:latin typeface="Arial" panose="020B0604020202020204" pitchFamily="34" charset="0"/>
                          <a:cs typeface="Arial" panose="020B0604020202020204" pitchFamily="34" charset="0"/>
                        </a:rPr>
                        <a:t>7</a:t>
                      </a:r>
                    </a:p>
                  </a:txBody>
                  <a:tcPr/>
                </a:tc>
                <a:tc>
                  <a:txBody>
                    <a:bodyPr/>
                    <a:lstStyle/>
                    <a:p>
                      <a:pPr algn="ctr"/>
                      <a:r>
                        <a:rPr lang="en-US" sz="1400" dirty="0">
                          <a:latin typeface="Arial" panose="020B0604020202020204" pitchFamily="34" charset="0"/>
                          <a:cs typeface="Arial" panose="020B0604020202020204" pitchFamily="34" charset="0"/>
                        </a:rPr>
                        <a:t>9</a:t>
                      </a:r>
                    </a:p>
                  </a:txBody>
                  <a:tcPr/>
                </a:tc>
                <a:extLst>
                  <a:ext uri="{0D108BD9-81ED-4DB2-BD59-A6C34878D82A}">
                    <a16:rowId xmlns:a16="http://schemas.microsoft.com/office/drawing/2014/main" val="1844005243"/>
                  </a:ext>
                </a:extLst>
              </a:tr>
              <a:tr h="257175">
                <a:tc>
                  <a:txBody>
                    <a:bodyPr/>
                    <a:lstStyle/>
                    <a:p>
                      <a:pPr algn="ctr"/>
                      <a:r>
                        <a:rPr lang="en-US" sz="1400" dirty="0">
                          <a:latin typeface="Arial" panose="020B0604020202020204" pitchFamily="34" charset="0"/>
                          <a:cs typeface="Arial" panose="020B0604020202020204" pitchFamily="34" charset="0"/>
                        </a:rPr>
                        <a:t>#3</a:t>
                      </a:r>
                    </a:p>
                  </a:txBody>
                  <a:tcPr/>
                </a:tc>
                <a:tc>
                  <a:txBody>
                    <a:bodyPr/>
                    <a:lstStyle/>
                    <a:p>
                      <a:pPr algn="ctr"/>
                      <a:r>
                        <a:rPr lang="en-US" sz="1400" dirty="0">
                          <a:latin typeface="Arial" panose="020B0604020202020204" pitchFamily="34" charset="0"/>
                          <a:cs typeface="Arial" panose="020B0604020202020204" pitchFamily="34" charset="0"/>
                        </a:rPr>
                        <a:t>-11</a:t>
                      </a:r>
                    </a:p>
                  </a:txBody>
                  <a:tcPr/>
                </a:tc>
                <a:tc>
                  <a:txBody>
                    <a:bodyPr/>
                    <a:lstStyle/>
                    <a:p>
                      <a:pPr algn="ctr"/>
                      <a:r>
                        <a:rPr lang="en-US" sz="1400" dirty="0">
                          <a:latin typeface="Arial" panose="020B0604020202020204" pitchFamily="34" charset="0"/>
                          <a:cs typeface="Arial" panose="020B0604020202020204" pitchFamily="34" charset="0"/>
                        </a:rPr>
                        <a:t>100</a:t>
                      </a:r>
                    </a:p>
                  </a:txBody>
                  <a:tcPr/>
                </a:tc>
                <a:tc>
                  <a:txBody>
                    <a:bodyPr/>
                    <a:lstStyle/>
                    <a:p>
                      <a:pPr algn="ctr"/>
                      <a:r>
                        <a:rPr lang="en-US" sz="1400" dirty="0">
                          <a:latin typeface="Arial" panose="020B0604020202020204" pitchFamily="34" charset="0"/>
                          <a:cs typeface="Arial" panose="020B0604020202020204" pitchFamily="34" charset="0"/>
                        </a:rPr>
                        <a:t>89</a:t>
                      </a:r>
                    </a:p>
                  </a:txBody>
                  <a:tcPr/>
                </a:tc>
                <a:extLst>
                  <a:ext uri="{0D108BD9-81ED-4DB2-BD59-A6C34878D82A}">
                    <a16:rowId xmlns:a16="http://schemas.microsoft.com/office/drawing/2014/main" val="3192946494"/>
                  </a:ext>
                </a:extLst>
              </a:tr>
              <a:tr h="257175">
                <a:tc>
                  <a:txBody>
                    <a:bodyPr/>
                    <a:lstStyle/>
                    <a:p>
                      <a:pPr algn="ctr"/>
                      <a:r>
                        <a:rPr lang="en-US" sz="1400" dirty="0">
                          <a:latin typeface="Arial" panose="020B0604020202020204" pitchFamily="34" charset="0"/>
                          <a:cs typeface="Arial" panose="020B0604020202020204" pitchFamily="34" charset="0"/>
                        </a:rPr>
                        <a:t>#4</a:t>
                      </a:r>
                    </a:p>
                  </a:txBody>
                  <a:tcPr/>
                </a:tc>
                <a:tc>
                  <a:txBody>
                    <a:bodyPr/>
                    <a:lstStyle/>
                    <a:p>
                      <a:pPr algn="ctr"/>
                      <a:r>
                        <a:rPr lang="en-US" sz="1400" dirty="0">
                          <a:latin typeface="Arial" panose="020B0604020202020204" pitchFamily="34" charset="0"/>
                          <a:cs typeface="Arial" panose="020B0604020202020204" pitchFamily="34" charset="0"/>
                        </a:rPr>
                        <a:t>30</a:t>
                      </a:r>
                    </a:p>
                  </a:txBody>
                  <a:tcPr/>
                </a:tc>
                <a:tc>
                  <a:txBody>
                    <a:bodyPr/>
                    <a:lstStyle/>
                    <a:p>
                      <a:pPr algn="ctr"/>
                      <a:r>
                        <a:rPr lang="en-US" sz="1400" dirty="0">
                          <a:latin typeface="Arial" panose="020B0604020202020204" pitchFamily="34" charset="0"/>
                          <a:cs typeface="Arial" panose="020B0604020202020204" pitchFamily="34" charset="0"/>
                        </a:rPr>
                        <a:t>30</a:t>
                      </a:r>
                    </a:p>
                  </a:txBody>
                  <a:tcPr/>
                </a:tc>
                <a:tc>
                  <a:txBody>
                    <a:bodyPr/>
                    <a:lstStyle/>
                    <a:p>
                      <a:pPr algn="ctr"/>
                      <a:r>
                        <a:rPr lang="en-US" sz="1400" dirty="0">
                          <a:latin typeface="Arial" panose="020B0604020202020204" pitchFamily="34" charset="0"/>
                          <a:cs typeface="Arial" panose="020B0604020202020204" pitchFamily="34" charset="0"/>
                        </a:rPr>
                        <a:t>60</a:t>
                      </a:r>
                    </a:p>
                  </a:txBody>
                  <a:tcPr/>
                </a:tc>
                <a:extLst>
                  <a:ext uri="{0D108BD9-81ED-4DB2-BD59-A6C34878D82A}">
                    <a16:rowId xmlns:a16="http://schemas.microsoft.com/office/drawing/2014/main" val="1724456393"/>
                  </a:ext>
                </a:extLst>
              </a:tr>
              <a:tr h="257175">
                <a:tc>
                  <a:txBody>
                    <a:bodyPr/>
                    <a:lstStyle/>
                    <a:p>
                      <a:pPr algn="ctr"/>
                      <a:r>
                        <a:rPr lang="en-US" sz="1400" dirty="0">
                          <a:latin typeface="Arial" panose="020B0604020202020204" pitchFamily="34" charset="0"/>
                          <a:cs typeface="Arial" panose="020B0604020202020204" pitchFamily="34" charset="0"/>
                        </a:rPr>
                        <a:t>#5</a:t>
                      </a:r>
                    </a:p>
                  </a:txBody>
                  <a:tcPr/>
                </a:tc>
                <a:tc>
                  <a:txBody>
                    <a:bodyPr/>
                    <a:lstStyle/>
                    <a:p>
                      <a:pPr algn="ctr"/>
                      <a:r>
                        <a:rPr lang="en-US" sz="1400" dirty="0">
                          <a:latin typeface="Arial" panose="020B0604020202020204" pitchFamily="34" charset="0"/>
                          <a:cs typeface="Arial" panose="020B0604020202020204" pitchFamily="34" charset="0"/>
                        </a:rPr>
                        <a:t>0</a:t>
                      </a:r>
                    </a:p>
                  </a:txBody>
                  <a:tcPr/>
                </a:tc>
                <a:tc>
                  <a:txBody>
                    <a:bodyPr/>
                    <a:lstStyle/>
                    <a:p>
                      <a:pPr algn="ctr"/>
                      <a:r>
                        <a:rPr lang="en-US" sz="1400" dirty="0">
                          <a:latin typeface="Arial" panose="020B0604020202020204" pitchFamily="34" charset="0"/>
                          <a:cs typeface="Arial" panose="020B0604020202020204" pitchFamily="34" charset="0"/>
                        </a:rPr>
                        <a:t>0</a:t>
                      </a:r>
                    </a:p>
                  </a:txBody>
                  <a:tcPr/>
                </a:tc>
                <a:tc>
                  <a:txBody>
                    <a:bodyPr/>
                    <a:lstStyle/>
                    <a:p>
                      <a:pPr algn="ctr"/>
                      <a:r>
                        <a:rPr lang="en-US" sz="1400" dirty="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1696340569"/>
                  </a:ext>
                </a:extLst>
              </a:tr>
              <a:tr h="257175">
                <a:tc>
                  <a:txBody>
                    <a:bodyPr/>
                    <a:lstStyle/>
                    <a:p>
                      <a:pPr algn="ctr"/>
                      <a:r>
                        <a:rPr lang="en-US" sz="1400" dirty="0">
                          <a:latin typeface="Arial" panose="020B0604020202020204" pitchFamily="34" charset="0"/>
                          <a:cs typeface="Arial" panose="020B0604020202020204" pitchFamily="34" charset="0"/>
                        </a:rPr>
                        <a:t>…</a:t>
                      </a:r>
                    </a:p>
                  </a:txBody>
                  <a:tcPr/>
                </a:tc>
                <a:tc>
                  <a:txBody>
                    <a:bodyPr/>
                    <a:lstStyle/>
                    <a:p>
                      <a:pPr algn="ctr"/>
                      <a:r>
                        <a:rPr lang="en-US" sz="1400" dirty="0">
                          <a:latin typeface="Arial" panose="020B0604020202020204" pitchFamily="34" charset="0"/>
                          <a:cs typeface="Arial" panose="020B0604020202020204" pitchFamily="34" charset="0"/>
                        </a:rPr>
                        <a:t>...</a:t>
                      </a:r>
                    </a:p>
                  </a:txBody>
                  <a:tcPr/>
                </a:tc>
                <a:tc>
                  <a:txBody>
                    <a:bodyPr/>
                    <a:lstStyle/>
                    <a:p>
                      <a:pPr algn="ctr"/>
                      <a:r>
                        <a:rPr lang="en-US" sz="1400" dirty="0">
                          <a:latin typeface="Arial" panose="020B0604020202020204" pitchFamily="34" charset="0"/>
                          <a:cs typeface="Arial" panose="020B0604020202020204" pitchFamily="34" charset="0"/>
                        </a:rPr>
                        <a:t>…</a:t>
                      </a:r>
                    </a:p>
                  </a:txBody>
                  <a:tcPr/>
                </a:tc>
                <a:tc>
                  <a:txBody>
                    <a:bodyPr/>
                    <a:lstStyle/>
                    <a:p>
                      <a:pPr algn="ctr"/>
                      <a:r>
                        <a:rPr lang="en-US" sz="14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633588006"/>
                  </a:ext>
                </a:extLst>
              </a:tr>
              <a:tr h="257175">
                <a:tc>
                  <a:txBody>
                    <a:bodyPr/>
                    <a:lstStyle/>
                    <a:p>
                      <a:pPr algn="ctr"/>
                      <a:r>
                        <a:rPr lang="en-US" sz="1400" dirty="0">
                          <a:latin typeface="Arial" panose="020B0604020202020204" pitchFamily="34" charset="0"/>
                          <a:cs typeface="Arial" panose="020B0604020202020204" pitchFamily="34" charset="0"/>
                        </a:rPr>
                        <a:t>#n</a:t>
                      </a:r>
                    </a:p>
                  </a:txBody>
                  <a:tcPr/>
                </a:tc>
                <a:tc>
                  <a:txBody>
                    <a:bodyPr/>
                    <a:lstStyle/>
                    <a:p>
                      <a:pPr algn="ctr"/>
                      <a:r>
                        <a:rPr lang="en-US" sz="1400" dirty="0">
                          <a:latin typeface="Arial" panose="020B0604020202020204" pitchFamily="34" charset="0"/>
                          <a:cs typeface="Arial" panose="020B0604020202020204" pitchFamily="34" charset="0"/>
                        </a:rPr>
                        <a:t>12</a:t>
                      </a:r>
                    </a:p>
                  </a:txBody>
                  <a:tcPr/>
                </a:tc>
                <a:tc>
                  <a:txBody>
                    <a:bodyPr/>
                    <a:lstStyle/>
                    <a:p>
                      <a:pPr algn="ctr"/>
                      <a:r>
                        <a:rPr lang="en-US" sz="1400" dirty="0">
                          <a:latin typeface="Arial" panose="020B0604020202020204" pitchFamily="34" charset="0"/>
                          <a:cs typeface="Arial" panose="020B0604020202020204" pitchFamily="34" charset="0"/>
                        </a:rPr>
                        <a:t>11</a:t>
                      </a:r>
                    </a:p>
                  </a:txBody>
                  <a:tcPr/>
                </a:tc>
                <a:tc>
                  <a:txBody>
                    <a:bodyPr/>
                    <a:lstStyle/>
                    <a:p>
                      <a:pPr algn="ctr"/>
                      <a:r>
                        <a:rPr lang="en-US" sz="1400" dirty="0">
                          <a:latin typeface="Arial" panose="020B0604020202020204" pitchFamily="34" charset="0"/>
                          <a:cs typeface="Arial" panose="020B0604020202020204" pitchFamily="34" charset="0"/>
                        </a:rPr>
                        <a:t>23</a:t>
                      </a:r>
                    </a:p>
                  </a:txBody>
                  <a:tcPr/>
                </a:tc>
                <a:extLst>
                  <a:ext uri="{0D108BD9-81ED-4DB2-BD59-A6C34878D82A}">
                    <a16:rowId xmlns:a16="http://schemas.microsoft.com/office/drawing/2014/main" val="2288980596"/>
                  </a:ext>
                </a:extLst>
              </a:tr>
            </a:tbl>
          </a:graphicData>
        </a:graphic>
      </p:graphicFrame>
      <p:sp>
        <p:nvSpPr>
          <p:cNvPr id="5" name="Right Brace 4">
            <a:extLst>
              <a:ext uri="{FF2B5EF4-FFF2-40B4-BE49-F238E27FC236}">
                <a16:creationId xmlns:a16="http://schemas.microsoft.com/office/drawing/2014/main" id="{D29BA3DC-B6A4-3161-1F7C-6DAC45D511B2}"/>
              </a:ext>
            </a:extLst>
          </p:cNvPr>
          <p:cNvSpPr/>
          <p:nvPr/>
        </p:nvSpPr>
        <p:spPr>
          <a:xfrm rot="16200000">
            <a:off x="6513512" y="1958657"/>
            <a:ext cx="304800" cy="4038600"/>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FC8B7CF-3DCE-55BF-ACB5-8AAEBD60A61D}"/>
              </a:ext>
            </a:extLst>
          </p:cNvPr>
          <p:cNvSpPr/>
          <p:nvPr/>
        </p:nvSpPr>
        <p:spPr>
          <a:xfrm>
            <a:off x="5561012" y="3581875"/>
            <a:ext cx="2438400" cy="3048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Input for the function</a:t>
            </a:r>
          </a:p>
        </p:txBody>
      </p:sp>
    </p:spTree>
    <p:extLst>
      <p:ext uri="{BB962C8B-B14F-4D97-AF65-F5344CB8AC3E}">
        <p14:creationId xmlns:p14="http://schemas.microsoft.com/office/powerpoint/2010/main" val="7662751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dirty="0">
                <a:latin typeface="Arial" panose="020B0604020202020204" pitchFamily="34" charset="0"/>
                <a:cs typeface="Arial" panose="020B0604020202020204" pitchFamily="34" charset="0"/>
              </a:rPr>
              <a:t>Having access to a database allows us to:</a:t>
            </a:r>
          </a:p>
          <a:p>
            <a:pPr marL="514350" indent="-514350">
              <a:lnSpc>
                <a:spcPct val="100000"/>
              </a:lnSpc>
              <a:buAutoNum type="arabicPeriod"/>
            </a:pPr>
            <a:r>
              <a:rPr lang="en-US" dirty="0">
                <a:latin typeface="Arial" panose="020B0604020202020204" pitchFamily="34" charset="0"/>
                <a:cs typeface="Arial" panose="020B0604020202020204" pitchFamily="34" charset="0"/>
              </a:rPr>
              <a:t>Use several techniques to approximate the output as best as we can</a:t>
            </a:r>
          </a:p>
          <a:p>
            <a:pPr marL="514350" indent="-514350">
              <a:lnSpc>
                <a:spcPct val="100000"/>
              </a:lnSpc>
              <a:buAutoNum type="arabicPeriod"/>
            </a:pPr>
            <a:r>
              <a:rPr lang="en-US" dirty="0">
                <a:latin typeface="Arial" panose="020B0604020202020204" pitchFamily="34" charset="0"/>
                <a:cs typeface="Arial" panose="020B0604020202020204" pitchFamily="34" charset="0"/>
              </a:rPr>
              <a:t>Validate that the output is the one that we expect.</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2676665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dirty="0">
                <a:latin typeface="Arial" panose="020B0604020202020204" pitchFamily="34" charset="0"/>
                <a:cs typeface="Arial" panose="020B0604020202020204" pitchFamily="34" charset="0"/>
              </a:rPr>
              <a:t>Having access to a database allows us to:</a:t>
            </a:r>
          </a:p>
          <a:p>
            <a:pPr marL="514350" indent="-514350">
              <a:lnSpc>
                <a:spcPct val="100000"/>
              </a:lnSpc>
              <a:buAutoNum type="arabicPeriod"/>
            </a:pPr>
            <a:r>
              <a:rPr lang="en-US" dirty="0">
                <a:latin typeface="Arial" panose="020B0604020202020204" pitchFamily="34" charset="0"/>
                <a:cs typeface="Arial" panose="020B0604020202020204" pitchFamily="34" charset="0"/>
              </a:rPr>
              <a:t>Use several techniques to approximate the output as best as we can</a:t>
            </a:r>
          </a:p>
          <a:p>
            <a:pPr marL="514350" indent="-514350">
              <a:lnSpc>
                <a:spcPct val="100000"/>
              </a:lnSpc>
              <a:buAutoNum type="arabicPeriod"/>
            </a:pPr>
            <a:r>
              <a:rPr lang="en-US" dirty="0">
                <a:solidFill>
                  <a:schemeClr val="bg1">
                    <a:lumMod val="85000"/>
                  </a:schemeClr>
                </a:solidFill>
                <a:latin typeface="Arial" panose="020B0604020202020204" pitchFamily="34" charset="0"/>
                <a:cs typeface="Arial" panose="020B0604020202020204" pitchFamily="34" charset="0"/>
              </a:rPr>
              <a:t>Validate that the output is the one that we expect.</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4" name="Rectangle 3">
            <a:extLst>
              <a:ext uri="{FF2B5EF4-FFF2-40B4-BE49-F238E27FC236}">
                <a16:creationId xmlns:a16="http://schemas.microsoft.com/office/drawing/2014/main" id="{219002DB-7AD7-E593-47A2-EFB338B16EB8}"/>
              </a:ext>
            </a:extLst>
          </p:cNvPr>
          <p:cNvSpPr/>
          <p:nvPr/>
        </p:nvSpPr>
        <p:spPr>
          <a:xfrm>
            <a:off x="1912836" y="2438400"/>
            <a:ext cx="9144000" cy="9144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llout: Up Arrow 4">
            <a:extLst>
              <a:ext uri="{FF2B5EF4-FFF2-40B4-BE49-F238E27FC236}">
                <a16:creationId xmlns:a16="http://schemas.microsoft.com/office/drawing/2014/main" id="{C47F4B29-636B-5E99-2C90-8A53CA7D232A}"/>
              </a:ext>
            </a:extLst>
          </p:cNvPr>
          <p:cNvSpPr/>
          <p:nvPr/>
        </p:nvSpPr>
        <p:spPr>
          <a:xfrm>
            <a:off x="2824865" y="3505201"/>
            <a:ext cx="7319942" cy="1663468"/>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One simple example is the </a:t>
            </a:r>
            <a:r>
              <a:rPr lang="en-US" b="1" dirty="0"/>
              <a:t>Lagrange Interpolation</a:t>
            </a:r>
            <a:r>
              <a:rPr lang="en-US" dirty="0"/>
              <a:t> technique (that even if initially design to work with 2-dimensional points) is a good start in understanding how A.I. works.</a:t>
            </a:r>
          </a:p>
        </p:txBody>
      </p:sp>
    </p:spTree>
    <p:extLst>
      <p:ext uri="{BB962C8B-B14F-4D97-AF65-F5344CB8AC3E}">
        <p14:creationId xmlns:p14="http://schemas.microsoft.com/office/powerpoint/2010/main" val="12397762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Lagrange interpolation </a:t>
            </a:r>
            <a:r>
              <a:rPr lang="en-US" dirty="0">
                <a:latin typeface="Arial" panose="020B0604020202020204" pitchFamily="34" charset="0"/>
                <a:cs typeface="Arial" panose="020B0604020202020204" pitchFamily="34" charset="0"/>
              </a:rPr>
              <a:t>– given a set of points, identify a function “</a:t>
            </a:r>
            <a:r>
              <a:rPr lang="en-US" b="1" i="1" dirty="0">
                <a:latin typeface="Arial" panose="020B0604020202020204" pitchFamily="34" charset="0"/>
                <a:cs typeface="Arial" panose="020B0604020202020204" pitchFamily="34" charset="0"/>
              </a:rPr>
              <a:t>f </a:t>
            </a:r>
            <a:r>
              <a:rPr lang="en-US" dirty="0">
                <a:latin typeface="Arial" panose="020B0604020202020204" pitchFamily="34" charset="0"/>
                <a:cs typeface="Arial" panose="020B0604020202020204" pitchFamily="34" charset="0"/>
              </a:rPr>
              <a:t>” that approximates “Y” given an “X” </a:t>
            </a:r>
            <a:r>
              <a:rPr lang="en-US" dirty="0">
                <a:latin typeface="Arial" panose="020B0604020202020204" pitchFamily="34" charset="0"/>
                <a:cs typeface="Arial" panose="020B0604020202020204" pitchFamily="34" charset="0"/>
                <a:sym typeface="Wingdings" panose="05000000000000000000" pitchFamily="2" charset="2"/>
              </a:rPr>
              <a:t> f(x) = y</a:t>
            </a:r>
            <a:endParaRPr lang="en-US" dirty="0">
              <a:solidFill>
                <a:schemeClr val="bg1">
                  <a:lumMod val="85000"/>
                </a:schemeClr>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pic>
        <p:nvPicPr>
          <p:cNvPr id="7" name="Picture 6">
            <a:extLst>
              <a:ext uri="{FF2B5EF4-FFF2-40B4-BE49-F238E27FC236}">
                <a16:creationId xmlns:a16="http://schemas.microsoft.com/office/drawing/2014/main" id="{1D142252-BBCF-B3DC-FBD1-D70E99F56AEA}"/>
              </a:ext>
            </a:extLst>
          </p:cNvPr>
          <p:cNvPicPr>
            <a:picLocks noChangeAspect="1"/>
          </p:cNvPicPr>
          <p:nvPr/>
        </p:nvPicPr>
        <p:blipFill>
          <a:blip r:embed="rId2"/>
          <a:stretch>
            <a:fillRect/>
          </a:stretch>
        </p:blipFill>
        <p:spPr>
          <a:xfrm>
            <a:off x="1674812" y="2971800"/>
            <a:ext cx="3598028" cy="284054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9" name="Picture 8">
            <a:extLst>
              <a:ext uri="{FF2B5EF4-FFF2-40B4-BE49-F238E27FC236}">
                <a16:creationId xmlns:a16="http://schemas.microsoft.com/office/drawing/2014/main" id="{0A42A17A-9903-49CA-DEF6-714F7059E151}"/>
              </a:ext>
            </a:extLst>
          </p:cNvPr>
          <p:cNvPicPr>
            <a:picLocks noChangeAspect="1"/>
          </p:cNvPicPr>
          <p:nvPr/>
        </p:nvPicPr>
        <p:blipFill>
          <a:blip r:embed="rId3"/>
          <a:stretch>
            <a:fillRect/>
          </a:stretch>
        </p:blipFill>
        <p:spPr>
          <a:xfrm>
            <a:off x="6319351" y="2992362"/>
            <a:ext cx="4298640" cy="287149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6746422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dirty="0">
                <a:latin typeface="Arial" panose="020B0604020202020204" pitchFamily="34" charset="0"/>
                <a:cs typeface="Arial" panose="020B0604020202020204" pitchFamily="34" charset="0"/>
              </a:rPr>
              <a:t>Having access to a database allows us to:</a:t>
            </a:r>
          </a:p>
          <a:p>
            <a:pPr marL="514350" indent="-514350">
              <a:lnSpc>
                <a:spcPct val="100000"/>
              </a:lnSpc>
              <a:buAutoNum type="arabicPeriod"/>
            </a:pPr>
            <a:r>
              <a:rPr lang="en-US" dirty="0">
                <a:latin typeface="Arial" panose="020B0604020202020204" pitchFamily="34" charset="0"/>
                <a:cs typeface="Arial" panose="020B0604020202020204" pitchFamily="34" charset="0"/>
              </a:rPr>
              <a:t>Use several techniques to approximate the output as best as we can</a:t>
            </a:r>
          </a:p>
          <a:p>
            <a:pPr marL="514350" indent="-514350">
              <a:lnSpc>
                <a:spcPct val="100000"/>
              </a:lnSpc>
              <a:buAutoNum type="arabicPeriod"/>
            </a:pPr>
            <a:r>
              <a:rPr lang="en-US" dirty="0">
                <a:latin typeface="Arial" panose="020B0604020202020204" pitchFamily="34" charset="0"/>
                <a:cs typeface="Arial" panose="020B0604020202020204" pitchFamily="34" charset="0"/>
              </a:rPr>
              <a:t>Validate that the output is the one that we expect.</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4" name="Rectangle 3">
            <a:extLst>
              <a:ext uri="{FF2B5EF4-FFF2-40B4-BE49-F238E27FC236}">
                <a16:creationId xmlns:a16="http://schemas.microsoft.com/office/drawing/2014/main" id="{358F63A6-862C-4092-6374-91425826865F}"/>
              </a:ext>
            </a:extLst>
          </p:cNvPr>
          <p:cNvSpPr/>
          <p:nvPr/>
        </p:nvSpPr>
        <p:spPr>
          <a:xfrm>
            <a:off x="1587253" y="3326694"/>
            <a:ext cx="9144000" cy="5334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llout: Up Arrow 4">
            <a:extLst>
              <a:ext uri="{FF2B5EF4-FFF2-40B4-BE49-F238E27FC236}">
                <a16:creationId xmlns:a16="http://schemas.microsoft.com/office/drawing/2014/main" id="{8484FC00-0189-4741-BD99-F1F613C7D63B}"/>
              </a:ext>
            </a:extLst>
          </p:cNvPr>
          <p:cNvSpPr/>
          <p:nvPr/>
        </p:nvSpPr>
        <p:spPr>
          <a:xfrm>
            <a:off x="2741612" y="3886200"/>
            <a:ext cx="6096000" cy="1219200"/>
          </a:xfrm>
          <a:prstGeom prst="upArrowCallout">
            <a:avLst>
              <a:gd name="adj1" fmla="val 25000"/>
              <a:gd name="adj2" fmla="val 25000"/>
              <a:gd name="adj3" fmla="val 25000"/>
              <a:gd name="adj4" fmla="val 6320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The main question here is </a:t>
            </a:r>
            <a:r>
              <a:rPr lang="en-US" b="1" i="1" dirty="0">
                <a:solidFill>
                  <a:srgbClr val="FFC000"/>
                </a:solidFill>
              </a:rPr>
              <a:t>how can we measure </a:t>
            </a:r>
            <a:r>
              <a:rPr lang="en-US" dirty="0"/>
              <a:t>this ?</a:t>
            </a:r>
          </a:p>
        </p:txBody>
      </p:sp>
    </p:spTree>
    <p:extLst>
      <p:ext uri="{BB962C8B-B14F-4D97-AF65-F5344CB8AC3E}">
        <p14:creationId xmlns:p14="http://schemas.microsoft.com/office/powerpoint/2010/main" val="2003938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dirty="0">
                <a:latin typeface="Arial" panose="020B0604020202020204" pitchFamily="34" charset="0"/>
                <a:cs typeface="Arial" panose="020B0604020202020204" pitchFamily="34" charset="0"/>
              </a:rPr>
              <a:t>There are several options that can be used to test this:</a:t>
            </a:r>
          </a:p>
          <a:p>
            <a:pPr marL="514350" indent="-514350">
              <a:lnSpc>
                <a:spcPct val="100000"/>
              </a:lnSpc>
              <a:buAutoNum type="arabicPeriod"/>
            </a:pPr>
            <a:r>
              <a:rPr lang="en-US" dirty="0">
                <a:latin typeface="Arial" panose="020B0604020202020204" pitchFamily="34" charset="0"/>
                <a:cs typeface="Arial" panose="020B0604020202020204" pitchFamily="34" charset="0"/>
              </a:rPr>
              <a:t>The database has to be split into several parts (some to be used to identify the function “</a:t>
            </a:r>
            <a:r>
              <a:rPr lang="en-US" b="1" i="1" dirty="0">
                <a:latin typeface="Arial" panose="020B0604020202020204" pitchFamily="34" charset="0"/>
                <a:cs typeface="Arial" panose="020B0604020202020204" pitchFamily="34" charset="0"/>
              </a:rPr>
              <a:t>f </a:t>
            </a:r>
            <a:r>
              <a:rPr lang="en-US" dirty="0">
                <a:latin typeface="Arial" panose="020B0604020202020204" pitchFamily="34" charset="0"/>
                <a:cs typeface="Arial" panose="020B0604020202020204" pitchFamily="34" charset="0"/>
              </a:rPr>
              <a:t>“, others for validation of that function</a:t>
            </a:r>
          </a:p>
          <a:p>
            <a:pPr marL="514350" indent="-514350">
              <a:lnSpc>
                <a:spcPct val="100000"/>
              </a:lnSpc>
              <a:buAutoNum type="arabicPeriod"/>
            </a:pPr>
            <a:r>
              <a:rPr lang="en-US" dirty="0">
                <a:latin typeface="Arial" panose="020B0604020202020204" pitchFamily="34" charset="0"/>
                <a:cs typeface="Arial" panose="020B0604020202020204" pitchFamily="34" charset="0"/>
              </a:rPr>
              <a:t>We will need some metrics (to validate how good the resulted function is).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13601132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dirty="0">
                <a:latin typeface="Arial" panose="020B0604020202020204" pitchFamily="34" charset="0"/>
                <a:cs typeface="Arial" panose="020B0604020202020204" pitchFamily="34" charset="0"/>
              </a:rPr>
              <a:t>First – lets see how we can split a database: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D5F57982-12C5-F75E-9043-14A4D2F5D914}"/>
              </a:ext>
            </a:extLst>
          </p:cNvPr>
          <p:cNvGraphicFramePr>
            <a:graphicFrameLocks noGrp="1"/>
          </p:cNvGraphicFramePr>
          <p:nvPr/>
        </p:nvGraphicFramePr>
        <p:xfrm>
          <a:off x="1674812" y="2789936"/>
          <a:ext cx="2386542" cy="3352800"/>
        </p:xfrm>
        <a:graphic>
          <a:graphicData uri="http://schemas.openxmlformats.org/drawingml/2006/table">
            <a:tbl>
              <a:tblPr firstRow="1" bandRow="1">
                <a:tableStyleId>{073A0DAA-6AF3-43AB-8588-CEC1D06C72B9}</a:tableStyleId>
              </a:tblPr>
              <a:tblGrid>
                <a:gridCol w="1193271">
                  <a:extLst>
                    <a:ext uri="{9D8B030D-6E8A-4147-A177-3AD203B41FA5}">
                      <a16:colId xmlns:a16="http://schemas.microsoft.com/office/drawing/2014/main" val="971040185"/>
                    </a:ext>
                  </a:extLst>
                </a:gridCol>
                <a:gridCol w="1193271">
                  <a:extLst>
                    <a:ext uri="{9D8B030D-6E8A-4147-A177-3AD203B41FA5}">
                      <a16:colId xmlns:a16="http://schemas.microsoft.com/office/drawing/2014/main" val="556841160"/>
                    </a:ext>
                  </a:extLst>
                </a:gridCol>
              </a:tblGrid>
              <a:tr h="148079">
                <a:tc>
                  <a:txBody>
                    <a:bodyPr/>
                    <a:lstStyle/>
                    <a:p>
                      <a:r>
                        <a:rPr lang="en-US" sz="1400" dirty="0">
                          <a:latin typeface="Arial" panose="020B0604020202020204" pitchFamily="34" charset="0"/>
                          <a:cs typeface="Arial" panose="020B0604020202020204" pitchFamily="34" charset="0"/>
                        </a:rPr>
                        <a:t>Entry</a:t>
                      </a:r>
                    </a:p>
                  </a:txBody>
                  <a:tcPr/>
                </a:tc>
                <a:tc>
                  <a:txBody>
                    <a:bodyPr/>
                    <a:lstStyle/>
                    <a:p>
                      <a:r>
                        <a:rPr lang="en-US" sz="1400" dirty="0">
                          <a:latin typeface="Arial" panose="020B0604020202020204" pitchFamily="34" charset="0"/>
                          <a:cs typeface="Arial" panose="020B0604020202020204" pitchFamily="34" charset="0"/>
                        </a:rPr>
                        <a:t>Field</a:t>
                      </a:r>
                    </a:p>
                  </a:txBody>
                  <a:tcPr/>
                </a:tc>
                <a:extLst>
                  <a:ext uri="{0D108BD9-81ED-4DB2-BD59-A6C34878D82A}">
                    <a16:rowId xmlns:a16="http://schemas.microsoft.com/office/drawing/2014/main" val="3314082731"/>
                  </a:ext>
                </a:extLst>
              </a:tr>
              <a:tr h="148079">
                <a:tc>
                  <a:txBody>
                    <a:bodyPr/>
                    <a:lstStyle/>
                    <a:p>
                      <a:r>
                        <a:rPr lang="en-US" sz="1400" dirty="0">
                          <a:latin typeface="Arial" panose="020B0604020202020204" pitchFamily="34" charset="0"/>
                          <a:cs typeface="Arial" panose="020B0604020202020204" pitchFamily="34" charset="0"/>
                        </a:rPr>
                        <a:t>#1</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1</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54683842"/>
                  </a:ext>
                </a:extLst>
              </a:tr>
              <a:tr h="148079">
                <a:tc>
                  <a:txBody>
                    <a:bodyPr/>
                    <a:lstStyle/>
                    <a:p>
                      <a:r>
                        <a:rPr lang="en-US" sz="1400" dirty="0">
                          <a:latin typeface="Arial" panose="020B0604020202020204" pitchFamily="34" charset="0"/>
                          <a:cs typeface="Arial" panose="020B0604020202020204" pitchFamily="34" charset="0"/>
                        </a:rPr>
                        <a:t>#2</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30771305"/>
                  </a:ext>
                </a:extLst>
              </a:tr>
              <a:tr h="148079">
                <a:tc>
                  <a:txBody>
                    <a:bodyPr/>
                    <a:lstStyle/>
                    <a:p>
                      <a:r>
                        <a:rPr lang="en-US" sz="1400" dirty="0">
                          <a:latin typeface="Arial" panose="020B0604020202020204" pitchFamily="34" charset="0"/>
                          <a:cs typeface="Arial" panose="020B0604020202020204" pitchFamily="34" charset="0"/>
                        </a:rPr>
                        <a:t>#3</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36245918"/>
                  </a:ext>
                </a:extLst>
              </a:tr>
              <a:tr h="148079">
                <a:tc>
                  <a:txBody>
                    <a:bodyPr/>
                    <a:lstStyle/>
                    <a:p>
                      <a:r>
                        <a:rPr lang="en-US" sz="1400" dirty="0">
                          <a:latin typeface="Arial" panose="020B0604020202020204" pitchFamily="34" charset="0"/>
                          <a:cs typeface="Arial" panose="020B0604020202020204" pitchFamily="34" charset="0"/>
                        </a:rPr>
                        <a:t>#4</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4</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68699899"/>
                  </a:ext>
                </a:extLst>
              </a:tr>
              <a:tr h="148079">
                <a:tc>
                  <a:txBody>
                    <a:bodyPr/>
                    <a:lstStyle/>
                    <a:p>
                      <a:r>
                        <a:rPr lang="en-US" sz="1400" dirty="0">
                          <a:latin typeface="Arial" panose="020B0604020202020204" pitchFamily="34" charset="0"/>
                          <a:cs typeface="Arial" panose="020B0604020202020204" pitchFamily="34" charset="0"/>
                        </a:rPr>
                        <a:t>#5</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5</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7405726"/>
                  </a:ext>
                </a:extLst>
              </a:tr>
              <a:tr h="148079">
                <a:tc>
                  <a:txBody>
                    <a:bodyPr/>
                    <a:lstStyle/>
                    <a:p>
                      <a:r>
                        <a:rPr lang="en-US" sz="1400" dirty="0">
                          <a:latin typeface="Arial" panose="020B0604020202020204" pitchFamily="34" charset="0"/>
                          <a:cs typeface="Arial" panose="020B0604020202020204" pitchFamily="34" charset="0"/>
                        </a:rPr>
                        <a:t>#6</a:t>
                      </a:r>
                    </a:p>
                  </a:txBody>
                  <a:tcPr/>
                </a:tc>
                <a:tc>
                  <a:txBody>
                    <a:bodyPr/>
                    <a:lstStyle/>
                    <a:p>
                      <a:r>
                        <a:rPr lang="en-US" sz="1400" dirty="0"/>
                        <a:t>Data</a:t>
                      </a:r>
                      <a:r>
                        <a:rPr lang="en-US" sz="1400" baseline="-25000" dirty="0"/>
                        <a:t>6</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87576299"/>
                  </a:ext>
                </a:extLst>
              </a:tr>
              <a:tr h="148079">
                <a:tc>
                  <a:txBody>
                    <a:bodyPr/>
                    <a:lstStyle/>
                    <a:p>
                      <a:r>
                        <a:rPr lang="en-US" sz="1400" dirty="0">
                          <a:latin typeface="Arial" panose="020B0604020202020204" pitchFamily="34" charset="0"/>
                          <a:cs typeface="Arial" panose="020B0604020202020204" pitchFamily="34" charset="0"/>
                        </a:rPr>
                        <a:t>#7</a:t>
                      </a:r>
                    </a:p>
                  </a:txBody>
                  <a:tcPr/>
                </a:tc>
                <a:tc>
                  <a:txBody>
                    <a:bodyPr/>
                    <a:lstStyle/>
                    <a:p>
                      <a:r>
                        <a:rPr lang="en-US" sz="1400" dirty="0"/>
                        <a:t>Data</a:t>
                      </a:r>
                      <a:r>
                        <a:rPr lang="en-US" sz="1400" baseline="-25000" dirty="0"/>
                        <a:t>7</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31876459"/>
                  </a:ext>
                </a:extLst>
              </a:tr>
              <a:tr h="148079">
                <a:tc>
                  <a:txBody>
                    <a:bodyPr/>
                    <a:lstStyle/>
                    <a:p>
                      <a:r>
                        <a:rPr lang="en-US" sz="1400" dirty="0">
                          <a:latin typeface="Arial" panose="020B0604020202020204" pitchFamily="34" charset="0"/>
                          <a:cs typeface="Arial" panose="020B0604020202020204" pitchFamily="34" charset="0"/>
                        </a:rPr>
                        <a:t>#8</a:t>
                      </a:r>
                    </a:p>
                  </a:txBody>
                  <a:tcPr/>
                </a:tc>
                <a:tc>
                  <a:txBody>
                    <a:bodyPr/>
                    <a:lstStyle/>
                    <a:p>
                      <a:r>
                        <a:rPr lang="en-US" sz="1400" dirty="0"/>
                        <a:t>Data</a:t>
                      </a:r>
                      <a:r>
                        <a:rPr lang="en-US" sz="1400" baseline="-25000" dirty="0"/>
                        <a:t>8</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24627070"/>
                  </a:ext>
                </a:extLst>
              </a:tr>
              <a:tr h="148079">
                <a:tc>
                  <a:txBody>
                    <a:bodyPr/>
                    <a:lstStyle/>
                    <a:p>
                      <a:r>
                        <a:rPr lang="en-US" sz="1400" dirty="0">
                          <a:latin typeface="Arial" panose="020B0604020202020204" pitchFamily="34" charset="0"/>
                          <a:cs typeface="Arial" panose="020B0604020202020204" pitchFamily="34" charset="0"/>
                        </a:rPr>
                        <a:t>…</a:t>
                      </a: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30647228"/>
                  </a:ext>
                </a:extLst>
              </a:tr>
              <a:tr h="148079">
                <a:tc>
                  <a:txBody>
                    <a:bodyPr/>
                    <a:lstStyle/>
                    <a:p>
                      <a:r>
                        <a:rPr lang="en-US" sz="1400" dirty="0">
                          <a:latin typeface="Arial" panose="020B0604020202020204" pitchFamily="34" charset="0"/>
                          <a:cs typeface="Arial" panose="020B0604020202020204" pitchFamily="34" charset="0"/>
                        </a:rPr>
                        <a:t>#n</a:t>
                      </a:r>
                    </a:p>
                  </a:txBody>
                  <a:tcPr/>
                </a:tc>
                <a:tc>
                  <a:txBody>
                    <a:bodyPr/>
                    <a:lstStyle/>
                    <a:p>
                      <a:r>
                        <a:rPr lang="en-US" sz="1400" dirty="0" err="1"/>
                        <a:t>Data</a:t>
                      </a:r>
                      <a:r>
                        <a:rPr lang="en-US" sz="1400" baseline="-25000" dirty="0" err="1"/>
                        <a:t>n</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54700029"/>
                  </a:ext>
                </a:extLst>
              </a:tr>
            </a:tbl>
          </a:graphicData>
        </a:graphic>
      </p:graphicFrame>
      <p:sp>
        <p:nvSpPr>
          <p:cNvPr id="6" name="Right Brace 5">
            <a:extLst>
              <a:ext uri="{FF2B5EF4-FFF2-40B4-BE49-F238E27FC236}">
                <a16:creationId xmlns:a16="http://schemas.microsoft.com/office/drawing/2014/main" id="{AF1ACC7B-6D41-38B3-E8A4-CD0AF1D3B635}"/>
              </a:ext>
            </a:extLst>
          </p:cNvPr>
          <p:cNvSpPr/>
          <p:nvPr/>
        </p:nvSpPr>
        <p:spPr>
          <a:xfrm>
            <a:off x="4173654" y="3124201"/>
            <a:ext cx="304800" cy="1371599"/>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9BDA7D41-CBD5-C2D7-7696-25308C0EB76F}"/>
              </a:ext>
            </a:extLst>
          </p:cNvPr>
          <p:cNvSpPr/>
          <p:nvPr/>
        </p:nvSpPr>
        <p:spPr>
          <a:xfrm>
            <a:off x="4173654" y="4618736"/>
            <a:ext cx="304800" cy="71526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8" name="Right Brace 7">
            <a:extLst>
              <a:ext uri="{FF2B5EF4-FFF2-40B4-BE49-F238E27FC236}">
                <a16:creationId xmlns:a16="http://schemas.microsoft.com/office/drawing/2014/main" id="{3A10D02F-2422-83E1-527E-4CC9050CA112}"/>
              </a:ext>
            </a:extLst>
          </p:cNvPr>
          <p:cNvSpPr/>
          <p:nvPr/>
        </p:nvSpPr>
        <p:spPr>
          <a:xfrm>
            <a:off x="4173654" y="5419344"/>
            <a:ext cx="304800" cy="71526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9" name="Callout: Left Arrow 8">
            <a:extLst>
              <a:ext uri="{FF2B5EF4-FFF2-40B4-BE49-F238E27FC236}">
                <a16:creationId xmlns:a16="http://schemas.microsoft.com/office/drawing/2014/main" id="{1D143187-7AAB-6276-A89A-4523269F13CB}"/>
              </a:ext>
            </a:extLst>
          </p:cNvPr>
          <p:cNvSpPr/>
          <p:nvPr/>
        </p:nvSpPr>
        <p:spPr>
          <a:xfrm>
            <a:off x="4575589" y="3543300"/>
            <a:ext cx="6019800" cy="533400"/>
          </a:xfrm>
          <a:prstGeom prst="leftArrowCallout">
            <a:avLst>
              <a:gd name="adj1" fmla="val 25000"/>
              <a:gd name="adj2" fmla="val 25000"/>
              <a:gd name="adj3" fmla="val 25000"/>
              <a:gd name="adj4" fmla="val 939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Training data set</a:t>
            </a:r>
            <a:r>
              <a:rPr lang="en-US" dirty="0">
                <a:solidFill>
                  <a:srgbClr val="FFC000"/>
                </a:solidFill>
              </a:rPr>
              <a:t> </a:t>
            </a:r>
            <a:r>
              <a:rPr lang="en-US" dirty="0"/>
              <a:t>(used to obtain/train the </a:t>
            </a:r>
            <a:r>
              <a:rPr lang="en-US" b="1" i="1" dirty="0"/>
              <a:t>f</a:t>
            </a:r>
            <a:r>
              <a:rPr lang="en-US" i="1" dirty="0"/>
              <a:t> </a:t>
            </a:r>
            <a:r>
              <a:rPr lang="en-US" dirty="0"/>
              <a:t>function)</a:t>
            </a:r>
            <a:endParaRPr lang="en-US" b="1" dirty="0"/>
          </a:p>
        </p:txBody>
      </p:sp>
      <p:sp>
        <p:nvSpPr>
          <p:cNvPr id="10" name="Callout: Left Arrow 9">
            <a:extLst>
              <a:ext uri="{FF2B5EF4-FFF2-40B4-BE49-F238E27FC236}">
                <a16:creationId xmlns:a16="http://schemas.microsoft.com/office/drawing/2014/main" id="{2B2AFB30-A0A9-4CAD-EBAE-CE49547DE27B}"/>
              </a:ext>
            </a:extLst>
          </p:cNvPr>
          <p:cNvSpPr/>
          <p:nvPr/>
        </p:nvSpPr>
        <p:spPr>
          <a:xfrm>
            <a:off x="4575589" y="4709668"/>
            <a:ext cx="6019800" cy="533400"/>
          </a:xfrm>
          <a:prstGeom prst="leftArrowCallout">
            <a:avLst>
              <a:gd name="adj1" fmla="val 25000"/>
              <a:gd name="adj2" fmla="val 25000"/>
              <a:gd name="adj3" fmla="val 25000"/>
              <a:gd name="adj4" fmla="val 939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Validation data set</a:t>
            </a:r>
            <a:r>
              <a:rPr lang="en-US" dirty="0">
                <a:solidFill>
                  <a:srgbClr val="FFC000"/>
                </a:solidFill>
              </a:rPr>
              <a:t> </a:t>
            </a:r>
            <a:r>
              <a:rPr lang="en-US" dirty="0"/>
              <a:t>(used to fine tune the result)</a:t>
            </a:r>
            <a:endParaRPr lang="en-US" b="1" dirty="0"/>
          </a:p>
        </p:txBody>
      </p:sp>
      <p:sp>
        <p:nvSpPr>
          <p:cNvPr id="11" name="Callout: Left Arrow 10">
            <a:extLst>
              <a:ext uri="{FF2B5EF4-FFF2-40B4-BE49-F238E27FC236}">
                <a16:creationId xmlns:a16="http://schemas.microsoft.com/office/drawing/2014/main" id="{80BADBE0-38D2-FCA7-9604-8E3BB3025DAB}"/>
              </a:ext>
            </a:extLst>
          </p:cNvPr>
          <p:cNvSpPr/>
          <p:nvPr/>
        </p:nvSpPr>
        <p:spPr>
          <a:xfrm>
            <a:off x="4575589" y="5500568"/>
            <a:ext cx="6019800" cy="533400"/>
          </a:xfrm>
          <a:prstGeom prst="leftArrowCallout">
            <a:avLst>
              <a:gd name="adj1" fmla="val 25000"/>
              <a:gd name="adj2" fmla="val 25000"/>
              <a:gd name="adj3" fmla="val 25000"/>
              <a:gd name="adj4" fmla="val 939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Test data set</a:t>
            </a:r>
            <a:r>
              <a:rPr lang="en-US" dirty="0">
                <a:solidFill>
                  <a:srgbClr val="FFC000"/>
                </a:solidFill>
              </a:rPr>
              <a:t> </a:t>
            </a:r>
            <a:r>
              <a:rPr lang="en-US" dirty="0"/>
              <a:t>(used to validate the </a:t>
            </a:r>
            <a:r>
              <a:rPr lang="en-US" b="1" dirty="0"/>
              <a:t>result</a:t>
            </a:r>
            <a:r>
              <a:rPr lang="en-US" dirty="0"/>
              <a:t>)</a:t>
            </a:r>
            <a:endParaRPr lang="en-US" b="1" dirty="0"/>
          </a:p>
        </p:txBody>
      </p:sp>
    </p:spTree>
    <p:extLst>
      <p:ext uri="{BB962C8B-B14F-4D97-AF65-F5344CB8AC3E}">
        <p14:creationId xmlns:p14="http://schemas.microsoft.com/office/powerpoint/2010/main" val="32853609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randombar(horizontal)">
                                      <p:cBhvr>
                                        <p:cTn id="16" dur="500"/>
                                        <p:tgtEl>
                                          <p:spTgt spid="6"/>
                                        </p:tgtEl>
                                      </p:cBhvr>
                                    </p:animEffect>
                                  </p:childTnLst>
                                </p:cTn>
                              </p:par>
                            </p:childTnLst>
                          </p:cTn>
                        </p:par>
                        <p:par>
                          <p:cTn id="17" fill="hold">
                            <p:stCondLst>
                              <p:cond delay="500"/>
                            </p:stCondLst>
                            <p:childTnLst>
                              <p:par>
                                <p:cTn id="18" presetID="2" presetClass="entr" presetSubtype="2"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randombar(horizontal)">
                                      <p:cBhvr>
                                        <p:cTn id="26" dur="500"/>
                                        <p:tgtEl>
                                          <p:spTgt spid="7"/>
                                        </p:tgtEl>
                                      </p:cBhvr>
                                    </p:animEffect>
                                  </p:childTnLst>
                                </p:cTn>
                              </p:par>
                            </p:childTnLst>
                          </p:cTn>
                        </p:par>
                        <p:par>
                          <p:cTn id="27" fill="hold">
                            <p:stCondLst>
                              <p:cond delay="500"/>
                            </p:stCondLst>
                            <p:childTnLst>
                              <p:par>
                                <p:cTn id="28" presetID="2" presetClass="entr" presetSubtype="2"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1+#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randombar(horizontal)">
                                      <p:cBhvr>
                                        <p:cTn id="36" dur="500"/>
                                        <p:tgtEl>
                                          <p:spTgt spid="8"/>
                                        </p:tgtEl>
                                      </p:cBhvr>
                                    </p:animEffect>
                                  </p:childTnLst>
                                </p:cTn>
                              </p:par>
                            </p:childTnLst>
                          </p:cTn>
                        </p:par>
                        <p:par>
                          <p:cTn id="37" fill="hold">
                            <p:stCondLst>
                              <p:cond delay="500"/>
                            </p:stCondLst>
                            <p:childTnLst>
                              <p:par>
                                <p:cTn id="38" presetID="2" presetClass="entr" presetSubtype="2"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ppt_x</p:attrName>
                                        </p:attrNameLst>
                                      </p:cBhvr>
                                      <p:tavLst>
                                        <p:tav tm="0">
                                          <p:val>
                                            <p:strVal val="1+#ppt_w/2"/>
                                          </p:val>
                                        </p:tav>
                                        <p:tav tm="100000">
                                          <p:val>
                                            <p:strVal val="#ppt_x"/>
                                          </p:val>
                                        </p:tav>
                                      </p:tavLst>
                                    </p:anim>
                                    <p:anim calcmode="lin" valueType="num">
                                      <p:cBhvr additive="base">
                                        <p:cTn id="41"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dirty="0">
                <a:latin typeface="Arial" panose="020B0604020202020204" pitchFamily="34" charset="0"/>
                <a:cs typeface="Arial" panose="020B0604020202020204" pitchFamily="34" charset="0"/>
              </a:rPr>
              <a:t>First – lets see how we can split a database: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D5F57982-12C5-F75E-9043-14A4D2F5D914}"/>
              </a:ext>
            </a:extLst>
          </p:cNvPr>
          <p:cNvGraphicFramePr>
            <a:graphicFrameLocks noGrp="1"/>
          </p:cNvGraphicFramePr>
          <p:nvPr/>
        </p:nvGraphicFramePr>
        <p:xfrm>
          <a:off x="1674812" y="2789936"/>
          <a:ext cx="2386542" cy="3352800"/>
        </p:xfrm>
        <a:graphic>
          <a:graphicData uri="http://schemas.openxmlformats.org/drawingml/2006/table">
            <a:tbl>
              <a:tblPr firstRow="1" bandRow="1">
                <a:tableStyleId>{073A0DAA-6AF3-43AB-8588-CEC1D06C72B9}</a:tableStyleId>
              </a:tblPr>
              <a:tblGrid>
                <a:gridCol w="1193271">
                  <a:extLst>
                    <a:ext uri="{9D8B030D-6E8A-4147-A177-3AD203B41FA5}">
                      <a16:colId xmlns:a16="http://schemas.microsoft.com/office/drawing/2014/main" val="971040185"/>
                    </a:ext>
                  </a:extLst>
                </a:gridCol>
                <a:gridCol w="1193271">
                  <a:extLst>
                    <a:ext uri="{9D8B030D-6E8A-4147-A177-3AD203B41FA5}">
                      <a16:colId xmlns:a16="http://schemas.microsoft.com/office/drawing/2014/main" val="556841160"/>
                    </a:ext>
                  </a:extLst>
                </a:gridCol>
              </a:tblGrid>
              <a:tr h="148079">
                <a:tc>
                  <a:txBody>
                    <a:bodyPr/>
                    <a:lstStyle/>
                    <a:p>
                      <a:r>
                        <a:rPr lang="en-US" sz="1400" dirty="0">
                          <a:latin typeface="Arial" panose="020B0604020202020204" pitchFamily="34" charset="0"/>
                          <a:cs typeface="Arial" panose="020B0604020202020204" pitchFamily="34" charset="0"/>
                        </a:rPr>
                        <a:t>Entry</a:t>
                      </a:r>
                    </a:p>
                  </a:txBody>
                  <a:tcPr/>
                </a:tc>
                <a:tc>
                  <a:txBody>
                    <a:bodyPr/>
                    <a:lstStyle/>
                    <a:p>
                      <a:r>
                        <a:rPr lang="en-US" sz="1400" dirty="0">
                          <a:latin typeface="Arial" panose="020B0604020202020204" pitchFamily="34" charset="0"/>
                          <a:cs typeface="Arial" panose="020B0604020202020204" pitchFamily="34" charset="0"/>
                        </a:rPr>
                        <a:t>Field</a:t>
                      </a:r>
                    </a:p>
                  </a:txBody>
                  <a:tcPr/>
                </a:tc>
                <a:extLst>
                  <a:ext uri="{0D108BD9-81ED-4DB2-BD59-A6C34878D82A}">
                    <a16:rowId xmlns:a16="http://schemas.microsoft.com/office/drawing/2014/main" val="3314082731"/>
                  </a:ext>
                </a:extLst>
              </a:tr>
              <a:tr h="148079">
                <a:tc>
                  <a:txBody>
                    <a:bodyPr/>
                    <a:lstStyle/>
                    <a:p>
                      <a:r>
                        <a:rPr lang="en-US" sz="1400" dirty="0">
                          <a:latin typeface="Arial" panose="020B0604020202020204" pitchFamily="34" charset="0"/>
                          <a:cs typeface="Arial" panose="020B0604020202020204" pitchFamily="34" charset="0"/>
                        </a:rPr>
                        <a:t>#1</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1</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54683842"/>
                  </a:ext>
                </a:extLst>
              </a:tr>
              <a:tr h="148079">
                <a:tc>
                  <a:txBody>
                    <a:bodyPr/>
                    <a:lstStyle/>
                    <a:p>
                      <a:r>
                        <a:rPr lang="en-US" sz="1400" dirty="0">
                          <a:latin typeface="Arial" panose="020B0604020202020204" pitchFamily="34" charset="0"/>
                          <a:cs typeface="Arial" panose="020B0604020202020204" pitchFamily="34" charset="0"/>
                        </a:rPr>
                        <a:t>#2</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30771305"/>
                  </a:ext>
                </a:extLst>
              </a:tr>
              <a:tr h="148079">
                <a:tc>
                  <a:txBody>
                    <a:bodyPr/>
                    <a:lstStyle/>
                    <a:p>
                      <a:r>
                        <a:rPr lang="en-US" sz="1400" dirty="0">
                          <a:latin typeface="Arial" panose="020B0604020202020204" pitchFamily="34" charset="0"/>
                          <a:cs typeface="Arial" panose="020B0604020202020204" pitchFamily="34" charset="0"/>
                        </a:rPr>
                        <a:t>#3</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36245918"/>
                  </a:ext>
                </a:extLst>
              </a:tr>
              <a:tr h="148079">
                <a:tc>
                  <a:txBody>
                    <a:bodyPr/>
                    <a:lstStyle/>
                    <a:p>
                      <a:r>
                        <a:rPr lang="en-US" sz="1400" dirty="0">
                          <a:latin typeface="Arial" panose="020B0604020202020204" pitchFamily="34" charset="0"/>
                          <a:cs typeface="Arial" panose="020B0604020202020204" pitchFamily="34" charset="0"/>
                        </a:rPr>
                        <a:t>#4</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4</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68699899"/>
                  </a:ext>
                </a:extLst>
              </a:tr>
              <a:tr h="148079">
                <a:tc>
                  <a:txBody>
                    <a:bodyPr/>
                    <a:lstStyle/>
                    <a:p>
                      <a:r>
                        <a:rPr lang="en-US" sz="1400" dirty="0">
                          <a:latin typeface="Arial" panose="020B0604020202020204" pitchFamily="34" charset="0"/>
                          <a:cs typeface="Arial" panose="020B0604020202020204" pitchFamily="34" charset="0"/>
                        </a:rPr>
                        <a:t>#5</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5</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7405726"/>
                  </a:ext>
                </a:extLst>
              </a:tr>
              <a:tr h="148079">
                <a:tc>
                  <a:txBody>
                    <a:bodyPr/>
                    <a:lstStyle/>
                    <a:p>
                      <a:r>
                        <a:rPr lang="en-US" sz="1400" dirty="0">
                          <a:latin typeface="Arial" panose="020B0604020202020204" pitchFamily="34" charset="0"/>
                          <a:cs typeface="Arial" panose="020B0604020202020204" pitchFamily="34" charset="0"/>
                        </a:rPr>
                        <a:t>#6</a:t>
                      </a:r>
                    </a:p>
                  </a:txBody>
                  <a:tcPr/>
                </a:tc>
                <a:tc>
                  <a:txBody>
                    <a:bodyPr/>
                    <a:lstStyle/>
                    <a:p>
                      <a:r>
                        <a:rPr lang="en-US" sz="1400" dirty="0"/>
                        <a:t>Data</a:t>
                      </a:r>
                      <a:r>
                        <a:rPr lang="en-US" sz="1400" baseline="-25000" dirty="0"/>
                        <a:t>6</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87576299"/>
                  </a:ext>
                </a:extLst>
              </a:tr>
              <a:tr h="148079">
                <a:tc>
                  <a:txBody>
                    <a:bodyPr/>
                    <a:lstStyle/>
                    <a:p>
                      <a:r>
                        <a:rPr lang="en-US" sz="1400" dirty="0">
                          <a:latin typeface="Arial" panose="020B0604020202020204" pitchFamily="34" charset="0"/>
                          <a:cs typeface="Arial" panose="020B0604020202020204" pitchFamily="34" charset="0"/>
                        </a:rPr>
                        <a:t>#7</a:t>
                      </a:r>
                    </a:p>
                  </a:txBody>
                  <a:tcPr/>
                </a:tc>
                <a:tc>
                  <a:txBody>
                    <a:bodyPr/>
                    <a:lstStyle/>
                    <a:p>
                      <a:r>
                        <a:rPr lang="en-US" sz="1400" dirty="0"/>
                        <a:t>Data</a:t>
                      </a:r>
                      <a:r>
                        <a:rPr lang="en-US" sz="1400" baseline="-25000" dirty="0"/>
                        <a:t>7</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31876459"/>
                  </a:ext>
                </a:extLst>
              </a:tr>
              <a:tr h="148079">
                <a:tc>
                  <a:txBody>
                    <a:bodyPr/>
                    <a:lstStyle/>
                    <a:p>
                      <a:r>
                        <a:rPr lang="en-US" sz="1400" dirty="0">
                          <a:latin typeface="Arial" panose="020B0604020202020204" pitchFamily="34" charset="0"/>
                          <a:cs typeface="Arial" panose="020B0604020202020204" pitchFamily="34" charset="0"/>
                        </a:rPr>
                        <a:t>#8</a:t>
                      </a:r>
                    </a:p>
                  </a:txBody>
                  <a:tcPr/>
                </a:tc>
                <a:tc>
                  <a:txBody>
                    <a:bodyPr/>
                    <a:lstStyle/>
                    <a:p>
                      <a:r>
                        <a:rPr lang="en-US" sz="1400" dirty="0"/>
                        <a:t>Data</a:t>
                      </a:r>
                      <a:r>
                        <a:rPr lang="en-US" sz="1400" baseline="-25000" dirty="0"/>
                        <a:t>8</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24627070"/>
                  </a:ext>
                </a:extLst>
              </a:tr>
              <a:tr h="148079">
                <a:tc>
                  <a:txBody>
                    <a:bodyPr/>
                    <a:lstStyle/>
                    <a:p>
                      <a:r>
                        <a:rPr lang="en-US" sz="1400" dirty="0">
                          <a:latin typeface="Arial" panose="020B0604020202020204" pitchFamily="34" charset="0"/>
                          <a:cs typeface="Arial" panose="020B0604020202020204" pitchFamily="34" charset="0"/>
                        </a:rPr>
                        <a:t>…</a:t>
                      </a: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30647228"/>
                  </a:ext>
                </a:extLst>
              </a:tr>
              <a:tr h="148079">
                <a:tc>
                  <a:txBody>
                    <a:bodyPr/>
                    <a:lstStyle/>
                    <a:p>
                      <a:r>
                        <a:rPr lang="en-US" sz="1400" dirty="0">
                          <a:latin typeface="Arial" panose="020B0604020202020204" pitchFamily="34" charset="0"/>
                          <a:cs typeface="Arial" panose="020B0604020202020204" pitchFamily="34" charset="0"/>
                        </a:rPr>
                        <a:t>#n</a:t>
                      </a:r>
                    </a:p>
                  </a:txBody>
                  <a:tcPr/>
                </a:tc>
                <a:tc>
                  <a:txBody>
                    <a:bodyPr/>
                    <a:lstStyle/>
                    <a:p>
                      <a:r>
                        <a:rPr lang="en-US" sz="1400" dirty="0" err="1"/>
                        <a:t>Data</a:t>
                      </a:r>
                      <a:r>
                        <a:rPr lang="en-US" sz="1400" baseline="-25000" dirty="0" err="1"/>
                        <a:t>n</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54700029"/>
                  </a:ext>
                </a:extLst>
              </a:tr>
            </a:tbl>
          </a:graphicData>
        </a:graphic>
      </p:graphicFrame>
      <p:sp>
        <p:nvSpPr>
          <p:cNvPr id="6" name="Right Brace 5">
            <a:extLst>
              <a:ext uri="{FF2B5EF4-FFF2-40B4-BE49-F238E27FC236}">
                <a16:creationId xmlns:a16="http://schemas.microsoft.com/office/drawing/2014/main" id="{AF1ACC7B-6D41-38B3-E8A4-CD0AF1D3B635}"/>
              </a:ext>
            </a:extLst>
          </p:cNvPr>
          <p:cNvSpPr/>
          <p:nvPr/>
        </p:nvSpPr>
        <p:spPr>
          <a:xfrm>
            <a:off x="4173654" y="3124201"/>
            <a:ext cx="304800" cy="1371599"/>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9BDA7D41-CBD5-C2D7-7696-25308C0EB76F}"/>
              </a:ext>
            </a:extLst>
          </p:cNvPr>
          <p:cNvSpPr/>
          <p:nvPr/>
        </p:nvSpPr>
        <p:spPr>
          <a:xfrm>
            <a:off x="4173654" y="4618736"/>
            <a:ext cx="304800" cy="71526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8" name="Right Brace 7">
            <a:extLst>
              <a:ext uri="{FF2B5EF4-FFF2-40B4-BE49-F238E27FC236}">
                <a16:creationId xmlns:a16="http://schemas.microsoft.com/office/drawing/2014/main" id="{3A10D02F-2422-83E1-527E-4CC9050CA112}"/>
              </a:ext>
            </a:extLst>
          </p:cNvPr>
          <p:cNvSpPr/>
          <p:nvPr/>
        </p:nvSpPr>
        <p:spPr>
          <a:xfrm>
            <a:off x="4173654" y="5419344"/>
            <a:ext cx="304800" cy="71526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9" name="Callout: Left Arrow 8">
            <a:extLst>
              <a:ext uri="{FF2B5EF4-FFF2-40B4-BE49-F238E27FC236}">
                <a16:creationId xmlns:a16="http://schemas.microsoft.com/office/drawing/2014/main" id="{1D143187-7AAB-6276-A89A-4523269F13CB}"/>
              </a:ext>
            </a:extLst>
          </p:cNvPr>
          <p:cNvSpPr/>
          <p:nvPr/>
        </p:nvSpPr>
        <p:spPr>
          <a:xfrm>
            <a:off x="4575589" y="3543300"/>
            <a:ext cx="2738023" cy="533400"/>
          </a:xfrm>
          <a:prstGeom prst="leftArrowCallout">
            <a:avLst>
              <a:gd name="adj1" fmla="val 25000"/>
              <a:gd name="adj2" fmla="val 25000"/>
              <a:gd name="adj3" fmla="val 25000"/>
              <a:gd name="adj4" fmla="val 8823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Training data set</a:t>
            </a:r>
            <a:endParaRPr lang="en-US" b="1" dirty="0"/>
          </a:p>
        </p:txBody>
      </p:sp>
      <p:sp>
        <p:nvSpPr>
          <p:cNvPr id="10" name="Callout: Left Arrow 9">
            <a:extLst>
              <a:ext uri="{FF2B5EF4-FFF2-40B4-BE49-F238E27FC236}">
                <a16:creationId xmlns:a16="http://schemas.microsoft.com/office/drawing/2014/main" id="{2B2AFB30-A0A9-4CAD-EBAE-CE49547DE27B}"/>
              </a:ext>
            </a:extLst>
          </p:cNvPr>
          <p:cNvSpPr/>
          <p:nvPr/>
        </p:nvSpPr>
        <p:spPr>
          <a:xfrm>
            <a:off x="4575589" y="4709668"/>
            <a:ext cx="2738023" cy="533400"/>
          </a:xfrm>
          <a:prstGeom prst="leftArrowCallout">
            <a:avLst>
              <a:gd name="adj1" fmla="val 25000"/>
              <a:gd name="adj2" fmla="val 25000"/>
              <a:gd name="adj3" fmla="val 25000"/>
              <a:gd name="adj4" fmla="val 8907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Validation data set</a:t>
            </a:r>
            <a:endParaRPr lang="en-US" b="1" dirty="0"/>
          </a:p>
        </p:txBody>
      </p:sp>
      <p:sp>
        <p:nvSpPr>
          <p:cNvPr id="11" name="Callout: Left Arrow 10">
            <a:extLst>
              <a:ext uri="{FF2B5EF4-FFF2-40B4-BE49-F238E27FC236}">
                <a16:creationId xmlns:a16="http://schemas.microsoft.com/office/drawing/2014/main" id="{80BADBE0-38D2-FCA7-9604-8E3BB3025DAB}"/>
              </a:ext>
            </a:extLst>
          </p:cNvPr>
          <p:cNvSpPr/>
          <p:nvPr/>
        </p:nvSpPr>
        <p:spPr>
          <a:xfrm>
            <a:off x="4575589" y="5500568"/>
            <a:ext cx="2738023" cy="533400"/>
          </a:xfrm>
          <a:prstGeom prst="leftArrowCallout">
            <a:avLst>
              <a:gd name="adj1" fmla="val 25000"/>
              <a:gd name="adj2" fmla="val 25000"/>
              <a:gd name="adj3" fmla="val 25000"/>
              <a:gd name="adj4" fmla="val 8974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Test data set</a:t>
            </a:r>
            <a:endParaRPr lang="en-US" b="1" dirty="0"/>
          </a:p>
        </p:txBody>
      </p:sp>
      <p:sp>
        <p:nvSpPr>
          <p:cNvPr id="5" name="Right Brace 4">
            <a:extLst>
              <a:ext uri="{FF2B5EF4-FFF2-40B4-BE49-F238E27FC236}">
                <a16:creationId xmlns:a16="http://schemas.microsoft.com/office/drawing/2014/main" id="{98C92880-63A0-B3CA-4739-26215BC4A4C5}"/>
              </a:ext>
            </a:extLst>
          </p:cNvPr>
          <p:cNvSpPr/>
          <p:nvPr/>
        </p:nvSpPr>
        <p:spPr>
          <a:xfrm>
            <a:off x="7313612" y="3338069"/>
            <a:ext cx="304800" cy="2796539"/>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2888E38B-4285-B526-EF3C-284CD334463D}"/>
              </a:ext>
            </a:extLst>
          </p:cNvPr>
          <p:cNvSpPr/>
          <p:nvPr/>
        </p:nvSpPr>
        <p:spPr>
          <a:xfrm>
            <a:off x="7770812" y="3338069"/>
            <a:ext cx="3886200" cy="2804667"/>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It’s important to </a:t>
            </a:r>
            <a:r>
              <a:rPr lang="en-US" sz="1600" b="1" dirty="0">
                <a:solidFill>
                  <a:schemeClr val="tx1"/>
                </a:solidFill>
                <a:latin typeface="Arial" panose="020B0604020202020204" pitchFamily="34" charset="0"/>
                <a:cs typeface="Arial" panose="020B0604020202020204" pitchFamily="34" charset="0"/>
              </a:rPr>
              <a:t>select a proper balance </a:t>
            </a:r>
            <a:r>
              <a:rPr lang="en-US" sz="1600" dirty="0">
                <a:solidFill>
                  <a:schemeClr val="tx1"/>
                </a:solidFill>
                <a:latin typeface="Arial" panose="020B0604020202020204" pitchFamily="34" charset="0"/>
                <a:cs typeface="Arial" panose="020B0604020202020204" pitchFamily="34" charset="0"/>
              </a:rPr>
              <a:t>between these data sets. For example, if the training set is too small while the test set is too large, the results will be inconclusive as the algorithm will not have enough data to learn from. Similarly, if no test/validation data set is available (or too small), the results may not be validated properly, or an </a:t>
            </a:r>
            <a:r>
              <a:rPr lang="en-US" sz="1600" b="1" dirty="0">
                <a:solidFill>
                  <a:schemeClr val="tx1"/>
                </a:solidFill>
                <a:latin typeface="Arial" panose="020B0604020202020204" pitchFamily="34" charset="0"/>
                <a:cs typeface="Arial" panose="020B0604020202020204" pitchFamily="34" charset="0"/>
              </a:rPr>
              <a:t>overfitting</a:t>
            </a:r>
            <a:r>
              <a:rPr lang="en-US" sz="1600" dirty="0">
                <a:solidFill>
                  <a:schemeClr val="tx1"/>
                </a:solidFill>
                <a:latin typeface="Arial" panose="020B0604020202020204" pitchFamily="34" charset="0"/>
                <a:cs typeface="Arial" panose="020B0604020202020204" pitchFamily="34" charset="0"/>
              </a:rPr>
              <a:t> state can be achieved.</a:t>
            </a:r>
          </a:p>
        </p:txBody>
      </p:sp>
    </p:spTree>
    <p:extLst>
      <p:ext uri="{BB962C8B-B14F-4D97-AF65-F5344CB8AC3E}">
        <p14:creationId xmlns:p14="http://schemas.microsoft.com/office/powerpoint/2010/main" val="1934424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Overfitting</a:t>
            </a:r>
          </a:p>
          <a:p>
            <a:pPr marL="0" indent="0">
              <a:lnSpc>
                <a:spcPct val="100000"/>
              </a:lnSpc>
              <a:buNone/>
            </a:pPr>
            <a:r>
              <a:rPr lang="en-US" dirty="0"/>
              <a:t>Overfitting refers to a modeling error that occurs when a machine learning algorithm captures noise in the training data rather than the underlying data distribution. This results in a model that performs well on the training data but poorly on new data, because it has essentially "memorized" the training data rather than generalizing from it. </a:t>
            </a:r>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4197490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Overfitting</a:t>
            </a:r>
          </a:p>
          <a:p>
            <a:pPr marL="0" indent="0">
              <a:lnSpc>
                <a:spcPct val="100000"/>
              </a:lnSpc>
              <a:buNone/>
            </a:pPr>
            <a:r>
              <a:rPr lang="en-US" dirty="0"/>
              <a:t>Let’s see an example (we will consider a data set of 4 entries where the first 3 entries are used for training, and the last one for validation.</a:t>
            </a:r>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D9EC4950-5648-4A45-D47B-8E6894164E83}"/>
              </a:ext>
            </a:extLst>
          </p:cNvPr>
          <p:cNvGraphicFramePr>
            <a:graphicFrameLocks noGrp="1"/>
          </p:cNvGraphicFramePr>
          <p:nvPr/>
        </p:nvGraphicFramePr>
        <p:xfrm>
          <a:off x="1674812" y="3657600"/>
          <a:ext cx="3886200" cy="1854200"/>
        </p:xfrm>
        <a:graphic>
          <a:graphicData uri="http://schemas.openxmlformats.org/drawingml/2006/table">
            <a:tbl>
              <a:tblPr firstRow="1" bandRow="1">
                <a:tableStyleId>{073A0DAA-6AF3-43AB-8588-CEC1D06C72B9}</a:tableStyleId>
              </a:tblPr>
              <a:tblGrid>
                <a:gridCol w="2362200">
                  <a:extLst>
                    <a:ext uri="{9D8B030D-6E8A-4147-A177-3AD203B41FA5}">
                      <a16:colId xmlns:a16="http://schemas.microsoft.com/office/drawing/2014/main" val="1213380454"/>
                    </a:ext>
                  </a:extLst>
                </a:gridCol>
                <a:gridCol w="762000">
                  <a:extLst>
                    <a:ext uri="{9D8B030D-6E8A-4147-A177-3AD203B41FA5}">
                      <a16:colId xmlns:a16="http://schemas.microsoft.com/office/drawing/2014/main" val="3222662072"/>
                    </a:ext>
                  </a:extLst>
                </a:gridCol>
                <a:gridCol w="762000">
                  <a:extLst>
                    <a:ext uri="{9D8B030D-6E8A-4147-A177-3AD203B41FA5}">
                      <a16:colId xmlns:a16="http://schemas.microsoft.com/office/drawing/2014/main" val="2066349990"/>
                    </a:ext>
                  </a:extLst>
                </a:gridCol>
              </a:tblGrid>
              <a:tr h="370840">
                <a:tc>
                  <a:txBody>
                    <a:bodyPr/>
                    <a:lstStyle/>
                    <a:p>
                      <a:r>
                        <a:rPr lang="en-US" dirty="0"/>
                        <a:t>Dataset</a:t>
                      </a:r>
                    </a:p>
                  </a:txBody>
                  <a:tcPr/>
                </a:tc>
                <a:tc>
                  <a:txBody>
                    <a:bodyPr/>
                    <a:lstStyle/>
                    <a:p>
                      <a:r>
                        <a:rPr lang="en-US" dirty="0"/>
                        <a:t>x</a:t>
                      </a:r>
                      <a:r>
                        <a:rPr lang="en-US" baseline="-25000" dirty="0"/>
                        <a:t>1</a:t>
                      </a:r>
                      <a:endParaRPr lang="en-US" dirty="0"/>
                    </a:p>
                  </a:txBody>
                  <a:tcPr/>
                </a:tc>
                <a:tc>
                  <a:txBody>
                    <a:bodyPr/>
                    <a:lstStyle/>
                    <a:p>
                      <a:r>
                        <a:rPr lang="en-US" i="1" dirty="0"/>
                        <a:t>f </a:t>
                      </a:r>
                      <a:r>
                        <a:rPr lang="en-US" dirty="0"/>
                        <a:t>(x</a:t>
                      </a:r>
                      <a:r>
                        <a:rPr lang="en-US" baseline="-25000" dirty="0"/>
                        <a:t>1</a:t>
                      </a:r>
                      <a:r>
                        <a:rPr lang="en-US" baseline="0" dirty="0"/>
                        <a:t>)</a:t>
                      </a:r>
                      <a:endParaRPr lang="en-US" dirty="0"/>
                    </a:p>
                  </a:txBody>
                  <a:tcPr/>
                </a:tc>
                <a:extLst>
                  <a:ext uri="{0D108BD9-81ED-4DB2-BD59-A6C34878D82A}">
                    <a16:rowId xmlns:a16="http://schemas.microsoft.com/office/drawing/2014/main" val="3577357796"/>
                  </a:ext>
                </a:extLst>
              </a:tr>
              <a:tr h="370840">
                <a:tc>
                  <a:txBody>
                    <a:bodyPr/>
                    <a:lstStyle/>
                    <a:p>
                      <a:r>
                        <a:rPr lang="en-US" dirty="0">
                          <a:latin typeface="Arial" panose="020B0604020202020204" pitchFamily="34" charset="0"/>
                          <a:cs typeface="Arial" panose="020B0604020202020204" pitchFamily="34" charset="0"/>
                        </a:rPr>
                        <a:t>#1 (training)</a:t>
                      </a:r>
                    </a:p>
                  </a:txBody>
                  <a:tcPr/>
                </a:tc>
                <a:tc>
                  <a:txBody>
                    <a:bodyPr/>
                    <a:lstStyle/>
                    <a:p>
                      <a:r>
                        <a:rPr lang="en-US" dirty="0">
                          <a:latin typeface="Arial" panose="020B0604020202020204" pitchFamily="34" charset="0"/>
                          <a:cs typeface="Arial" panose="020B0604020202020204" pitchFamily="34" charset="0"/>
                        </a:rPr>
                        <a:t>1</a:t>
                      </a:r>
                    </a:p>
                  </a:txBody>
                  <a:tcPr/>
                </a:tc>
                <a:tc>
                  <a:txBody>
                    <a:bodyPr/>
                    <a:lstStyle/>
                    <a:p>
                      <a:r>
                        <a:rPr lang="en-US" dirty="0">
                          <a:latin typeface="Arial" panose="020B0604020202020204" pitchFamily="34" charset="0"/>
                          <a:cs typeface="Arial" panose="020B0604020202020204" pitchFamily="34" charset="0"/>
                        </a:rPr>
                        <a:t>2</a:t>
                      </a:r>
                    </a:p>
                  </a:txBody>
                  <a:tcPr/>
                </a:tc>
                <a:extLst>
                  <a:ext uri="{0D108BD9-81ED-4DB2-BD59-A6C34878D82A}">
                    <a16:rowId xmlns:a16="http://schemas.microsoft.com/office/drawing/2014/main" val="889118855"/>
                  </a:ext>
                </a:extLst>
              </a:tr>
              <a:tr h="370840">
                <a:tc>
                  <a:txBody>
                    <a:bodyPr/>
                    <a:lstStyle/>
                    <a:p>
                      <a:r>
                        <a:rPr lang="en-US" dirty="0">
                          <a:latin typeface="Arial" panose="020B0604020202020204" pitchFamily="34" charset="0"/>
                          <a:cs typeface="Arial" panose="020B0604020202020204" pitchFamily="34" charset="0"/>
                        </a:rPr>
                        <a:t>#2 (training)</a:t>
                      </a:r>
                    </a:p>
                  </a:txBody>
                  <a:tcPr/>
                </a:tc>
                <a:tc>
                  <a:txBody>
                    <a:bodyPr/>
                    <a:lstStyle/>
                    <a:p>
                      <a:r>
                        <a:rPr lang="en-US" dirty="0">
                          <a:latin typeface="Arial" panose="020B0604020202020204" pitchFamily="34" charset="0"/>
                          <a:cs typeface="Arial" panose="020B0604020202020204" pitchFamily="34" charset="0"/>
                        </a:rPr>
                        <a:t>2</a:t>
                      </a:r>
                    </a:p>
                  </a:txBody>
                  <a:tcPr/>
                </a:tc>
                <a:tc>
                  <a:txBody>
                    <a:bodyPr/>
                    <a:lstStyle/>
                    <a:p>
                      <a:r>
                        <a:rPr lang="en-US" dirty="0">
                          <a:latin typeface="Arial" panose="020B0604020202020204" pitchFamily="34" charset="0"/>
                          <a:cs typeface="Arial" panose="020B0604020202020204" pitchFamily="34" charset="0"/>
                        </a:rPr>
                        <a:t>4</a:t>
                      </a:r>
                    </a:p>
                  </a:txBody>
                  <a:tcPr/>
                </a:tc>
                <a:extLst>
                  <a:ext uri="{0D108BD9-81ED-4DB2-BD59-A6C34878D82A}">
                    <a16:rowId xmlns:a16="http://schemas.microsoft.com/office/drawing/2014/main" val="4180680001"/>
                  </a:ext>
                </a:extLst>
              </a:tr>
              <a:tr h="370840">
                <a:tc>
                  <a:txBody>
                    <a:bodyPr/>
                    <a:lstStyle/>
                    <a:p>
                      <a:r>
                        <a:rPr lang="en-US" dirty="0">
                          <a:latin typeface="Arial" panose="020B0604020202020204" pitchFamily="34" charset="0"/>
                          <a:cs typeface="Arial" panose="020B0604020202020204" pitchFamily="34" charset="0"/>
                        </a:rPr>
                        <a:t>#3 (training)</a:t>
                      </a:r>
                    </a:p>
                  </a:txBody>
                  <a:tcPr/>
                </a:tc>
                <a:tc>
                  <a:txBody>
                    <a:bodyPr/>
                    <a:lstStyle/>
                    <a:p>
                      <a:r>
                        <a:rPr lang="en-US" dirty="0">
                          <a:latin typeface="Arial" panose="020B0604020202020204" pitchFamily="34" charset="0"/>
                          <a:cs typeface="Arial" panose="020B0604020202020204" pitchFamily="34" charset="0"/>
                        </a:rPr>
                        <a:t>3</a:t>
                      </a:r>
                    </a:p>
                  </a:txBody>
                  <a:tcPr/>
                </a:tc>
                <a:tc>
                  <a:txBody>
                    <a:bodyPr/>
                    <a:lstStyle/>
                    <a:p>
                      <a:r>
                        <a:rPr lang="en-US" dirty="0">
                          <a:latin typeface="Arial" panose="020B0604020202020204" pitchFamily="34" charset="0"/>
                          <a:cs typeface="Arial" panose="020B0604020202020204" pitchFamily="34" charset="0"/>
                        </a:rPr>
                        <a:t>6</a:t>
                      </a:r>
                    </a:p>
                  </a:txBody>
                  <a:tcPr/>
                </a:tc>
                <a:extLst>
                  <a:ext uri="{0D108BD9-81ED-4DB2-BD59-A6C34878D82A}">
                    <a16:rowId xmlns:a16="http://schemas.microsoft.com/office/drawing/2014/main" val="3544664287"/>
                  </a:ext>
                </a:extLst>
              </a:tr>
              <a:tr h="370840">
                <a:tc>
                  <a:txBody>
                    <a:bodyPr/>
                    <a:lstStyle/>
                    <a:p>
                      <a:r>
                        <a:rPr lang="en-US" b="1" dirty="0">
                          <a:latin typeface="Arial" panose="020B0604020202020204" pitchFamily="34" charset="0"/>
                          <a:cs typeface="Arial" panose="020B0604020202020204" pitchFamily="34" charset="0"/>
                        </a:rPr>
                        <a:t>#4 (test/validation)</a:t>
                      </a:r>
                    </a:p>
                  </a:txBody>
                  <a:tcPr/>
                </a:tc>
                <a:tc>
                  <a:txBody>
                    <a:bodyPr/>
                    <a:lstStyle/>
                    <a:p>
                      <a:r>
                        <a:rPr lang="en-US" b="1" dirty="0">
                          <a:latin typeface="Arial" panose="020B0604020202020204" pitchFamily="34" charset="0"/>
                          <a:cs typeface="Arial" panose="020B0604020202020204" pitchFamily="34" charset="0"/>
                        </a:rPr>
                        <a:t>4</a:t>
                      </a:r>
                    </a:p>
                  </a:txBody>
                  <a:tcPr/>
                </a:tc>
                <a:tc>
                  <a:txBody>
                    <a:bodyPr/>
                    <a:lstStyle/>
                    <a:p>
                      <a:r>
                        <a:rPr lang="en-US" b="1" dirty="0">
                          <a:latin typeface="Arial" panose="020B0604020202020204" pitchFamily="34" charset="0"/>
                          <a:cs typeface="Arial" panose="020B0604020202020204" pitchFamily="34" charset="0"/>
                        </a:rPr>
                        <a:t>8</a:t>
                      </a:r>
                    </a:p>
                  </a:txBody>
                  <a:tcPr/>
                </a:tc>
                <a:extLst>
                  <a:ext uri="{0D108BD9-81ED-4DB2-BD59-A6C34878D82A}">
                    <a16:rowId xmlns:a16="http://schemas.microsoft.com/office/drawing/2014/main" val="700595147"/>
                  </a:ext>
                </a:extLst>
              </a:tr>
            </a:tbl>
          </a:graphicData>
        </a:graphic>
      </p:graphicFrame>
      <p:grpSp>
        <p:nvGrpSpPr>
          <p:cNvPr id="14" name="Group 13">
            <a:extLst>
              <a:ext uri="{FF2B5EF4-FFF2-40B4-BE49-F238E27FC236}">
                <a16:creationId xmlns:a16="http://schemas.microsoft.com/office/drawing/2014/main" id="{AE12B6F8-DFE4-902D-629A-3096F0DAD8FC}"/>
              </a:ext>
            </a:extLst>
          </p:cNvPr>
          <p:cNvGrpSpPr/>
          <p:nvPr/>
        </p:nvGrpSpPr>
        <p:grpSpPr>
          <a:xfrm>
            <a:off x="5942012" y="3657600"/>
            <a:ext cx="2133600" cy="1854200"/>
            <a:chOff x="5942012" y="3657600"/>
            <a:chExt cx="2133600" cy="185420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2E0DCB71-EE04-D48F-267D-F3100121F1F3}"/>
                    </a:ext>
                  </a:extLst>
                </p:cNvPr>
                <p:cNvSpPr/>
                <p:nvPr/>
              </p:nvSpPr>
              <p:spPr>
                <a:xfrm>
                  <a:off x="5942012" y="3657600"/>
                  <a:ext cx="2133600" cy="18542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𝑓</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𝑥</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ea typeface="Cambria Math" panose="02040503050406030204" pitchFamily="18" charset="0"/>
                          </a:rPr>
                          <m:t>×2</m:t>
                        </m:r>
                      </m:oMath>
                    </m:oMathPara>
                  </a14:m>
                  <a:endParaRPr lang="en-US" dirty="0">
                    <a:solidFill>
                      <a:schemeClr val="tx1"/>
                    </a:solidFill>
                  </a:endParaRPr>
                </a:p>
              </p:txBody>
            </p:sp>
          </mc:Choice>
          <mc:Fallback xmlns="">
            <p:sp>
              <p:nvSpPr>
                <p:cNvPr id="5" name="Rectangle 4">
                  <a:extLst>
                    <a:ext uri="{FF2B5EF4-FFF2-40B4-BE49-F238E27FC236}">
                      <a16:creationId xmlns:a16="http://schemas.microsoft.com/office/drawing/2014/main" id="{2E0DCB71-EE04-D48F-267D-F3100121F1F3}"/>
                    </a:ext>
                  </a:extLst>
                </p:cNvPr>
                <p:cNvSpPr>
                  <a:spLocks noRot="1" noChangeAspect="1" noMove="1" noResize="1" noEditPoints="1" noAdjustHandles="1" noChangeArrowheads="1" noChangeShapeType="1" noTextEdit="1"/>
                </p:cNvSpPr>
                <p:nvPr/>
              </p:nvSpPr>
              <p:spPr>
                <a:xfrm>
                  <a:off x="5942012" y="3657600"/>
                  <a:ext cx="2133600" cy="1854200"/>
                </a:xfrm>
                <a:prstGeom prst="rect">
                  <a:avLst/>
                </a:prstGeom>
                <a:blipFill>
                  <a:blip r:embed="rId3"/>
                  <a:stretch>
                    <a:fillRect/>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9FD06C6F-B2DF-0589-65B7-2DBA798C7877}"/>
                </a:ext>
              </a:extLst>
            </p:cNvPr>
            <p:cNvSpPr/>
            <p:nvPr/>
          </p:nvSpPr>
          <p:spPr>
            <a:xfrm>
              <a:off x="6018212" y="3962400"/>
              <a:ext cx="1981200" cy="45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1C0B564-7059-0B97-FA5C-501DE9501C58}"/>
                </a:ext>
              </a:extLst>
            </p:cNvPr>
            <p:cNvSpPr txBox="1"/>
            <p:nvPr/>
          </p:nvSpPr>
          <p:spPr>
            <a:xfrm>
              <a:off x="5942012" y="3657600"/>
              <a:ext cx="1981200" cy="369332"/>
            </a:xfrm>
            <a:prstGeom prst="rect">
              <a:avLst/>
            </a:prstGeom>
            <a:noFill/>
          </p:spPr>
          <p:txBody>
            <a:bodyPr wrap="square" rtlCol="0">
              <a:spAutoFit/>
            </a:bodyPr>
            <a:lstStyle/>
            <a:p>
              <a:r>
                <a:rPr lang="en-US" b="1" i="1" dirty="0">
                  <a:latin typeface="Arial" panose="020B0604020202020204" pitchFamily="34" charset="0"/>
                  <a:cs typeface="Arial" panose="020B0604020202020204" pitchFamily="34" charset="0"/>
                </a:rPr>
                <a:t>Case 1</a:t>
              </a:r>
            </a:p>
          </p:txBody>
        </p:sp>
      </p:grpSp>
      <p:grpSp>
        <p:nvGrpSpPr>
          <p:cNvPr id="13" name="Group 12">
            <a:extLst>
              <a:ext uri="{FF2B5EF4-FFF2-40B4-BE49-F238E27FC236}">
                <a16:creationId xmlns:a16="http://schemas.microsoft.com/office/drawing/2014/main" id="{1A4C6098-092B-7CAE-639F-FD9D542EB9D6}"/>
              </a:ext>
            </a:extLst>
          </p:cNvPr>
          <p:cNvGrpSpPr/>
          <p:nvPr/>
        </p:nvGrpSpPr>
        <p:grpSpPr>
          <a:xfrm>
            <a:off x="8328237" y="3657600"/>
            <a:ext cx="3048000" cy="1854200"/>
            <a:chOff x="8328237" y="3657600"/>
            <a:chExt cx="3048000" cy="1854200"/>
          </a:xfrm>
        </p:grpSpPr>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EFBAECE-76CC-9E9B-1AFB-B140F6FC8FC5}"/>
                    </a:ext>
                  </a:extLst>
                </p:cNvPr>
                <p:cNvSpPr/>
                <p:nvPr/>
              </p:nvSpPr>
              <p:spPr>
                <a:xfrm>
                  <a:off x="8328237" y="3657600"/>
                  <a:ext cx="3048000" cy="185420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𝑓</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𝑥</m:t>
                            </m:r>
                          </m:e>
                        </m:d>
                        <m:r>
                          <a:rPr lang="en-US" b="0" i="1" smtClean="0">
                            <a:solidFill>
                              <a:schemeClr val="tx1"/>
                            </a:solidFill>
                            <a:latin typeface="Cambria Math" panose="02040503050406030204" pitchFamily="18" charset="0"/>
                          </a:rPr>
                          <m:t>=</m:t>
                        </m:r>
                        <m:d>
                          <m:dPr>
                            <m:begChr m:val="{"/>
                            <m:endChr m:val=""/>
                            <m:ctrlPr>
                              <a:rPr lang="en-US" b="0" i="1" smtClean="0">
                                <a:solidFill>
                                  <a:schemeClr val="tx1"/>
                                </a:solidFill>
                                <a:latin typeface="Cambria Math" panose="02040503050406030204" pitchFamily="18" charset="0"/>
                              </a:rPr>
                            </m:ctrlPr>
                          </m:dPr>
                          <m:e>
                            <m:eqArr>
                              <m:eqArrPr>
                                <m:ctrlPr>
                                  <a:rPr lang="en-US" b="0" i="1" smtClean="0">
                                    <a:solidFill>
                                      <a:schemeClr val="tx1"/>
                                    </a:solidFill>
                                    <a:latin typeface="Cambria Math" panose="02040503050406030204" pitchFamily="18" charset="0"/>
                                  </a:rPr>
                                </m:ctrlPr>
                              </m:eqArrPr>
                              <m:e>
                                <m:eqArr>
                                  <m:eqArrPr>
                                    <m:ctrlPr>
                                      <a:rPr lang="en-US" b="0" i="1" smtClean="0">
                                        <a:solidFill>
                                          <a:schemeClr val="tx1"/>
                                        </a:solidFill>
                                        <a:latin typeface="Cambria Math" panose="02040503050406030204" pitchFamily="18" charset="0"/>
                                      </a:rPr>
                                    </m:ctrlPr>
                                  </m:eqArrPr>
                                  <m:e>
                                    <m:r>
                                      <a:rPr lang="en-US" b="0" i="1" smtClean="0">
                                        <a:solidFill>
                                          <a:schemeClr val="tx1"/>
                                        </a:solidFill>
                                        <a:latin typeface="Cambria Math" panose="02040503050406030204" pitchFamily="18" charset="0"/>
                                      </a:rPr>
                                      <m:t>2,  </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=1</m:t>
                                    </m:r>
                                  </m:e>
                                  <m:e>
                                    <m:r>
                                      <a:rPr lang="en-US" b="0" i="1" smtClean="0">
                                        <a:solidFill>
                                          <a:schemeClr val="tx1"/>
                                        </a:solidFill>
                                        <a:latin typeface="Cambria Math" panose="02040503050406030204" pitchFamily="18" charset="0"/>
                                      </a:rPr>
                                      <m:t>&amp;4,  </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=2</m:t>
                                    </m:r>
                                  </m:e>
                                </m:eqArr>
                              </m:e>
                              <m:e>
                                <m:r>
                                  <a:rPr lang="en-US" b="0" i="1" smtClean="0">
                                    <a:solidFill>
                                      <a:schemeClr val="tx1"/>
                                    </a:solidFill>
                                    <a:latin typeface="Cambria Math" panose="02040503050406030204" pitchFamily="18" charset="0"/>
                                  </a:rPr>
                                  <m:t>6</m:t>
                                </m:r>
                                <m:r>
                                  <a:rPr lang="en-US"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=3</m:t>
                                </m:r>
                              </m:e>
                              <m:e>
                                <m:r>
                                  <a:rPr lang="en-US" b="0" i="1" smtClean="0">
                                    <a:solidFill>
                                      <a:schemeClr val="tx1"/>
                                    </a:solidFill>
                                    <a:latin typeface="Cambria Math" panose="02040503050406030204" pitchFamily="18" charset="0"/>
                                  </a:rPr>
                                  <m:t>0</m:t>
                                </m:r>
                                <m:r>
                                  <a:rPr lang="en-US" i="1">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ea typeface="Cambria Math" panose="02040503050406030204" pitchFamily="18" charset="0"/>
                                  </a:rPr>
                                  <m:t>∉{1,2,3}</m:t>
                                </m:r>
                              </m:e>
                            </m:eqArr>
                          </m:e>
                        </m:d>
                      </m:oMath>
                    </m:oMathPara>
                  </a14:m>
                  <a:endParaRPr lang="en-US" dirty="0">
                    <a:solidFill>
                      <a:schemeClr val="tx1"/>
                    </a:solidFill>
                  </a:endParaRPr>
                </a:p>
              </p:txBody>
            </p:sp>
          </mc:Choice>
          <mc:Fallback xmlns="">
            <p:sp>
              <p:nvSpPr>
                <p:cNvPr id="6" name="Rectangle 5">
                  <a:extLst>
                    <a:ext uri="{FF2B5EF4-FFF2-40B4-BE49-F238E27FC236}">
                      <a16:creationId xmlns:a16="http://schemas.microsoft.com/office/drawing/2014/main" id="{1EFBAECE-76CC-9E9B-1AFB-B140F6FC8FC5}"/>
                    </a:ext>
                  </a:extLst>
                </p:cNvPr>
                <p:cNvSpPr>
                  <a:spLocks noRot="1" noChangeAspect="1" noMove="1" noResize="1" noEditPoints="1" noAdjustHandles="1" noChangeArrowheads="1" noChangeShapeType="1" noTextEdit="1"/>
                </p:cNvSpPr>
                <p:nvPr/>
              </p:nvSpPr>
              <p:spPr>
                <a:xfrm>
                  <a:off x="8328237" y="3657600"/>
                  <a:ext cx="3048000" cy="1854200"/>
                </a:xfrm>
                <a:prstGeom prst="rect">
                  <a:avLst/>
                </a:prstGeom>
                <a:blipFill>
                  <a:blip r:embed="rId4"/>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609A5904-31AE-386E-5483-E5DAFC460FFA}"/>
                </a:ext>
              </a:extLst>
            </p:cNvPr>
            <p:cNvSpPr/>
            <p:nvPr/>
          </p:nvSpPr>
          <p:spPr>
            <a:xfrm>
              <a:off x="8404796" y="3962400"/>
              <a:ext cx="2895600" cy="45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59FA4D6-7D36-243A-2F89-5B3546F61E58}"/>
                </a:ext>
              </a:extLst>
            </p:cNvPr>
            <p:cNvSpPr txBox="1"/>
            <p:nvPr/>
          </p:nvSpPr>
          <p:spPr>
            <a:xfrm>
              <a:off x="8342248" y="3657600"/>
              <a:ext cx="1981200" cy="369332"/>
            </a:xfrm>
            <a:prstGeom prst="rect">
              <a:avLst/>
            </a:prstGeom>
            <a:noFill/>
          </p:spPr>
          <p:txBody>
            <a:bodyPr wrap="square" rtlCol="0">
              <a:spAutoFit/>
            </a:bodyPr>
            <a:lstStyle/>
            <a:p>
              <a:r>
                <a:rPr lang="en-US" b="1" i="1" dirty="0">
                  <a:latin typeface="Arial" panose="020B0604020202020204" pitchFamily="34" charset="0"/>
                  <a:cs typeface="Arial" panose="020B0604020202020204" pitchFamily="34" charset="0"/>
                </a:rPr>
                <a:t>Case 2</a:t>
              </a:r>
            </a:p>
          </p:txBody>
        </p:sp>
      </p:grpSp>
      <p:sp>
        <p:nvSpPr>
          <p:cNvPr id="15" name="Callout: Up Arrow 14">
            <a:extLst>
              <a:ext uri="{FF2B5EF4-FFF2-40B4-BE49-F238E27FC236}">
                <a16:creationId xmlns:a16="http://schemas.microsoft.com/office/drawing/2014/main" id="{E909B0C3-AE49-55FE-7E32-D2601C989403}"/>
              </a:ext>
            </a:extLst>
          </p:cNvPr>
          <p:cNvSpPr/>
          <p:nvPr/>
        </p:nvSpPr>
        <p:spPr>
          <a:xfrm>
            <a:off x="5942012" y="5651500"/>
            <a:ext cx="2133600" cy="1028700"/>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Generic solution</a:t>
            </a:r>
          </a:p>
          <a:p>
            <a:pPr algn="ctr"/>
            <a:r>
              <a:rPr lang="en-US" dirty="0"/>
              <a:t>f(4) = 8</a:t>
            </a:r>
          </a:p>
        </p:txBody>
      </p:sp>
      <p:sp>
        <p:nvSpPr>
          <p:cNvPr id="16" name="Callout: Up Arrow 15">
            <a:extLst>
              <a:ext uri="{FF2B5EF4-FFF2-40B4-BE49-F238E27FC236}">
                <a16:creationId xmlns:a16="http://schemas.microsoft.com/office/drawing/2014/main" id="{1DFBC02D-97BD-998F-C1FB-C70C81515AD5}"/>
              </a:ext>
            </a:extLst>
          </p:cNvPr>
          <p:cNvSpPr/>
          <p:nvPr/>
        </p:nvSpPr>
        <p:spPr>
          <a:xfrm>
            <a:off x="8342247" y="5651500"/>
            <a:ext cx="3033989" cy="1028700"/>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Overfitting</a:t>
            </a:r>
          </a:p>
          <a:p>
            <a:pPr algn="ctr"/>
            <a:r>
              <a:rPr lang="en-US" dirty="0"/>
              <a:t>f(4) = 0</a:t>
            </a:r>
          </a:p>
        </p:txBody>
      </p:sp>
    </p:spTree>
    <p:extLst>
      <p:ext uri="{BB962C8B-B14F-4D97-AF65-F5344CB8AC3E}">
        <p14:creationId xmlns:p14="http://schemas.microsoft.com/office/powerpoint/2010/main" val="2914254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ppt_x"/>
                                          </p:val>
                                        </p:tav>
                                        <p:tav tm="100000">
                                          <p:val>
                                            <p:strVal val="#ppt_x"/>
                                          </p:val>
                                        </p:tav>
                                      </p:tavLst>
                                    </p:anim>
                                    <p:anim calcmode="lin" valueType="num">
                                      <p:cBhvr additive="base">
                                        <p:cTn id="13" dur="500" fill="hold"/>
                                        <p:tgtEl>
                                          <p:spTgt spid="14"/>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dirty="0">
                <a:latin typeface="Arial" panose="020B0604020202020204" pitchFamily="34" charset="0"/>
                <a:cs typeface="Arial" panose="020B0604020202020204" pitchFamily="34" charset="0"/>
              </a:rPr>
              <a:t>First – lets see how we can split a database: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D5F57982-12C5-F75E-9043-14A4D2F5D914}"/>
              </a:ext>
            </a:extLst>
          </p:cNvPr>
          <p:cNvGraphicFramePr>
            <a:graphicFrameLocks noGrp="1"/>
          </p:cNvGraphicFramePr>
          <p:nvPr/>
        </p:nvGraphicFramePr>
        <p:xfrm>
          <a:off x="1674812" y="2789936"/>
          <a:ext cx="2386542" cy="3352800"/>
        </p:xfrm>
        <a:graphic>
          <a:graphicData uri="http://schemas.openxmlformats.org/drawingml/2006/table">
            <a:tbl>
              <a:tblPr firstRow="1" bandRow="1">
                <a:tableStyleId>{073A0DAA-6AF3-43AB-8588-CEC1D06C72B9}</a:tableStyleId>
              </a:tblPr>
              <a:tblGrid>
                <a:gridCol w="1193271">
                  <a:extLst>
                    <a:ext uri="{9D8B030D-6E8A-4147-A177-3AD203B41FA5}">
                      <a16:colId xmlns:a16="http://schemas.microsoft.com/office/drawing/2014/main" val="971040185"/>
                    </a:ext>
                  </a:extLst>
                </a:gridCol>
                <a:gridCol w="1193271">
                  <a:extLst>
                    <a:ext uri="{9D8B030D-6E8A-4147-A177-3AD203B41FA5}">
                      <a16:colId xmlns:a16="http://schemas.microsoft.com/office/drawing/2014/main" val="556841160"/>
                    </a:ext>
                  </a:extLst>
                </a:gridCol>
              </a:tblGrid>
              <a:tr h="148079">
                <a:tc>
                  <a:txBody>
                    <a:bodyPr/>
                    <a:lstStyle/>
                    <a:p>
                      <a:r>
                        <a:rPr lang="en-US" sz="1400" dirty="0">
                          <a:latin typeface="Arial" panose="020B0604020202020204" pitchFamily="34" charset="0"/>
                          <a:cs typeface="Arial" panose="020B0604020202020204" pitchFamily="34" charset="0"/>
                        </a:rPr>
                        <a:t>Entry</a:t>
                      </a:r>
                    </a:p>
                  </a:txBody>
                  <a:tcPr/>
                </a:tc>
                <a:tc>
                  <a:txBody>
                    <a:bodyPr/>
                    <a:lstStyle/>
                    <a:p>
                      <a:r>
                        <a:rPr lang="en-US" sz="1400" dirty="0">
                          <a:latin typeface="Arial" panose="020B0604020202020204" pitchFamily="34" charset="0"/>
                          <a:cs typeface="Arial" panose="020B0604020202020204" pitchFamily="34" charset="0"/>
                        </a:rPr>
                        <a:t>Field</a:t>
                      </a:r>
                    </a:p>
                  </a:txBody>
                  <a:tcPr/>
                </a:tc>
                <a:extLst>
                  <a:ext uri="{0D108BD9-81ED-4DB2-BD59-A6C34878D82A}">
                    <a16:rowId xmlns:a16="http://schemas.microsoft.com/office/drawing/2014/main" val="3314082731"/>
                  </a:ext>
                </a:extLst>
              </a:tr>
              <a:tr h="148079">
                <a:tc>
                  <a:txBody>
                    <a:bodyPr/>
                    <a:lstStyle/>
                    <a:p>
                      <a:r>
                        <a:rPr lang="en-US" sz="1400" dirty="0">
                          <a:latin typeface="Arial" panose="020B0604020202020204" pitchFamily="34" charset="0"/>
                          <a:cs typeface="Arial" panose="020B0604020202020204" pitchFamily="34" charset="0"/>
                        </a:rPr>
                        <a:t>#1</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1</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54683842"/>
                  </a:ext>
                </a:extLst>
              </a:tr>
              <a:tr h="148079">
                <a:tc>
                  <a:txBody>
                    <a:bodyPr/>
                    <a:lstStyle/>
                    <a:p>
                      <a:r>
                        <a:rPr lang="en-US" sz="1400" dirty="0">
                          <a:latin typeface="Arial" panose="020B0604020202020204" pitchFamily="34" charset="0"/>
                          <a:cs typeface="Arial" panose="020B0604020202020204" pitchFamily="34" charset="0"/>
                        </a:rPr>
                        <a:t>#2</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30771305"/>
                  </a:ext>
                </a:extLst>
              </a:tr>
              <a:tr h="148079">
                <a:tc>
                  <a:txBody>
                    <a:bodyPr/>
                    <a:lstStyle/>
                    <a:p>
                      <a:r>
                        <a:rPr lang="en-US" sz="1400" dirty="0">
                          <a:latin typeface="Arial" panose="020B0604020202020204" pitchFamily="34" charset="0"/>
                          <a:cs typeface="Arial" panose="020B0604020202020204" pitchFamily="34" charset="0"/>
                        </a:rPr>
                        <a:t>#3</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36245918"/>
                  </a:ext>
                </a:extLst>
              </a:tr>
              <a:tr h="148079">
                <a:tc>
                  <a:txBody>
                    <a:bodyPr/>
                    <a:lstStyle/>
                    <a:p>
                      <a:r>
                        <a:rPr lang="en-US" sz="1400" dirty="0">
                          <a:latin typeface="Arial" panose="020B0604020202020204" pitchFamily="34" charset="0"/>
                          <a:cs typeface="Arial" panose="020B0604020202020204" pitchFamily="34" charset="0"/>
                        </a:rPr>
                        <a:t>#4</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4</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68699899"/>
                  </a:ext>
                </a:extLst>
              </a:tr>
              <a:tr h="148079">
                <a:tc>
                  <a:txBody>
                    <a:bodyPr/>
                    <a:lstStyle/>
                    <a:p>
                      <a:r>
                        <a:rPr lang="en-US" sz="1400" dirty="0">
                          <a:latin typeface="Arial" panose="020B0604020202020204" pitchFamily="34" charset="0"/>
                          <a:cs typeface="Arial" panose="020B0604020202020204" pitchFamily="34" charset="0"/>
                        </a:rPr>
                        <a:t>#5</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5</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7405726"/>
                  </a:ext>
                </a:extLst>
              </a:tr>
              <a:tr h="148079">
                <a:tc>
                  <a:txBody>
                    <a:bodyPr/>
                    <a:lstStyle/>
                    <a:p>
                      <a:r>
                        <a:rPr lang="en-US" sz="1400" dirty="0">
                          <a:latin typeface="Arial" panose="020B0604020202020204" pitchFamily="34" charset="0"/>
                          <a:cs typeface="Arial" panose="020B0604020202020204" pitchFamily="34" charset="0"/>
                        </a:rPr>
                        <a:t>#6</a:t>
                      </a:r>
                    </a:p>
                  </a:txBody>
                  <a:tcPr/>
                </a:tc>
                <a:tc>
                  <a:txBody>
                    <a:bodyPr/>
                    <a:lstStyle/>
                    <a:p>
                      <a:r>
                        <a:rPr lang="en-US" sz="1400" dirty="0"/>
                        <a:t>Data</a:t>
                      </a:r>
                      <a:r>
                        <a:rPr lang="en-US" sz="1400" baseline="-25000" dirty="0"/>
                        <a:t>6</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87576299"/>
                  </a:ext>
                </a:extLst>
              </a:tr>
              <a:tr h="148079">
                <a:tc>
                  <a:txBody>
                    <a:bodyPr/>
                    <a:lstStyle/>
                    <a:p>
                      <a:r>
                        <a:rPr lang="en-US" sz="1400" dirty="0">
                          <a:latin typeface="Arial" panose="020B0604020202020204" pitchFamily="34" charset="0"/>
                          <a:cs typeface="Arial" panose="020B0604020202020204" pitchFamily="34" charset="0"/>
                        </a:rPr>
                        <a:t>#7</a:t>
                      </a:r>
                    </a:p>
                  </a:txBody>
                  <a:tcPr/>
                </a:tc>
                <a:tc>
                  <a:txBody>
                    <a:bodyPr/>
                    <a:lstStyle/>
                    <a:p>
                      <a:r>
                        <a:rPr lang="en-US" sz="1400" dirty="0"/>
                        <a:t>Data</a:t>
                      </a:r>
                      <a:r>
                        <a:rPr lang="en-US" sz="1400" baseline="-25000" dirty="0"/>
                        <a:t>7</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31876459"/>
                  </a:ext>
                </a:extLst>
              </a:tr>
              <a:tr h="148079">
                <a:tc>
                  <a:txBody>
                    <a:bodyPr/>
                    <a:lstStyle/>
                    <a:p>
                      <a:r>
                        <a:rPr lang="en-US" sz="1400" dirty="0">
                          <a:latin typeface="Arial" panose="020B0604020202020204" pitchFamily="34" charset="0"/>
                          <a:cs typeface="Arial" panose="020B0604020202020204" pitchFamily="34" charset="0"/>
                        </a:rPr>
                        <a:t>#8</a:t>
                      </a:r>
                    </a:p>
                  </a:txBody>
                  <a:tcPr/>
                </a:tc>
                <a:tc>
                  <a:txBody>
                    <a:bodyPr/>
                    <a:lstStyle/>
                    <a:p>
                      <a:r>
                        <a:rPr lang="en-US" sz="1400" dirty="0"/>
                        <a:t>Data</a:t>
                      </a:r>
                      <a:r>
                        <a:rPr lang="en-US" sz="1400" baseline="-25000" dirty="0"/>
                        <a:t>8</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24627070"/>
                  </a:ext>
                </a:extLst>
              </a:tr>
              <a:tr h="148079">
                <a:tc>
                  <a:txBody>
                    <a:bodyPr/>
                    <a:lstStyle/>
                    <a:p>
                      <a:r>
                        <a:rPr lang="en-US" sz="1400" dirty="0">
                          <a:latin typeface="Arial" panose="020B0604020202020204" pitchFamily="34" charset="0"/>
                          <a:cs typeface="Arial" panose="020B0604020202020204" pitchFamily="34" charset="0"/>
                        </a:rPr>
                        <a:t>…</a:t>
                      </a: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30647228"/>
                  </a:ext>
                </a:extLst>
              </a:tr>
              <a:tr h="148079">
                <a:tc>
                  <a:txBody>
                    <a:bodyPr/>
                    <a:lstStyle/>
                    <a:p>
                      <a:r>
                        <a:rPr lang="en-US" sz="1400" dirty="0">
                          <a:latin typeface="Arial" panose="020B0604020202020204" pitchFamily="34" charset="0"/>
                          <a:cs typeface="Arial" panose="020B0604020202020204" pitchFamily="34" charset="0"/>
                        </a:rPr>
                        <a:t>#n</a:t>
                      </a:r>
                    </a:p>
                  </a:txBody>
                  <a:tcPr/>
                </a:tc>
                <a:tc>
                  <a:txBody>
                    <a:bodyPr/>
                    <a:lstStyle/>
                    <a:p>
                      <a:r>
                        <a:rPr lang="en-US" sz="1400" dirty="0" err="1"/>
                        <a:t>Data</a:t>
                      </a:r>
                      <a:r>
                        <a:rPr lang="en-US" sz="1400" baseline="-25000" dirty="0" err="1"/>
                        <a:t>n</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54700029"/>
                  </a:ext>
                </a:extLst>
              </a:tr>
            </a:tbl>
          </a:graphicData>
        </a:graphic>
      </p:graphicFrame>
      <p:sp>
        <p:nvSpPr>
          <p:cNvPr id="6" name="Right Brace 5">
            <a:extLst>
              <a:ext uri="{FF2B5EF4-FFF2-40B4-BE49-F238E27FC236}">
                <a16:creationId xmlns:a16="http://schemas.microsoft.com/office/drawing/2014/main" id="{AF1ACC7B-6D41-38B3-E8A4-CD0AF1D3B635}"/>
              </a:ext>
            </a:extLst>
          </p:cNvPr>
          <p:cNvSpPr/>
          <p:nvPr/>
        </p:nvSpPr>
        <p:spPr>
          <a:xfrm>
            <a:off x="4173654" y="3124201"/>
            <a:ext cx="304800" cy="1371599"/>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9BDA7D41-CBD5-C2D7-7696-25308C0EB76F}"/>
              </a:ext>
            </a:extLst>
          </p:cNvPr>
          <p:cNvSpPr/>
          <p:nvPr/>
        </p:nvSpPr>
        <p:spPr>
          <a:xfrm>
            <a:off x="4173654" y="4618736"/>
            <a:ext cx="304800" cy="71526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8" name="Right Brace 7">
            <a:extLst>
              <a:ext uri="{FF2B5EF4-FFF2-40B4-BE49-F238E27FC236}">
                <a16:creationId xmlns:a16="http://schemas.microsoft.com/office/drawing/2014/main" id="{3A10D02F-2422-83E1-527E-4CC9050CA112}"/>
              </a:ext>
            </a:extLst>
          </p:cNvPr>
          <p:cNvSpPr/>
          <p:nvPr/>
        </p:nvSpPr>
        <p:spPr>
          <a:xfrm>
            <a:off x="4173654" y="5419344"/>
            <a:ext cx="304800" cy="71526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9" name="Callout: Left Arrow 8">
            <a:extLst>
              <a:ext uri="{FF2B5EF4-FFF2-40B4-BE49-F238E27FC236}">
                <a16:creationId xmlns:a16="http://schemas.microsoft.com/office/drawing/2014/main" id="{1D143187-7AAB-6276-A89A-4523269F13CB}"/>
              </a:ext>
            </a:extLst>
          </p:cNvPr>
          <p:cNvSpPr/>
          <p:nvPr/>
        </p:nvSpPr>
        <p:spPr>
          <a:xfrm>
            <a:off x="4575589" y="3543300"/>
            <a:ext cx="2738023" cy="533400"/>
          </a:xfrm>
          <a:prstGeom prst="leftArrowCallout">
            <a:avLst>
              <a:gd name="adj1" fmla="val 25000"/>
              <a:gd name="adj2" fmla="val 25000"/>
              <a:gd name="adj3" fmla="val 25000"/>
              <a:gd name="adj4" fmla="val 8823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Training data set</a:t>
            </a:r>
            <a:endParaRPr lang="en-US" b="1" dirty="0"/>
          </a:p>
        </p:txBody>
      </p:sp>
      <p:sp>
        <p:nvSpPr>
          <p:cNvPr id="10" name="Callout: Left Arrow 9">
            <a:extLst>
              <a:ext uri="{FF2B5EF4-FFF2-40B4-BE49-F238E27FC236}">
                <a16:creationId xmlns:a16="http://schemas.microsoft.com/office/drawing/2014/main" id="{2B2AFB30-A0A9-4CAD-EBAE-CE49547DE27B}"/>
              </a:ext>
            </a:extLst>
          </p:cNvPr>
          <p:cNvSpPr/>
          <p:nvPr/>
        </p:nvSpPr>
        <p:spPr>
          <a:xfrm>
            <a:off x="4575589" y="4709668"/>
            <a:ext cx="2738023" cy="533400"/>
          </a:xfrm>
          <a:prstGeom prst="leftArrowCallout">
            <a:avLst>
              <a:gd name="adj1" fmla="val 25000"/>
              <a:gd name="adj2" fmla="val 25000"/>
              <a:gd name="adj3" fmla="val 25000"/>
              <a:gd name="adj4" fmla="val 8907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Validation data set</a:t>
            </a:r>
            <a:endParaRPr lang="en-US" b="1" dirty="0"/>
          </a:p>
        </p:txBody>
      </p:sp>
      <p:sp>
        <p:nvSpPr>
          <p:cNvPr id="11" name="Callout: Left Arrow 10">
            <a:extLst>
              <a:ext uri="{FF2B5EF4-FFF2-40B4-BE49-F238E27FC236}">
                <a16:creationId xmlns:a16="http://schemas.microsoft.com/office/drawing/2014/main" id="{80BADBE0-38D2-FCA7-9604-8E3BB3025DAB}"/>
              </a:ext>
            </a:extLst>
          </p:cNvPr>
          <p:cNvSpPr/>
          <p:nvPr/>
        </p:nvSpPr>
        <p:spPr>
          <a:xfrm>
            <a:off x="4575589" y="5500568"/>
            <a:ext cx="2738023" cy="533400"/>
          </a:xfrm>
          <a:prstGeom prst="leftArrowCallout">
            <a:avLst>
              <a:gd name="adj1" fmla="val 25000"/>
              <a:gd name="adj2" fmla="val 25000"/>
              <a:gd name="adj3" fmla="val 25000"/>
              <a:gd name="adj4" fmla="val 8974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Test data set</a:t>
            </a:r>
            <a:endParaRPr lang="en-US" b="1" dirty="0"/>
          </a:p>
        </p:txBody>
      </p:sp>
      <p:sp>
        <p:nvSpPr>
          <p:cNvPr id="5" name="Right Brace 4">
            <a:extLst>
              <a:ext uri="{FF2B5EF4-FFF2-40B4-BE49-F238E27FC236}">
                <a16:creationId xmlns:a16="http://schemas.microsoft.com/office/drawing/2014/main" id="{98C92880-63A0-B3CA-4739-26215BC4A4C5}"/>
              </a:ext>
            </a:extLst>
          </p:cNvPr>
          <p:cNvSpPr/>
          <p:nvPr/>
        </p:nvSpPr>
        <p:spPr>
          <a:xfrm>
            <a:off x="7313612" y="3338069"/>
            <a:ext cx="304800" cy="2796539"/>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2888E38B-4285-B526-EF3C-284CD334463D}"/>
              </a:ext>
            </a:extLst>
          </p:cNvPr>
          <p:cNvSpPr/>
          <p:nvPr/>
        </p:nvSpPr>
        <p:spPr>
          <a:xfrm>
            <a:off x="7770812" y="3338069"/>
            <a:ext cx="3886200" cy="2804667"/>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The </a:t>
            </a:r>
            <a:r>
              <a:rPr lang="en-US" sz="1600" b="1" dirty="0">
                <a:solidFill>
                  <a:schemeClr val="tx1"/>
                </a:solidFill>
                <a:latin typeface="Arial" panose="020B0604020202020204" pitchFamily="34" charset="0"/>
                <a:cs typeface="Arial" panose="020B0604020202020204" pitchFamily="34" charset="0"/>
              </a:rPr>
              <a:t>validation data set</a:t>
            </a:r>
            <a:r>
              <a:rPr lang="en-US" sz="1600" dirty="0">
                <a:solidFill>
                  <a:schemeClr val="tx1"/>
                </a:solidFill>
                <a:latin typeface="Arial" panose="020B0604020202020204" pitchFamily="34" charset="0"/>
                <a:cs typeface="Arial" panose="020B0604020202020204" pitchFamily="34" charset="0"/>
              </a:rPr>
              <a:t> is </a:t>
            </a:r>
            <a:r>
              <a:rPr lang="en-US" sz="1600" b="1" dirty="0">
                <a:solidFill>
                  <a:schemeClr val="tx1"/>
                </a:solidFill>
                <a:latin typeface="Arial" panose="020B0604020202020204" pitchFamily="34" charset="0"/>
                <a:cs typeface="Arial" panose="020B0604020202020204" pitchFamily="34" charset="0"/>
              </a:rPr>
              <a:t>OPTIONAL</a:t>
            </a:r>
            <a:r>
              <a:rPr lang="en-US" sz="1600" dirty="0">
                <a:solidFill>
                  <a:schemeClr val="tx1"/>
                </a:solidFill>
                <a:latin typeface="Arial" panose="020B0604020202020204" pitchFamily="34" charset="0"/>
                <a:cs typeface="Arial" panose="020B0604020202020204" pitchFamily="34" charset="0"/>
              </a:rPr>
              <a:t> </a:t>
            </a:r>
            <a:br>
              <a:rPr lang="en-US" sz="1600" dirty="0">
                <a:solidFill>
                  <a:schemeClr val="tx1"/>
                </a:solidFill>
                <a:latin typeface="Arial" panose="020B0604020202020204" pitchFamily="34" charset="0"/>
                <a:cs typeface="Arial" panose="020B0604020202020204" pitchFamily="34" charset="0"/>
              </a:rPr>
            </a:br>
            <a:r>
              <a:rPr lang="en-US" sz="1600" dirty="0">
                <a:solidFill>
                  <a:schemeClr val="tx1"/>
                </a:solidFill>
                <a:latin typeface="Arial" panose="020B0604020202020204" pitchFamily="34" charset="0"/>
                <a:cs typeface="Arial" panose="020B0604020202020204" pitchFamily="34" charset="0"/>
              </a:rPr>
              <a:t>Some percentages commonly used:</a:t>
            </a:r>
          </a:p>
          <a:p>
            <a:pPr marL="285750" indent="-285750">
              <a:buFont typeface="Arial" panose="020B0604020202020204" pitchFamily="34" charset="0"/>
              <a:buChar char="•"/>
            </a:pPr>
            <a:r>
              <a:rPr lang="en-US" sz="1600" b="1" dirty="0">
                <a:solidFill>
                  <a:schemeClr val="tx1"/>
                </a:solidFill>
                <a:latin typeface="Arial" panose="020B0604020202020204" pitchFamily="34" charset="0"/>
                <a:cs typeface="Arial" panose="020B0604020202020204" pitchFamily="34" charset="0"/>
              </a:rPr>
              <a:t>60/20/20</a:t>
            </a:r>
            <a:r>
              <a:rPr lang="en-US" sz="1600" dirty="0">
                <a:solidFill>
                  <a:schemeClr val="tx1"/>
                </a:solidFill>
                <a:latin typeface="Arial" panose="020B0604020202020204" pitchFamily="34" charset="0"/>
                <a:cs typeface="Arial" panose="020B0604020202020204" pitchFamily="34" charset="0"/>
              </a:rPr>
              <a:t> (60% training, 20% validation, 20% testing)</a:t>
            </a:r>
          </a:p>
          <a:p>
            <a:pPr marL="285750" indent="-285750">
              <a:buFont typeface="Arial" panose="020B0604020202020204" pitchFamily="34" charset="0"/>
              <a:buChar char="•"/>
            </a:pPr>
            <a:r>
              <a:rPr lang="en-US" sz="1600" b="1" dirty="0">
                <a:solidFill>
                  <a:schemeClr val="tx1"/>
                </a:solidFill>
                <a:latin typeface="Arial" panose="020B0604020202020204" pitchFamily="34" charset="0"/>
                <a:cs typeface="Arial" panose="020B0604020202020204" pitchFamily="34" charset="0"/>
              </a:rPr>
              <a:t>70/15/15</a:t>
            </a:r>
            <a:r>
              <a:rPr lang="en-US" sz="1600" dirty="0">
                <a:solidFill>
                  <a:schemeClr val="tx1"/>
                </a:solidFill>
                <a:latin typeface="Arial" panose="020B0604020202020204" pitchFamily="34" charset="0"/>
                <a:cs typeface="Arial" panose="020B0604020202020204" pitchFamily="34" charset="0"/>
              </a:rPr>
              <a:t> (70% training, 15% validation, 15% testing)</a:t>
            </a:r>
          </a:p>
          <a:p>
            <a:pPr marL="285750" indent="-285750">
              <a:buFont typeface="Arial" panose="020B0604020202020204" pitchFamily="34" charset="0"/>
              <a:buChar char="•"/>
            </a:pPr>
            <a:r>
              <a:rPr lang="en-US" sz="1600" b="1" dirty="0">
                <a:solidFill>
                  <a:schemeClr val="tx1"/>
                </a:solidFill>
                <a:latin typeface="Arial" panose="020B0604020202020204" pitchFamily="34" charset="0"/>
                <a:cs typeface="Arial" panose="020B0604020202020204" pitchFamily="34" charset="0"/>
              </a:rPr>
              <a:t>80/10/10</a:t>
            </a:r>
            <a:r>
              <a:rPr lang="en-US" sz="1600" dirty="0">
                <a:solidFill>
                  <a:schemeClr val="tx1"/>
                </a:solidFill>
                <a:latin typeface="Arial" panose="020B0604020202020204" pitchFamily="34" charset="0"/>
                <a:cs typeface="Arial" panose="020B0604020202020204" pitchFamily="34" charset="0"/>
              </a:rPr>
              <a:t> (80% training, 10% validation, 10% testing)</a:t>
            </a:r>
          </a:p>
        </p:txBody>
      </p:sp>
    </p:spTree>
    <p:extLst>
      <p:ext uri="{BB962C8B-B14F-4D97-AF65-F5344CB8AC3E}">
        <p14:creationId xmlns:p14="http://schemas.microsoft.com/office/powerpoint/2010/main" val="1000763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dirty="0">
                <a:latin typeface="Arial" panose="020B0604020202020204" pitchFamily="34" charset="0"/>
                <a:cs typeface="Arial" panose="020B0604020202020204" pitchFamily="34" charset="0"/>
              </a:rPr>
              <a:t>First – lets see how we can split a database: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D5F57982-12C5-F75E-9043-14A4D2F5D914}"/>
              </a:ext>
            </a:extLst>
          </p:cNvPr>
          <p:cNvGraphicFramePr>
            <a:graphicFrameLocks noGrp="1"/>
          </p:cNvGraphicFramePr>
          <p:nvPr/>
        </p:nvGraphicFramePr>
        <p:xfrm>
          <a:off x="1674812" y="2789936"/>
          <a:ext cx="2386542" cy="3352800"/>
        </p:xfrm>
        <a:graphic>
          <a:graphicData uri="http://schemas.openxmlformats.org/drawingml/2006/table">
            <a:tbl>
              <a:tblPr firstRow="1" bandRow="1">
                <a:tableStyleId>{073A0DAA-6AF3-43AB-8588-CEC1D06C72B9}</a:tableStyleId>
              </a:tblPr>
              <a:tblGrid>
                <a:gridCol w="1193271">
                  <a:extLst>
                    <a:ext uri="{9D8B030D-6E8A-4147-A177-3AD203B41FA5}">
                      <a16:colId xmlns:a16="http://schemas.microsoft.com/office/drawing/2014/main" val="971040185"/>
                    </a:ext>
                  </a:extLst>
                </a:gridCol>
                <a:gridCol w="1193271">
                  <a:extLst>
                    <a:ext uri="{9D8B030D-6E8A-4147-A177-3AD203B41FA5}">
                      <a16:colId xmlns:a16="http://schemas.microsoft.com/office/drawing/2014/main" val="556841160"/>
                    </a:ext>
                  </a:extLst>
                </a:gridCol>
              </a:tblGrid>
              <a:tr h="148079">
                <a:tc>
                  <a:txBody>
                    <a:bodyPr/>
                    <a:lstStyle/>
                    <a:p>
                      <a:r>
                        <a:rPr lang="en-US" sz="1400" dirty="0">
                          <a:latin typeface="Arial" panose="020B0604020202020204" pitchFamily="34" charset="0"/>
                          <a:cs typeface="Arial" panose="020B0604020202020204" pitchFamily="34" charset="0"/>
                        </a:rPr>
                        <a:t>Entry</a:t>
                      </a:r>
                    </a:p>
                  </a:txBody>
                  <a:tcPr/>
                </a:tc>
                <a:tc>
                  <a:txBody>
                    <a:bodyPr/>
                    <a:lstStyle/>
                    <a:p>
                      <a:r>
                        <a:rPr lang="en-US" sz="1400" dirty="0">
                          <a:latin typeface="Arial" panose="020B0604020202020204" pitchFamily="34" charset="0"/>
                          <a:cs typeface="Arial" panose="020B0604020202020204" pitchFamily="34" charset="0"/>
                        </a:rPr>
                        <a:t>Field</a:t>
                      </a:r>
                    </a:p>
                  </a:txBody>
                  <a:tcPr/>
                </a:tc>
                <a:extLst>
                  <a:ext uri="{0D108BD9-81ED-4DB2-BD59-A6C34878D82A}">
                    <a16:rowId xmlns:a16="http://schemas.microsoft.com/office/drawing/2014/main" val="3314082731"/>
                  </a:ext>
                </a:extLst>
              </a:tr>
              <a:tr h="148079">
                <a:tc>
                  <a:txBody>
                    <a:bodyPr/>
                    <a:lstStyle/>
                    <a:p>
                      <a:r>
                        <a:rPr lang="en-US" sz="1400" dirty="0">
                          <a:latin typeface="Arial" panose="020B0604020202020204" pitchFamily="34" charset="0"/>
                          <a:cs typeface="Arial" panose="020B0604020202020204" pitchFamily="34" charset="0"/>
                        </a:rPr>
                        <a:t>#1</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1</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54683842"/>
                  </a:ext>
                </a:extLst>
              </a:tr>
              <a:tr h="148079">
                <a:tc>
                  <a:txBody>
                    <a:bodyPr/>
                    <a:lstStyle/>
                    <a:p>
                      <a:r>
                        <a:rPr lang="en-US" sz="1400" dirty="0">
                          <a:latin typeface="Arial" panose="020B0604020202020204" pitchFamily="34" charset="0"/>
                          <a:cs typeface="Arial" panose="020B0604020202020204" pitchFamily="34" charset="0"/>
                        </a:rPr>
                        <a:t>#2</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30771305"/>
                  </a:ext>
                </a:extLst>
              </a:tr>
              <a:tr h="148079">
                <a:tc>
                  <a:txBody>
                    <a:bodyPr/>
                    <a:lstStyle/>
                    <a:p>
                      <a:r>
                        <a:rPr lang="en-US" sz="1400" dirty="0">
                          <a:latin typeface="Arial" panose="020B0604020202020204" pitchFamily="34" charset="0"/>
                          <a:cs typeface="Arial" panose="020B0604020202020204" pitchFamily="34" charset="0"/>
                        </a:rPr>
                        <a:t>#3</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36245918"/>
                  </a:ext>
                </a:extLst>
              </a:tr>
              <a:tr h="148079">
                <a:tc>
                  <a:txBody>
                    <a:bodyPr/>
                    <a:lstStyle/>
                    <a:p>
                      <a:r>
                        <a:rPr lang="en-US" sz="1400" dirty="0">
                          <a:latin typeface="Arial" panose="020B0604020202020204" pitchFamily="34" charset="0"/>
                          <a:cs typeface="Arial" panose="020B0604020202020204" pitchFamily="34" charset="0"/>
                        </a:rPr>
                        <a:t>#4</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4</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68699899"/>
                  </a:ext>
                </a:extLst>
              </a:tr>
              <a:tr h="148079">
                <a:tc>
                  <a:txBody>
                    <a:bodyPr/>
                    <a:lstStyle/>
                    <a:p>
                      <a:r>
                        <a:rPr lang="en-US" sz="1400" dirty="0">
                          <a:latin typeface="Arial" panose="020B0604020202020204" pitchFamily="34" charset="0"/>
                          <a:cs typeface="Arial" panose="020B0604020202020204" pitchFamily="34" charset="0"/>
                        </a:rPr>
                        <a:t>#5</a:t>
                      </a:r>
                    </a:p>
                  </a:txBody>
                  <a:tcPr/>
                </a:tc>
                <a:tc>
                  <a:txBody>
                    <a:bodyPr/>
                    <a:lstStyle/>
                    <a:p>
                      <a:r>
                        <a:rPr lang="en-US" sz="1400" dirty="0">
                          <a:latin typeface="Arial" panose="020B0604020202020204" pitchFamily="34" charset="0"/>
                          <a:cs typeface="Arial" panose="020B0604020202020204" pitchFamily="34" charset="0"/>
                        </a:rPr>
                        <a:t>Data</a:t>
                      </a:r>
                      <a:r>
                        <a:rPr lang="en-US" sz="1400" baseline="-25000" dirty="0">
                          <a:latin typeface="Arial" panose="020B0604020202020204" pitchFamily="34" charset="0"/>
                          <a:cs typeface="Arial" panose="020B0604020202020204" pitchFamily="34" charset="0"/>
                        </a:rPr>
                        <a:t>5</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7405726"/>
                  </a:ext>
                </a:extLst>
              </a:tr>
              <a:tr h="148079">
                <a:tc>
                  <a:txBody>
                    <a:bodyPr/>
                    <a:lstStyle/>
                    <a:p>
                      <a:r>
                        <a:rPr lang="en-US" sz="1400" dirty="0">
                          <a:latin typeface="Arial" panose="020B0604020202020204" pitchFamily="34" charset="0"/>
                          <a:cs typeface="Arial" panose="020B0604020202020204" pitchFamily="34" charset="0"/>
                        </a:rPr>
                        <a:t>#6</a:t>
                      </a:r>
                    </a:p>
                  </a:txBody>
                  <a:tcPr/>
                </a:tc>
                <a:tc>
                  <a:txBody>
                    <a:bodyPr/>
                    <a:lstStyle/>
                    <a:p>
                      <a:r>
                        <a:rPr lang="en-US" sz="1400" dirty="0"/>
                        <a:t>Data</a:t>
                      </a:r>
                      <a:r>
                        <a:rPr lang="en-US" sz="1400" baseline="-25000" dirty="0"/>
                        <a:t>6</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87576299"/>
                  </a:ext>
                </a:extLst>
              </a:tr>
              <a:tr h="148079">
                <a:tc>
                  <a:txBody>
                    <a:bodyPr/>
                    <a:lstStyle/>
                    <a:p>
                      <a:r>
                        <a:rPr lang="en-US" sz="1400" dirty="0">
                          <a:latin typeface="Arial" panose="020B0604020202020204" pitchFamily="34" charset="0"/>
                          <a:cs typeface="Arial" panose="020B0604020202020204" pitchFamily="34" charset="0"/>
                        </a:rPr>
                        <a:t>#7</a:t>
                      </a:r>
                    </a:p>
                  </a:txBody>
                  <a:tcPr/>
                </a:tc>
                <a:tc>
                  <a:txBody>
                    <a:bodyPr/>
                    <a:lstStyle/>
                    <a:p>
                      <a:r>
                        <a:rPr lang="en-US" sz="1400" dirty="0"/>
                        <a:t>Data</a:t>
                      </a:r>
                      <a:r>
                        <a:rPr lang="en-US" sz="1400" baseline="-25000" dirty="0"/>
                        <a:t>7</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31876459"/>
                  </a:ext>
                </a:extLst>
              </a:tr>
              <a:tr h="148079">
                <a:tc>
                  <a:txBody>
                    <a:bodyPr/>
                    <a:lstStyle/>
                    <a:p>
                      <a:r>
                        <a:rPr lang="en-US" sz="1400" dirty="0">
                          <a:latin typeface="Arial" panose="020B0604020202020204" pitchFamily="34" charset="0"/>
                          <a:cs typeface="Arial" panose="020B0604020202020204" pitchFamily="34" charset="0"/>
                        </a:rPr>
                        <a:t>#8</a:t>
                      </a:r>
                    </a:p>
                  </a:txBody>
                  <a:tcPr/>
                </a:tc>
                <a:tc>
                  <a:txBody>
                    <a:bodyPr/>
                    <a:lstStyle/>
                    <a:p>
                      <a:r>
                        <a:rPr lang="en-US" sz="1400" dirty="0"/>
                        <a:t>Data</a:t>
                      </a:r>
                      <a:r>
                        <a:rPr lang="en-US" sz="1400" baseline="-25000" dirty="0"/>
                        <a:t>8</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24627070"/>
                  </a:ext>
                </a:extLst>
              </a:tr>
              <a:tr h="148079">
                <a:tc>
                  <a:txBody>
                    <a:bodyPr/>
                    <a:lstStyle/>
                    <a:p>
                      <a:r>
                        <a:rPr lang="en-US" sz="1400" dirty="0">
                          <a:latin typeface="Arial" panose="020B0604020202020204" pitchFamily="34" charset="0"/>
                          <a:cs typeface="Arial" panose="020B0604020202020204" pitchFamily="34" charset="0"/>
                        </a:rPr>
                        <a:t>…</a:t>
                      </a: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30647228"/>
                  </a:ext>
                </a:extLst>
              </a:tr>
              <a:tr h="148079">
                <a:tc>
                  <a:txBody>
                    <a:bodyPr/>
                    <a:lstStyle/>
                    <a:p>
                      <a:r>
                        <a:rPr lang="en-US" sz="1400" dirty="0">
                          <a:latin typeface="Arial" panose="020B0604020202020204" pitchFamily="34" charset="0"/>
                          <a:cs typeface="Arial" panose="020B0604020202020204" pitchFamily="34" charset="0"/>
                        </a:rPr>
                        <a:t>#n</a:t>
                      </a:r>
                    </a:p>
                  </a:txBody>
                  <a:tcPr/>
                </a:tc>
                <a:tc>
                  <a:txBody>
                    <a:bodyPr/>
                    <a:lstStyle/>
                    <a:p>
                      <a:r>
                        <a:rPr lang="en-US" sz="1400" dirty="0" err="1"/>
                        <a:t>Data</a:t>
                      </a:r>
                      <a:r>
                        <a:rPr lang="en-US" sz="1400" baseline="-25000" dirty="0" err="1"/>
                        <a:t>n</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54700029"/>
                  </a:ext>
                </a:extLst>
              </a:tr>
            </a:tbl>
          </a:graphicData>
        </a:graphic>
      </p:graphicFrame>
      <p:sp>
        <p:nvSpPr>
          <p:cNvPr id="6" name="Right Brace 5">
            <a:extLst>
              <a:ext uri="{FF2B5EF4-FFF2-40B4-BE49-F238E27FC236}">
                <a16:creationId xmlns:a16="http://schemas.microsoft.com/office/drawing/2014/main" id="{AF1ACC7B-6D41-38B3-E8A4-CD0AF1D3B635}"/>
              </a:ext>
            </a:extLst>
          </p:cNvPr>
          <p:cNvSpPr/>
          <p:nvPr/>
        </p:nvSpPr>
        <p:spPr>
          <a:xfrm>
            <a:off x="4173654" y="3124201"/>
            <a:ext cx="304800" cy="1371599"/>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9BDA7D41-CBD5-C2D7-7696-25308C0EB76F}"/>
              </a:ext>
            </a:extLst>
          </p:cNvPr>
          <p:cNvSpPr/>
          <p:nvPr/>
        </p:nvSpPr>
        <p:spPr>
          <a:xfrm>
            <a:off x="4173654" y="4618736"/>
            <a:ext cx="304800" cy="71526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8" name="Right Brace 7">
            <a:extLst>
              <a:ext uri="{FF2B5EF4-FFF2-40B4-BE49-F238E27FC236}">
                <a16:creationId xmlns:a16="http://schemas.microsoft.com/office/drawing/2014/main" id="{3A10D02F-2422-83E1-527E-4CC9050CA112}"/>
              </a:ext>
            </a:extLst>
          </p:cNvPr>
          <p:cNvSpPr/>
          <p:nvPr/>
        </p:nvSpPr>
        <p:spPr>
          <a:xfrm>
            <a:off x="4173654" y="5419344"/>
            <a:ext cx="304800" cy="71526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9" name="Callout: Left Arrow 8">
            <a:extLst>
              <a:ext uri="{FF2B5EF4-FFF2-40B4-BE49-F238E27FC236}">
                <a16:creationId xmlns:a16="http://schemas.microsoft.com/office/drawing/2014/main" id="{1D143187-7AAB-6276-A89A-4523269F13CB}"/>
              </a:ext>
            </a:extLst>
          </p:cNvPr>
          <p:cNvSpPr/>
          <p:nvPr/>
        </p:nvSpPr>
        <p:spPr>
          <a:xfrm>
            <a:off x="4575589" y="3543300"/>
            <a:ext cx="2738023" cy="533400"/>
          </a:xfrm>
          <a:prstGeom prst="leftArrowCallout">
            <a:avLst>
              <a:gd name="adj1" fmla="val 25000"/>
              <a:gd name="adj2" fmla="val 25000"/>
              <a:gd name="adj3" fmla="val 25000"/>
              <a:gd name="adj4" fmla="val 8823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Training data set</a:t>
            </a:r>
            <a:endParaRPr lang="en-US" b="1" dirty="0"/>
          </a:p>
        </p:txBody>
      </p:sp>
      <p:sp>
        <p:nvSpPr>
          <p:cNvPr id="10" name="Callout: Left Arrow 9">
            <a:extLst>
              <a:ext uri="{FF2B5EF4-FFF2-40B4-BE49-F238E27FC236}">
                <a16:creationId xmlns:a16="http://schemas.microsoft.com/office/drawing/2014/main" id="{2B2AFB30-A0A9-4CAD-EBAE-CE49547DE27B}"/>
              </a:ext>
            </a:extLst>
          </p:cNvPr>
          <p:cNvSpPr/>
          <p:nvPr/>
        </p:nvSpPr>
        <p:spPr>
          <a:xfrm>
            <a:off x="4575589" y="4709668"/>
            <a:ext cx="2738023" cy="533400"/>
          </a:xfrm>
          <a:prstGeom prst="leftArrowCallout">
            <a:avLst>
              <a:gd name="adj1" fmla="val 25000"/>
              <a:gd name="adj2" fmla="val 25000"/>
              <a:gd name="adj3" fmla="val 25000"/>
              <a:gd name="adj4" fmla="val 8907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Validation data set</a:t>
            </a:r>
            <a:endParaRPr lang="en-US" b="1" dirty="0"/>
          </a:p>
        </p:txBody>
      </p:sp>
      <p:sp>
        <p:nvSpPr>
          <p:cNvPr id="11" name="Callout: Left Arrow 10">
            <a:extLst>
              <a:ext uri="{FF2B5EF4-FFF2-40B4-BE49-F238E27FC236}">
                <a16:creationId xmlns:a16="http://schemas.microsoft.com/office/drawing/2014/main" id="{80BADBE0-38D2-FCA7-9604-8E3BB3025DAB}"/>
              </a:ext>
            </a:extLst>
          </p:cNvPr>
          <p:cNvSpPr/>
          <p:nvPr/>
        </p:nvSpPr>
        <p:spPr>
          <a:xfrm>
            <a:off x="4575589" y="5500568"/>
            <a:ext cx="2738023" cy="533400"/>
          </a:xfrm>
          <a:prstGeom prst="leftArrowCallout">
            <a:avLst>
              <a:gd name="adj1" fmla="val 25000"/>
              <a:gd name="adj2" fmla="val 25000"/>
              <a:gd name="adj3" fmla="val 25000"/>
              <a:gd name="adj4" fmla="val 8974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Test data set</a:t>
            </a:r>
            <a:endParaRPr lang="en-US" b="1" dirty="0"/>
          </a:p>
        </p:txBody>
      </p:sp>
      <p:sp>
        <p:nvSpPr>
          <p:cNvPr id="5" name="Right Brace 4">
            <a:extLst>
              <a:ext uri="{FF2B5EF4-FFF2-40B4-BE49-F238E27FC236}">
                <a16:creationId xmlns:a16="http://schemas.microsoft.com/office/drawing/2014/main" id="{98C92880-63A0-B3CA-4739-26215BC4A4C5}"/>
              </a:ext>
            </a:extLst>
          </p:cNvPr>
          <p:cNvSpPr/>
          <p:nvPr/>
        </p:nvSpPr>
        <p:spPr>
          <a:xfrm>
            <a:off x="7313612" y="3338069"/>
            <a:ext cx="304800" cy="2796539"/>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2888E38B-4285-B526-EF3C-284CD334463D}"/>
              </a:ext>
            </a:extLst>
          </p:cNvPr>
          <p:cNvSpPr/>
          <p:nvPr/>
        </p:nvSpPr>
        <p:spPr>
          <a:xfrm>
            <a:off x="7770812" y="3338069"/>
            <a:ext cx="3886200" cy="2804667"/>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The </a:t>
            </a:r>
            <a:r>
              <a:rPr lang="en-US" sz="1600" b="1" dirty="0">
                <a:solidFill>
                  <a:schemeClr val="tx1"/>
                </a:solidFill>
                <a:latin typeface="Arial" panose="020B0604020202020204" pitchFamily="34" charset="0"/>
                <a:cs typeface="Arial" panose="020B0604020202020204" pitchFamily="34" charset="0"/>
              </a:rPr>
              <a:t>validation</a:t>
            </a:r>
            <a:r>
              <a:rPr lang="en-US" sz="1600" dirty="0">
                <a:solidFill>
                  <a:schemeClr val="tx1"/>
                </a:solidFill>
                <a:latin typeface="Arial" panose="020B0604020202020204" pitchFamily="34" charset="0"/>
                <a:cs typeface="Arial" panose="020B0604020202020204" pitchFamily="34" charset="0"/>
              </a:rPr>
              <a:t> and </a:t>
            </a:r>
            <a:r>
              <a:rPr lang="en-US" sz="1600" b="1" dirty="0">
                <a:solidFill>
                  <a:schemeClr val="tx1"/>
                </a:solidFill>
                <a:latin typeface="Arial" panose="020B0604020202020204" pitchFamily="34" charset="0"/>
                <a:cs typeface="Arial" panose="020B0604020202020204" pitchFamily="34" charset="0"/>
              </a:rPr>
              <a:t>testing</a:t>
            </a:r>
            <a:r>
              <a:rPr lang="en-US" sz="1600" dirty="0">
                <a:solidFill>
                  <a:schemeClr val="tx1"/>
                </a:solidFill>
                <a:latin typeface="Arial" panose="020B0604020202020204" pitchFamily="34" charset="0"/>
                <a:cs typeface="Arial" panose="020B0604020202020204" pitchFamily="34" charset="0"/>
              </a:rPr>
              <a:t> data set don’t have to be equals.</a:t>
            </a:r>
          </a:p>
          <a:p>
            <a:pPr marL="285750" indent="-285750">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If you perform hyper-parameter tuning </a:t>
            </a:r>
            <a:r>
              <a:rPr lang="en-US" sz="1600" dirty="0">
                <a:solidFill>
                  <a:schemeClr val="tx1"/>
                </a:solidFill>
                <a:latin typeface="Arial" panose="020B0604020202020204" pitchFamily="34" charset="0"/>
                <a:cs typeface="Arial" panose="020B0604020202020204" pitchFamily="34" charset="0"/>
                <a:sym typeface="Wingdings" panose="05000000000000000000" pitchFamily="2" charset="2"/>
              </a:rPr>
              <a:t> it is recommended to use a larger validation data set</a:t>
            </a:r>
          </a:p>
          <a:p>
            <a:pPr marL="285750" indent="-285750">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sym typeface="Wingdings" panose="05000000000000000000" pitchFamily="2" charset="2"/>
              </a:rPr>
              <a:t>If you want the result to be more generic, and have a better check and a more reliable result  it is recommended to use a larger test data set.</a:t>
            </a:r>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1895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Another solution on how to split a database is to use a technique called k-fold cross-validation. The idea is to split the entire database into “k” partition, and then use (k-1) partitions for training and the partition that remains for testing. The validation is performed for “k” times (each time using a different partition for testing). </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5" name="Table 11">
            <a:extLst>
              <a:ext uri="{FF2B5EF4-FFF2-40B4-BE49-F238E27FC236}">
                <a16:creationId xmlns:a16="http://schemas.microsoft.com/office/drawing/2014/main" id="{EC17497A-756C-C457-5499-B7A1DB21AE39}"/>
              </a:ext>
            </a:extLst>
          </p:cNvPr>
          <p:cNvGraphicFramePr>
            <a:graphicFrameLocks noGrp="1"/>
          </p:cNvGraphicFramePr>
          <p:nvPr/>
        </p:nvGraphicFramePr>
        <p:xfrm>
          <a:off x="1827212" y="4267200"/>
          <a:ext cx="2209800" cy="2438400"/>
        </p:xfrm>
        <a:graphic>
          <a:graphicData uri="http://schemas.openxmlformats.org/drawingml/2006/table">
            <a:tbl>
              <a:tblPr firstRow="1" bandRow="1">
                <a:tableStyleId>{5940675A-B579-460E-94D1-54222C63F5DA}</a:tableStyleId>
              </a:tblPr>
              <a:tblGrid>
                <a:gridCol w="276225">
                  <a:extLst>
                    <a:ext uri="{9D8B030D-6E8A-4147-A177-3AD203B41FA5}">
                      <a16:colId xmlns:a16="http://schemas.microsoft.com/office/drawing/2014/main" val="576877140"/>
                    </a:ext>
                  </a:extLst>
                </a:gridCol>
                <a:gridCol w="276225">
                  <a:extLst>
                    <a:ext uri="{9D8B030D-6E8A-4147-A177-3AD203B41FA5}">
                      <a16:colId xmlns:a16="http://schemas.microsoft.com/office/drawing/2014/main" val="3226034905"/>
                    </a:ext>
                  </a:extLst>
                </a:gridCol>
                <a:gridCol w="276225">
                  <a:extLst>
                    <a:ext uri="{9D8B030D-6E8A-4147-A177-3AD203B41FA5}">
                      <a16:colId xmlns:a16="http://schemas.microsoft.com/office/drawing/2014/main" val="1149100212"/>
                    </a:ext>
                  </a:extLst>
                </a:gridCol>
                <a:gridCol w="276225">
                  <a:extLst>
                    <a:ext uri="{9D8B030D-6E8A-4147-A177-3AD203B41FA5}">
                      <a16:colId xmlns:a16="http://schemas.microsoft.com/office/drawing/2014/main" val="1291594988"/>
                    </a:ext>
                  </a:extLst>
                </a:gridCol>
                <a:gridCol w="276225">
                  <a:extLst>
                    <a:ext uri="{9D8B030D-6E8A-4147-A177-3AD203B41FA5}">
                      <a16:colId xmlns:a16="http://schemas.microsoft.com/office/drawing/2014/main" val="1828437568"/>
                    </a:ext>
                  </a:extLst>
                </a:gridCol>
                <a:gridCol w="276225">
                  <a:extLst>
                    <a:ext uri="{9D8B030D-6E8A-4147-A177-3AD203B41FA5}">
                      <a16:colId xmlns:a16="http://schemas.microsoft.com/office/drawing/2014/main" val="1685811540"/>
                    </a:ext>
                  </a:extLst>
                </a:gridCol>
                <a:gridCol w="276225">
                  <a:extLst>
                    <a:ext uri="{9D8B030D-6E8A-4147-A177-3AD203B41FA5}">
                      <a16:colId xmlns:a16="http://schemas.microsoft.com/office/drawing/2014/main" val="2503764117"/>
                    </a:ext>
                  </a:extLst>
                </a:gridCol>
                <a:gridCol w="276225">
                  <a:extLst>
                    <a:ext uri="{9D8B030D-6E8A-4147-A177-3AD203B41FA5}">
                      <a16:colId xmlns:a16="http://schemas.microsoft.com/office/drawing/2014/main" val="225631263"/>
                    </a:ext>
                  </a:extLst>
                </a:gridCol>
              </a:tblGrid>
              <a:tr h="223520">
                <a:tc>
                  <a:txBody>
                    <a:bodyPr/>
                    <a:lstStyle/>
                    <a:p>
                      <a:endParaRPr lang="en-US" sz="1400" dirty="0"/>
                    </a:p>
                  </a:txBody>
                  <a:tcPr>
                    <a:solidFill>
                      <a:srgbClr val="FF0000"/>
                    </a:solidFill>
                  </a:tcPr>
                </a:tc>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189785929"/>
                  </a:ext>
                </a:extLst>
              </a:tr>
              <a:tr h="223520">
                <a:tc>
                  <a:txBody>
                    <a:bodyPr/>
                    <a:lstStyle/>
                    <a:p>
                      <a:endParaRPr lang="en-US" sz="1400"/>
                    </a:p>
                  </a:txBody>
                  <a:tcPr/>
                </a:tc>
                <a:tc>
                  <a:txBody>
                    <a:bodyPr/>
                    <a:lstStyle/>
                    <a:p>
                      <a:endParaRPr lang="en-US" sz="1400" dirty="0"/>
                    </a:p>
                  </a:txBody>
                  <a:tcPr>
                    <a:solidFill>
                      <a:srgbClr val="FF0000"/>
                    </a:solidFill>
                  </a:tcPr>
                </a:tc>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226583874"/>
                  </a:ext>
                </a:extLst>
              </a:tr>
              <a:tr h="223520">
                <a:tc>
                  <a:txBody>
                    <a:bodyPr/>
                    <a:lstStyle/>
                    <a:p>
                      <a:endParaRPr lang="en-US" sz="1400"/>
                    </a:p>
                  </a:txBody>
                  <a:tcPr/>
                </a:tc>
                <a:tc>
                  <a:txBody>
                    <a:bodyPr/>
                    <a:lstStyle/>
                    <a:p>
                      <a:endParaRPr lang="en-US" sz="1400"/>
                    </a:p>
                  </a:txBody>
                  <a:tcPr/>
                </a:tc>
                <a:tc>
                  <a:txBody>
                    <a:bodyPr/>
                    <a:lstStyle/>
                    <a:p>
                      <a:endParaRPr lang="en-US" sz="1400" dirty="0"/>
                    </a:p>
                  </a:txBody>
                  <a:tcPr>
                    <a:solidFill>
                      <a:srgbClr val="FF0000"/>
                    </a:solidFill>
                  </a:tcPr>
                </a:tc>
                <a:tc>
                  <a:txBody>
                    <a:bodyPr/>
                    <a:lstStyle/>
                    <a:p>
                      <a:endParaRPr lang="en-US" sz="1400" dirty="0"/>
                    </a:p>
                  </a:txBody>
                  <a:tcPr/>
                </a:tc>
                <a:tc>
                  <a:txBody>
                    <a:bodyPr/>
                    <a:lstStyle/>
                    <a:p>
                      <a:endParaRPr lang="en-US" sz="1400" dirty="0"/>
                    </a:p>
                  </a:txBody>
                  <a:tcPr/>
                </a:tc>
                <a:tc>
                  <a:txBody>
                    <a:bodyPr/>
                    <a:lstStyle/>
                    <a:p>
                      <a:endParaRPr lang="en-US" sz="1400" dirty="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1013308059"/>
                  </a:ext>
                </a:extLst>
              </a:tr>
              <a:tr h="223520">
                <a:tc>
                  <a:txBody>
                    <a:bodyPr/>
                    <a:lstStyle/>
                    <a:p>
                      <a:r>
                        <a:rPr lang="en-US" sz="1400" dirty="0"/>
                        <a:t>1</a:t>
                      </a:r>
                    </a:p>
                  </a:txBody>
                  <a:tcPr/>
                </a:tc>
                <a:tc>
                  <a:txBody>
                    <a:bodyPr/>
                    <a:lstStyle/>
                    <a:p>
                      <a:r>
                        <a:rPr lang="en-US" sz="1400" dirty="0"/>
                        <a:t>2</a:t>
                      </a:r>
                    </a:p>
                  </a:txBody>
                  <a:tcPr/>
                </a:tc>
                <a:tc>
                  <a:txBody>
                    <a:bodyPr/>
                    <a:lstStyle/>
                    <a:p>
                      <a:r>
                        <a:rPr lang="en-US" sz="1400" dirty="0"/>
                        <a:t>3</a:t>
                      </a:r>
                    </a:p>
                  </a:txBody>
                  <a:tcPr/>
                </a:tc>
                <a:tc>
                  <a:txBody>
                    <a:bodyPr/>
                    <a:lstStyle/>
                    <a:p>
                      <a:endParaRPr lang="en-US" sz="1400" dirty="0"/>
                    </a:p>
                  </a:txBody>
                  <a:tcPr>
                    <a:solidFill>
                      <a:srgbClr val="FF0000"/>
                    </a:solidFill>
                  </a:tcPr>
                </a:tc>
                <a:tc>
                  <a:txBody>
                    <a:bodyPr/>
                    <a:lstStyle/>
                    <a:p>
                      <a:r>
                        <a:rPr lang="en-US" sz="1400" dirty="0"/>
                        <a:t>5</a:t>
                      </a:r>
                    </a:p>
                  </a:txBody>
                  <a:tcPr/>
                </a:tc>
                <a:tc>
                  <a:txBody>
                    <a:bodyPr/>
                    <a:lstStyle/>
                    <a:p>
                      <a:r>
                        <a:rPr lang="en-US" sz="1400" dirty="0"/>
                        <a:t>6</a:t>
                      </a:r>
                    </a:p>
                  </a:txBody>
                  <a:tcPr/>
                </a:tc>
                <a:tc>
                  <a:txBody>
                    <a:bodyPr/>
                    <a:lstStyle/>
                    <a:p>
                      <a:r>
                        <a:rPr lang="en-US" sz="1400" dirty="0"/>
                        <a:t>7</a:t>
                      </a:r>
                    </a:p>
                  </a:txBody>
                  <a:tcPr/>
                </a:tc>
                <a:tc>
                  <a:txBody>
                    <a:bodyPr/>
                    <a:lstStyle/>
                    <a:p>
                      <a:r>
                        <a:rPr lang="en-US" sz="1400" dirty="0"/>
                        <a:t>8</a:t>
                      </a:r>
                    </a:p>
                  </a:txBody>
                  <a:tcPr/>
                </a:tc>
                <a:extLst>
                  <a:ext uri="{0D108BD9-81ED-4DB2-BD59-A6C34878D82A}">
                    <a16:rowId xmlns:a16="http://schemas.microsoft.com/office/drawing/2014/main" val="693034928"/>
                  </a:ext>
                </a:extLst>
              </a:tr>
              <a:tr h="22352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dirty="0"/>
                    </a:p>
                  </a:txBody>
                  <a:tcPr>
                    <a:solidFill>
                      <a:srgbClr val="FF0000"/>
                    </a:solidFill>
                  </a:tcPr>
                </a:tc>
                <a:tc>
                  <a:txBody>
                    <a:bodyPr/>
                    <a:lstStyle/>
                    <a:p>
                      <a:endParaRPr lang="en-US" sz="1400" dirty="0"/>
                    </a:p>
                  </a:txBody>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2846032019"/>
                  </a:ext>
                </a:extLst>
              </a:tr>
              <a:tr h="22352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dirty="0"/>
                    </a:p>
                  </a:txBody>
                  <a:tcPr>
                    <a:solidFill>
                      <a:srgbClr val="FF0000"/>
                    </a:solidFill>
                  </a:tcPr>
                </a:tc>
                <a:tc>
                  <a:txBody>
                    <a:bodyPr/>
                    <a:lstStyle/>
                    <a:p>
                      <a:endParaRPr lang="en-US" sz="1400"/>
                    </a:p>
                  </a:txBody>
                  <a:tcPr/>
                </a:tc>
                <a:tc>
                  <a:txBody>
                    <a:bodyPr/>
                    <a:lstStyle/>
                    <a:p>
                      <a:endParaRPr lang="en-US" sz="1400"/>
                    </a:p>
                  </a:txBody>
                  <a:tcPr/>
                </a:tc>
                <a:extLst>
                  <a:ext uri="{0D108BD9-81ED-4DB2-BD59-A6C34878D82A}">
                    <a16:rowId xmlns:a16="http://schemas.microsoft.com/office/drawing/2014/main" val="847000382"/>
                  </a:ext>
                </a:extLst>
              </a:tr>
              <a:tr h="22352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dirty="0"/>
                    </a:p>
                  </a:txBody>
                  <a:tcPr>
                    <a:solidFill>
                      <a:srgbClr val="FF0000"/>
                    </a:solidFill>
                  </a:tcPr>
                </a:tc>
                <a:tc>
                  <a:txBody>
                    <a:bodyPr/>
                    <a:lstStyle/>
                    <a:p>
                      <a:endParaRPr lang="en-US" sz="1400"/>
                    </a:p>
                  </a:txBody>
                  <a:tcPr/>
                </a:tc>
                <a:extLst>
                  <a:ext uri="{0D108BD9-81ED-4DB2-BD59-A6C34878D82A}">
                    <a16:rowId xmlns:a16="http://schemas.microsoft.com/office/drawing/2014/main" val="852869836"/>
                  </a:ext>
                </a:extLst>
              </a:tr>
              <a:tr h="223520">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dirty="0"/>
                    </a:p>
                  </a:txBody>
                  <a:tcPr>
                    <a:solidFill>
                      <a:srgbClr val="FF0000"/>
                    </a:solidFill>
                  </a:tcPr>
                </a:tc>
                <a:extLst>
                  <a:ext uri="{0D108BD9-81ED-4DB2-BD59-A6C34878D82A}">
                    <a16:rowId xmlns:a16="http://schemas.microsoft.com/office/drawing/2014/main" val="1131062620"/>
                  </a:ext>
                </a:extLst>
              </a:tr>
            </a:tbl>
          </a:graphicData>
        </a:graphic>
      </p:graphicFrame>
      <p:sp>
        <p:nvSpPr>
          <p:cNvPr id="12" name="Rectangle 11">
            <a:extLst>
              <a:ext uri="{FF2B5EF4-FFF2-40B4-BE49-F238E27FC236}">
                <a16:creationId xmlns:a16="http://schemas.microsoft.com/office/drawing/2014/main" id="{3A93EF0A-AF84-5417-5E0B-CBCF44AE5DD0}"/>
              </a:ext>
            </a:extLst>
          </p:cNvPr>
          <p:cNvSpPr/>
          <p:nvPr/>
        </p:nvSpPr>
        <p:spPr>
          <a:xfrm>
            <a:off x="1751012" y="5105400"/>
            <a:ext cx="2362200" cy="4572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llout: Left Arrow 12">
            <a:extLst>
              <a:ext uri="{FF2B5EF4-FFF2-40B4-BE49-F238E27FC236}">
                <a16:creationId xmlns:a16="http://schemas.microsoft.com/office/drawing/2014/main" id="{96E74CFB-DFEF-818D-CD23-637854C6F774}"/>
              </a:ext>
            </a:extLst>
          </p:cNvPr>
          <p:cNvSpPr/>
          <p:nvPr/>
        </p:nvSpPr>
        <p:spPr>
          <a:xfrm>
            <a:off x="4257997" y="4991100"/>
            <a:ext cx="7157624" cy="685800"/>
          </a:xfrm>
          <a:prstGeom prst="leftArrowCallout">
            <a:avLst>
              <a:gd name="adj1" fmla="val 25000"/>
              <a:gd name="adj2" fmla="val 25000"/>
              <a:gd name="adj3" fmla="val 25000"/>
              <a:gd name="adj4" fmla="val 939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t>For example, in this case we use partition 1,2,3,5,6,7,8 to train and partition 4 for testing (in a </a:t>
            </a:r>
            <a:r>
              <a:rPr lang="en-US" b="1" dirty="0">
                <a:solidFill>
                  <a:srgbClr val="FFC000"/>
                </a:solidFill>
              </a:rPr>
              <a:t>8-fold cross validation</a:t>
            </a:r>
            <a:r>
              <a:rPr lang="en-US" b="1" dirty="0"/>
              <a:t>)</a:t>
            </a:r>
          </a:p>
        </p:txBody>
      </p:sp>
    </p:spTree>
    <p:extLst>
      <p:ext uri="{BB962C8B-B14F-4D97-AF65-F5344CB8AC3E}">
        <p14:creationId xmlns:p14="http://schemas.microsoft.com/office/powerpoint/2010/main" val="3818138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par>
                          <p:cTn id="13" fill="hold">
                            <p:stCondLst>
                              <p:cond delay="500"/>
                            </p:stCondLst>
                            <p:childTnLst>
                              <p:par>
                                <p:cTn id="14" presetID="14" presetClass="entr" presetSubtype="1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randombar(horizontal)">
                                      <p:cBhvr>
                                        <p:cTn id="16" dur="500"/>
                                        <p:tgtEl>
                                          <p:spTgt spid="12"/>
                                        </p:tgtEl>
                                      </p:cBhvr>
                                    </p:animEffect>
                                  </p:childTnLst>
                                </p:cTn>
                              </p:par>
                            </p:childTnLst>
                          </p:cTn>
                        </p:par>
                        <p:par>
                          <p:cTn id="17" fill="hold">
                            <p:stCondLst>
                              <p:cond delay="1000"/>
                            </p:stCondLst>
                            <p:childTnLst>
                              <p:par>
                                <p:cTn id="18" presetID="2" presetClass="entr" presetSubtype="2"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1+#ppt_w/2"/>
                                          </p:val>
                                        </p:tav>
                                        <p:tav tm="100000">
                                          <p:val>
                                            <p:strVal val="#ppt_x"/>
                                          </p:val>
                                        </p:tav>
                                      </p:tavLst>
                                    </p:anim>
                                    <p:anim calcmode="lin" valueType="num">
                                      <p:cBhvr additive="base">
                                        <p:cTn id="21"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fontScale="92500" lnSpcReduction="10000"/>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Before we discuss metrics to evaluate, lets first discuss about type of artificial intelligence algorithms:</a:t>
            </a:r>
          </a:p>
          <a:p>
            <a:pPr>
              <a:lnSpc>
                <a:spcPct val="100000"/>
              </a:lnSpc>
            </a:pPr>
            <a:r>
              <a:rPr lang="en-US" sz="2400" b="1" dirty="0">
                <a:latin typeface="Arial" panose="020B0604020202020204" pitchFamily="34" charset="0"/>
                <a:cs typeface="Arial" panose="020B0604020202020204" pitchFamily="34" charset="0"/>
              </a:rPr>
              <a:t>Supervised learning - </a:t>
            </a:r>
            <a:r>
              <a:rPr lang="en-US" sz="2400" dirty="0"/>
              <a:t>the model is trained on a labeled dataset, meaning the algorithm is provided with input-output pairs.</a:t>
            </a:r>
          </a:p>
          <a:p>
            <a:pPr>
              <a:lnSpc>
                <a:spcPct val="100000"/>
              </a:lnSpc>
            </a:pPr>
            <a:r>
              <a:rPr lang="en-US" sz="2400" b="1" dirty="0">
                <a:latin typeface="Arial" panose="020B0604020202020204" pitchFamily="34" charset="0"/>
                <a:cs typeface="Arial" panose="020B0604020202020204" pitchFamily="34" charset="0"/>
              </a:rPr>
              <a:t>Unsupervised learning - </a:t>
            </a:r>
            <a:r>
              <a:rPr lang="en-US" sz="2400" dirty="0"/>
              <a:t>works with unlabeled data. The goal is to find patterns or structures in the data. One such example are clustering algorithms</a:t>
            </a:r>
          </a:p>
          <a:p>
            <a:pPr>
              <a:lnSpc>
                <a:spcPct val="100000"/>
              </a:lnSpc>
            </a:pPr>
            <a:r>
              <a:rPr lang="en-US" sz="2400" b="1" dirty="0">
                <a:latin typeface="Arial" panose="020B0604020202020204" pitchFamily="34" charset="0"/>
                <a:cs typeface="Arial" panose="020B0604020202020204" pitchFamily="34" charset="0"/>
              </a:rPr>
              <a:t>Other variations:</a:t>
            </a:r>
            <a:endParaRPr lang="en-US" sz="2400" dirty="0">
              <a:latin typeface="Arial" panose="020B0604020202020204" pitchFamily="34" charset="0"/>
              <a:cs typeface="Arial" panose="020B0604020202020204" pitchFamily="34" charset="0"/>
            </a:endParaRPr>
          </a:p>
          <a:p>
            <a:pPr lvl="1">
              <a:lnSpc>
                <a:spcPct val="100000"/>
              </a:lnSpc>
            </a:pPr>
            <a:r>
              <a:rPr lang="en-US" sz="2000" dirty="0">
                <a:latin typeface="Arial" panose="020B0604020202020204" pitchFamily="34" charset="0"/>
                <a:cs typeface="Arial" panose="020B0604020202020204" pitchFamily="34" charset="0"/>
              </a:rPr>
              <a:t>Reinforcement learning</a:t>
            </a:r>
          </a:p>
          <a:p>
            <a:pPr lvl="1">
              <a:lnSpc>
                <a:spcPct val="100000"/>
              </a:lnSpc>
            </a:pPr>
            <a:r>
              <a:rPr lang="en-US" sz="2000" dirty="0">
                <a:latin typeface="Arial" panose="020B0604020202020204" pitchFamily="34" charset="0"/>
                <a:cs typeface="Arial" panose="020B0604020202020204" pitchFamily="34" charset="0"/>
              </a:rPr>
              <a:t>Semi-supervised learning</a:t>
            </a:r>
          </a:p>
          <a:p>
            <a:pPr lvl="1">
              <a:lnSpc>
                <a:spcPct val="100000"/>
              </a:lnSpc>
            </a:pPr>
            <a:r>
              <a:rPr lang="en-US" sz="2000" dirty="0">
                <a:latin typeface="Arial" panose="020B0604020202020204" pitchFamily="34" charset="0"/>
                <a:cs typeface="Arial" panose="020B0604020202020204" pitchFamily="34" charset="0"/>
              </a:rPr>
              <a:t>…</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6458702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1" dur="500"/>
                                        <p:tgtEl>
                                          <p:spTgt spid="3">
                                            <p:txEl>
                                              <p:pRg st="2" end="2"/>
                                            </p:txEl>
                                          </p:spTgt>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5" dur="500"/>
                                        <p:tgtEl>
                                          <p:spTgt spid="3">
                                            <p:txEl>
                                              <p:pRg st="3" end="3"/>
                                            </p:txEl>
                                          </p:spTgt>
                                        </p:tgtEl>
                                      </p:cBhvr>
                                    </p:animEffect>
                                  </p:childTnLst>
                                </p:cTn>
                              </p:par>
                            </p:childTnLst>
                          </p:cTn>
                        </p:par>
                        <p:par>
                          <p:cTn id="16" fill="hold">
                            <p:stCondLst>
                              <p:cond delay="1500"/>
                            </p:stCondLst>
                            <p:childTnLst>
                              <p:par>
                                <p:cTn id="17" presetID="14" presetClass="entr" presetSubtype="10" fill="hold"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9" dur="500"/>
                                        <p:tgtEl>
                                          <p:spTgt spid="3">
                                            <p:txEl>
                                              <p:pRg st="4" end="4"/>
                                            </p:txEl>
                                          </p:spTgt>
                                        </p:tgtEl>
                                      </p:cBhvr>
                                    </p:animEffect>
                                  </p:childTnLst>
                                </p:cTn>
                              </p:par>
                            </p:childTnLst>
                          </p:cTn>
                        </p:par>
                        <p:par>
                          <p:cTn id="20" fill="hold">
                            <p:stCondLst>
                              <p:cond delay="2000"/>
                            </p:stCondLst>
                            <p:childTnLst>
                              <p:par>
                                <p:cTn id="21" presetID="14" presetClass="entr" presetSubtype="10" fill="hold" nodeType="after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3" dur="500"/>
                                        <p:tgtEl>
                                          <p:spTgt spid="3">
                                            <p:txEl>
                                              <p:pRg st="5" end="5"/>
                                            </p:txEl>
                                          </p:spTgt>
                                        </p:tgtEl>
                                      </p:cBhvr>
                                    </p:animEffect>
                                  </p:childTnLst>
                                </p:cTn>
                              </p:par>
                            </p:childTnLst>
                          </p:cTn>
                        </p:par>
                        <p:par>
                          <p:cTn id="24" fill="hold">
                            <p:stCondLst>
                              <p:cond delay="2500"/>
                            </p:stCondLst>
                            <p:childTnLst>
                              <p:par>
                                <p:cTn id="25" presetID="14" presetClass="entr" presetSubtype="10" fill="hold"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7" dur="500"/>
                                        <p:tgtEl>
                                          <p:spTgt spid="3">
                                            <p:txEl>
                                              <p:pRg st="6" end="6"/>
                                            </p:txEl>
                                          </p:spTgt>
                                        </p:tgtEl>
                                      </p:cBhvr>
                                    </p:animEffect>
                                  </p:childTnLst>
                                </p:cTn>
                              </p:par>
                            </p:childTnLst>
                          </p:cTn>
                        </p:par>
                        <p:par>
                          <p:cTn id="28" fill="hold">
                            <p:stCondLst>
                              <p:cond delay="3000"/>
                            </p:stCondLst>
                            <p:childTnLst>
                              <p:par>
                                <p:cTn id="29" presetID="14" presetClass="entr" presetSubtype="10" fill="hold" nodeType="after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When talking about </a:t>
            </a:r>
            <a:r>
              <a:rPr lang="en-US" sz="2400" b="1" i="1" dirty="0">
                <a:latin typeface="Arial" panose="020B0604020202020204" pitchFamily="34" charset="0"/>
                <a:cs typeface="Arial" panose="020B0604020202020204" pitchFamily="34" charset="0"/>
              </a:rPr>
              <a:t>supervised learning</a:t>
            </a:r>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 machine learning algorithm can be classified (taking into consideration the output) in: </a:t>
            </a:r>
          </a:p>
          <a:p>
            <a:pPr>
              <a:lnSpc>
                <a:spcPct val="100000"/>
              </a:lnSpc>
            </a:pPr>
            <a:r>
              <a:rPr lang="en-US" sz="2400" b="1" dirty="0">
                <a:latin typeface="Arial" panose="020B0604020202020204" pitchFamily="34" charset="0"/>
                <a:cs typeface="Arial" panose="020B0604020202020204" pitchFamily="34" charset="0"/>
              </a:rPr>
              <a:t>Single class (binary models)</a:t>
            </a:r>
            <a:r>
              <a:rPr lang="en-US" sz="2400" dirty="0">
                <a:latin typeface="Arial" panose="020B0604020202020204" pitchFamily="34" charset="0"/>
                <a:cs typeface="Arial" panose="020B0604020202020204" pitchFamily="34" charset="0"/>
              </a:rPr>
              <a:t> - Classify instances into one of two classes. For example , in our example that tries to identify a picture and find a horse, the output of a function can be 1 (</a:t>
            </a:r>
            <a:r>
              <a:rPr lang="en-US" sz="2400" b="1" dirty="0">
                <a:solidFill>
                  <a:srgbClr val="00B050"/>
                </a:solidFill>
                <a:latin typeface="Arial" panose="020B0604020202020204" pitchFamily="34" charset="0"/>
                <a:cs typeface="Arial" panose="020B0604020202020204" pitchFamily="34" charset="0"/>
              </a:rPr>
              <a:t>TRUE</a:t>
            </a:r>
            <a:r>
              <a:rPr lang="en-US" sz="2400" dirty="0">
                <a:latin typeface="Arial" panose="020B0604020202020204" pitchFamily="34" charset="0"/>
                <a:cs typeface="Arial" panose="020B0604020202020204" pitchFamily="34" charset="0"/>
              </a:rPr>
              <a:t>) or 0 (</a:t>
            </a:r>
            <a:r>
              <a:rPr lang="en-US" sz="2400" b="1" dirty="0">
                <a:solidFill>
                  <a:srgbClr val="C00000"/>
                </a:solidFill>
                <a:latin typeface="Arial" panose="020B0604020202020204" pitchFamily="34" charset="0"/>
                <a:cs typeface="Arial" panose="020B0604020202020204" pitchFamily="34" charset="0"/>
              </a:rPr>
              <a:t>FALSE</a:t>
            </a:r>
            <a:r>
              <a:rPr lang="en-US" sz="2400" dirty="0">
                <a:latin typeface="Arial" panose="020B0604020202020204" pitchFamily="34" charset="0"/>
                <a:cs typeface="Arial" panose="020B0604020202020204" pitchFamily="34" charset="0"/>
              </a:rPr>
              <a:t>).</a:t>
            </a:r>
          </a:p>
          <a:p>
            <a:pPr>
              <a:lnSpc>
                <a:spcPct val="100000"/>
              </a:lnSpc>
            </a:pPr>
            <a:r>
              <a:rPr lang="en-US" sz="2400" b="1" dirty="0">
                <a:latin typeface="Arial" panose="020B0604020202020204" pitchFamily="34" charset="0"/>
                <a:cs typeface="Arial" panose="020B0604020202020204" pitchFamily="34" charset="0"/>
              </a:rPr>
              <a:t>Multi class - </a:t>
            </a:r>
            <a:r>
              <a:rPr lang="en-US" sz="2400" dirty="0">
                <a:latin typeface="Arial" panose="020B0604020202020204" pitchFamily="34" charset="0"/>
                <a:cs typeface="Arial" panose="020B0604020202020204" pitchFamily="34" charset="0"/>
              </a:rPr>
              <a:t>Classify instances into one of more than two classes. For the same example, the output of the function could be 1 (for a Horse), 2 for a Monkey, 3 for a Cat, ….</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Tree>
    <p:extLst>
      <p:ext uri="{BB962C8B-B14F-4D97-AF65-F5344CB8AC3E}">
        <p14:creationId xmlns:p14="http://schemas.microsoft.com/office/powerpoint/2010/main" val="16863537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To better explain how several metrics work, lets consider a supervised single class machine learning that attempts to identify pictures with </a:t>
            </a:r>
            <a:r>
              <a:rPr lang="en-US" sz="2400" b="1" dirty="0">
                <a:latin typeface="Arial" panose="020B0604020202020204" pitchFamily="34" charset="0"/>
                <a:cs typeface="Arial" panose="020B0604020202020204" pitchFamily="34" charset="0"/>
              </a:rPr>
              <a:t>cats</a:t>
            </a:r>
            <a:r>
              <a:rPr lang="en-US" sz="2400" dirty="0">
                <a:latin typeface="Arial" panose="020B0604020202020204" pitchFamily="34" charset="0"/>
                <a:cs typeface="Arial" panose="020B0604020202020204" pitchFamily="34" charset="0"/>
              </a:rPr>
              <a:t> from a data base. </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pSp>
        <p:nvGrpSpPr>
          <p:cNvPr id="21" name="Group 20">
            <a:extLst>
              <a:ext uri="{FF2B5EF4-FFF2-40B4-BE49-F238E27FC236}">
                <a16:creationId xmlns:a16="http://schemas.microsoft.com/office/drawing/2014/main" id="{6B22E8E8-58BF-8A63-0D6D-1347135AF6DF}"/>
              </a:ext>
            </a:extLst>
          </p:cNvPr>
          <p:cNvGrpSpPr/>
          <p:nvPr/>
        </p:nvGrpSpPr>
        <p:grpSpPr>
          <a:xfrm>
            <a:off x="1979612" y="3551237"/>
            <a:ext cx="8763000" cy="2863275"/>
            <a:chOff x="1979612" y="3551237"/>
            <a:chExt cx="8763000" cy="2863275"/>
          </a:xfrm>
        </p:grpSpPr>
        <p:sp>
          <p:nvSpPr>
            <p:cNvPr id="12" name="Rectangle 11">
              <a:extLst>
                <a:ext uri="{FF2B5EF4-FFF2-40B4-BE49-F238E27FC236}">
                  <a16:creationId xmlns:a16="http://schemas.microsoft.com/office/drawing/2014/main" id="{0FB34E9A-E0F3-EC65-5386-918B450A5051}"/>
                </a:ext>
              </a:extLst>
            </p:cNvPr>
            <p:cNvSpPr/>
            <p:nvPr/>
          </p:nvSpPr>
          <p:spPr>
            <a:xfrm>
              <a:off x="4646612" y="3551237"/>
              <a:ext cx="2814224" cy="2849562"/>
            </a:xfrm>
            <a:prstGeom prst="rect">
              <a:avLst/>
            </a:prstGeom>
            <a:solidFill>
              <a:schemeClr val="tx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Response is that the picture is with a cat.</a:t>
              </a: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67ECE6C4-5B07-F89C-A1F6-35129A73CA9D}"/>
                </a:ext>
              </a:extLst>
            </p:cNvPr>
            <p:cNvSpPr/>
            <p:nvPr/>
          </p:nvSpPr>
          <p:spPr>
            <a:xfrm>
              <a:off x="7613236" y="3564950"/>
              <a:ext cx="3048000" cy="284956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Response is that the picture is NOT with a cat.</a:t>
              </a: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a:p>
              <a:pPr algn="ctr"/>
              <a:endParaRPr lang="en-US" b="1" dirty="0">
                <a:solidFill>
                  <a:schemeClr val="tx1"/>
                </a:solidFill>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30DA7520-2912-19F2-A117-6872284FC396}"/>
                </a:ext>
              </a:extLst>
            </p:cNvPr>
            <p:cNvGrpSpPr/>
            <p:nvPr/>
          </p:nvGrpSpPr>
          <p:grpSpPr>
            <a:xfrm>
              <a:off x="1979612" y="4343400"/>
              <a:ext cx="8763000" cy="914400"/>
              <a:chOff x="2132012" y="3581400"/>
              <a:chExt cx="8763000" cy="914400"/>
            </a:xfrm>
          </p:grpSpPr>
          <p:pic>
            <p:nvPicPr>
              <p:cNvPr id="8" name="Graphic 7" descr="Cat with solid fill">
                <a:extLst>
                  <a:ext uri="{FF2B5EF4-FFF2-40B4-BE49-F238E27FC236}">
                    <a16:creationId xmlns:a16="http://schemas.microsoft.com/office/drawing/2014/main" id="{35A78CA3-29B4-993A-8255-E90DC622A4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3241" y="3581400"/>
                <a:ext cx="914400" cy="914400"/>
              </a:xfrm>
              <a:prstGeom prst="rect">
                <a:avLst/>
              </a:prstGeom>
            </p:spPr>
          </p:pic>
          <p:cxnSp>
            <p:nvCxnSpPr>
              <p:cNvPr id="10" name="Straight Connector 9">
                <a:extLst>
                  <a:ext uri="{FF2B5EF4-FFF2-40B4-BE49-F238E27FC236}">
                    <a16:creationId xmlns:a16="http://schemas.microsoft.com/office/drawing/2014/main" id="{01C91EAF-9BDE-48C7-D7A0-6FF6D69FBC2C}"/>
                  </a:ext>
                </a:extLst>
              </p:cNvPr>
              <p:cNvCxnSpPr/>
              <p:nvPr/>
            </p:nvCxnSpPr>
            <p:spPr>
              <a:xfrm>
                <a:off x="2132012" y="4495800"/>
                <a:ext cx="8763000" cy="0"/>
              </a:xfrm>
              <a:prstGeom prst="line">
                <a:avLst/>
              </a:prstGeom>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FB58D8B6-F3EA-351F-A244-819A65652673}"/>
                  </a:ext>
                </a:extLst>
              </p:cNvPr>
              <p:cNvSpPr txBox="1"/>
              <p:nvPr/>
            </p:nvSpPr>
            <p:spPr>
              <a:xfrm>
                <a:off x="3198812" y="3733800"/>
                <a:ext cx="1600200" cy="646331"/>
              </a:xfrm>
              <a:prstGeom prst="rect">
                <a:avLst/>
              </a:prstGeom>
              <a:noFill/>
            </p:spPr>
            <p:txBody>
              <a:bodyPr wrap="square" rtlCol="0">
                <a:spAutoFit/>
              </a:bodyPr>
              <a:lstStyle/>
              <a:p>
                <a:r>
                  <a:rPr lang="en-US" dirty="0"/>
                  <a:t>Picture with </a:t>
                </a:r>
              </a:p>
              <a:p>
                <a:r>
                  <a:rPr lang="en-US" dirty="0"/>
                  <a:t>a cat</a:t>
                </a:r>
              </a:p>
            </p:txBody>
          </p:sp>
        </p:grpSp>
        <p:grpSp>
          <p:nvGrpSpPr>
            <p:cNvPr id="15" name="Group 14">
              <a:extLst>
                <a:ext uri="{FF2B5EF4-FFF2-40B4-BE49-F238E27FC236}">
                  <a16:creationId xmlns:a16="http://schemas.microsoft.com/office/drawing/2014/main" id="{473B8BB8-2A53-54BD-CB43-9C9DB007E871}"/>
                </a:ext>
              </a:extLst>
            </p:cNvPr>
            <p:cNvGrpSpPr/>
            <p:nvPr/>
          </p:nvGrpSpPr>
          <p:grpSpPr>
            <a:xfrm>
              <a:off x="1979612" y="5370730"/>
              <a:ext cx="8763000" cy="914400"/>
              <a:chOff x="2132012" y="3581400"/>
              <a:chExt cx="8763000" cy="914400"/>
            </a:xfrm>
          </p:grpSpPr>
          <p:pic>
            <p:nvPicPr>
              <p:cNvPr id="16" name="Graphic 15" descr="Eagle with solid fill">
                <a:extLst>
                  <a:ext uri="{FF2B5EF4-FFF2-40B4-BE49-F238E27FC236}">
                    <a16:creationId xmlns:a16="http://schemas.microsoft.com/office/drawing/2014/main" id="{2CE0C8D2-A2D5-5DD8-5DA9-57BF47B4CBB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253241" y="3581400"/>
                <a:ext cx="914400" cy="914400"/>
              </a:xfrm>
              <a:prstGeom prst="rect">
                <a:avLst/>
              </a:prstGeom>
            </p:spPr>
          </p:pic>
          <p:cxnSp>
            <p:nvCxnSpPr>
              <p:cNvPr id="17" name="Straight Connector 16">
                <a:extLst>
                  <a:ext uri="{FF2B5EF4-FFF2-40B4-BE49-F238E27FC236}">
                    <a16:creationId xmlns:a16="http://schemas.microsoft.com/office/drawing/2014/main" id="{DBA3F029-B5F8-C6D4-72E5-C0D824971B96}"/>
                  </a:ext>
                </a:extLst>
              </p:cNvPr>
              <p:cNvCxnSpPr/>
              <p:nvPr/>
            </p:nvCxnSpPr>
            <p:spPr>
              <a:xfrm>
                <a:off x="2132012" y="4495800"/>
                <a:ext cx="8763000" cy="0"/>
              </a:xfrm>
              <a:prstGeom prst="line">
                <a:avLst/>
              </a:prstGeom>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340A5B9C-7011-95E8-85B9-597CBEA35C14}"/>
                  </a:ext>
                </a:extLst>
              </p:cNvPr>
              <p:cNvSpPr txBox="1"/>
              <p:nvPr/>
            </p:nvSpPr>
            <p:spPr>
              <a:xfrm>
                <a:off x="3198812" y="3733800"/>
                <a:ext cx="1600200" cy="646331"/>
              </a:xfrm>
              <a:prstGeom prst="rect">
                <a:avLst/>
              </a:prstGeom>
              <a:noFill/>
            </p:spPr>
            <p:txBody>
              <a:bodyPr wrap="square" rtlCol="0">
                <a:spAutoFit/>
              </a:bodyPr>
              <a:lstStyle/>
              <a:p>
                <a:r>
                  <a:rPr lang="en-US" dirty="0"/>
                  <a:t>Picture with </a:t>
                </a:r>
                <a:br>
                  <a:rPr lang="en-US" dirty="0"/>
                </a:br>
                <a:r>
                  <a:rPr lang="en-US" dirty="0"/>
                  <a:t>an eagle </a:t>
                </a:r>
              </a:p>
            </p:txBody>
          </p:sp>
        </p:grpSp>
        <p:cxnSp>
          <p:nvCxnSpPr>
            <p:cNvPr id="19" name="Straight Connector 18">
              <a:extLst>
                <a:ext uri="{FF2B5EF4-FFF2-40B4-BE49-F238E27FC236}">
                  <a16:creationId xmlns:a16="http://schemas.microsoft.com/office/drawing/2014/main" id="{E8542A44-2EC9-F664-8595-CD67AD388CF8}"/>
                </a:ext>
              </a:extLst>
            </p:cNvPr>
            <p:cNvCxnSpPr>
              <a:cxnSpLocks/>
            </p:cNvCxnSpPr>
            <p:nvPr/>
          </p:nvCxnSpPr>
          <p:spPr>
            <a:xfrm>
              <a:off x="4570412" y="4267200"/>
              <a:ext cx="6172200" cy="0"/>
            </a:xfrm>
            <a:prstGeom prst="line">
              <a:avLst/>
            </a:prstGeom>
          </p:spPr>
          <p:style>
            <a:lnRef idx="3">
              <a:schemeClr val="dk1"/>
            </a:lnRef>
            <a:fillRef idx="0">
              <a:schemeClr val="dk1"/>
            </a:fillRef>
            <a:effectRef idx="2">
              <a:schemeClr val="dk1"/>
            </a:effectRef>
            <a:fontRef idx="minor">
              <a:schemeClr val="tx1"/>
            </a:fontRef>
          </p:style>
        </p:cxnSp>
      </p:grpSp>
      <p:sp>
        <p:nvSpPr>
          <p:cNvPr id="22" name="Rectangle: Rounded Corners 21">
            <a:extLst>
              <a:ext uri="{FF2B5EF4-FFF2-40B4-BE49-F238E27FC236}">
                <a16:creationId xmlns:a16="http://schemas.microsoft.com/office/drawing/2014/main" id="{C1B2C8EA-41B3-FC5B-D71A-EC78BB38A4C8}"/>
              </a:ext>
            </a:extLst>
          </p:cNvPr>
          <p:cNvSpPr/>
          <p:nvPr/>
        </p:nvSpPr>
        <p:spPr>
          <a:xfrm>
            <a:off x="4943882" y="4510882"/>
            <a:ext cx="2219684" cy="503237"/>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a:t>
            </a:r>
          </a:p>
        </p:txBody>
      </p:sp>
      <p:sp>
        <p:nvSpPr>
          <p:cNvPr id="23" name="Rectangle: Rounded Corners 22">
            <a:extLst>
              <a:ext uri="{FF2B5EF4-FFF2-40B4-BE49-F238E27FC236}">
                <a16:creationId xmlns:a16="http://schemas.microsoft.com/office/drawing/2014/main" id="{D5016F7C-6954-87F3-2322-6558C4362AD4}"/>
              </a:ext>
            </a:extLst>
          </p:cNvPr>
          <p:cNvSpPr/>
          <p:nvPr/>
        </p:nvSpPr>
        <p:spPr>
          <a:xfrm>
            <a:off x="7989060" y="5509212"/>
            <a:ext cx="2296352" cy="503237"/>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a:t>
            </a:r>
          </a:p>
        </p:txBody>
      </p:sp>
      <p:sp>
        <p:nvSpPr>
          <p:cNvPr id="24" name="Rectangle: Rounded Corners 23">
            <a:extLst>
              <a:ext uri="{FF2B5EF4-FFF2-40B4-BE49-F238E27FC236}">
                <a16:creationId xmlns:a16="http://schemas.microsoft.com/office/drawing/2014/main" id="{B9445914-301C-7919-99AF-4842EA995607}"/>
              </a:ext>
            </a:extLst>
          </p:cNvPr>
          <p:cNvSpPr/>
          <p:nvPr/>
        </p:nvSpPr>
        <p:spPr>
          <a:xfrm>
            <a:off x="4941060" y="5519847"/>
            <a:ext cx="2296352" cy="503237"/>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FALSE POSITIVE</a:t>
            </a:r>
          </a:p>
        </p:txBody>
      </p:sp>
      <p:sp>
        <p:nvSpPr>
          <p:cNvPr id="25" name="Rectangle: Rounded Corners 24">
            <a:extLst>
              <a:ext uri="{FF2B5EF4-FFF2-40B4-BE49-F238E27FC236}">
                <a16:creationId xmlns:a16="http://schemas.microsoft.com/office/drawing/2014/main" id="{F42E1A3C-4B6C-68A3-E4F0-2285DCCE0D30}"/>
              </a:ext>
            </a:extLst>
          </p:cNvPr>
          <p:cNvSpPr/>
          <p:nvPr/>
        </p:nvSpPr>
        <p:spPr>
          <a:xfrm>
            <a:off x="7984424" y="4509439"/>
            <a:ext cx="2219684" cy="503237"/>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FALSE NEGATIVE</a:t>
            </a:r>
          </a:p>
        </p:txBody>
      </p:sp>
    </p:spTree>
    <p:extLst>
      <p:ext uri="{BB962C8B-B14F-4D97-AF65-F5344CB8AC3E}">
        <p14:creationId xmlns:p14="http://schemas.microsoft.com/office/powerpoint/2010/main" val="3596080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randombar(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randombar(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randombar(horizontal)">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randombar(horizontal)">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Let’s assume that we have the following data base: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45913A63-F1FA-BAE9-7C0F-D28A606B165D}"/>
              </a:ext>
            </a:extLst>
          </p:cNvPr>
          <p:cNvGraphicFramePr>
            <a:graphicFrameLocks noGrp="1"/>
          </p:cNvGraphicFramePr>
          <p:nvPr>
            <p:extLst>
              <p:ext uri="{D42A27DB-BD31-4B8C-83A1-F6EECF244321}">
                <p14:modId xmlns:p14="http://schemas.microsoft.com/office/powerpoint/2010/main" val="1698221087"/>
              </p:ext>
            </p:extLst>
          </p:nvPr>
        </p:nvGraphicFramePr>
        <p:xfrm>
          <a:off x="1679166" y="2941002"/>
          <a:ext cx="6469979" cy="3642360"/>
        </p:xfrm>
        <a:graphic>
          <a:graphicData uri="http://schemas.openxmlformats.org/drawingml/2006/table">
            <a:tbl>
              <a:tblPr firstRow="1" bandRow="1">
                <a:tableStyleId>{073A0DAA-6AF3-43AB-8588-CEC1D06C72B9}</a:tableStyleId>
              </a:tblPr>
              <a:tblGrid>
                <a:gridCol w="907379">
                  <a:extLst>
                    <a:ext uri="{9D8B030D-6E8A-4147-A177-3AD203B41FA5}">
                      <a16:colId xmlns:a16="http://schemas.microsoft.com/office/drawing/2014/main" val="3066211996"/>
                    </a:ext>
                  </a:extLst>
                </a:gridCol>
                <a:gridCol w="3276600">
                  <a:extLst>
                    <a:ext uri="{9D8B030D-6E8A-4147-A177-3AD203B41FA5}">
                      <a16:colId xmlns:a16="http://schemas.microsoft.com/office/drawing/2014/main" val="492204294"/>
                    </a:ext>
                  </a:extLst>
                </a:gridCol>
                <a:gridCol w="2286000">
                  <a:extLst>
                    <a:ext uri="{9D8B030D-6E8A-4147-A177-3AD203B41FA5}">
                      <a16:colId xmlns:a16="http://schemas.microsoft.com/office/drawing/2014/main" val="2456840158"/>
                    </a:ext>
                  </a:extLst>
                </a:gridCol>
              </a:tblGrid>
              <a:tr h="0">
                <a:tc>
                  <a:txBody>
                    <a:bodyPr/>
                    <a:lstStyle/>
                    <a:p>
                      <a:r>
                        <a:rPr lang="en-US" dirty="0"/>
                        <a:t>Index</a:t>
                      </a:r>
                    </a:p>
                  </a:txBody>
                  <a:tcPr/>
                </a:tc>
                <a:tc>
                  <a:txBody>
                    <a:bodyPr/>
                    <a:lstStyle/>
                    <a:p>
                      <a:r>
                        <a:rPr lang="en-US" dirty="0"/>
                        <a:t>Actual label / Desired output</a:t>
                      </a:r>
                    </a:p>
                  </a:txBody>
                  <a:tcPr/>
                </a:tc>
                <a:tc>
                  <a:txBody>
                    <a:bodyPr/>
                    <a:lstStyle/>
                    <a:p>
                      <a:r>
                        <a:rPr lang="en-US" dirty="0"/>
                        <a:t>Result of the model</a:t>
                      </a:r>
                    </a:p>
                  </a:txBody>
                  <a:tcPr/>
                </a:tc>
                <a:extLst>
                  <a:ext uri="{0D108BD9-81ED-4DB2-BD59-A6C34878D82A}">
                    <a16:rowId xmlns:a16="http://schemas.microsoft.com/office/drawing/2014/main" val="3113375016"/>
                  </a:ext>
                </a:extLst>
              </a:tr>
              <a:tr h="370840">
                <a:tc>
                  <a:txBody>
                    <a:bodyPr/>
                    <a:lstStyle/>
                    <a:p>
                      <a:r>
                        <a:rPr lang="en-US" dirty="0"/>
                        <a:t>#1</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1404359177"/>
                  </a:ext>
                </a:extLst>
              </a:tr>
              <a:tr h="370840">
                <a:tc>
                  <a:txBody>
                    <a:bodyPr/>
                    <a:lstStyle/>
                    <a:p>
                      <a:r>
                        <a:rPr lang="en-US" dirty="0"/>
                        <a:t>#2</a:t>
                      </a:r>
                    </a:p>
                  </a:txBody>
                  <a:tcPr/>
                </a:tc>
                <a:tc>
                  <a:txBody>
                    <a:bodyPr/>
                    <a:lstStyle/>
                    <a:p>
                      <a:r>
                        <a:rPr lang="en-US" dirty="0"/>
                        <a:t>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91727367"/>
                  </a:ext>
                </a:extLst>
              </a:tr>
              <a:tr h="370840">
                <a:tc>
                  <a:txBody>
                    <a:bodyPr/>
                    <a:lstStyle/>
                    <a:p>
                      <a:r>
                        <a:rPr lang="en-US" dirty="0"/>
                        <a:t>#3</a:t>
                      </a:r>
                    </a:p>
                  </a:txBody>
                  <a:tcPr/>
                </a:tc>
                <a:tc>
                  <a:txBody>
                    <a:bodyPr/>
                    <a:lstStyle/>
                    <a:p>
                      <a:r>
                        <a:rPr lang="en-US" dirty="0"/>
                        <a:t>Not A Cat</a:t>
                      </a:r>
                    </a:p>
                  </a:txBody>
                  <a:tcPr/>
                </a:tc>
                <a:tc>
                  <a:txBody>
                    <a:bodyPr/>
                    <a:lstStyle/>
                    <a:p>
                      <a:r>
                        <a:rPr lang="en-US" dirty="0"/>
                        <a:t>CAT</a:t>
                      </a:r>
                    </a:p>
                  </a:txBody>
                  <a:tcPr/>
                </a:tc>
                <a:extLst>
                  <a:ext uri="{0D108BD9-81ED-4DB2-BD59-A6C34878D82A}">
                    <a16:rowId xmlns:a16="http://schemas.microsoft.com/office/drawing/2014/main" val="188669697"/>
                  </a:ext>
                </a:extLst>
              </a:tr>
              <a:tr h="370840">
                <a:tc>
                  <a:txBody>
                    <a:bodyPr/>
                    <a:lstStyle/>
                    <a:p>
                      <a:r>
                        <a:rPr lang="en-US" dirty="0"/>
                        <a:t>#4</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1801741790"/>
                  </a:ext>
                </a:extLst>
              </a:tr>
              <a:tr h="370840">
                <a:tc>
                  <a:txBody>
                    <a:bodyPr/>
                    <a:lstStyle/>
                    <a:p>
                      <a:r>
                        <a:rPr lang="en-US"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2196065979"/>
                  </a:ext>
                </a:extLst>
              </a:tr>
              <a:tr h="370840">
                <a:tc>
                  <a:txBody>
                    <a:bodyPr/>
                    <a:lstStyle/>
                    <a:p>
                      <a:r>
                        <a:rPr lang="en-US"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4290376854"/>
                  </a:ext>
                </a:extLst>
              </a:tr>
              <a:tr h="370840">
                <a:tc>
                  <a:txBody>
                    <a:bodyPr/>
                    <a:lstStyle/>
                    <a:p>
                      <a:r>
                        <a:rPr lang="en-US"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r>
                        <a:rPr lang="en-US" dirty="0"/>
                        <a:t>CAT</a:t>
                      </a:r>
                    </a:p>
                  </a:txBody>
                  <a:tcPr/>
                </a:tc>
                <a:extLst>
                  <a:ext uri="{0D108BD9-81ED-4DB2-BD59-A6C34878D82A}">
                    <a16:rowId xmlns:a16="http://schemas.microsoft.com/office/drawing/2014/main" val="384333395"/>
                  </a:ext>
                </a:extLst>
              </a:tr>
              <a:tr h="370840">
                <a:tc>
                  <a:txBody>
                    <a:bodyPr/>
                    <a:lstStyle/>
                    <a:p>
                      <a:r>
                        <a:rPr lang="en-US" dirty="0"/>
                        <a:t>#8</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3348234640"/>
                  </a:ext>
                </a:extLst>
              </a:tr>
              <a:tr h="370840">
                <a:tc>
                  <a:txBody>
                    <a:bodyPr/>
                    <a:lstStyle/>
                    <a:p>
                      <a:r>
                        <a:rPr lang="en-US" dirty="0"/>
                        <a:t>#9</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2701026938"/>
                  </a:ext>
                </a:extLst>
              </a:tr>
            </a:tbl>
          </a:graphicData>
        </a:graphic>
      </p:graphicFrame>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710180"/>
            <a:ext cx="3352800" cy="7188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26" name="Rectangle 25">
            <a:extLst>
              <a:ext uri="{FF2B5EF4-FFF2-40B4-BE49-F238E27FC236}">
                <a16:creationId xmlns:a16="http://schemas.microsoft.com/office/drawing/2014/main" id="{51D2BA49-6AB7-EA84-CDDE-F8E60C40205B}"/>
              </a:ext>
            </a:extLst>
          </p:cNvPr>
          <p:cNvSpPr/>
          <p:nvPr/>
        </p:nvSpPr>
        <p:spPr>
          <a:xfrm>
            <a:off x="1616522" y="3223099"/>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C4CA518-2FC2-6D73-5ECC-B55A4DF1D9F1}"/>
              </a:ext>
            </a:extLst>
          </p:cNvPr>
          <p:cNvSpPr/>
          <p:nvPr/>
        </p:nvSpPr>
        <p:spPr>
          <a:xfrm>
            <a:off x="1657284" y="4330364"/>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8DA30FD-3335-4538-17E2-F7D1756ADF34}"/>
              </a:ext>
            </a:extLst>
          </p:cNvPr>
          <p:cNvSpPr/>
          <p:nvPr/>
        </p:nvSpPr>
        <p:spPr>
          <a:xfrm>
            <a:off x="1647098" y="5779258"/>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6EB2DDA-DB0F-E85E-7F72-DF055742E4FC}"/>
              </a:ext>
            </a:extLst>
          </p:cNvPr>
          <p:cNvSpPr/>
          <p:nvPr/>
        </p:nvSpPr>
        <p:spPr>
          <a:xfrm>
            <a:off x="1657284" y="6183469"/>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78801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randombar(horizontal)">
                                      <p:cBhvr>
                                        <p:cTn id="12" dur="500"/>
                                        <p:tgtEl>
                                          <p:spTgt spid="26"/>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randombar(horizontal)">
                                      <p:cBhvr>
                                        <p:cTn id="16" dur="500"/>
                                        <p:tgtEl>
                                          <p:spTgt spid="27"/>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randombar(horizontal)">
                                      <p:cBhvr>
                                        <p:cTn id="20" dur="500"/>
                                        <p:tgtEl>
                                          <p:spTgt spid="28"/>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randombar(horizontal)">
                                      <p:cBhvr>
                                        <p:cTn id="2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animBg="1"/>
      <p:bldP spid="27" grpId="0" animBg="1"/>
      <p:bldP spid="28" grpId="0" animBg="1"/>
      <p:bldP spid="2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Let’s assume that we have the following data base: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45913A63-F1FA-BAE9-7C0F-D28A606B165D}"/>
              </a:ext>
            </a:extLst>
          </p:cNvPr>
          <p:cNvGraphicFramePr>
            <a:graphicFrameLocks noGrp="1"/>
          </p:cNvGraphicFramePr>
          <p:nvPr>
            <p:extLst>
              <p:ext uri="{D42A27DB-BD31-4B8C-83A1-F6EECF244321}">
                <p14:modId xmlns:p14="http://schemas.microsoft.com/office/powerpoint/2010/main" val="1386313017"/>
              </p:ext>
            </p:extLst>
          </p:nvPr>
        </p:nvGraphicFramePr>
        <p:xfrm>
          <a:off x="1674812" y="3075940"/>
          <a:ext cx="6469979" cy="3642360"/>
        </p:xfrm>
        <a:graphic>
          <a:graphicData uri="http://schemas.openxmlformats.org/drawingml/2006/table">
            <a:tbl>
              <a:tblPr firstRow="1" bandRow="1">
                <a:tableStyleId>{073A0DAA-6AF3-43AB-8588-CEC1D06C72B9}</a:tableStyleId>
              </a:tblPr>
              <a:tblGrid>
                <a:gridCol w="907379">
                  <a:extLst>
                    <a:ext uri="{9D8B030D-6E8A-4147-A177-3AD203B41FA5}">
                      <a16:colId xmlns:a16="http://schemas.microsoft.com/office/drawing/2014/main" val="3066211996"/>
                    </a:ext>
                  </a:extLst>
                </a:gridCol>
                <a:gridCol w="3276600">
                  <a:extLst>
                    <a:ext uri="{9D8B030D-6E8A-4147-A177-3AD203B41FA5}">
                      <a16:colId xmlns:a16="http://schemas.microsoft.com/office/drawing/2014/main" val="492204294"/>
                    </a:ext>
                  </a:extLst>
                </a:gridCol>
                <a:gridCol w="2286000">
                  <a:extLst>
                    <a:ext uri="{9D8B030D-6E8A-4147-A177-3AD203B41FA5}">
                      <a16:colId xmlns:a16="http://schemas.microsoft.com/office/drawing/2014/main" val="2456840158"/>
                    </a:ext>
                  </a:extLst>
                </a:gridCol>
              </a:tblGrid>
              <a:tr h="0">
                <a:tc>
                  <a:txBody>
                    <a:bodyPr/>
                    <a:lstStyle/>
                    <a:p>
                      <a:r>
                        <a:rPr lang="en-US" dirty="0"/>
                        <a:t>Index</a:t>
                      </a:r>
                    </a:p>
                  </a:txBody>
                  <a:tcPr/>
                </a:tc>
                <a:tc>
                  <a:txBody>
                    <a:bodyPr/>
                    <a:lstStyle/>
                    <a:p>
                      <a:r>
                        <a:rPr lang="en-US" dirty="0"/>
                        <a:t>Actual label / Desired output</a:t>
                      </a:r>
                    </a:p>
                  </a:txBody>
                  <a:tcPr/>
                </a:tc>
                <a:tc>
                  <a:txBody>
                    <a:bodyPr/>
                    <a:lstStyle/>
                    <a:p>
                      <a:r>
                        <a:rPr lang="en-US" dirty="0"/>
                        <a:t>Result of the model</a:t>
                      </a:r>
                    </a:p>
                  </a:txBody>
                  <a:tcPr/>
                </a:tc>
                <a:extLst>
                  <a:ext uri="{0D108BD9-81ED-4DB2-BD59-A6C34878D82A}">
                    <a16:rowId xmlns:a16="http://schemas.microsoft.com/office/drawing/2014/main" val="3113375016"/>
                  </a:ext>
                </a:extLst>
              </a:tr>
              <a:tr h="370840">
                <a:tc>
                  <a:txBody>
                    <a:bodyPr/>
                    <a:lstStyle/>
                    <a:p>
                      <a:r>
                        <a:rPr lang="en-US" dirty="0"/>
                        <a:t>#1</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1404359177"/>
                  </a:ext>
                </a:extLst>
              </a:tr>
              <a:tr h="370840">
                <a:tc>
                  <a:txBody>
                    <a:bodyPr/>
                    <a:lstStyle/>
                    <a:p>
                      <a:r>
                        <a:rPr lang="en-US" dirty="0"/>
                        <a:t>#2</a:t>
                      </a:r>
                    </a:p>
                  </a:txBody>
                  <a:tcPr/>
                </a:tc>
                <a:tc>
                  <a:txBody>
                    <a:bodyPr/>
                    <a:lstStyle/>
                    <a:p>
                      <a:r>
                        <a:rPr lang="en-US" dirty="0"/>
                        <a:t>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91727367"/>
                  </a:ext>
                </a:extLst>
              </a:tr>
              <a:tr h="370840">
                <a:tc>
                  <a:txBody>
                    <a:bodyPr/>
                    <a:lstStyle/>
                    <a:p>
                      <a:r>
                        <a:rPr lang="en-US" dirty="0"/>
                        <a:t>#3</a:t>
                      </a:r>
                    </a:p>
                  </a:txBody>
                  <a:tcPr/>
                </a:tc>
                <a:tc>
                  <a:txBody>
                    <a:bodyPr/>
                    <a:lstStyle/>
                    <a:p>
                      <a:r>
                        <a:rPr lang="en-US" dirty="0"/>
                        <a:t>Not A Cat</a:t>
                      </a:r>
                    </a:p>
                  </a:txBody>
                  <a:tcPr/>
                </a:tc>
                <a:tc>
                  <a:txBody>
                    <a:bodyPr/>
                    <a:lstStyle/>
                    <a:p>
                      <a:r>
                        <a:rPr lang="en-US" dirty="0"/>
                        <a:t>CAT</a:t>
                      </a:r>
                    </a:p>
                  </a:txBody>
                  <a:tcPr/>
                </a:tc>
                <a:extLst>
                  <a:ext uri="{0D108BD9-81ED-4DB2-BD59-A6C34878D82A}">
                    <a16:rowId xmlns:a16="http://schemas.microsoft.com/office/drawing/2014/main" val="188669697"/>
                  </a:ext>
                </a:extLst>
              </a:tr>
              <a:tr h="370840">
                <a:tc>
                  <a:txBody>
                    <a:bodyPr/>
                    <a:lstStyle/>
                    <a:p>
                      <a:r>
                        <a:rPr lang="en-US" dirty="0"/>
                        <a:t>#4</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1801741790"/>
                  </a:ext>
                </a:extLst>
              </a:tr>
              <a:tr h="370840">
                <a:tc>
                  <a:txBody>
                    <a:bodyPr/>
                    <a:lstStyle/>
                    <a:p>
                      <a:r>
                        <a:rPr lang="en-US"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2196065979"/>
                  </a:ext>
                </a:extLst>
              </a:tr>
              <a:tr h="370840">
                <a:tc>
                  <a:txBody>
                    <a:bodyPr/>
                    <a:lstStyle/>
                    <a:p>
                      <a:r>
                        <a:rPr lang="en-US"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4290376854"/>
                  </a:ext>
                </a:extLst>
              </a:tr>
              <a:tr h="370840">
                <a:tc>
                  <a:txBody>
                    <a:bodyPr/>
                    <a:lstStyle/>
                    <a:p>
                      <a:r>
                        <a:rPr lang="en-US"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r>
                        <a:rPr lang="en-US" dirty="0"/>
                        <a:t>CAT</a:t>
                      </a:r>
                    </a:p>
                  </a:txBody>
                  <a:tcPr/>
                </a:tc>
                <a:extLst>
                  <a:ext uri="{0D108BD9-81ED-4DB2-BD59-A6C34878D82A}">
                    <a16:rowId xmlns:a16="http://schemas.microsoft.com/office/drawing/2014/main" val="384333395"/>
                  </a:ext>
                </a:extLst>
              </a:tr>
              <a:tr h="370840">
                <a:tc>
                  <a:txBody>
                    <a:bodyPr/>
                    <a:lstStyle/>
                    <a:p>
                      <a:r>
                        <a:rPr lang="en-US" dirty="0"/>
                        <a:t>#8</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3348234640"/>
                  </a:ext>
                </a:extLst>
              </a:tr>
              <a:tr h="370840">
                <a:tc>
                  <a:txBody>
                    <a:bodyPr/>
                    <a:lstStyle/>
                    <a:p>
                      <a:r>
                        <a:rPr lang="en-US" dirty="0"/>
                        <a:t>#9</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2701026938"/>
                  </a:ext>
                </a:extLst>
              </a:tr>
            </a:tbl>
          </a:graphicData>
        </a:graphic>
      </p:graphicFrame>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710180"/>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26" name="Rectangle 25">
            <a:extLst>
              <a:ext uri="{FF2B5EF4-FFF2-40B4-BE49-F238E27FC236}">
                <a16:creationId xmlns:a16="http://schemas.microsoft.com/office/drawing/2014/main" id="{51D2BA49-6AB7-EA84-CDDE-F8E60C40205B}"/>
              </a:ext>
            </a:extLst>
          </p:cNvPr>
          <p:cNvSpPr/>
          <p:nvPr/>
        </p:nvSpPr>
        <p:spPr>
          <a:xfrm>
            <a:off x="1652930" y="4853589"/>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C4CA518-2FC2-6D73-5ECC-B55A4DF1D9F1}"/>
              </a:ext>
            </a:extLst>
          </p:cNvPr>
          <p:cNvSpPr/>
          <p:nvPr/>
        </p:nvSpPr>
        <p:spPr>
          <a:xfrm>
            <a:off x="1652930" y="5234589"/>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505200"/>
            <a:ext cx="3352800" cy="7188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Tree>
    <p:extLst>
      <p:ext uri="{BB962C8B-B14F-4D97-AF65-F5344CB8AC3E}">
        <p14:creationId xmlns:p14="http://schemas.microsoft.com/office/powerpoint/2010/main" val="3102757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randombar(horizontal)">
                                      <p:cBhvr>
                                        <p:cTn id="12" dur="500"/>
                                        <p:tgtEl>
                                          <p:spTgt spid="26"/>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randombar(horizontal)">
                                      <p:cBhvr>
                                        <p:cTn id="1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Let’s assume that we have the following data base: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45913A63-F1FA-BAE9-7C0F-D28A606B165D}"/>
              </a:ext>
            </a:extLst>
          </p:cNvPr>
          <p:cNvGraphicFramePr>
            <a:graphicFrameLocks noGrp="1"/>
          </p:cNvGraphicFramePr>
          <p:nvPr>
            <p:extLst>
              <p:ext uri="{D42A27DB-BD31-4B8C-83A1-F6EECF244321}">
                <p14:modId xmlns:p14="http://schemas.microsoft.com/office/powerpoint/2010/main" val="3416101770"/>
              </p:ext>
            </p:extLst>
          </p:nvPr>
        </p:nvGraphicFramePr>
        <p:xfrm>
          <a:off x="1674812" y="2990596"/>
          <a:ext cx="6469979" cy="3642360"/>
        </p:xfrm>
        <a:graphic>
          <a:graphicData uri="http://schemas.openxmlformats.org/drawingml/2006/table">
            <a:tbl>
              <a:tblPr firstRow="1" bandRow="1">
                <a:tableStyleId>{073A0DAA-6AF3-43AB-8588-CEC1D06C72B9}</a:tableStyleId>
              </a:tblPr>
              <a:tblGrid>
                <a:gridCol w="907379">
                  <a:extLst>
                    <a:ext uri="{9D8B030D-6E8A-4147-A177-3AD203B41FA5}">
                      <a16:colId xmlns:a16="http://schemas.microsoft.com/office/drawing/2014/main" val="3066211996"/>
                    </a:ext>
                  </a:extLst>
                </a:gridCol>
                <a:gridCol w="3276600">
                  <a:extLst>
                    <a:ext uri="{9D8B030D-6E8A-4147-A177-3AD203B41FA5}">
                      <a16:colId xmlns:a16="http://schemas.microsoft.com/office/drawing/2014/main" val="492204294"/>
                    </a:ext>
                  </a:extLst>
                </a:gridCol>
                <a:gridCol w="2286000">
                  <a:extLst>
                    <a:ext uri="{9D8B030D-6E8A-4147-A177-3AD203B41FA5}">
                      <a16:colId xmlns:a16="http://schemas.microsoft.com/office/drawing/2014/main" val="2456840158"/>
                    </a:ext>
                  </a:extLst>
                </a:gridCol>
              </a:tblGrid>
              <a:tr h="0">
                <a:tc>
                  <a:txBody>
                    <a:bodyPr/>
                    <a:lstStyle/>
                    <a:p>
                      <a:r>
                        <a:rPr lang="en-US" dirty="0"/>
                        <a:t>Index</a:t>
                      </a:r>
                    </a:p>
                  </a:txBody>
                  <a:tcPr/>
                </a:tc>
                <a:tc>
                  <a:txBody>
                    <a:bodyPr/>
                    <a:lstStyle/>
                    <a:p>
                      <a:r>
                        <a:rPr lang="en-US" dirty="0"/>
                        <a:t>Actual label / Desired output</a:t>
                      </a:r>
                    </a:p>
                  </a:txBody>
                  <a:tcPr/>
                </a:tc>
                <a:tc>
                  <a:txBody>
                    <a:bodyPr/>
                    <a:lstStyle/>
                    <a:p>
                      <a:r>
                        <a:rPr lang="en-US" dirty="0"/>
                        <a:t>Result of the model</a:t>
                      </a:r>
                    </a:p>
                  </a:txBody>
                  <a:tcPr/>
                </a:tc>
                <a:extLst>
                  <a:ext uri="{0D108BD9-81ED-4DB2-BD59-A6C34878D82A}">
                    <a16:rowId xmlns:a16="http://schemas.microsoft.com/office/drawing/2014/main" val="3113375016"/>
                  </a:ext>
                </a:extLst>
              </a:tr>
              <a:tr h="370840">
                <a:tc>
                  <a:txBody>
                    <a:bodyPr/>
                    <a:lstStyle/>
                    <a:p>
                      <a:r>
                        <a:rPr lang="en-US" dirty="0"/>
                        <a:t>#1</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1404359177"/>
                  </a:ext>
                </a:extLst>
              </a:tr>
              <a:tr h="370840">
                <a:tc>
                  <a:txBody>
                    <a:bodyPr/>
                    <a:lstStyle/>
                    <a:p>
                      <a:r>
                        <a:rPr lang="en-US" dirty="0"/>
                        <a:t>#2</a:t>
                      </a:r>
                    </a:p>
                  </a:txBody>
                  <a:tcPr/>
                </a:tc>
                <a:tc>
                  <a:txBody>
                    <a:bodyPr/>
                    <a:lstStyle/>
                    <a:p>
                      <a:r>
                        <a:rPr lang="en-US" dirty="0"/>
                        <a:t>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91727367"/>
                  </a:ext>
                </a:extLst>
              </a:tr>
              <a:tr h="370840">
                <a:tc>
                  <a:txBody>
                    <a:bodyPr/>
                    <a:lstStyle/>
                    <a:p>
                      <a:r>
                        <a:rPr lang="en-US" dirty="0"/>
                        <a:t>#3</a:t>
                      </a:r>
                    </a:p>
                  </a:txBody>
                  <a:tcPr/>
                </a:tc>
                <a:tc>
                  <a:txBody>
                    <a:bodyPr/>
                    <a:lstStyle/>
                    <a:p>
                      <a:r>
                        <a:rPr lang="en-US" dirty="0"/>
                        <a:t>Not A Cat</a:t>
                      </a:r>
                    </a:p>
                  </a:txBody>
                  <a:tcPr/>
                </a:tc>
                <a:tc>
                  <a:txBody>
                    <a:bodyPr/>
                    <a:lstStyle/>
                    <a:p>
                      <a:r>
                        <a:rPr lang="en-US" dirty="0"/>
                        <a:t>CAT</a:t>
                      </a:r>
                    </a:p>
                  </a:txBody>
                  <a:tcPr/>
                </a:tc>
                <a:extLst>
                  <a:ext uri="{0D108BD9-81ED-4DB2-BD59-A6C34878D82A}">
                    <a16:rowId xmlns:a16="http://schemas.microsoft.com/office/drawing/2014/main" val="188669697"/>
                  </a:ext>
                </a:extLst>
              </a:tr>
              <a:tr h="370840">
                <a:tc>
                  <a:txBody>
                    <a:bodyPr/>
                    <a:lstStyle/>
                    <a:p>
                      <a:r>
                        <a:rPr lang="en-US" dirty="0"/>
                        <a:t>#4</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1801741790"/>
                  </a:ext>
                </a:extLst>
              </a:tr>
              <a:tr h="370840">
                <a:tc>
                  <a:txBody>
                    <a:bodyPr/>
                    <a:lstStyle/>
                    <a:p>
                      <a:r>
                        <a:rPr lang="en-US"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2196065979"/>
                  </a:ext>
                </a:extLst>
              </a:tr>
              <a:tr h="370840">
                <a:tc>
                  <a:txBody>
                    <a:bodyPr/>
                    <a:lstStyle/>
                    <a:p>
                      <a:r>
                        <a:rPr lang="en-US"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4290376854"/>
                  </a:ext>
                </a:extLst>
              </a:tr>
              <a:tr h="370840">
                <a:tc>
                  <a:txBody>
                    <a:bodyPr/>
                    <a:lstStyle/>
                    <a:p>
                      <a:r>
                        <a:rPr lang="en-US"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r>
                        <a:rPr lang="en-US" dirty="0"/>
                        <a:t>CAT</a:t>
                      </a:r>
                    </a:p>
                  </a:txBody>
                  <a:tcPr/>
                </a:tc>
                <a:extLst>
                  <a:ext uri="{0D108BD9-81ED-4DB2-BD59-A6C34878D82A}">
                    <a16:rowId xmlns:a16="http://schemas.microsoft.com/office/drawing/2014/main" val="384333395"/>
                  </a:ext>
                </a:extLst>
              </a:tr>
              <a:tr h="370840">
                <a:tc>
                  <a:txBody>
                    <a:bodyPr/>
                    <a:lstStyle/>
                    <a:p>
                      <a:r>
                        <a:rPr lang="en-US" dirty="0"/>
                        <a:t>#8</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3348234640"/>
                  </a:ext>
                </a:extLst>
              </a:tr>
              <a:tr h="370840">
                <a:tc>
                  <a:txBody>
                    <a:bodyPr/>
                    <a:lstStyle/>
                    <a:p>
                      <a:r>
                        <a:rPr lang="en-US" dirty="0"/>
                        <a:t>#9</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2701026938"/>
                  </a:ext>
                </a:extLst>
              </a:tr>
            </a:tbl>
          </a:graphicData>
        </a:graphic>
      </p:graphicFrame>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710180"/>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26" name="Rectangle 25">
            <a:extLst>
              <a:ext uri="{FF2B5EF4-FFF2-40B4-BE49-F238E27FC236}">
                <a16:creationId xmlns:a16="http://schemas.microsoft.com/office/drawing/2014/main" id="{51D2BA49-6AB7-EA84-CDDE-F8E60C40205B}"/>
              </a:ext>
            </a:extLst>
          </p:cNvPr>
          <p:cNvSpPr/>
          <p:nvPr/>
        </p:nvSpPr>
        <p:spPr>
          <a:xfrm>
            <a:off x="1593436" y="3662504"/>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505200"/>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296774"/>
            <a:ext cx="3352800" cy="718820"/>
          </a:xfrm>
          <a:prstGeom prst="roundRect">
            <a:avLst/>
          </a:prstGeom>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p:spTree>
    <p:extLst>
      <p:ext uri="{BB962C8B-B14F-4D97-AF65-F5344CB8AC3E}">
        <p14:creationId xmlns:p14="http://schemas.microsoft.com/office/powerpoint/2010/main" val="9915357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randombar(horizontal)">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Let’s assume that we have the following data base: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4">
            <a:extLst>
              <a:ext uri="{FF2B5EF4-FFF2-40B4-BE49-F238E27FC236}">
                <a16:creationId xmlns:a16="http://schemas.microsoft.com/office/drawing/2014/main" id="{45913A63-F1FA-BAE9-7C0F-D28A606B165D}"/>
              </a:ext>
            </a:extLst>
          </p:cNvPr>
          <p:cNvGraphicFramePr>
            <a:graphicFrameLocks noGrp="1"/>
          </p:cNvGraphicFramePr>
          <p:nvPr>
            <p:extLst>
              <p:ext uri="{D42A27DB-BD31-4B8C-83A1-F6EECF244321}">
                <p14:modId xmlns:p14="http://schemas.microsoft.com/office/powerpoint/2010/main" val="295443199"/>
              </p:ext>
            </p:extLst>
          </p:nvPr>
        </p:nvGraphicFramePr>
        <p:xfrm>
          <a:off x="1674812" y="3051556"/>
          <a:ext cx="6469979" cy="3642360"/>
        </p:xfrm>
        <a:graphic>
          <a:graphicData uri="http://schemas.openxmlformats.org/drawingml/2006/table">
            <a:tbl>
              <a:tblPr firstRow="1" bandRow="1">
                <a:tableStyleId>{073A0DAA-6AF3-43AB-8588-CEC1D06C72B9}</a:tableStyleId>
              </a:tblPr>
              <a:tblGrid>
                <a:gridCol w="907379">
                  <a:extLst>
                    <a:ext uri="{9D8B030D-6E8A-4147-A177-3AD203B41FA5}">
                      <a16:colId xmlns:a16="http://schemas.microsoft.com/office/drawing/2014/main" val="3066211996"/>
                    </a:ext>
                  </a:extLst>
                </a:gridCol>
                <a:gridCol w="3276600">
                  <a:extLst>
                    <a:ext uri="{9D8B030D-6E8A-4147-A177-3AD203B41FA5}">
                      <a16:colId xmlns:a16="http://schemas.microsoft.com/office/drawing/2014/main" val="492204294"/>
                    </a:ext>
                  </a:extLst>
                </a:gridCol>
                <a:gridCol w="2286000">
                  <a:extLst>
                    <a:ext uri="{9D8B030D-6E8A-4147-A177-3AD203B41FA5}">
                      <a16:colId xmlns:a16="http://schemas.microsoft.com/office/drawing/2014/main" val="2456840158"/>
                    </a:ext>
                  </a:extLst>
                </a:gridCol>
              </a:tblGrid>
              <a:tr h="0">
                <a:tc>
                  <a:txBody>
                    <a:bodyPr/>
                    <a:lstStyle/>
                    <a:p>
                      <a:r>
                        <a:rPr lang="en-US" dirty="0"/>
                        <a:t>Index</a:t>
                      </a:r>
                    </a:p>
                  </a:txBody>
                  <a:tcPr/>
                </a:tc>
                <a:tc>
                  <a:txBody>
                    <a:bodyPr/>
                    <a:lstStyle/>
                    <a:p>
                      <a:r>
                        <a:rPr lang="en-US" dirty="0"/>
                        <a:t>Actual label / Desired output</a:t>
                      </a:r>
                    </a:p>
                  </a:txBody>
                  <a:tcPr/>
                </a:tc>
                <a:tc>
                  <a:txBody>
                    <a:bodyPr/>
                    <a:lstStyle/>
                    <a:p>
                      <a:r>
                        <a:rPr lang="en-US" dirty="0"/>
                        <a:t>Result of the model</a:t>
                      </a:r>
                    </a:p>
                  </a:txBody>
                  <a:tcPr/>
                </a:tc>
                <a:extLst>
                  <a:ext uri="{0D108BD9-81ED-4DB2-BD59-A6C34878D82A}">
                    <a16:rowId xmlns:a16="http://schemas.microsoft.com/office/drawing/2014/main" val="3113375016"/>
                  </a:ext>
                </a:extLst>
              </a:tr>
              <a:tr h="370840">
                <a:tc>
                  <a:txBody>
                    <a:bodyPr/>
                    <a:lstStyle/>
                    <a:p>
                      <a:r>
                        <a:rPr lang="en-US" dirty="0"/>
                        <a:t>#1</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1404359177"/>
                  </a:ext>
                </a:extLst>
              </a:tr>
              <a:tr h="370840">
                <a:tc>
                  <a:txBody>
                    <a:bodyPr/>
                    <a:lstStyle/>
                    <a:p>
                      <a:r>
                        <a:rPr lang="en-US" dirty="0"/>
                        <a:t>#2</a:t>
                      </a:r>
                    </a:p>
                  </a:txBody>
                  <a:tcPr/>
                </a:tc>
                <a:tc>
                  <a:txBody>
                    <a:bodyPr/>
                    <a:lstStyle/>
                    <a:p>
                      <a:r>
                        <a:rPr lang="en-US" dirty="0"/>
                        <a:t>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91727367"/>
                  </a:ext>
                </a:extLst>
              </a:tr>
              <a:tr h="370840">
                <a:tc>
                  <a:txBody>
                    <a:bodyPr/>
                    <a:lstStyle/>
                    <a:p>
                      <a:r>
                        <a:rPr lang="en-US" dirty="0"/>
                        <a:t>#3</a:t>
                      </a:r>
                    </a:p>
                  </a:txBody>
                  <a:tcPr/>
                </a:tc>
                <a:tc>
                  <a:txBody>
                    <a:bodyPr/>
                    <a:lstStyle/>
                    <a:p>
                      <a:r>
                        <a:rPr lang="en-US" dirty="0"/>
                        <a:t>Not A Cat</a:t>
                      </a:r>
                    </a:p>
                  </a:txBody>
                  <a:tcPr/>
                </a:tc>
                <a:tc>
                  <a:txBody>
                    <a:bodyPr/>
                    <a:lstStyle/>
                    <a:p>
                      <a:r>
                        <a:rPr lang="en-US" dirty="0"/>
                        <a:t>CAT</a:t>
                      </a:r>
                    </a:p>
                  </a:txBody>
                  <a:tcPr/>
                </a:tc>
                <a:extLst>
                  <a:ext uri="{0D108BD9-81ED-4DB2-BD59-A6C34878D82A}">
                    <a16:rowId xmlns:a16="http://schemas.microsoft.com/office/drawing/2014/main" val="188669697"/>
                  </a:ext>
                </a:extLst>
              </a:tr>
              <a:tr h="370840">
                <a:tc>
                  <a:txBody>
                    <a:bodyPr/>
                    <a:lstStyle/>
                    <a:p>
                      <a:r>
                        <a:rPr lang="en-US" dirty="0"/>
                        <a:t>#4</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1801741790"/>
                  </a:ext>
                </a:extLst>
              </a:tr>
              <a:tr h="370840">
                <a:tc>
                  <a:txBody>
                    <a:bodyPr/>
                    <a:lstStyle/>
                    <a:p>
                      <a:r>
                        <a:rPr lang="en-US"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2196065979"/>
                  </a:ext>
                </a:extLst>
              </a:tr>
              <a:tr h="370840">
                <a:tc>
                  <a:txBody>
                    <a:bodyPr/>
                    <a:lstStyle/>
                    <a:p>
                      <a:r>
                        <a:rPr lang="en-US"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extLst>
                  <a:ext uri="{0D108BD9-81ED-4DB2-BD59-A6C34878D82A}">
                    <a16:rowId xmlns:a16="http://schemas.microsoft.com/office/drawing/2014/main" val="4290376854"/>
                  </a:ext>
                </a:extLst>
              </a:tr>
              <a:tr h="370840">
                <a:tc>
                  <a:txBody>
                    <a:bodyPr/>
                    <a:lstStyle/>
                    <a:p>
                      <a:r>
                        <a:rPr lang="en-US"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 Cat</a:t>
                      </a:r>
                    </a:p>
                  </a:txBody>
                  <a:tcPr/>
                </a:tc>
                <a:tc>
                  <a:txBody>
                    <a:bodyPr/>
                    <a:lstStyle/>
                    <a:p>
                      <a:r>
                        <a:rPr lang="en-US" dirty="0"/>
                        <a:t>CAT</a:t>
                      </a:r>
                    </a:p>
                  </a:txBody>
                  <a:tcPr/>
                </a:tc>
                <a:extLst>
                  <a:ext uri="{0D108BD9-81ED-4DB2-BD59-A6C34878D82A}">
                    <a16:rowId xmlns:a16="http://schemas.microsoft.com/office/drawing/2014/main" val="384333395"/>
                  </a:ext>
                </a:extLst>
              </a:tr>
              <a:tr h="370840">
                <a:tc>
                  <a:txBody>
                    <a:bodyPr/>
                    <a:lstStyle/>
                    <a:p>
                      <a:r>
                        <a:rPr lang="en-US" dirty="0"/>
                        <a:t>#8</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3348234640"/>
                  </a:ext>
                </a:extLst>
              </a:tr>
              <a:tr h="370840">
                <a:tc>
                  <a:txBody>
                    <a:bodyPr/>
                    <a:lstStyle/>
                    <a:p>
                      <a:r>
                        <a:rPr lang="en-US" dirty="0"/>
                        <a:t>#9</a:t>
                      </a:r>
                    </a:p>
                  </a:txBody>
                  <a:tcPr/>
                </a:tc>
                <a:tc>
                  <a:txBody>
                    <a:bodyPr/>
                    <a:lstStyle/>
                    <a:p>
                      <a:r>
                        <a:rPr lang="en-US" dirty="0"/>
                        <a:t>CAT</a:t>
                      </a:r>
                    </a:p>
                  </a:txBody>
                  <a:tcPr/>
                </a:tc>
                <a:tc>
                  <a:txBody>
                    <a:bodyPr/>
                    <a:lstStyle/>
                    <a:p>
                      <a:r>
                        <a:rPr lang="en-US" dirty="0"/>
                        <a:t>CAT</a:t>
                      </a:r>
                    </a:p>
                  </a:txBody>
                  <a:tcPr/>
                </a:tc>
                <a:extLst>
                  <a:ext uri="{0D108BD9-81ED-4DB2-BD59-A6C34878D82A}">
                    <a16:rowId xmlns:a16="http://schemas.microsoft.com/office/drawing/2014/main" val="2701026938"/>
                  </a:ext>
                </a:extLst>
              </a:tr>
            </a:tbl>
          </a:graphicData>
        </a:graphic>
      </p:graphicFrame>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710180"/>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26" name="Rectangle 25">
            <a:extLst>
              <a:ext uri="{FF2B5EF4-FFF2-40B4-BE49-F238E27FC236}">
                <a16:creationId xmlns:a16="http://schemas.microsoft.com/office/drawing/2014/main" id="{51D2BA49-6AB7-EA84-CDDE-F8E60C40205B}"/>
              </a:ext>
            </a:extLst>
          </p:cNvPr>
          <p:cNvSpPr/>
          <p:nvPr/>
        </p:nvSpPr>
        <p:spPr>
          <a:xfrm>
            <a:off x="1642693" y="4048265"/>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505200"/>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296774"/>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p:sp>
        <p:nvSpPr>
          <p:cNvPr id="7" name="Rectangle: Rounded Corners 6">
            <a:extLst>
              <a:ext uri="{FF2B5EF4-FFF2-40B4-BE49-F238E27FC236}">
                <a16:creationId xmlns:a16="http://schemas.microsoft.com/office/drawing/2014/main" id="{75095554-A313-202C-C81B-5841B0F827CE}"/>
              </a:ext>
            </a:extLst>
          </p:cNvPr>
          <p:cNvSpPr/>
          <p:nvPr/>
        </p:nvSpPr>
        <p:spPr>
          <a:xfrm>
            <a:off x="8304212" y="5088348"/>
            <a:ext cx="3352800" cy="718820"/>
          </a:xfrm>
          <a:prstGeom prst="roundRect">
            <a:avLst/>
          </a:prstGeom>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Positives (FP) = 2</a:t>
            </a:r>
          </a:p>
          <a:p>
            <a:pPr algn="ctr"/>
            <a:r>
              <a:rPr lang="en-US" dirty="0">
                <a:solidFill>
                  <a:schemeClr val="tx1"/>
                </a:solidFill>
                <a:latin typeface="Arial" panose="020B0604020202020204" pitchFamily="34" charset="0"/>
                <a:cs typeface="Arial" panose="020B0604020202020204" pitchFamily="34" charset="0"/>
              </a:rPr>
              <a:t>(entries #3, #7)</a:t>
            </a:r>
          </a:p>
        </p:txBody>
      </p:sp>
      <p:sp>
        <p:nvSpPr>
          <p:cNvPr id="8" name="Rectangle 7">
            <a:extLst>
              <a:ext uri="{FF2B5EF4-FFF2-40B4-BE49-F238E27FC236}">
                <a16:creationId xmlns:a16="http://schemas.microsoft.com/office/drawing/2014/main" id="{F82271AC-6019-B912-6567-A5798D7F62F4}"/>
              </a:ext>
            </a:extLst>
          </p:cNvPr>
          <p:cNvSpPr/>
          <p:nvPr/>
        </p:nvSpPr>
        <p:spPr>
          <a:xfrm>
            <a:off x="1660523" y="5562456"/>
            <a:ext cx="6498555" cy="40421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37945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randombar(horizontal)">
                                      <p:cBhvr>
                                        <p:cTn id="12" dur="500"/>
                                        <p:tgtEl>
                                          <p:spTgt spid="26"/>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randombar(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With this values computed we can evaluate several metrics: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941828"/>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736848"/>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528422"/>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p:sp>
        <p:nvSpPr>
          <p:cNvPr id="7" name="Rectangle: Rounded Corners 6">
            <a:extLst>
              <a:ext uri="{FF2B5EF4-FFF2-40B4-BE49-F238E27FC236}">
                <a16:creationId xmlns:a16="http://schemas.microsoft.com/office/drawing/2014/main" id="{75095554-A313-202C-C81B-5841B0F827CE}"/>
              </a:ext>
            </a:extLst>
          </p:cNvPr>
          <p:cNvSpPr/>
          <p:nvPr/>
        </p:nvSpPr>
        <p:spPr>
          <a:xfrm>
            <a:off x="8304212" y="5319996"/>
            <a:ext cx="3352800" cy="718820"/>
          </a:xfrm>
          <a:prstGeom prst="roundRect">
            <a:avLst/>
          </a:prstGeom>
          <a:ln>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Positives (FP) = 2</a:t>
            </a:r>
          </a:p>
          <a:p>
            <a:pPr algn="ctr"/>
            <a:r>
              <a:rPr lang="en-US" dirty="0">
                <a:solidFill>
                  <a:schemeClr val="tx1"/>
                </a:solidFill>
                <a:latin typeface="Arial" panose="020B0604020202020204" pitchFamily="34" charset="0"/>
                <a:cs typeface="Arial" panose="020B0604020202020204" pitchFamily="34" charset="0"/>
              </a:rPr>
              <a:t>(entries #3, #7)</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5AC237-A2F3-275F-FB14-D157B181252B}"/>
                  </a:ext>
                </a:extLst>
              </p:cNvPr>
              <p:cNvSpPr txBox="1"/>
              <p:nvPr/>
            </p:nvSpPr>
            <p:spPr>
              <a:xfrm>
                <a:off x="1827212" y="3628956"/>
                <a:ext cx="6271900" cy="5833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𝐴𝑐𝑐</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𝑇𝑁</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𝑇𝑁</m:t>
                          </m:r>
                          <m:r>
                            <a:rPr lang="en-US" sz="2000" b="0" i="1" smtClean="0">
                              <a:latin typeface="Cambria Math" panose="02040503050406030204" pitchFamily="18" charset="0"/>
                            </a:rPr>
                            <m:t>+</m:t>
                          </m:r>
                          <m:r>
                            <a:rPr lang="en-US" sz="2000" b="0" i="1" smtClean="0">
                              <a:latin typeface="Cambria Math" panose="02040503050406030204" pitchFamily="18" charset="0"/>
                            </a:rPr>
                            <m:t>𝐹𝑃</m:t>
                          </m:r>
                          <m:r>
                            <a:rPr lang="en-US" sz="2000" b="0" i="1" smtClean="0">
                              <a:latin typeface="Cambria Math" panose="02040503050406030204" pitchFamily="18" charset="0"/>
                            </a:rPr>
                            <m:t>+</m:t>
                          </m:r>
                          <m:r>
                            <a:rPr lang="en-US" sz="2000" b="0" i="1" smtClean="0">
                              <a:latin typeface="Cambria Math" panose="02040503050406030204" pitchFamily="18" charset="0"/>
                            </a:rPr>
                            <m:t>𝐹𝑁</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4+2</m:t>
                          </m:r>
                        </m:num>
                        <m:den>
                          <m:r>
                            <a:rPr lang="en-US" sz="2000" b="0" i="1" smtClean="0">
                              <a:latin typeface="Cambria Math" panose="02040503050406030204" pitchFamily="18" charset="0"/>
                            </a:rPr>
                            <m:t>4+2+1+2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6</m:t>
                          </m:r>
                        </m:num>
                        <m:den>
                          <m:r>
                            <a:rPr lang="en-US" sz="2000" b="0" i="1" smtClean="0">
                              <a:latin typeface="Cambria Math" panose="02040503050406030204" pitchFamily="18" charset="0"/>
                            </a:rPr>
                            <m:t>9</m:t>
                          </m:r>
                        </m:den>
                      </m:f>
                      <m:r>
                        <a:rPr lang="en-US" sz="2000" b="0" i="1" smtClean="0">
                          <a:latin typeface="Cambria Math" panose="02040503050406030204" pitchFamily="18" charset="0"/>
                        </a:rPr>
                        <m:t>=66%</m:t>
                      </m:r>
                    </m:oMath>
                  </m:oMathPara>
                </a14:m>
                <a:endParaRPr lang="en-US" sz="2000" dirty="0"/>
              </a:p>
            </p:txBody>
          </p:sp>
        </mc:Choice>
        <mc:Fallback xmlns="">
          <p:sp>
            <p:nvSpPr>
              <p:cNvPr id="9" name="TextBox 8">
                <a:extLst>
                  <a:ext uri="{FF2B5EF4-FFF2-40B4-BE49-F238E27FC236}">
                    <a16:creationId xmlns:a16="http://schemas.microsoft.com/office/drawing/2014/main" id="{CB5AC237-A2F3-275F-FB14-D157B181252B}"/>
                  </a:ext>
                </a:extLst>
              </p:cNvPr>
              <p:cNvSpPr txBox="1">
                <a:spLocks noRot="1" noChangeAspect="1" noMove="1" noResize="1" noEditPoints="1" noAdjustHandles="1" noChangeArrowheads="1" noChangeShapeType="1" noTextEdit="1"/>
              </p:cNvSpPr>
              <p:nvPr/>
            </p:nvSpPr>
            <p:spPr>
              <a:xfrm>
                <a:off x="1827212" y="3628956"/>
                <a:ext cx="6271900" cy="583365"/>
              </a:xfrm>
              <a:prstGeom prst="rect">
                <a:avLst/>
              </a:prstGeom>
              <a:blipFill>
                <a:blip r:embed="rId3"/>
                <a:stretch>
                  <a:fillRect b="-14894"/>
                </a:stretch>
              </a:blipFill>
            </p:spPr>
            <p:txBody>
              <a:bodyPr/>
              <a:lstStyle/>
              <a:p>
                <a:r>
                  <a:rPr lang="en-US">
                    <a:noFill/>
                  </a:rPr>
                  <a:t> </a:t>
                </a:r>
              </a:p>
            </p:txBody>
          </p:sp>
        </mc:Fallback>
      </mc:AlternateContent>
      <p:sp>
        <p:nvSpPr>
          <p:cNvPr id="11" name="Rectangle: Rounded Corners 10">
            <a:extLst>
              <a:ext uri="{FF2B5EF4-FFF2-40B4-BE49-F238E27FC236}">
                <a16:creationId xmlns:a16="http://schemas.microsoft.com/office/drawing/2014/main" id="{02827302-B130-08E8-CCEB-D80B11E61CC1}"/>
              </a:ext>
            </a:extLst>
          </p:cNvPr>
          <p:cNvSpPr/>
          <p:nvPr/>
        </p:nvSpPr>
        <p:spPr>
          <a:xfrm>
            <a:off x="1798537" y="2974848"/>
            <a:ext cx="6300575"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1" dirty="0">
                <a:latin typeface="Arial" panose="020B0604020202020204" pitchFamily="34" charset="0"/>
                <a:cs typeface="Arial" panose="020B0604020202020204" pitchFamily="34" charset="0"/>
              </a:rPr>
              <a:t>Accuracy (Acc)</a:t>
            </a:r>
          </a:p>
        </p:txBody>
      </p:sp>
      <p:sp>
        <p:nvSpPr>
          <p:cNvPr id="12" name="Rectangle 11">
            <a:extLst>
              <a:ext uri="{FF2B5EF4-FFF2-40B4-BE49-F238E27FC236}">
                <a16:creationId xmlns:a16="http://schemas.microsoft.com/office/drawing/2014/main" id="{7986930B-84CA-9A1A-F855-09F4A069E479}"/>
              </a:ext>
            </a:extLst>
          </p:cNvPr>
          <p:cNvSpPr/>
          <p:nvPr/>
        </p:nvSpPr>
        <p:spPr>
          <a:xfrm>
            <a:off x="1903412" y="4803648"/>
            <a:ext cx="6195700" cy="1235168"/>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accuracy is a measure of the correctness of a model's predictions , in other words how many samples were correctly classified from the test set. It is good for a balanced data set.</a:t>
            </a:r>
          </a:p>
        </p:txBody>
      </p:sp>
    </p:spTree>
    <p:extLst>
      <p:ext uri="{BB962C8B-B14F-4D97-AF65-F5344CB8AC3E}">
        <p14:creationId xmlns:p14="http://schemas.microsoft.com/office/powerpoint/2010/main" val="1599109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With this values computed we can evaluate several metrics: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954020"/>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749040"/>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540614"/>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5AC237-A2F3-275F-FB14-D157B181252B}"/>
                  </a:ext>
                </a:extLst>
              </p:cNvPr>
              <p:cNvSpPr txBox="1"/>
              <p:nvPr/>
            </p:nvSpPr>
            <p:spPr>
              <a:xfrm>
                <a:off x="1827212" y="3641148"/>
                <a:ext cx="6271900" cy="5833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𝐹𝑃𝑅</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𝐹𝑃</m:t>
                          </m:r>
                        </m:num>
                        <m:den>
                          <m:r>
                            <a:rPr lang="en-US" sz="2000" b="0" i="1" smtClean="0">
                              <a:latin typeface="Cambria Math" panose="02040503050406030204" pitchFamily="18" charset="0"/>
                            </a:rPr>
                            <m:t>𝐹𝑃</m:t>
                          </m:r>
                          <m:r>
                            <a:rPr lang="en-US" sz="2000" b="0" i="1" smtClean="0">
                              <a:latin typeface="Cambria Math" panose="02040503050406030204" pitchFamily="18" charset="0"/>
                            </a:rPr>
                            <m:t>+</m:t>
                          </m:r>
                          <m:r>
                            <a:rPr lang="en-US" sz="2000" b="0" i="1" smtClean="0">
                              <a:latin typeface="Cambria Math" panose="02040503050406030204" pitchFamily="18" charset="0"/>
                            </a:rPr>
                            <m:t>𝑇𝑁</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2+2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4</m:t>
                          </m:r>
                        </m:den>
                      </m:f>
                      <m:r>
                        <a:rPr lang="en-US" sz="2000" b="0" i="1" smtClean="0">
                          <a:latin typeface="Cambria Math" panose="02040503050406030204" pitchFamily="18" charset="0"/>
                        </a:rPr>
                        <m:t>=50%</m:t>
                      </m:r>
                    </m:oMath>
                  </m:oMathPara>
                </a14:m>
                <a:endParaRPr lang="en-US" sz="2000" dirty="0"/>
              </a:p>
            </p:txBody>
          </p:sp>
        </mc:Choice>
        <mc:Fallback xmlns="">
          <p:sp>
            <p:nvSpPr>
              <p:cNvPr id="9" name="TextBox 8">
                <a:extLst>
                  <a:ext uri="{FF2B5EF4-FFF2-40B4-BE49-F238E27FC236}">
                    <a16:creationId xmlns:a16="http://schemas.microsoft.com/office/drawing/2014/main" id="{CB5AC237-A2F3-275F-FB14-D157B181252B}"/>
                  </a:ext>
                </a:extLst>
              </p:cNvPr>
              <p:cNvSpPr txBox="1">
                <a:spLocks noRot="1" noChangeAspect="1" noMove="1" noResize="1" noEditPoints="1" noAdjustHandles="1" noChangeArrowheads="1" noChangeShapeType="1" noTextEdit="1"/>
              </p:cNvSpPr>
              <p:nvPr/>
            </p:nvSpPr>
            <p:spPr>
              <a:xfrm>
                <a:off x="1827212" y="3641148"/>
                <a:ext cx="6271900" cy="583365"/>
              </a:xfrm>
              <a:prstGeom prst="rect">
                <a:avLst/>
              </a:prstGeom>
              <a:blipFill>
                <a:blip r:embed="rId3"/>
                <a:stretch>
                  <a:fillRect b="-14894"/>
                </a:stretch>
              </a:blipFill>
            </p:spPr>
            <p:txBody>
              <a:bodyPr/>
              <a:lstStyle/>
              <a:p>
                <a:r>
                  <a:rPr lang="en-US">
                    <a:noFill/>
                  </a:rPr>
                  <a:t> </a:t>
                </a:r>
              </a:p>
            </p:txBody>
          </p:sp>
        </mc:Fallback>
      </mc:AlternateContent>
      <p:sp>
        <p:nvSpPr>
          <p:cNvPr id="11" name="Rectangle: Rounded Corners 10">
            <a:extLst>
              <a:ext uri="{FF2B5EF4-FFF2-40B4-BE49-F238E27FC236}">
                <a16:creationId xmlns:a16="http://schemas.microsoft.com/office/drawing/2014/main" id="{02827302-B130-08E8-CCEB-D80B11E61CC1}"/>
              </a:ext>
            </a:extLst>
          </p:cNvPr>
          <p:cNvSpPr/>
          <p:nvPr/>
        </p:nvSpPr>
        <p:spPr>
          <a:xfrm>
            <a:off x="1798537" y="2987040"/>
            <a:ext cx="6300575"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1" dirty="0">
                <a:latin typeface="Arial" panose="020B0604020202020204" pitchFamily="34" charset="0"/>
                <a:cs typeface="Arial" panose="020B0604020202020204" pitchFamily="34" charset="0"/>
              </a:rPr>
              <a:t>False Positive Rate (FPR)</a:t>
            </a:r>
          </a:p>
        </p:txBody>
      </p:sp>
      <p:sp>
        <p:nvSpPr>
          <p:cNvPr id="12" name="Rectangle 11">
            <a:extLst>
              <a:ext uri="{FF2B5EF4-FFF2-40B4-BE49-F238E27FC236}">
                <a16:creationId xmlns:a16="http://schemas.microsoft.com/office/drawing/2014/main" id="{7986930B-84CA-9A1A-F855-09F4A069E479}"/>
              </a:ext>
            </a:extLst>
          </p:cNvPr>
          <p:cNvSpPr/>
          <p:nvPr/>
        </p:nvSpPr>
        <p:spPr>
          <a:xfrm>
            <a:off x="1903412" y="4815840"/>
            <a:ext cx="6195700" cy="1235168"/>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proportion of negative instances that are incorrectly classified as positive</a:t>
            </a:r>
          </a:p>
        </p:txBody>
      </p:sp>
      <p:sp>
        <p:nvSpPr>
          <p:cNvPr id="4" name="Rectangle: Rounded Corners 6">
            <a:extLst>
              <a:ext uri="{FF2B5EF4-FFF2-40B4-BE49-F238E27FC236}">
                <a16:creationId xmlns:a16="http://schemas.microsoft.com/office/drawing/2014/main" id="{0B16DAA3-4E87-5BDC-EB43-5057885AC206}"/>
              </a:ext>
            </a:extLst>
          </p:cNvPr>
          <p:cNvSpPr/>
          <p:nvPr/>
        </p:nvSpPr>
        <p:spPr>
          <a:xfrm>
            <a:off x="8304212" y="5319996"/>
            <a:ext cx="3352800" cy="718820"/>
          </a:xfrm>
          <a:prstGeom prst="roundRect">
            <a:avLst/>
          </a:prstGeom>
          <a:ln>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Positives (FP) = 2</a:t>
            </a:r>
          </a:p>
          <a:p>
            <a:pPr algn="ctr"/>
            <a:r>
              <a:rPr lang="en-US" dirty="0">
                <a:solidFill>
                  <a:schemeClr val="tx1"/>
                </a:solidFill>
                <a:latin typeface="Arial" panose="020B0604020202020204" pitchFamily="34" charset="0"/>
                <a:cs typeface="Arial" panose="020B0604020202020204" pitchFamily="34" charset="0"/>
              </a:rPr>
              <a:t>(entries #3, #7)</a:t>
            </a:r>
          </a:p>
        </p:txBody>
      </p:sp>
    </p:spTree>
    <p:extLst>
      <p:ext uri="{BB962C8B-B14F-4D97-AF65-F5344CB8AC3E}">
        <p14:creationId xmlns:p14="http://schemas.microsoft.com/office/powerpoint/2010/main" val="38877693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With this values computed we can evaluate several metrics: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990596"/>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785616"/>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577190"/>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5AC237-A2F3-275F-FB14-D157B181252B}"/>
                  </a:ext>
                </a:extLst>
              </p:cNvPr>
              <p:cNvSpPr txBox="1"/>
              <p:nvPr/>
            </p:nvSpPr>
            <p:spPr>
              <a:xfrm>
                <a:off x="1827212" y="3677724"/>
                <a:ext cx="6271900" cy="5833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𝐹𝑁𝑅</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𝐹𝑁</m:t>
                          </m:r>
                        </m:num>
                        <m:den>
                          <m:r>
                            <a:rPr lang="en-US" sz="2000" b="0" i="1" smtClean="0">
                              <a:latin typeface="Cambria Math" panose="02040503050406030204" pitchFamily="18" charset="0"/>
                            </a:rPr>
                            <m:t>𝐹𝑁</m:t>
                          </m:r>
                          <m:r>
                            <a:rPr lang="en-US" sz="2000" b="0" i="1" smtClean="0">
                              <a:latin typeface="Cambria Math" panose="02040503050406030204" pitchFamily="18" charset="0"/>
                            </a:rPr>
                            <m:t>+</m:t>
                          </m:r>
                          <m:r>
                            <a:rPr lang="en-US" sz="2000" b="0" i="1" smtClean="0">
                              <a:latin typeface="Cambria Math" panose="02040503050406030204" pitchFamily="18" charset="0"/>
                            </a:rPr>
                            <m:t>𝑇𝑃</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1+4</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5</m:t>
                          </m:r>
                        </m:den>
                      </m:f>
                      <m:r>
                        <a:rPr lang="en-US" sz="2000" b="0" i="1" smtClean="0">
                          <a:latin typeface="Cambria Math" panose="02040503050406030204" pitchFamily="18" charset="0"/>
                        </a:rPr>
                        <m:t>=20%</m:t>
                      </m:r>
                    </m:oMath>
                  </m:oMathPara>
                </a14:m>
                <a:endParaRPr lang="en-US" sz="2000" dirty="0"/>
              </a:p>
            </p:txBody>
          </p:sp>
        </mc:Choice>
        <mc:Fallback xmlns="">
          <p:sp>
            <p:nvSpPr>
              <p:cNvPr id="9" name="TextBox 8">
                <a:extLst>
                  <a:ext uri="{FF2B5EF4-FFF2-40B4-BE49-F238E27FC236}">
                    <a16:creationId xmlns:a16="http://schemas.microsoft.com/office/drawing/2014/main" id="{CB5AC237-A2F3-275F-FB14-D157B181252B}"/>
                  </a:ext>
                </a:extLst>
              </p:cNvPr>
              <p:cNvSpPr txBox="1">
                <a:spLocks noRot="1" noChangeAspect="1" noMove="1" noResize="1" noEditPoints="1" noAdjustHandles="1" noChangeArrowheads="1" noChangeShapeType="1" noTextEdit="1"/>
              </p:cNvSpPr>
              <p:nvPr/>
            </p:nvSpPr>
            <p:spPr>
              <a:xfrm>
                <a:off x="1827212" y="3677724"/>
                <a:ext cx="6271900" cy="583365"/>
              </a:xfrm>
              <a:prstGeom prst="rect">
                <a:avLst/>
              </a:prstGeom>
              <a:blipFill>
                <a:blip r:embed="rId3"/>
                <a:stretch>
                  <a:fillRect b="-14894"/>
                </a:stretch>
              </a:blipFill>
            </p:spPr>
            <p:txBody>
              <a:bodyPr/>
              <a:lstStyle/>
              <a:p>
                <a:r>
                  <a:rPr lang="en-US">
                    <a:noFill/>
                  </a:rPr>
                  <a:t> </a:t>
                </a:r>
              </a:p>
            </p:txBody>
          </p:sp>
        </mc:Fallback>
      </mc:AlternateContent>
      <p:sp>
        <p:nvSpPr>
          <p:cNvPr id="11" name="Rectangle: Rounded Corners 10">
            <a:extLst>
              <a:ext uri="{FF2B5EF4-FFF2-40B4-BE49-F238E27FC236}">
                <a16:creationId xmlns:a16="http://schemas.microsoft.com/office/drawing/2014/main" id="{02827302-B130-08E8-CCEB-D80B11E61CC1}"/>
              </a:ext>
            </a:extLst>
          </p:cNvPr>
          <p:cNvSpPr/>
          <p:nvPr/>
        </p:nvSpPr>
        <p:spPr>
          <a:xfrm>
            <a:off x="1798537" y="3023616"/>
            <a:ext cx="6300575"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1" dirty="0">
                <a:latin typeface="Arial" panose="020B0604020202020204" pitchFamily="34" charset="0"/>
                <a:cs typeface="Arial" panose="020B0604020202020204" pitchFamily="34" charset="0"/>
              </a:rPr>
              <a:t>False Negative Rate (FNR)</a:t>
            </a:r>
          </a:p>
        </p:txBody>
      </p:sp>
      <p:sp>
        <p:nvSpPr>
          <p:cNvPr id="12" name="Rectangle 11">
            <a:extLst>
              <a:ext uri="{FF2B5EF4-FFF2-40B4-BE49-F238E27FC236}">
                <a16:creationId xmlns:a16="http://schemas.microsoft.com/office/drawing/2014/main" id="{7986930B-84CA-9A1A-F855-09F4A069E479}"/>
              </a:ext>
            </a:extLst>
          </p:cNvPr>
          <p:cNvSpPr/>
          <p:nvPr/>
        </p:nvSpPr>
        <p:spPr>
          <a:xfrm>
            <a:off x="1903412" y="4852416"/>
            <a:ext cx="6195700" cy="1235168"/>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proportion of positive instances that are incorrectly classified as negative</a:t>
            </a:r>
          </a:p>
        </p:txBody>
      </p:sp>
      <p:sp>
        <p:nvSpPr>
          <p:cNvPr id="4" name="Rectangle: Rounded Corners 6">
            <a:extLst>
              <a:ext uri="{FF2B5EF4-FFF2-40B4-BE49-F238E27FC236}">
                <a16:creationId xmlns:a16="http://schemas.microsoft.com/office/drawing/2014/main" id="{E009EE1F-7784-39B6-754E-02A96D414798}"/>
              </a:ext>
            </a:extLst>
          </p:cNvPr>
          <p:cNvSpPr/>
          <p:nvPr/>
        </p:nvSpPr>
        <p:spPr>
          <a:xfrm>
            <a:off x="8304212" y="5384164"/>
            <a:ext cx="3352800" cy="718820"/>
          </a:xfrm>
          <a:prstGeom prst="roundRect">
            <a:avLst/>
          </a:prstGeom>
          <a:ln>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Positives (FP) = 2</a:t>
            </a:r>
          </a:p>
          <a:p>
            <a:pPr algn="ctr"/>
            <a:r>
              <a:rPr lang="en-US" dirty="0">
                <a:solidFill>
                  <a:schemeClr val="tx1"/>
                </a:solidFill>
                <a:latin typeface="Arial" panose="020B0604020202020204" pitchFamily="34" charset="0"/>
                <a:cs typeface="Arial" panose="020B0604020202020204" pitchFamily="34" charset="0"/>
              </a:rPr>
              <a:t>(entries #3, #7)</a:t>
            </a:r>
          </a:p>
        </p:txBody>
      </p:sp>
    </p:spTree>
    <p:extLst>
      <p:ext uri="{BB962C8B-B14F-4D97-AF65-F5344CB8AC3E}">
        <p14:creationId xmlns:p14="http://schemas.microsoft.com/office/powerpoint/2010/main" val="1125344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With this values computed we can evaluate several metrics: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941828"/>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736848"/>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528422"/>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p:sp>
        <p:nvSpPr>
          <p:cNvPr id="7" name="Rectangle: Rounded Corners 6">
            <a:extLst>
              <a:ext uri="{FF2B5EF4-FFF2-40B4-BE49-F238E27FC236}">
                <a16:creationId xmlns:a16="http://schemas.microsoft.com/office/drawing/2014/main" id="{75095554-A313-202C-C81B-5841B0F827CE}"/>
              </a:ext>
            </a:extLst>
          </p:cNvPr>
          <p:cNvSpPr/>
          <p:nvPr/>
        </p:nvSpPr>
        <p:spPr>
          <a:xfrm>
            <a:off x="8304212" y="5319996"/>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Positives (FP) = 2</a:t>
            </a:r>
          </a:p>
          <a:p>
            <a:pPr algn="ctr"/>
            <a:r>
              <a:rPr lang="en-US" dirty="0">
                <a:solidFill>
                  <a:schemeClr val="tx1"/>
                </a:solidFill>
                <a:latin typeface="Arial" panose="020B0604020202020204" pitchFamily="34" charset="0"/>
                <a:cs typeface="Arial" panose="020B0604020202020204" pitchFamily="34" charset="0"/>
              </a:rPr>
              <a:t>(entries #3, #7)</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5AC237-A2F3-275F-FB14-D157B181252B}"/>
                  </a:ext>
                </a:extLst>
              </p:cNvPr>
              <p:cNvSpPr txBox="1"/>
              <p:nvPr/>
            </p:nvSpPr>
            <p:spPr>
              <a:xfrm>
                <a:off x="1827212" y="3628956"/>
                <a:ext cx="6271900" cy="58227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𝑃𝑟𝑒𝑐𝑖𝑠𝑖𝑜𝑛</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𝑇𝑃</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𝐹𝑃</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m:t>
                          </m:r>
                        </m:num>
                        <m:den>
                          <m:r>
                            <a:rPr lang="en-US" sz="2000" b="0" i="1" smtClean="0">
                              <a:latin typeface="Cambria Math" panose="02040503050406030204" pitchFamily="18" charset="0"/>
                            </a:rPr>
                            <m:t>4+2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m:t>
                          </m:r>
                        </m:num>
                        <m:den>
                          <m:r>
                            <a:rPr lang="en-US" sz="2000" b="0" i="1" smtClean="0">
                              <a:latin typeface="Cambria Math" panose="02040503050406030204" pitchFamily="18" charset="0"/>
                            </a:rPr>
                            <m:t>6</m:t>
                          </m:r>
                        </m:den>
                      </m:f>
                      <m:r>
                        <a:rPr lang="en-US" sz="2000" b="0" i="1" smtClean="0">
                          <a:latin typeface="Cambria Math" panose="02040503050406030204" pitchFamily="18" charset="0"/>
                        </a:rPr>
                        <m:t>=66%</m:t>
                      </m:r>
                    </m:oMath>
                  </m:oMathPara>
                </a14:m>
                <a:endParaRPr lang="en-US" sz="2000" dirty="0"/>
              </a:p>
            </p:txBody>
          </p:sp>
        </mc:Choice>
        <mc:Fallback xmlns="">
          <p:sp>
            <p:nvSpPr>
              <p:cNvPr id="9" name="TextBox 8">
                <a:extLst>
                  <a:ext uri="{FF2B5EF4-FFF2-40B4-BE49-F238E27FC236}">
                    <a16:creationId xmlns:a16="http://schemas.microsoft.com/office/drawing/2014/main" id="{CB5AC237-A2F3-275F-FB14-D157B181252B}"/>
                  </a:ext>
                </a:extLst>
              </p:cNvPr>
              <p:cNvSpPr txBox="1">
                <a:spLocks noRot="1" noChangeAspect="1" noMove="1" noResize="1" noEditPoints="1" noAdjustHandles="1" noChangeArrowheads="1" noChangeShapeType="1" noTextEdit="1"/>
              </p:cNvSpPr>
              <p:nvPr/>
            </p:nvSpPr>
            <p:spPr>
              <a:xfrm>
                <a:off x="1827212" y="3628956"/>
                <a:ext cx="6271900" cy="582275"/>
              </a:xfrm>
              <a:prstGeom prst="rect">
                <a:avLst/>
              </a:prstGeom>
              <a:blipFill>
                <a:blip r:embed="rId3"/>
                <a:stretch>
                  <a:fillRect b="-12766"/>
                </a:stretch>
              </a:blipFill>
            </p:spPr>
            <p:txBody>
              <a:bodyPr/>
              <a:lstStyle/>
              <a:p>
                <a:r>
                  <a:rPr lang="en-US">
                    <a:noFill/>
                  </a:rPr>
                  <a:t> </a:t>
                </a:r>
              </a:p>
            </p:txBody>
          </p:sp>
        </mc:Fallback>
      </mc:AlternateContent>
      <p:sp>
        <p:nvSpPr>
          <p:cNvPr id="11" name="Rectangle: Rounded Corners 10">
            <a:extLst>
              <a:ext uri="{FF2B5EF4-FFF2-40B4-BE49-F238E27FC236}">
                <a16:creationId xmlns:a16="http://schemas.microsoft.com/office/drawing/2014/main" id="{02827302-B130-08E8-CCEB-D80B11E61CC1}"/>
              </a:ext>
            </a:extLst>
          </p:cNvPr>
          <p:cNvSpPr/>
          <p:nvPr/>
        </p:nvSpPr>
        <p:spPr>
          <a:xfrm>
            <a:off x="1798537" y="2974848"/>
            <a:ext cx="6300575"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1" dirty="0">
                <a:latin typeface="Arial" panose="020B0604020202020204" pitchFamily="34" charset="0"/>
                <a:cs typeface="Arial" panose="020B0604020202020204" pitchFamily="34" charset="0"/>
              </a:rPr>
              <a:t>Precision</a:t>
            </a:r>
          </a:p>
        </p:txBody>
      </p:sp>
      <p:sp>
        <p:nvSpPr>
          <p:cNvPr id="12" name="Rectangle 11">
            <a:extLst>
              <a:ext uri="{FF2B5EF4-FFF2-40B4-BE49-F238E27FC236}">
                <a16:creationId xmlns:a16="http://schemas.microsoft.com/office/drawing/2014/main" id="{7986930B-84CA-9A1A-F855-09F4A069E479}"/>
              </a:ext>
            </a:extLst>
          </p:cNvPr>
          <p:cNvSpPr/>
          <p:nvPr/>
        </p:nvSpPr>
        <p:spPr>
          <a:xfrm>
            <a:off x="1903412" y="4803648"/>
            <a:ext cx="6195700" cy="1235168"/>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Evaluate the correctness of positive predictions (it is in particular valuable for models where TP is relevant </a:t>
            </a:r>
            <a:r>
              <a:rPr lang="en-US" dirty="0">
                <a:solidFill>
                  <a:schemeClr val="tx1"/>
                </a:solidFill>
                <a:latin typeface="Arial" panose="020B0604020202020204" pitchFamily="34" charset="0"/>
                <a:cs typeface="Arial" panose="020B0604020202020204" pitchFamily="34" charset="0"/>
                <a:sym typeface="Wingdings" panose="05000000000000000000" pitchFamily="2" charset="2"/>
              </a:rPr>
              <a:t> for example a classifier that tries to determine if a disease is present or not).</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06122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With this values computed we can evaluate several metrics: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20" name="Rectangle: Rounded Corners 19">
            <a:extLst>
              <a:ext uri="{FF2B5EF4-FFF2-40B4-BE49-F238E27FC236}">
                <a16:creationId xmlns:a16="http://schemas.microsoft.com/office/drawing/2014/main" id="{B948E202-7B71-B3F2-B63B-637A17680717}"/>
              </a:ext>
            </a:extLst>
          </p:cNvPr>
          <p:cNvSpPr/>
          <p:nvPr/>
        </p:nvSpPr>
        <p:spPr>
          <a:xfrm>
            <a:off x="8304212" y="3002788"/>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797808"/>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589382"/>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p:sp>
        <p:nvSpPr>
          <p:cNvPr id="7" name="Rectangle: Rounded Corners 6">
            <a:extLst>
              <a:ext uri="{FF2B5EF4-FFF2-40B4-BE49-F238E27FC236}">
                <a16:creationId xmlns:a16="http://schemas.microsoft.com/office/drawing/2014/main" id="{75095554-A313-202C-C81B-5841B0F827CE}"/>
              </a:ext>
            </a:extLst>
          </p:cNvPr>
          <p:cNvSpPr/>
          <p:nvPr/>
        </p:nvSpPr>
        <p:spPr>
          <a:xfrm>
            <a:off x="8304212" y="5380956"/>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Positives (FP) = 2</a:t>
            </a:r>
          </a:p>
          <a:p>
            <a:pPr algn="ctr"/>
            <a:r>
              <a:rPr lang="en-US" dirty="0">
                <a:solidFill>
                  <a:schemeClr val="tx1"/>
                </a:solidFill>
                <a:latin typeface="Arial" panose="020B0604020202020204" pitchFamily="34" charset="0"/>
                <a:cs typeface="Arial" panose="020B0604020202020204" pitchFamily="34" charset="0"/>
              </a:rPr>
              <a:t>(entries #3, #7)</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5AC237-A2F3-275F-FB14-D157B181252B}"/>
                  </a:ext>
                </a:extLst>
              </p:cNvPr>
              <p:cNvSpPr txBox="1"/>
              <p:nvPr/>
            </p:nvSpPr>
            <p:spPr>
              <a:xfrm>
                <a:off x="1827212" y="3689916"/>
                <a:ext cx="6271900" cy="58227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𝑆𝑒</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𝑇𝑃</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𝐹𝑁</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m:t>
                          </m:r>
                        </m:num>
                        <m:den>
                          <m:r>
                            <a:rPr lang="en-US" sz="2000" b="0" i="1" smtClean="0">
                              <a:latin typeface="Cambria Math" panose="02040503050406030204" pitchFamily="18" charset="0"/>
                            </a:rPr>
                            <m:t>4+1</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m:t>
                          </m:r>
                        </m:num>
                        <m:den>
                          <m:r>
                            <a:rPr lang="en-US" sz="2000" b="0" i="1" smtClean="0">
                              <a:latin typeface="Cambria Math" panose="02040503050406030204" pitchFamily="18" charset="0"/>
                            </a:rPr>
                            <m:t>5</m:t>
                          </m:r>
                        </m:den>
                      </m:f>
                      <m:r>
                        <a:rPr lang="en-US" sz="2000" b="0" i="1" smtClean="0">
                          <a:latin typeface="Cambria Math" panose="02040503050406030204" pitchFamily="18" charset="0"/>
                        </a:rPr>
                        <m:t>=80%</m:t>
                      </m:r>
                    </m:oMath>
                  </m:oMathPara>
                </a14:m>
                <a:endParaRPr lang="en-US" sz="2000" dirty="0"/>
              </a:p>
            </p:txBody>
          </p:sp>
        </mc:Choice>
        <mc:Fallback xmlns="">
          <p:sp>
            <p:nvSpPr>
              <p:cNvPr id="9" name="TextBox 8">
                <a:extLst>
                  <a:ext uri="{FF2B5EF4-FFF2-40B4-BE49-F238E27FC236}">
                    <a16:creationId xmlns:a16="http://schemas.microsoft.com/office/drawing/2014/main" id="{CB5AC237-A2F3-275F-FB14-D157B181252B}"/>
                  </a:ext>
                </a:extLst>
              </p:cNvPr>
              <p:cNvSpPr txBox="1">
                <a:spLocks noRot="1" noChangeAspect="1" noMove="1" noResize="1" noEditPoints="1" noAdjustHandles="1" noChangeArrowheads="1" noChangeShapeType="1" noTextEdit="1"/>
              </p:cNvSpPr>
              <p:nvPr/>
            </p:nvSpPr>
            <p:spPr>
              <a:xfrm>
                <a:off x="1827212" y="3689916"/>
                <a:ext cx="6271900" cy="582275"/>
              </a:xfrm>
              <a:prstGeom prst="rect">
                <a:avLst/>
              </a:prstGeom>
              <a:blipFill>
                <a:blip r:embed="rId3"/>
                <a:stretch>
                  <a:fillRect t="-2128" b="-12766"/>
                </a:stretch>
              </a:blipFill>
            </p:spPr>
            <p:txBody>
              <a:bodyPr/>
              <a:lstStyle/>
              <a:p>
                <a:r>
                  <a:rPr lang="en-US">
                    <a:noFill/>
                  </a:rPr>
                  <a:t> </a:t>
                </a:r>
              </a:p>
            </p:txBody>
          </p:sp>
        </mc:Fallback>
      </mc:AlternateContent>
      <p:sp>
        <p:nvSpPr>
          <p:cNvPr id="11" name="Rectangle: Rounded Corners 10">
            <a:extLst>
              <a:ext uri="{FF2B5EF4-FFF2-40B4-BE49-F238E27FC236}">
                <a16:creationId xmlns:a16="http://schemas.microsoft.com/office/drawing/2014/main" id="{02827302-B130-08E8-CCEB-D80B11E61CC1}"/>
              </a:ext>
            </a:extLst>
          </p:cNvPr>
          <p:cNvSpPr/>
          <p:nvPr/>
        </p:nvSpPr>
        <p:spPr>
          <a:xfrm>
            <a:off x="1798537" y="3035808"/>
            <a:ext cx="6300575"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1" dirty="0">
                <a:latin typeface="Arial" panose="020B0604020202020204" pitchFamily="34" charset="0"/>
                <a:cs typeface="Arial" panose="020B0604020202020204" pitchFamily="34" charset="0"/>
              </a:rPr>
              <a:t>Recall or Sensitivity (Se) </a:t>
            </a:r>
          </a:p>
        </p:txBody>
      </p:sp>
      <p:sp>
        <p:nvSpPr>
          <p:cNvPr id="12" name="Rectangle 11">
            <a:extLst>
              <a:ext uri="{FF2B5EF4-FFF2-40B4-BE49-F238E27FC236}">
                <a16:creationId xmlns:a16="http://schemas.microsoft.com/office/drawing/2014/main" id="{7986930B-84CA-9A1A-F855-09F4A069E479}"/>
              </a:ext>
            </a:extLst>
          </p:cNvPr>
          <p:cNvSpPr/>
          <p:nvPr/>
        </p:nvSpPr>
        <p:spPr>
          <a:xfrm>
            <a:off x="1903412" y="4864608"/>
            <a:ext cx="6195700" cy="1235168"/>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Shows how many positive instances the model might be missing. Relevant for scenarios where failing to identify a positive instance has significant consequences. Also known as </a:t>
            </a:r>
            <a:r>
              <a:rPr lang="en-US" b="1" dirty="0">
                <a:solidFill>
                  <a:schemeClr val="tx1"/>
                </a:solidFill>
                <a:latin typeface="Arial" panose="020B0604020202020204" pitchFamily="34" charset="0"/>
                <a:cs typeface="Arial" panose="020B0604020202020204" pitchFamily="34" charset="0"/>
              </a:rPr>
              <a:t>True Positive Rate</a:t>
            </a:r>
            <a:r>
              <a:rPr lang="en-US"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583763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With this values computed we can evaluate several metrics: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905252"/>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700272"/>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491846"/>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p:sp>
        <p:nvSpPr>
          <p:cNvPr id="7" name="Rectangle: Rounded Corners 6">
            <a:extLst>
              <a:ext uri="{FF2B5EF4-FFF2-40B4-BE49-F238E27FC236}">
                <a16:creationId xmlns:a16="http://schemas.microsoft.com/office/drawing/2014/main" id="{75095554-A313-202C-C81B-5841B0F827CE}"/>
              </a:ext>
            </a:extLst>
          </p:cNvPr>
          <p:cNvSpPr/>
          <p:nvPr/>
        </p:nvSpPr>
        <p:spPr>
          <a:xfrm>
            <a:off x="8304212" y="5283420"/>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Positives (FP) = 2</a:t>
            </a:r>
          </a:p>
          <a:p>
            <a:pPr algn="ctr"/>
            <a:r>
              <a:rPr lang="en-US" dirty="0">
                <a:solidFill>
                  <a:schemeClr val="tx1"/>
                </a:solidFill>
                <a:latin typeface="Arial" panose="020B0604020202020204" pitchFamily="34" charset="0"/>
                <a:cs typeface="Arial" panose="020B0604020202020204" pitchFamily="34" charset="0"/>
              </a:rPr>
              <a:t>(entries #3, #7)</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5AC237-A2F3-275F-FB14-D157B181252B}"/>
                  </a:ext>
                </a:extLst>
              </p:cNvPr>
              <p:cNvSpPr txBox="1"/>
              <p:nvPr/>
            </p:nvSpPr>
            <p:spPr>
              <a:xfrm>
                <a:off x="1827212" y="3592380"/>
                <a:ext cx="6271900" cy="5833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𝑆𝑝</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𝑇𝑁</m:t>
                          </m:r>
                        </m:num>
                        <m:den>
                          <m:r>
                            <a:rPr lang="en-US" sz="2000" b="0" i="1" smtClean="0">
                              <a:latin typeface="Cambria Math" panose="02040503050406030204" pitchFamily="18" charset="0"/>
                            </a:rPr>
                            <m:t>𝑇𝑁</m:t>
                          </m:r>
                          <m:r>
                            <a:rPr lang="en-US" sz="2000" b="0" i="1" smtClean="0">
                              <a:latin typeface="Cambria Math" panose="02040503050406030204" pitchFamily="18" charset="0"/>
                            </a:rPr>
                            <m:t>+</m:t>
                          </m:r>
                          <m:r>
                            <a:rPr lang="en-US" sz="2000" b="0" i="1" smtClean="0">
                              <a:latin typeface="Cambria Math" panose="02040503050406030204" pitchFamily="18" charset="0"/>
                            </a:rPr>
                            <m:t>𝐹𝑃</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2+2</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4</m:t>
                          </m:r>
                        </m:den>
                      </m:f>
                      <m:r>
                        <a:rPr lang="en-US" sz="2000" b="0" i="1" smtClean="0">
                          <a:latin typeface="Cambria Math" panose="02040503050406030204" pitchFamily="18" charset="0"/>
                        </a:rPr>
                        <m:t>=50%</m:t>
                      </m:r>
                    </m:oMath>
                  </m:oMathPara>
                </a14:m>
                <a:endParaRPr lang="en-US" sz="2000" dirty="0"/>
              </a:p>
            </p:txBody>
          </p:sp>
        </mc:Choice>
        <mc:Fallback xmlns="">
          <p:sp>
            <p:nvSpPr>
              <p:cNvPr id="9" name="TextBox 8">
                <a:extLst>
                  <a:ext uri="{FF2B5EF4-FFF2-40B4-BE49-F238E27FC236}">
                    <a16:creationId xmlns:a16="http://schemas.microsoft.com/office/drawing/2014/main" id="{CB5AC237-A2F3-275F-FB14-D157B181252B}"/>
                  </a:ext>
                </a:extLst>
              </p:cNvPr>
              <p:cNvSpPr txBox="1">
                <a:spLocks noRot="1" noChangeAspect="1" noMove="1" noResize="1" noEditPoints="1" noAdjustHandles="1" noChangeArrowheads="1" noChangeShapeType="1" noTextEdit="1"/>
              </p:cNvSpPr>
              <p:nvPr/>
            </p:nvSpPr>
            <p:spPr>
              <a:xfrm>
                <a:off x="1827212" y="3592380"/>
                <a:ext cx="6271900" cy="583365"/>
              </a:xfrm>
              <a:prstGeom prst="rect">
                <a:avLst/>
              </a:prstGeom>
              <a:blipFill>
                <a:blip r:embed="rId3"/>
                <a:stretch>
                  <a:fillRect b="-14894"/>
                </a:stretch>
              </a:blipFill>
            </p:spPr>
            <p:txBody>
              <a:bodyPr/>
              <a:lstStyle/>
              <a:p>
                <a:r>
                  <a:rPr lang="en-US">
                    <a:noFill/>
                  </a:rPr>
                  <a:t> </a:t>
                </a:r>
              </a:p>
            </p:txBody>
          </p:sp>
        </mc:Fallback>
      </mc:AlternateContent>
      <p:sp>
        <p:nvSpPr>
          <p:cNvPr id="11" name="Rectangle: Rounded Corners 10">
            <a:extLst>
              <a:ext uri="{FF2B5EF4-FFF2-40B4-BE49-F238E27FC236}">
                <a16:creationId xmlns:a16="http://schemas.microsoft.com/office/drawing/2014/main" id="{02827302-B130-08E8-CCEB-D80B11E61CC1}"/>
              </a:ext>
            </a:extLst>
          </p:cNvPr>
          <p:cNvSpPr/>
          <p:nvPr/>
        </p:nvSpPr>
        <p:spPr>
          <a:xfrm>
            <a:off x="1798537" y="2938272"/>
            <a:ext cx="6300575"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1" dirty="0">
                <a:latin typeface="Arial" panose="020B0604020202020204" pitchFamily="34" charset="0"/>
                <a:cs typeface="Arial" panose="020B0604020202020204" pitchFamily="34" charset="0"/>
              </a:rPr>
              <a:t>Specificity (</a:t>
            </a:r>
            <a:r>
              <a:rPr lang="en-US" sz="2400" b="1" i="1" dirty="0" err="1">
                <a:latin typeface="Arial" panose="020B0604020202020204" pitchFamily="34" charset="0"/>
                <a:cs typeface="Arial" panose="020B0604020202020204" pitchFamily="34" charset="0"/>
              </a:rPr>
              <a:t>Sp</a:t>
            </a:r>
            <a:r>
              <a:rPr lang="en-US" sz="2400" b="1" i="1" dirty="0">
                <a:latin typeface="Arial" panose="020B0604020202020204" pitchFamily="34" charset="0"/>
                <a:cs typeface="Arial" panose="020B0604020202020204" pitchFamily="34" charset="0"/>
              </a:rPr>
              <a:t>) </a:t>
            </a:r>
          </a:p>
        </p:txBody>
      </p:sp>
      <p:sp>
        <p:nvSpPr>
          <p:cNvPr id="12" name="Rectangle 11">
            <a:extLst>
              <a:ext uri="{FF2B5EF4-FFF2-40B4-BE49-F238E27FC236}">
                <a16:creationId xmlns:a16="http://schemas.microsoft.com/office/drawing/2014/main" id="{7986930B-84CA-9A1A-F855-09F4A069E479}"/>
              </a:ext>
            </a:extLst>
          </p:cNvPr>
          <p:cNvSpPr/>
          <p:nvPr/>
        </p:nvSpPr>
        <p:spPr>
          <a:xfrm>
            <a:off x="1903412" y="4767072"/>
            <a:ext cx="6195700" cy="1235168"/>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Evaluates how well the model identifies negative instances and avoids false alarms. Also known as True Negative Rate.</a:t>
            </a:r>
          </a:p>
        </p:txBody>
      </p:sp>
    </p:spTree>
    <p:extLst>
      <p:ext uri="{BB962C8B-B14F-4D97-AF65-F5344CB8AC3E}">
        <p14:creationId xmlns:p14="http://schemas.microsoft.com/office/powerpoint/2010/main" val="26323045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782801"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With this values computed we can evaluate several metrics:</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sp>
        <p:nvSpPr>
          <p:cNvPr id="20" name="Rectangle: Rounded Corners 19">
            <a:extLst>
              <a:ext uri="{FF2B5EF4-FFF2-40B4-BE49-F238E27FC236}">
                <a16:creationId xmlns:a16="http://schemas.microsoft.com/office/drawing/2014/main" id="{B948E202-7B71-B3F2-B63B-637A17680717}"/>
              </a:ext>
            </a:extLst>
          </p:cNvPr>
          <p:cNvSpPr/>
          <p:nvPr/>
        </p:nvSpPr>
        <p:spPr>
          <a:xfrm>
            <a:off x="8304212" y="2941828"/>
            <a:ext cx="3352800" cy="71882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Positives (TP) = 4</a:t>
            </a:r>
          </a:p>
          <a:p>
            <a:pPr algn="ctr"/>
            <a:r>
              <a:rPr lang="en-US" dirty="0">
                <a:solidFill>
                  <a:schemeClr val="tx1"/>
                </a:solidFill>
                <a:latin typeface="Arial" panose="020B0604020202020204" pitchFamily="34" charset="0"/>
                <a:cs typeface="Arial" panose="020B0604020202020204" pitchFamily="34" charset="0"/>
              </a:rPr>
              <a:t>(entries #1, #4, #8, #9)</a:t>
            </a:r>
          </a:p>
        </p:txBody>
      </p:sp>
      <p:sp>
        <p:nvSpPr>
          <p:cNvPr id="5" name="Rectangle: Rounded Corners 4">
            <a:extLst>
              <a:ext uri="{FF2B5EF4-FFF2-40B4-BE49-F238E27FC236}">
                <a16:creationId xmlns:a16="http://schemas.microsoft.com/office/drawing/2014/main" id="{81040936-7CDB-B056-BCF4-903BCEE6003F}"/>
              </a:ext>
            </a:extLst>
          </p:cNvPr>
          <p:cNvSpPr/>
          <p:nvPr/>
        </p:nvSpPr>
        <p:spPr>
          <a:xfrm>
            <a:off x="8304212" y="3736848"/>
            <a:ext cx="3352800" cy="71882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True Negatives (TN) = 2</a:t>
            </a:r>
          </a:p>
          <a:p>
            <a:pPr algn="ctr"/>
            <a:r>
              <a:rPr lang="en-US" dirty="0">
                <a:solidFill>
                  <a:schemeClr val="tx1"/>
                </a:solidFill>
                <a:latin typeface="Arial" panose="020B0604020202020204" pitchFamily="34" charset="0"/>
                <a:cs typeface="Arial" panose="020B0604020202020204" pitchFamily="34" charset="0"/>
              </a:rPr>
              <a:t>(entries #5, #6)</a:t>
            </a:r>
          </a:p>
        </p:txBody>
      </p:sp>
      <p:sp>
        <p:nvSpPr>
          <p:cNvPr id="6" name="Rectangle: Rounded Corners 5">
            <a:extLst>
              <a:ext uri="{FF2B5EF4-FFF2-40B4-BE49-F238E27FC236}">
                <a16:creationId xmlns:a16="http://schemas.microsoft.com/office/drawing/2014/main" id="{10E3FACD-396B-D988-FB1F-64F6FC4EAF75}"/>
              </a:ext>
            </a:extLst>
          </p:cNvPr>
          <p:cNvSpPr/>
          <p:nvPr/>
        </p:nvSpPr>
        <p:spPr>
          <a:xfrm>
            <a:off x="8304212" y="4528422"/>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Negatives (FN) = 1</a:t>
            </a:r>
          </a:p>
          <a:p>
            <a:pPr algn="ctr"/>
            <a:r>
              <a:rPr lang="en-US" dirty="0">
                <a:solidFill>
                  <a:schemeClr val="tx1"/>
                </a:solidFill>
                <a:latin typeface="Arial" panose="020B0604020202020204" pitchFamily="34" charset="0"/>
                <a:cs typeface="Arial" panose="020B0604020202020204" pitchFamily="34" charset="0"/>
              </a:rPr>
              <a:t>(entry #2)</a:t>
            </a:r>
          </a:p>
        </p:txBody>
      </p:sp>
      <p:sp>
        <p:nvSpPr>
          <p:cNvPr id="7" name="Rectangle: Rounded Corners 6">
            <a:extLst>
              <a:ext uri="{FF2B5EF4-FFF2-40B4-BE49-F238E27FC236}">
                <a16:creationId xmlns:a16="http://schemas.microsoft.com/office/drawing/2014/main" id="{75095554-A313-202C-C81B-5841B0F827CE}"/>
              </a:ext>
            </a:extLst>
          </p:cNvPr>
          <p:cNvSpPr/>
          <p:nvPr/>
        </p:nvSpPr>
        <p:spPr>
          <a:xfrm>
            <a:off x="8304212" y="5319996"/>
            <a:ext cx="3352800" cy="7188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False Positives (FP) = 2</a:t>
            </a:r>
          </a:p>
          <a:p>
            <a:pPr algn="ctr"/>
            <a:r>
              <a:rPr lang="en-US" dirty="0">
                <a:solidFill>
                  <a:schemeClr val="tx1"/>
                </a:solidFill>
                <a:latin typeface="Arial" panose="020B0604020202020204" pitchFamily="34" charset="0"/>
                <a:cs typeface="Arial" panose="020B0604020202020204" pitchFamily="34" charset="0"/>
              </a:rPr>
              <a:t>(entries #3, #7)</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5AC237-A2F3-275F-FB14-D157B181252B}"/>
                  </a:ext>
                </a:extLst>
              </p:cNvPr>
              <p:cNvSpPr txBox="1"/>
              <p:nvPr/>
            </p:nvSpPr>
            <p:spPr>
              <a:xfrm>
                <a:off x="1827212" y="3508248"/>
                <a:ext cx="6271900" cy="12011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m:t>
                      </m:r>
                      <m:r>
                        <a:rPr lang="en-US" sz="2000" b="0" i="1" smtClean="0">
                          <a:latin typeface="Cambria Math" panose="02040503050406030204" pitchFamily="18" charset="0"/>
                        </a:rPr>
                        <m:t>1 </m:t>
                      </m:r>
                      <m:r>
                        <a:rPr lang="en-US" sz="2000" b="0" i="1" smtClean="0">
                          <a:latin typeface="Cambria Math" panose="02040503050406030204" pitchFamily="18" charset="0"/>
                        </a:rPr>
                        <m:t>𝑆𝑐𝑜𝑟𝑒</m:t>
                      </m:r>
                      <m:r>
                        <a:rPr lang="en-US" sz="2000" b="0" i="1" smtClean="0">
                          <a:latin typeface="Cambria Math" panose="02040503050406030204" pitchFamily="18" charset="0"/>
                        </a:rPr>
                        <m:t>=2×</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𝑃𝑟𝑒𝑐𝑖𝑠𝑖𝑜𝑛</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𝑅𝑒𝑐𝑎𝑙𝑙</m:t>
                          </m:r>
                        </m:num>
                        <m:den>
                          <m:r>
                            <a:rPr lang="en-US" sz="2000" b="0" i="1" smtClean="0">
                              <a:latin typeface="Cambria Math" panose="02040503050406030204" pitchFamily="18" charset="0"/>
                            </a:rPr>
                            <m:t>𝑃𝑟𝑒𝑐𝑖𝑠𝑖𝑜𝑛</m:t>
                          </m:r>
                          <m:r>
                            <a:rPr lang="en-US" sz="2000" b="0" i="1" smtClean="0">
                              <a:latin typeface="Cambria Math" panose="02040503050406030204" pitchFamily="18" charset="0"/>
                            </a:rPr>
                            <m:t>+</m:t>
                          </m:r>
                          <m:r>
                            <a:rPr lang="en-US" sz="2000" b="0" i="1" smtClean="0">
                              <a:latin typeface="Cambria Math" panose="02040503050406030204" pitchFamily="18" charset="0"/>
                            </a:rPr>
                            <m:t>𝑅𝑒𝑐𝑎𝑙𝑙</m:t>
                          </m:r>
                        </m:den>
                      </m:f>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66%</m:t>
                          </m:r>
                          <m:r>
                            <a:rPr lang="en-US" sz="2000" b="0" i="1" smtClean="0">
                              <a:latin typeface="Cambria Math" panose="02040503050406030204" pitchFamily="18" charset="0"/>
                              <a:ea typeface="Cambria Math" panose="02040503050406030204" pitchFamily="18" charset="0"/>
                            </a:rPr>
                            <m:t>×80%</m:t>
                          </m:r>
                        </m:num>
                        <m:den>
                          <m:r>
                            <a:rPr lang="en-US" sz="2000" b="0" i="1" smtClean="0">
                              <a:latin typeface="Cambria Math" panose="02040503050406030204" pitchFamily="18" charset="0"/>
                            </a:rPr>
                            <m:t>66%</m:t>
                          </m:r>
                          <m:r>
                            <a:rPr lang="en-US" sz="2000" b="0" i="1" smtClean="0">
                              <a:latin typeface="Cambria Math" panose="02040503050406030204" pitchFamily="18" charset="0"/>
                              <a:ea typeface="Cambria Math" panose="02040503050406030204" pitchFamily="18" charset="0"/>
                            </a:rPr>
                            <m:t>+80%</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1.056</m:t>
                          </m:r>
                        </m:num>
                        <m:den>
                          <m:r>
                            <a:rPr lang="en-US" sz="2000" b="0" i="1" smtClean="0">
                              <a:latin typeface="Cambria Math" panose="02040503050406030204" pitchFamily="18" charset="0"/>
                            </a:rPr>
                            <m:t>1.46</m:t>
                          </m:r>
                        </m:den>
                      </m:f>
                      <m:r>
                        <a:rPr lang="en-US" sz="2000" b="0" i="1" smtClean="0">
                          <a:latin typeface="Cambria Math" panose="02040503050406030204" pitchFamily="18" charset="0"/>
                        </a:rPr>
                        <m:t>=72%</m:t>
                      </m:r>
                    </m:oMath>
                  </m:oMathPara>
                </a14:m>
                <a:endParaRPr lang="en-US" sz="2000" dirty="0"/>
              </a:p>
            </p:txBody>
          </p:sp>
        </mc:Choice>
        <mc:Fallback xmlns="">
          <p:sp>
            <p:nvSpPr>
              <p:cNvPr id="9" name="TextBox 8">
                <a:extLst>
                  <a:ext uri="{FF2B5EF4-FFF2-40B4-BE49-F238E27FC236}">
                    <a16:creationId xmlns:a16="http://schemas.microsoft.com/office/drawing/2014/main" id="{CB5AC237-A2F3-275F-FB14-D157B181252B}"/>
                  </a:ext>
                </a:extLst>
              </p:cNvPr>
              <p:cNvSpPr txBox="1">
                <a:spLocks noRot="1" noChangeAspect="1" noMove="1" noResize="1" noEditPoints="1" noAdjustHandles="1" noChangeArrowheads="1" noChangeShapeType="1" noTextEdit="1"/>
              </p:cNvSpPr>
              <p:nvPr/>
            </p:nvSpPr>
            <p:spPr>
              <a:xfrm>
                <a:off x="1827212" y="3508248"/>
                <a:ext cx="6271900" cy="1201163"/>
              </a:xfrm>
              <a:prstGeom prst="rect">
                <a:avLst/>
              </a:prstGeom>
              <a:blipFill>
                <a:blip r:embed="rId3"/>
                <a:stretch>
                  <a:fillRect t="-1042" b="-4167"/>
                </a:stretch>
              </a:blipFill>
            </p:spPr>
            <p:txBody>
              <a:bodyPr/>
              <a:lstStyle/>
              <a:p>
                <a:r>
                  <a:rPr lang="en-US">
                    <a:noFill/>
                  </a:rPr>
                  <a:t> </a:t>
                </a:r>
              </a:p>
            </p:txBody>
          </p:sp>
        </mc:Fallback>
      </mc:AlternateContent>
      <p:sp>
        <p:nvSpPr>
          <p:cNvPr id="11" name="Rectangle: Rounded Corners 10">
            <a:extLst>
              <a:ext uri="{FF2B5EF4-FFF2-40B4-BE49-F238E27FC236}">
                <a16:creationId xmlns:a16="http://schemas.microsoft.com/office/drawing/2014/main" id="{02827302-B130-08E8-CCEB-D80B11E61CC1}"/>
              </a:ext>
            </a:extLst>
          </p:cNvPr>
          <p:cNvSpPr/>
          <p:nvPr/>
        </p:nvSpPr>
        <p:spPr>
          <a:xfrm>
            <a:off x="1798537" y="2974848"/>
            <a:ext cx="6300575"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1" dirty="0">
                <a:latin typeface="Arial" panose="020B0604020202020204" pitchFamily="34" charset="0"/>
                <a:cs typeface="Arial" panose="020B0604020202020204" pitchFamily="34" charset="0"/>
              </a:rPr>
              <a:t>F1 Score</a:t>
            </a:r>
          </a:p>
        </p:txBody>
      </p:sp>
      <p:sp>
        <p:nvSpPr>
          <p:cNvPr id="12" name="Rectangle 11">
            <a:extLst>
              <a:ext uri="{FF2B5EF4-FFF2-40B4-BE49-F238E27FC236}">
                <a16:creationId xmlns:a16="http://schemas.microsoft.com/office/drawing/2014/main" id="{7986930B-84CA-9A1A-F855-09F4A069E479}"/>
              </a:ext>
            </a:extLst>
          </p:cNvPr>
          <p:cNvSpPr/>
          <p:nvPr/>
        </p:nvSpPr>
        <p:spPr>
          <a:xfrm>
            <a:off x="1903412" y="4803648"/>
            <a:ext cx="6195700" cy="1235168"/>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Useful when both false positives and false negatives are crucial and for cases where data set is unbalanced (the number of entries of one class is far bigger than the entries of another class).</a:t>
            </a:r>
          </a:p>
        </p:txBody>
      </p:sp>
    </p:spTree>
    <p:extLst>
      <p:ext uri="{BB962C8B-B14F-4D97-AF65-F5344CB8AC3E}">
        <p14:creationId xmlns:p14="http://schemas.microsoft.com/office/powerpoint/2010/main" val="4196114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10139776" cy="5181600"/>
          </a:xfrm>
        </p:spPr>
        <p:txBody>
          <a:bodyPr>
            <a:normAutofit/>
          </a:bodyPr>
          <a:lstStyle/>
          <a:p>
            <a:pPr marL="0" indent="0">
              <a:lnSpc>
                <a:spcPct val="100000"/>
              </a:lnSpc>
              <a:buNone/>
            </a:pPr>
            <a:r>
              <a:rPr lang="en-US" b="1" dirty="0">
                <a:latin typeface="Arial" panose="020B0604020202020204" pitchFamily="34" charset="0"/>
                <a:cs typeface="Arial" panose="020B0604020202020204" pitchFamily="34" charset="0"/>
              </a:rPr>
              <a:t>How to validate A.I. ?</a:t>
            </a:r>
          </a:p>
          <a:p>
            <a:pPr marL="0" indent="0">
              <a:lnSpc>
                <a:spcPct val="100000"/>
              </a:lnSpc>
              <a:buNone/>
            </a:pPr>
            <a:r>
              <a:rPr lang="en-US" sz="2400" dirty="0">
                <a:latin typeface="Arial" panose="020B0604020202020204" pitchFamily="34" charset="0"/>
                <a:cs typeface="Arial" panose="020B0604020202020204" pitchFamily="34" charset="0"/>
              </a:rPr>
              <a:t>Now, lets see how a model can be validated using a 3-fold cross validation and the FPR metric. To simplify the problem lets consider that the database is formed out of 3 partition A, B and C (all equal in size).</a:t>
            </a:r>
          </a:p>
        </p:txBody>
      </p:sp>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What is AI ?</a:t>
            </a:r>
          </a:p>
        </p:txBody>
      </p:sp>
      <p:graphicFrame>
        <p:nvGraphicFramePr>
          <p:cNvPr id="4" name="Table 7">
            <a:extLst>
              <a:ext uri="{FF2B5EF4-FFF2-40B4-BE49-F238E27FC236}">
                <a16:creationId xmlns:a16="http://schemas.microsoft.com/office/drawing/2014/main" id="{9D06F43D-CA6A-0D89-BBA4-9AEB4E3ABE3A}"/>
              </a:ext>
            </a:extLst>
          </p:cNvPr>
          <p:cNvGraphicFramePr>
            <a:graphicFrameLocks noGrp="1"/>
          </p:cNvGraphicFramePr>
          <p:nvPr/>
        </p:nvGraphicFramePr>
        <p:xfrm>
          <a:off x="1674812" y="3505200"/>
          <a:ext cx="2919942" cy="3261360"/>
        </p:xfrm>
        <a:graphic>
          <a:graphicData uri="http://schemas.openxmlformats.org/drawingml/2006/table">
            <a:tbl>
              <a:tblPr firstRow="1" bandRow="1">
                <a:tableStyleId>{073A0DAA-6AF3-43AB-8588-CEC1D06C72B9}</a:tableStyleId>
              </a:tblPr>
              <a:tblGrid>
                <a:gridCol w="1459971">
                  <a:extLst>
                    <a:ext uri="{9D8B030D-6E8A-4147-A177-3AD203B41FA5}">
                      <a16:colId xmlns:a16="http://schemas.microsoft.com/office/drawing/2014/main" val="2355292655"/>
                    </a:ext>
                  </a:extLst>
                </a:gridCol>
                <a:gridCol w="1459971">
                  <a:extLst>
                    <a:ext uri="{9D8B030D-6E8A-4147-A177-3AD203B41FA5}">
                      <a16:colId xmlns:a16="http://schemas.microsoft.com/office/drawing/2014/main" val="1925866338"/>
                    </a:ext>
                  </a:extLst>
                </a:gridCol>
              </a:tblGrid>
              <a:tr h="289560">
                <a:tc>
                  <a:txBody>
                    <a:bodyPr/>
                    <a:lstStyle/>
                    <a:p>
                      <a:r>
                        <a:rPr lang="en-US" dirty="0"/>
                        <a:t>Index</a:t>
                      </a:r>
                    </a:p>
                  </a:txBody>
                  <a:tcPr/>
                </a:tc>
                <a:tc>
                  <a:txBody>
                    <a:bodyPr/>
                    <a:lstStyle/>
                    <a:p>
                      <a:r>
                        <a:rPr lang="en-US" dirty="0"/>
                        <a:t>Values</a:t>
                      </a:r>
                    </a:p>
                  </a:txBody>
                  <a:tcPr/>
                </a:tc>
                <a:extLst>
                  <a:ext uri="{0D108BD9-81ED-4DB2-BD59-A6C34878D82A}">
                    <a16:rowId xmlns:a16="http://schemas.microsoft.com/office/drawing/2014/main" val="81519218"/>
                  </a:ext>
                </a:extLst>
              </a:tr>
              <a:tr h="289560">
                <a:tc>
                  <a:txBody>
                    <a:bodyPr/>
                    <a:lstStyle/>
                    <a:p>
                      <a:r>
                        <a:rPr lang="en-US" sz="1400" b="1" dirty="0"/>
                        <a:t>#1</a:t>
                      </a:r>
                    </a:p>
                  </a:txBody>
                  <a:tcPr/>
                </a:tc>
                <a:tc>
                  <a:txBody>
                    <a:bodyPr/>
                    <a:lstStyle/>
                    <a:p>
                      <a:r>
                        <a:rPr lang="en-US" sz="1400" b="1" dirty="0"/>
                        <a:t>V</a:t>
                      </a:r>
                      <a:r>
                        <a:rPr lang="en-US" sz="1400" b="1" baseline="-25000" dirty="0"/>
                        <a:t>(1.1)</a:t>
                      </a:r>
                      <a:r>
                        <a:rPr lang="en-US" sz="1400" b="1" baseline="0" dirty="0"/>
                        <a:t>…V</a:t>
                      </a:r>
                      <a:r>
                        <a:rPr lang="en-US" sz="1400" b="1" baseline="-25000" dirty="0"/>
                        <a:t>(1,n)</a:t>
                      </a:r>
                      <a:endParaRPr lang="en-US" sz="1400" b="1" dirty="0"/>
                    </a:p>
                  </a:txBody>
                  <a:tcPr/>
                </a:tc>
                <a:extLst>
                  <a:ext uri="{0D108BD9-81ED-4DB2-BD59-A6C34878D82A}">
                    <a16:rowId xmlns:a16="http://schemas.microsoft.com/office/drawing/2014/main" val="3872706561"/>
                  </a:ext>
                </a:extLst>
              </a:tr>
              <a:tr h="289560">
                <a:tc>
                  <a:txBody>
                    <a:bodyPr/>
                    <a:lstStyle/>
                    <a:p>
                      <a:r>
                        <a:rPr lang="en-US" sz="1400" b="1" dirty="0"/>
                        <a:t>…</a:t>
                      </a:r>
                    </a:p>
                  </a:txBody>
                  <a:tcPr/>
                </a:tc>
                <a:tc>
                  <a:txBody>
                    <a:bodyPr/>
                    <a:lstStyle/>
                    <a:p>
                      <a:endParaRPr lang="en-US" sz="1400" b="1"/>
                    </a:p>
                  </a:txBody>
                  <a:tcPr/>
                </a:tc>
                <a:extLst>
                  <a:ext uri="{0D108BD9-81ED-4DB2-BD59-A6C34878D82A}">
                    <a16:rowId xmlns:a16="http://schemas.microsoft.com/office/drawing/2014/main" val="1302718149"/>
                  </a:ext>
                </a:extLst>
              </a:tr>
              <a:tr h="289560">
                <a:tc>
                  <a:txBody>
                    <a:bodyPr/>
                    <a:lstStyle/>
                    <a:p>
                      <a:r>
                        <a:rPr lang="en-US" sz="1400" b="1" dirty="0"/>
                        <a:t>#k</a:t>
                      </a:r>
                    </a:p>
                  </a:txBody>
                  <a:tcPr/>
                </a:tc>
                <a:tc>
                  <a:txBody>
                    <a:bodyPr/>
                    <a:lstStyle/>
                    <a:p>
                      <a:r>
                        <a:rPr lang="en-US" sz="1400" b="1" dirty="0"/>
                        <a:t>V</a:t>
                      </a:r>
                      <a:r>
                        <a:rPr lang="en-US" sz="1400" b="1" baseline="-25000" dirty="0"/>
                        <a:t>(k.1)</a:t>
                      </a:r>
                      <a:r>
                        <a:rPr lang="en-US" sz="1400" b="1" baseline="0" dirty="0"/>
                        <a:t>…V</a:t>
                      </a:r>
                      <a:r>
                        <a:rPr lang="en-US" sz="1400" b="1" baseline="-25000" dirty="0"/>
                        <a:t>(</a:t>
                      </a:r>
                      <a:r>
                        <a:rPr lang="en-US" sz="1400" b="1" baseline="-25000" dirty="0" err="1"/>
                        <a:t>k,n</a:t>
                      </a:r>
                      <a:r>
                        <a:rPr lang="en-US" sz="1400" b="1" baseline="-25000" dirty="0"/>
                        <a:t>)</a:t>
                      </a:r>
                      <a:endParaRPr lang="en-US" sz="1400" b="1" dirty="0"/>
                    </a:p>
                  </a:txBody>
                  <a:tcPr/>
                </a:tc>
                <a:extLst>
                  <a:ext uri="{0D108BD9-81ED-4DB2-BD59-A6C34878D82A}">
                    <a16:rowId xmlns:a16="http://schemas.microsoft.com/office/drawing/2014/main" val="2520669939"/>
                  </a:ext>
                </a:extLst>
              </a:tr>
              <a:tr h="289560">
                <a:tc>
                  <a:txBody>
                    <a:bodyPr/>
                    <a:lstStyle/>
                    <a:p>
                      <a:r>
                        <a:rPr lang="en-US" sz="1400" b="1" dirty="0"/>
                        <a:t>#k+1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V</a:t>
                      </a:r>
                      <a:r>
                        <a:rPr lang="en-US" sz="1400" b="1" baseline="-25000" dirty="0"/>
                        <a:t>(k+1.1)</a:t>
                      </a:r>
                      <a:r>
                        <a:rPr lang="en-US" sz="1400" b="1" baseline="0" dirty="0"/>
                        <a:t>…V</a:t>
                      </a:r>
                      <a:r>
                        <a:rPr lang="en-US" sz="1400" b="1" baseline="-25000" dirty="0"/>
                        <a:t>(k+1,n)</a:t>
                      </a:r>
                      <a:endParaRPr lang="en-US" sz="1400" b="1" dirty="0"/>
                    </a:p>
                  </a:txBody>
                  <a:tcPr/>
                </a:tc>
                <a:extLst>
                  <a:ext uri="{0D108BD9-81ED-4DB2-BD59-A6C34878D82A}">
                    <a16:rowId xmlns:a16="http://schemas.microsoft.com/office/drawing/2014/main" val="4128832742"/>
                  </a:ext>
                </a:extLst>
              </a:tr>
              <a:tr h="289560">
                <a:tc>
                  <a:txBody>
                    <a:bodyPr/>
                    <a:lstStyle/>
                    <a:p>
                      <a:r>
                        <a:rPr lang="en-US" sz="1400" b="1" dirty="0"/>
                        <a:t>…</a:t>
                      </a:r>
                    </a:p>
                  </a:txBody>
                  <a:tcPr/>
                </a:tc>
                <a:tc>
                  <a:txBody>
                    <a:bodyPr/>
                    <a:lstStyle/>
                    <a:p>
                      <a:endParaRPr lang="en-US" sz="1400" b="1"/>
                    </a:p>
                  </a:txBody>
                  <a:tcPr/>
                </a:tc>
                <a:extLst>
                  <a:ext uri="{0D108BD9-81ED-4DB2-BD59-A6C34878D82A}">
                    <a16:rowId xmlns:a16="http://schemas.microsoft.com/office/drawing/2014/main" val="3618068625"/>
                  </a:ext>
                </a:extLst>
              </a:tr>
              <a:tr h="289560">
                <a:tc>
                  <a:txBody>
                    <a:bodyPr/>
                    <a:lstStyle/>
                    <a:p>
                      <a:r>
                        <a:rPr lang="en-US" sz="1400" b="1" dirty="0"/>
                        <a:t>#2k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V</a:t>
                      </a:r>
                      <a:r>
                        <a:rPr lang="en-US" sz="1400" b="1" baseline="-25000" dirty="0"/>
                        <a:t>(2k.1)</a:t>
                      </a:r>
                      <a:r>
                        <a:rPr lang="en-US" sz="1400" b="1" baseline="0" dirty="0"/>
                        <a:t>…V</a:t>
                      </a:r>
                      <a:r>
                        <a:rPr lang="en-US" sz="1400" b="1" baseline="-25000" dirty="0"/>
                        <a:t>(2k,n)</a:t>
                      </a:r>
                      <a:endParaRPr lang="en-US" sz="1400" b="1" dirty="0"/>
                    </a:p>
                  </a:txBody>
                  <a:tcPr/>
                </a:tc>
                <a:extLst>
                  <a:ext uri="{0D108BD9-81ED-4DB2-BD59-A6C34878D82A}">
                    <a16:rowId xmlns:a16="http://schemas.microsoft.com/office/drawing/2014/main" val="2853258733"/>
                  </a:ext>
                </a:extLst>
              </a:tr>
              <a:tr h="289560">
                <a:tc>
                  <a:txBody>
                    <a:bodyPr/>
                    <a:lstStyle/>
                    <a:p>
                      <a:r>
                        <a:rPr lang="en-US" sz="1400" b="1" dirty="0"/>
                        <a:t>#2k+1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V</a:t>
                      </a:r>
                      <a:r>
                        <a:rPr lang="en-US" sz="1400" b="1" baseline="-25000" dirty="0"/>
                        <a:t>(2k+1.1)</a:t>
                      </a:r>
                      <a:r>
                        <a:rPr lang="en-US" sz="1400" b="1" baseline="0" dirty="0"/>
                        <a:t>…V</a:t>
                      </a:r>
                      <a:r>
                        <a:rPr lang="en-US" sz="1400" b="1" baseline="-25000" dirty="0"/>
                        <a:t>(2k+1,n)</a:t>
                      </a:r>
                      <a:endParaRPr lang="en-US" sz="1400" b="1" dirty="0"/>
                    </a:p>
                  </a:txBody>
                  <a:tcPr/>
                </a:tc>
                <a:extLst>
                  <a:ext uri="{0D108BD9-81ED-4DB2-BD59-A6C34878D82A}">
                    <a16:rowId xmlns:a16="http://schemas.microsoft.com/office/drawing/2014/main" val="3746006445"/>
                  </a:ext>
                </a:extLst>
              </a:tr>
              <a:tr h="289560">
                <a:tc>
                  <a:txBody>
                    <a:bodyPr/>
                    <a:lstStyle/>
                    <a:p>
                      <a:r>
                        <a:rPr lang="en-US" sz="1400" b="1" dirty="0"/>
                        <a:t>…</a:t>
                      </a:r>
                    </a:p>
                  </a:txBody>
                  <a:tcPr/>
                </a:tc>
                <a:tc>
                  <a:txBody>
                    <a:bodyPr/>
                    <a:lstStyle/>
                    <a:p>
                      <a:endParaRPr lang="en-US" sz="1400" b="1" dirty="0"/>
                    </a:p>
                  </a:txBody>
                  <a:tcPr/>
                </a:tc>
                <a:extLst>
                  <a:ext uri="{0D108BD9-81ED-4DB2-BD59-A6C34878D82A}">
                    <a16:rowId xmlns:a16="http://schemas.microsoft.com/office/drawing/2014/main" val="81707493"/>
                  </a:ext>
                </a:extLst>
              </a:tr>
              <a:tr h="289560">
                <a:tc>
                  <a:txBody>
                    <a:bodyPr/>
                    <a:lstStyle/>
                    <a:p>
                      <a:r>
                        <a:rPr lang="en-US" sz="1400" b="1" dirty="0"/>
                        <a:t>#3k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V</a:t>
                      </a:r>
                      <a:r>
                        <a:rPr lang="en-US" sz="1400" b="1" baseline="-25000" dirty="0"/>
                        <a:t>(3k.1)</a:t>
                      </a:r>
                      <a:r>
                        <a:rPr lang="en-US" sz="1400" b="1" baseline="0" dirty="0"/>
                        <a:t>…V</a:t>
                      </a:r>
                      <a:r>
                        <a:rPr lang="en-US" sz="1400" b="1" baseline="-25000" dirty="0"/>
                        <a:t>(3k,n)</a:t>
                      </a:r>
                      <a:endParaRPr lang="en-US" sz="1400" b="1" dirty="0"/>
                    </a:p>
                  </a:txBody>
                  <a:tcPr/>
                </a:tc>
                <a:extLst>
                  <a:ext uri="{0D108BD9-81ED-4DB2-BD59-A6C34878D82A}">
                    <a16:rowId xmlns:a16="http://schemas.microsoft.com/office/drawing/2014/main" val="3747206995"/>
                  </a:ext>
                </a:extLst>
              </a:tr>
            </a:tbl>
          </a:graphicData>
        </a:graphic>
      </p:graphicFrame>
      <p:sp>
        <p:nvSpPr>
          <p:cNvPr id="8" name="Right Brace 7">
            <a:extLst>
              <a:ext uri="{FF2B5EF4-FFF2-40B4-BE49-F238E27FC236}">
                <a16:creationId xmlns:a16="http://schemas.microsoft.com/office/drawing/2014/main" id="{B909AAA6-EF3C-3E55-00C5-999E5255460D}"/>
              </a:ext>
            </a:extLst>
          </p:cNvPr>
          <p:cNvSpPr/>
          <p:nvPr/>
        </p:nvSpPr>
        <p:spPr>
          <a:xfrm>
            <a:off x="4638165" y="3881176"/>
            <a:ext cx="304800" cy="91942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0" name="Callout: Left Arrow 9">
            <a:extLst>
              <a:ext uri="{FF2B5EF4-FFF2-40B4-BE49-F238E27FC236}">
                <a16:creationId xmlns:a16="http://schemas.microsoft.com/office/drawing/2014/main" id="{7C76DB9F-1FE6-9053-08BB-0EB90DD02BC2}"/>
              </a:ext>
            </a:extLst>
          </p:cNvPr>
          <p:cNvSpPr/>
          <p:nvPr/>
        </p:nvSpPr>
        <p:spPr>
          <a:xfrm>
            <a:off x="4986376" y="4074188"/>
            <a:ext cx="901912" cy="533400"/>
          </a:xfrm>
          <a:prstGeom prst="leftArrowCallout">
            <a:avLst>
              <a:gd name="adj1" fmla="val 25000"/>
              <a:gd name="adj2" fmla="val 25000"/>
              <a:gd name="adj3" fmla="val 25000"/>
              <a:gd name="adj4" fmla="val 7296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A</a:t>
            </a:r>
            <a:endParaRPr lang="en-US" b="1" dirty="0"/>
          </a:p>
        </p:txBody>
      </p:sp>
      <p:sp>
        <p:nvSpPr>
          <p:cNvPr id="15" name="Right Brace 14">
            <a:extLst>
              <a:ext uri="{FF2B5EF4-FFF2-40B4-BE49-F238E27FC236}">
                <a16:creationId xmlns:a16="http://schemas.microsoft.com/office/drawing/2014/main" id="{1B076B90-5EB9-6060-074E-182F8828D3C2}"/>
              </a:ext>
            </a:extLst>
          </p:cNvPr>
          <p:cNvSpPr/>
          <p:nvPr/>
        </p:nvSpPr>
        <p:spPr>
          <a:xfrm>
            <a:off x="4638165" y="4800600"/>
            <a:ext cx="304800" cy="91942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6" name="Callout: Left Arrow 15">
            <a:extLst>
              <a:ext uri="{FF2B5EF4-FFF2-40B4-BE49-F238E27FC236}">
                <a16:creationId xmlns:a16="http://schemas.microsoft.com/office/drawing/2014/main" id="{C86E15A4-AAE6-D961-D3E5-50DE1ABA2785}"/>
              </a:ext>
            </a:extLst>
          </p:cNvPr>
          <p:cNvSpPr/>
          <p:nvPr/>
        </p:nvSpPr>
        <p:spPr>
          <a:xfrm>
            <a:off x="4986376" y="4993612"/>
            <a:ext cx="901912" cy="533400"/>
          </a:xfrm>
          <a:prstGeom prst="leftArrowCallout">
            <a:avLst>
              <a:gd name="adj1" fmla="val 25000"/>
              <a:gd name="adj2" fmla="val 25000"/>
              <a:gd name="adj3" fmla="val 25000"/>
              <a:gd name="adj4" fmla="val 7296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B</a:t>
            </a:r>
            <a:endParaRPr lang="en-US" b="1" dirty="0"/>
          </a:p>
        </p:txBody>
      </p:sp>
      <p:sp>
        <p:nvSpPr>
          <p:cNvPr id="17" name="Right Brace 16">
            <a:extLst>
              <a:ext uri="{FF2B5EF4-FFF2-40B4-BE49-F238E27FC236}">
                <a16:creationId xmlns:a16="http://schemas.microsoft.com/office/drawing/2014/main" id="{F503DD5C-4160-8B8F-A924-49127C96E97D}"/>
              </a:ext>
            </a:extLst>
          </p:cNvPr>
          <p:cNvSpPr/>
          <p:nvPr/>
        </p:nvSpPr>
        <p:spPr>
          <a:xfrm>
            <a:off x="4638165" y="5709575"/>
            <a:ext cx="304800" cy="919424"/>
          </a:xfrm>
          <a:prstGeom prst="rightBrace">
            <a:avLst>
              <a:gd name="adj1" fmla="val 0"/>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8" name="Callout: Left Arrow 17">
            <a:extLst>
              <a:ext uri="{FF2B5EF4-FFF2-40B4-BE49-F238E27FC236}">
                <a16:creationId xmlns:a16="http://schemas.microsoft.com/office/drawing/2014/main" id="{71582623-2A04-EA58-BCF7-BFC87468AD95}"/>
              </a:ext>
            </a:extLst>
          </p:cNvPr>
          <p:cNvSpPr/>
          <p:nvPr/>
        </p:nvSpPr>
        <p:spPr>
          <a:xfrm>
            <a:off x="4986376" y="5902587"/>
            <a:ext cx="901912" cy="533400"/>
          </a:xfrm>
          <a:prstGeom prst="leftArrowCallout">
            <a:avLst>
              <a:gd name="adj1" fmla="val 25000"/>
              <a:gd name="adj2" fmla="val 25000"/>
              <a:gd name="adj3" fmla="val 25000"/>
              <a:gd name="adj4" fmla="val 7296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FFC000"/>
                </a:solidFill>
              </a:rPr>
              <a:t>C</a:t>
            </a:r>
            <a:endParaRPr lang="en-US" b="1" dirty="0"/>
          </a:p>
        </p:txBody>
      </p:sp>
      <p:graphicFrame>
        <p:nvGraphicFramePr>
          <p:cNvPr id="19" name="Table 20">
            <a:extLst>
              <a:ext uri="{FF2B5EF4-FFF2-40B4-BE49-F238E27FC236}">
                <a16:creationId xmlns:a16="http://schemas.microsoft.com/office/drawing/2014/main" id="{B3A0164F-A296-4126-8CDE-D3AE21CC9CC2}"/>
              </a:ext>
            </a:extLst>
          </p:cNvPr>
          <p:cNvGraphicFramePr>
            <a:graphicFrameLocks noGrp="1"/>
          </p:cNvGraphicFramePr>
          <p:nvPr/>
        </p:nvGraphicFramePr>
        <p:xfrm>
          <a:off x="6170612" y="3612618"/>
          <a:ext cx="5105400" cy="1483360"/>
        </p:xfrm>
        <a:graphic>
          <a:graphicData uri="http://schemas.openxmlformats.org/drawingml/2006/table">
            <a:tbl>
              <a:tblPr firstRow="1" bandRow="1">
                <a:tableStyleId>{073A0DAA-6AF3-43AB-8588-CEC1D06C72B9}</a:tableStyleId>
              </a:tblPr>
              <a:tblGrid>
                <a:gridCol w="1701800">
                  <a:extLst>
                    <a:ext uri="{9D8B030D-6E8A-4147-A177-3AD203B41FA5}">
                      <a16:colId xmlns:a16="http://schemas.microsoft.com/office/drawing/2014/main" val="2107155119"/>
                    </a:ext>
                  </a:extLst>
                </a:gridCol>
                <a:gridCol w="1701800">
                  <a:extLst>
                    <a:ext uri="{9D8B030D-6E8A-4147-A177-3AD203B41FA5}">
                      <a16:colId xmlns:a16="http://schemas.microsoft.com/office/drawing/2014/main" val="426895069"/>
                    </a:ext>
                  </a:extLst>
                </a:gridCol>
                <a:gridCol w="1701800">
                  <a:extLst>
                    <a:ext uri="{9D8B030D-6E8A-4147-A177-3AD203B41FA5}">
                      <a16:colId xmlns:a16="http://schemas.microsoft.com/office/drawing/2014/main" val="231701218"/>
                    </a:ext>
                  </a:extLst>
                </a:gridCol>
              </a:tblGrid>
              <a:tr h="370840">
                <a:tc>
                  <a:txBody>
                    <a:bodyPr/>
                    <a:lstStyle/>
                    <a:p>
                      <a:r>
                        <a:rPr lang="en-US" dirty="0"/>
                        <a:t>Train</a:t>
                      </a:r>
                    </a:p>
                  </a:txBody>
                  <a:tcPr/>
                </a:tc>
                <a:tc>
                  <a:txBody>
                    <a:bodyPr/>
                    <a:lstStyle/>
                    <a:p>
                      <a:r>
                        <a:rPr lang="en-US" dirty="0"/>
                        <a:t>Test</a:t>
                      </a:r>
                    </a:p>
                  </a:txBody>
                  <a:tcPr/>
                </a:tc>
                <a:tc>
                  <a:txBody>
                    <a:bodyPr/>
                    <a:lstStyle/>
                    <a:p>
                      <a:r>
                        <a:rPr lang="en-US" dirty="0"/>
                        <a:t>FPR</a:t>
                      </a:r>
                    </a:p>
                  </a:txBody>
                  <a:tcPr/>
                </a:tc>
                <a:extLst>
                  <a:ext uri="{0D108BD9-81ED-4DB2-BD59-A6C34878D82A}">
                    <a16:rowId xmlns:a16="http://schemas.microsoft.com/office/drawing/2014/main" val="321895780"/>
                  </a:ext>
                </a:extLst>
              </a:tr>
              <a:tr h="370840">
                <a:tc>
                  <a:txBody>
                    <a:bodyPr/>
                    <a:lstStyle/>
                    <a:p>
                      <a:r>
                        <a:rPr lang="en-US" dirty="0"/>
                        <a:t>A+B</a:t>
                      </a:r>
                    </a:p>
                  </a:txBody>
                  <a:tcPr/>
                </a:tc>
                <a:tc>
                  <a:txBody>
                    <a:bodyPr/>
                    <a:lstStyle/>
                    <a:p>
                      <a:r>
                        <a:rPr lang="en-US" dirty="0"/>
                        <a:t>C</a:t>
                      </a:r>
                    </a:p>
                  </a:txBody>
                  <a:tcPr/>
                </a:tc>
                <a:tc>
                  <a:txBody>
                    <a:bodyPr/>
                    <a:lstStyle/>
                    <a:p>
                      <a:r>
                        <a:rPr lang="en-US" dirty="0"/>
                        <a:t>5%</a:t>
                      </a:r>
                    </a:p>
                  </a:txBody>
                  <a:tcPr/>
                </a:tc>
                <a:extLst>
                  <a:ext uri="{0D108BD9-81ED-4DB2-BD59-A6C34878D82A}">
                    <a16:rowId xmlns:a16="http://schemas.microsoft.com/office/drawing/2014/main" val="3180419199"/>
                  </a:ext>
                </a:extLst>
              </a:tr>
              <a:tr h="370840">
                <a:tc>
                  <a:txBody>
                    <a:bodyPr/>
                    <a:lstStyle/>
                    <a:p>
                      <a:r>
                        <a:rPr lang="en-US" dirty="0"/>
                        <a:t>A+C</a:t>
                      </a:r>
                    </a:p>
                  </a:txBody>
                  <a:tcPr/>
                </a:tc>
                <a:tc>
                  <a:txBody>
                    <a:bodyPr/>
                    <a:lstStyle/>
                    <a:p>
                      <a:r>
                        <a:rPr lang="en-US" dirty="0"/>
                        <a:t>B</a:t>
                      </a:r>
                    </a:p>
                  </a:txBody>
                  <a:tcPr/>
                </a:tc>
                <a:tc>
                  <a:txBody>
                    <a:bodyPr/>
                    <a:lstStyle/>
                    <a:p>
                      <a:r>
                        <a:rPr lang="en-US" dirty="0"/>
                        <a:t>4%</a:t>
                      </a:r>
                    </a:p>
                  </a:txBody>
                  <a:tcPr/>
                </a:tc>
                <a:extLst>
                  <a:ext uri="{0D108BD9-81ED-4DB2-BD59-A6C34878D82A}">
                    <a16:rowId xmlns:a16="http://schemas.microsoft.com/office/drawing/2014/main" val="3783589001"/>
                  </a:ext>
                </a:extLst>
              </a:tr>
              <a:tr h="370840">
                <a:tc>
                  <a:txBody>
                    <a:bodyPr/>
                    <a:lstStyle/>
                    <a:p>
                      <a:r>
                        <a:rPr lang="en-US" dirty="0"/>
                        <a:t>B+C</a:t>
                      </a:r>
                    </a:p>
                  </a:txBody>
                  <a:tcPr/>
                </a:tc>
                <a:tc>
                  <a:txBody>
                    <a:bodyPr/>
                    <a:lstStyle/>
                    <a:p>
                      <a:r>
                        <a:rPr lang="en-US" dirty="0"/>
                        <a:t>A</a:t>
                      </a:r>
                    </a:p>
                  </a:txBody>
                  <a:tcPr/>
                </a:tc>
                <a:tc>
                  <a:txBody>
                    <a:bodyPr/>
                    <a:lstStyle/>
                    <a:p>
                      <a:r>
                        <a:rPr lang="en-US" dirty="0"/>
                        <a:t>3%</a:t>
                      </a:r>
                    </a:p>
                  </a:txBody>
                  <a:tcPr/>
                </a:tc>
                <a:extLst>
                  <a:ext uri="{0D108BD9-81ED-4DB2-BD59-A6C34878D82A}">
                    <a16:rowId xmlns:a16="http://schemas.microsoft.com/office/drawing/2014/main" val="253131677"/>
                  </a:ext>
                </a:extLst>
              </a:tr>
            </a:tbl>
          </a:graphicData>
        </a:graphic>
      </p:graphicFrame>
      <p:sp>
        <p:nvSpPr>
          <p:cNvPr id="21" name="Callout: Up Arrow 20">
            <a:extLst>
              <a:ext uri="{FF2B5EF4-FFF2-40B4-BE49-F238E27FC236}">
                <a16:creationId xmlns:a16="http://schemas.microsoft.com/office/drawing/2014/main" id="{8401E959-45C4-CDEB-A7C9-6423E939278C}"/>
              </a:ext>
            </a:extLst>
          </p:cNvPr>
          <p:cNvSpPr/>
          <p:nvPr/>
        </p:nvSpPr>
        <p:spPr>
          <a:xfrm>
            <a:off x="6246812" y="5181600"/>
            <a:ext cx="5029200" cy="1432560"/>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This means that the average value for FPR is (3%+4%+5%)/3 = </a:t>
            </a:r>
            <a:r>
              <a:rPr lang="en-US" sz="1600" b="1" dirty="0">
                <a:solidFill>
                  <a:schemeClr val="tx1"/>
                </a:solidFill>
                <a:highlight>
                  <a:srgbClr val="C0C0C0"/>
                </a:highlight>
                <a:latin typeface="Arial" panose="020B0604020202020204" pitchFamily="34" charset="0"/>
                <a:cs typeface="Arial" panose="020B0604020202020204" pitchFamily="34" charset="0"/>
              </a:rPr>
              <a:t>4%</a:t>
            </a:r>
            <a:r>
              <a:rPr lang="en-US" sz="1600" dirty="0">
                <a:solidFill>
                  <a:schemeClr val="tx1"/>
                </a:solidFill>
                <a:latin typeface="Arial" panose="020B0604020202020204" pitchFamily="34" charset="0"/>
                <a:cs typeface="Arial" panose="020B0604020202020204" pitchFamily="34" charset="0"/>
              </a:rPr>
              <a:t>. This value represents how well the model behaves on this data set.</a:t>
            </a:r>
          </a:p>
        </p:txBody>
      </p:sp>
    </p:spTree>
    <p:extLst>
      <p:ext uri="{BB962C8B-B14F-4D97-AF65-F5344CB8AC3E}">
        <p14:creationId xmlns:p14="http://schemas.microsoft.com/office/powerpoint/2010/main" val="16123028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250"/>
                                        <p:tgtEl>
                                          <p:spTgt spid="8"/>
                                        </p:tgtEl>
                                      </p:cBhvr>
                                    </p:animEffect>
                                  </p:childTnLst>
                                </p:cTn>
                              </p:par>
                            </p:childTnLst>
                          </p:cTn>
                        </p:par>
                        <p:par>
                          <p:cTn id="12" fill="hold">
                            <p:stCondLst>
                              <p:cond delay="750"/>
                            </p:stCondLst>
                            <p:childTnLst>
                              <p:par>
                                <p:cTn id="13" presetID="2" presetClass="entr" presetSubtype="2"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250" fill="hold"/>
                                        <p:tgtEl>
                                          <p:spTgt spid="10"/>
                                        </p:tgtEl>
                                        <p:attrNameLst>
                                          <p:attrName>ppt_x</p:attrName>
                                        </p:attrNameLst>
                                      </p:cBhvr>
                                      <p:tavLst>
                                        <p:tav tm="0">
                                          <p:val>
                                            <p:strVal val="1+#ppt_w/2"/>
                                          </p:val>
                                        </p:tav>
                                        <p:tav tm="100000">
                                          <p:val>
                                            <p:strVal val="#ppt_x"/>
                                          </p:val>
                                        </p:tav>
                                      </p:tavLst>
                                    </p:anim>
                                    <p:anim calcmode="lin" valueType="num">
                                      <p:cBhvr additive="base">
                                        <p:cTn id="16" dur="25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250"/>
                                        <p:tgtEl>
                                          <p:spTgt spid="15"/>
                                        </p:tgtEl>
                                      </p:cBhvr>
                                    </p:animEffect>
                                  </p:childTnLst>
                                </p:cTn>
                              </p:par>
                            </p:childTnLst>
                          </p:cTn>
                        </p:par>
                        <p:par>
                          <p:cTn id="21" fill="hold">
                            <p:stCondLst>
                              <p:cond delay="1250"/>
                            </p:stCondLst>
                            <p:childTnLst>
                              <p:par>
                                <p:cTn id="22" presetID="2" presetClass="entr" presetSubtype="2"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250" fill="hold"/>
                                        <p:tgtEl>
                                          <p:spTgt spid="16"/>
                                        </p:tgtEl>
                                        <p:attrNameLst>
                                          <p:attrName>ppt_x</p:attrName>
                                        </p:attrNameLst>
                                      </p:cBhvr>
                                      <p:tavLst>
                                        <p:tav tm="0">
                                          <p:val>
                                            <p:strVal val="1+#ppt_w/2"/>
                                          </p:val>
                                        </p:tav>
                                        <p:tav tm="100000">
                                          <p:val>
                                            <p:strVal val="#ppt_x"/>
                                          </p:val>
                                        </p:tav>
                                      </p:tavLst>
                                    </p:anim>
                                    <p:anim calcmode="lin" valueType="num">
                                      <p:cBhvr additive="base">
                                        <p:cTn id="25" dur="250" fill="hold"/>
                                        <p:tgtEl>
                                          <p:spTgt spid="16"/>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250"/>
                                        <p:tgtEl>
                                          <p:spTgt spid="17"/>
                                        </p:tgtEl>
                                      </p:cBhvr>
                                    </p:animEffect>
                                  </p:childTnLst>
                                </p:cTn>
                              </p:par>
                            </p:childTnLst>
                          </p:cTn>
                        </p:par>
                        <p:par>
                          <p:cTn id="30" fill="hold">
                            <p:stCondLst>
                              <p:cond delay="1750"/>
                            </p:stCondLst>
                            <p:childTnLst>
                              <p:par>
                                <p:cTn id="31" presetID="2" presetClass="entr" presetSubtype="2" fill="hold" grpId="0" nodeType="after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250" fill="hold"/>
                                        <p:tgtEl>
                                          <p:spTgt spid="18"/>
                                        </p:tgtEl>
                                        <p:attrNameLst>
                                          <p:attrName>ppt_x</p:attrName>
                                        </p:attrNameLst>
                                      </p:cBhvr>
                                      <p:tavLst>
                                        <p:tav tm="0">
                                          <p:val>
                                            <p:strVal val="1+#ppt_w/2"/>
                                          </p:val>
                                        </p:tav>
                                        <p:tav tm="100000">
                                          <p:val>
                                            <p:strVal val="#ppt_x"/>
                                          </p:val>
                                        </p:tav>
                                      </p:tavLst>
                                    </p:anim>
                                    <p:anim calcmode="lin" valueType="num">
                                      <p:cBhvr additive="base">
                                        <p:cTn id="34" dur="25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randombar(horizontal)">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5" grpId="0" animBg="1"/>
      <p:bldP spid="16" grpId="0" animBg="1"/>
      <p:bldP spid="17" grpId="0" animBg="1"/>
      <p:bldP spid="1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a:xfrm>
            <a:off x="1598612" y="1600201"/>
            <a:ext cx="9143999" cy="2654064"/>
          </a:xfrm>
        </p:spPr>
        <p:txBody>
          <a:bodyPr/>
          <a:lstStyle/>
          <a:p>
            <a:r>
              <a:rPr lang="en-US" dirty="0"/>
              <a:t>Basic linear algebra notions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31157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notions</a:t>
            </a:r>
          </a:p>
        </p:txBody>
      </p:sp>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p:txBody>
          <a:bodyPr/>
          <a:lstStyle/>
          <a:p>
            <a:pPr marL="0" indent="0">
              <a:lnSpc>
                <a:spcPct val="100000"/>
              </a:lnSpc>
              <a:buNone/>
            </a:pPr>
            <a:r>
              <a:rPr lang="en-US" dirty="0">
                <a:latin typeface="Arial" panose="020B0604020202020204" pitchFamily="34" charset="0"/>
                <a:cs typeface="Arial" panose="020B0604020202020204" pitchFamily="34" charset="0"/>
              </a:rPr>
              <a:t>Before we start, lets discuss some basic notions used in linear algebra that we will further use in our course:</a:t>
            </a:r>
          </a:p>
          <a:p>
            <a:pPr lvl="1">
              <a:lnSpc>
                <a:spcPct val="100000"/>
              </a:lnSpc>
            </a:pPr>
            <a:r>
              <a:rPr lang="en-US" dirty="0">
                <a:latin typeface="Arial" panose="020B0604020202020204" pitchFamily="34" charset="0"/>
                <a:cs typeface="Arial" panose="020B0604020202020204" pitchFamily="34" charset="0"/>
              </a:rPr>
              <a:t>Scalar</a:t>
            </a:r>
          </a:p>
          <a:p>
            <a:pPr lvl="1">
              <a:lnSpc>
                <a:spcPct val="100000"/>
              </a:lnSpc>
            </a:pPr>
            <a:r>
              <a:rPr lang="en-US" dirty="0">
                <a:latin typeface="Arial" panose="020B0604020202020204" pitchFamily="34" charset="0"/>
                <a:cs typeface="Arial" panose="020B0604020202020204" pitchFamily="34" charset="0"/>
              </a:rPr>
              <a:t>Vector</a:t>
            </a:r>
          </a:p>
          <a:p>
            <a:pPr lvl="1">
              <a:lnSpc>
                <a:spcPct val="100000"/>
              </a:lnSpc>
            </a:pPr>
            <a:r>
              <a:rPr lang="en-US" dirty="0">
                <a:latin typeface="Arial" panose="020B0604020202020204" pitchFamily="34" charset="0"/>
                <a:cs typeface="Arial" panose="020B0604020202020204" pitchFamily="34" charset="0"/>
              </a:rPr>
              <a:t>Matrix</a:t>
            </a:r>
          </a:p>
          <a:p>
            <a:pPr marL="0" indent="0">
              <a:lnSpc>
                <a:spcPct val="100000"/>
              </a:lnSpc>
              <a:buNone/>
            </a:pPr>
            <a:r>
              <a:rPr lang="en-US" dirty="0">
                <a:latin typeface="Arial" panose="020B0604020202020204" pitchFamily="34" charset="0"/>
                <a:cs typeface="Arial" panose="020B0604020202020204" pitchFamily="34" charset="0"/>
              </a:rPr>
              <a:t>And some operations:</a:t>
            </a:r>
          </a:p>
          <a:p>
            <a:pPr lvl="1">
              <a:lnSpc>
                <a:spcPct val="100000"/>
              </a:lnSpc>
            </a:pPr>
            <a:r>
              <a:rPr lang="en-US" dirty="0">
                <a:latin typeface="Arial" panose="020B0604020202020204" pitchFamily="34" charset="0"/>
                <a:cs typeface="Arial" panose="020B0604020202020204" pitchFamily="34" charset="0"/>
              </a:rPr>
              <a:t>vector</a:t>
            </a:r>
          </a:p>
          <a:p>
            <a:pPr lvl="1">
              <a:lnSpc>
                <a:spcPct val="100000"/>
              </a:lnSpc>
            </a:pPr>
            <a:r>
              <a:rPr lang="en-US" dirty="0">
                <a:latin typeface="Arial" panose="020B0604020202020204" pitchFamily="34" charset="0"/>
                <a:cs typeface="Arial" panose="020B0604020202020204" pitchFamily="34" charset="0"/>
              </a:rPr>
              <a:t>matrixes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3462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notions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p:txBody>
              <a:bodyPr/>
              <a:lstStyle/>
              <a:p>
                <a:pPr marL="514350" indent="-514350">
                  <a:buAutoNum type="arabicPeriod"/>
                </a:pPr>
                <a:r>
                  <a:rPr lang="en-US" b="1" dirty="0">
                    <a:latin typeface="Arial" panose="020B0604020202020204" pitchFamily="34" charset="0"/>
                    <a:cs typeface="Arial" panose="020B0604020202020204" pitchFamily="34" charset="0"/>
                  </a:rPr>
                  <a:t>Scalar</a:t>
                </a:r>
                <a:r>
                  <a:rPr lang="en-US" dirty="0">
                    <a:latin typeface="Arial" panose="020B0604020202020204" pitchFamily="34" charset="0"/>
                    <a:cs typeface="Arial" panose="020B0604020202020204" pitchFamily="34" charset="0"/>
                  </a:rPr>
                  <a:t> = a single numerical value that describes a quantity (e.g. </a:t>
                </a:r>
                <a:r>
                  <a:rPr lang="en-US" b="1" dirty="0">
                    <a:latin typeface="Arial" panose="020B0604020202020204" pitchFamily="34" charset="0"/>
                    <a:cs typeface="Arial" panose="020B0604020202020204" pitchFamily="34" charset="0"/>
                  </a:rPr>
                  <a:t>100</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5.6</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-1.45</a:t>
                </a:r>
                <a:r>
                  <a:rPr lang="en-US" dirty="0">
                    <a:latin typeface="Arial" panose="020B0604020202020204" pitchFamily="34" charset="0"/>
                    <a:cs typeface="Arial" panose="020B0604020202020204" pitchFamily="34" charset="0"/>
                  </a:rPr>
                  <a:t>)</a:t>
                </a:r>
              </a:p>
              <a:p>
                <a:pPr marL="514350" indent="-514350">
                  <a:buAutoNum type="arabicPeriod"/>
                </a:pPr>
                <a:r>
                  <a:rPr lang="en-US" b="1" dirty="0">
                    <a:latin typeface="Arial" panose="020B0604020202020204" pitchFamily="34" charset="0"/>
                    <a:cs typeface="Arial" panose="020B0604020202020204" pitchFamily="34" charset="0"/>
                  </a:rPr>
                  <a:t>Vector</a:t>
                </a:r>
                <a:r>
                  <a:rPr lang="en-US" dirty="0">
                    <a:latin typeface="Arial" panose="020B0604020202020204" pitchFamily="34" charset="0"/>
                    <a:cs typeface="Arial" panose="020B0604020202020204" pitchFamily="34" charset="0"/>
                  </a:rPr>
                  <a:t> = a list of scalar values. The number of scalar values within a vector is often referred to as </a:t>
                </a:r>
                <a:r>
                  <a:rPr lang="en-US" b="1" i="1" dirty="0">
                    <a:latin typeface="Arial" panose="020B0604020202020204" pitchFamily="34" charset="0"/>
                    <a:cs typeface="Arial" panose="020B0604020202020204" pitchFamily="34" charset="0"/>
                  </a:rPr>
                  <a:t>dimension</a:t>
                </a:r>
                <a:r>
                  <a:rPr lang="en-US" i="1" dirty="0">
                    <a:latin typeface="Arial" panose="020B0604020202020204" pitchFamily="34" charset="0"/>
                    <a:cs typeface="Arial" panose="020B0604020202020204" pitchFamily="34" charset="0"/>
                  </a:rPr>
                  <a:t>.</a:t>
                </a:r>
              </a:p>
              <a:p>
                <a:pPr marL="0" indent="0">
                  <a:buNone/>
                </a:pPr>
                <a:r>
                  <a:rPr lang="en-US" i="1" dirty="0">
                    <a:latin typeface="Arial" panose="020B0604020202020204" pitchFamily="34" charset="0"/>
                    <a:cs typeface="Arial" panose="020B0604020202020204" pitchFamily="34" charset="0"/>
                  </a:rPr>
                  <a:t>	example:</a:t>
                </a:r>
              </a:p>
              <a:p>
                <a:pPr marL="0" indent="0" algn="ctr">
                  <a:buNone/>
                </a:pPr>
                <a14:m>
                  <m:oMath xmlns:m="http://schemas.openxmlformats.org/officeDocument/2006/math">
                    <m:r>
                      <a:rPr lang="en-US" b="0" i="1" smtClean="0">
                        <a:solidFill>
                          <a:schemeClr val="tx1"/>
                        </a:solidFill>
                        <a:latin typeface="Cambria Math" panose="02040503050406030204" pitchFamily="18" charset="0"/>
                      </a:rPr>
                      <m:t>𝑣</m:t>
                    </m:r>
                    <m:r>
                      <a:rPr lang="en-US" b="0" i="1" smtClean="0">
                        <a:solidFill>
                          <a:schemeClr val="tx1"/>
                        </a:solidFill>
                        <a:latin typeface="Cambria Math" panose="02040503050406030204" pitchFamily="18" charset="0"/>
                      </a:rPr>
                      <m:t>= </m:t>
                    </m:r>
                    <m:d>
                      <m:dPr>
                        <m:begChr m:val="["/>
                        <m:endChr m:val="]"/>
                        <m:ctrlPr>
                          <a:rPr lang="en-US" i="1" smtClean="0">
                            <a:solidFill>
                              <a:schemeClr val="tx1"/>
                            </a:solidFill>
                            <a:latin typeface="Cambria Math" panose="02040503050406030204" pitchFamily="18" charset="0"/>
                          </a:rPr>
                        </m:ctrlPr>
                      </m:dPr>
                      <m:e>
                        <m:eqArr>
                          <m:eqArrPr>
                            <m:ctrlPr>
                              <a:rPr lang="en-US" b="0" i="1" smtClean="0">
                                <a:solidFill>
                                  <a:schemeClr val="tx1"/>
                                </a:solidFill>
                                <a:latin typeface="Cambria Math" panose="02040503050406030204" pitchFamily="18" charset="0"/>
                              </a:rPr>
                            </m:ctrlPr>
                          </m:eqArrPr>
                          <m:e>
                            <m:r>
                              <a:rPr lang="en-US" b="0" i="1" smtClean="0">
                                <a:solidFill>
                                  <a:schemeClr val="tx1"/>
                                </a:solidFill>
                                <a:latin typeface="Cambria Math" panose="02040503050406030204" pitchFamily="18" charset="0"/>
                              </a:rPr>
                              <m:t>10</m:t>
                            </m:r>
                          </m:e>
                          <m:e>
                            <m:r>
                              <a:rPr lang="en-US" b="0" i="1" smtClean="0">
                                <a:solidFill>
                                  <a:schemeClr val="tx1"/>
                                </a:solidFill>
                                <a:latin typeface="Cambria Math" panose="02040503050406030204" pitchFamily="18" charset="0"/>
                              </a:rPr>
                              <m:t>20</m:t>
                            </m:r>
                          </m:e>
                          <m:e>
                            <m:r>
                              <a:rPr lang="en-US" b="0" i="1" smtClean="0">
                                <a:solidFill>
                                  <a:schemeClr val="tx1"/>
                                </a:solidFill>
                                <a:latin typeface="Cambria Math" panose="02040503050406030204" pitchFamily="18" charset="0"/>
                              </a:rPr>
                              <m:t>30</m:t>
                            </m:r>
                          </m:e>
                          <m:e>
                            <m:r>
                              <a:rPr lang="en-US" b="0" i="1" smtClean="0">
                                <a:solidFill>
                                  <a:schemeClr val="tx1"/>
                                </a:solidFill>
                                <a:latin typeface="Cambria Math" panose="02040503050406030204" pitchFamily="18" charset="0"/>
                              </a:rPr>
                              <m:t>40</m:t>
                            </m:r>
                          </m:e>
                          <m:e>
                            <m:r>
                              <a:rPr lang="en-US" b="0" i="1" smtClean="0">
                                <a:solidFill>
                                  <a:schemeClr val="tx1"/>
                                </a:solidFill>
                                <a:latin typeface="Cambria Math" panose="02040503050406030204" pitchFamily="18" charset="0"/>
                              </a:rPr>
                              <m:t>50</m:t>
                            </m:r>
                          </m:e>
                        </m:eqArr>
                      </m:e>
                    </m:d>
                  </m:oMath>
                </a14:m>
                <a:r>
                  <a:rPr lang="en-US" dirty="0">
                    <a:solidFill>
                      <a:schemeClr val="tx1"/>
                    </a:solidFill>
                  </a:rPr>
                  <a:t> </a:t>
                </a:r>
                <a:r>
                  <a:rPr lang="en-US" dirty="0">
                    <a:solidFill>
                      <a:schemeClr val="tx1"/>
                    </a:solidFill>
                    <a:latin typeface="Arial" panose="020B0604020202020204" pitchFamily="34" charset="0"/>
                    <a:cs typeface="Arial" panose="020B0604020202020204" pitchFamily="34" charset="0"/>
                  </a:rPr>
                  <a:t>or </a:t>
                </a:r>
                <a14:m>
                  <m:oMath xmlns:m="http://schemas.openxmlformats.org/officeDocument/2006/math">
                    <m:r>
                      <a:rPr lang="en-US" i="1">
                        <a:solidFill>
                          <a:schemeClr val="tx1"/>
                        </a:solidFill>
                        <a:latin typeface="Cambria Math" panose="02040503050406030204" pitchFamily="18" charset="0"/>
                      </a:rPr>
                      <m:t>𝑣</m:t>
                    </m:r>
                    <m:r>
                      <a:rPr lang="en-US" i="1">
                        <a:solidFill>
                          <a:schemeClr val="tx1"/>
                        </a:solidFill>
                        <a:latin typeface="Cambria Math" panose="02040503050406030204" pitchFamily="18" charset="0"/>
                      </a:rPr>
                      <m:t> </m:t>
                    </m:r>
                  </m:oMath>
                </a14:m>
                <a:r>
                  <a:rPr lang="en-US" dirty="0">
                    <a:solidFill>
                      <a:schemeClr val="tx1"/>
                    </a:solidFill>
                    <a:latin typeface="Arial" panose="020B0604020202020204" pitchFamily="34" charset="0"/>
                    <a:cs typeface="Arial" panose="020B0604020202020204" pitchFamily="34" charset="0"/>
                  </a:rPr>
                  <a:t>= [10, 20, 30, 40, 50]</a:t>
                </a: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blipFill>
                <a:blip r:embed="rId2"/>
                <a:stretch>
                  <a:fillRect l="-139"/>
                </a:stretch>
              </a:blipFill>
            </p:spPr>
            <p:txBody>
              <a:bodyPr/>
              <a:lstStyle/>
              <a:p>
                <a:r>
                  <a:rPr lang="en-US">
                    <a:noFill/>
                  </a:rPr>
                  <a:t> </a:t>
                </a:r>
              </a:p>
            </p:txBody>
          </p:sp>
        </mc:Fallback>
      </mc:AlternateContent>
    </p:spTree>
    <p:extLst>
      <p:ext uri="{BB962C8B-B14F-4D97-AF65-F5344CB8AC3E}">
        <p14:creationId xmlns:p14="http://schemas.microsoft.com/office/powerpoint/2010/main" val="2740973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notions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p:txBody>
              <a:bodyPr>
                <a:normAutofit/>
              </a:bodyPr>
              <a:lstStyle/>
              <a:p>
                <a:pPr marL="514350" indent="-514350">
                  <a:buFont typeface="+mj-lt"/>
                  <a:buAutoNum type="arabicPeriod" startAt="3"/>
                </a:pPr>
                <a:r>
                  <a:rPr lang="en-US" b="1" dirty="0">
                    <a:latin typeface="Arial" panose="020B0604020202020204" pitchFamily="34" charset="0"/>
                    <a:cs typeface="Arial" panose="020B0604020202020204" pitchFamily="34" charset="0"/>
                  </a:rPr>
                  <a:t>Matrix</a:t>
                </a:r>
                <a:r>
                  <a:rPr lang="en-US" dirty="0">
                    <a:latin typeface="Arial" panose="020B0604020202020204" pitchFamily="34" charset="0"/>
                    <a:cs typeface="Arial" panose="020B0604020202020204" pitchFamily="34" charset="0"/>
                  </a:rPr>
                  <a:t> = a n-dimensional array of scalar elements (in mathematics the term matrix is often used to refer to a bi-dimensional array). From this point of view, we can think that a matrix is a vector of vectors of scalars, with the condition that each vector of scalars have the same number of elements).</a:t>
                </a:r>
                <a:endParaRPr lang="en-US" i="1" dirty="0">
                  <a:latin typeface="Arial" panose="020B0604020202020204" pitchFamily="34" charset="0"/>
                  <a:cs typeface="Arial" panose="020B0604020202020204" pitchFamily="34" charset="0"/>
                </a:endParaRPr>
              </a:p>
              <a:p>
                <a:pPr marL="0" indent="0">
                  <a:buNone/>
                </a:pPr>
                <a:r>
                  <a:rPr lang="en-US" i="1" dirty="0">
                    <a:latin typeface="Arial" panose="020B0604020202020204" pitchFamily="34" charset="0"/>
                    <a:cs typeface="Arial" panose="020B0604020202020204" pitchFamily="34" charset="0"/>
                  </a:rPr>
                  <a:t>	</a:t>
                </a:r>
              </a:p>
              <a:p>
                <a:pPr marL="0" indent="0">
                  <a:buNone/>
                </a:pPr>
                <a:r>
                  <a:rPr lang="en-US" b="1" i="1" dirty="0">
                    <a:latin typeface="Arial" panose="020B0604020202020204" pitchFamily="34" charset="0"/>
                    <a:cs typeface="Arial" panose="020B0604020202020204" pitchFamily="34" charset="0"/>
                  </a:rPr>
                  <a:t>Example</a:t>
                </a:r>
                <a:r>
                  <a:rPr lang="en-US" i="1" dirty="0">
                    <a:latin typeface="Arial" panose="020B0604020202020204" pitchFamily="34" charset="0"/>
                    <a:cs typeface="Arial" panose="020B0604020202020204" pitchFamily="34" charset="0"/>
                  </a:rPr>
                  <a:t>:</a:t>
                </a:r>
              </a:p>
              <a:p>
                <a:pPr marL="0" indent="0" algn="ctr">
                  <a:buNone/>
                </a:pPr>
                <a:endParaRPr lang="en-US"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𝑚</m:t>
                      </m:r>
                      <m:r>
                        <a:rPr lang="en-US" b="0" i="1" smtClean="0">
                          <a:solidFill>
                            <a:schemeClr val="tx1"/>
                          </a:solidFill>
                          <a:latin typeface="Cambria Math" panose="02040503050406030204" pitchFamily="18" charset="0"/>
                        </a:rPr>
                        <m:t>= </m:t>
                      </m:r>
                      <m:d>
                        <m:dPr>
                          <m:begChr m:val="["/>
                          <m:endChr m:val="]"/>
                          <m:ctrlPr>
                            <a:rPr lang="en-US" i="1" smtClean="0">
                              <a:solidFill>
                                <a:schemeClr val="tx1"/>
                              </a:solidFill>
                              <a:latin typeface="Cambria Math" panose="02040503050406030204" pitchFamily="18" charset="0"/>
                            </a:rPr>
                          </m:ctrlPr>
                        </m:dPr>
                        <m:e>
                          <m:m>
                            <m:mPr>
                              <m:mcs>
                                <m:mc>
                                  <m:mcPr>
                                    <m:count m:val="3"/>
                                    <m:mcJc m:val="center"/>
                                  </m:mcPr>
                                </m:mc>
                              </m:mcs>
                              <m:ctrlPr>
                                <a:rPr lang="en-US" b="0" i="1" smtClean="0">
                                  <a:solidFill>
                                    <a:schemeClr val="tx1"/>
                                  </a:solidFill>
                                  <a:latin typeface="Cambria Math" panose="02040503050406030204" pitchFamily="18" charset="0"/>
                                </a:rPr>
                              </m:ctrlPr>
                            </m:mPr>
                            <m:mr>
                              <m:e>
                                <m:r>
                                  <m:rPr>
                                    <m:brk m:alnAt="7"/>
                                  </m:rPr>
                                  <a:rPr lang="en-US" b="0" i="1" smtClean="0">
                                    <a:solidFill>
                                      <a:schemeClr val="tx1"/>
                                    </a:solidFill>
                                    <a:latin typeface="Cambria Math" panose="02040503050406030204" pitchFamily="18" charset="0"/>
                                  </a:rPr>
                                  <m:t>1</m:t>
                                </m:r>
                              </m:e>
                              <m:e>
                                <m:r>
                                  <a:rPr lang="en-US" b="0" i="1" smtClean="0">
                                    <a:solidFill>
                                      <a:schemeClr val="tx1"/>
                                    </a:solidFill>
                                    <a:latin typeface="Cambria Math" panose="02040503050406030204" pitchFamily="18" charset="0"/>
                                  </a:rPr>
                                  <m:t>2</m:t>
                                </m:r>
                              </m:e>
                              <m:e>
                                <m:r>
                                  <a:rPr lang="en-US" b="0" i="1" smtClean="0">
                                    <a:solidFill>
                                      <a:schemeClr val="tx1"/>
                                    </a:solidFill>
                                    <a:latin typeface="Cambria Math" panose="02040503050406030204" pitchFamily="18" charset="0"/>
                                  </a:rPr>
                                  <m:t>3</m:t>
                                </m:r>
                              </m:e>
                            </m:mr>
                            <m:mr>
                              <m:e>
                                <m:r>
                                  <a:rPr lang="en-US" b="0" i="1" smtClean="0">
                                    <a:solidFill>
                                      <a:schemeClr val="tx1"/>
                                    </a:solidFill>
                                    <a:latin typeface="Cambria Math" panose="02040503050406030204" pitchFamily="18" charset="0"/>
                                  </a:rPr>
                                  <m:t>100</m:t>
                                </m:r>
                              </m:e>
                              <m:e>
                                <m:r>
                                  <a:rPr lang="en-US" b="0" i="1" smtClean="0">
                                    <a:solidFill>
                                      <a:schemeClr val="tx1"/>
                                    </a:solidFill>
                                    <a:latin typeface="Cambria Math" panose="02040503050406030204" pitchFamily="18" charset="0"/>
                                  </a:rPr>
                                  <m:t>200</m:t>
                                </m:r>
                              </m:e>
                              <m:e>
                                <m:r>
                                  <a:rPr lang="en-US" b="0" i="1" smtClean="0">
                                    <a:solidFill>
                                      <a:schemeClr val="tx1"/>
                                    </a:solidFill>
                                    <a:latin typeface="Cambria Math" panose="02040503050406030204" pitchFamily="18" charset="0"/>
                                  </a:rPr>
                                  <m:t>300</m:t>
                                </m:r>
                              </m:e>
                            </m:mr>
                          </m:m>
                        </m:e>
                      </m:d>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𝑚</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𝑖𝑠</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 2×3 </m:t>
                      </m:r>
                      <m:r>
                        <a:rPr lang="en-US" b="0" i="1" smtClean="0">
                          <a:solidFill>
                            <a:schemeClr val="tx1"/>
                          </a:solidFill>
                          <a:latin typeface="Cambria Math" panose="02040503050406030204" pitchFamily="18" charset="0"/>
                          <a:ea typeface="Cambria Math" panose="02040503050406030204" pitchFamily="18" charset="0"/>
                        </a:rPr>
                        <m:t>𝑚𝑎𝑡𝑟𝑖𝑥</m:t>
                      </m:r>
                    </m:oMath>
                  </m:oMathPara>
                </a14:m>
                <a:endParaRPr lang="en-US" dirty="0">
                  <a:solidFill>
                    <a:schemeClr val="tx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blipFill>
                <a:blip r:embed="rId2"/>
                <a:stretch>
                  <a:fillRect l="-1110" r="-1803"/>
                </a:stretch>
              </a:blipFill>
            </p:spPr>
            <p:txBody>
              <a:bodyPr/>
              <a:lstStyle/>
              <a:p>
                <a:r>
                  <a:rPr lang="en-US">
                    <a:noFill/>
                  </a:rPr>
                  <a:t> </a:t>
                </a:r>
              </a:p>
            </p:txBody>
          </p:sp>
        </mc:Fallback>
      </mc:AlternateContent>
    </p:spTree>
    <p:extLst>
      <p:ext uri="{BB962C8B-B14F-4D97-AF65-F5344CB8AC3E}">
        <p14:creationId xmlns:p14="http://schemas.microsoft.com/office/powerpoint/2010/main" val="3762213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notions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p:txBody>
              <a:bodyPr>
                <a:normAutofit/>
              </a:bodyPr>
              <a:lstStyle/>
              <a:p>
                <a:pPr marL="0" indent="0">
                  <a:buNone/>
                </a:pPr>
                <a:r>
                  <a:rPr lang="en-US" dirty="0">
                    <a:latin typeface="Arial" panose="020B0604020202020204" pitchFamily="34" charset="0"/>
                    <a:cs typeface="Arial" panose="020B0604020202020204" pitchFamily="34" charset="0"/>
                  </a:rPr>
                  <a:t>Both matrixes and vectors have a property called </a:t>
                </a:r>
                <a:r>
                  <a:rPr lang="en-US" b="1" dirty="0">
                    <a:latin typeface="Arial" panose="020B0604020202020204" pitchFamily="34" charset="0"/>
                    <a:cs typeface="Arial" panose="020B0604020202020204" pitchFamily="34" charset="0"/>
                  </a:rPr>
                  <a:t>shape</a:t>
                </a:r>
                <a:r>
                  <a:rPr lang="en-US" dirty="0">
                    <a:latin typeface="Arial" panose="020B0604020202020204" pitchFamily="34" charset="0"/>
                    <a:cs typeface="Arial" panose="020B0604020202020204" pitchFamily="34" charset="0"/>
                  </a:rPr>
                  <a:t>. We can think about a shape as a tuple of integer values, each one representing the number of elements for each dimension from the matrix.</a:t>
                </a:r>
              </a:p>
              <a:p>
                <a:pPr marL="0" indent="0">
                  <a:buNone/>
                </a:pPr>
                <a:r>
                  <a:rPr lang="en-US" i="1" dirty="0">
                    <a:latin typeface="Arial" panose="020B0604020202020204" pitchFamily="34" charset="0"/>
                    <a:cs typeface="Arial" panose="020B0604020202020204" pitchFamily="34" charset="0"/>
                  </a:rPr>
                  <a:t>	</a:t>
                </a:r>
              </a:p>
              <a:p>
                <a:pPr marL="0" indent="0">
                  <a:buNone/>
                </a:pPr>
                <a:r>
                  <a:rPr lang="en-US" b="1" i="1" dirty="0">
                    <a:latin typeface="Arial" panose="020B0604020202020204" pitchFamily="34" charset="0"/>
                    <a:cs typeface="Arial" panose="020B0604020202020204" pitchFamily="34" charset="0"/>
                  </a:rPr>
                  <a:t>Example</a:t>
                </a:r>
                <a:r>
                  <a:rPr lang="en-US" i="1" dirty="0">
                    <a:latin typeface="Arial" panose="020B0604020202020204" pitchFamily="34" charset="0"/>
                    <a:cs typeface="Arial" panose="020B0604020202020204" pitchFamily="34" charset="0"/>
                  </a:rPr>
                  <a:t>:</a:t>
                </a:r>
                <a:endParaRPr lang="en-US"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𝑣</m:t>
                      </m:r>
                      <m:r>
                        <a:rPr lang="en-US" sz="2000" b="0" i="1" smtClean="0">
                          <a:solidFill>
                            <a:schemeClr val="tx1"/>
                          </a:solidFill>
                          <a:latin typeface="Cambria Math" panose="02040503050406030204" pitchFamily="18" charset="0"/>
                        </a:rPr>
                        <m:t>=</m:t>
                      </m:r>
                      <m:d>
                        <m:dPr>
                          <m:begChr m:val="["/>
                          <m:endChr m:val="]"/>
                          <m:ctrlPr>
                            <a:rPr lang="en-US" sz="2000" b="0" i="1" smtClean="0">
                              <a:solidFill>
                                <a:schemeClr val="tx1"/>
                              </a:solidFill>
                              <a:latin typeface="Cambria Math" panose="02040503050406030204" pitchFamily="18" charset="0"/>
                            </a:rPr>
                          </m:ctrlPr>
                        </m:dPr>
                        <m:e>
                          <m:m>
                            <m:mPr>
                              <m:mcs>
                                <m:mc>
                                  <m:mcPr>
                                    <m:count m:val="3"/>
                                    <m:mcJc m:val="center"/>
                                  </m:mcPr>
                                </m:mc>
                              </m:mcs>
                              <m:ctrlPr>
                                <a:rPr lang="en-US" sz="2000" b="0" i="1" smtClean="0">
                                  <a:solidFill>
                                    <a:schemeClr val="tx1"/>
                                  </a:solidFill>
                                  <a:latin typeface="Cambria Math" panose="02040503050406030204" pitchFamily="18" charset="0"/>
                                </a:rPr>
                              </m:ctrlPr>
                            </m:mPr>
                            <m:mr>
                              <m:e>
                                <m:r>
                                  <m:rPr>
                                    <m:brk m:alnAt="7"/>
                                  </m:rP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00</m:t>
                                </m:r>
                              </m:e>
                              <m:e>
                                <m:r>
                                  <a:rPr lang="en-US" sz="2000" b="0" i="1" smtClean="0">
                                    <a:solidFill>
                                      <a:schemeClr val="tx1"/>
                                    </a:solidFill>
                                    <a:latin typeface="Cambria Math" panose="02040503050406030204" pitchFamily="18" charset="0"/>
                                  </a:rPr>
                                  <m:t>200</m:t>
                                </m:r>
                              </m:e>
                              <m:e>
                                <m:r>
                                  <a:rPr lang="en-US" sz="2000" b="0" i="1" smtClean="0">
                                    <a:solidFill>
                                      <a:schemeClr val="tx1"/>
                                    </a:solidFill>
                                    <a:latin typeface="Cambria Math" panose="02040503050406030204" pitchFamily="18" charset="0"/>
                                  </a:rPr>
                                  <m:t>300</m:t>
                                </m:r>
                              </m:e>
                            </m:mr>
                          </m:m>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𝑠h𝑎𝑝𝑒</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𝑣</m:t>
                          </m:r>
                        </m:e>
                      </m:d>
                      <m:r>
                        <a:rPr lang="en-US" sz="2000" b="0" i="1" smtClean="0">
                          <a:solidFill>
                            <a:schemeClr val="tx1"/>
                          </a:solidFill>
                          <a:latin typeface="Cambria Math" panose="02040503050406030204" pitchFamily="18" charset="0"/>
                        </a:rPr>
                        <m:t>=</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3</m:t>
                          </m:r>
                        </m:e>
                      </m:d>
                    </m:oMath>
                  </m:oMathPara>
                </a14:m>
                <a:endParaRPr lang="en-US" sz="2000" b="0" i="1" dirty="0">
                  <a:solidFill>
                    <a:schemeClr val="tx1"/>
                  </a:solidFill>
                  <a:latin typeface="Cambria Math" panose="02040503050406030204" pitchFamily="18" charset="0"/>
                </a:endParaRPr>
              </a:p>
              <a:p>
                <a:pPr marL="0" indent="0" algn="ctr">
                  <a:buNone/>
                </a:pPr>
                <a:endParaRPr lang="en-US" sz="2000" b="0" i="1" dirty="0">
                  <a:solidFill>
                    <a:schemeClr val="tx1"/>
                  </a:solidFill>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𝑚</m:t>
                      </m:r>
                      <m:r>
                        <a:rPr lang="en-US" sz="2000" b="0" i="1" smtClean="0">
                          <a:solidFill>
                            <a:schemeClr val="tx1"/>
                          </a:solidFill>
                          <a:latin typeface="Cambria Math" panose="02040503050406030204" pitchFamily="18" charset="0"/>
                        </a:rPr>
                        <m:t>= </m:t>
                      </m:r>
                      <m:d>
                        <m:dPr>
                          <m:begChr m:val="["/>
                          <m:endChr m:val="]"/>
                          <m:ctrlPr>
                            <a:rPr lang="en-US" sz="2000" i="1" smtClean="0">
                              <a:solidFill>
                                <a:schemeClr val="tx1"/>
                              </a:solidFill>
                              <a:latin typeface="Cambria Math" panose="02040503050406030204" pitchFamily="18" charset="0"/>
                            </a:rPr>
                          </m:ctrlPr>
                        </m:dPr>
                        <m:e>
                          <m:m>
                            <m:mPr>
                              <m:mcs>
                                <m:mc>
                                  <m:mcPr>
                                    <m:count m:val="3"/>
                                    <m:mcJc m:val="center"/>
                                  </m:mcPr>
                                </m:mc>
                              </m:mcs>
                              <m:ctrlPr>
                                <a:rPr lang="en-US" sz="2000" b="0" i="1" smtClean="0">
                                  <a:solidFill>
                                    <a:schemeClr val="tx1"/>
                                  </a:solidFill>
                                  <a:latin typeface="Cambria Math" panose="02040503050406030204" pitchFamily="18" charset="0"/>
                                </a:rPr>
                              </m:ctrlPr>
                            </m:mPr>
                            <m:mr>
                              <m:e>
                                <m:r>
                                  <m:rPr>
                                    <m:brk m:alnAt="7"/>
                                  </m:rPr>
                                  <a:rPr lang="en-US" sz="2000" b="0" i="1" smtClean="0">
                                    <a:solidFill>
                                      <a:schemeClr val="tx1"/>
                                    </a:solidFill>
                                    <a:latin typeface="Cambria Math" panose="02040503050406030204" pitchFamily="18" charset="0"/>
                                  </a:rPr>
                                  <m:t>1</m:t>
                                </m:r>
                              </m:e>
                              <m:e>
                                <m:r>
                                  <a:rPr lang="en-US" sz="2000" b="0" i="1" smtClean="0">
                                    <a:solidFill>
                                      <a:schemeClr val="tx1"/>
                                    </a:solidFill>
                                    <a:latin typeface="Cambria Math" panose="02040503050406030204" pitchFamily="18" charset="0"/>
                                  </a:rPr>
                                  <m:t>2</m:t>
                                </m:r>
                              </m:e>
                              <m:e>
                                <m:r>
                                  <a:rPr lang="en-US" sz="2000" b="0" i="1" smtClean="0">
                                    <a:solidFill>
                                      <a:schemeClr val="tx1"/>
                                    </a:solidFill>
                                    <a:latin typeface="Cambria Math" panose="02040503050406030204" pitchFamily="18" charset="0"/>
                                  </a:rPr>
                                  <m:t>3</m:t>
                                </m:r>
                              </m:e>
                            </m:mr>
                            <m:mr>
                              <m:e>
                                <m:r>
                                  <a:rPr lang="en-US" sz="2000" b="0" i="1" smtClean="0">
                                    <a:solidFill>
                                      <a:schemeClr val="tx1"/>
                                    </a:solidFill>
                                    <a:latin typeface="Cambria Math" panose="02040503050406030204" pitchFamily="18" charset="0"/>
                                  </a:rPr>
                                  <m:t>100</m:t>
                                </m:r>
                              </m:e>
                              <m:e>
                                <m:r>
                                  <a:rPr lang="en-US" sz="2000" b="0" i="1" smtClean="0">
                                    <a:solidFill>
                                      <a:schemeClr val="tx1"/>
                                    </a:solidFill>
                                    <a:latin typeface="Cambria Math" panose="02040503050406030204" pitchFamily="18" charset="0"/>
                                  </a:rPr>
                                  <m:t>200</m:t>
                                </m:r>
                              </m:e>
                              <m:e>
                                <m:r>
                                  <a:rPr lang="en-US" sz="2000" b="0" i="1" smtClean="0">
                                    <a:solidFill>
                                      <a:schemeClr val="tx1"/>
                                    </a:solidFill>
                                    <a:latin typeface="Cambria Math" panose="02040503050406030204" pitchFamily="18" charset="0"/>
                                  </a:rPr>
                                  <m:t>300</m:t>
                                </m:r>
                              </m:e>
                            </m:mr>
                          </m:m>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𝑠h𝑎𝑝𝑒</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𝑚</m:t>
                          </m:r>
                        </m:e>
                      </m:d>
                      <m:r>
                        <a:rPr lang="en-US" sz="2000" b="0" i="1" smtClean="0">
                          <a:solidFill>
                            <a:schemeClr val="tx1"/>
                          </a:solidFill>
                          <a:latin typeface="Cambria Math" panose="02040503050406030204" pitchFamily="18" charset="0"/>
                        </a:rPr>
                        <m:t>=(2,3)</m:t>
                      </m:r>
                    </m:oMath>
                  </m:oMathPara>
                </a14:m>
                <a:endParaRPr lang="en-US" sz="2000" dirty="0">
                  <a:solidFill>
                    <a:schemeClr val="tx1"/>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blipFill>
                <a:blip r:embed="rId2"/>
                <a:stretch>
                  <a:fillRect l="-1110" r="-693"/>
                </a:stretch>
              </a:blipFill>
            </p:spPr>
            <p:txBody>
              <a:bodyPr/>
              <a:lstStyle/>
              <a:p>
                <a:r>
                  <a:rPr lang="en-US">
                    <a:noFill/>
                  </a:rPr>
                  <a:t> </a:t>
                </a:r>
              </a:p>
            </p:txBody>
          </p:sp>
        </mc:Fallback>
      </mc:AlternateContent>
    </p:spTree>
    <p:extLst>
      <p:ext uri="{BB962C8B-B14F-4D97-AF65-F5344CB8AC3E}">
        <p14:creationId xmlns:p14="http://schemas.microsoft.com/office/powerpoint/2010/main" val="34559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(vectors)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4953000"/>
              </a:xfrm>
            </p:spPr>
            <p:txBody>
              <a:bodyPr/>
              <a:lstStyle/>
              <a:p>
                <a:pPr marL="514350" indent="-514350">
                  <a:buAutoNum type="arabicPeriod"/>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Scalar multiplication</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For v = [v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 vector, and “s” a scalar, we define:</a:t>
                </a:r>
              </a:p>
              <a:p>
                <a:pPr marL="0" indent="0">
                  <a:buNone/>
                </a:pPr>
                <a:endParaRPr lang="en-US" sz="1200"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𝑣</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𝑠</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d>
                        <m:dPr>
                          <m:begChr m:val="["/>
                          <m:endChr m:val="]"/>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mPr>
                            <m:mr>
                              <m:e>
                                <m:sSub>
                                  <m:sSub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m:t>
                                    </m:r>
                                  </m:sub>
                                </m:s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𝑠</m:t>
                                </m:r>
                              </m:e>
                            </m:mr>
                            <m:mr>
                              <m:e>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b>
                                </m:s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𝑠</m:t>
                                </m:r>
                              </m:e>
                            </m:mr>
                            <m:mr>
                              <m:e>
                                <m:eqArr>
                                  <m:eqArr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eqArr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e>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𝑛</m:t>
                                        </m:r>
                                      </m:sub>
                                    </m:s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𝑠</m:t>
                                    </m:r>
                                  </m:e>
                                </m:eqArr>
                              </m:e>
                            </m:mr>
                          </m:m>
                        </m:e>
                      </m:d>
                    </m:oMath>
                  </m:oMathPara>
                </a14:m>
                <a:endParaRPr lang="en-US" b="1"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Example:</a:t>
                </a: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4953000"/>
              </a:xfrm>
              <a:blipFill>
                <a:blip r:embed="rId2"/>
                <a:stretch>
                  <a:fillRect l="-8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700FA3-D0F5-A29B-4E46-CFD929A46FE7}"/>
                  </a:ext>
                </a:extLst>
              </p:cNvPr>
              <p:cNvSpPr txBox="1"/>
              <p:nvPr/>
            </p:nvSpPr>
            <p:spPr>
              <a:xfrm>
                <a:off x="3275012" y="5029200"/>
                <a:ext cx="6093968" cy="13662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𝑣</m:t>
                      </m:r>
                      <m:r>
                        <a:rPr lang="en-US" sz="1800" b="0" i="1" smtClean="0">
                          <a:solidFill>
                            <a:schemeClr val="tx1"/>
                          </a:solidFill>
                          <a:latin typeface="Cambria Math" panose="02040503050406030204" pitchFamily="18" charset="0"/>
                        </a:rPr>
                        <m:t>= </m:t>
                      </m:r>
                      <m:d>
                        <m:dPr>
                          <m:begChr m:val="["/>
                          <m:endChr m:val="]"/>
                          <m:ctrlPr>
                            <a:rPr lang="en-US" sz="1800" i="1" smtClean="0">
                              <a:solidFill>
                                <a:schemeClr val="tx1"/>
                              </a:solidFill>
                              <a:latin typeface="Cambria Math" panose="02040503050406030204" pitchFamily="18" charset="0"/>
                            </a:rPr>
                          </m:ctrlPr>
                        </m:dPr>
                        <m:e>
                          <m:eqArr>
                            <m:eqArrPr>
                              <m:ctrlPr>
                                <a:rPr lang="en-US" sz="1800" b="0" i="1" smtClean="0">
                                  <a:solidFill>
                                    <a:schemeClr val="tx1"/>
                                  </a:solidFill>
                                  <a:latin typeface="Cambria Math" panose="02040503050406030204" pitchFamily="18" charset="0"/>
                                </a:rPr>
                              </m:ctrlPr>
                            </m:eqArrPr>
                            <m:e>
                              <m:r>
                                <a:rPr lang="en-US" sz="1800" b="0" i="1" smtClean="0">
                                  <a:solidFill>
                                    <a:schemeClr val="tx1"/>
                                  </a:solidFill>
                                  <a:latin typeface="Cambria Math" panose="02040503050406030204" pitchFamily="18" charset="0"/>
                                </a:rPr>
                                <m:t>1</m:t>
                              </m:r>
                            </m:e>
                            <m:e>
                              <m:r>
                                <a:rPr lang="en-US" sz="1800" b="0" i="1" smtClean="0">
                                  <a:solidFill>
                                    <a:schemeClr val="tx1"/>
                                  </a:solidFill>
                                  <a:latin typeface="Cambria Math" panose="02040503050406030204" pitchFamily="18" charset="0"/>
                                </a:rPr>
                                <m:t>2</m:t>
                              </m:r>
                            </m:e>
                            <m:e>
                              <m:r>
                                <a:rPr lang="en-US" sz="1800" b="0" i="1" smtClean="0">
                                  <a:solidFill>
                                    <a:schemeClr val="tx1"/>
                                  </a:solidFill>
                                  <a:latin typeface="Cambria Math" panose="02040503050406030204" pitchFamily="18" charset="0"/>
                                </a:rPr>
                                <m:t>3</m:t>
                              </m:r>
                            </m:e>
                            <m:e>
                              <m:r>
                                <a:rPr lang="en-US" sz="1800" b="0" i="1" smtClean="0">
                                  <a:solidFill>
                                    <a:schemeClr val="tx1"/>
                                  </a:solidFill>
                                  <a:latin typeface="Cambria Math" panose="02040503050406030204" pitchFamily="18" charset="0"/>
                                </a:rPr>
                                <m:t>4</m:t>
                              </m:r>
                            </m:e>
                            <m:e>
                              <m:r>
                                <a:rPr lang="en-US" sz="1800" b="0" i="1" smtClean="0">
                                  <a:solidFill>
                                    <a:schemeClr val="tx1"/>
                                  </a:solidFill>
                                  <a:latin typeface="Cambria Math" panose="02040503050406030204" pitchFamily="18" charset="0"/>
                                </a:rPr>
                                <m:t>5</m:t>
                              </m:r>
                            </m:e>
                          </m:eqArr>
                        </m:e>
                      </m:d>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=3, </m:t>
                      </m:r>
                      <m:r>
                        <a:rPr lang="en-US" sz="1800" b="0" i="1" smtClean="0">
                          <a:solidFill>
                            <a:schemeClr val="tx1"/>
                          </a:solidFill>
                          <a:latin typeface="Cambria Math" panose="02040503050406030204" pitchFamily="18" charset="0"/>
                        </a:rPr>
                        <m:t>𝑡h𝑒𝑛</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𝑣</m:t>
                      </m:r>
                      <m:r>
                        <a:rPr lang="en-US" sz="1800" b="0" i="1" smtClean="0">
                          <a:solidFill>
                            <a:schemeClr val="tx1"/>
                          </a:solidFill>
                          <a:latin typeface="Cambria Math" panose="02040503050406030204" pitchFamily="18" charset="0"/>
                          <a:ea typeface="Cambria Math" panose="02040503050406030204" pitchFamily="18" charset="0"/>
                        </a:rPr>
                        <m:t>×</m:t>
                      </m:r>
                      <m:r>
                        <a:rPr lang="en-US" sz="1800" b="0" i="1" smtClean="0">
                          <a:solidFill>
                            <a:schemeClr val="tx1"/>
                          </a:solidFill>
                          <a:latin typeface="Cambria Math" panose="02040503050406030204" pitchFamily="18" charset="0"/>
                          <a:ea typeface="Cambria Math" panose="02040503050406030204" pitchFamily="18" charset="0"/>
                        </a:rPr>
                        <m:t>𝑠</m:t>
                      </m:r>
                      <m:r>
                        <a:rPr lang="en-US" sz="1800" b="0" i="1" smtClean="0">
                          <a:solidFill>
                            <a:schemeClr val="tx1"/>
                          </a:solidFill>
                          <a:latin typeface="Cambria Math" panose="02040503050406030204" pitchFamily="18" charset="0"/>
                          <a:ea typeface="Cambria Math" panose="02040503050406030204" pitchFamily="18" charset="0"/>
                        </a:rPr>
                        <m:t>= </m:t>
                      </m:r>
                      <m:d>
                        <m:dPr>
                          <m:begChr m:val="["/>
                          <m:endChr m:val="]"/>
                          <m:ctrlPr>
                            <a:rPr lang="en-US" sz="1800" b="0" i="1" smtClean="0">
                              <a:solidFill>
                                <a:schemeClr val="tx1"/>
                              </a:solidFill>
                              <a:latin typeface="Cambria Math" panose="02040503050406030204" pitchFamily="18" charset="0"/>
                              <a:ea typeface="Cambria Math" panose="02040503050406030204" pitchFamily="18" charset="0"/>
                            </a:rPr>
                          </m:ctrlPr>
                        </m:dPr>
                        <m:e>
                          <m:eqArr>
                            <m:eqArrPr>
                              <m:ctrlPr>
                                <a:rPr lang="en-US" sz="1800" b="0" i="1" smtClean="0">
                                  <a:solidFill>
                                    <a:schemeClr val="tx1"/>
                                  </a:solidFill>
                                  <a:latin typeface="Cambria Math" panose="02040503050406030204" pitchFamily="18" charset="0"/>
                                  <a:ea typeface="Cambria Math" panose="02040503050406030204" pitchFamily="18" charset="0"/>
                                </a:rPr>
                              </m:ctrlPr>
                            </m:eqArrPr>
                            <m:e>
                              <m:r>
                                <a:rPr lang="en-US" sz="1800" b="0" i="1" smtClean="0">
                                  <a:solidFill>
                                    <a:schemeClr val="tx1"/>
                                  </a:solidFill>
                                  <a:latin typeface="Cambria Math" panose="02040503050406030204" pitchFamily="18" charset="0"/>
                                  <a:ea typeface="Cambria Math" panose="02040503050406030204" pitchFamily="18" charset="0"/>
                                </a:rPr>
                                <m:t>1×3</m:t>
                              </m:r>
                            </m:e>
                            <m:e>
                              <m:r>
                                <a:rPr lang="en-US" sz="1800" b="0" i="1" smtClean="0">
                                  <a:solidFill>
                                    <a:schemeClr val="tx1"/>
                                  </a:solidFill>
                                  <a:latin typeface="Cambria Math" panose="02040503050406030204" pitchFamily="18" charset="0"/>
                                  <a:ea typeface="Cambria Math" panose="02040503050406030204" pitchFamily="18" charset="0"/>
                                </a:rPr>
                                <m:t>2</m:t>
                              </m:r>
                              <m:r>
                                <a:rPr lang="en-US" sz="1800" i="1">
                                  <a:solidFill>
                                    <a:schemeClr val="tx1"/>
                                  </a:solidFill>
                                  <a:latin typeface="Cambria Math" panose="02040503050406030204" pitchFamily="18" charset="0"/>
                                  <a:ea typeface="Cambria Math" panose="02040503050406030204" pitchFamily="18" charset="0"/>
                                </a:rPr>
                                <m:t>×3</m:t>
                              </m:r>
                            </m:e>
                            <m:e>
                              <m:r>
                                <a:rPr lang="en-US" sz="1800" b="0" i="1" smtClean="0">
                                  <a:solidFill>
                                    <a:schemeClr val="tx1"/>
                                  </a:solidFill>
                                  <a:latin typeface="Cambria Math" panose="02040503050406030204" pitchFamily="18" charset="0"/>
                                  <a:ea typeface="Cambria Math" panose="02040503050406030204" pitchFamily="18" charset="0"/>
                                </a:rPr>
                                <m:t>3</m:t>
                              </m:r>
                              <m:r>
                                <a:rPr lang="en-US" sz="1800" i="1">
                                  <a:solidFill>
                                    <a:schemeClr val="tx1"/>
                                  </a:solidFill>
                                  <a:latin typeface="Cambria Math" panose="02040503050406030204" pitchFamily="18" charset="0"/>
                                  <a:ea typeface="Cambria Math" panose="02040503050406030204" pitchFamily="18" charset="0"/>
                                </a:rPr>
                                <m:t>×3</m:t>
                              </m:r>
                            </m:e>
                            <m:e>
                              <m:r>
                                <a:rPr lang="en-US" sz="1800" b="0" i="1" smtClean="0">
                                  <a:solidFill>
                                    <a:schemeClr val="tx1"/>
                                  </a:solidFill>
                                  <a:latin typeface="Cambria Math" panose="02040503050406030204" pitchFamily="18" charset="0"/>
                                  <a:ea typeface="Cambria Math" panose="02040503050406030204" pitchFamily="18" charset="0"/>
                                </a:rPr>
                                <m:t>4</m:t>
                              </m:r>
                              <m:r>
                                <a:rPr lang="en-US" sz="1800" i="1">
                                  <a:solidFill>
                                    <a:schemeClr val="tx1"/>
                                  </a:solidFill>
                                  <a:latin typeface="Cambria Math" panose="02040503050406030204" pitchFamily="18" charset="0"/>
                                  <a:ea typeface="Cambria Math" panose="02040503050406030204" pitchFamily="18" charset="0"/>
                                </a:rPr>
                                <m:t>×3</m:t>
                              </m:r>
                            </m:e>
                            <m:e>
                              <m:r>
                                <a:rPr lang="en-US" sz="1800" b="0" i="1" smtClean="0">
                                  <a:solidFill>
                                    <a:schemeClr val="tx1"/>
                                  </a:solidFill>
                                  <a:latin typeface="Cambria Math" panose="02040503050406030204" pitchFamily="18" charset="0"/>
                                  <a:ea typeface="Cambria Math" panose="02040503050406030204" pitchFamily="18" charset="0"/>
                                </a:rPr>
                                <m:t>5</m:t>
                              </m:r>
                              <m:r>
                                <a:rPr lang="en-US" sz="1800" i="1">
                                  <a:solidFill>
                                    <a:schemeClr val="tx1"/>
                                  </a:solidFill>
                                  <a:latin typeface="Cambria Math" panose="02040503050406030204" pitchFamily="18" charset="0"/>
                                  <a:ea typeface="Cambria Math" panose="02040503050406030204" pitchFamily="18" charset="0"/>
                                </a:rPr>
                                <m:t>×3</m:t>
                              </m:r>
                            </m:e>
                          </m:eqArr>
                        </m:e>
                      </m:d>
                      <m:r>
                        <a:rPr lang="en-US" sz="1800" b="0" i="1" smtClean="0">
                          <a:solidFill>
                            <a:schemeClr val="tx1"/>
                          </a:solidFill>
                          <a:latin typeface="Cambria Math" panose="02040503050406030204" pitchFamily="18" charset="0"/>
                          <a:ea typeface="Cambria Math" panose="02040503050406030204" pitchFamily="18" charset="0"/>
                        </a:rPr>
                        <m:t> </m:t>
                      </m:r>
                      <m:r>
                        <a:rPr lang="en-US" sz="1800" b="0" i="1" smtClean="0">
                          <a:solidFill>
                            <a:schemeClr val="tx1"/>
                          </a:solidFill>
                          <a:latin typeface="Cambria Math" panose="02040503050406030204" pitchFamily="18" charset="0"/>
                        </a:rPr>
                        <m:t>=</m:t>
                      </m:r>
                      <m:d>
                        <m:dPr>
                          <m:begChr m:val="["/>
                          <m:endChr m:val="]"/>
                          <m:ctrlPr>
                            <a:rPr lang="en-US" sz="1800" i="1">
                              <a:solidFill>
                                <a:schemeClr val="tx1"/>
                              </a:solidFill>
                              <a:latin typeface="Cambria Math" panose="02040503050406030204" pitchFamily="18" charset="0"/>
                            </a:rPr>
                          </m:ctrlPr>
                        </m:dPr>
                        <m:e>
                          <m:eqArr>
                            <m:eqArrPr>
                              <m:ctrlPr>
                                <a:rPr lang="en-US" sz="1800" i="1">
                                  <a:solidFill>
                                    <a:schemeClr val="tx1"/>
                                  </a:solidFill>
                                  <a:latin typeface="Cambria Math" panose="02040503050406030204" pitchFamily="18" charset="0"/>
                                </a:rPr>
                              </m:ctrlPr>
                            </m:eqArrPr>
                            <m:e>
                              <m:r>
                                <a:rPr lang="en-US" sz="1800" b="0" i="1" smtClean="0">
                                  <a:solidFill>
                                    <a:schemeClr val="tx1"/>
                                  </a:solidFill>
                                  <a:latin typeface="Cambria Math" panose="02040503050406030204" pitchFamily="18" charset="0"/>
                                </a:rPr>
                                <m:t>3</m:t>
                              </m:r>
                            </m:e>
                            <m:e>
                              <m:r>
                                <a:rPr lang="en-US" sz="1800" b="0" i="1" smtClean="0">
                                  <a:solidFill>
                                    <a:schemeClr val="tx1"/>
                                  </a:solidFill>
                                  <a:latin typeface="Cambria Math" panose="02040503050406030204" pitchFamily="18" charset="0"/>
                                </a:rPr>
                                <m:t>6</m:t>
                              </m:r>
                            </m:e>
                            <m:e>
                              <m:r>
                                <a:rPr lang="en-US" sz="1800" b="0" i="1" smtClean="0">
                                  <a:solidFill>
                                    <a:schemeClr val="tx1"/>
                                  </a:solidFill>
                                  <a:latin typeface="Cambria Math" panose="02040503050406030204" pitchFamily="18" charset="0"/>
                                </a:rPr>
                                <m:t>9</m:t>
                              </m:r>
                            </m:e>
                            <m:e>
                              <m:r>
                                <a:rPr lang="en-US" sz="1800" b="0" i="1" smtClean="0">
                                  <a:solidFill>
                                    <a:schemeClr val="tx1"/>
                                  </a:solidFill>
                                  <a:latin typeface="Cambria Math" panose="02040503050406030204" pitchFamily="18" charset="0"/>
                                </a:rPr>
                                <m:t>12</m:t>
                              </m:r>
                            </m:e>
                            <m:e>
                              <m:r>
                                <a:rPr lang="en-US" sz="1800" b="0" i="1" smtClean="0">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5</m:t>
                              </m:r>
                            </m:e>
                          </m:eqArr>
                        </m:e>
                      </m:d>
                      <m:r>
                        <a:rPr lang="en-US" sz="1800" i="1">
                          <a:solidFill>
                            <a:schemeClr val="tx1"/>
                          </a:solidFill>
                          <a:latin typeface="Cambria Math" panose="02040503050406030204" pitchFamily="18" charset="0"/>
                        </a:rPr>
                        <m:t>,</m:t>
                      </m:r>
                    </m:oMath>
                  </m:oMathPara>
                </a14:m>
                <a:endParaRPr lang="en-US" sz="1800" dirty="0">
                  <a:solidFill>
                    <a:schemeClr val="tx1"/>
                  </a:solidFill>
                </a:endParaRPr>
              </a:p>
            </p:txBody>
          </p:sp>
        </mc:Choice>
        <mc:Fallback xmlns="">
          <p:sp>
            <p:nvSpPr>
              <p:cNvPr id="5" name="TextBox 4">
                <a:extLst>
                  <a:ext uri="{FF2B5EF4-FFF2-40B4-BE49-F238E27FC236}">
                    <a16:creationId xmlns:a16="http://schemas.microsoft.com/office/drawing/2014/main" id="{63700FA3-D0F5-A29B-4E46-CFD929A46FE7}"/>
                  </a:ext>
                </a:extLst>
              </p:cNvPr>
              <p:cNvSpPr txBox="1">
                <a:spLocks noRot="1" noChangeAspect="1" noMove="1" noResize="1" noEditPoints="1" noAdjustHandles="1" noChangeArrowheads="1" noChangeShapeType="1" noTextEdit="1"/>
              </p:cNvSpPr>
              <p:nvPr/>
            </p:nvSpPr>
            <p:spPr>
              <a:xfrm>
                <a:off x="3275012" y="5029200"/>
                <a:ext cx="6093968" cy="1366271"/>
              </a:xfrm>
              <a:prstGeom prst="rect">
                <a:avLst/>
              </a:prstGeom>
              <a:blipFill>
                <a:blip r:embed="rId3"/>
                <a:stretch>
                  <a:fillRect b="-1852"/>
                </a:stretch>
              </a:blipFill>
            </p:spPr>
            <p:txBody>
              <a:bodyPr/>
              <a:lstStyle/>
              <a:p>
                <a:r>
                  <a:rPr lang="en-US">
                    <a:noFill/>
                  </a:rPr>
                  <a:t> </a:t>
                </a:r>
              </a:p>
            </p:txBody>
          </p:sp>
        </mc:Fallback>
      </mc:AlternateContent>
    </p:spTree>
    <p:extLst>
      <p:ext uri="{BB962C8B-B14F-4D97-AF65-F5344CB8AC3E}">
        <p14:creationId xmlns:p14="http://schemas.microsoft.com/office/powerpoint/2010/main" val="350404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(vectors)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4572000"/>
              </a:xfrm>
            </p:spPr>
            <p:txBody>
              <a:bodyPr/>
              <a:lstStyle/>
              <a:p>
                <a:pPr marL="514350" indent="-514350">
                  <a:buFont typeface="+mj-lt"/>
                  <a:buAutoNum type="arabicPeriod" startAt="2"/>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Dot product</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For v = [v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 vector, and u = [u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another vector, we define the dot product as follows:</a:t>
                </a:r>
              </a:p>
              <a:p>
                <a:pPr marL="0" indent="0" algn="ctr">
                  <a:buNone/>
                </a:pPr>
                <a14:m>
                  <m:oMath xmlns:m="http://schemas.openxmlformats.org/officeDocument/2006/math">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𝑣</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nary>
                      <m:naryPr>
                        <m:chr m:val="∑"/>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naryPr>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𝑖</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m:t>
                        </m:r>
                      </m:sub>
                      <m:sup>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𝑛</m:t>
                        </m:r>
                      </m:sup>
                      <m:e>
                        <m:sSub>
                          <m:sSub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𝑖</m:t>
                            </m:r>
                          </m:sub>
                        </m:s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Sub>
                          <m:sSub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𝑖</m:t>
                            </m:r>
                          </m:sub>
                        </m:s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nary>
                  </m:oMath>
                </a14:m>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t>
                </a:r>
              </a:p>
              <a:p>
                <a:pPr marL="0" indent="0">
                  <a:buNone/>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Example:</a:t>
                </a: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4572000"/>
              </a:xfrm>
              <a:blipFill>
                <a:blip r:embed="rId2"/>
                <a:stretch>
                  <a:fillRect l="-888" r="-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700FA3-D0F5-A29B-4E46-CFD929A46FE7}"/>
                  </a:ext>
                </a:extLst>
              </p:cNvPr>
              <p:cNvSpPr txBox="1"/>
              <p:nvPr/>
            </p:nvSpPr>
            <p:spPr>
              <a:xfrm>
                <a:off x="1593436" y="4495800"/>
                <a:ext cx="9834976" cy="11128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𝑣</m:t>
                      </m:r>
                      <m:r>
                        <a:rPr lang="en-US" sz="1800" b="0" i="1" smtClean="0">
                          <a:solidFill>
                            <a:schemeClr val="bg1"/>
                          </a:solidFill>
                          <a:latin typeface="Cambria Math" panose="02040503050406030204" pitchFamily="18" charset="0"/>
                        </a:rPr>
                        <m:t>= </m:t>
                      </m:r>
                      <m:d>
                        <m:dPr>
                          <m:begChr m:val="["/>
                          <m:endChr m:val="]"/>
                          <m:ctrlPr>
                            <a:rPr lang="en-US" sz="1800" i="1" smtClean="0">
                              <a:solidFill>
                                <a:schemeClr val="bg1"/>
                              </a:solidFill>
                              <a:latin typeface="Cambria Math" panose="02040503050406030204" pitchFamily="18" charset="0"/>
                            </a:rPr>
                          </m:ctrlPr>
                        </m:dPr>
                        <m:e>
                          <m:eqArr>
                            <m:eqArrPr>
                              <m:ctrlPr>
                                <a:rPr lang="en-US" sz="1800" b="0" i="1" smtClean="0">
                                  <a:solidFill>
                                    <a:schemeClr val="bg1"/>
                                  </a:solidFill>
                                  <a:latin typeface="Cambria Math" panose="02040503050406030204" pitchFamily="18" charset="0"/>
                                </a:rPr>
                              </m:ctrlPr>
                            </m:eqArrPr>
                            <m:e>
                              <m:r>
                                <a:rPr lang="en-US" sz="1800" b="0" i="1" smtClean="0">
                                  <a:solidFill>
                                    <a:schemeClr val="bg1"/>
                                  </a:solidFill>
                                  <a:latin typeface="Cambria Math" panose="02040503050406030204" pitchFamily="18" charset="0"/>
                                </a:rPr>
                                <m:t>1</m:t>
                              </m:r>
                            </m:e>
                            <m:e>
                              <m:r>
                                <a:rPr lang="en-US" sz="1800" b="0" i="1" smtClean="0">
                                  <a:solidFill>
                                    <a:schemeClr val="bg1"/>
                                  </a:solidFill>
                                  <a:latin typeface="Cambria Math" panose="02040503050406030204" pitchFamily="18" charset="0"/>
                                </a:rPr>
                                <m:t>2</m:t>
                              </m:r>
                            </m:e>
                            <m:e>
                              <m:r>
                                <a:rPr lang="en-US" sz="1800" b="0" i="1" smtClean="0">
                                  <a:solidFill>
                                    <a:schemeClr val="bg1"/>
                                  </a:solidFill>
                                  <a:latin typeface="Cambria Math" panose="02040503050406030204" pitchFamily="18" charset="0"/>
                                </a:rPr>
                                <m:t>3</m:t>
                              </m:r>
                            </m:e>
                            <m:e>
                              <m:r>
                                <a:rPr lang="en-US" sz="1800" b="0" i="1" smtClean="0">
                                  <a:solidFill>
                                    <a:schemeClr val="bg1"/>
                                  </a:solidFill>
                                  <a:latin typeface="Cambria Math" panose="02040503050406030204" pitchFamily="18" charset="0"/>
                                </a:rPr>
                                <m:t>4</m:t>
                              </m:r>
                            </m:e>
                          </m:eqArr>
                        </m:e>
                      </m:d>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𝑢</m:t>
                      </m:r>
                      <m:r>
                        <a:rPr lang="en-US" sz="1800" i="1">
                          <a:solidFill>
                            <a:schemeClr val="bg1"/>
                          </a:solidFill>
                          <a:latin typeface="Cambria Math" panose="02040503050406030204" pitchFamily="18" charset="0"/>
                        </a:rPr>
                        <m:t>= </m:t>
                      </m:r>
                      <m:d>
                        <m:dPr>
                          <m:begChr m:val="["/>
                          <m:endChr m:val="]"/>
                          <m:ctrlPr>
                            <a:rPr lang="en-US" sz="1800" i="1">
                              <a:solidFill>
                                <a:schemeClr val="bg1"/>
                              </a:solidFill>
                              <a:latin typeface="Cambria Math" panose="02040503050406030204" pitchFamily="18" charset="0"/>
                            </a:rPr>
                          </m:ctrlPr>
                        </m:dPr>
                        <m:e>
                          <m:eqArr>
                            <m:eqArrPr>
                              <m:ctrlPr>
                                <a:rPr lang="en-US" sz="1800" b="0" i="1" smtClean="0">
                                  <a:solidFill>
                                    <a:schemeClr val="bg1"/>
                                  </a:solidFill>
                                  <a:latin typeface="Cambria Math" panose="02040503050406030204" pitchFamily="18" charset="0"/>
                                </a:rPr>
                              </m:ctrlPr>
                            </m:eqArrPr>
                            <m:e>
                              <m:r>
                                <a:rPr lang="en-US" sz="1800" b="0" i="1" smtClean="0">
                                  <a:solidFill>
                                    <a:schemeClr val="bg1"/>
                                  </a:solidFill>
                                  <a:latin typeface="Cambria Math" panose="02040503050406030204" pitchFamily="18" charset="0"/>
                                </a:rPr>
                                <m:t>−2</m:t>
                              </m:r>
                            </m:e>
                            <m:e>
                              <m:r>
                                <a:rPr lang="en-US" sz="1800" b="0" i="1" smtClean="0">
                                  <a:solidFill>
                                    <a:schemeClr val="bg1"/>
                                  </a:solidFill>
                                  <a:latin typeface="Cambria Math" panose="02040503050406030204" pitchFamily="18" charset="0"/>
                                </a:rPr>
                                <m:t>4</m:t>
                              </m:r>
                            </m:e>
                            <m:e>
                              <m:r>
                                <a:rPr lang="en-US" sz="1800" b="0" i="1" smtClean="0">
                                  <a:solidFill>
                                    <a:schemeClr val="bg1"/>
                                  </a:solidFill>
                                  <a:latin typeface="Cambria Math" panose="02040503050406030204" pitchFamily="18" charset="0"/>
                                </a:rPr>
                                <m:t>0</m:t>
                              </m:r>
                            </m:e>
                            <m:e>
                              <m:r>
                                <a:rPr lang="en-US" sz="1800" b="0" i="1" smtClean="0">
                                  <a:solidFill>
                                    <a:schemeClr val="bg1"/>
                                  </a:solidFill>
                                  <a:latin typeface="Cambria Math" panose="02040503050406030204" pitchFamily="18" charset="0"/>
                                </a:rPr>
                                <m:t>3</m:t>
                              </m:r>
                            </m:e>
                          </m:eqArr>
                        </m:e>
                      </m:d>
                      <m:r>
                        <a:rPr lang="en-US" sz="1800" i="1">
                          <a:solidFill>
                            <a:schemeClr val="bg1"/>
                          </a:solidFill>
                          <a:latin typeface="Cambria Math" panose="02040503050406030204" pitchFamily="18" charset="0"/>
                        </a:rPr>
                        <m:t>,</m:t>
                      </m:r>
                      <m:r>
                        <a:rPr lang="en-US" sz="1800" i="1">
                          <a:solidFill>
                            <a:schemeClr val="bg1"/>
                          </a:solidFill>
                          <a:latin typeface="Cambria Math" panose="02040503050406030204" pitchFamily="18" charset="0"/>
                        </a:rPr>
                        <m:t>𝑡h𝑒𝑛</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𝑣</m:t>
                      </m:r>
                      <m:r>
                        <a:rPr lang="en-US" sz="1800" b="0" i="1" smtClean="0">
                          <a:solidFill>
                            <a:schemeClr val="bg1"/>
                          </a:solidFill>
                          <a:latin typeface="Cambria Math" panose="02040503050406030204" pitchFamily="18" charset="0"/>
                          <a:ea typeface="Cambria Math" panose="02040503050406030204" pitchFamily="18" charset="0"/>
                        </a:rPr>
                        <m:t>∙</m:t>
                      </m:r>
                      <m:r>
                        <a:rPr lang="en-US" sz="1800" b="0" i="1" smtClean="0">
                          <a:solidFill>
                            <a:schemeClr val="bg1"/>
                          </a:solidFill>
                          <a:latin typeface="Cambria Math" panose="02040503050406030204" pitchFamily="18" charset="0"/>
                          <a:ea typeface="Cambria Math" panose="02040503050406030204" pitchFamily="18" charset="0"/>
                        </a:rPr>
                        <m:t>𝑠</m:t>
                      </m:r>
                      <m:r>
                        <a:rPr lang="en-US" sz="1800" b="0" i="1" smtClean="0">
                          <a:solidFill>
                            <a:schemeClr val="bg1"/>
                          </a:solidFill>
                          <a:latin typeface="Cambria Math" panose="02040503050406030204" pitchFamily="18" charset="0"/>
                          <a:ea typeface="Cambria Math" panose="02040503050406030204" pitchFamily="18" charset="0"/>
                        </a:rPr>
                        <m:t>=</m:t>
                      </m:r>
                      <m:d>
                        <m:dPr>
                          <m:ctrlPr>
                            <a:rPr lang="en-US" sz="1800" b="0" i="1" smtClean="0">
                              <a:solidFill>
                                <a:schemeClr val="bg1"/>
                              </a:solidFill>
                              <a:latin typeface="Cambria Math" panose="02040503050406030204" pitchFamily="18" charset="0"/>
                              <a:ea typeface="Cambria Math" panose="02040503050406030204" pitchFamily="18" charset="0"/>
                            </a:rPr>
                          </m:ctrlPr>
                        </m:dPr>
                        <m:e>
                          <m:r>
                            <a:rPr lang="en-US" sz="1800" b="0" i="1" smtClean="0">
                              <a:solidFill>
                                <a:schemeClr val="bg1"/>
                              </a:solidFill>
                              <a:latin typeface="Cambria Math" panose="02040503050406030204" pitchFamily="18" charset="0"/>
                              <a:ea typeface="Cambria Math" panose="02040503050406030204" pitchFamily="18" charset="0"/>
                            </a:rPr>
                            <m:t>1×−2</m:t>
                          </m:r>
                        </m:e>
                      </m:d>
                      <m:r>
                        <a:rPr lang="en-US" sz="1800" b="0" i="1" smtClean="0">
                          <a:solidFill>
                            <a:schemeClr val="bg1"/>
                          </a:solidFill>
                          <a:latin typeface="Cambria Math" panose="02040503050406030204" pitchFamily="18" charset="0"/>
                          <a:ea typeface="Cambria Math" panose="02040503050406030204" pitchFamily="18" charset="0"/>
                        </a:rPr>
                        <m:t>+</m:t>
                      </m:r>
                      <m:d>
                        <m:dPr>
                          <m:ctrlPr>
                            <a:rPr lang="en-US" sz="1800" b="0" i="1" smtClean="0">
                              <a:solidFill>
                                <a:schemeClr val="bg1"/>
                              </a:solidFill>
                              <a:latin typeface="Cambria Math" panose="02040503050406030204" pitchFamily="18" charset="0"/>
                              <a:ea typeface="Cambria Math" panose="02040503050406030204" pitchFamily="18" charset="0"/>
                            </a:rPr>
                          </m:ctrlPr>
                        </m:dPr>
                        <m:e>
                          <m:r>
                            <a:rPr lang="en-US" sz="1800" b="0" i="1" smtClean="0">
                              <a:solidFill>
                                <a:schemeClr val="bg1"/>
                              </a:solidFill>
                              <a:latin typeface="Cambria Math" panose="02040503050406030204" pitchFamily="18" charset="0"/>
                              <a:ea typeface="Cambria Math" panose="02040503050406030204" pitchFamily="18" charset="0"/>
                            </a:rPr>
                            <m:t>2×4</m:t>
                          </m:r>
                        </m:e>
                      </m:d>
                      <m:r>
                        <a:rPr lang="en-US" sz="1800" b="0" i="1" smtClean="0">
                          <a:solidFill>
                            <a:schemeClr val="bg1"/>
                          </a:solidFill>
                          <a:latin typeface="Cambria Math" panose="02040503050406030204" pitchFamily="18" charset="0"/>
                          <a:ea typeface="Cambria Math" panose="02040503050406030204" pitchFamily="18" charset="0"/>
                        </a:rPr>
                        <m:t>+</m:t>
                      </m:r>
                      <m:d>
                        <m:dPr>
                          <m:ctrlPr>
                            <a:rPr lang="en-US" sz="1800" b="0" i="1" smtClean="0">
                              <a:solidFill>
                                <a:schemeClr val="bg1"/>
                              </a:solidFill>
                              <a:latin typeface="Cambria Math" panose="02040503050406030204" pitchFamily="18" charset="0"/>
                              <a:ea typeface="Cambria Math" panose="02040503050406030204" pitchFamily="18" charset="0"/>
                            </a:rPr>
                          </m:ctrlPr>
                        </m:dPr>
                        <m:e>
                          <m:r>
                            <a:rPr lang="en-US" sz="1800" b="0" i="1" smtClean="0">
                              <a:solidFill>
                                <a:schemeClr val="bg1"/>
                              </a:solidFill>
                              <a:latin typeface="Cambria Math" panose="02040503050406030204" pitchFamily="18" charset="0"/>
                              <a:ea typeface="Cambria Math" panose="02040503050406030204" pitchFamily="18" charset="0"/>
                            </a:rPr>
                            <m:t>3×0</m:t>
                          </m:r>
                        </m:e>
                      </m:d>
                      <m:r>
                        <a:rPr lang="en-US" sz="1800" b="0" i="1" smtClean="0">
                          <a:solidFill>
                            <a:schemeClr val="bg1"/>
                          </a:solidFill>
                          <a:latin typeface="Cambria Math" panose="02040503050406030204" pitchFamily="18" charset="0"/>
                          <a:ea typeface="Cambria Math" panose="02040503050406030204" pitchFamily="18" charset="0"/>
                        </a:rPr>
                        <m:t>+</m:t>
                      </m:r>
                      <m:d>
                        <m:dPr>
                          <m:ctrlPr>
                            <a:rPr lang="en-US" sz="1800" b="0" i="1" smtClean="0">
                              <a:solidFill>
                                <a:schemeClr val="bg1"/>
                              </a:solidFill>
                              <a:latin typeface="Cambria Math" panose="02040503050406030204" pitchFamily="18" charset="0"/>
                              <a:ea typeface="Cambria Math" panose="02040503050406030204" pitchFamily="18" charset="0"/>
                            </a:rPr>
                          </m:ctrlPr>
                        </m:dPr>
                        <m:e>
                          <m:r>
                            <a:rPr lang="en-US" sz="1800" b="0" i="1" smtClean="0">
                              <a:solidFill>
                                <a:schemeClr val="bg1"/>
                              </a:solidFill>
                              <a:latin typeface="Cambria Math" panose="02040503050406030204" pitchFamily="18" charset="0"/>
                              <a:ea typeface="Cambria Math" panose="02040503050406030204" pitchFamily="18" charset="0"/>
                            </a:rPr>
                            <m:t>4×3</m:t>
                          </m:r>
                        </m:e>
                      </m:d>
                      <m:r>
                        <a:rPr lang="en-US" sz="1800" b="0" i="1" smtClean="0">
                          <a:solidFill>
                            <a:schemeClr val="bg1"/>
                          </a:solidFill>
                          <a:latin typeface="Cambria Math" panose="02040503050406030204" pitchFamily="18" charset="0"/>
                          <a:ea typeface="Cambria Math" panose="02040503050406030204" pitchFamily="18" charset="0"/>
                        </a:rPr>
                        <m:t>=−2+8+0+12=</m:t>
                      </m:r>
                      <m:r>
                        <a:rPr lang="en-US" sz="1800" b="1" i="1" smtClean="0">
                          <a:solidFill>
                            <a:schemeClr val="bg1"/>
                          </a:solidFill>
                          <a:latin typeface="Cambria Math" panose="02040503050406030204" pitchFamily="18" charset="0"/>
                          <a:ea typeface="Cambria Math" panose="02040503050406030204" pitchFamily="18" charset="0"/>
                        </a:rPr>
                        <m:t>𝟏𝟖</m:t>
                      </m:r>
                    </m:oMath>
                  </m:oMathPara>
                </a14:m>
                <a:endParaRPr lang="en-US" sz="1800" b="1" dirty="0">
                  <a:solidFill>
                    <a:schemeClr val="bg1"/>
                  </a:solidFill>
                </a:endParaRPr>
              </a:p>
            </p:txBody>
          </p:sp>
        </mc:Choice>
        <mc:Fallback xmlns="">
          <p:sp>
            <p:nvSpPr>
              <p:cNvPr id="5" name="TextBox 4">
                <a:extLst>
                  <a:ext uri="{FF2B5EF4-FFF2-40B4-BE49-F238E27FC236}">
                    <a16:creationId xmlns:a16="http://schemas.microsoft.com/office/drawing/2014/main" id="{63700FA3-D0F5-A29B-4E46-CFD929A46FE7}"/>
                  </a:ext>
                </a:extLst>
              </p:cNvPr>
              <p:cNvSpPr txBox="1">
                <a:spLocks noRot="1" noChangeAspect="1" noMove="1" noResize="1" noEditPoints="1" noAdjustHandles="1" noChangeArrowheads="1" noChangeShapeType="1" noTextEdit="1"/>
              </p:cNvSpPr>
              <p:nvPr/>
            </p:nvSpPr>
            <p:spPr>
              <a:xfrm>
                <a:off x="1593436" y="4495800"/>
                <a:ext cx="9834976" cy="1112805"/>
              </a:xfrm>
              <a:prstGeom prst="rect">
                <a:avLst/>
              </a:prstGeom>
              <a:blipFill>
                <a:blip r:embed="rId3"/>
                <a:stretch>
                  <a:fillRect b="-3409"/>
                </a:stretch>
              </a:blipFill>
            </p:spPr>
            <p:txBody>
              <a:bodyPr/>
              <a:lstStyle/>
              <a:p>
                <a:r>
                  <a:rPr lang="en-US">
                    <a:noFill/>
                  </a:rPr>
                  <a:t> </a:t>
                </a:r>
              </a:p>
            </p:txBody>
          </p:sp>
        </mc:Fallback>
      </mc:AlternateContent>
    </p:spTree>
    <p:extLst>
      <p:ext uri="{BB962C8B-B14F-4D97-AF65-F5344CB8AC3E}">
        <p14:creationId xmlns:p14="http://schemas.microsoft.com/office/powerpoint/2010/main" val="588767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(vectors)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5080000"/>
              </a:xfrm>
            </p:spPr>
            <p:txBody>
              <a:bodyPr/>
              <a:lstStyle/>
              <a:p>
                <a:pPr marL="514350" indent="-514350">
                  <a:buFont typeface="+mj-lt"/>
                  <a:buAutoNum type="arabicPeriod" startAt="3"/>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Addition/Subscription of two vectors</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For v = [v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 vector, and u = [u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another vector, we define the sum and difference as follows:</a:t>
                </a:r>
              </a:p>
              <a:p>
                <a:pPr marL="0" indent="0" algn="ctr">
                  <a:buNone/>
                </a:pPr>
                <a14:m>
                  <m:oMath xmlns:m="http://schemas.openxmlformats.org/officeDocument/2006/math">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𝑣</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d>
                      <m:dPr>
                        <m:begChr m:val="["/>
                        <m:endChr m:val="]"/>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mPr>
                          <m:mr>
                            <m:e>
                              <m:sSub>
                                <m:sSub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m:t>
                                  </m:r>
                                </m:sub>
                              </m:sSub>
                              <m:r>
                                <m:rPr>
                                  <m:brk m:alnAt="7"/>
                                </m:r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Sub>
                                <m:sSub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m:t>
                                  </m:r>
                                </m:sub>
                              </m:sSub>
                            </m:e>
                          </m:mr>
                          <m:mr>
                            <m:e>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b>
                              </m:sSub>
                              <m:r>
                                <m:rPr>
                                  <m:brk m:alnAt="7"/>
                                </m:r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Sub>
                                <m:sSubPr>
                                  <m:ctrlPr>
                                    <a:rPr lang="en-US"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b>
                              </m:sSub>
                            </m:e>
                          </m:mr>
                          <m:mr>
                            <m:e>
                              <m:eqArr>
                                <m:eqArr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eqArr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e>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𝑛</m:t>
                                      </m:r>
                                    </m:sub>
                                  </m:sSub>
                                  <m:r>
                                    <m:rPr>
                                      <m:brk m:alnAt="7"/>
                                    </m:r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𝑛</m:t>
                                      </m:r>
                                    </m:sub>
                                  </m:sSub>
                                </m:e>
                              </m:eqArr>
                            </m:e>
                          </m:mr>
                        </m:m>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𝑎𝑛𝑑</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𝑣</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mPr>
                          <m:mr>
                            <m:e>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m:t>
                                  </m:r>
                                </m:sub>
                              </m:s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e>
                                <m: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m:t>
                                  </m:r>
                                </m:sub>
                              </m:sSub>
                            </m:e>
                          </m:mr>
                          <m:mr>
                            <m:e>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b>
                              </m:s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e>
                                <m: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b>
                              </m:sSub>
                            </m:e>
                          </m:mr>
                          <m:m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eqArr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e>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𝑣</m:t>
                                      </m:r>
                                    </m:e>
                                    <m: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𝑛</m:t>
                                      </m:r>
                                    </m:sub>
                                  </m:s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𝑢</m:t>
                                      </m:r>
                                    </m:e>
                                    <m: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𝑛</m:t>
                                      </m:r>
                                    </m:sub>
                                  </m:sSub>
                                </m:e>
                              </m:eqArr>
                            </m:e>
                          </m:mr>
                        </m:m>
                      </m:e>
                    </m:d>
                  </m:oMath>
                </a14:m>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t>
                </a:r>
              </a:p>
              <a:p>
                <a:pPr marL="0" indent="0">
                  <a:buNone/>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Example:</a:t>
                </a: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5080000"/>
              </a:xfrm>
              <a:blipFill>
                <a:blip r:embed="rId2"/>
                <a:stretch>
                  <a:fillRect l="-888" r="-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700FA3-D0F5-A29B-4E46-CFD929A46FE7}"/>
                  </a:ext>
                </a:extLst>
              </p:cNvPr>
              <p:cNvSpPr txBox="1"/>
              <p:nvPr/>
            </p:nvSpPr>
            <p:spPr>
              <a:xfrm>
                <a:off x="3884612" y="5286737"/>
                <a:ext cx="5599936" cy="11169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𝑣</m:t>
                      </m:r>
                      <m:r>
                        <a:rPr lang="en-US" sz="1800" b="0" i="1" smtClean="0">
                          <a:latin typeface="Cambria Math" panose="02040503050406030204" pitchFamily="18" charset="0"/>
                        </a:rPr>
                        <m:t>= </m:t>
                      </m:r>
                      <m:d>
                        <m:dPr>
                          <m:begChr m:val="["/>
                          <m:endChr m:val="]"/>
                          <m:ctrlPr>
                            <a:rPr lang="en-US" sz="1800" i="1" smtClean="0">
                              <a:latin typeface="Cambria Math" panose="02040503050406030204" pitchFamily="18" charset="0"/>
                            </a:rPr>
                          </m:ctrlPr>
                        </m:dPr>
                        <m:e>
                          <m:eqArr>
                            <m:eqArrPr>
                              <m:ctrlPr>
                                <a:rPr lang="en-US" sz="1800" b="0" i="1" smtClean="0">
                                  <a:latin typeface="Cambria Math" panose="02040503050406030204" pitchFamily="18" charset="0"/>
                                </a:rPr>
                              </m:ctrlPr>
                            </m:eqArrPr>
                            <m:e>
                              <m:r>
                                <a:rPr lang="en-US" sz="1800" b="0" i="1" smtClean="0">
                                  <a:latin typeface="Cambria Math" panose="02040503050406030204" pitchFamily="18" charset="0"/>
                                </a:rPr>
                                <m:t>1</m:t>
                              </m:r>
                            </m:e>
                            <m:e>
                              <m:r>
                                <a:rPr lang="en-US" sz="1800" b="0" i="1" smtClean="0">
                                  <a:latin typeface="Cambria Math" panose="02040503050406030204" pitchFamily="18" charset="0"/>
                                </a:rPr>
                                <m:t>2</m:t>
                              </m:r>
                            </m:e>
                            <m:e>
                              <m:r>
                                <a:rPr lang="en-US" sz="1800" b="0" i="1" smtClean="0">
                                  <a:latin typeface="Cambria Math" panose="02040503050406030204" pitchFamily="18" charset="0"/>
                                </a:rPr>
                                <m:t>3</m:t>
                              </m:r>
                            </m:e>
                            <m:e>
                              <m:r>
                                <a:rPr lang="en-US" sz="1800" b="0" i="1" smtClean="0">
                                  <a:latin typeface="Cambria Math" panose="02040503050406030204" pitchFamily="18" charset="0"/>
                                </a:rPr>
                                <m:t>4</m:t>
                              </m:r>
                            </m:e>
                          </m:eqArr>
                        </m:e>
                      </m:d>
                      <m:r>
                        <a:rPr lang="en-US" sz="1800" b="0" i="1" smtClean="0">
                          <a:latin typeface="Cambria Math" panose="02040503050406030204" pitchFamily="18" charset="0"/>
                        </a:rPr>
                        <m:t>,</m:t>
                      </m:r>
                      <m:r>
                        <a:rPr lang="en-US" sz="1800" b="0" i="1" smtClean="0">
                          <a:latin typeface="Cambria Math" panose="02040503050406030204" pitchFamily="18" charset="0"/>
                        </a:rPr>
                        <m:t>𝑢</m:t>
                      </m:r>
                      <m:r>
                        <a:rPr lang="en-US" sz="1800" i="1">
                          <a:latin typeface="Cambria Math" panose="02040503050406030204" pitchFamily="18" charset="0"/>
                        </a:rPr>
                        <m:t>= </m:t>
                      </m:r>
                      <m:d>
                        <m:dPr>
                          <m:begChr m:val="["/>
                          <m:endChr m:val="]"/>
                          <m:ctrlPr>
                            <a:rPr lang="en-US" sz="1800" i="1">
                              <a:latin typeface="Cambria Math" panose="02040503050406030204" pitchFamily="18" charset="0"/>
                            </a:rPr>
                          </m:ctrlPr>
                        </m:dPr>
                        <m:e>
                          <m:eqArr>
                            <m:eqArrPr>
                              <m:ctrlPr>
                                <a:rPr lang="en-US" sz="1800" b="0" i="1" smtClean="0">
                                  <a:latin typeface="Cambria Math" panose="02040503050406030204" pitchFamily="18" charset="0"/>
                                </a:rPr>
                              </m:ctrlPr>
                            </m:eqArrPr>
                            <m:e>
                              <m:r>
                                <a:rPr lang="en-US" sz="1800" b="0" i="1" smtClean="0">
                                  <a:latin typeface="Cambria Math" panose="02040503050406030204" pitchFamily="18" charset="0"/>
                                </a:rPr>
                                <m:t>−2</m:t>
                              </m:r>
                            </m:e>
                            <m:e>
                              <m:r>
                                <a:rPr lang="en-US" sz="1800" b="0" i="1" smtClean="0">
                                  <a:latin typeface="Cambria Math" panose="02040503050406030204" pitchFamily="18" charset="0"/>
                                </a:rPr>
                                <m:t>4</m:t>
                              </m:r>
                            </m:e>
                            <m:e>
                              <m:r>
                                <a:rPr lang="en-US" sz="1800" b="0" i="1" smtClean="0">
                                  <a:latin typeface="Cambria Math" panose="02040503050406030204" pitchFamily="18" charset="0"/>
                                </a:rPr>
                                <m:t>0</m:t>
                              </m:r>
                            </m:e>
                            <m:e>
                              <m:r>
                                <a:rPr lang="en-US" sz="1800" b="0" i="1" smtClean="0">
                                  <a:latin typeface="Cambria Math" panose="02040503050406030204" pitchFamily="18" charset="0"/>
                                </a:rPr>
                                <m:t>3</m:t>
                              </m:r>
                            </m:e>
                          </m:eqArr>
                        </m:e>
                      </m:d>
                      <m:r>
                        <a:rPr lang="en-US" sz="1800" i="1">
                          <a:latin typeface="Cambria Math" panose="02040503050406030204" pitchFamily="18" charset="0"/>
                        </a:rPr>
                        <m:t>,</m:t>
                      </m:r>
                      <m:r>
                        <a:rPr lang="en-US" sz="1800" i="1">
                          <a:latin typeface="Cambria Math" panose="02040503050406030204" pitchFamily="18" charset="0"/>
                        </a:rPr>
                        <m:t>𝑡h𝑒𝑛</m:t>
                      </m:r>
                      <m:r>
                        <a:rPr lang="en-US" sz="1800" i="1" smtClean="0">
                          <a:latin typeface="Cambria Math" panose="02040503050406030204" pitchFamily="18" charset="0"/>
                        </a:rPr>
                        <m:t> </m:t>
                      </m:r>
                      <m:r>
                        <a:rPr lang="en-US" sz="1800" i="1" smtClean="0">
                          <a:latin typeface="Cambria Math" panose="02040503050406030204" pitchFamily="18" charset="0"/>
                        </a:rPr>
                        <m:t>𝑣</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𝑠</m:t>
                      </m:r>
                      <m:r>
                        <a:rPr lang="en-US" sz="1800" b="0" i="1" smtClean="0">
                          <a:latin typeface="Cambria Math" panose="02040503050406030204" pitchFamily="18" charset="0"/>
                          <a:ea typeface="Cambria Math" panose="02040503050406030204" pitchFamily="18" charset="0"/>
                        </a:rPr>
                        <m:t>=</m:t>
                      </m:r>
                      <m:d>
                        <m:dPr>
                          <m:begChr m:val="["/>
                          <m:endChr m:val="]"/>
                          <m:ctrlPr>
                            <a:rPr lang="en-US" sz="1800" i="1">
                              <a:latin typeface="Cambria Math" panose="02040503050406030204" pitchFamily="18" charset="0"/>
                            </a:rPr>
                          </m:ctrlPr>
                        </m:dPr>
                        <m:e>
                          <m:eqArr>
                            <m:eqArrPr>
                              <m:ctrlPr>
                                <a:rPr lang="en-US" sz="1800" i="1">
                                  <a:latin typeface="Cambria Math" panose="02040503050406030204" pitchFamily="18" charset="0"/>
                                </a:rPr>
                              </m:ctrlPr>
                            </m:eqArrPr>
                            <m:e>
                              <m:r>
                                <a:rPr lang="en-US" sz="1800" i="1">
                                  <a:latin typeface="Cambria Math" panose="02040503050406030204" pitchFamily="18" charset="0"/>
                                </a:rPr>
                                <m:t>1</m:t>
                              </m:r>
                              <m:r>
                                <a:rPr lang="en-US" sz="1800" b="0" i="1" smtClean="0">
                                  <a:latin typeface="Cambria Math" panose="02040503050406030204" pitchFamily="18" charset="0"/>
                                </a:rPr>
                                <m:t>+(−2)</m:t>
                              </m:r>
                            </m:e>
                            <m:e>
                              <m:r>
                                <a:rPr lang="en-US" sz="1800" i="1">
                                  <a:latin typeface="Cambria Math" panose="02040503050406030204" pitchFamily="18" charset="0"/>
                                </a:rPr>
                                <m:t>2</m:t>
                              </m:r>
                              <m:r>
                                <a:rPr lang="en-US" sz="1800" b="0" i="1" smtClean="0">
                                  <a:latin typeface="Cambria Math" panose="02040503050406030204" pitchFamily="18" charset="0"/>
                                </a:rPr>
                                <m:t>+4</m:t>
                              </m:r>
                            </m:e>
                            <m:e>
                              <m:r>
                                <a:rPr lang="en-US" sz="1800" i="1">
                                  <a:latin typeface="Cambria Math" panose="02040503050406030204" pitchFamily="18" charset="0"/>
                                </a:rPr>
                                <m:t>3</m:t>
                              </m:r>
                              <m:r>
                                <a:rPr lang="en-US" sz="1800" b="0" i="1" smtClean="0">
                                  <a:latin typeface="Cambria Math" panose="02040503050406030204" pitchFamily="18" charset="0"/>
                                </a:rPr>
                                <m:t>+0</m:t>
                              </m:r>
                            </m:e>
                            <m:e>
                              <m:r>
                                <a:rPr lang="en-US" sz="1800" i="1">
                                  <a:latin typeface="Cambria Math" panose="02040503050406030204" pitchFamily="18" charset="0"/>
                                </a:rPr>
                                <m:t>4</m:t>
                              </m:r>
                              <m:r>
                                <a:rPr lang="en-US" sz="1800" b="0" i="1" smtClean="0">
                                  <a:latin typeface="Cambria Math" panose="02040503050406030204" pitchFamily="18" charset="0"/>
                                </a:rPr>
                                <m:t>+3</m:t>
                              </m:r>
                            </m:e>
                          </m:eqArr>
                        </m:e>
                      </m:d>
                      <m:r>
                        <a:rPr lang="en-US" sz="1800" b="0" i="1" smtClean="0">
                          <a:latin typeface="Cambria Math" panose="02040503050406030204" pitchFamily="18" charset="0"/>
                        </a:rPr>
                        <m:t>=</m:t>
                      </m:r>
                      <m:d>
                        <m:dPr>
                          <m:begChr m:val="["/>
                          <m:endChr m:val="]"/>
                          <m:ctrlPr>
                            <a:rPr lang="en-US" sz="1800" i="1">
                              <a:latin typeface="Cambria Math" panose="02040503050406030204" pitchFamily="18" charset="0"/>
                            </a:rPr>
                          </m:ctrlPr>
                        </m:dPr>
                        <m:e>
                          <m:eqArr>
                            <m:eqArrPr>
                              <m:ctrlPr>
                                <a:rPr lang="en-US" sz="1800" i="1">
                                  <a:latin typeface="Cambria Math" panose="02040503050406030204" pitchFamily="18" charset="0"/>
                                </a:rPr>
                              </m:ctrlPr>
                            </m:eqArrPr>
                            <m:e>
                              <m:r>
                                <a:rPr lang="en-US" sz="1800" b="0" i="1" smtClean="0">
                                  <a:latin typeface="Cambria Math" panose="02040503050406030204" pitchFamily="18" charset="0"/>
                                </a:rPr>
                                <m:t>−</m:t>
                              </m:r>
                              <m:r>
                                <a:rPr lang="en-US" sz="1800" i="1">
                                  <a:latin typeface="Cambria Math" panose="02040503050406030204" pitchFamily="18" charset="0"/>
                                </a:rPr>
                                <m:t>1</m:t>
                              </m:r>
                            </m:e>
                            <m:e>
                              <m:r>
                                <a:rPr lang="en-US" sz="1800" b="0" i="1" smtClean="0">
                                  <a:latin typeface="Cambria Math" panose="02040503050406030204" pitchFamily="18" charset="0"/>
                                </a:rPr>
                                <m:t>6</m:t>
                              </m:r>
                            </m:e>
                            <m:e>
                              <m:r>
                                <a:rPr lang="en-US" sz="1800" i="1">
                                  <a:latin typeface="Cambria Math" panose="02040503050406030204" pitchFamily="18" charset="0"/>
                                </a:rPr>
                                <m:t>3</m:t>
                              </m:r>
                            </m:e>
                            <m:e>
                              <m:r>
                                <a:rPr lang="en-US" sz="1800" b="0" i="1" smtClean="0">
                                  <a:latin typeface="Cambria Math" panose="02040503050406030204" pitchFamily="18" charset="0"/>
                                </a:rPr>
                                <m:t>7</m:t>
                              </m:r>
                            </m:e>
                          </m:eqArr>
                        </m:e>
                      </m:d>
                    </m:oMath>
                  </m:oMathPara>
                </a14:m>
                <a:endParaRPr lang="en-US" sz="1800" b="1" dirty="0"/>
              </a:p>
            </p:txBody>
          </p:sp>
        </mc:Choice>
        <mc:Fallback xmlns="">
          <p:sp>
            <p:nvSpPr>
              <p:cNvPr id="5" name="TextBox 4">
                <a:extLst>
                  <a:ext uri="{FF2B5EF4-FFF2-40B4-BE49-F238E27FC236}">
                    <a16:creationId xmlns:a16="http://schemas.microsoft.com/office/drawing/2014/main" id="{63700FA3-D0F5-A29B-4E46-CFD929A46FE7}"/>
                  </a:ext>
                </a:extLst>
              </p:cNvPr>
              <p:cNvSpPr txBox="1">
                <a:spLocks noRot="1" noChangeAspect="1" noMove="1" noResize="1" noEditPoints="1" noAdjustHandles="1" noChangeArrowheads="1" noChangeShapeType="1" noTextEdit="1"/>
              </p:cNvSpPr>
              <p:nvPr/>
            </p:nvSpPr>
            <p:spPr>
              <a:xfrm>
                <a:off x="3884612" y="5286737"/>
                <a:ext cx="5599936" cy="1116972"/>
              </a:xfrm>
              <a:prstGeom prst="rect">
                <a:avLst/>
              </a:prstGeom>
              <a:blipFill>
                <a:blip r:embed="rId3"/>
                <a:stretch>
                  <a:fillRect b="-2247"/>
                </a:stretch>
              </a:blipFill>
            </p:spPr>
            <p:txBody>
              <a:bodyPr/>
              <a:lstStyle/>
              <a:p>
                <a:r>
                  <a:rPr lang="en-US">
                    <a:noFill/>
                  </a:rPr>
                  <a:t> </a:t>
                </a:r>
              </a:p>
            </p:txBody>
          </p:sp>
        </mc:Fallback>
      </mc:AlternateContent>
    </p:spTree>
    <p:extLst>
      <p:ext uri="{BB962C8B-B14F-4D97-AF65-F5344CB8AC3E}">
        <p14:creationId xmlns:p14="http://schemas.microsoft.com/office/powerpoint/2010/main" val="2347274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(vectors)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5080000"/>
              </a:xfrm>
            </p:spPr>
            <p:txBody>
              <a:bodyPr>
                <a:normAutofit lnSpcReduction="10000"/>
              </a:bodyPr>
              <a:lstStyle/>
              <a:p>
                <a:pPr marL="514350" indent="-514350">
                  <a:buFont typeface="+mj-lt"/>
                  <a:buAutoNum type="arabicPeriod" startAt="4"/>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Norm</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For v = [v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 vector, its norm is defined as follows:</a:t>
                </a:r>
              </a:p>
              <a:p>
                <a:pPr marL="0" indent="0" algn="ctr">
                  <a:buNone/>
                </a:pPr>
                <a14:m>
                  <m:oMath xmlns:m="http://schemas.openxmlformats.org/officeDocument/2006/math">
                    <m:sSub>
                      <m:sSub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d>
                          <m:dPr>
                            <m:begChr m:val="‖"/>
                            <m:endChr m:val="‖"/>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𝑣</m:t>
                            </m:r>
                          </m:e>
                        </m:d>
                      </m:e>
                      <m: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𝑘</m:t>
                        </m:r>
                      </m:sub>
                    </m:s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ad>
                      <m:rad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radPr>
                      <m:deg>
                        <m:r>
                          <m:rPr>
                            <m:brk m:alnAt="7"/>
                          </m:r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𝑘</m:t>
                        </m:r>
                      </m:deg>
                      <m:e>
                        <m:nary>
                          <m:naryPr>
                            <m:chr m:val="∑"/>
                            <m:ctrlP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ctrlPr>
                          </m:naryPr>
                          <m:sub>
                            <m:r>
                              <m:rPr>
                                <m:brk m:alnAt="23"/>
                              </m:rP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𝑖</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=1</m:t>
                            </m:r>
                          </m:sub>
                          <m:sup>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𝑛</m:t>
                            </m:r>
                          </m:sup>
                          <m:e>
                            <m:sSup>
                              <m:sSupPr>
                                <m:ctrlPr>
                                  <a:rPr lang="en-US"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d>
                                  <m:dPr>
                                    <m:begChr m:val="|"/>
                                    <m:endChr m:val="|"/>
                                    <m:ctrlPr>
                                      <a:rPr lang="en-US"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sSub>
                                      <m:sSubPr>
                                        <m:ctrlPr>
                                          <a:rPr lang="en-US"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𝑣</m:t>
                                        </m:r>
                                      </m:e>
                                      <m: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𝑖</m:t>
                                        </m:r>
                                      </m:sub>
                                    </m:sSub>
                                  </m:e>
                                </m:d>
                              </m:e>
                              <m:sup>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𝑘</m:t>
                                </m:r>
                              </m:sup>
                            </m:sSup>
                          </m:e>
                        </m:nary>
                      </m:e>
                    </m:rad>
                  </m:oMath>
                </a14:m>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t>
                </a:r>
              </a:p>
              <a:p>
                <a:pPr marL="0" indent="0">
                  <a:buNone/>
                </a:pPr>
                <a:endParaRPr lang="en-US"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Depending on the value of “k”, a norm can be:</a:t>
                </a:r>
              </a:p>
              <a:p>
                <a:pPr lvl="1"/>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k=1 </a:t>
                </a:r>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 Manhattan norm</a:t>
                </a:r>
              </a:p>
              <a:p>
                <a:pPr lvl="1"/>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k=2  Euclidian norm</a:t>
                </a:r>
              </a:p>
              <a:p>
                <a:pPr marL="0" indent="0">
                  <a:buNone/>
                </a:pPr>
                <a:endParaRPr lang="en-US" dirty="0">
                  <a:solidFill>
                    <a:schemeClr val="bg1"/>
                  </a:solidFill>
                  <a:latin typeface="Arial" panose="020B0604020202020204" pitchFamily="34" charset="0"/>
                  <a:cs typeface="Arial" panose="020B0604020202020204" pitchFamily="34" charset="0"/>
                  <a:sym typeface="Wingdings" panose="05000000000000000000" pitchFamily="2" charset="2"/>
                </a:endParaRPr>
              </a:p>
              <a:p>
                <a:pPr marL="0" indent="0">
                  <a:buNone/>
                </a:pPr>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All norms satisfy certain properties, such as non-negativity, the triangle inequality, and homogeneity.</a:t>
                </a:r>
              </a:p>
              <a:p>
                <a:pPr lvl="1"/>
                <a:endParaRPr lang="en-US" dirty="0">
                  <a:solidFill>
                    <a:schemeClr val="bg1"/>
                  </a:solidFill>
                  <a:latin typeface="Arial" panose="020B0604020202020204" pitchFamily="34" charset="0"/>
                  <a:cs typeface="Arial" panose="020B0604020202020204" pitchFamily="34"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5080000"/>
              </a:xfrm>
              <a:blipFill>
                <a:blip r:embed="rId3"/>
                <a:stretch>
                  <a:fillRect l="-888"/>
                </a:stretch>
              </a:blipFill>
            </p:spPr>
            <p:txBody>
              <a:bodyPr/>
              <a:lstStyle/>
              <a:p>
                <a:r>
                  <a:rPr lang="en-US">
                    <a:noFill/>
                  </a:rPr>
                  <a:t> </a:t>
                </a:r>
              </a:p>
            </p:txBody>
          </p:sp>
        </mc:Fallback>
      </mc:AlternateContent>
    </p:spTree>
    <p:extLst>
      <p:ext uri="{BB962C8B-B14F-4D97-AF65-F5344CB8AC3E}">
        <p14:creationId xmlns:p14="http://schemas.microsoft.com/office/powerpoint/2010/main" val="2156346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(vectors)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5080000"/>
              </a:xfrm>
            </p:spPr>
            <p:txBody>
              <a:bodyPr>
                <a:normAutofit/>
              </a:bodyPr>
              <a:lstStyle/>
              <a:p>
                <a:pPr marL="514350" indent="-514350">
                  <a:buFont typeface="+mj-lt"/>
                  <a:buAutoNum type="arabicPeriod" startAt="5"/>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Distance </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For v = [v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,..v</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 vector, and u = [u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,..u</a:t>
                </a:r>
                <a:r>
                  <a:rPr lang="en-US" baseline="-25000"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another vector, we define the distance between v and u as:</a:t>
                </a:r>
              </a:p>
              <a:p>
                <a:pPr marL="0" indent="0" algn="ctr">
                  <a:buNone/>
                </a:pPr>
                <a14:m>
                  <m:oMath xmlns:m="http://schemas.openxmlformats.org/officeDocument/2006/math">
                    <m:sSub>
                      <m:sSub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𝑑𝑖𝑠𝑡</m:t>
                        </m:r>
                      </m:e>
                      <m: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𝑘</m:t>
                        </m:r>
                      </m:sub>
                    </m:s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𝑣</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𝑢</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Sub>
                      <m:sSub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d>
                          <m:dPr>
                            <m:begChr m:val="‖"/>
                            <m:endChr m:val="‖"/>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𝑣</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𝑢</m:t>
                            </m:r>
                          </m:e>
                        </m:d>
                      </m:e>
                      <m: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𝑘</m:t>
                        </m:r>
                      </m:sub>
                    </m:sSub>
                  </m:oMath>
                </a14:m>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	</a:t>
                </a:r>
              </a:p>
              <a:p>
                <a:pPr marL="0" indent="0">
                  <a:buNone/>
                </a:pPr>
                <a:endParaRPr lang="en-US"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Depending on the value of “k”, a distance can be:</a:t>
                </a:r>
              </a:p>
              <a:p>
                <a:pPr lvl="1"/>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k=1 </a:t>
                </a:r>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 Manhattan norm</a:t>
                </a:r>
              </a:p>
              <a:p>
                <a:pPr lvl="1"/>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k=2  Euclidian norm</a:t>
                </a:r>
              </a:p>
              <a:p>
                <a:pPr marL="0" indent="0">
                  <a:buNone/>
                </a:pPr>
                <a:endParaRPr lang="en-US" dirty="0">
                  <a:solidFill>
                    <a:schemeClr val="bg1"/>
                  </a:solidFill>
                  <a:latin typeface="Arial" panose="020B0604020202020204" pitchFamily="34" charset="0"/>
                  <a:cs typeface="Arial" panose="020B0604020202020204" pitchFamily="34" charset="0"/>
                  <a:sym typeface="Wingdings" panose="05000000000000000000" pitchFamily="2" charset="2"/>
                </a:endParaRPr>
              </a:p>
              <a:p>
                <a:pPr marL="0" indent="0">
                  <a:buNone/>
                </a:pPr>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As a general consideration, </a:t>
                </a:r>
                <a:r>
                  <a:rPr lang="en-US" i="1" dirty="0" err="1">
                    <a:solidFill>
                      <a:schemeClr val="bg1"/>
                    </a:solidFill>
                    <a:latin typeface="Arial" panose="020B0604020202020204" pitchFamily="34" charset="0"/>
                    <a:cs typeface="Arial" panose="020B0604020202020204" pitchFamily="34" charset="0"/>
                    <a:sym typeface="Wingdings" panose="05000000000000000000" pitchFamily="2" charset="2"/>
                  </a:rPr>
                  <a:t>dist</a:t>
                </a:r>
                <a:r>
                  <a:rPr lang="en-US" i="1" baseline="-25000" dirty="0" err="1">
                    <a:solidFill>
                      <a:schemeClr val="bg1"/>
                    </a:solidFill>
                    <a:latin typeface="Arial" panose="020B0604020202020204" pitchFamily="34" charset="0"/>
                    <a:cs typeface="Arial" panose="020B0604020202020204" pitchFamily="34" charset="0"/>
                    <a:sym typeface="Wingdings" panose="05000000000000000000" pitchFamily="2" charset="2"/>
                  </a:rPr>
                  <a:t>k</a:t>
                </a:r>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 is also called </a:t>
                </a:r>
                <a:r>
                  <a:rPr lang="en-US" dirty="0" err="1">
                    <a:solidFill>
                      <a:schemeClr val="bg1"/>
                    </a:solidFill>
                    <a:latin typeface="Arial" panose="020B0604020202020204" pitchFamily="34" charset="0"/>
                    <a:cs typeface="Arial" panose="020B0604020202020204" pitchFamily="34" charset="0"/>
                    <a:sym typeface="Wingdings" panose="05000000000000000000" pitchFamily="2" charset="2"/>
                  </a:rPr>
                  <a:t>Minkovsky</a:t>
                </a:r>
                <a:r>
                  <a:rPr lang="en-US" dirty="0">
                    <a:solidFill>
                      <a:schemeClr val="bg1"/>
                    </a:solidFill>
                    <a:latin typeface="Arial" panose="020B0604020202020204" pitchFamily="34" charset="0"/>
                    <a:cs typeface="Arial" panose="020B0604020202020204" pitchFamily="34" charset="0"/>
                    <a:sym typeface="Wingdings" panose="05000000000000000000" pitchFamily="2" charset="2"/>
                  </a:rPr>
                  <a:t> distance.</a:t>
                </a:r>
              </a:p>
              <a:p>
                <a:pPr lvl="1"/>
                <a:endParaRPr lang="en-US" dirty="0">
                  <a:solidFill>
                    <a:schemeClr val="bg1"/>
                  </a:solidFill>
                  <a:latin typeface="Arial" panose="020B0604020202020204" pitchFamily="34" charset="0"/>
                  <a:cs typeface="Arial" panose="020B0604020202020204" pitchFamily="34"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5080000"/>
              </a:xfrm>
              <a:blipFill>
                <a:blip r:embed="rId2"/>
                <a:stretch>
                  <a:fillRect l="-888" r="-127" b="-1496"/>
                </a:stretch>
              </a:blipFill>
            </p:spPr>
            <p:txBody>
              <a:bodyPr/>
              <a:lstStyle/>
              <a:p>
                <a:r>
                  <a:rPr lang="en-US">
                    <a:noFill/>
                  </a:rPr>
                  <a:t> </a:t>
                </a:r>
              </a:p>
            </p:txBody>
          </p:sp>
        </mc:Fallback>
      </mc:AlternateContent>
    </p:spTree>
    <p:extLst>
      <p:ext uri="{BB962C8B-B14F-4D97-AF65-F5344CB8AC3E}">
        <p14:creationId xmlns:p14="http://schemas.microsoft.com/office/powerpoint/2010/main" val="1628871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(vectors)</a:t>
            </a:r>
          </a:p>
        </p:txBody>
      </p:sp>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5080000"/>
          </a:xfrm>
        </p:spPr>
        <p:txBody>
          <a:bodyPr>
            <a:normAutofit/>
          </a:bodyPr>
          <a:lstStyle/>
          <a:p>
            <a:pPr marL="514350" indent="-514350">
              <a:buFont typeface="+mj-lt"/>
              <a:buAutoNum type="arabicPeriod" startAt="5"/>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Distance </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Let’s see an example (we will consider a 2-dimensional space).</a:t>
            </a:r>
            <a:endParaRPr lang="en-US" dirty="0">
              <a:solidFill>
                <a:schemeClr val="bg1"/>
              </a:solidFill>
              <a:latin typeface="Arial" panose="020B0604020202020204" pitchFamily="34" charset="0"/>
              <a:cs typeface="Arial" panose="020B0604020202020204" pitchFamily="34" charset="0"/>
              <a:sym typeface="Wingdings" panose="05000000000000000000" pitchFamily="2" charset="2"/>
            </a:endParaRPr>
          </a:p>
          <a:p>
            <a:pPr lvl="1"/>
            <a:endParaRPr lang="en-US" dirty="0">
              <a:solidFill>
                <a:schemeClr val="tx2"/>
              </a:solidFill>
              <a:latin typeface="Arial" panose="020B0604020202020204" pitchFamily="34" charset="0"/>
              <a:cs typeface="Arial" panose="020B0604020202020204" pitchFamily="34" charset="0"/>
              <a:sym typeface="Symbol" panose="05050102010706020507" pitchFamily="18" charset="2"/>
            </a:endParaRPr>
          </a:p>
        </p:txBody>
      </p:sp>
      <p:graphicFrame>
        <p:nvGraphicFramePr>
          <p:cNvPr id="4" name="Table 4">
            <a:extLst>
              <a:ext uri="{FF2B5EF4-FFF2-40B4-BE49-F238E27FC236}">
                <a16:creationId xmlns:a16="http://schemas.microsoft.com/office/drawing/2014/main" id="{4D8D5EB2-8F05-0976-6027-E7CF0F0C4520}"/>
              </a:ext>
            </a:extLst>
          </p:cNvPr>
          <p:cNvGraphicFramePr>
            <a:graphicFrameLocks noGrp="1"/>
          </p:cNvGraphicFramePr>
          <p:nvPr/>
        </p:nvGraphicFramePr>
        <p:xfrm>
          <a:off x="1751012" y="3124200"/>
          <a:ext cx="2590800" cy="2438400"/>
        </p:xfrm>
        <a:graphic>
          <a:graphicData uri="http://schemas.openxmlformats.org/drawingml/2006/table">
            <a:tbl>
              <a:tblPr firstRow="1" bandRow="1">
                <a:tableStyleId>{5940675A-B579-460E-94D1-54222C63F5DA}</a:tableStyleId>
              </a:tblPr>
              <a:tblGrid>
                <a:gridCol w="259080">
                  <a:extLst>
                    <a:ext uri="{9D8B030D-6E8A-4147-A177-3AD203B41FA5}">
                      <a16:colId xmlns:a16="http://schemas.microsoft.com/office/drawing/2014/main" val="246057276"/>
                    </a:ext>
                  </a:extLst>
                </a:gridCol>
                <a:gridCol w="259080">
                  <a:extLst>
                    <a:ext uri="{9D8B030D-6E8A-4147-A177-3AD203B41FA5}">
                      <a16:colId xmlns:a16="http://schemas.microsoft.com/office/drawing/2014/main" val="569262223"/>
                    </a:ext>
                  </a:extLst>
                </a:gridCol>
                <a:gridCol w="259080">
                  <a:extLst>
                    <a:ext uri="{9D8B030D-6E8A-4147-A177-3AD203B41FA5}">
                      <a16:colId xmlns:a16="http://schemas.microsoft.com/office/drawing/2014/main" val="1513705195"/>
                    </a:ext>
                  </a:extLst>
                </a:gridCol>
                <a:gridCol w="259080">
                  <a:extLst>
                    <a:ext uri="{9D8B030D-6E8A-4147-A177-3AD203B41FA5}">
                      <a16:colId xmlns:a16="http://schemas.microsoft.com/office/drawing/2014/main" val="3217334521"/>
                    </a:ext>
                  </a:extLst>
                </a:gridCol>
                <a:gridCol w="259080">
                  <a:extLst>
                    <a:ext uri="{9D8B030D-6E8A-4147-A177-3AD203B41FA5}">
                      <a16:colId xmlns:a16="http://schemas.microsoft.com/office/drawing/2014/main" val="361911165"/>
                    </a:ext>
                  </a:extLst>
                </a:gridCol>
                <a:gridCol w="259080">
                  <a:extLst>
                    <a:ext uri="{9D8B030D-6E8A-4147-A177-3AD203B41FA5}">
                      <a16:colId xmlns:a16="http://schemas.microsoft.com/office/drawing/2014/main" val="3504708714"/>
                    </a:ext>
                  </a:extLst>
                </a:gridCol>
                <a:gridCol w="259080">
                  <a:extLst>
                    <a:ext uri="{9D8B030D-6E8A-4147-A177-3AD203B41FA5}">
                      <a16:colId xmlns:a16="http://schemas.microsoft.com/office/drawing/2014/main" val="1908941735"/>
                    </a:ext>
                  </a:extLst>
                </a:gridCol>
                <a:gridCol w="259080">
                  <a:extLst>
                    <a:ext uri="{9D8B030D-6E8A-4147-A177-3AD203B41FA5}">
                      <a16:colId xmlns:a16="http://schemas.microsoft.com/office/drawing/2014/main" val="2484899890"/>
                    </a:ext>
                  </a:extLst>
                </a:gridCol>
                <a:gridCol w="259080">
                  <a:extLst>
                    <a:ext uri="{9D8B030D-6E8A-4147-A177-3AD203B41FA5}">
                      <a16:colId xmlns:a16="http://schemas.microsoft.com/office/drawing/2014/main" val="2686800878"/>
                    </a:ext>
                  </a:extLst>
                </a:gridCol>
                <a:gridCol w="259080">
                  <a:extLst>
                    <a:ext uri="{9D8B030D-6E8A-4147-A177-3AD203B41FA5}">
                      <a16:colId xmlns:a16="http://schemas.microsoft.com/office/drawing/2014/main" val="30050107"/>
                    </a:ext>
                  </a:extLst>
                </a:gridCol>
              </a:tblGrid>
              <a:tr h="200025">
                <a:tc>
                  <a:txBody>
                    <a:bodyPr/>
                    <a:lstStyle/>
                    <a:p>
                      <a:r>
                        <a:rPr lang="en-US" dirty="0"/>
                        <a:t>6</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8101208"/>
                  </a:ext>
                </a:extLst>
              </a:tr>
              <a:tr h="200025">
                <a:tc>
                  <a:txBody>
                    <a:bodyPr/>
                    <a:lstStyle/>
                    <a:p>
                      <a:r>
                        <a:rPr lang="en-US" dirty="0"/>
                        <a:t>5</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52933165"/>
                  </a:ext>
                </a:extLst>
              </a:tr>
              <a:tr h="200025">
                <a:tc>
                  <a:txBody>
                    <a:bodyPr/>
                    <a:lstStyle/>
                    <a:p>
                      <a:r>
                        <a:rPr lang="en-US" dirty="0"/>
                        <a:t>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81299696"/>
                  </a:ext>
                </a:extLst>
              </a:tr>
              <a:tr h="200025">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605049802"/>
                  </a:ext>
                </a:extLst>
              </a:tr>
              <a:tr h="200025">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44189447"/>
                  </a:ext>
                </a:extLst>
              </a:tr>
              <a:tr h="200025">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88153714"/>
                  </a:ext>
                </a:extLst>
              </a:tr>
              <a:tr h="200025">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52321221"/>
                  </a:ext>
                </a:extLst>
              </a:tr>
              <a:tr h="200025">
                <a:tc>
                  <a:txBody>
                    <a:bodyPr/>
                    <a:lstStyle/>
                    <a:p>
                      <a:endParaRPr lang="en-US"/>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4</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5</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6</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7</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8</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6958298"/>
                  </a:ext>
                </a:extLst>
              </a:tr>
            </a:tbl>
          </a:graphicData>
        </a:graphic>
      </p:graphicFrame>
      <p:grpSp>
        <p:nvGrpSpPr>
          <p:cNvPr id="7" name="Group 6">
            <a:extLst>
              <a:ext uri="{FF2B5EF4-FFF2-40B4-BE49-F238E27FC236}">
                <a16:creationId xmlns:a16="http://schemas.microsoft.com/office/drawing/2014/main" id="{C7F7F72E-C5C5-3252-2C6E-4A89B3EB74D8}"/>
              </a:ext>
            </a:extLst>
          </p:cNvPr>
          <p:cNvGrpSpPr/>
          <p:nvPr/>
        </p:nvGrpSpPr>
        <p:grpSpPr>
          <a:xfrm>
            <a:off x="3351212" y="3244334"/>
            <a:ext cx="1143000" cy="521732"/>
            <a:chOff x="5363619" y="2983468"/>
            <a:chExt cx="1143000" cy="521732"/>
          </a:xfrm>
        </p:grpSpPr>
        <p:sp>
          <p:nvSpPr>
            <p:cNvPr id="5" name="Oval 4">
              <a:extLst>
                <a:ext uri="{FF2B5EF4-FFF2-40B4-BE49-F238E27FC236}">
                  <a16:creationId xmlns:a16="http://schemas.microsoft.com/office/drawing/2014/main" id="{163E775A-9839-70E5-49A3-DAE54CA40F74}"/>
                </a:ext>
              </a:extLst>
            </p:cNvPr>
            <p:cNvSpPr/>
            <p:nvPr/>
          </p:nvSpPr>
          <p:spPr>
            <a:xfrm>
              <a:off x="5637212" y="3352800"/>
              <a:ext cx="152400" cy="1524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DD63C54-83D6-0C85-4862-9878E4B66814}"/>
                </a:ext>
              </a:extLst>
            </p:cNvPr>
            <p:cNvSpPr txBox="1"/>
            <p:nvPr/>
          </p:nvSpPr>
          <p:spPr>
            <a:xfrm>
              <a:off x="5363619" y="2983468"/>
              <a:ext cx="11430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a:t>
              </a:r>
              <a:r>
                <a:rPr lang="en-US" b="1" baseline="-25000" dirty="0">
                  <a:latin typeface="Arial" panose="020B0604020202020204" pitchFamily="34" charset="0"/>
                  <a:cs typeface="Arial" panose="020B0604020202020204" pitchFamily="34" charset="0"/>
                </a:rPr>
                <a:t>1</a:t>
              </a:r>
              <a:r>
                <a:rPr lang="en-US" b="1" dirty="0">
                  <a:latin typeface="Arial" panose="020B0604020202020204" pitchFamily="34" charset="0"/>
                  <a:cs typeface="Arial" panose="020B0604020202020204" pitchFamily="34" charset="0"/>
                </a:rPr>
                <a:t>(6,5)</a:t>
              </a:r>
            </a:p>
          </p:txBody>
        </p:sp>
      </p:grpSp>
      <p:grpSp>
        <p:nvGrpSpPr>
          <p:cNvPr id="8" name="Group 7">
            <a:extLst>
              <a:ext uri="{FF2B5EF4-FFF2-40B4-BE49-F238E27FC236}">
                <a16:creationId xmlns:a16="http://schemas.microsoft.com/office/drawing/2014/main" id="{E2BE83D4-A169-D6B9-EE61-2367113BE313}"/>
              </a:ext>
            </a:extLst>
          </p:cNvPr>
          <p:cNvGrpSpPr/>
          <p:nvPr/>
        </p:nvGrpSpPr>
        <p:grpSpPr>
          <a:xfrm>
            <a:off x="1979612" y="4251667"/>
            <a:ext cx="1143000" cy="581199"/>
            <a:chOff x="5287419" y="2924001"/>
            <a:chExt cx="1143000" cy="581199"/>
          </a:xfrm>
        </p:grpSpPr>
        <p:sp>
          <p:nvSpPr>
            <p:cNvPr id="9" name="Oval 8">
              <a:extLst>
                <a:ext uri="{FF2B5EF4-FFF2-40B4-BE49-F238E27FC236}">
                  <a16:creationId xmlns:a16="http://schemas.microsoft.com/office/drawing/2014/main" id="{A37ED040-6FA0-76CD-BA21-89CA00705756}"/>
                </a:ext>
              </a:extLst>
            </p:cNvPr>
            <p:cNvSpPr/>
            <p:nvPr/>
          </p:nvSpPr>
          <p:spPr>
            <a:xfrm>
              <a:off x="5637212" y="3352800"/>
              <a:ext cx="152400" cy="15240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D03E8D7-0EFA-DDD4-AFC4-2DEA573A7D66}"/>
                </a:ext>
              </a:extLst>
            </p:cNvPr>
            <p:cNvSpPr txBox="1"/>
            <p:nvPr/>
          </p:nvSpPr>
          <p:spPr>
            <a:xfrm>
              <a:off x="5287419" y="2924001"/>
              <a:ext cx="11430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a:t>
              </a:r>
              <a:r>
                <a:rPr lang="en-US" b="1" baseline="-25000" dirty="0">
                  <a:latin typeface="Arial" panose="020B0604020202020204" pitchFamily="34" charset="0"/>
                  <a:cs typeface="Arial" panose="020B0604020202020204" pitchFamily="34" charset="0"/>
                </a:rPr>
                <a:t>2</a:t>
              </a:r>
              <a:r>
                <a:rPr lang="en-US" b="1" dirty="0">
                  <a:latin typeface="Arial" panose="020B0604020202020204" pitchFamily="34" charset="0"/>
                  <a:cs typeface="Arial" panose="020B0604020202020204" pitchFamily="34" charset="0"/>
                </a:rPr>
                <a:t>(1,2)</a:t>
              </a: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80F3DD4-3B0B-64FA-B0D2-7D110253BE5D}"/>
                  </a:ext>
                </a:extLst>
              </p:cNvPr>
              <p:cNvSpPr txBox="1"/>
              <p:nvPr/>
            </p:nvSpPr>
            <p:spPr>
              <a:xfrm>
                <a:off x="4620825" y="4680466"/>
                <a:ext cx="5181600" cy="9860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𝑑𝑖𝑠𝑡</m:t>
                      </m:r>
                      <m:d>
                        <m:dPr>
                          <m:ctrlPr>
                            <a:rPr lang="en-US" sz="1800" b="0" i="1" smtClean="0">
                              <a:solidFill>
                                <a:schemeClr val="tx1"/>
                              </a:solidFill>
                              <a:latin typeface="Cambria Math" panose="02040503050406030204" pitchFamily="18" charset="0"/>
                            </a:rPr>
                          </m:ctrlPr>
                        </m:dPr>
                        <m:e>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𝑃</m:t>
                              </m:r>
                            </m:e>
                            <m:sub>
                              <m:r>
                                <a:rPr lang="en-US" sz="1800" b="0" i="1" smtClean="0">
                                  <a:solidFill>
                                    <a:schemeClr val="tx1"/>
                                  </a:solidFill>
                                  <a:latin typeface="Cambria Math" panose="02040503050406030204" pitchFamily="18" charset="0"/>
                                </a:rPr>
                                <m:t>1</m:t>
                              </m:r>
                            </m:sub>
                          </m:sSub>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𝑃</m:t>
                              </m:r>
                            </m:e>
                            <m:sub>
                              <m:r>
                                <a:rPr lang="en-US" sz="1800" b="0" i="1" smtClean="0">
                                  <a:solidFill>
                                    <a:schemeClr val="tx1"/>
                                  </a:solidFill>
                                  <a:latin typeface="Cambria Math" panose="02040503050406030204" pitchFamily="18" charset="0"/>
                                </a:rPr>
                                <m:t>2</m:t>
                              </m:r>
                            </m:sub>
                          </m:sSub>
                        </m:e>
                      </m:d>
                      <m:r>
                        <a:rPr lang="en-US" sz="1800" i="1" smtClean="0">
                          <a:solidFill>
                            <a:schemeClr val="tx1"/>
                          </a:solidFill>
                          <a:latin typeface="Cambria Math" panose="02040503050406030204" pitchFamily="18" charset="0"/>
                        </a:rPr>
                        <m:t>=</m:t>
                      </m:r>
                      <m:rad>
                        <m:radPr>
                          <m:ctrlPr>
                            <a:rPr lang="en-US" sz="1800" i="1" smtClean="0">
                              <a:solidFill>
                                <a:schemeClr val="tx1"/>
                              </a:solidFill>
                              <a:latin typeface="Cambria Math" panose="02040503050406030204" pitchFamily="18" charset="0"/>
                            </a:rPr>
                          </m:ctrlPr>
                        </m:radPr>
                        <m:deg>
                          <m:r>
                            <m:rPr>
                              <m:brk m:alnAt="7"/>
                            </m:rPr>
                            <a:rPr lang="en-US" sz="1800" b="0" i="1" smtClean="0">
                              <a:solidFill>
                                <a:schemeClr val="tx1"/>
                              </a:solidFill>
                              <a:latin typeface="Cambria Math" panose="02040503050406030204" pitchFamily="18" charset="0"/>
                            </a:rPr>
                            <m:t>2</m:t>
                          </m:r>
                        </m:deg>
                        <m:e>
                          <m:sSup>
                            <m:sSupPr>
                              <m:ctrlPr>
                                <a:rPr lang="en-US" sz="1800" i="1" smtClean="0">
                                  <a:solidFill>
                                    <a:schemeClr val="tx1"/>
                                  </a:solidFill>
                                  <a:latin typeface="Cambria Math" panose="02040503050406030204" pitchFamily="18" charset="0"/>
                                </a:rPr>
                              </m:ctrlPr>
                            </m:sSupPr>
                            <m:e>
                              <m:d>
                                <m:dPr>
                                  <m:ctrlPr>
                                    <a:rPr lang="en-US" sz="1800" b="0" i="1" smtClean="0">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𝑃</m:t>
                                      </m:r>
                                    </m:e>
                                    <m:sub>
                                      <m:r>
                                        <a:rPr lang="en-US" sz="1800" i="1">
                                          <a:solidFill>
                                            <a:schemeClr val="tx1"/>
                                          </a:solidFill>
                                          <a:latin typeface="Cambria Math" panose="02040503050406030204" pitchFamily="18" charset="0"/>
                                        </a:rPr>
                                        <m:t>1</m:t>
                                      </m:r>
                                    </m:sub>
                                  </m:sSub>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𝑥</m:t>
                                  </m:r>
                                  <m:r>
                                    <a:rPr lang="en-US" sz="1800" b="0" i="1" smtClean="0">
                                      <a:solidFill>
                                        <a:schemeClr val="tx1"/>
                                      </a:solidFill>
                                      <a:latin typeface="Cambria Math" panose="02040503050406030204" pitchFamily="18" charset="0"/>
                                    </a:rPr>
                                    <m:t> −</m:t>
                                  </m:r>
                                  <m:sSub>
                                    <m:sSubPr>
                                      <m:ctrlPr>
                                        <a:rPr lang="en-US" sz="1800" i="1" smtClean="0">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𝑃</m:t>
                                      </m:r>
                                    </m:e>
                                    <m:sub>
                                      <m:r>
                                        <a:rPr lang="en-US" sz="1800" b="0" i="1" smtClean="0">
                                          <a:solidFill>
                                            <a:schemeClr val="tx1"/>
                                          </a:solidFill>
                                          <a:latin typeface="Cambria Math" panose="02040503050406030204" pitchFamily="18" charset="0"/>
                                        </a:rPr>
                                        <m:t>2</m:t>
                                      </m:r>
                                    </m:sub>
                                  </m:sSub>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𝑥</m:t>
                                  </m:r>
                                </m:e>
                              </m:d>
                            </m:e>
                            <m:sup>
                              <m:r>
                                <a:rPr lang="en-US" sz="1800" b="0" i="1" smtClean="0">
                                  <a:solidFill>
                                    <a:schemeClr val="tx1"/>
                                  </a:solidFill>
                                  <a:latin typeface="Cambria Math" panose="02040503050406030204" pitchFamily="18" charset="0"/>
                                </a:rPr>
                                <m:t>2</m:t>
                              </m:r>
                            </m:sup>
                          </m:sSup>
                          <m:r>
                            <a:rPr lang="en-US" sz="1800" b="0" i="1" smtClean="0">
                              <a:solidFill>
                                <a:schemeClr val="tx1"/>
                              </a:solidFill>
                              <a:latin typeface="Cambria Math" panose="02040503050406030204" pitchFamily="18" charset="0"/>
                            </a:rPr>
                            <m:t>+</m:t>
                          </m:r>
                          <m:sSup>
                            <m:sSupPr>
                              <m:ctrlPr>
                                <a:rPr lang="en-US" sz="1800" b="0" i="1" smtClean="0">
                                  <a:solidFill>
                                    <a:schemeClr val="tx1"/>
                                  </a:solidFill>
                                  <a:latin typeface="Cambria Math" panose="02040503050406030204" pitchFamily="18" charset="0"/>
                                </a:rPr>
                              </m:ctrlPr>
                            </m:sSupPr>
                            <m:e>
                              <m:d>
                                <m:dPr>
                                  <m:ctrlPr>
                                    <a:rPr lang="en-US" sz="1800" b="0" i="1" smtClean="0">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𝑃</m:t>
                                      </m:r>
                                    </m:e>
                                    <m:sub>
                                      <m:r>
                                        <a:rPr lang="en-US" sz="1800" i="1">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𝑦</m:t>
                                  </m:r>
                                  <m:r>
                                    <a:rPr lang="en-US" sz="1800" i="1">
                                      <a:solidFill>
                                        <a:schemeClr val="tx1"/>
                                      </a:solidFill>
                                      <a:latin typeface="Cambria Math" panose="02040503050406030204" pitchFamily="18" charset="0"/>
                                    </a:rPr>
                                    <m:t> −</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𝑃</m:t>
                                      </m:r>
                                    </m:e>
                                    <m:sub>
                                      <m:r>
                                        <a:rPr lang="en-US" sz="1800" i="1">
                                          <a:solidFill>
                                            <a:schemeClr val="tx1"/>
                                          </a:solidFill>
                                          <a:latin typeface="Cambria Math" panose="02040503050406030204" pitchFamily="18" charset="0"/>
                                        </a:rPr>
                                        <m:t>2</m:t>
                                      </m:r>
                                    </m:sub>
                                  </m:sSub>
                                  <m:r>
                                    <a:rPr lang="en-US" sz="1800" i="1">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𝑦</m:t>
                                  </m:r>
                                </m:e>
                              </m:d>
                            </m:e>
                            <m:sup>
                              <m:r>
                                <a:rPr lang="en-US" sz="1800" b="0" i="1" smtClean="0">
                                  <a:solidFill>
                                    <a:schemeClr val="tx1"/>
                                  </a:solidFill>
                                  <a:latin typeface="Cambria Math" panose="02040503050406030204" pitchFamily="18" charset="0"/>
                                </a:rPr>
                                <m:t>2</m:t>
                              </m:r>
                            </m:sup>
                          </m:sSup>
                        </m:e>
                      </m:rad>
                    </m:oMath>
                  </m:oMathPara>
                </a14:m>
                <a:endParaRPr lang="en-US" sz="180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m:t>
                      </m:r>
                      <m:rad>
                        <m:radPr>
                          <m:ctrlPr>
                            <a:rPr lang="en-US" sz="1800" b="0" i="1" smtClean="0">
                              <a:solidFill>
                                <a:schemeClr val="tx1"/>
                              </a:solidFill>
                              <a:latin typeface="Cambria Math" panose="02040503050406030204" pitchFamily="18" charset="0"/>
                            </a:rPr>
                          </m:ctrlPr>
                        </m:radPr>
                        <m:deg>
                          <m:r>
                            <m:rPr>
                              <m:brk m:alnAt="7"/>
                            </m:rPr>
                            <a:rPr lang="en-US" sz="1800" b="0" i="1" smtClean="0">
                              <a:solidFill>
                                <a:schemeClr val="tx1"/>
                              </a:solidFill>
                              <a:latin typeface="Cambria Math" panose="02040503050406030204" pitchFamily="18" charset="0"/>
                            </a:rPr>
                            <m:t>2</m:t>
                          </m:r>
                        </m:deg>
                        <m:e>
                          <m:sSup>
                            <m:sSupPr>
                              <m:ctrlPr>
                                <a:rPr lang="en-US" sz="1800" i="1">
                                  <a:solidFill>
                                    <a:schemeClr val="tx1"/>
                                  </a:solidFill>
                                  <a:latin typeface="Cambria Math" panose="02040503050406030204" pitchFamily="18" charset="0"/>
                                </a:rPr>
                              </m:ctrlPr>
                            </m:sSupPr>
                            <m:e>
                              <m:d>
                                <m:dPr>
                                  <m:ctrlPr>
                                    <a:rPr lang="en-US" sz="1800" i="1">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6</m:t>
                                  </m:r>
                                  <m:r>
                                    <a:rPr lang="en-US" sz="1800" i="1">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1</m:t>
                                  </m:r>
                                </m:e>
                              </m:d>
                            </m:e>
                            <m:sup>
                              <m:r>
                                <a:rPr lang="en-US" sz="1800" i="1">
                                  <a:solidFill>
                                    <a:schemeClr val="tx1"/>
                                  </a:solidFill>
                                  <a:latin typeface="Cambria Math" panose="02040503050406030204" pitchFamily="18" charset="0"/>
                                </a:rPr>
                                <m:t>2</m:t>
                              </m:r>
                            </m:sup>
                          </m:sSup>
                          <m:r>
                            <a:rPr lang="en-US" sz="1800" i="1">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d>
                                <m:dPr>
                                  <m:ctrlPr>
                                    <a:rPr lang="en-US" sz="1800" i="1">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5</m:t>
                                  </m:r>
                                  <m:r>
                                    <a:rPr lang="en-US" sz="1800" i="1">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2</m:t>
                                  </m:r>
                                </m:e>
                              </m:d>
                            </m:e>
                            <m:sup>
                              <m:r>
                                <a:rPr lang="en-US" sz="1800" i="1">
                                  <a:solidFill>
                                    <a:schemeClr val="tx1"/>
                                  </a:solidFill>
                                  <a:latin typeface="Cambria Math" panose="02040503050406030204" pitchFamily="18" charset="0"/>
                                </a:rPr>
                                <m:t>2</m:t>
                              </m:r>
                            </m:sup>
                          </m:sSup>
                        </m:e>
                      </m:rad>
                    </m:oMath>
                  </m:oMathPara>
                </a14:m>
                <a:endParaRPr lang="en-US" sz="18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m:t>
                      </m:r>
                      <m:rad>
                        <m:radPr>
                          <m:ctrlPr>
                            <a:rPr lang="en-US" sz="1800" i="1">
                              <a:solidFill>
                                <a:schemeClr val="tx1"/>
                              </a:solidFill>
                              <a:latin typeface="Cambria Math" panose="02040503050406030204" pitchFamily="18" charset="0"/>
                            </a:rPr>
                          </m:ctrlPr>
                        </m:radPr>
                        <m:deg>
                          <m:r>
                            <m:rPr>
                              <m:brk m:alnAt="7"/>
                            </m:rPr>
                            <a:rPr lang="en-US" sz="1800" i="1">
                              <a:solidFill>
                                <a:schemeClr val="tx1"/>
                              </a:solidFill>
                              <a:latin typeface="Cambria Math" panose="02040503050406030204" pitchFamily="18" charset="0"/>
                            </a:rPr>
                            <m:t>2</m:t>
                          </m:r>
                        </m:deg>
                        <m:e>
                          <m:r>
                            <a:rPr lang="en-US" sz="1800" i="1">
                              <a:solidFill>
                                <a:schemeClr val="tx1"/>
                              </a:solidFill>
                              <a:latin typeface="Cambria Math" panose="02040503050406030204" pitchFamily="18" charset="0"/>
                            </a:rPr>
                            <m:t>25+9</m:t>
                          </m:r>
                        </m:e>
                      </m:rad>
                      <m:r>
                        <a:rPr lang="en-US" sz="1800" i="1">
                          <a:solidFill>
                            <a:schemeClr val="tx1"/>
                          </a:solidFill>
                          <a:latin typeface="Cambria Math" panose="02040503050406030204" pitchFamily="18" charset="0"/>
                        </a:rPr>
                        <m:t>=</m:t>
                      </m:r>
                      <m:rad>
                        <m:radPr>
                          <m:ctrlPr>
                            <a:rPr lang="en-US" sz="1800" i="1">
                              <a:solidFill>
                                <a:schemeClr val="tx1"/>
                              </a:solidFill>
                              <a:latin typeface="Cambria Math" panose="02040503050406030204" pitchFamily="18" charset="0"/>
                            </a:rPr>
                          </m:ctrlPr>
                        </m:radPr>
                        <m:deg>
                          <m:r>
                            <m:rPr>
                              <m:brk m:alnAt="7"/>
                            </m:rPr>
                            <a:rPr lang="en-US" sz="1800" i="1">
                              <a:solidFill>
                                <a:schemeClr val="tx1"/>
                              </a:solidFill>
                              <a:latin typeface="Cambria Math" panose="02040503050406030204" pitchFamily="18" charset="0"/>
                            </a:rPr>
                            <m:t>2</m:t>
                          </m:r>
                        </m:deg>
                        <m:e>
                          <m:r>
                            <a:rPr lang="en-US" sz="1800" i="1">
                              <a:solidFill>
                                <a:schemeClr val="tx1"/>
                              </a:solidFill>
                              <a:latin typeface="Cambria Math" panose="02040503050406030204" pitchFamily="18" charset="0"/>
                            </a:rPr>
                            <m:t>36</m:t>
                          </m:r>
                        </m:e>
                      </m:rad>
                      <m:r>
                        <a:rPr lang="en-US" sz="1800" i="1">
                          <a:solidFill>
                            <a:schemeClr val="tx1"/>
                          </a:solidFill>
                          <a:latin typeface="Cambria Math" panose="02040503050406030204" pitchFamily="18" charset="0"/>
                        </a:rPr>
                        <m:t>=6</m:t>
                      </m:r>
                    </m:oMath>
                  </m:oMathPara>
                </a14:m>
                <a:endParaRPr lang="en-US" sz="1800" dirty="0">
                  <a:solidFill>
                    <a:schemeClr val="tx1"/>
                  </a:solidFill>
                </a:endParaRPr>
              </a:p>
            </p:txBody>
          </p:sp>
        </mc:Choice>
        <mc:Fallback xmlns="">
          <p:sp>
            <p:nvSpPr>
              <p:cNvPr id="11" name="TextBox 10">
                <a:extLst>
                  <a:ext uri="{FF2B5EF4-FFF2-40B4-BE49-F238E27FC236}">
                    <a16:creationId xmlns:a16="http://schemas.microsoft.com/office/drawing/2014/main" id="{280F3DD4-3B0B-64FA-B0D2-7D110253BE5D}"/>
                  </a:ext>
                </a:extLst>
              </p:cNvPr>
              <p:cNvSpPr txBox="1">
                <a:spLocks noRot="1" noChangeAspect="1" noMove="1" noResize="1" noEditPoints="1" noAdjustHandles="1" noChangeArrowheads="1" noChangeShapeType="1" noTextEdit="1"/>
              </p:cNvSpPr>
              <p:nvPr/>
            </p:nvSpPr>
            <p:spPr>
              <a:xfrm>
                <a:off x="4620825" y="4680466"/>
                <a:ext cx="5181600" cy="986039"/>
              </a:xfrm>
              <a:prstGeom prst="rect">
                <a:avLst/>
              </a:prstGeom>
              <a:blipFill>
                <a:blip r:embed="rId3"/>
                <a:stretch>
                  <a:fillRect b="-2532"/>
                </a:stretch>
              </a:blipFill>
            </p:spPr>
            <p:txBody>
              <a:bodyPr/>
              <a:lstStyle/>
              <a:p>
                <a:r>
                  <a:rPr lang="en-US">
                    <a:noFill/>
                  </a:rPr>
                  <a:t> </a:t>
                </a:r>
              </a:p>
            </p:txBody>
          </p:sp>
        </mc:Fallback>
      </mc:AlternateContent>
      <p:sp>
        <p:nvSpPr>
          <p:cNvPr id="12" name="Callout: Down Arrow 11">
            <a:extLst>
              <a:ext uri="{FF2B5EF4-FFF2-40B4-BE49-F238E27FC236}">
                <a16:creationId xmlns:a16="http://schemas.microsoft.com/office/drawing/2014/main" id="{5E99295F-2C42-445B-5BAA-D609A09BDC00}"/>
              </a:ext>
            </a:extLst>
          </p:cNvPr>
          <p:cNvSpPr/>
          <p:nvPr/>
        </p:nvSpPr>
        <p:spPr>
          <a:xfrm>
            <a:off x="4767805" y="3124200"/>
            <a:ext cx="5181600" cy="1373703"/>
          </a:xfrm>
          <a:prstGeom prst="down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We can compute the distance based on a simple distance formula !</a:t>
            </a:r>
          </a:p>
        </p:txBody>
      </p:sp>
    </p:spTree>
    <p:extLst>
      <p:ext uri="{BB962C8B-B14F-4D97-AF65-F5344CB8AC3E}">
        <p14:creationId xmlns:p14="http://schemas.microsoft.com/office/powerpoint/2010/main" val="3735660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(vectors)</a:t>
            </a:r>
          </a:p>
        </p:txBody>
      </p:sp>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5080000"/>
          </a:xfrm>
        </p:spPr>
        <p:txBody>
          <a:bodyPr>
            <a:normAutofit/>
          </a:bodyPr>
          <a:lstStyle/>
          <a:p>
            <a:pPr marL="514350" indent="-514350">
              <a:buFont typeface="+mj-lt"/>
              <a:buAutoNum type="arabicPeriod" startAt="5"/>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Distance </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Let’s see an example (we will consider a 2-dimensional space).</a:t>
            </a:r>
            <a:endParaRPr lang="en-US" dirty="0">
              <a:solidFill>
                <a:schemeClr val="bg1"/>
              </a:solidFill>
              <a:latin typeface="Arial" panose="020B0604020202020204" pitchFamily="34" charset="0"/>
              <a:cs typeface="Arial" panose="020B0604020202020204" pitchFamily="34" charset="0"/>
              <a:sym typeface="Wingdings" panose="05000000000000000000" pitchFamily="2" charset="2"/>
            </a:endParaRPr>
          </a:p>
          <a:p>
            <a:pPr lvl="1"/>
            <a:endParaRPr lang="en-US" dirty="0">
              <a:solidFill>
                <a:schemeClr val="bg1"/>
              </a:solidFill>
              <a:latin typeface="Arial" panose="020B0604020202020204" pitchFamily="34" charset="0"/>
              <a:cs typeface="Arial" panose="020B0604020202020204" pitchFamily="34" charset="0"/>
              <a:sym typeface="Symbol" panose="05050102010706020507" pitchFamily="18" charset="2"/>
            </a:endParaRPr>
          </a:p>
        </p:txBody>
      </p:sp>
      <p:graphicFrame>
        <p:nvGraphicFramePr>
          <p:cNvPr id="4" name="Table 4">
            <a:extLst>
              <a:ext uri="{FF2B5EF4-FFF2-40B4-BE49-F238E27FC236}">
                <a16:creationId xmlns:a16="http://schemas.microsoft.com/office/drawing/2014/main" id="{4D8D5EB2-8F05-0976-6027-E7CF0F0C4520}"/>
              </a:ext>
            </a:extLst>
          </p:cNvPr>
          <p:cNvGraphicFramePr>
            <a:graphicFrameLocks noGrp="1"/>
          </p:cNvGraphicFramePr>
          <p:nvPr/>
        </p:nvGraphicFramePr>
        <p:xfrm>
          <a:off x="1751012" y="3124200"/>
          <a:ext cx="2590800" cy="2438400"/>
        </p:xfrm>
        <a:graphic>
          <a:graphicData uri="http://schemas.openxmlformats.org/drawingml/2006/table">
            <a:tbl>
              <a:tblPr firstRow="1" bandRow="1">
                <a:tableStyleId>{5940675A-B579-460E-94D1-54222C63F5DA}</a:tableStyleId>
              </a:tblPr>
              <a:tblGrid>
                <a:gridCol w="259080">
                  <a:extLst>
                    <a:ext uri="{9D8B030D-6E8A-4147-A177-3AD203B41FA5}">
                      <a16:colId xmlns:a16="http://schemas.microsoft.com/office/drawing/2014/main" val="246057276"/>
                    </a:ext>
                  </a:extLst>
                </a:gridCol>
                <a:gridCol w="259080">
                  <a:extLst>
                    <a:ext uri="{9D8B030D-6E8A-4147-A177-3AD203B41FA5}">
                      <a16:colId xmlns:a16="http://schemas.microsoft.com/office/drawing/2014/main" val="569262223"/>
                    </a:ext>
                  </a:extLst>
                </a:gridCol>
                <a:gridCol w="259080">
                  <a:extLst>
                    <a:ext uri="{9D8B030D-6E8A-4147-A177-3AD203B41FA5}">
                      <a16:colId xmlns:a16="http://schemas.microsoft.com/office/drawing/2014/main" val="1513705195"/>
                    </a:ext>
                  </a:extLst>
                </a:gridCol>
                <a:gridCol w="259080">
                  <a:extLst>
                    <a:ext uri="{9D8B030D-6E8A-4147-A177-3AD203B41FA5}">
                      <a16:colId xmlns:a16="http://schemas.microsoft.com/office/drawing/2014/main" val="3217334521"/>
                    </a:ext>
                  </a:extLst>
                </a:gridCol>
                <a:gridCol w="259080">
                  <a:extLst>
                    <a:ext uri="{9D8B030D-6E8A-4147-A177-3AD203B41FA5}">
                      <a16:colId xmlns:a16="http://schemas.microsoft.com/office/drawing/2014/main" val="361911165"/>
                    </a:ext>
                  </a:extLst>
                </a:gridCol>
                <a:gridCol w="259080">
                  <a:extLst>
                    <a:ext uri="{9D8B030D-6E8A-4147-A177-3AD203B41FA5}">
                      <a16:colId xmlns:a16="http://schemas.microsoft.com/office/drawing/2014/main" val="3504708714"/>
                    </a:ext>
                  </a:extLst>
                </a:gridCol>
                <a:gridCol w="259080">
                  <a:extLst>
                    <a:ext uri="{9D8B030D-6E8A-4147-A177-3AD203B41FA5}">
                      <a16:colId xmlns:a16="http://schemas.microsoft.com/office/drawing/2014/main" val="1908941735"/>
                    </a:ext>
                  </a:extLst>
                </a:gridCol>
                <a:gridCol w="259080">
                  <a:extLst>
                    <a:ext uri="{9D8B030D-6E8A-4147-A177-3AD203B41FA5}">
                      <a16:colId xmlns:a16="http://schemas.microsoft.com/office/drawing/2014/main" val="2484899890"/>
                    </a:ext>
                  </a:extLst>
                </a:gridCol>
                <a:gridCol w="259080">
                  <a:extLst>
                    <a:ext uri="{9D8B030D-6E8A-4147-A177-3AD203B41FA5}">
                      <a16:colId xmlns:a16="http://schemas.microsoft.com/office/drawing/2014/main" val="2686800878"/>
                    </a:ext>
                  </a:extLst>
                </a:gridCol>
                <a:gridCol w="259080">
                  <a:extLst>
                    <a:ext uri="{9D8B030D-6E8A-4147-A177-3AD203B41FA5}">
                      <a16:colId xmlns:a16="http://schemas.microsoft.com/office/drawing/2014/main" val="30050107"/>
                    </a:ext>
                  </a:extLst>
                </a:gridCol>
              </a:tblGrid>
              <a:tr h="200025">
                <a:tc>
                  <a:txBody>
                    <a:bodyPr/>
                    <a:lstStyle/>
                    <a:p>
                      <a:r>
                        <a:rPr lang="en-US" dirty="0"/>
                        <a:t>6</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8101208"/>
                  </a:ext>
                </a:extLst>
              </a:tr>
              <a:tr h="200025">
                <a:tc>
                  <a:txBody>
                    <a:bodyPr/>
                    <a:lstStyle/>
                    <a:p>
                      <a:r>
                        <a:rPr lang="en-US" dirty="0"/>
                        <a:t>5</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52933165"/>
                  </a:ext>
                </a:extLst>
              </a:tr>
              <a:tr h="200025">
                <a:tc>
                  <a:txBody>
                    <a:bodyPr/>
                    <a:lstStyle/>
                    <a:p>
                      <a:r>
                        <a:rPr lang="en-US" dirty="0"/>
                        <a:t>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81299696"/>
                  </a:ext>
                </a:extLst>
              </a:tr>
              <a:tr h="200025">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605049802"/>
                  </a:ext>
                </a:extLst>
              </a:tr>
              <a:tr h="200025">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44189447"/>
                  </a:ext>
                </a:extLst>
              </a:tr>
              <a:tr h="200025">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88153714"/>
                  </a:ext>
                </a:extLst>
              </a:tr>
              <a:tr h="200025">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52321221"/>
                  </a:ext>
                </a:extLst>
              </a:tr>
              <a:tr h="200025">
                <a:tc>
                  <a:txBody>
                    <a:bodyPr/>
                    <a:lstStyle/>
                    <a:p>
                      <a:endParaRPr lang="en-US"/>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4</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5</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6</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7</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8</a:t>
                      </a:r>
                    </a:p>
                  </a:txBody>
                  <a:tcP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6958298"/>
                  </a:ext>
                </a:extLst>
              </a:tr>
            </a:tbl>
          </a:graphicData>
        </a:graphic>
      </p:graphicFrame>
      <p:grpSp>
        <p:nvGrpSpPr>
          <p:cNvPr id="7" name="Group 6">
            <a:extLst>
              <a:ext uri="{FF2B5EF4-FFF2-40B4-BE49-F238E27FC236}">
                <a16:creationId xmlns:a16="http://schemas.microsoft.com/office/drawing/2014/main" id="{C7F7F72E-C5C5-3252-2C6E-4A89B3EB74D8}"/>
              </a:ext>
            </a:extLst>
          </p:cNvPr>
          <p:cNvGrpSpPr/>
          <p:nvPr/>
        </p:nvGrpSpPr>
        <p:grpSpPr>
          <a:xfrm>
            <a:off x="3338319" y="3124200"/>
            <a:ext cx="1143000" cy="521732"/>
            <a:chOff x="5363619" y="2983468"/>
            <a:chExt cx="1143000" cy="521732"/>
          </a:xfrm>
        </p:grpSpPr>
        <p:sp>
          <p:nvSpPr>
            <p:cNvPr id="5" name="Oval 4">
              <a:extLst>
                <a:ext uri="{FF2B5EF4-FFF2-40B4-BE49-F238E27FC236}">
                  <a16:creationId xmlns:a16="http://schemas.microsoft.com/office/drawing/2014/main" id="{163E775A-9839-70E5-49A3-DAE54CA40F74}"/>
                </a:ext>
              </a:extLst>
            </p:cNvPr>
            <p:cNvSpPr/>
            <p:nvPr/>
          </p:nvSpPr>
          <p:spPr>
            <a:xfrm>
              <a:off x="5637212" y="3352800"/>
              <a:ext cx="152400" cy="1524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DD63C54-83D6-0C85-4862-9878E4B66814}"/>
                </a:ext>
              </a:extLst>
            </p:cNvPr>
            <p:cNvSpPr txBox="1"/>
            <p:nvPr/>
          </p:nvSpPr>
          <p:spPr>
            <a:xfrm>
              <a:off x="5363619" y="2983468"/>
              <a:ext cx="11430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a:t>
              </a:r>
              <a:r>
                <a:rPr lang="en-US" b="1" baseline="-25000" dirty="0">
                  <a:latin typeface="Arial" panose="020B0604020202020204" pitchFamily="34" charset="0"/>
                  <a:cs typeface="Arial" panose="020B0604020202020204" pitchFamily="34" charset="0"/>
                </a:rPr>
                <a:t>1</a:t>
              </a:r>
              <a:r>
                <a:rPr lang="en-US" b="1" dirty="0">
                  <a:latin typeface="Arial" panose="020B0604020202020204" pitchFamily="34" charset="0"/>
                  <a:cs typeface="Arial" panose="020B0604020202020204" pitchFamily="34" charset="0"/>
                </a:rPr>
                <a:t>(6,5)</a:t>
              </a:r>
            </a:p>
          </p:txBody>
        </p:sp>
      </p:grpSp>
      <p:grpSp>
        <p:nvGrpSpPr>
          <p:cNvPr id="8" name="Group 7">
            <a:extLst>
              <a:ext uri="{FF2B5EF4-FFF2-40B4-BE49-F238E27FC236}">
                <a16:creationId xmlns:a16="http://schemas.microsoft.com/office/drawing/2014/main" id="{E2BE83D4-A169-D6B9-EE61-2367113BE313}"/>
              </a:ext>
            </a:extLst>
          </p:cNvPr>
          <p:cNvGrpSpPr/>
          <p:nvPr/>
        </p:nvGrpSpPr>
        <p:grpSpPr>
          <a:xfrm>
            <a:off x="1980698" y="3967504"/>
            <a:ext cx="1143000" cy="581199"/>
            <a:chOff x="5287419" y="2924001"/>
            <a:chExt cx="1143000" cy="581199"/>
          </a:xfrm>
        </p:grpSpPr>
        <p:sp>
          <p:nvSpPr>
            <p:cNvPr id="9" name="Oval 8">
              <a:extLst>
                <a:ext uri="{FF2B5EF4-FFF2-40B4-BE49-F238E27FC236}">
                  <a16:creationId xmlns:a16="http://schemas.microsoft.com/office/drawing/2014/main" id="{A37ED040-6FA0-76CD-BA21-89CA00705756}"/>
                </a:ext>
              </a:extLst>
            </p:cNvPr>
            <p:cNvSpPr/>
            <p:nvPr/>
          </p:nvSpPr>
          <p:spPr>
            <a:xfrm>
              <a:off x="5637212" y="3352800"/>
              <a:ext cx="152400" cy="15240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D03E8D7-0EFA-DDD4-AFC4-2DEA573A7D66}"/>
                </a:ext>
              </a:extLst>
            </p:cNvPr>
            <p:cNvSpPr txBox="1"/>
            <p:nvPr/>
          </p:nvSpPr>
          <p:spPr>
            <a:xfrm>
              <a:off x="5287419" y="2924001"/>
              <a:ext cx="11430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a:t>
              </a:r>
              <a:r>
                <a:rPr lang="en-US" b="1" baseline="-25000" dirty="0">
                  <a:latin typeface="Arial" panose="020B0604020202020204" pitchFamily="34" charset="0"/>
                  <a:cs typeface="Arial" panose="020B0604020202020204" pitchFamily="34" charset="0"/>
                </a:rPr>
                <a:t>2</a:t>
              </a:r>
              <a:r>
                <a:rPr lang="en-US" b="1" dirty="0">
                  <a:latin typeface="Arial" panose="020B0604020202020204" pitchFamily="34" charset="0"/>
                  <a:cs typeface="Arial" panose="020B0604020202020204" pitchFamily="34" charset="0"/>
                </a:rPr>
                <a:t>(1,2)</a:t>
              </a: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80F3DD4-3B0B-64FA-B0D2-7D110253BE5D}"/>
                  </a:ext>
                </a:extLst>
              </p:cNvPr>
              <p:cNvSpPr txBox="1"/>
              <p:nvPr/>
            </p:nvSpPr>
            <p:spPr>
              <a:xfrm>
                <a:off x="4620825" y="4680466"/>
                <a:ext cx="5181600" cy="15201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𝑃</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eqArr>
                            <m:eqArrPr>
                              <m:ctrlPr>
                                <a:rPr lang="en-US" sz="1600" b="0" i="1" smtClean="0">
                                  <a:solidFill>
                                    <a:schemeClr val="tx1"/>
                                  </a:solidFill>
                                  <a:latin typeface="Cambria Math" panose="02040503050406030204" pitchFamily="18" charset="0"/>
                                </a:rPr>
                              </m:ctrlPr>
                            </m:eqArrPr>
                            <m:e>
                              <m:r>
                                <a:rPr lang="en-US" sz="1600" b="0" i="1" smtClean="0">
                                  <a:solidFill>
                                    <a:schemeClr val="tx1"/>
                                  </a:solidFill>
                                  <a:latin typeface="Cambria Math" panose="02040503050406030204" pitchFamily="18" charset="0"/>
                                </a:rPr>
                                <m:t>6</m:t>
                              </m:r>
                            </m:e>
                            <m:e>
                              <m:r>
                                <a:rPr lang="en-US" sz="1600" b="0" i="1" smtClean="0">
                                  <a:solidFill>
                                    <a:schemeClr val="tx1"/>
                                  </a:solidFill>
                                  <a:latin typeface="Cambria Math" panose="02040503050406030204" pitchFamily="18" charset="0"/>
                                </a:rPr>
                                <m:t>5</m:t>
                              </m:r>
                            </m:e>
                          </m:eqArr>
                        </m:e>
                      </m:d>
                      <m:r>
                        <a:rPr lang="en-US" sz="1600" b="0" i="1" smtClean="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𝑃</m:t>
                          </m:r>
                        </m:e>
                        <m:sub>
                          <m:r>
                            <a:rPr lang="en-US" sz="1600" b="0" i="1" smtClean="0">
                              <a:solidFill>
                                <a:schemeClr val="tx1"/>
                              </a:solidFill>
                              <a:latin typeface="Cambria Math" panose="02040503050406030204" pitchFamily="18" charset="0"/>
                            </a:rPr>
                            <m:t>2</m:t>
                          </m:r>
                        </m:sub>
                      </m:sSub>
                      <m:r>
                        <a:rPr lang="en-US" sz="1600" i="1">
                          <a:solidFill>
                            <a:schemeClr val="tx1"/>
                          </a:solidFill>
                          <a:latin typeface="Cambria Math" panose="02040503050406030204" pitchFamily="18" charset="0"/>
                        </a:rPr>
                        <m:t>=</m:t>
                      </m:r>
                      <m:d>
                        <m:dPr>
                          <m:begChr m:val="["/>
                          <m:endChr m:val="]"/>
                          <m:ctrlPr>
                            <a:rPr lang="en-US" sz="1600" i="1">
                              <a:solidFill>
                                <a:schemeClr val="tx1"/>
                              </a:solidFill>
                              <a:latin typeface="Cambria Math" panose="02040503050406030204" pitchFamily="18" charset="0"/>
                            </a:rPr>
                          </m:ctrlPr>
                        </m:dPr>
                        <m:e>
                          <m:eqArr>
                            <m:eqArrPr>
                              <m:ctrlPr>
                                <a:rPr lang="en-US" sz="1600" i="1">
                                  <a:solidFill>
                                    <a:schemeClr val="tx1"/>
                                  </a:solidFill>
                                  <a:latin typeface="Cambria Math" panose="02040503050406030204" pitchFamily="18" charset="0"/>
                                </a:rPr>
                              </m:ctrlPr>
                            </m:eqArrPr>
                            <m:e>
                              <m:r>
                                <a:rPr lang="en-US" sz="1600" b="0" i="1" smtClean="0">
                                  <a:solidFill>
                                    <a:schemeClr val="tx1"/>
                                  </a:solidFill>
                                  <a:latin typeface="Cambria Math" panose="02040503050406030204" pitchFamily="18" charset="0"/>
                                </a:rPr>
                                <m:t>1</m:t>
                              </m:r>
                            </m:e>
                            <m:e>
                              <m:r>
                                <a:rPr lang="en-US" sz="1600" b="0" i="1" smtClean="0">
                                  <a:solidFill>
                                    <a:schemeClr val="tx1"/>
                                  </a:solidFill>
                                  <a:latin typeface="Cambria Math" panose="02040503050406030204" pitchFamily="18" charset="0"/>
                                </a:rPr>
                                <m:t>2</m:t>
                              </m:r>
                            </m:e>
                          </m:eqArr>
                        </m:e>
                      </m:d>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𝑑𝑖𝑠𝑡</m:t>
                      </m:r>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𝑃</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𝑃</m:t>
                              </m:r>
                            </m:e>
                            <m:sub>
                              <m:r>
                                <a:rPr lang="en-US" sz="1600" i="1">
                                  <a:solidFill>
                                    <a:schemeClr val="tx1"/>
                                  </a:solidFill>
                                  <a:latin typeface="Cambria Math" panose="02040503050406030204" pitchFamily="18" charset="0"/>
                                </a:rPr>
                                <m:t>2</m:t>
                              </m:r>
                            </m:sub>
                          </m:sSub>
                        </m:e>
                      </m:d>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d>
                            <m:dPr>
                              <m:begChr m:val="‖"/>
                              <m:endChr m:val="‖"/>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𝑃</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𝑃</m:t>
                                  </m:r>
                                </m:e>
                                <m:sub>
                                  <m:r>
                                    <a:rPr lang="en-US" sz="1600" i="1">
                                      <a:solidFill>
                                        <a:schemeClr val="tx1"/>
                                      </a:solidFill>
                                      <a:latin typeface="Cambria Math" panose="02040503050406030204" pitchFamily="18" charset="0"/>
                                    </a:rPr>
                                    <m:t>2</m:t>
                                  </m:r>
                                </m:sub>
                              </m:sSub>
                            </m:e>
                          </m:d>
                        </m:e>
                        <m:sub>
                          <m:r>
                            <a:rPr lang="en-US" sz="1600" b="0" i="1" smtClean="0">
                              <a:solidFill>
                                <a:schemeClr val="tx1"/>
                              </a:solidFill>
                              <a:latin typeface="Cambria Math" panose="02040503050406030204" pitchFamily="18" charset="0"/>
                            </a:rPr>
                            <m:t>2</m:t>
                          </m:r>
                        </m:sub>
                      </m:sSub>
                    </m:oMath>
                  </m:oMathPara>
                </a14:m>
                <a:endParaRPr lang="en-US" sz="1600" b="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𝑃</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𝑃</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d>
                        <m:dPr>
                          <m:begChr m:val="["/>
                          <m:endChr m:val="]"/>
                          <m:ctrlPr>
                            <a:rPr lang="en-US" sz="1600" b="0" i="1" smtClean="0">
                              <a:solidFill>
                                <a:schemeClr val="tx1"/>
                              </a:solidFill>
                              <a:latin typeface="Cambria Math" panose="02040503050406030204" pitchFamily="18" charset="0"/>
                            </a:rPr>
                          </m:ctrlPr>
                        </m:dPr>
                        <m:e>
                          <m:eqArr>
                            <m:eqArrPr>
                              <m:ctrlPr>
                                <a:rPr lang="en-US" sz="1600" b="0" i="1" smtClean="0">
                                  <a:solidFill>
                                    <a:schemeClr val="tx1"/>
                                  </a:solidFill>
                                  <a:latin typeface="Cambria Math" panose="02040503050406030204" pitchFamily="18" charset="0"/>
                                </a:rPr>
                              </m:ctrlPr>
                            </m:eqArrPr>
                            <m:e>
                              <m:r>
                                <a:rPr lang="en-US" sz="1600" b="0" i="1" smtClean="0">
                                  <a:solidFill>
                                    <a:schemeClr val="tx1"/>
                                  </a:solidFill>
                                  <a:latin typeface="Cambria Math" panose="02040503050406030204" pitchFamily="18" charset="0"/>
                                </a:rPr>
                                <m:t>6−1</m:t>
                              </m:r>
                            </m:e>
                            <m:e>
                              <m:r>
                                <a:rPr lang="en-US" sz="1600" b="0" i="1" smtClean="0">
                                  <a:solidFill>
                                    <a:schemeClr val="tx1"/>
                                  </a:solidFill>
                                  <a:latin typeface="Cambria Math" panose="02040503050406030204" pitchFamily="18" charset="0"/>
                                </a:rPr>
                                <m:t>5−2</m:t>
                              </m:r>
                            </m:e>
                          </m:eqArr>
                        </m:e>
                      </m:d>
                      <m:r>
                        <a:rPr lang="en-US" sz="1600" b="0" i="1" smtClean="0">
                          <a:solidFill>
                            <a:schemeClr val="tx1"/>
                          </a:solidFill>
                          <a:latin typeface="Cambria Math" panose="02040503050406030204" pitchFamily="18" charset="0"/>
                        </a:rPr>
                        <m:t>=</m:t>
                      </m:r>
                      <m:d>
                        <m:dPr>
                          <m:begChr m:val="["/>
                          <m:endChr m:val="]"/>
                          <m:ctrlPr>
                            <a:rPr lang="en-US" sz="1600" i="1">
                              <a:solidFill>
                                <a:schemeClr val="tx1"/>
                              </a:solidFill>
                              <a:latin typeface="Cambria Math" panose="02040503050406030204" pitchFamily="18" charset="0"/>
                            </a:rPr>
                          </m:ctrlPr>
                        </m:dPr>
                        <m:e>
                          <m:eqArr>
                            <m:eqArrPr>
                              <m:ctrlPr>
                                <a:rPr lang="en-US" sz="1600" i="1">
                                  <a:solidFill>
                                    <a:schemeClr val="tx1"/>
                                  </a:solidFill>
                                  <a:latin typeface="Cambria Math" panose="02040503050406030204" pitchFamily="18" charset="0"/>
                                </a:rPr>
                              </m:ctrlPr>
                            </m:eqArrPr>
                            <m:e>
                              <m:r>
                                <a:rPr lang="en-US" sz="1600" b="0" i="1" smtClean="0">
                                  <a:solidFill>
                                    <a:schemeClr val="tx1"/>
                                  </a:solidFill>
                                  <a:latin typeface="Cambria Math" panose="02040503050406030204" pitchFamily="18" charset="0"/>
                                </a:rPr>
                                <m:t>5</m:t>
                              </m:r>
                            </m:e>
                            <m:e>
                              <m:r>
                                <a:rPr lang="en-US" sz="1600" b="0" i="1" smtClean="0">
                                  <a:solidFill>
                                    <a:schemeClr val="tx1"/>
                                  </a:solidFill>
                                  <a:latin typeface="Cambria Math" panose="02040503050406030204" pitchFamily="18" charset="0"/>
                                </a:rPr>
                                <m:t>3</m:t>
                              </m:r>
                            </m:e>
                          </m:eqArr>
                        </m:e>
                      </m:d>
                      <m:r>
                        <a:rPr lang="en-US" sz="1600" b="0" i="1" smtClean="0">
                          <a:solidFill>
                            <a:schemeClr val="tx1"/>
                          </a:solidFill>
                          <a:latin typeface="Cambria Math" panose="02040503050406030204" pitchFamily="18" charset="0"/>
                        </a:rPr>
                        <m:t>,</m:t>
                      </m:r>
                    </m:oMath>
                  </m:oMathPara>
                </a14:m>
                <a:endParaRPr lang="en-US"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chemeClr val="tx1"/>
                              </a:solidFill>
                              <a:latin typeface="Cambria Math" panose="02040503050406030204" pitchFamily="18" charset="0"/>
                            </a:rPr>
                          </m:ctrlPr>
                        </m:sSubPr>
                        <m:e>
                          <m:d>
                            <m:dPr>
                              <m:begChr m:val="‖"/>
                              <m:endChr m:val="‖"/>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𝑃</m:t>
                                  </m:r>
                                </m:e>
                                <m:sub>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𝑃</m:t>
                                  </m:r>
                                </m:e>
                                <m:sub>
                                  <m:r>
                                    <a:rPr lang="en-US" sz="1600" i="1">
                                      <a:solidFill>
                                        <a:schemeClr val="tx1"/>
                                      </a:solidFill>
                                      <a:latin typeface="Cambria Math" panose="02040503050406030204" pitchFamily="18" charset="0"/>
                                    </a:rPr>
                                    <m:t>2</m:t>
                                  </m:r>
                                </m:sub>
                              </m:sSub>
                            </m:e>
                          </m:d>
                        </m:e>
                        <m:sub>
                          <m:r>
                            <a:rPr lang="en-US" sz="1600" i="1">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d>
                            <m:dPr>
                              <m:begChr m:val="‖"/>
                              <m:endChr m:val="‖"/>
                              <m:ctrlPr>
                                <a:rPr lang="en-US" sz="1600" i="1">
                                  <a:solidFill>
                                    <a:schemeClr val="tx1"/>
                                  </a:solidFill>
                                  <a:latin typeface="Cambria Math" panose="02040503050406030204" pitchFamily="18" charset="0"/>
                                </a:rPr>
                              </m:ctrlPr>
                            </m:dPr>
                            <m:e>
                              <m:d>
                                <m:dPr>
                                  <m:begChr m:val="["/>
                                  <m:endChr m:val="]"/>
                                  <m:ctrlPr>
                                    <a:rPr lang="en-US" sz="1600" i="1">
                                      <a:solidFill>
                                        <a:schemeClr val="tx1"/>
                                      </a:solidFill>
                                      <a:latin typeface="Cambria Math" panose="02040503050406030204" pitchFamily="18" charset="0"/>
                                    </a:rPr>
                                  </m:ctrlPr>
                                </m:dPr>
                                <m:e>
                                  <m:eqArr>
                                    <m:eqArrPr>
                                      <m:ctrlPr>
                                        <a:rPr lang="en-US" sz="1600" i="1">
                                          <a:solidFill>
                                            <a:schemeClr val="tx1"/>
                                          </a:solidFill>
                                          <a:latin typeface="Cambria Math" panose="02040503050406030204" pitchFamily="18" charset="0"/>
                                        </a:rPr>
                                      </m:ctrlPr>
                                    </m:eqArrPr>
                                    <m:e>
                                      <m:r>
                                        <a:rPr lang="en-US" sz="1600" i="1">
                                          <a:solidFill>
                                            <a:schemeClr val="tx1"/>
                                          </a:solidFill>
                                          <a:latin typeface="Cambria Math" panose="02040503050406030204" pitchFamily="18" charset="0"/>
                                        </a:rPr>
                                        <m:t>5</m:t>
                                      </m:r>
                                    </m:e>
                                    <m:e>
                                      <m:r>
                                        <a:rPr lang="en-US" sz="1600" i="1">
                                          <a:solidFill>
                                            <a:schemeClr val="tx1"/>
                                          </a:solidFill>
                                          <a:latin typeface="Cambria Math" panose="02040503050406030204" pitchFamily="18" charset="0"/>
                                        </a:rPr>
                                        <m:t>3</m:t>
                                      </m:r>
                                    </m:e>
                                  </m:eqArr>
                                </m:e>
                              </m:d>
                            </m:e>
                          </m:d>
                        </m:e>
                        <m:sub>
                          <m:r>
                            <a:rPr lang="en-US" sz="1600" i="1">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rad>
                        <m:radPr>
                          <m:ctrlPr>
                            <a:rPr lang="en-US" sz="160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radPr>
                        <m:deg>
                          <m:r>
                            <a:rPr lang="en-US" sz="1600"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2</m:t>
                          </m:r>
                        </m:deg>
                        <m:e>
                          <m:sSup>
                            <m:sSupPr>
                              <m:ctrlPr>
                                <a:rPr lang="en-US" sz="160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sSupPr>
                            <m:e>
                              <m:r>
                                <a:rPr lang="en-US" sz="1600"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5</m:t>
                              </m:r>
                            </m:e>
                            <m:sup>
                              <m:r>
                                <a:rPr lang="en-US" sz="1600"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2</m:t>
                              </m:r>
                            </m:sup>
                          </m:sSup>
                          <m:r>
                            <a:rPr lang="en-US" sz="1600"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sSup>
                            <m:sSupPr>
                              <m:ctrlPr>
                                <a:rPr lang="en-US" sz="1600"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sSupPr>
                            <m:e>
                              <m:r>
                                <a:rPr lang="en-US" sz="1600"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3</m:t>
                              </m:r>
                            </m:e>
                            <m:sup>
                              <m:r>
                                <a:rPr lang="en-US" sz="1600"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2</m:t>
                              </m:r>
                            </m:sup>
                          </m:sSup>
                        </m:e>
                      </m:rad>
                      <m:r>
                        <a:rPr lang="en-US" sz="1600"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rad>
                        <m:radPr>
                          <m:ctrlPr>
                            <a:rPr lang="en-US" sz="1600" i="1">
                              <a:solidFill>
                                <a:schemeClr val="tx1"/>
                              </a:solidFill>
                              <a:latin typeface="Cambria Math" panose="02040503050406030204" pitchFamily="18" charset="0"/>
                            </a:rPr>
                          </m:ctrlPr>
                        </m:radPr>
                        <m:deg>
                          <m:r>
                            <m:rPr>
                              <m:brk m:alnAt="7"/>
                            </m:rPr>
                            <a:rPr lang="en-US" sz="1600" i="1">
                              <a:solidFill>
                                <a:schemeClr val="tx1"/>
                              </a:solidFill>
                              <a:latin typeface="Cambria Math" panose="02040503050406030204" pitchFamily="18" charset="0"/>
                            </a:rPr>
                            <m:t>2</m:t>
                          </m:r>
                        </m:deg>
                        <m:e>
                          <m:r>
                            <a:rPr lang="en-US" sz="1600" i="1">
                              <a:solidFill>
                                <a:schemeClr val="tx1"/>
                              </a:solidFill>
                              <a:latin typeface="Cambria Math" panose="02040503050406030204" pitchFamily="18" charset="0"/>
                            </a:rPr>
                            <m:t>36</m:t>
                          </m:r>
                        </m:e>
                      </m:rad>
                      <m:r>
                        <a:rPr lang="en-US" sz="1600" i="1">
                          <a:solidFill>
                            <a:schemeClr val="tx1"/>
                          </a:solidFill>
                          <a:latin typeface="Cambria Math" panose="02040503050406030204" pitchFamily="18" charset="0"/>
                        </a:rPr>
                        <m:t>=6</m:t>
                      </m:r>
                    </m:oMath>
                  </m:oMathPara>
                </a14:m>
                <a:endParaRPr lang="en-US" sz="1600" dirty="0">
                  <a:solidFill>
                    <a:schemeClr val="tx1"/>
                  </a:solidFill>
                </a:endParaRPr>
              </a:p>
              <a:p>
                <a:endParaRPr lang="en-US" sz="1600" dirty="0">
                  <a:solidFill>
                    <a:schemeClr val="tx1"/>
                  </a:solidFill>
                </a:endParaRPr>
              </a:p>
            </p:txBody>
          </p:sp>
        </mc:Choice>
        <mc:Fallback xmlns="">
          <p:sp>
            <p:nvSpPr>
              <p:cNvPr id="11" name="TextBox 10">
                <a:extLst>
                  <a:ext uri="{FF2B5EF4-FFF2-40B4-BE49-F238E27FC236}">
                    <a16:creationId xmlns:a16="http://schemas.microsoft.com/office/drawing/2014/main" id="{280F3DD4-3B0B-64FA-B0D2-7D110253BE5D}"/>
                  </a:ext>
                </a:extLst>
              </p:cNvPr>
              <p:cNvSpPr txBox="1">
                <a:spLocks noRot="1" noChangeAspect="1" noMove="1" noResize="1" noEditPoints="1" noAdjustHandles="1" noChangeArrowheads="1" noChangeShapeType="1" noTextEdit="1"/>
              </p:cNvSpPr>
              <p:nvPr/>
            </p:nvSpPr>
            <p:spPr>
              <a:xfrm>
                <a:off x="4620825" y="4680466"/>
                <a:ext cx="5181600" cy="1520160"/>
              </a:xfrm>
              <a:prstGeom prst="rect">
                <a:avLst/>
              </a:prstGeom>
              <a:blipFill>
                <a:blip r:embed="rId3"/>
                <a:stretch>
                  <a:fillRect/>
                </a:stretch>
              </a:blipFill>
            </p:spPr>
            <p:txBody>
              <a:bodyPr/>
              <a:lstStyle/>
              <a:p>
                <a:r>
                  <a:rPr lang="en-US">
                    <a:noFill/>
                  </a:rPr>
                  <a:t> </a:t>
                </a:r>
              </a:p>
            </p:txBody>
          </p:sp>
        </mc:Fallback>
      </mc:AlternateContent>
      <p:sp>
        <p:nvSpPr>
          <p:cNvPr id="12" name="Callout: Down Arrow 11">
            <a:extLst>
              <a:ext uri="{FF2B5EF4-FFF2-40B4-BE49-F238E27FC236}">
                <a16:creationId xmlns:a16="http://schemas.microsoft.com/office/drawing/2014/main" id="{5E99295F-2C42-445B-5BAA-D609A09BDC00}"/>
              </a:ext>
            </a:extLst>
          </p:cNvPr>
          <p:cNvSpPr/>
          <p:nvPr/>
        </p:nvSpPr>
        <p:spPr>
          <a:xfrm>
            <a:off x="4767805" y="3124200"/>
            <a:ext cx="5181600" cy="1373703"/>
          </a:xfrm>
          <a:prstGeom prst="down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Or we can consider P</a:t>
            </a:r>
            <a:r>
              <a:rPr lang="en-US" baseline="-25000" dirty="0"/>
              <a:t>1</a:t>
            </a:r>
            <a:r>
              <a:rPr lang="en-US" dirty="0"/>
              <a:t> and P</a:t>
            </a:r>
            <a:r>
              <a:rPr lang="en-US" baseline="-25000" dirty="0"/>
              <a:t>2</a:t>
            </a:r>
            <a:r>
              <a:rPr lang="en-US" dirty="0"/>
              <a:t> two bidimensional vectors and use the norm.</a:t>
            </a:r>
          </a:p>
        </p:txBody>
      </p:sp>
    </p:spTree>
    <p:extLst>
      <p:ext uri="{BB962C8B-B14F-4D97-AF65-F5344CB8AC3E}">
        <p14:creationId xmlns:p14="http://schemas.microsoft.com/office/powerpoint/2010/main" val="40821570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(matrices)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4953000"/>
              </a:xfrm>
            </p:spPr>
            <p:txBody>
              <a:bodyPr/>
              <a:lstStyle/>
              <a:p>
                <a:pPr marL="514350" indent="-514350">
                  <a:buAutoNum type="arabicPeriod"/>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Matrix transposition</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Given a matrix “M” of shape n x m, the transpose of that matrix will be obtained by interchanging rows with columns:</a:t>
                </a:r>
              </a:p>
              <a:p>
                <a:pPr marL="0" indent="0">
                  <a:buNone/>
                </a:pPr>
                <a:endParaRPr lang="en-US" sz="1200"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𝑀</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e>
                                  <m: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e>
                                  <m: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e>
                                  <m: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e>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e>
                                  <m:sub>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𝑡h𝑒𝑛</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sSup>
                        <m:sSupPr>
                          <m:ctrlP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𝑀</m:t>
                          </m:r>
                        </m:e>
                        <m:sup>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𝑇</m:t>
                          </m:r>
                        </m:sup>
                      </m:sSup>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𝑚</m:t>
                                    </m:r>
                                  </m:e>
                                  <m:sub>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𝑚</m:t>
                                    </m:r>
                                  </m:e>
                                  <m:sub>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𝑚</m:t>
                                    </m:r>
                                  </m:e>
                                  <m:sub>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𝑚</m:t>
                                    </m:r>
                                  </m:e>
                                  <m:sub>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oMath>
                  </m:oMathPara>
                </a14:m>
                <a:endParaRPr lang="en-US" b="1"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endParaRPr lang="en-US" b="1"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Example:</a:t>
                </a: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4953000"/>
              </a:xfrm>
              <a:blipFill>
                <a:blip r:embed="rId2"/>
                <a:stretch>
                  <a:fillRect l="-8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700FA3-D0F5-A29B-4E46-CFD929A46FE7}"/>
                  </a:ext>
                </a:extLst>
              </p:cNvPr>
              <p:cNvSpPr txBox="1"/>
              <p:nvPr/>
            </p:nvSpPr>
            <p:spPr>
              <a:xfrm>
                <a:off x="3437852" y="5693570"/>
                <a:ext cx="6093968" cy="9062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𝑀</m:t>
                      </m:r>
                      <m:r>
                        <a:rPr lang="en-US" sz="2000" b="0" i="1" smtClean="0">
                          <a:solidFill>
                            <a:schemeClr val="tx1"/>
                          </a:solidFill>
                          <a:latin typeface="Cambria Math" panose="02040503050406030204" pitchFamily="18" charset="0"/>
                        </a:rPr>
                        <m:t>= </m:t>
                      </m:r>
                      <m:d>
                        <m:dPr>
                          <m:begChr m:val="["/>
                          <m:endChr m:val="]"/>
                          <m:ctrlPr>
                            <a:rPr lang="en-US" sz="2000" i="1" smtClean="0">
                              <a:solidFill>
                                <a:schemeClr val="tx1"/>
                              </a:solidFill>
                              <a:latin typeface="Cambria Math" panose="02040503050406030204" pitchFamily="18" charset="0"/>
                            </a:rPr>
                          </m:ctrlPr>
                        </m:dPr>
                        <m:e>
                          <m:m>
                            <m:mPr>
                              <m:mcs>
                                <m:mc>
                                  <m:mcPr>
                                    <m:count m:val="2"/>
                                    <m:mcJc m:val="center"/>
                                  </m:mcPr>
                                </m:mc>
                              </m:mcs>
                              <m:ctrlPr>
                                <a:rPr lang="en-US" sz="2000" i="1" smtClean="0">
                                  <a:solidFill>
                                    <a:schemeClr val="tx1"/>
                                  </a:solidFill>
                                  <a:latin typeface="Cambria Math" panose="02040503050406030204" pitchFamily="18" charset="0"/>
                                </a:rPr>
                              </m:ctrlPr>
                            </m:mPr>
                            <m:mr>
                              <m:e>
                                <m:r>
                                  <m:rPr>
                                    <m:brk m:alnAt="7"/>
                                  </m:rPr>
                                  <a:rPr lang="en-US" sz="2000" b="0" i="1" smtClean="0">
                                    <a:solidFill>
                                      <a:schemeClr val="tx1"/>
                                    </a:solidFill>
                                    <a:latin typeface="Cambria Math" panose="02040503050406030204" pitchFamily="18" charset="0"/>
                                  </a:rPr>
                                  <m:t>1</m:t>
                                </m:r>
                              </m:e>
                              <m:e>
                                <m:r>
                                  <a:rPr lang="en-US" sz="2000" b="0" i="1" smtClean="0">
                                    <a:solidFill>
                                      <a:schemeClr val="tx1"/>
                                    </a:solidFill>
                                    <a:latin typeface="Cambria Math" panose="02040503050406030204" pitchFamily="18" charset="0"/>
                                  </a:rPr>
                                  <m:t>100</m:t>
                                </m:r>
                              </m:e>
                            </m:mr>
                            <m:mr>
                              <m:e>
                                <m:r>
                                  <a:rPr lang="en-US" sz="2000" b="0" i="1" smtClean="0">
                                    <a:solidFill>
                                      <a:schemeClr val="tx1"/>
                                    </a:solidFill>
                                    <a:latin typeface="Cambria Math" panose="02040503050406030204" pitchFamily="18" charset="0"/>
                                  </a:rPr>
                                  <m:t>2</m:t>
                                </m:r>
                              </m:e>
                              <m:e>
                                <m:r>
                                  <a:rPr lang="en-US" sz="2000" b="0" i="1" smtClean="0">
                                    <a:solidFill>
                                      <a:schemeClr val="tx1"/>
                                    </a:solidFill>
                                    <a:latin typeface="Cambria Math" panose="02040503050406030204" pitchFamily="18" charset="0"/>
                                  </a:rPr>
                                  <m:t>200</m:t>
                                </m:r>
                              </m:e>
                            </m:mr>
                            <m:mr>
                              <m:e>
                                <m:r>
                                  <a:rPr lang="en-US" sz="2000" b="0" i="1" smtClean="0">
                                    <a:solidFill>
                                      <a:schemeClr val="tx1"/>
                                    </a:solidFill>
                                    <a:latin typeface="Cambria Math" panose="02040503050406030204" pitchFamily="18" charset="0"/>
                                  </a:rPr>
                                  <m:t>3</m:t>
                                </m:r>
                              </m:e>
                              <m:e>
                                <m:r>
                                  <a:rPr lang="en-US" sz="2000" b="0" i="1" smtClean="0">
                                    <a:solidFill>
                                      <a:schemeClr val="tx1"/>
                                    </a:solidFill>
                                    <a:latin typeface="Cambria Math" panose="02040503050406030204" pitchFamily="18" charset="0"/>
                                  </a:rPr>
                                  <m:t>300</m:t>
                                </m:r>
                              </m:e>
                            </m:mr>
                          </m:m>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𝑡h𝑒𝑛</m:t>
                      </m:r>
                      <m:r>
                        <a:rPr lang="en-US" sz="2000" b="0" i="1" smtClean="0">
                          <a:solidFill>
                            <a:schemeClr val="tx1"/>
                          </a:solidFill>
                          <a:latin typeface="Cambria Math" panose="02040503050406030204" pitchFamily="18" charset="0"/>
                        </a:rPr>
                        <m:t> </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𝑀</m:t>
                          </m:r>
                        </m:e>
                        <m:sup>
                          <m:r>
                            <a:rPr lang="en-US" sz="2000" b="0" i="1" smtClean="0">
                              <a:solidFill>
                                <a:schemeClr val="tx1"/>
                              </a:solidFill>
                              <a:latin typeface="Cambria Math" panose="02040503050406030204" pitchFamily="18" charset="0"/>
                            </a:rPr>
                            <m:t>𝑇</m:t>
                          </m:r>
                        </m:sup>
                      </m:sSup>
                      <m:r>
                        <a:rPr lang="en-US" sz="2000" b="0" i="1" smtClean="0">
                          <a:solidFill>
                            <a:schemeClr val="tx1"/>
                          </a:solidFill>
                          <a:latin typeface="Cambria Math" panose="02040503050406030204" pitchFamily="18" charset="0"/>
                        </a:rPr>
                        <m:t>=</m:t>
                      </m:r>
                      <m:d>
                        <m:dPr>
                          <m:begChr m:val="["/>
                          <m:endChr m:val="]"/>
                          <m:ctrlPr>
                            <a:rPr lang="en-US" sz="2000" b="0" i="1" smtClean="0">
                              <a:solidFill>
                                <a:schemeClr val="tx1"/>
                              </a:solidFill>
                              <a:latin typeface="Cambria Math" panose="02040503050406030204" pitchFamily="18" charset="0"/>
                            </a:rPr>
                          </m:ctrlPr>
                        </m:dPr>
                        <m:e>
                          <m:m>
                            <m:mPr>
                              <m:mcs>
                                <m:mc>
                                  <m:mcPr>
                                    <m:count m:val="3"/>
                                    <m:mcJc m:val="center"/>
                                  </m:mcPr>
                                </m:mc>
                              </m:mcs>
                              <m:ctrlPr>
                                <a:rPr lang="en-US" sz="2000" b="0" i="1" smtClean="0">
                                  <a:solidFill>
                                    <a:schemeClr val="tx1"/>
                                  </a:solidFill>
                                  <a:latin typeface="Cambria Math" panose="02040503050406030204" pitchFamily="18" charset="0"/>
                                </a:rPr>
                              </m:ctrlPr>
                            </m:mPr>
                            <m:mr>
                              <m:e>
                                <m:r>
                                  <m:rPr>
                                    <m:brk m:alnAt="7"/>
                                  </m:rPr>
                                  <a:rPr lang="en-US" sz="2000" b="0" i="1" smtClean="0">
                                    <a:solidFill>
                                      <a:schemeClr val="tx1"/>
                                    </a:solidFill>
                                    <a:latin typeface="Cambria Math" panose="02040503050406030204" pitchFamily="18" charset="0"/>
                                  </a:rPr>
                                  <m:t>1</m:t>
                                </m:r>
                              </m:e>
                              <m:e>
                                <m:r>
                                  <a:rPr lang="en-US" sz="2000" b="0" i="1" smtClean="0">
                                    <a:solidFill>
                                      <a:schemeClr val="tx1"/>
                                    </a:solidFill>
                                    <a:latin typeface="Cambria Math" panose="02040503050406030204" pitchFamily="18" charset="0"/>
                                  </a:rPr>
                                  <m:t>2</m:t>
                                </m:r>
                              </m:e>
                              <m:e>
                                <m:r>
                                  <a:rPr lang="en-US" sz="2000" b="0" i="1" smtClean="0">
                                    <a:solidFill>
                                      <a:schemeClr val="tx1"/>
                                    </a:solidFill>
                                    <a:latin typeface="Cambria Math" panose="02040503050406030204" pitchFamily="18" charset="0"/>
                                  </a:rPr>
                                  <m:t>3</m:t>
                                </m:r>
                              </m:e>
                            </m:mr>
                            <m:mr>
                              <m:e>
                                <m:r>
                                  <a:rPr lang="en-US" sz="2000" b="0" i="1" smtClean="0">
                                    <a:solidFill>
                                      <a:schemeClr val="tx1"/>
                                    </a:solidFill>
                                    <a:latin typeface="Cambria Math" panose="02040503050406030204" pitchFamily="18" charset="0"/>
                                  </a:rPr>
                                  <m:t>100</m:t>
                                </m:r>
                              </m:e>
                              <m:e>
                                <m:r>
                                  <a:rPr lang="en-US" sz="2000" b="0" i="1" smtClean="0">
                                    <a:solidFill>
                                      <a:schemeClr val="tx1"/>
                                    </a:solidFill>
                                    <a:latin typeface="Cambria Math" panose="02040503050406030204" pitchFamily="18" charset="0"/>
                                  </a:rPr>
                                  <m:t>200</m:t>
                                </m:r>
                              </m:e>
                              <m:e>
                                <m:r>
                                  <a:rPr lang="en-US" sz="2000" b="0" i="1" smtClean="0">
                                    <a:solidFill>
                                      <a:schemeClr val="tx1"/>
                                    </a:solidFill>
                                    <a:latin typeface="Cambria Math" panose="02040503050406030204" pitchFamily="18" charset="0"/>
                                  </a:rPr>
                                  <m:t>300</m:t>
                                </m:r>
                              </m:e>
                            </m:mr>
                          </m:m>
                        </m:e>
                      </m:d>
                    </m:oMath>
                  </m:oMathPara>
                </a14:m>
                <a:endParaRPr lang="en-US" sz="2000" dirty="0">
                  <a:solidFill>
                    <a:schemeClr val="tx1"/>
                  </a:solidFill>
                </a:endParaRPr>
              </a:p>
            </p:txBody>
          </p:sp>
        </mc:Choice>
        <mc:Fallback xmlns="">
          <p:sp>
            <p:nvSpPr>
              <p:cNvPr id="5" name="TextBox 4">
                <a:extLst>
                  <a:ext uri="{FF2B5EF4-FFF2-40B4-BE49-F238E27FC236}">
                    <a16:creationId xmlns:a16="http://schemas.microsoft.com/office/drawing/2014/main" id="{63700FA3-D0F5-A29B-4E46-CFD929A46FE7}"/>
                  </a:ext>
                </a:extLst>
              </p:cNvPr>
              <p:cNvSpPr txBox="1">
                <a:spLocks noRot="1" noChangeAspect="1" noMove="1" noResize="1" noEditPoints="1" noAdjustHandles="1" noChangeArrowheads="1" noChangeShapeType="1" noTextEdit="1"/>
              </p:cNvSpPr>
              <p:nvPr/>
            </p:nvSpPr>
            <p:spPr>
              <a:xfrm>
                <a:off x="3437852" y="5693570"/>
                <a:ext cx="6093968" cy="906210"/>
              </a:xfrm>
              <a:prstGeom prst="rect">
                <a:avLst/>
              </a:prstGeom>
              <a:blipFill>
                <a:blip r:embed="rId3"/>
                <a:stretch>
                  <a:fillRect b="-4167"/>
                </a:stretch>
              </a:blipFill>
            </p:spPr>
            <p:txBody>
              <a:bodyPr/>
              <a:lstStyle/>
              <a:p>
                <a:r>
                  <a:rPr lang="en-US">
                    <a:noFill/>
                  </a:rPr>
                  <a:t> </a:t>
                </a:r>
              </a:p>
            </p:txBody>
          </p:sp>
        </mc:Fallback>
      </mc:AlternateContent>
    </p:spTree>
    <p:extLst>
      <p:ext uri="{BB962C8B-B14F-4D97-AF65-F5344CB8AC3E}">
        <p14:creationId xmlns:p14="http://schemas.microsoft.com/office/powerpoint/2010/main" val="303110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(matrices)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4953000"/>
              </a:xfrm>
            </p:spPr>
            <p:txBody>
              <a:bodyPr/>
              <a:lstStyle/>
              <a:p>
                <a:pPr marL="514350" indent="-514350">
                  <a:buFont typeface="+mj-lt"/>
                  <a:buAutoNum type="arabicPeriod" startAt="2"/>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Matrix addition / subtraction</a:t>
                </a:r>
              </a:p>
              <a:p>
                <a:pPr marL="0" indent="0">
                  <a:buNone/>
                </a:pPr>
                <a:r>
                  <a:rPr lang="en-US" dirty="0">
                    <a:solidFill>
                      <a:schemeClr val="bg1"/>
                    </a:solidFill>
                    <a:latin typeface="Arial" panose="020B0604020202020204" pitchFamily="34" charset="0"/>
                    <a:cs typeface="Arial" panose="020B0604020202020204" pitchFamily="34" charset="0"/>
                    <a:sym typeface="Symbol" panose="05050102010706020507" pitchFamily="18" charset="2"/>
                  </a:rPr>
                  <a:t>Given two matrixes “A” and “B” with the same size: n x m:</a:t>
                </a:r>
              </a:p>
              <a:p>
                <a:pPr marL="0" indent="0">
                  <a:buNone/>
                </a:pPr>
                <a:endParaRPr lang="en-US" sz="1200"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𝐴</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e>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𝐵</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𝐴</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𝐵</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d>
                                      <m:dPr>
                                        <m:ctrlPr>
                                          <a:rPr lang="en-US" sz="1800" b="0"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e>
                                    </m:d>
                                  </m:sub>
                                </m:s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d>
                                      <m:d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𝑚</m:t>
                                        </m:r>
                                      </m:e>
                                    </m:d>
                                  </m:sub>
                                </m:s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oMath>
                  </m:oMathPara>
                </a14:m>
                <a:endParaRPr lang="en-US" b="1"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endParaRPr lang="en-US" b="1"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Example:</a:t>
                </a: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4953000"/>
              </a:xfrm>
              <a:blipFill>
                <a:blip r:embed="rId2"/>
                <a:stretch>
                  <a:fillRect l="-8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700FA3-D0F5-A29B-4E46-CFD929A46FE7}"/>
                  </a:ext>
                </a:extLst>
              </p:cNvPr>
              <p:cNvSpPr txBox="1"/>
              <p:nvPr/>
            </p:nvSpPr>
            <p:spPr>
              <a:xfrm>
                <a:off x="2741612" y="5029200"/>
                <a:ext cx="7924800" cy="9113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rPr>
                        <m:t>= </m:t>
                      </m:r>
                      <m:d>
                        <m:dPr>
                          <m:begChr m:val="["/>
                          <m:endChr m:val="]"/>
                          <m:ctrlPr>
                            <a:rPr lang="en-US" sz="2000" i="1" smtClean="0">
                              <a:latin typeface="Cambria Math" panose="02040503050406030204" pitchFamily="18" charset="0"/>
                            </a:rPr>
                          </m:ctrlPr>
                        </m:dPr>
                        <m:e>
                          <m:m>
                            <m:mPr>
                              <m:mcs>
                                <m:mc>
                                  <m:mcPr>
                                    <m:count m:val="2"/>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1</m:t>
                                </m:r>
                              </m:e>
                              <m:e>
                                <m:r>
                                  <a:rPr lang="en-US" sz="2000" b="0" i="1" smtClean="0">
                                    <a:latin typeface="Cambria Math" panose="02040503050406030204" pitchFamily="18" charset="0"/>
                                  </a:rPr>
                                  <m:t>4</m:t>
                                </m:r>
                              </m:e>
                            </m:mr>
                            <m:mr>
                              <m:e>
                                <m:r>
                                  <a:rPr lang="en-US" sz="2000" b="0" i="1" smtClean="0">
                                    <a:latin typeface="Cambria Math" panose="02040503050406030204" pitchFamily="18" charset="0"/>
                                  </a:rPr>
                                  <m:t>2</m:t>
                                </m:r>
                              </m:e>
                              <m:e>
                                <m:r>
                                  <a:rPr lang="en-US" sz="2000" b="0" i="1" smtClean="0">
                                    <a:latin typeface="Cambria Math" panose="02040503050406030204" pitchFamily="18" charset="0"/>
                                  </a:rPr>
                                  <m:t>5</m:t>
                                </m:r>
                              </m:e>
                            </m:mr>
                            <m:mr>
                              <m:e>
                                <m:r>
                                  <a:rPr lang="en-US" sz="2000" b="0" i="1" smtClean="0">
                                    <a:latin typeface="Cambria Math" panose="02040503050406030204" pitchFamily="18" charset="0"/>
                                  </a:rPr>
                                  <m:t>3</m:t>
                                </m:r>
                              </m:e>
                              <m:e>
                                <m:r>
                                  <a:rPr lang="en-US" sz="2000" b="0" i="1" smtClean="0">
                                    <a:latin typeface="Cambria Math" panose="02040503050406030204" pitchFamily="18" charset="0"/>
                                  </a:rPr>
                                  <m:t>6</m:t>
                                </m:r>
                              </m:e>
                            </m:mr>
                          </m:m>
                        </m:e>
                      </m:d>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i="1">
                          <a:latin typeface="Cambria Math" panose="02040503050406030204" pitchFamily="18" charset="0"/>
                        </a:rPr>
                        <m:t>= </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r>
                                  <m:rPr>
                                    <m:brk m:alnAt="7"/>
                                  </m:rPr>
                                  <a:rPr lang="en-US" sz="2000" b="0" i="1" smtClean="0">
                                    <a:latin typeface="Cambria Math" panose="02040503050406030204" pitchFamily="18" charset="0"/>
                                  </a:rPr>
                                  <m:t>7</m:t>
                                </m:r>
                              </m:e>
                              <m:e>
                                <m:r>
                                  <a:rPr lang="en-US" sz="2000" b="0" i="1" smtClean="0">
                                    <a:latin typeface="Cambria Math" panose="02040503050406030204" pitchFamily="18" charset="0"/>
                                  </a:rPr>
                                  <m:t>10</m:t>
                                </m:r>
                              </m:e>
                            </m:mr>
                            <m:mr>
                              <m:e>
                                <m:r>
                                  <a:rPr lang="en-US" sz="2000" b="0" i="1" smtClean="0">
                                    <a:latin typeface="Cambria Math" panose="02040503050406030204" pitchFamily="18" charset="0"/>
                                  </a:rPr>
                                  <m:t>8</m:t>
                                </m:r>
                              </m:e>
                              <m:e>
                                <m:r>
                                  <a:rPr lang="en-US" sz="2000" b="0" i="1" smtClean="0">
                                    <a:latin typeface="Cambria Math" panose="02040503050406030204" pitchFamily="18" charset="0"/>
                                  </a:rPr>
                                  <m:t>11</m:t>
                                </m:r>
                              </m:e>
                            </m:mr>
                            <m:mr>
                              <m:e>
                                <m:r>
                                  <a:rPr lang="en-US" sz="2000" b="0" i="1" smtClean="0">
                                    <a:latin typeface="Cambria Math" panose="02040503050406030204" pitchFamily="18" charset="0"/>
                                  </a:rPr>
                                  <m:t>9</m:t>
                                </m:r>
                              </m:e>
                              <m:e>
                                <m:r>
                                  <a:rPr lang="en-US" sz="2000" b="0" i="1" smtClean="0">
                                    <a:latin typeface="Cambria Math" panose="02040503050406030204" pitchFamily="18" charset="0"/>
                                  </a:rPr>
                                  <m:t>12</m:t>
                                </m:r>
                              </m:e>
                            </m:mr>
                          </m:m>
                        </m:e>
                      </m:d>
                      <m:r>
                        <a:rPr lang="en-US" sz="2000" i="1">
                          <a:latin typeface="Cambria Math" panose="02040503050406030204" pitchFamily="18" charset="0"/>
                        </a:rPr>
                        <m:t>,</m:t>
                      </m:r>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r>
                                  <m:rPr>
                                    <m:brk m:alnAt="7"/>
                                  </m:rPr>
                                  <a:rPr lang="en-US" sz="2000" b="0" i="1" smtClean="0">
                                    <a:latin typeface="Cambria Math" panose="02040503050406030204" pitchFamily="18" charset="0"/>
                                  </a:rPr>
                                  <m:t>1</m:t>
                                </m:r>
                                <m:r>
                                  <a:rPr lang="en-US" sz="2000" b="0" i="1" smtClean="0">
                                    <a:latin typeface="Cambria Math" panose="02040503050406030204" pitchFamily="18" charset="0"/>
                                  </a:rPr>
                                  <m:t>+7</m:t>
                                </m:r>
                              </m:e>
                              <m:e>
                                <m:r>
                                  <a:rPr lang="en-US" sz="2000" i="1">
                                    <a:latin typeface="Cambria Math" panose="02040503050406030204" pitchFamily="18" charset="0"/>
                                  </a:rPr>
                                  <m:t>4</m:t>
                                </m:r>
                                <m:r>
                                  <a:rPr lang="en-US" sz="2000" b="0" i="1" smtClean="0">
                                    <a:latin typeface="Cambria Math" panose="02040503050406030204" pitchFamily="18" charset="0"/>
                                  </a:rPr>
                                  <m:t>+10</m:t>
                                </m:r>
                              </m:e>
                            </m:mr>
                            <m:mr>
                              <m:e>
                                <m:r>
                                  <a:rPr lang="en-US" sz="2000" i="1">
                                    <a:latin typeface="Cambria Math" panose="02040503050406030204" pitchFamily="18" charset="0"/>
                                  </a:rPr>
                                  <m:t>2</m:t>
                                </m:r>
                                <m:r>
                                  <a:rPr lang="en-US" sz="2000" b="0" i="1" smtClean="0">
                                    <a:latin typeface="Cambria Math" panose="02040503050406030204" pitchFamily="18" charset="0"/>
                                  </a:rPr>
                                  <m:t>+8</m:t>
                                </m:r>
                              </m:e>
                              <m:e>
                                <m:r>
                                  <a:rPr lang="en-US" sz="2000" i="1">
                                    <a:latin typeface="Cambria Math" panose="02040503050406030204" pitchFamily="18" charset="0"/>
                                  </a:rPr>
                                  <m:t>5</m:t>
                                </m:r>
                                <m:r>
                                  <a:rPr lang="en-US" sz="2000" b="0" i="1" smtClean="0">
                                    <a:latin typeface="Cambria Math" panose="02040503050406030204" pitchFamily="18" charset="0"/>
                                  </a:rPr>
                                  <m:t>+11</m:t>
                                </m:r>
                              </m:e>
                            </m:mr>
                            <m:mr>
                              <m:e>
                                <m:r>
                                  <a:rPr lang="en-US" sz="2000" i="1">
                                    <a:latin typeface="Cambria Math" panose="02040503050406030204" pitchFamily="18" charset="0"/>
                                  </a:rPr>
                                  <m:t>3</m:t>
                                </m:r>
                                <m:r>
                                  <a:rPr lang="en-US" sz="2000" b="0" i="1" smtClean="0">
                                    <a:latin typeface="Cambria Math" panose="02040503050406030204" pitchFamily="18" charset="0"/>
                                  </a:rPr>
                                  <m:t>+9</m:t>
                                </m:r>
                              </m:e>
                              <m:e>
                                <m:r>
                                  <a:rPr lang="en-US" sz="2000" i="1">
                                    <a:latin typeface="Cambria Math" panose="02040503050406030204" pitchFamily="18" charset="0"/>
                                  </a:rPr>
                                  <m:t>6</m:t>
                                </m:r>
                                <m:r>
                                  <a:rPr lang="en-US" sz="2000" b="0" i="1" smtClean="0">
                                    <a:latin typeface="Cambria Math" panose="02040503050406030204" pitchFamily="18" charset="0"/>
                                  </a:rPr>
                                  <m:t>+12</m:t>
                                </m:r>
                              </m:e>
                            </m:mr>
                          </m:m>
                        </m:e>
                      </m:d>
                      <m:r>
                        <a:rPr lang="en-US" sz="2000" b="0" i="1" smtClean="0">
                          <a:latin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r>
                                  <m:rPr>
                                    <m:brk m:alnAt="7"/>
                                  </m:rPr>
                                  <a:rPr lang="en-US" sz="2000" b="0" i="1" smtClean="0">
                                    <a:latin typeface="Cambria Math" panose="02040503050406030204" pitchFamily="18" charset="0"/>
                                  </a:rPr>
                                  <m:t>8</m:t>
                                </m:r>
                              </m:e>
                              <m:e>
                                <m:r>
                                  <a:rPr lang="en-US" sz="2000" b="0" i="1" smtClean="0">
                                    <a:latin typeface="Cambria Math" panose="02040503050406030204" pitchFamily="18" charset="0"/>
                                  </a:rPr>
                                  <m:t>14</m:t>
                                </m:r>
                              </m:e>
                            </m:mr>
                            <m:mr>
                              <m:e>
                                <m:r>
                                  <a:rPr lang="en-US" sz="2000" b="0" i="1" smtClean="0">
                                    <a:latin typeface="Cambria Math" panose="02040503050406030204" pitchFamily="18" charset="0"/>
                                  </a:rPr>
                                  <m:t>10</m:t>
                                </m:r>
                              </m:e>
                              <m:e>
                                <m:r>
                                  <a:rPr lang="en-US" sz="2000" b="0" i="1" smtClean="0">
                                    <a:latin typeface="Cambria Math" panose="02040503050406030204" pitchFamily="18" charset="0"/>
                                  </a:rPr>
                                  <m:t>16</m:t>
                                </m:r>
                              </m:e>
                            </m:mr>
                            <m:mr>
                              <m:e>
                                <m:r>
                                  <a:rPr lang="en-US" sz="2000" b="0" i="1" smtClean="0">
                                    <a:latin typeface="Cambria Math" panose="02040503050406030204" pitchFamily="18" charset="0"/>
                                  </a:rPr>
                                  <m:t>12</m:t>
                                </m:r>
                              </m:e>
                              <m:e>
                                <m:r>
                                  <a:rPr lang="en-US" sz="2000" b="0" i="1" smtClean="0">
                                    <a:latin typeface="Cambria Math" panose="02040503050406030204" pitchFamily="18" charset="0"/>
                                  </a:rPr>
                                  <m:t>18</m:t>
                                </m:r>
                              </m:e>
                            </m:mr>
                          </m:m>
                        </m:e>
                      </m:d>
                    </m:oMath>
                  </m:oMathPara>
                </a14:m>
                <a:endParaRPr lang="en-US" sz="2000" dirty="0"/>
              </a:p>
            </p:txBody>
          </p:sp>
        </mc:Choice>
        <mc:Fallback xmlns="">
          <p:sp>
            <p:nvSpPr>
              <p:cNvPr id="5" name="TextBox 4">
                <a:extLst>
                  <a:ext uri="{FF2B5EF4-FFF2-40B4-BE49-F238E27FC236}">
                    <a16:creationId xmlns:a16="http://schemas.microsoft.com/office/drawing/2014/main" id="{63700FA3-D0F5-A29B-4E46-CFD929A46FE7}"/>
                  </a:ext>
                </a:extLst>
              </p:cNvPr>
              <p:cNvSpPr txBox="1">
                <a:spLocks noRot="1" noChangeAspect="1" noMove="1" noResize="1" noEditPoints="1" noAdjustHandles="1" noChangeArrowheads="1" noChangeShapeType="1" noTextEdit="1"/>
              </p:cNvSpPr>
              <p:nvPr/>
            </p:nvSpPr>
            <p:spPr>
              <a:xfrm>
                <a:off x="2741612" y="5029200"/>
                <a:ext cx="7924800" cy="911340"/>
              </a:xfrm>
              <a:prstGeom prst="rect">
                <a:avLst/>
              </a:prstGeom>
              <a:blipFill>
                <a:blip r:embed="rId3"/>
                <a:stretch>
                  <a:fillRect b="-4167"/>
                </a:stretch>
              </a:blipFill>
            </p:spPr>
            <p:txBody>
              <a:bodyPr/>
              <a:lstStyle/>
              <a:p>
                <a:r>
                  <a:rPr lang="en-US">
                    <a:noFill/>
                  </a:rPr>
                  <a:t> </a:t>
                </a:r>
              </a:p>
            </p:txBody>
          </p:sp>
        </mc:Fallback>
      </mc:AlternateContent>
    </p:spTree>
    <p:extLst>
      <p:ext uri="{BB962C8B-B14F-4D97-AF65-F5344CB8AC3E}">
        <p14:creationId xmlns:p14="http://schemas.microsoft.com/office/powerpoint/2010/main" val="274233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(matrices)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4953000"/>
              </a:xfrm>
            </p:spPr>
            <p:txBody>
              <a:bodyPr>
                <a:normAutofit/>
              </a:bodyPr>
              <a:lstStyle/>
              <a:p>
                <a:pPr marL="514350" indent="-514350">
                  <a:buFont typeface="+mj-lt"/>
                  <a:buAutoNum type="arabicPeriod" startAt="3"/>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Matrix multiplication</a:t>
                </a:r>
              </a:p>
              <a:p>
                <a:pPr marL="0" indent="0">
                  <a:buNone/>
                </a:pP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Given two matrixes “A” with size “</a:t>
                </a:r>
                <a:r>
                  <a:rPr lang="en-US" sz="2000" b="1" i="1"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sz="2000" i="1"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x </a:t>
                </a:r>
                <a:r>
                  <a:rPr lang="en-US" sz="2000" b="1" i="1" dirty="0">
                    <a:solidFill>
                      <a:schemeClr val="bg1"/>
                    </a:solidFill>
                    <a:latin typeface="Arial" panose="020B0604020202020204" pitchFamily="34" charset="0"/>
                    <a:cs typeface="Arial" panose="020B0604020202020204" pitchFamily="34" charset="0"/>
                    <a:sym typeface="Symbol" panose="05050102010706020507" pitchFamily="18" charset="2"/>
                  </a:rPr>
                  <a:t>m</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 and “B” with size “</a:t>
                </a:r>
                <a:r>
                  <a:rPr lang="en-US" sz="2000" b="1" i="1" dirty="0">
                    <a:solidFill>
                      <a:schemeClr val="bg1"/>
                    </a:solidFill>
                    <a:latin typeface="Arial" panose="020B0604020202020204" pitchFamily="34" charset="0"/>
                    <a:cs typeface="Arial" panose="020B0604020202020204" pitchFamily="34" charset="0"/>
                    <a:sym typeface="Symbol" panose="05050102010706020507" pitchFamily="18" charset="2"/>
                  </a:rPr>
                  <a:t>m</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 x </a:t>
                </a:r>
                <a:r>
                  <a:rPr lang="en-US" sz="2000" b="1" i="1" dirty="0">
                    <a:solidFill>
                      <a:schemeClr val="bg1"/>
                    </a:solidFill>
                    <a:latin typeface="Arial" panose="020B0604020202020204" pitchFamily="34" charset="0"/>
                    <a:cs typeface="Arial" panose="020B0604020202020204" pitchFamily="34" charset="0"/>
                    <a:sym typeface="Symbol" panose="05050102010706020507" pitchFamily="18" charset="2"/>
                  </a:rPr>
                  <a:t>k</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 (meaning matrix “A” has the same number of columns as the number of rows from matrix “B”):</a:t>
                </a:r>
              </a:p>
              <a:p>
                <a:pPr marL="0" indent="0">
                  <a:buNone/>
                </a:pPr>
                <a:endParaRPr lang="en-US" sz="1200"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𝐴</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e>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𝐵</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𝑝</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e>
                              <m:e>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𝑝</m:t>
                                    </m:r>
                                    <m:r>
                                      <a:rPr lang="en-US" sz="1800"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𝐴</m:t>
                      </m:r>
                      <m: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𝐵</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𝐶</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𝑤𝑖𝑡h</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𝐶</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𝑖</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𝑗</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nary>
                        <m:naryPr>
                          <m:chr m:val="∑"/>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naryPr>
                        <m:sub>
                          <m:r>
                            <m:rPr>
                              <m:brk m:alnAt="23"/>
                            </m:r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𝑙</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sub>
                        <m:sup>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sup>
                        <m:e>
                          <m:sSub>
                            <m:sSubPr>
                              <m:ctrlP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𝑖</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𝑙</m:t>
                              </m:r>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Sub>
                            <m:sSubPr>
                              <m:ctrlP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𝑏</m:t>
                              </m:r>
                            </m:e>
                            <m:sub>
                              <m: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𝑙</m:t>
                              </m:r>
                              <m: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𝑗</m:t>
                              </m:r>
                              <m:r>
                                <a:rPr lang="en-US"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sub>
                          </m:sSub>
                        </m:e>
                      </m:nary>
                      <m:r>
                        <a:rPr lang="en-US" sz="18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oMath>
                  </m:oMathPara>
                </a14:m>
                <a:endParaRPr lang="en-US" b="1"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r>
                  <a:rPr lang="en-US" sz="2000" b="1" dirty="0">
                    <a:solidFill>
                      <a:schemeClr val="bg1"/>
                    </a:solidFill>
                    <a:latin typeface="Arial" panose="020B0604020202020204" pitchFamily="34" charset="0"/>
                    <a:cs typeface="Arial" panose="020B0604020202020204" pitchFamily="34" charset="0"/>
                    <a:sym typeface="Symbol" panose="05050102010706020507" pitchFamily="18" charset="2"/>
                  </a:rPr>
                  <a:t>Example (2 x 3 matrix with a 3 x 2 matrix):</a:t>
                </a: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4953000"/>
              </a:xfrm>
              <a:blipFill>
                <a:blip r:embed="rId2"/>
                <a:stretch>
                  <a:fillRect l="-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700FA3-D0F5-A29B-4E46-CFD929A46FE7}"/>
                  </a:ext>
                </a:extLst>
              </p:cNvPr>
              <p:cNvSpPr txBox="1"/>
              <p:nvPr/>
            </p:nvSpPr>
            <p:spPr>
              <a:xfrm>
                <a:off x="1481724" y="4648200"/>
                <a:ext cx="10210800" cy="16262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𝐴</m:t>
                      </m:r>
                      <m:r>
                        <a:rPr lang="en-US" sz="1800" b="0" i="1" smtClean="0">
                          <a:latin typeface="Cambria Math" panose="02040503050406030204" pitchFamily="18" charset="0"/>
                        </a:rPr>
                        <m:t>= </m:t>
                      </m:r>
                      <m:d>
                        <m:dPr>
                          <m:begChr m:val="["/>
                          <m:endChr m:val="]"/>
                          <m:ctrlPr>
                            <a:rPr lang="en-US" sz="1800" i="1" smtClean="0">
                              <a:latin typeface="Cambria Math" panose="02040503050406030204" pitchFamily="18" charset="0"/>
                            </a:rPr>
                          </m:ctrlPr>
                        </m:dPr>
                        <m:e>
                          <m:m>
                            <m:mPr>
                              <m:mcs>
                                <m:mc>
                                  <m:mcPr>
                                    <m:count m:val="3"/>
                                    <m:mcJc m:val="center"/>
                                  </m:mcPr>
                                </m:mc>
                              </m:mcs>
                              <m:ctrlPr>
                                <a:rPr lang="en-US" sz="1800" i="1" smtClean="0">
                                  <a:latin typeface="Cambria Math" panose="02040503050406030204" pitchFamily="18" charset="0"/>
                                </a:rPr>
                              </m:ctrlPr>
                            </m:mPr>
                            <m:m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(1,1)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m:t>
                                    </m:r>
                                    <m:r>
                                      <a:rPr lang="en-US" sz="1800" b="0" i="1" smtClean="0">
                                        <a:latin typeface="Cambria Math" panose="02040503050406030204" pitchFamily="18" charset="0"/>
                                      </a:rPr>
                                      <m:t>2</m:t>
                                    </m:r>
                                    <m:r>
                                      <a:rPr lang="en-US" sz="1800" i="1">
                                        <a:latin typeface="Cambria Math" panose="02040503050406030204" pitchFamily="18" charset="0"/>
                                      </a:rPr>
                                      <m:t>)</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m:t>
                                    </m:r>
                                    <m:r>
                                      <a:rPr lang="en-US" sz="1800" b="0" i="1" smtClean="0">
                                        <a:latin typeface="Cambria Math" panose="02040503050406030204" pitchFamily="18" charset="0"/>
                                      </a:rPr>
                                      <m:t>3</m:t>
                                    </m:r>
                                    <m:r>
                                      <a:rPr lang="en-US" sz="1800" i="1">
                                        <a:latin typeface="Cambria Math" panose="02040503050406030204" pitchFamily="18" charset="0"/>
                                      </a:rPr>
                                      <m:t>)</m:t>
                                    </m:r>
                                  </m:sub>
                                </m:sSub>
                              </m:e>
                            </m:mr>
                            <m:mr>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r>
                                      <a:rPr lang="en-US" sz="1800" b="0" i="1" smtClean="0">
                                        <a:latin typeface="Cambria Math" panose="02040503050406030204" pitchFamily="18" charset="0"/>
                                      </a:rPr>
                                      <m:t>3</m:t>
                                    </m:r>
                                    <m:r>
                                      <a:rPr lang="en-US" sz="1800" i="1">
                                        <a:latin typeface="Cambria Math" panose="02040503050406030204" pitchFamily="18" charset="0"/>
                                      </a:rPr>
                                      <m:t>)</m:t>
                                    </m:r>
                                  </m:sub>
                                </m:sSub>
                              </m:e>
                            </m:mr>
                          </m:m>
                        </m:e>
                      </m:d>
                      <m:r>
                        <a:rPr lang="en-US" sz="1800" b="0" i="1" smtClean="0">
                          <a:latin typeface="Cambria Math" panose="02040503050406030204" pitchFamily="18" charset="0"/>
                        </a:rPr>
                        <m:t>,</m:t>
                      </m:r>
                      <m:r>
                        <a:rPr lang="en-US" sz="1800" b="0" i="1" smtClean="0">
                          <a:latin typeface="Cambria Math" panose="02040503050406030204" pitchFamily="18" charset="0"/>
                        </a:rPr>
                        <m:t>𝐵</m:t>
                      </m:r>
                      <m:r>
                        <a:rPr lang="en-US" sz="1800" i="1">
                          <a:latin typeface="Cambria Math" panose="02040503050406030204" pitchFamily="18" charset="0"/>
                        </a:rPr>
                        <m:t>= </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sSub>
                                  <m:sSubPr>
                                    <m:ctrlPr>
                                      <a:rPr lang="en-US" sz="1800" i="1">
                                        <a:latin typeface="Cambria Math" panose="02040503050406030204" pitchFamily="18" charset="0"/>
                                      </a:rPr>
                                    </m:ctrlPr>
                                  </m:sSubPr>
                                  <m:e>
                                    <m:r>
                                      <a:rPr lang="en-US" sz="1800" b="0" i="1" smtClean="0">
                                        <a:latin typeface="Cambria Math" panose="02040503050406030204" pitchFamily="18" charset="0"/>
                                      </a:rPr>
                                      <m:t>𝑏</m:t>
                                    </m:r>
                                  </m:e>
                                  <m:sub>
                                    <m:r>
                                      <a:rPr lang="en-US" sz="1800" i="1">
                                        <a:latin typeface="Cambria Math" panose="02040503050406030204" pitchFamily="18" charset="0"/>
                                      </a:rPr>
                                      <m:t>(1,1)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(1,</m:t>
                                    </m:r>
                                    <m:r>
                                      <a:rPr lang="en-US" sz="1800" b="0" i="1" smtClean="0">
                                        <a:latin typeface="Cambria Math" panose="02040503050406030204" pitchFamily="18" charset="0"/>
                                      </a:rPr>
                                      <m:t>2</m:t>
                                    </m:r>
                                    <m:r>
                                      <a:rPr lang="en-US" sz="1800" i="1">
                                        <a:latin typeface="Cambria Math" panose="02040503050406030204" pitchFamily="18" charset="0"/>
                                      </a:rPr>
                                      <m:t>)</m:t>
                                    </m:r>
                                  </m:sub>
                                </m:sSub>
                              </m:e>
                            </m:mr>
                            <m:mr>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sub>
                                </m:sSub>
                              </m:e>
                            </m:mr>
                            <m:mr>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m:t>
                                    </m:r>
                                    <m:r>
                                      <a:rPr lang="en-US" sz="1800" b="0" i="1" smtClean="0">
                                        <a:latin typeface="Cambria Math" panose="02040503050406030204" pitchFamily="18" charset="0"/>
                                      </a:rPr>
                                      <m:t>3</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m:t>
                                    </m:r>
                                    <m:r>
                                      <a:rPr lang="en-US" sz="1800" b="0" i="1" smtClean="0">
                                        <a:latin typeface="Cambria Math" panose="02040503050406030204" pitchFamily="18" charset="0"/>
                                      </a:rPr>
                                      <m:t>3</m:t>
                                    </m:r>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sub>
                                </m:sSub>
                              </m:e>
                            </m:mr>
                          </m:m>
                        </m:e>
                      </m:d>
                      <m:r>
                        <a:rPr lang="en-US" sz="1800" i="1">
                          <a:latin typeface="Cambria Math" panose="02040503050406030204" pitchFamily="18" charset="0"/>
                        </a:rPr>
                        <m:t>,</m:t>
                      </m:r>
                    </m:oMath>
                  </m:oMathPara>
                </a14:m>
                <a:endParaRPr lang="en-US" sz="1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𝐴</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𝐵</m:t>
                      </m:r>
                      <m:r>
                        <a:rPr lang="en-US" sz="1800" b="0" i="1" smtClean="0">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2"/>
                                    <m:mcJc m:val="center"/>
                                  </m:mcPr>
                                </m:mc>
                              </m:mcs>
                              <m:ctrlPr>
                                <a:rPr lang="en-US" sz="1800" i="1" smtClean="0">
                                  <a:latin typeface="Cambria Math" panose="02040503050406030204" pitchFamily="18" charset="0"/>
                                </a:rPr>
                              </m:ctrlPr>
                            </m:mPr>
                            <m:mr>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(1,1)</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(1,</m:t>
                                    </m:r>
                                    <m:r>
                                      <a:rPr lang="en-US" sz="1800" b="0" i="1" smtClean="0">
                                        <a:latin typeface="Cambria Math" panose="02040503050406030204" pitchFamily="18" charset="0"/>
                                      </a:rPr>
                                      <m:t>1</m:t>
                                    </m:r>
                                    <m:r>
                                      <a:rPr lang="en-US" sz="1800" i="1">
                                        <a:latin typeface="Cambria Math" panose="02040503050406030204" pitchFamily="18" charset="0"/>
                                      </a:rPr>
                                      <m:t>)</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(1,2)</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(2,</m:t>
                                    </m:r>
                                    <m:r>
                                      <a:rPr lang="en-US" sz="1800" b="0" i="1" smtClean="0">
                                        <a:latin typeface="Cambria Math" panose="02040503050406030204" pitchFamily="18" charset="0"/>
                                      </a:rPr>
                                      <m:t>1</m:t>
                                    </m:r>
                                    <m:r>
                                      <a:rPr lang="en-US" sz="1800" i="1">
                                        <a:latin typeface="Cambria Math" panose="02040503050406030204" pitchFamily="18" charset="0"/>
                                      </a:rPr>
                                      <m:t>)</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(1,3)</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(3,</m:t>
                                    </m:r>
                                    <m:r>
                                      <a:rPr lang="en-US" sz="1800" b="0" i="1" smtClean="0">
                                        <a:latin typeface="Cambria Math" panose="02040503050406030204" pitchFamily="18" charset="0"/>
                                      </a:rPr>
                                      <m:t>1</m:t>
                                    </m:r>
                                    <m:r>
                                      <a:rPr lang="en-US" sz="1800" i="1">
                                        <a:latin typeface="Cambria Math" panose="02040503050406030204" pitchFamily="18" charset="0"/>
                                      </a:rPr>
                                      <m:t>)</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(1,1)</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(1,2)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(1,2)</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(2,2)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(1,3)</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(3,2)</m:t>
                                    </m:r>
                                  </m:sub>
                                </m:sSub>
                              </m:e>
                            </m:mr>
                            <m:mr>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,1)</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(1,1)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,2)</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(2,1)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,3)</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(3,1)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,1)</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(1,2)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,2)</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(2,2)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,3)</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(3,2)</m:t>
                                    </m:r>
                                  </m:sub>
                                </m:sSub>
                              </m:e>
                            </m:mr>
                          </m:m>
                        </m:e>
                      </m:d>
                    </m:oMath>
                  </m:oMathPara>
                </a14:m>
                <a:endParaRPr lang="en-US" sz="1800" dirty="0"/>
              </a:p>
            </p:txBody>
          </p:sp>
        </mc:Choice>
        <mc:Fallback xmlns="">
          <p:sp>
            <p:nvSpPr>
              <p:cNvPr id="5" name="TextBox 4">
                <a:extLst>
                  <a:ext uri="{FF2B5EF4-FFF2-40B4-BE49-F238E27FC236}">
                    <a16:creationId xmlns:a16="http://schemas.microsoft.com/office/drawing/2014/main" id="{63700FA3-D0F5-A29B-4E46-CFD929A46FE7}"/>
                  </a:ext>
                </a:extLst>
              </p:cNvPr>
              <p:cNvSpPr txBox="1">
                <a:spLocks noRot="1" noChangeAspect="1" noMove="1" noResize="1" noEditPoints="1" noAdjustHandles="1" noChangeArrowheads="1" noChangeShapeType="1" noTextEdit="1"/>
              </p:cNvSpPr>
              <p:nvPr/>
            </p:nvSpPr>
            <p:spPr>
              <a:xfrm>
                <a:off x="1481724" y="4648200"/>
                <a:ext cx="10210800" cy="1626279"/>
              </a:xfrm>
              <a:prstGeom prst="rect">
                <a:avLst/>
              </a:prstGeom>
              <a:blipFill>
                <a:blip r:embed="rId3"/>
                <a:stretch>
                  <a:fillRect b="-781"/>
                </a:stretch>
              </a:blipFill>
            </p:spPr>
            <p:txBody>
              <a:bodyPr/>
              <a:lstStyle/>
              <a:p>
                <a:r>
                  <a:rPr lang="en-US">
                    <a:noFill/>
                  </a:rPr>
                  <a:t> </a:t>
                </a:r>
              </a:p>
            </p:txBody>
          </p:sp>
        </mc:Fallback>
      </mc:AlternateContent>
    </p:spTree>
    <p:extLst>
      <p:ext uri="{BB962C8B-B14F-4D97-AF65-F5344CB8AC3E}">
        <p14:creationId xmlns:p14="http://schemas.microsoft.com/office/powerpoint/2010/main" val="4083051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(matrices)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4953000"/>
              </a:xfrm>
            </p:spPr>
            <p:txBody>
              <a:bodyPr>
                <a:normAutofit/>
              </a:bodyPr>
              <a:lstStyle/>
              <a:p>
                <a:pPr marL="514350" indent="-514350">
                  <a:buFont typeface="+mj-lt"/>
                  <a:buAutoNum type="arabicPeriod" startAt="3"/>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Matrix multiplication</a:t>
                </a:r>
              </a:p>
              <a:p>
                <a:pPr marL="0" indent="0">
                  <a:buNone/>
                </a:pP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Let’s define two functions that can be applied over a matrix (</a:t>
                </a:r>
                <a:r>
                  <a:rPr lang="en-US" sz="2000" b="1" i="1" dirty="0">
                    <a:solidFill>
                      <a:schemeClr val="bg1"/>
                    </a:solidFill>
                    <a:latin typeface="Arial" panose="020B0604020202020204" pitchFamily="34" charset="0"/>
                    <a:cs typeface="Arial" panose="020B0604020202020204" pitchFamily="34" charset="0"/>
                    <a:sym typeface="Symbol" panose="05050102010706020507" pitchFamily="18" charset="2"/>
                  </a:rPr>
                  <a:t>col</a:t>
                </a:r>
                <a:r>
                  <a:rPr lang="en-US" sz="2000" i="1"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and </a:t>
                </a:r>
                <a:r>
                  <a:rPr lang="en-US" sz="2000" b="1" i="1" dirty="0">
                    <a:solidFill>
                      <a:schemeClr val="bg1"/>
                    </a:solidFill>
                    <a:latin typeface="Arial" panose="020B0604020202020204" pitchFamily="34" charset="0"/>
                    <a:cs typeface="Arial" panose="020B0604020202020204" pitchFamily="34" charset="0"/>
                    <a:sym typeface="Symbol" panose="05050102010706020507" pitchFamily="18" charset="2"/>
                  </a:rPr>
                  <a:t>row </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that create a vector out of a column or a row from a matrix.). </a:t>
                </a:r>
              </a:p>
              <a:p>
                <a:pPr marL="0" indent="0">
                  <a:buNone/>
                </a:pP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Let's consider the matrix A with size “</a:t>
                </a:r>
                <a:r>
                  <a:rPr lang="en-US" sz="2000" b="1" i="1" dirty="0">
                    <a:solidFill>
                      <a:schemeClr val="bg1"/>
                    </a:solidFill>
                    <a:latin typeface="Arial" panose="020B0604020202020204" pitchFamily="34" charset="0"/>
                    <a:cs typeface="Arial" panose="020B0604020202020204" pitchFamily="34" charset="0"/>
                    <a:sym typeface="Symbol" panose="05050102010706020507" pitchFamily="18" charset="2"/>
                  </a:rPr>
                  <a:t>n</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 x </a:t>
                </a:r>
                <a:r>
                  <a:rPr lang="en-US" sz="2000" b="1" i="1" dirty="0">
                    <a:solidFill>
                      <a:schemeClr val="bg1"/>
                    </a:solidFill>
                    <a:latin typeface="Arial" panose="020B0604020202020204" pitchFamily="34" charset="0"/>
                    <a:cs typeface="Arial" panose="020B0604020202020204" pitchFamily="34" charset="0"/>
                    <a:sym typeface="Symbol" panose="05050102010706020507" pitchFamily="18" charset="2"/>
                  </a:rPr>
                  <a:t>m</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  </a:t>
                </a:r>
              </a:p>
              <a:p>
                <a:pPr marL="0" indent="0">
                  <a:buNone/>
                </a:pPr>
                <a:endParaRPr lang="en-US" dirty="0">
                  <a:solidFill>
                    <a:schemeClr val="tx2"/>
                  </a:solidFill>
                  <a:latin typeface="Arial" panose="020B0604020202020204" pitchFamily="34" charset="0"/>
                  <a:cs typeface="Arial" panose="020B0604020202020204" pitchFamily="34"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𝐴</m:t>
                      </m:r>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𝑎</m:t>
                                    </m:r>
                                  </m:e>
                                  <m:sub>
                                    <m:d>
                                      <m:d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d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1,1</m:t>
                                        </m:r>
                                      </m:e>
                                    </m:d>
                                  </m:sub>
                                </m:sSub>
                              </m:e>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𝑎</m:t>
                                    </m:r>
                                  </m:e>
                                  <m:sub>
                                    <m:d>
                                      <m:d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d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1,</m:t>
                                        </m:r>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𝑚</m:t>
                                        </m:r>
                                      </m:e>
                                    </m:d>
                                  </m:sub>
                                </m:sSub>
                              </m:e>
                            </m:mr>
                            <m:m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e>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e>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𝑎</m:t>
                                    </m:r>
                                  </m:e>
                                  <m:sub>
                                    <m:d>
                                      <m:d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d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𝑛</m:t>
                                        </m:r>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,1</m:t>
                                        </m:r>
                                      </m:e>
                                    </m:d>
                                  </m:sub>
                                </m:sSub>
                              </m:e>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𝑎</m:t>
                                    </m:r>
                                  </m:e>
                                  <m:sub>
                                    <m:d>
                                      <m:d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d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𝑛</m:t>
                                        </m:r>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𝑚</m:t>
                                        </m:r>
                                      </m:e>
                                    </m:d>
                                  </m:sub>
                                </m:sSub>
                              </m:e>
                            </m:mr>
                          </m:m>
                        </m:e>
                      </m:d>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sSub>
                        <m:sSub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𝑐𝑜𝑙</m:t>
                          </m:r>
                        </m:e>
                        <m:sub>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𝑖</m:t>
                          </m:r>
                        </m:sub>
                      </m:sSub>
                      <m:d>
                        <m:dPr>
                          <m:ctrlP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d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𝐴</m:t>
                          </m:r>
                        </m:e>
                      </m:d>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b="0" i="1" smtClean="0">
                              <a:solidFill>
                                <a:schemeClr val="tx2"/>
                              </a:solidFill>
                              <a:latin typeface="Cambria Math" panose="02040503050406030204" pitchFamily="18" charset="0"/>
                              <a:cs typeface="Arial" panose="020B0604020202020204" pitchFamily="34" charset="0"/>
                              <a:sym typeface="Symbol" panose="05050102010706020507" pitchFamily="18" charset="2"/>
                            </a:rPr>
                          </m:ctrlPr>
                        </m:dPr>
                        <m:e>
                          <m:eqArr>
                            <m:eqArrPr>
                              <m:ctrlPr>
                                <a:rPr lang="en-US" b="0" i="1" smtClean="0">
                                  <a:solidFill>
                                    <a:schemeClr val="tx2"/>
                                  </a:solidFill>
                                  <a:latin typeface="Cambria Math" panose="02040503050406030204" pitchFamily="18" charset="0"/>
                                  <a:cs typeface="Arial" panose="020B0604020202020204" pitchFamily="34" charset="0"/>
                                  <a:sym typeface="Symbol" panose="05050102010706020507" pitchFamily="18" charset="2"/>
                                </a:rPr>
                              </m:ctrlPr>
                            </m:eqArr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sub>
                              </m:sSub>
                            </m:e>
                            <m:e>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r>
                                    <a:rPr lang="en-US" b="0" i="1" smtClean="0">
                                      <a:latin typeface="Cambria Math" panose="02040503050406030204" pitchFamily="18" charset="0"/>
                                    </a:rPr>
                                    <m:t>𝑖</m:t>
                                  </m:r>
                                  <m:r>
                                    <a:rPr lang="en-US" b="0" i="1" smtClean="0">
                                      <a:latin typeface="Cambria Math" panose="02040503050406030204" pitchFamily="18" charset="0"/>
                                    </a:rPr>
                                    <m:t>)</m:t>
                                  </m:r>
                                </m:sub>
                              </m:sSub>
                            </m:e>
                            <m:e>
                              <m:r>
                                <a:rPr lang="en-US" i="1" smtClean="0">
                                  <a:latin typeface="Cambria Math" panose="02040503050406030204" pitchFamily="18" charset="0"/>
                                  <a:ea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m:t>
                                  </m:r>
                                  <m:r>
                                    <a:rPr lang="en-US" b="0" i="1" smtClean="0">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sub>
                              </m:sSub>
                            </m:e>
                          </m:eqArr>
                        </m:e>
                      </m:d>
                      <m:r>
                        <a:rPr lang="en-US" b="0" i="1" smtClean="0">
                          <a:solidFill>
                            <a:schemeClr val="tx2"/>
                          </a:solidFill>
                          <a:latin typeface="Cambria Math" panose="02040503050406030204" pitchFamily="18" charset="0"/>
                          <a:cs typeface="Arial" panose="020B0604020202020204" pitchFamily="34" charset="0"/>
                          <a:sym typeface="Symbol" panose="05050102010706020507" pitchFamily="18" charset="2"/>
                        </a:rPr>
                        <m:t>,</m:t>
                      </m:r>
                      <m:sSub>
                        <m:sSubPr>
                          <m:ctrlPr>
                            <a:rPr lang="en-US" i="1" smtClean="0">
                              <a:solidFill>
                                <a:schemeClr val="tx1"/>
                              </a:solidFill>
                              <a:latin typeface="Cambria Math" panose="02040503050406030204" pitchFamily="18" charset="0"/>
                              <a:cs typeface="Arial" panose="020B0604020202020204" pitchFamily="34" charset="0"/>
                              <a:sym typeface="Symbol" panose="05050102010706020507" pitchFamily="18" charset="2"/>
                            </a:rPr>
                          </m:ctrlPr>
                        </m:sSubPr>
                        <m:e>
                          <m:r>
                            <a:rPr lang="en-US" b="0" i="1" smtClean="0">
                              <a:solidFill>
                                <a:schemeClr val="tx1"/>
                              </a:solidFill>
                              <a:latin typeface="Cambria Math" panose="02040503050406030204" pitchFamily="18" charset="0"/>
                              <a:cs typeface="Arial" panose="020B0604020202020204" pitchFamily="34" charset="0"/>
                              <a:sym typeface="Symbol" panose="05050102010706020507" pitchFamily="18" charset="2"/>
                            </a:rPr>
                            <m:t>𝑟𝑜𝑤</m:t>
                          </m:r>
                        </m:e>
                        <m:sub>
                          <m:r>
                            <a:rPr lang="en-US" i="1">
                              <a:solidFill>
                                <a:schemeClr val="tx1"/>
                              </a:solidFill>
                              <a:latin typeface="Cambria Math" panose="02040503050406030204" pitchFamily="18" charset="0"/>
                              <a:cs typeface="Arial" panose="020B0604020202020204" pitchFamily="34" charset="0"/>
                              <a:sym typeface="Symbol" panose="05050102010706020507" pitchFamily="18" charset="2"/>
                            </a:rPr>
                            <m:t>𝑖</m:t>
                          </m:r>
                        </m:sub>
                      </m:sSub>
                      <m:d>
                        <m:dPr>
                          <m:ctrlPr>
                            <a:rPr lang="en-US" i="1">
                              <a:solidFill>
                                <a:schemeClr val="tx1"/>
                              </a:solidFill>
                              <a:latin typeface="Cambria Math" panose="02040503050406030204" pitchFamily="18" charset="0"/>
                              <a:cs typeface="Arial" panose="020B0604020202020204" pitchFamily="34" charset="0"/>
                              <a:sym typeface="Symbol" panose="05050102010706020507" pitchFamily="18" charset="2"/>
                            </a:rPr>
                          </m:ctrlPr>
                        </m:dPr>
                        <m:e>
                          <m:r>
                            <a:rPr lang="en-US" i="1">
                              <a:solidFill>
                                <a:schemeClr val="tx1"/>
                              </a:solidFill>
                              <a:latin typeface="Cambria Math" panose="02040503050406030204" pitchFamily="18" charset="0"/>
                              <a:cs typeface="Arial" panose="020B0604020202020204" pitchFamily="34" charset="0"/>
                              <a:sym typeface="Symbol" panose="05050102010706020507" pitchFamily="18" charset="2"/>
                            </a:rPr>
                            <m:t>𝐴</m:t>
                          </m:r>
                        </m:e>
                      </m:d>
                      <m:r>
                        <a:rPr lang="en-US" i="1">
                          <a:solidFill>
                            <a:schemeClr val="tx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i="1">
                              <a:solidFill>
                                <a:schemeClr val="tx2"/>
                              </a:solidFill>
                              <a:latin typeface="Cambria Math" panose="02040503050406030204" pitchFamily="18" charset="0"/>
                              <a:cs typeface="Arial" panose="020B0604020202020204" pitchFamily="34" charset="0"/>
                              <a:sym typeface="Symbol" panose="05050102010706020507" pitchFamily="18" charset="2"/>
                            </a:rPr>
                          </m:ctrlPr>
                        </m:dPr>
                        <m:e>
                          <m:eqArr>
                            <m:eqArrPr>
                              <m:ctrlPr>
                                <a:rPr lang="en-US" i="1">
                                  <a:solidFill>
                                    <a:schemeClr val="tx2"/>
                                  </a:solidFill>
                                  <a:latin typeface="Cambria Math" panose="02040503050406030204" pitchFamily="18" charset="0"/>
                                  <a:cs typeface="Arial" panose="020B0604020202020204" pitchFamily="34" charset="0"/>
                                  <a:sym typeface="Symbol" panose="05050102010706020507" pitchFamily="18" charset="2"/>
                                </a:rPr>
                              </m:ctrlPr>
                            </m:eqArr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m:t>
                                  </m:r>
                                  <m:r>
                                    <a:rPr lang="en-US" b="0" i="1" smtClean="0">
                                      <a:latin typeface="Cambria Math" panose="02040503050406030204" pitchFamily="18" charset="0"/>
                                    </a:rPr>
                                    <m:t>𝑖</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m:t>
                                  </m:r>
                                </m:sub>
                              </m:sSub>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m:t>
                                  </m:r>
                                  <m:r>
                                    <a:rPr lang="en-US" b="0" i="1" smtClean="0">
                                      <a:latin typeface="Cambria Math" panose="02040503050406030204" pitchFamily="18" charset="0"/>
                                    </a:rPr>
                                    <m:t>𝑖</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sub>
                              </m:sSub>
                            </m:e>
                            <m:e>
                              <m:r>
                                <a:rPr lang="en-US" i="1">
                                  <a:latin typeface="Cambria Math" panose="02040503050406030204" pitchFamily="18" charset="0"/>
                                  <a:ea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m:t>
                                  </m:r>
                                  <m:r>
                                    <a:rPr lang="en-US" b="0" i="1" smtClean="0">
                                      <a:latin typeface="Cambria Math" panose="02040503050406030204" pitchFamily="18" charset="0"/>
                                    </a:rPr>
                                    <m:t>𝑖</m:t>
                                  </m:r>
                                  <m:r>
                                    <a:rPr lang="en-US" i="1">
                                      <a:latin typeface="Cambria Math" panose="02040503050406030204" pitchFamily="18" charset="0"/>
                                    </a:rPr>
                                    <m:t>,</m:t>
                                  </m:r>
                                  <m:r>
                                    <a:rPr lang="en-US" b="0" i="1" smtClean="0">
                                      <a:latin typeface="Cambria Math" panose="02040503050406030204" pitchFamily="18" charset="0"/>
                                    </a:rPr>
                                    <m:t>𝑚</m:t>
                                  </m:r>
                                  <m:r>
                                    <a:rPr lang="en-US" i="1">
                                      <a:latin typeface="Cambria Math" panose="02040503050406030204" pitchFamily="18" charset="0"/>
                                    </a:rPr>
                                    <m:t>)</m:t>
                                  </m:r>
                                </m:sub>
                              </m:sSub>
                            </m:e>
                          </m:eqArr>
                        </m:e>
                      </m:d>
                    </m:oMath>
                  </m:oMathPara>
                </a14:m>
                <a:endParaRPr lang="en-US" b="0" i="1" dirty="0">
                  <a:solidFill>
                    <a:schemeClr val="tx2"/>
                  </a:solidFill>
                  <a:latin typeface="Cambria Math" panose="02040503050406030204" pitchFamily="18" charset="0"/>
                  <a:cs typeface="Arial" panose="020B0604020202020204" pitchFamily="34" charset="0"/>
                  <a:sym typeface="Symbol" panose="05050102010706020507" pitchFamily="18" charset="2"/>
                </a:endParaRPr>
              </a:p>
              <a:p>
                <a:pPr marL="0" indent="0">
                  <a:buNone/>
                </a:pPr>
                <a:endParaRPr lang="en-US" sz="1800" b="0" i="1" dirty="0">
                  <a:solidFill>
                    <a:schemeClr val="tx2"/>
                  </a:solidFill>
                  <a:latin typeface="Cambria Math" panose="02040503050406030204" pitchFamily="18" charset="0"/>
                  <a:cs typeface="Arial" panose="020B0604020202020204" pitchFamily="34"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4953000"/>
              </a:xfrm>
              <a:blipFill>
                <a:blip r:embed="rId2"/>
                <a:stretch>
                  <a:fillRect l="-635"/>
                </a:stretch>
              </a:blipFill>
            </p:spPr>
            <p:txBody>
              <a:bodyPr/>
              <a:lstStyle/>
              <a:p>
                <a:r>
                  <a:rPr lang="en-US">
                    <a:noFill/>
                  </a:rPr>
                  <a:t> </a:t>
                </a:r>
              </a:p>
            </p:txBody>
          </p:sp>
        </mc:Fallback>
      </mc:AlternateContent>
    </p:spTree>
    <p:extLst>
      <p:ext uri="{BB962C8B-B14F-4D97-AF65-F5344CB8AC3E}">
        <p14:creationId xmlns:p14="http://schemas.microsoft.com/office/powerpoint/2010/main" val="2329214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4783-E279-63F3-E1A2-C855631F364F}"/>
              </a:ext>
            </a:extLst>
          </p:cNvPr>
          <p:cNvSpPr>
            <a:spLocks noGrp="1"/>
          </p:cNvSpPr>
          <p:nvPr>
            <p:ph type="title"/>
          </p:nvPr>
        </p:nvSpPr>
        <p:spPr/>
        <p:txBody>
          <a:bodyPr/>
          <a:lstStyle/>
          <a:p>
            <a:r>
              <a:rPr lang="en-US" dirty="0"/>
              <a:t>Basic operations (matrices)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FBEF0B-7F7B-FEB6-2C6C-6E02CB7E85B2}"/>
                  </a:ext>
                </a:extLst>
              </p:cNvPr>
              <p:cNvSpPr>
                <a:spLocks noGrp="1"/>
              </p:cNvSpPr>
              <p:nvPr>
                <p:ph idx="1"/>
              </p:nvPr>
            </p:nvSpPr>
            <p:spPr>
              <a:xfrm>
                <a:off x="1593436" y="1600200"/>
                <a:ext cx="9987376" cy="4953000"/>
              </a:xfrm>
            </p:spPr>
            <p:txBody>
              <a:bodyPr>
                <a:normAutofit/>
              </a:bodyPr>
              <a:lstStyle/>
              <a:p>
                <a:pPr marL="514350" indent="-514350">
                  <a:buFont typeface="+mj-lt"/>
                  <a:buAutoNum type="arabicPeriod" startAt="3"/>
                </a:pPr>
                <a:r>
                  <a:rPr lang="en-US" b="1" dirty="0">
                    <a:solidFill>
                      <a:schemeClr val="bg1"/>
                    </a:solidFill>
                    <a:latin typeface="Arial" panose="020B0604020202020204" pitchFamily="34" charset="0"/>
                    <a:cs typeface="Arial" panose="020B0604020202020204" pitchFamily="34" charset="0"/>
                    <a:sym typeface="Symbol" panose="05050102010706020507" pitchFamily="18" charset="2"/>
                  </a:rPr>
                  <a:t>Matrix multiplication</a:t>
                </a:r>
              </a:p>
              <a:p>
                <a:pPr marL="0" indent="0">
                  <a:buNone/>
                </a:pP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Then, we can write the matrix multiplication using the dot product of two vectors:</a:t>
                </a:r>
                <a:b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br>
                <a:endParaRPr lang="en-US"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𝐴</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e>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𝑎</m:t>
                                    </m:r>
                                  </m:e>
                                  <m:sub>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𝑛</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𝐵</m:t>
                      </m:r>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d>
                        <m:dPr>
                          <m:begChr m:val="["/>
                          <m:endChr m:val="]"/>
                          <m:ctrlP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3"/>
                                    <m:mcJc m:val="center"/>
                                  </m:mcPr>
                                </m:mc>
                              </m:mcs>
                              <m:ctrlP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(1,1)</m:t>
                                    </m:r>
                                  </m:sub>
                                </m:sSub>
                              </m:e>
                              <m:e>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(1,</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𝑝</m:t>
                                    </m:r>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r>
                              <m:e>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e>
                            </m:mr>
                            <m:mr>
                              <m:e>
                                <m:sSub>
                                  <m:sSubPr>
                                    <m:ctrlP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,1)</m:t>
                                    </m:r>
                                  </m:sub>
                                </m:sSub>
                              </m:e>
                              <m:e>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e>
                              <m:e>
                                <m:sSub>
                                  <m:sSubPr>
                                    <m:ctrlP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𝑏</m:t>
                                    </m:r>
                                  </m:e>
                                  <m:sub>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𝑚</m:t>
                                    </m:r>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𝑝</m:t>
                                    </m:r>
                                    <m:r>
                                      <a:rPr lang="en-US" sz="2000" i="1">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e>
                            </m:mr>
                          </m:m>
                        </m:e>
                      </m:d>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oMath>
                  </m:oMathPara>
                </a14:m>
                <a:endParaRPr lang="en-US" sz="2000" b="0" i="1" dirty="0">
                  <a:solidFill>
                    <a:schemeClr val="bg1"/>
                  </a:solidFill>
                  <a:latin typeface="Cambria Math" panose="02040503050406030204" pitchFamily="18" charset="0"/>
                  <a:cs typeface="Arial" panose="020B0604020202020204" pitchFamily="34" charset="0"/>
                  <a:sym typeface="Symbol" panose="05050102010706020507" pitchFamily="18" charset="2"/>
                </a:endParaRPr>
              </a:p>
              <a:p>
                <a:pPr marL="0" indent="0">
                  <a:buNone/>
                </a:pPr>
                <a:endParaRPr lang="en-US" sz="2000" b="0" i="1" dirty="0">
                  <a:solidFill>
                    <a:schemeClr val="bg1"/>
                  </a:solidFill>
                  <a:latin typeface="Cambria Math" panose="02040503050406030204" pitchFamily="18" charset="0"/>
                  <a:cs typeface="Arial" panose="020B0604020202020204" pitchFamily="34"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𝐴</m:t>
                      </m:r>
                      <m: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𝐵</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𝐶</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𝑤𝑖𝑡h</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sSub>
                        <m:sSubPr>
                          <m:ctrlP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𝐶</m:t>
                          </m:r>
                        </m:e>
                        <m:sub>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𝑖</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𝑗</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b>
                      </m:sSub>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Sub>
                        <m:sSubPr>
                          <m:ctrlP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𝑟𝑜𝑤</m:t>
                          </m:r>
                        </m:e>
                        <m:sub>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𝑖</m:t>
                          </m:r>
                        </m:sub>
                      </m:sSub>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𝐴</m:t>
                      </m:r>
                      <m:r>
                        <a:rPr lang="en-US"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Sub>
                        <m:sSubPr>
                          <m:ctrlP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𝑐𝑜𝑙</m:t>
                          </m:r>
                        </m:e>
                        <m:sub>
                          <m: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𝑗</m:t>
                          </m:r>
                        </m:sub>
                      </m:sSub>
                      <m: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𝐵</m:t>
                      </m:r>
                      <m: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m:oMathPara>
                </a14:m>
                <a:endParaRPr lang="en-US" sz="2000" b="1" dirty="0">
                  <a:solidFill>
                    <a:schemeClr val="bg1"/>
                  </a:solidFill>
                  <a:latin typeface="Arial" panose="020B0604020202020204" pitchFamily="34" charset="0"/>
                  <a:cs typeface="Arial" panose="020B0604020202020204" pitchFamily="34" charset="0"/>
                  <a:sym typeface="Symbol" panose="05050102010706020507" pitchFamily="18" charset="2"/>
                </a:endParaRPr>
              </a:p>
              <a:p>
                <a:pPr marL="0" indent="0">
                  <a:buNone/>
                </a:pPr>
                <a:endParaRPr lang="en-US" b="0" i="1" dirty="0">
                  <a:solidFill>
                    <a:schemeClr val="bg1"/>
                  </a:solidFill>
                  <a:latin typeface="Cambria Math" panose="02040503050406030204" pitchFamily="18" charset="0"/>
                  <a:cs typeface="Arial" panose="020B0604020202020204" pitchFamily="34" charset="0"/>
                  <a:sym typeface="Symbol" panose="05050102010706020507" pitchFamily="18" charset="2"/>
                </a:endParaRPr>
              </a:p>
              <a:p>
                <a:pPr marL="0" indent="0">
                  <a:buNone/>
                </a:pPr>
                <a:endParaRPr lang="en-US" sz="1800" b="0" i="1" dirty="0">
                  <a:solidFill>
                    <a:schemeClr val="bg1"/>
                  </a:solidFill>
                  <a:latin typeface="Cambria Math" panose="02040503050406030204" pitchFamily="18" charset="0"/>
                  <a:cs typeface="Arial" panose="020B0604020202020204" pitchFamily="34"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7AFBEF0B-7F7B-FEB6-2C6C-6E02CB7E85B2}"/>
                  </a:ext>
                </a:extLst>
              </p:cNvPr>
              <p:cNvSpPr>
                <a:spLocks noGrp="1" noRot="1" noChangeAspect="1" noMove="1" noResize="1" noEditPoints="1" noAdjustHandles="1" noChangeArrowheads="1" noChangeShapeType="1" noTextEdit="1"/>
              </p:cNvSpPr>
              <p:nvPr>
                <p:ph idx="1"/>
              </p:nvPr>
            </p:nvSpPr>
            <p:spPr>
              <a:xfrm>
                <a:off x="1593436" y="1600200"/>
                <a:ext cx="9987376" cy="4953000"/>
              </a:xfrm>
              <a:blipFill>
                <a:blip r:embed="rId2"/>
                <a:stretch>
                  <a:fillRect l="-63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6F6B3D1D-A077-07C1-F018-7D92EA924998}"/>
              </a:ext>
            </a:extLst>
          </p:cNvPr>
          <p:cNvSpPr txBox="1"/>
          <p:nvPr/>
        </p:nvSpPr>
        <p:spPr>
          <a:xfrm>
            <a:off x="1714436" y="4659868"/>
            <a:ext cx="6093968" cy="369332"/>
          </a:xfrm>
          <a:prstGeom prst="rect">
            <a:avLst/>
          </a:prstGeom>
          <a:noFill/>
        </p:spPr>
        <p:txBody>
          <a:bodyPr wrap="square">
            <a:spAutoFit/>
          </a:bodyPr>
          <a:lstStyle/>
          <a:p>
            <a:pPr marL="0" indent="0">
              <a:buNone/>
            </a:pPr>
            <a:r>
              <a:rPr lang="en-US" sz="1800" b="1" dirty="0">
                <a:solidFill>
                  <a:schemeClr val="bg1"/>
                </a:solidFill>
                <a:latin typeface="Arial" panose="020B0604020202020204" pitchFamily="34" charset="0"/>
                <a:cs typeface="Arial" panose="020B0604020202020204" pitchFamily="34" charset="0"/>
                <a:sym typeface="Symbol" panose="05050102010706020507" pitchFamily="18" charset="2"/>
              </a:rPr>
              <a:t>Example (2 x 3 matrix with a 3 x 2 matrix):</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70C332C-78B2-C0CB-F606-4F4F1A1967D0}"/>
                  </a:ext>
                </a:extLst>
              </p:cNvPr>
              <p:cNvSpPr txBox="1"/>
              <p:nvPr/>
            </p:nvSpPr>
            <p:spPr>
              <a:xfrm>
                <a:off x="1481724" y="5029200"/>
                <a:ext cx="10210800" cy="10098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𝐴</m:t>
                      </m:r>
                      <m:r>
                        <a:rPr lang="en-US" sz="1800" b="0" i="1" smtClean="0">
                          <a:latin typeface="Cambria Math" panose="02040503050406030204" pitchFamily="18" charset="0"/>
                        </a:rPr>
                        <m:t>= </m:t>
                      </m:r>
                      <m:d>
                        <m:dPr>
                          <m:begChr m:val="["/>
                          <m:endChr m:val="]"/>
                          <m:ctrlPr>
                            <a:rPr lang="en-US" sz="1800" i="1" smtClean="0">
                              <a:latin typeface="Cambria Math" panose="02040503050406030204" pitchFamily="18" charset="0"/>
                            </a:rPr>
                          </m:ctrlPr>
                        </m:dPr>
                        <m:e>
                          <m:m>
                            <m:mPr>
                              <m:mcs>
                                <m:mc>
                                  <m:mcPr>
                                    <m:count m:val="3"/>
                                    <m:mcJc m:val="center"/>
                                  </m:mcPr>
                                </m:mc>
                              </m:mcs>
                              <m:ctrlPr>
                                <a:rPr lang="en-US" sz="1800" i="1" smtClean="0">
                                  <a:latin typeface="Cambria Math" panose="02040503050406030204" pitchFamily="18" charset="0"/>
                                </a:rPr>
                              </m:ctrlPr>
                            </m:mPr>
                            <m:m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(1,1)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m:t>
                                    </m:r>
                                    <m:r>
                                      <a:rPr lang="en-US" sz="1800" b="0" i="1" smtClean="0">
                                        <a:latin typeface="Cambria Math" panose="02040503050406030204" pitchFamily="18" charset="0"/>
                                      </a:rPr>
                                      <m:t>2</m:t>
                                    </m:r>
                                    <m:r>
                                      <a:rPr lang="en-US" sz="1800" i="1">
                                        <a:latin typeface="Cambria Math" panose="02040503050406030204" pitchFamily="18" charset="0"/>
                                      </a:rPr>
                                      <m:t>)</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(1,</m:t>
                                    </m:r>
                                    <m:r>
                                      <a:rPr lang="en-US" sz="1800" b="0" i="1" smtClean="0">
                                        <a:latin typeface="Cambria Math" panose="02040503050406030204" pitchFamily="18" charset="0"/>
                                      </a:rPr>
                                      <m:t>3</m:t>
                                    </m:r>
                                    <m:r>
                                      <a:rPr lang="en-US" sz="1800" i="1">
                                        <a:latin typeface="Cambria Math" panose="02040503050406030204" pitchFamily="18" charset="0"/>
                                      </a:rPr>
                                      <m:t>)</m:t>
                                    </m:r>
                                  </m:sub>
                                </m:sSub>
                              </m:e>
                            </m:mr>
                            <m:mr>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r>
                                      <a:rPr lang="en-US" sz="1800" b="0" i="1" smtClean="0">
                                        <a:latin typeface="Cambria Math" panose="02040503050406030204" pitchFamily="18" charset="0"/>
                                      </a:rPr>
                                      <m:t>3</m:t>
                                    </m:r>
                                    <m:r>
                                      <a:rPr lang="en-US" sz="1800" i="1">
                                        <a:latin typeface="Cambria Math" panose="02040503050406030204" pitchFamily="18" charset="0"/>
                                      </a:rPr>
                                      <m:t>)</m:t>
                                    </m:r>
                                  </m:sub>
                                </m:sSub>
                              </m:e>
                            </m:mr>
                          </m:m>
                        </m:e>
                      </m:d>
                      <m:r>
                        <a:rPr lang="en-US" sz="1800" b="0" i="1" smtClean="0">
                          <a:latin typeface="Cambria Math" panose="02040503050406030204" pitchFamily="18" charset="0"/>
                        </a:rPr>
                        <m:t>,</m:t>
                      </m:r>
                      <m:r>
                        <a:rPr lang="en-US" sz="1800" b="0" i="1" smtClean="0">
                          <a:latin typeface="Cambria Math" panose="02040503050406030204" pitchFamily="18" charset="0"/>
                        </a:rPr>
                        <m:t>𝐵</m:t>
                      </m:r>
                      <m:r>
                        <a:rPr lang="en-US" sz="1800" i="1">
                          <a:latin typeface="Cambria Math" panose="02040503050406030204" pitchFamily="18" charset="0"/>
                        </a:rPr>
                        <m:t>= </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sSub>
                                  <m:sSubPr>
                                    <m:ctrlPr>
                                      <a:rPr lang="en-US" sz="1800" i="1">
                                        <a:latin typeface="Cambria Math" panose="02040503050406030204" pitchFamily="18" charset="0"/>
                                      </a:rPr>
                                    </m:ctrlPr>
                                  </m:sSubPr>
                                  <m:e>
                                    <m:r>
                                      <a:rPr lang="en-US" sz="1800" b="0" i="1" smtClean="0">
                                        <a:latin typeface="Cambria Math" panose="02040503050406030204" pitchFamily="18" charset="0"/>
                                      </a:rPr>
                                      <m:t>𝑏</m:t>
                                    </m:r>
                                  </m:e>
                                  <m:sub>
                                    <m:r>
                                      <a:rPr lang="en-US" sz="1800" i="1">
                                        <a:latin typeface="Cambria Math" panose="02040503050406030204" pitchFamily="18" charset="0"/>
                                      </a:rPr>
                                      <m:t>(1,1)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(1,</m:t>
                                    </m:r>
                                    <m:r>
                                      <a:rPr lang="en-US" sz="1800" b="0" i="1" smtClean="0">
                                        <a:latin typeface="Cambria Math" panose="02040503050406030204" pitchFamily="18" charset="0"/>
                                      </a:rPr>
                                      <m:t>2</m:t>
                                    </m:r>
                                    <m:r>
                                      <a:rPr lang="en-US" sz="1800" i="1">
                                        <a:latin typeface="Cambria Math" panose="02040503050406030204" pitchFamily="18" charset="0"/>
                                      </a:rPr>
                                      <m:t>)</m:t>
                                    </m:r>
                                  </m:sub>
                                </m:sSub>
                              </m:e>
                            </m:mr>
                            <m:mr>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sub>
                                </m:sSub>
                              </m:e>
                            </m:mr>
                            <m:mr>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m:t>
                                    </m:r>
                                    <m:r>
                                      <a:rPr lang="en-US" sz="1800" b="0" i="1" smtClean="0">
                                        <a:latin typeface="Cambria Math" panose="02040503050406030204" pitchFamily="18" charset="0"/>
                                      </a:rPr>
                                      <m:t>3</m:t>
                                    </m:r>
                                    <m:r>
                                      <a:rPr lang="en-US" sz="1800" i="1">
                                        <a:latin typeface="Cambria Math" panose="02040503050406030204" pitchFamily="18" charset="0"/>
                                      </a:rPr>
                                      <m:t>,1)</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𝑏</m:t>
                                    </m:r>
                                  </m:e>
                                  <m:sub>
                                    <m:r>
                                      <a:rPr lang="en-US" sz="1800" i="1">
                                        <a:latin typeface="Cambria Math" panose="02040503050406030204" pitchFamily="18" charset="0"/>
                                      </a:rPr>
                                      <m:t>(</m:t>
                                    </m:r>
                                    <m:r>
                                      <a:rPr lang="en-US" sz="1800" b="0" i="1" smtClean="0">
                                        <a:latin typeface="Cambria Math" panose="02040503050406030204" pitchFamily="18" charset="0"/>
                                      </a:rPr>
                                      <m:t>3</m:t>
                                    </m:r>
                                    <m:r>
                                      <a:rPr lang="en-US" sz="1800" i="1">
                                        <a:latin typeface="Cambria Math" panose="02040503050406030204" pitchFamily="18" charset="0"/>
                                      </a:rPr>
                                      <m:t>,</m:t>
                                    </m:r>
                                    <m:r>
                                      <a:rPr lang="en-US" sz="1800" b="0" i="1" smtClean="0">
                                        <a:latin typeface="Cambria Math" panose="02040503050406030204" pitchFamily="18" charset="0"/>
                                      </a:rPr>
                                      <m:t>2</m:t>
                                    </m:r>
                                    <m:r>
                                      <a:rPr lang="en-US" sz="1800" i="1">
                                        <a:latin typeface="Cambria Math" panose="02040503050406030204" pitchFamily="18" charset="0"/>
                                      </a:rPr>
                                      <m:t>)</m:t>
                                    </m:r>
                                  </m:sub>
                                </m:sSub>
                              </m:e>
                            </m:mr>
                          </m:m>
                        </m:e>
                      </m:d>
                      <m:r>
                        <a:rPr lang="en-US" sz="1800" i="1">
                          <a:latin typeface="Cambria Math" panose="02040503050406030204" pitchFamily="18" charset="0"/>
                        </a:rPr>
                        <m:t>,</m:t>
                      </m:r>
                      <m:r>
                        <a:rPr lang="en-US" sz="1800" b="0" i="1" smtClean="0">
                          <a:latin typeface="Cambria Math" panose="02040503050406030204" pitchFamily="18" charset="0"/>
                        </a:rPr>
                        <m:t>𝐴</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𝐵</m:t>
                      </m:r>
                      <m:r>
                        <a:rPr lang="en-US" sz="1800" b="0" i="1" smtClean="0">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2"/>
                                    <m:mcJc m:val="center"/>
                                  </m:mcPr>
                                </m:mc>
                              </m:mcs>
                              <m:ctrlPr>
                                <a:rPr lang="en-US" sz="1800" i="1" smtClean="0">
                                  <a:latin typeface="Cambria Math" panose="02040503050406030204" pitchFamily="18" charset="0"/>
                                </a:rPr>
                              </m:ctrlPr>
                            </m:mPr>
                            <m:m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𝑟𝑜𝑤</m:t>
                                    </m:r>
                                  </m:e>
                                  <m:sub>
                                    <m:r>
                                      <a:rPr lang="en-US" sz="1800" b="0" i="1" smtClean="0">
                                        <a:latin typeface="Cambria Math" panose="02040503050406030204" pitchFamily="18" charset="0"/>
                                      </a:rPr>
                                      <m:t>1</m:t>
                                    </m:r>
                                  </m:sub>
                                </m:sSub>
                                <m:r>
                                  <m:rPr>
                                    <m:brk m:alnAt="7"/>
                                  </m:rPr>
                                  <a:rPr lang="en-US" sz="1800" b="0" i="1" smtClean="0">
                                    <a:latin typeface="Cambria Math" panose="02040503050406030204" pitchFamily="18" charset="0"/>
                                  </a:rPr>
                                  <m:t>(</m:t>
                                </m:r>
                                <m:r>
                                  <a:rPr lang="en-US" sz="1800" b="0" i="1" smtClean="0">
                                    <a:latin typeface="Cambria Math" panose="02040503050406030204" pitchFamily="18" charset="0"/>
                                  </a:rPr>
                                  <m:t>𝐴</m:t>
                                </m:r>
                                <m:r>
                                  <a:rPr lang="en-US" sz="1800" b="0" i="1" smtClean="0">
                                    <a:latin typeface="Cambria Math" panose="02040503050406030204" pitchFamily="18" charset="0"/>
                                  </a:rPr>
                                  <m:t>)∙</m:t>
                                </m:r>
                                <m:sSub>
                                  <m:sSubPr>
                                    <m:ctrlPr>
                                      <a:rPr lang="en-US"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𝑐𝑜𝑙</m:t>
                                    </m:r>
                                  </m:e>
                                  <m:sub>
                                    <m:r>
                                      <a:rPr lang="en-US" sz="1800" b="0" i="1" smtClean="0">
                                        <a:latin typeface="Cambria Math" panose="02040503050406030204" pitchFamily="18" charset="0"/>
                                        <a:ea typeface="Cambria Math" panose="02040503050406030204" pitchFamily="18" charset="0"/>
                                      </a:rPr>
                                      <m:t>1</m:t>
                                    </m:r>
                                  </m:sub>
                                </m:sSub>
                                <m:r>
                                  <m:rPr>
                                    <m:brk m:alnAt="7"/>
                                  </m:rP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𝐵</m:t>
                                </m:r>
                                <m:r>
                                  <a:rPr lang="en-US" sz="1800" b="0" i="1" smtClean="0">
                                    <a:latin typeface="Cambria Math" panose="02040503050406030204" pitchFamily="18" charset="0"/>
                                    <a:ea typeface="Cambria Math" panose="02040503050406030204" pitchFamily="18" charset="0"/>
                                  </a:rPr>
                                  <m:t>)</m:t>
                                </m:r>
                              </m:e>
                              <m:e>
                                <m:sSub>
                                  <m:sSubPr>
                                    <m:ctrlPr>
                                      <a:rPr lang="en-US" sz="1800" i="1">
                                        <a:latin typeface="Cambria Math" panose="02040503050406030204" pitchFamily="18" charset="0"/>
                                      </a:rPr>
                                    </m:ctrlPr>
                                  </m:sSubPr>
                                  <m:e>
                                    <m:r>
                                      <a:rPr lang="en-US" sz="1800" i="1">
                                        <a:latin typeface="Cambria Math" panose="02040503050406030204" pitchFamily="18" charset="0"/>
                                      </a:rPr>
                                      <m:t>𝑟𝑜𝑤</m:t>
                                    </m:r>
                                  </m:e>
                                  <m:sub>
                                    <m:r>
                                      <a:rPr lang="en-US" sz="1800" i="1">
                                        <a:latin typeface="Cambria Math" panose="02040503050406030204" pitchFamily="18" charset="0"/>
                                      </a:rPr>
                                      <m:t>1</m:t>
                                    </m:r>
                                  </m:sub>
                                </m:sSub>
                                <m:r>
                                  <m:rPr>
                                    <m:brk m:alnAt="7"/>
                                  </m:rPr>
                                  <a:rPr lang="en-US" sz="1800" i="1">
                                    <a:latin typeface="Cambria Math" panose="02040503050406030204" pitchFamily="18" charset="0"/>
                                  </a:rPr>
                                  <m:t>(</m:t>
                                </m:r>
                                <m:r>
                                  <a:rPr lang="en-US" sz="1800" i="1">
                                    <a:latin typeface="Cambria Math" panose="02040503050406030204" pitchFamily="18" charset="0"/>
                                  </a:rPr>
                                  <m:t>𝐴</m:t>
                                </m:r>
                                <m:r>
                                  <a:rPr lang="en-US" sz="1800" i="1">
                                    <a:latin typeface="Cambria Math" panose="02040503050406030204" pitchFamily="18" charset="0"/>
                                  </a:rPr>
                                  <m:t>)∙</m:t>
                                </m:r>
                                <m:sSub>
                                  <m:sSubPr>
                                    <m:ctrlPr>
                                      <a:rPr lang="en-US" sz="1800" i="1" smtClean="0">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𝑐𝑜𝑙</m:t>
                                    </m:r>
                                  </m:e>
                                  <m:sub>
                                    <m:r>
                                      <a:rPr lang="en-US" sz="1800" b="0" i="1" smtClean="0">
                                        <a:latin typeface="Cambria Math" panose="02040503050406030204" pitchFamily="18" charset="0"/>
                                        <a:ea typeface="Cambria Math" panose="02040503050406030204" pitchFamily="18" charset="0"/>
                                      </a:rPr>
                                      <m:t>2</m:t>
                                    </m:r>
                                  </m:sub>
                                </m:sSub>
                                <m:r>
                                  <m:rPr>
                                    <m:brk m:alnAt="7"/>
                                  </m:rP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𝐵</m:t>
                                </m:r>
                                <m:r>
                                  <a:rPr lang="en-US" sz="1800" i="1">
                                    <a:latin typeface="Cambria Math" panose="02040503050406030204" pitchFamily="18" charset="0"/>
                                    <a:ea typeface="Cambria Math" panose="02040503050406030204" pitchFamily="18" charset="0"/>
                                  </a:rPr>
                                  <m:t>)</m:t>
                                </m:r>
                              </m:e>
                            </m:mr>
                            <m:mr>
                              <m:e>
                                <m:sSub>
                                  <m:sSubPr>
                                    <m:ctrlPr>
                                      <a:rPr lang="en-US" sz="1800" i="1">
                                        <a:latin typeface="Cambria Math" panose="02040503050406030204" pitchFamily="18" charset="0"/>
                                      </a:rPr>
                                    </m:ctrlPr>
                                  </m:sSubPr>
                                  <m:e>
                                    <m:r>
                                      <a:rPr lang="en-US" sz="1800" i="1">
                                        <a:latin typeface="Cambria Math" panose="02040503050406030204" pitchFamily="18" charset="0"/>
                                      </a:rPr>
                                      <m:t>𝑟𝑜𝑤</m:t>
                                    </m:r>
                                  </m:e>
                                  <m:sub>
                                    <m:r>
                                      <a:rPr lang="en-US" sz="1800" b="0" i="1" smtClean="0">
                                        <a:latin typeface="Cambria Math" panose="02040503050406030204" pitchFamily="18" charset="0"/>
                                      </a:rPr>
                                      <m:t>2</m:t>
                                    </m:r>
                                  </m:sub>
                                </m:sSub>
                                <m:r>
                                  <m:rPr>
                                    <m:brk m:alnAt="7"/>
                                  </m:rPr>
                                  <a:rPr lang="en-US" sz="1800" i="1">
                                    <a:latin typeface="Cambria Math" panose="02040503050406030204" pitchFamily="18" charset="0"/>
                                  </a:rPr>
                                  <m:t>(</m:t>
                                </m:r>
                                <m:r>
                                  <a:rPr lang="en-US" sz="1800" i="1">
                                    <a:latin typeface="Cambria Math" panose="02040503050406030204" pitchFamily="18" charset="0"/>
                                  </a:rPr>
                                  <m:t>𝐴</m:t>
                                </m:r>
                                <m:r>
                                  <a:rPr lang="en-US" sz="1800" i="1">
                                    <a:latin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𝑐𝑜𝑙</m:t>
                                    </m:r>
                                  </m:e>
                                  <m:sub>
                                    <m:r>
                                      <a:rPr lang="en-US" sz="1800" i="1">
                                        <a:latin typeface="Cambria Math" panose="02040503050406030204" pitchFamily="18" charset="0"/>
                                        <a:ea typeface="Cambria Math" panose="02040503050406030204" pitchFamily="18" charset="0"/>
                                      </a:rPr>
                                      <m:t>1</m:t>
                                    </m:r>
                                  </m:sub>
                                </m:sSub>
                                <m:r>
                                  <m:rPr>
                                    <m:brk m:alnAt="7"/>
                                  </m:rP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𝐵</m:t>
                                </m:r>
                                <m:r>
                                  <a:rPr lang="en-US" sz="1800" i="1">
                                    <a:latin typeface="Cambria Math" panose="02040503050406030204" pitchFamily="18" charset="0"/>
                                    <a:ea typeface="Cambria Math" panose="02040503050406030204" pitchFamily="18" charset="0"/>
                                  </a:rPr>
                                  <m:t>)</m:t>
                                </m:r>
                              </m:e>
                              <m:e>
                                <m:sSub>
                                  <m:sSubPr>
                                    <m:ctrlPr>
                                      <a:rPr lang="en-US" sz="1800" i="1">
                                        <a:latin typeface="Cambria Math" panose="02040503050406030204" pitchFamily="18" charset="0"/>
                                      </a:rPr>
                                    </m:ctrlPr>
                                  </m:sSubPr>
                                  <m:e>
                                    <m:r>
                                      <a:rPr lang="en-US" sz="1800" i="1">
                                        <a:latin typeface="Cambria Math" panose="02040503050406030204" pitchFamily="18" charset="0"/>
                                      </a:rPr>
                                      <m:t>𝑟𝑜𝑤</m:t>
                                    </m:r>
                                  </m:e>
                                  <m:sub>
                                    <m:r>
                                      <a:rPr lang="en-US" sz="1800" b="0" i="1" smtClean="0">
                                        <a:latin typeface="Cambria Math" panose="02040503050406030204" pitchFamily="18" charset="0"/>
                                      </a:rPr>
                                      <m:t>2</m:t>
                                    </m:r>
                                  </m:sub>
                                </m:sSub>
                                <m:r>
                                  <m:rPr>
                                    <m:brk m:alnAt="7"/>
                                  </m:rPr>
                                  <a:rPr lang="en-US" sz="1800" i="1">
                                    <a:latin typeface="Cambria Math" panose="02040503050406030204" pitchFamily="18" charset="0"/>
                                  </a:rPr>
                                  <m:t>(</m:t>
                                </m:r>
                                <m:r>
                                  <a:rPr lang="en-US" sz="1800" i="1">
                                    <a:latin typeface="Cambria Math" panose="02040503050406030204" pitchFamily="18" charset="0"/>
                                  </a:rPr>
                                  <m:t>𝐴</m:t>
                                </m:r>
                                <m:r>
                                  <a:rPr lang="en-US" sz="1800" i="1">
                                    <a:latin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𝑐𝑜𝑙</m:t>
                                    </m:r>
                                  </m:e>
                                  <m:sub>
                                    <m:r>
                                      <a:rPr lang="en-US" sz="1800" b="0" i="1" smtClean="0">
                                        <a:latin typeface="Cambria Math" panose="02040503050406030204" pitchFamily="18" charset="0"/>
                                        <a:ea typeface="Cambria Math" panose="02040503050406030204" pitchFamily="18" charset="0"/>
                                      </a:rPr>
                                      <m:t>2</m:t>
                                    </m:r>
                                  </m:sub>
                                </m:sSub>
                                <m:r>
                                  <m:rPr>
                                    <m:brk m:alnAt="7"/>
                                  </m:rP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𝐵</m:t>
                                </m:r>
                                <m:r>
                                  <a:rPr lang="en-US" sz="1800" i="1">
                                    <a:latin typeface="Cambria Math" panose="02040503050406030204" pitchFamily="18" charset="0"/>
                                    <a:ea typeface="Cambria Math" panose="02040503050406030204" pitchFamily="18" charset="0"/>
                                  </a:rPr>
                                  <m:t>)</m:t>
                                </m:r>
                              </m:e>
                            </m:mr>
                          </m:m>
                        </m:e>
                      </m:d>
                    </m:oMath>
                  </m:oMathPara>
                </a14:m>
                <a:endParaRPr lang="en-US" sz="1800" dirty="0"/>
              </a:p>
            </p:txBody>
          </p:sp>
        </mc:Choice>
        <mc:Fallback xmlns="">
          <p:sp>
            <p:nvSpPr>
              <p:cNvPr id="6" name="TextBox 5">
                <a:extLst>
                  <a:ext uri="{FF2B5EF4-FFF2-40B4-BE49-F238E27FC236}">
                    <a16:creationId xmlns:a16="http://schemas.microsoft.com/office/drawing/2014/main" id="{370C332C-78B2-C0CB-F606-4F4F1A1967D0}"/>
                  </a:ext>
                </a:extLst>
              </p:cNvPr>
              <p:cNvSpPr txBox="1">
                <a:spLocks noRot="1" noChangeAspect="1" noMove="1" noResize="1" noEditPoints="1" noAdjustHandles="1" noChangeArrowheads="1" noChangeShapeType="1" noTextEdit="1"/>
              </p:cNvSpPr>
              <p:nvPr/>
            </p:nvSpPr>
            <p:spPr>
              <a:xfrm>
                <a:off x="1481724" y="5029200"/>
                <a:ext cx="10210800" cy="1009892"/>
              </a:xfrm>
              <a:prstGeom prst="rect">
                <a:avLst/>
              </a:prstGeom>
              <a:blipFill>
                <a:blip r:embed="rId3"/>
                <a:stretch>
                  <a:fillRect b="-1250"/>
                </a:stretch>
              </a:blipFill>
            </p:spPr>
            <p:txBody>
              <a:bodyPr/>
              <a:lstStyle/>
              <a:p>
                <a:r>
                  <a:rPr lang="en-US">
                    <a:noFill/>
                  </a:rPr>
                  <a:t> </a:t>
                </a:r>
              </a:p>
            </p:txBody>
          </p:sp>
        </mc:Fallback>
      </mc:AlternateContent>
      <p:sp>
        <p:nvSpPr>
          <p:cNvPr id="7" name="Callout: Up Arrow 6">
            <a:extLst>
              <a:ext uri="{FF2B5EF4-FFF2-40B4-BE49-F238E27FC236}">
                <a16:creationId xmlns:a16="http://schemas.microsoft.com/office/drawing/2014/main" id="{5B9F7604-0B78-F1FB-DADF-09C1C0073AE2}"/>
              </a:ext>
            </a:extLst>
          </p:cNvPr>
          <p:cNvSpPr/>
          <p:nvPr/>
        </p:nvSpPr>
        <p:spPr>
          <a:xfrm>
            <a:off x="6627811" y="5943600"/>
            <a:ext cx="4748425" cy="838200"/>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This concept will further be relevant to the study of </a:t>
            </a:r>
            <a:r>
              <a:rPr lang="en-US" b="1" dirty="0"/>
              <a:t>DENSE</a:t>
            </a:r>
            <a:r>
              <a:rPr lang="en-US" dirty="0"/>
              <a:t> neural networks.</a:t>
            </a:r>
          </a:p>
        </p:txBody>
      </p:sp>
    </p:spTree>
    <p:extLst>
      <p:ext uri="{BB962C8B-B14F-4D97-AF65-F5344CB8AC3E}">
        <p14:creationId xmlns:p14="http://schemas.microsoft.com/office/powerpoint/2010/main" val="221466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401"/>
        <p:cNvGrpSpPr/>
        <p:nvPr/>
      </p:nvGrpSpPr>
      <p:grpSpPr>
        <a:xfrm>
          <a:off x="0" y="0"/>
          <a:ext cx="0" cy="0"/>
          <a:chOff x="0" y="0"/>
          <a:chExt cx="0" cy="0"/>
        </a:xfrm>
      </p:grpSpPr>
      <p:sp>
        <p:nvSpPr>
          <p:cNvPr id="1402" name="Google Shape;1402;p15"/>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Century Gothic"/>
              <a:buNone/>
            </a:pPr>
            <a:r>
              <a:rPr lang="en-US" dirty="0"/>
              <a:t>What is </a:t>
            </a:r>
            <a:r>
              <a:rPr lang="en-US" dirty="0" err="1"/>
              <a:t>numpy</a:t>
            </a:r>
            <a:endParaRPr dirty="0"/>
          </a:p>
        </p:txBody>
      </p:sp>
      <p:sp>
        <p:nvSpPr>
          <p:cNvPr id="1403" name="Google Shape;1403;p15"/>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numpy</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One of the most important Python’s mathematical modules, delivering high-speed numerical computing with a robust C/C++ backend for unparalleled efficiency.</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Current version</a:t>
            </a:r>
            <a:r>
              <a:rPr lang="en-US" dirty="0">
                <a:latin typeface="Arial" panose="020B0604020202020204" pitchFamily="34" charset="0"/>
                <a:cs typeface="Arial" panose="020B0604020202020204" pitchFamily="34" charset="0"/>
              </a:rPr>
              <a:t>: 2.3 (28.09.2025)</a:t>
            </a:r>
          </a:p>
          <a:p>
            <a:r>
              <a:rPr lang="en-US" b="1" dirty="0">
                <a:latin typeface="Arial" panose="020B0604020202020204" pitchFamily="34" charset="0"/>
                <a:cs typeface="Arial" panose="020B0604020202020204" pitchFamily="34" charset="0"/>
              </a:rPr>
              <a:t>Site</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2"/>
              </a:rPr>
              <a:t>https://numpy.org/</a:t>
            </a:r>
            <a:r>
              <a:rPr lang="en-US" dirty="0">
                <a:latin typeface="Arial" panose="020B0604020202020204" pitchFamily="34" charset="0"/>
                <a:cs typeface="Arial" panose="020B0604020202020204" pitchFamily="34" charset="0"/>
              </a:rPr>
              <a:t> </a:t>
            </a:r>
          </a:p>
          <a:p>
            <a:r>
              <a:rPr lang="en-US" b="1" dirty="0">
                <a:latin typeface="Arial" panose="020B0604020202020204" pitchFamily="34" charset="0"/>
                <a:cs typeface="Arial" panose="020B0604020202020204" pitchFamily="34" charset="0"/>
              </a:rPr>
              <a:t>Documentation</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3"/>
              </a:rPr>
              <a:t>https://numpy.org/doc/stable/</a:t>
            </a:r>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567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numpy</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To install </a:t>
            </a:r>
            <a:r>
              <a:rPr lang="en-US"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Link: </a:t>
            </a:r>
            <a:r>
              <a:rPr lang="en-US" dirty="0">
                <a:latin typeface="Arial" panose="020B0604020202020204" pitchFamily="34" charset="0"/>
                <a:cs typeface="Arial" panose="020B0604020202020204" pitchFamily="34" charset="0"/>
                <a:hlinkClick r:id="rId2"/>
              </a:rPr>
              <a:t>https://numpy.org/</a:t>
            </a:r>
            <a:r>
              <a:rPr lang="en-US" dirty="0">
                <a:latin typeface="Arial" panose="020B0604020202020204" pitchFamily="34" charset="0"/>
                <a:cs typeface="Arial" panose="020B0604020202020204" pitchFamily="34" charset="0"/>
              </a:rPr>
              <a:t> </a:t>
            </a:r>
          </a:p>
          <a:p>
            <a:pPr lvl="1"/>
            <a:r>
              <a:rPr lang="en-US" dirty="0">
                <a:latin typeface="Arial" panose="020B0604020202020204" pitchFamily="34" charset="0"/>
                <a:cs typeface="Arial" panose="020B0604020202020204" pitchFamily="34" charset="0"/>
              </a:rPr>
              <a:t>PIP: </a:t>
            </a:r>
            <a:r>
              <a:rPr lang="en-US" dirty="0">
                <a:highlight>
                  <a:srgbClr val="C0C0C0"/>
                </a:highlight>
                <a:latin typeface="Arial" panose="020B0604020202020204" pitchFamily="34" charset="0"/>
                <a:cs typeface="Arial" panose="020B0604020202020204" pitchFamily="34" charset="0"/>
              </a:rPr>
              <a:t>pip install </a:t>
            </a:r>
            <a:r>
              <a:rPr lang="en-US" dirty="0" err="1">
                <a:highlight>
                  <a:srgbClr val="C0C0C0"/>
                </a:highlight>
                <a:latin typeface="Arial" panose="020B0604020202020204" pitchFamily="34" charset="0"/>
                <a:cs typeface="Arial" panose="020B0604020202020204" pitchFamily="34" charset="0"/>
              </a:rPr>
              <a:t>numpy</a:t>
            </a:r>
            <a:endParaRPr lang="en-US" dirty="0">
              <a:highlight>
                <a:srgbClr val="C0C0C0"/>
              </a:highlight>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CONDA: </a:t>
            </a:r>
            <a:r>
              <a:rPr lang="en-US" dirty="0" err="1">
                <a:highlight>
                  <a:srgbClr val="C0C0C0"/>
                </a:highlight>
                <a:latin typeface="Arial" panose="020B0604020202020204" pitchFamily="34" charset="0"/>
                <a:cs typeface="Arial" panose="020B0604020202020204" pitchFamily="34" charset="0"/>
              </a:rPr>
              <a:t>conda</a:t>
            </a:r>
            <a:r>
              <a:rPr lang="en-US" dirty="0">
                <a:highlight>
                  <a:srgbClr val="C0C0C0"/>
                </a:highlight>
                <a:latin typeface="Arial" panose="020B0604020202020204" pitchFamily="34" charset="0"/>
                <a:cs typeface="Arial" panose="020B0604020202020204" pitchFamily="34" charset="0"/>
              </a:rPr>
              <a:t> install </a:t>
            </a:r>
            <a:r>
              <a:rPr lang="en-US" dirty="0" err="1">
                <a:highlight>
                  <a:srgbClr val="C0C0C0"/>
                </a:highlight>
                <a:latin typeface="Arial" panose="020B0604020202020204" pitchFamily="34" charset="0"/>
                <a:cs typeface="Arial" panose="020B0604020202020204" pitchFamily="34" charset="0"/>
              </a:rPr>
              <a:t>numpy</a:t>
            </a:r>
            <a:endParaRPr lang="en-US" dirty="0">
              <a:highlight>
                <a:srgbClr val="C0C0C0"/>
              </a:highligh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Compatibility (for latest version): Python 3.12</a:t>
            </a:r>
          </a:p>
          <a:p>
            <a:r>
              <a:rPr lang="en-US" dirty="0">
                <a:latin typeface="Arial" panose="020B0604020202020204" pitchFamily="34" charset="0"/>
                <a:cs typeface="Arial" panose="020B0604020202020204" pitchFamily="34" charset="0"/>
              </a:rPr>
              <a:t>For best usage, we should use a version that is compatible with Python 3.11 (that will match latest version of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02023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What is </a:t>
            </a:r>
            <a:r>
              <a:rPr lang="en-US" dirty="0" err="1"/>
              <a:t>numpy</a:t>
            </a:r>
            <a:endParaRPr lang="en-US" dirty="0"/>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b="1" i="1" dirty="0">
                <a:latin typeface="Arial" panose="020B0604020202020204" pitchFamily="34" charset="0"/>
                <a:cs typeface="Arial" panose="020B0604020202020204" pitchFamily="34" charset="0"/>
              </a:rPr>
              <a:t>Support for</a:t>
            </a:r>
            <a:r>
              <a:rPr lang="en-US"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Arrays (</a:t>
            </a:r>
            <a:r>
              <a:rPr lang="en-US" dirty="0" err="1">
                <a:latin typeface="Arial" panose="020B0604020202020204" pitchFamily="34" charset="0"/>
                <a:cs typeface="Arial" panose="020B0604020202020204" pitchFamily="34" charset="0"/>
              </a:rPr>
              <a:t>ndarray</a:t>
            </a:r>
            <a:r>
              <a:rPr lang="en-US"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Mathematical functions (including basic arithmetic operations, statistical functions, algebraic operations,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Broadcasting (A powerful feature that allows NumPy to work with arrays of different shapes when performing arithmetic operations)</a:t>
            </a:r>
          </a:p>
          <a:p>
            <a:pPr lvl="1"/>
            <a:r>
              <a:rPr lang="en-US" dirty="0">
                <a:latin typeface="Arial" panose="020B0604020202020204" pitchFamily="34" charset="0"/>
                <a:cs typeface="Arial" panose="020B0604020202020204" pitchFamily="34" charset="0"/>
              </a:rPr>
              <a:t>Linear Algebra</a:t>
            </a:r>
          </a:p>
          <a:p>
            <a:pPr lvl="1"/>
            <a:r>
              <a:rPr lang="en-US" dirty="0">
                <a:latin typeface="Arial" panose="020B0604020202020204" pitchFamily="34" charset="0"/>
                <a:cs typeface="Arial" panose="020B0604020202020204" pitchFamily="34" charset="0"/>
              </a:rPr>
              <a:t>Indexing and Slicing</a:t>
            </a:r>
          </a:p>
          <a:p>
            <a:pPr lvl="1"/>
            <a:r>
              <a:rPr lang="en-US" dirty="0">
                <a:latin typeface="Arial" panose="020B0604020202020204" pitchFamily="34" charset="0"/>
                <a:cs typeface="Arial" panose="020B0604020202020204" pitchFamily="34" charset="0"/>
              </a:rPr>
              <a:t>FFT and Polynomials (Built-in support for Fast Fourier Transforms and polynomial operations).</a:t>
            </a:r>
          </a:p>
          <a:p>
            <a:pPr lvl="1"/>
            <a:r>
              <a:rPr lang="en-US" dirty="0">
                <a:latin typeface="Arial" panose="020B0604020202020204" pitchFamily="34" charset="0"/>
                <a:cs typeface="Arial" panose="020B0604020202020204" pitchFamily="34" charset="0"/>
              </a:rPr>
              <a:t>Support to save/load data into different formats</a:t>
            </a:r>
          </a:p>
        </p:txBody>
      </p:sp>
    </p:spTree>
    <p:extLst>
      <p:ext uri="{BB962C8B-B14F-4D97-AF65-F5344CB8AC3E}">
        <p14:creationId xmlns:p14="http://schemas.microsoft.com/office/powerpoint/2010/main" val="82857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Data Types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7620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Data types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NumPy supports a variety of numeric data types, which are essential for handling diverse computational requirements.</a:t>
            </a:r>
          </a:p>
          <a:p>
            <a:r>
              <a:rPr lang="en-US" b="1" i="1" dirty="0">
                <a:latin typeface="Arial" panose="020B0604020202020204" pitchFamily="34" charset="0"/>
                <a:cs typeface="Arial" panose="020B0604020202020204" pitchFamily="34" charset="0"/>
              </a:rPr>
              <a:t>Integers</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int8</a:t>
            </a:r>
            <a:r>
              <a:rPr lang="en-US" dirty="0">
                <a:latin typeface="Arial" panose="020B0604020202020204" pitchFamily="34" charset="0"/>
                <a:cs typeface="Arial" panose="020B0604020202020204" pitchFamily="34" charset="0"/>
              </a:rPr>
              <a:t> : 8-bit signed integer (-128 to 127)</a:t>
            </a:r>
          </a:p>
          <a:p>
            <a:pPr lvl="1"/>
            <a:r>
              <a:rPr lang="en-US" b="1" i="1" dirty="0">
                <a:solidFill>
                  <a:schemeClr val="bg1"/>
                </a:solidFill>
                <a:latin typeface="Arial" panose="020B0604020202020204" pitchFamily="34" charset="0"/>
                <a:cs typeface="Arial" panose="020B0604020202020204" pitchFamily="34" charset="0"/>
              </a:rPr>
              <a:t>int16</a:t>
            </a:r>
            <a:r>
              <a:rPr lang="en-US" dirty="0">
                <a:latin typeface="Arial" panose="020B0604020202020204" pitchFamily="34" charset="0"/>
                <a:cs typeface="Arial" panose="020B0604020202020204" pitchFamily="34" charset="0"/>
              </a:rPr>
              <a:t> : 16-bit signed integer (-32768 to 32767)</a:t>
            </a:r>
          </a:p>
          <a:p>
            <a:pPr lvl="1"/>
            <a:r>
              <a:rPr lang="en-US" b="1" i="1" dirty="0">
                <a:solidFill>
                  <a:schemeClr val="bg1"/>
                </a:solidFill>
                <a:latin typeface="Arial" panose="020B0604020202020204" pitchFamily="34" charset="0"/>
                <a:cs typeface="Arial" panose="020B0604020202020204" pitchFamily="34" charset="0"/>
              </a:rPr>
              <a:t>int32</a:t>
            </a:r>
            <a:r>
              <a:rPr lang="en-US" dirty="0">
                <a:latin typeface="Arial" panose="020B0604020202020204" pitchFamily="34" charset="0"/>
                <a:cs typeface="Arial" panose="020B0604020202020204" pitchFamily="34" charset="0"/>
              </a:rPr>
              <a:t> : 32-bit signed integer (-2</a:t>
            </a:r>
            <a:r>
              <a:rPr lang="en-US" baseline="30000" dirty="0">
                <a:latin typeface="Arial" panose="020B0604020202020204" pitchFamily="34" charset="0"/>
                <a:cs typeface="Arial" panose="020B0604020202020204" pitchFamily="34" charset="0"/>
              </a:rPr>
              <a:t>31</a:t>
            </a:r>
            <a:r>
              <a:rPr lang="en-US" dirty="0">
                <a:latin typeface="Arial" panose="020B0604020202020204" pitchFamily="34" charset="0"/>
                <a:cs typeface="Arial" panose="020B0604020202020204" pitchFamily="34" charset="0"/>
              </a:rPr>
              <a:t> to 2</a:t>
            </a:r>
            <a:r>
              <a:rPr lang="en-US" baseline="30000" dirty="0">
                <a:latin typeface="Arial" panose="020B0604020202020204" pitchFamily="34" charset="0"/>
                <a:cs typeface="Arial" panose="020B0604020202020204" pitchFamily="34" charset="0"/>
              </a:rPr>
              <a:t>31</a:t>
            </a:r>
            <a:r>
              <a:rPr lang="en-US" dirty="0">
                <a:latin typeface="Arial" panose="020B0604020202020204" pitchFamily="34" charset="0"/>
                <a:cs typeface="Arial" panose="020B0604020202020204" pitchFamily="34" charset="0"/>
              </a:rPr>
              <a:t> -1)</a:t>
            </a:r>
          </a:p>
          <a:p>
            <a:pPr lvl="1"/>
            <a:r>
              <a:rPr lang="en-US" b="1" i="1" dirty="0">
                <a:solidFill>
                  <a:schemeClr val="bg1"/>
                </a:solidFill>
                <a:latin typeface="Arial" panose="020B0604020202020204" pitchFamily="34" charset="0"/>
                <a:cs typeface="Arial" panose="020B0604020202020204" pitchFamily="34" charset="0"/>
              </a:rPr>
              <a:t>int64</a:t>
            </a:r>
            <a:r>
              <a:rPr lang="en-US" dirty="0">
                <a:latin typeface="Arial" panose="020B0604020202020204" pitchFamily="34" charset="0"/>
                <a:cs typeface="Arial" panose="020B0604020202020204" pitchFamily="34" charset="0"/>
              </a:rPr>
              <a:t> : 64-bit signed integer (-2</a:t>
            </a:r>
            <a:r>
              <a:rPr lang="en-US" baseline="30000" dirty="0">
                <a:latin typeface="Arial" panose="020B0604020202020204" pitchFamily="34" charset="0"/>
                <a:cs typeface="Arial" panose="020B0604020202020204" pitchFamily="34" charset="0"/>
              </a:rPr>
              <a:t>63</a:t>
            </a:r>
            <a:r>
              <a:rPr lang="en-US" dirty="0">
                <a:latin typeface="Arial" panose="020B0604020202020204" pitchFamily="34" charset="0"/>
                <a:cs typeface="Arial" panose="020B0604020202020204" pitchFamily="34" charset="0"/>
              </a:rPr>
              <a:t> to 2</a:t>
            </a:r>
            <a:r>
              <a:rPr lang="en-US" baseline="30000" dirty="0">
                <a:latin typeface="Arial" panose="020B0604020202020204" pitchFamily="34" charset="0"/>
                <a:cs typeface="Arial" panose="020B0604020202020204" pitchFamily="34" charset="0"/>
              </a:rPr>
              <a:t>63</a:t>
            </a:r>
            <a:r>
              <a:rPr lang="en-US" dirty="0">
                <a:latin typeface="Arial" panose="020B0604020202020204" pitchFamily="34" charset="0"/>
                <a:cs typeface="Arial" panose="020B0604020202020204" pitchFamily="34" charset="0"/>
              </a:rPr>
              <a:t> -1)</a:t>
            </a:r>
          </a:p>
          <a:p>
            <a:r>
              <a:rPr lang="en-US" b="1" i="1" dirty="0">
                <a:latin typeface="Arial" panose="020B0604020202020204" pitchFamily="34" charset="0"/>
                <a:cs typeface="Arial" panose="020B0604020202020204" pitchFamily="34" charset="0"/>
              </a:rPr>
              <a:t>Unsigned Integers</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uint8</a:t>
            </a:r>
            <a:r>
              <a:rPr lang="en-US" dirty="0">
                <a:latin typeface="Arial" panose="020B0604020202020204" pitchFamily="34" charset="0"/>
                <a:cs typeface="Arial" panose="020B0604020202020204" pitchFamily="34" charset="0"/>
              </a:rPr>
              <a:t> : 8-bit unsigned integer (0 to 255)</a:t>
            </a:r>
          </a:p>
          <a:p>
            <a:pPr lvl="1"/>
            <a:r>
              <a:rPr lang="en-US" b="1" i="1" dirty="0">
                <a:solidFill>
                  <a:schemeClr val="bg1"/>
                </a:solidFill>
                <a:latin typeface="Arial" panose="020B0604020202020204" pitchFamily="34" charset="0"/>
                <a:cs typeface="Arial" panose="020B0604020202020204" pitchFamily="34" charset="0"/>
              </a:rPr>
              <a:t>uint16</a:t>
            </a:r>
            <a:r>
              <a:rPr lang="en-US" dirty="0">
                <a:latin typeface="Arial" panose="020B0604020202020204" pitchFamily="34" charset="0"/>
                <a:cs typeface="Arial" panose="020B0604020202020204" pitchFamily="34" charset="0"/>
              </a:rPr>
              <a:t> : 16-bit unsigned integer (0 to 65535)</a:t>
            </a:r>
          </a:p>
          <a:p>
            <a:pPr lvl="1"/>
            <a:r>
              <a:rPr lang="en-US" b="1" i="1" dirty="0">
                <a:solidFill>
                  <a:schemeClr val="bg1"/>
                </a:solidFill>
                <a:latin typeface="Arial" panose="020B0604020202020204" pitchFamily="34" charset="0"/>
                <a:cs typeface="Arial" panose="020B0604020202020204" pitchFamily="34" charset="0"/>
              </a:rPr>
              <a:t>uint32</a:t>
            </a:r>
            <a:r>
              <a:rPr lang="en-US" dirty="0">
                <a:latin typeface="Arial" panose="020B0604020202020204" pitchFamily="34" charset="0"/>
                <a:cs typeface="Arial" panose="020B0604020202020204" pitchFamily="34" charset="0"/>
              </a:rPr>
              <a:t> : 32-bit unsigned integer (0 to 2</a:t>
            </a:r>
            <a:r>
              <a:rPr lang="en-US" baseline="30000" dirty="0">
                <a:latin typeface="Arial" panose="020B0604020202020204" pitchFamily="34" charset="0"/>
                <a:cs typeface="Arial" panose="020B0604020202020204" pitchFamily="34" charset="0"/>
              </a:rPr>
              <a:t>32</a:t>
            </a:r>
            <a:r>
              <a:rPr lang="en-US" dirty="0">
                <a:latin typeface="Arial" panose="020B0604020202020204" pitchFamily="34" charset="0"/>
                <a:cs typeface="Arial" panose="020B0604020202020204" pitchFamily="34" charset="0"/>
              </a:rPr>
              <a:t> -1)</a:t>
            </a:r>
          </a:p>
          <a:p>
            <a:pPr lvl="1"/>
            <a:r>
              <a:rPr lang="en-US" b="1" i="1" dirty="0">
                <a:solidFill>
                  <a:schemeClr val="bg1"/>
                </a:solidFill>
                <a:latin typeface="Arial" panose="020B0604020202020204" pitchFamily="34" charset="0"/>
                <a:cs typeface="Arial" panose="020B0604020202020204" pitchFamily="34" charset="0"/>
              </a:rPr>
              <a:t>uint64</a:t>
            </a:r>
            <a:r>
              <a:rPr lang="en-US" dirty="0">
                <a:latin typeface="Arial" panose="020B0604020202020204" pitchFamily="34" charset="0"/>
                <a:cs typeface="Arial" panose="020B0604020202020204" pitchFamily="34" charset="0"/>
              </a:rPr>
              <a:t> : 64-bit unsigned integer (0 to 2</a:t>
            </a:r>
            <a:r>
              <a:rPr lang="en-US" baseline="30000" dirty="0">
                <a:latin typeface="Arial" panose="020B0604020202020204" pitchFamily="34" charset="0"/>
                <a:cs typeface="Arial" panose="020B0604020202020204" pitchFamily="34" charset="0"/>
              </a:rPr>
              <a:t>64</a:t>
            </a:r>
            <a:r>
              <a:rPr lang="en-US" dirty="0">
                <a:latin typeface="Arial" panose="020B0604020202020204" pitchFamily="34" charset="0"/>
                <a:cs typeface="Arial" panose="020B0604020202020204" pitchFamily="34" charset="0"/>
              </a:rPr>
              <a:t> -1)</a:t>
            </a:r>
          </a:p>
        </p:txBody>
      </p:sp>
    </p:spTree>
    <p:extLst>
      <p:ext uri="{BB962C8B-B14F-4D97-AF65-F5344CB8AC3E}">
        <p14:creationId xmlns:p14="http://schemas.microsoft.com/office/powerpoint/2010/main" val="243278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Data types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NumPy supports a variety of numeric data types, which are essential for handling diverse computational requirements.</a:t>
            </a:r>
          </a:p>
          <a:p>
            <a:r>
              <a:rPr lang="en-US" b="1" i="1" dirty="0">
                <a:latin typeface="Arial" panose="020B0604020202020204" pitchFamily="34" charset="0"/>
                <a:cs typeface="Arial" panose="020B0604020202020204" pitchFamily="34" charset="0"/>
              </a:rPr>
              <a:t>Floating Point</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float16</a:t>
            </a:r>
            <a:r>
              <a:rPr lang="en-US" dirty="0">
                <a:latin typeface="Arial" panose="020B0604020202020204" pitchFamily="34" charset="0"/>
                <a:cs typeface="Arial" panose="020B0604020202020204" pitchFamily="34" charset="0"/>
              </a:rPr>
              <a:t>: Half precision float</a:t>
            </a:r>
          </a:p>
          <a:p>
            <a:pPr lvl="1"/>
            <a:r>
              <a:rPr lang="en-US" b="1" i="1" dirty="0">
                <a:solidFill>
                  <a:schemeClr val="bg1"/>
                </a:solidFill>
                <a:latin typeface="Arial" panose="020B0604020202020204" pitchFamily="34" charset="0"/>
                <a:cs typeface="Arial" panose="020B0604020202020204" pitchFamily="34" charset="0"/>
              </a:rPr>
              <a:t>float32</a:t>
            </a:r>
            <a:r>
              <a:rPr lang="en-US" dirty="0">
                <a:latin typeface="Arial" panose="020B0604020202020204" pitchFamily="34" charset="0"/>
                <a:cs typeface="Arial" panose="020B0604020202020204" pitchFamily="34" charset="0"/>
              </a:rPr>
              <a:t>: Single precision float</a:t>
            </a:r>
          </a:p>
          <a:p>
            <a:pPr lvl="1"/>
            <a:r>
              <a:rPr lang="en-US" b="1" i="1" dirty="0">
                <a:solidFill>
                  <a:schemeClr val="bg1"/>
                </a:solidFill>
                <a:latin typeface="Arial" panose="020B0604020202020204" pitchFamily="34" charset="0"/>
                <a:cs typeface="Arial" panose="020B0604020202020204" pitchFamily="34" charset="0"/>
              </a:rPr>
              <a:t>float64</a:t>
            </a:r>
            <a:r>
              <a:rPr lang="en-US" dirty="0">
                <a:latin typeface="Arial" panose="020B0604020202020204" pitchFamily="34" charset="0"/>
                <a:cs typeface="Arial" panose="020B0604020202020204" pitchFamily="34" charset="0"/>
              </a:rPr>
              <a:t>: Double precision float (default for float)</a:t>
            </a:r>
          </a:p>
          <a:p>
            <a:pPr lvl="1"/>
            <a:r>
              <a:rPr lang="en-US" b="1" i="1" dirty="0">
                <a:solidFill>
                  <a:schemeClr val="bg1"/>
                </a:solidFill>
                <a:latin typeface="Arial" panose="020B0604020202020204" pitchFamily="34" charset="0"/>
                <a:cs typeface="Arial" panose="020B0604020202020204" pitchFamily="34" charset="0"/>
              </a:rPr>
              <a:t>float128</a:t>
            </a:r>
            <a:r>
              <a:rPr lang="en-US" dirty="0">
                <a:latin typeface="Arial" panose="020B0604020202020204" pitchFamily="34" charset="0"/>
                <a:cs typeface="Arial" panose="020B0604020202020204" pitchFamily="34" charset="0"/>
              </a:rPr>
              <a:t>: Extended precision float (</a:t>
            </a:r>
            <a:r>
              <a:rPr lang="en-US" dirty="0">
                <a:solidFill>
                  <a:srgbClr val="C00000"/>
                </a:solidFill>
                <a:latin typeface="Arial" panose="020B0604020202020204" pitchFamily="34" charset="0"/>
                <a:cs typeface="Arial" panose="020B0604020202020204" pitchFamily="34" charset="0"/>
              </a:rPr>
              <a:t>not available on all platforms</a:t>
            </a:r>
            <a:r>
              <a:rPr lang="en-US" dirty="0">
                <a:latin typeface="Arial" panose="020B0604020202020204" pitchFamily="34" charset="0"/>
                <a:cs typeface="Arial" panose="020B0604020202020204" pitchFamily="34" charset="0"/>
              </a:rPr>
              <a:t>)</a:t>
            </a:r>
          </a:p>
          <a:p>
            <a:r>
              <a:rPr lang="en-US" b="1" i="1" dirty="0">
                <a:latin typeface="Arial" panose="020B0604020202020204" pitchFamily="34" charset="0"/>
                <a:cs typeface="Arial" panose="020B0604020202020204" pitchFamily="34" charset="0"/>
              </a:rPr>
              <a:t>Complex Numbers</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complex64</a:t>
            </a:r>
            <a:r>
              <a:rPr lang="en-US" dirty="0">
                <a:latin typeface="Arial" panose="020B0604020202020204" pitchFamily="34" charset="0"/>
                <a:cs typeface="Arial" panose="020B0604020202020204" pitchFamily="34" charset="0"/>
              </a:rPr>
              <a:t>: Complex number with two 32-bit floats (real and imaginary components)</a:t>
            </a:r>
          </a:p>
          <a:p>
            <a:pPr lvl="1"/>
            <a:r>
              <a:rPr lang="en-US" b="1" i="1" dirty="0">
                <a:solidFill>
                  <a:schemeClr val="bg1"/>
                </a:solidFill>
                <a:latin typeface="Arial" panose="020B0604020202020204" pitchFamily="34" charset="0"/>
                <a:cs typeface="Arial" panose="020B0604020202020204" pitchFamily="34" charset="0"/>
              </a:rPr>
              <a:t>complex128</a:t>
            </a:r>
            <a:r>
              <a:rPr lang="en-US" dirty="0">
                <a:latin typeface="Arial" panose="020B0604020202020204" pitchFamily="34" charset="0"/>
                <a:cs typeface="Arial" panose="020B0604020202020204" pitchFamily="34" charset="0"/>
              </a:rPr>
              <a:t>: Complex number with two 64-bit floats </a:t>
            </a:r>
          </a:p>
          <a:p>
            <a:pPr lvl="1"/>
            <a:r>
              <a:rPr lang="en-US" b="1" i="1" dirty="0">
                <a:solidFill>
                  <a:schemeClr val="bg1"/>
                </a:solidFill>
                <a:latin typeface="Arial" panose="020B0604020202020204" pitchFamily="34" charset="0"/>
                <a:cs typeface="Arial" panose="020B0604020202020204" pitchFamily="34" charset="0"/>
              </a:rPr>
              <a:t>complex256</a:t>
            </a:r>
            <a:r>
              <a:rPr lang="en-US" dirty="0">
                <a:latin typeface="Arial" panose="020B0604020202020204" pitchFamily="34" charset="0"/>
                <a:cs typeface="Arial" panose="020B0604020202020204" pitchFamily="34" charset="0"/>
              </a:rPr>
              <a:t>: Complex number with two 128-bit floats (</a:t>
            </a:r>
            <a:r>
              <a:rPr lang="en-US" dirty="0">
                <a:solidFill>
                  <a:srgbClr val="C00000"/>
                </a:solidFill>
                <a:latin typeface="Arial" panose="020B0604020202020204" pitchFamily="34" charset="0"/>
                <a:cs typeface="Arial" panose="020B0604020202020204" pitchFamily="34" charset="0"/>
              </a:rPr>
              <a:t>not available on all platforms</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06679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Data types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NumPy supports a variety of numeric data types, which are essential for handling diverse computational requirements.</a:t>
            </a:r>
          </a:p>
          <a:p>
            <a:r>
              <a:rPr lang="en-US" b="1" i="1" dirty="0">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bool_: Boolean type storing True and False values</a:t>
            </a:r>
          </a:p>
          <a:p>
            <a:r>
              <a:rPr lang="en-US" b="1" i="1" dirty="0">
                <a:latin typeface="Arial" panose="020B0604020202020204" pitchFamily="34" charset="0"/>
                <a:cs typeface="Arial" panose="020B0604020202020204" pitchFamily="34" charset="0"/>
              </a:rPr>
              <a:t>Strings</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string_</a:t>
            </a:r>
            <a:r>
              <a:rPr lang="en-US" dirty="0">
                <a:latin typeface="Arial" panose="020B0604020202020204" pitchFamily="34" charset="0"/>
                <a:cs typeface="Arial" panose="020B0604020202020204" pitchFamily="34" charset="0"/>
              </a:rPr>
              <a:t>: Fixed-size string type</a:t>
            </a:r>
          </a:p>
          <a:p>
            <a:pPr lvl="1"/>
            <a:r>
              <a:rPr lang="en-US" b="1" i="1" dirty="0" err="1">
                <a:solidFill>
                  <a:schemeClr val="bg1"/>
                </a:solidFill>
                <a:latin typeface="Arial" panose="020B0604020202020204" pitchFamily="34" charset="0"/>
                <a:cs typeface="Arial" panose="020B0604020202020204" pitchFamily="34" charset="0"/>
              </a:rPr>
              <a:t>unicode</a:t>
            </a:r>
            <a:r>
              <a:rPr lang="en-US" dirty="0">
                <a:solidFill>
                  <a:schemeClr val="bg1"/>
                </a:solidFill>
                <a:latin typeface="Arial" panose="020B0604020202020204" pitchFamily="34" charset="0"/>
                <a:cs typeface="Arial" panose="020B0604020202020204" pitchFamily="34" charset="0"/>
              </a:rPr>
              <a:t>_</a:t>
            </a:r>
            <a:r>
              <a:rPr lang="en-US" dirty="0">
                <a:latin typeface="Arial" panose="020B0604020202020204" pitchFamily="34" charset="0"/>
                <a:cs typeface="Arial" panose="020B0604020202020204" pitchFamily="34" charset="0"/>
              </a:rPr>
              <a:t>: Fixed-size Unicode type</a:t>
            </a:r>
          </a:p>
          <a:p>
            <a:r>
              <a:rPr lang="en-US" b="1" i="1" dirty="0">
                <a:latin typeface="Arial" panose="020B0604020202020204" pitchFamily="34" charset="0"/>
                <a:cs typeface="Arial" panose="020B0604020202020204" pitchFamily="34" charset="0"/>
              </a:rPr>
              <a:t>Datetime</a:t>
            </a:r>
            <a:r>
              <a:rPr lang="en-US" dirty="0">
                <a:latin typeface="Arial" panose="020B0604020202020204" pitchFamily="34" charset="0"/>
                <a:cs typeface="Arial" panose="020B0604020202020204" pitchFamily="34" charset="0"/>
              </a:rPr>
              <a:t>:</a:t>
            </a:r>
          </a:p>
          <a:p>
            <a:pPr lvl="1"/>
            <a:r>
              <a:rPr lang="en-US" b="1" i="1" dirty="0">
                <a:solidFill>
                  <a:schemeClr val="bg1"/>
                </a:solidFill>
                <a:latin typeface="Arial" panose="020B0604020202020204" pitchFamily="34" charset="0"/>
                <a:cs typeface="Arial" panose="020B0604020202020204" pitchFamily="34" charset="0"/>
              </a:rPr>
              <a:t>datetime64</a:t>
            </a:r>
            <a:r>
              <a:rPr lang="en-US" dirty="0">
                <a:latin typeface="Arial" panose="020B0604020202020204" pitchFamily="34" charset="0"/>
                <a:cs typeface="Arial" panose="020B0604020202020204" pitchFamily="34" charset="0"/>
              </a:rPr>
              <a:t>: Date and time representation</a:t>
            </a:r>
          </a:p>
          <a:p>
            <a:pPr lvl="1"/>
            <a:r>
              <a:rPr lang="en-US" b="1" i="1" dirty="0">
                <a:solidFill>
                  <a:schemeClr val="bg1"/>
                </a:solidFill>
                <a:latin typeface="Arial" panose="020B0604020202020204" pitchFamily="34" charset="0"/>
                <a:cs typeface="Arial" panose="020B0604020202020204" pitchFamily="34" charset="0"/>
              </a:rPr>
              <a:t>timedelta64</a:t>
            </a:r>
            <a:r>
              <a:rPr lang="en-US" dirty="0">
                <a:latin typeface="Arial" panose="020B0604020202020204" pitchFamily="34" charset="0"/>
                <a:cs typeface="Arial" panose="020B0604020202020204" pitchFamily="34" charset="0"/>
              </a:rPr>
              <a:t>: Represents the difference between two dates or times</a:t>
            </a:r>
          </a:p>
        </p:txBody>
      </p:sp>
    </p:spTree>
    <p:extLst>
      <p:ext uri="{BB962C8B-B14F-4D97-AF65-F5344CB8AC3E}">
        <p14:creationId xmlns:p14="http://schemas.microsoft.com/office/powerpoint/2010/main" val="2140083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Data types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Numerical data types are directly mapped to corresponding C (and occasionally C++) data types, ensuring both speed and compact memory usage.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The primary reason NumPy is so efficient compared to native Python lists or arrays is that </a:t>
            </a:r>
            <a:r>
              <a:rPr lang="en-US" b="1" i="1" dirty="0">
                <a:latin typeface="Arial" panose="020B0604020202020204" pitchFamily="34" charset="0"/>
                <a:cs typeface="Arial" panose="020B0604020202020204" pitchFamily="34" charset="0"/>
              </a:rPr>
              <a:t>it leverages these low-level languages (C/C++)</a:t>
            </a:r>
            <a:r>
              <a:rPr lang="en-US" dirty="0">
                <a:latin typeface="Arial" panose="020B0604020202020204" pitchFamily="34" charset="0"/>
                <a:cs typeface="Arial" panose="020B0604020202020204" pitchFamily="34" charset="0"/>
              </a:rPr>
              <a:t> for the storage and operations, avoiding the overhead of Python's dynamic typing and object-oriented features.</a:t>
            </a:r>
          </a:p>
        </p:txBody>
      </p:sp>
    </p:spTree>
    <p:extLst>
      <p:ext uri="{BB962C8B-B14F-4D97-AF65-F5344CB8AC3E}">
        <p14:creationId xmlns:p14="http://schemas.microsoft.com/office/powerpoint/2010/main" val="2048336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Data types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C/C++ type backend type mapping:</a:t>
            </a:r>
          </a:p>
          <a:p>
            <a:pPr marL="0" indent="0">
              <a:buNone/>
            </a:pPr>
            <a:endParaRPr lang="en-US"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A88D0182-E7A3-454D-42F0-E23EF8AEEB50}"/>
              </a:ext>
            </a:extLst>
          </p:cNvPr>
          <p:cNvGraphicFramePr>
            <a:graphicFrameLocks noGrp="1"/>
          </p:cNvGraphicFramePr>
          <p:nvPr/>
        </p:nvGraphicFramePr>
        <p:xfrm>
          <a:off x="1751012" y="2493820"/>
          <a:ext cx="3352800" cy="3708400"/>
        </p:xfrm>
        <a:graphic>
          <a:graphicData uri="http://schemas.openxmlformats.org/drawingml/2006/table">
            <a:tbl>
              <a:tblPr firstRow="1" bandRow="1">
                <a:tableStyleId>{073A0DAA-6AF3-43AB-8588-CEC1D06C72B9}</a:tableStyleId>
              </a:tblPr>
              <a:tblGrid>
                <a:gridCol w="1676400">
                  <a:extLst>
                    <a:ext uri="{9D8B030D-6E8A-4147-A177-3AD203B41FA5}">
                      <a16:colId xmlns:a16="http://schemas.microsoft.com/office/drawing/2014/main" val="105316422"/>
                    </a:ext>
                  </a:extLst>
                </a:gridCol>
                <a:gridCol w="1676400">
                  <a:extLst>
                    <a:ext uri="{9D8B030D-6E8A-4147-A177-3AD203B41FA5}">
                      <a16:colId xmlns:a16="http://schemas.microsoft.com/office/drawing/2014/main" val="2977620354"/>
                    </a:ext>
                  </a:extLst>
                </a:gridCol>
              </a:tblGrid>
              <a:tr h="370840">
                <a:tc>
                  <a:txBody>
                    <a:bodyPr/>
                    <a:lstStyle/>
                    <a:p>
                      <a:r>
                        <a:rPr lang="en-US" dirty="0" err="1"/>
                        <a:t>Numpy</a:t>
                      </a:r>
                      <a:r>
                        <a:rPr lang="en-US" dirty="0"/>
                        <a:t> type</a:t>
                      </a:r>
                    </a:p>
                  </a:txBody>
                  <a:tcPr/>
                </a:tc>
                <a:tc>
                  <a:txBody>
                    <a:bodyPr/>
                    <a:lstStyle/>
                    <a:p>
                      <a:r>
                        <a:rPr lang="en-US" dirty="0"/>
                        <a:t>C/C++ type</a:t>
                      </a:r>
                    </a:p>
                  </a:txBody>
                  <a:tcPr/>
                </a:tc>
                <a:extLst>
                  <a:ext uri="{0D108BD9-81ED-4DB2-BD59-A6C34878D82A}">
                    <a16:rowId xmlns:a16="http://schemas.microsoft.com/office/drawing/2014/main" val="103097719"/>
                  </a:ext>
                </a:extLst>
              </a:tr>
              <a:tr h="370840">
                <a:tc>
                  <a:txBody>
                    <a:bodyPr/>
                    <a:lstStyle/>
                    <a:p>
                      <a:r>
                        <a:rPr lang="en-US" dirty="0"/>
                        <a:t>int8</a:t>
                      </a:r>
                    </a:p>
                  </a:txBody>
                  <a:tcPr/>
                </a:tc>
                <a:tc>
                  <a:txBody>
                    <a:bodyPr/>
                    <a:lstStyle/>
                    <a:p>
                      <a:r>
                        <a:rPr lang="en-US" dirty="0"/>
                        <a:t>Int8_t</a:t>
                      </a:r>
                    </a:p>
                  </a:txBody>
                  <a:tcPr/>
                </a:tc>
                <a:extLst>
                  <a:ext uri="{0D108BD9-81ED-4DB2-BD59-A6C34878D82A}">
                    <a16:rowId xmlns:a16="http://schemas.microsoft.com/office/drawing/2014/main" val="2015974797"/>
                  </a:ext>
                </a:extLst>
              </a:tr>
              <a:tr h="370840">
                <a:tc>
                  <a:txBody>
                    <a:bodyPr/>
                    <a:lstStyle/>
                    <a:p>
                      <a:r>
                        <a:rPr lang="en-US" dirty="0"/>
                        <a:t>int16</a:t>
                      </a:r>
                    </a:p>
                  </a:txBody>
                  <a:tcPr/>
                </a:tc>
                <a:tc>
                  <a:txBody>
                    <a:bodyPr/>
                    <a:lstStyle/>
                    <a:p>
                      <a:r>
                        <a:rPr lang="en-US" dirty="0"/>
                        <a:t>int16_t</a:t>
                      </a:r>
                    </a:p>
                  </a:txBody>
                  <a:tcPr/>
                </a:tc>
                <a:extLst>
                  <a:ext uri="{0D108BD9-81ED-4DB2-BD59-A6C34878D82A}">
                    <a16:rowId xmlns:a16="http://schemas.microsoft.com/office/drawing/2014/main" val="1073140644"/>
                  </a:ext>
                </a:extLst>
              </a:tr>
              <a:tr h="370840">
                <a:tc>
                  <a:txBody>
                    <a:bodyPr/>
                    <a:lstStyle/>
                    <a:p>
                      <a:r>
                        <a:rPr lang="en-US" dirty="0"/>
                        <a:t>int32</a:t>
                      </a:r>
                    </a:p>
                  </a:txBody>
                  <a:tcPr/>
                </a:tc>
                <a:tc>
                  <a:txBody>
                    <a:bodyPr/>
                    <a:lstStyle/>
                    <a:p>
                      <a:r>
                        <a:rPr lang="en-US" dirty="0"/>
                        <a:t>int32_t</a:t>
                      </a:r>
                    </a:p>
                  </a:txBody>
                  <a:tcPr/>
                </a:tc>
                <a:extLst>
                  <a:ext uri="{0D108BD9-81ED-4DB2-BD59-A6C34878D82A}">
                    <a16:rowId xmlns:a16="http://schemas.microsoft.com/office/drawing/2014/main" val="3185999039"/>
                  </a:ext>
                </a:extLst>
              </a:tr>
              <a:tr h="370840">
                <a:tc>
                  <a:txBody>
                    <a:bodyPr/>
                    <a:lstStyle/>
                    <a:p>
                      <a:r>
                        <a:rPr lang="en-US" dirty="0"/>
                        <a:t>int64</a:t>
                      </a:r>
                    </a:p>
                  </a:txBody>
                  <a:tcPr/>
                </a:tc>
                <a:tc>
                  <a:txBody>
                    <a:bodyPr/>
                    <a:lstStyle/>
                    <a:p>
                      <a:r>
                        <a:rPr lang="en-US" dirty="0"/>
                        <a:t>int64_t</a:t>
                      </a:r>
                    </a:p>
                  </a:txBody>
                  <a:tcPr/>
                </a:tc>
                <a:extLst>
                  <a:ext uri="{0D108BD9-81ED-4DB2-BD59-A6C34878D82A}">
                    <a16:rowId xmlns:a16="http://schemas.microsoft.com/office/drawing/2014/main" val="3761744458"/>
                  </a:ext>
                </a:extLst>
              </a:tr>
              <a:tr h="370840">
                <a:tc>
                  <a:txBody>
                    <a:bodyPr/>
                    <a:lstStyle/>
                    <a:p>
                      <a:r>
                        <a:rPr lang="en-US" dirty="0"/>
                        <a:t>uint8</a:t>
                      </a:r>
                    </a:p>
                  </a:txBody>
                  <a:tcPr/>
                </a:tc>
                <a:tc>
                  <a:txBody>
                    <a:bodyPr/>
                    <a:lstStyle/>
                    <a:p>
                      <a:r>
                        <a:rPr lang="en-US" dirty="0"/>
                        <a:t>uint8_t</a:t>
                      </a:r>
                    </a:p>
                  </a:txBody>
                  <a:tcPr/>
                </a:tc>
                <a:extLst>
                  <a:ext uri="{0D108BD9-81ED-4DB2-BD59-A6C34878D82A}">
                    <a16:rowId xmlns:a16="http://schemas.microsoft.com/office/drawing/2014/main" val="2640560569"/>
                  </a:ext>
                </a:extLst>
              </a:tr>
              <a:tr h="370840">
                <a:tc>
                  <a:txBody>
                    <a:bodyPr/>
                    <a:lstStyle/>
                    <a:p>
                      <a:r>
                        <a:rPr lang="en-US" dirty="0"/>
                        <a:t>uint16</a:t>
                      </a:r>
                    </a:p>
                  </a:txBody>
                  <a:tcPr/>
                </a:tc>
                <a:tc>
                  <a:txBody>
                    <a:bodyPr/>
                    <a:lstStyle/>
                    <a:p>
                      <a:r>
                        <a:rPr lang="en-US" dirty="0"/>
                        <a:t>uint16_t</a:t>
                      </a:r>
                    </a:p>
                  </a:txBody>
                  <a:tcPr/>
                </a:tc>
                <a:extLst>
                  <a:ext uri="{0D108BD9-81ED-4DB2-BD59-A6C34878D82A}">
                    <a16:rowId xmlns:a16="http://schemas.microsoft.com/office/drawing/2014/main" val="4188265043"/>
                  </a:ext>
                </a:extLst>
              </a:tr>
              <a:tr h="370840">
                <a:tc>
                  <a:txBody>
                    <a:bodyPr/>
                    <a:lstStyle/>
                    <a:p>
                      <a:r>
                        <a:rPr lang="en-US" dirty="0"/>
                        <a:t>uint32</a:t>
                      </a:r>
                    </a:p>
                  </a:txBody>
                  <a:tcPr/>
                </a:tc>
                <a:tc>
                  <a:txBody>
                    <a:bodyPr/>
                    <a:lstStyle/>
                    <a:p>
                      <a:r>
                        <a:rPr lang="en-US" dirty="0"/>
                        <a:t>uint32_t</a:t>
                      </a:r>
                    </a:p>
                  </a:txBody>
                  <a:tcPr/>
                </a:tc>
                <a:extLst>
                  <a:ext uri="{0D108BD9-81ED-4DB2-BD59-A6C34878D82A}">
                    <a16:rowId xmlns:a16="http://schemas.microsoft.com/office/drawing/2014/main" val="1762444839"/>
                  </a:ext>
                </a:extLst>
              </a:tr>
              <a:tr h="370840">
                <a:tc>
                  <a:txBody>
                    <a:bodyPr/>
                    <a:lstStyle/>
                    <a:p>
                      <a:r>
                        <a:rPr lang="en-US" dirty="0"/>
                        <a:t>uint64</a:t>
                      </a:r>
                    </a:p>
                  </a:txBody>
                  <a:tcPr/>
                </a:tc>
                <a:tc>
                  <a:txBody>
                    <a:bodyPr/>
                    <a:lstStyle/>
                    <a:p>
                      <a:r>
                        <a:rPr lang="en-US" dirty="0"/>
                        <a:t>uint64_t</a:t>
                      </a:r>
                    </a:p>
                  </a:txBody>
                  <a:tcPr/>
                </a:tc>
                <a:extLst>
                  <a:ext uri="{0D108BD9-81ED-4DB2-BD59-A6C34878D82A}">
                    <a16:rowId xmlns:a16="http://schemas.microsoft.com/office/drawing/2014/main" val="3861980110"/>
                  </a:ext>
                </a:extLst>
              </a:tr>
              <a:tr h="370840">
                <a:tc>
                  <a:txBody>
                    <a:bodyPr/>
                    <a:lstStyle/>
                    <a:p>
                      <a:r>
                        <a:rPr lang="en-US" dirty="0"/>
                        <a:t>bool_</a:t>
                      </a:r>
                    </a:p>
                  </a:txBody>
                  <a:tcPr/>
                </a:tc>
                <a:tc>
                  <a:txBody>
                    <a:bodyPr/>
                    <a:lstStyle/>
                    <a:p>
                      <a:r>
                        <a:rPr lang="en-US" dirty="0"/>
                        <a:t>bool</a:t>
                      </a:r>
                    </a:p>
                  </a:txBody>
                  <a:tcPr/>
                </a:tc>
                <a:extLst>
                  <a:ext uri="{0D108BD9-81ED-4DB2-BD59-A6C34878D82A}">
                    <a16:rowId xmlns:a16="http://schemas.microsoft.com/office/drawing/2014/main" val="3764201866"/>
                  </a:ext>
                </a:extLst>
              </a:tr>
            </a:tbl>
          </a:graphicData>
        </a:graphic>
      </p:graphicFrame>
      <p:graphicFrame>
        <p:nvGraphicFramePr>
          <p:cNvPr id="3" name="Table 2">
            <a:extLst>
              <a:ext uri="{FF2B5EF4-FFF2-40B4-BE49-F238E27FC236}">
                <a16:creationId xmlns:a16="http://schemas.microsoft.com/office/drawing/2014/main" id="{7FCB0B31-3FA0-08BD-FB2F-7B6D792432CB}"/>
              </a:ext>
            </a:extLst>
          </p:cNvPr>
          <p:cNvGraphicFramePr>
            <a:graphicFrameLocks noGrp="1"/>
          </p:cNvGraphicFramePr>
          <p:nvPr/>
        </p:nvGraphicFramePr>
        <p:xfrm>
          <a:off x="5332412" y="2493820"/>
          <a:ext cx="6324600" cy="2966720"/>
        </p:xfrm>
        <a:graphic>
          <a:graphicData uri="http://schemas.openxmlformats.org/drawingml/2006/table">
            <a:tbl>
              <a:tblPr firstRow="1" bandRow="1">
                <a:tableStyleId>{073A0DAA-6AF3-43AB-8588-CEC1D06C72B9}</a:tableStyleId>
              </a:tblPr>
              <a:tblGrid>
                <a:gridCol w="1581150">
                  <a:extLst>
                    <a:ext uri="{9D8B030D-6E8A-4147-A177-3AD203B41FA5}">
                      <a16:colId xmlns:a16="http://schemas.microsoft.com/office/drawing/2014/main" val="105316422"/>
                    </a:ext>
                  </a:extLst>
                </a:gridCol>
                <a:gridCol w="4743450">
                  <a:extLst>
                    <a:ext uri="{9D8B030D-6E8A-4147-A177-3AD203B41FA5}">
                      <a16:colId xmlns:a16="http://schemas.microsoft.com/office/drawing/2014/main" val="2977620354"/>
                    </a:ext>
                  </a:extLst>
                </a:gridCol>
              </a:tblGrid>
              <a:tr h="370840">
                <a:tc>
                  <a:txBody>
                    <a:bodyPr/>
                    <a:lstStyle/>
                    <a:p>
                      <a:r>
                        <a:rPr lang="en-US" dirty="0" err="1"/>
                        <a:t>Numpy</a:t>
                      </a:r>
                      <a:r>
                        <a:rPr lang="en-US" dirty="0"/>
                        <a:t> type</a:t>
                      </a:r>
                    </a:p>
                  </a:txBody>
                  <a:tcPr/>
                </a:tc>
                <a:tc>
                  <a:txBody>
                    <a:bodyPr/>
                    <a:lstStyle/>
                    <a:p>
                      <a:r>
                        <a:rPr lang="en-US" dirty="0"/>
                        <a:t>C/C++ type</a:t>
                      </a:r>
                    </a:p>
                  </a:txBody>
                  <a:tcPr/>
                </a:tc>
                <a:extLst>
                  <a:ext uri="{0D108BD9-81ED-4DB2-BD59-A6C34878D82A}">
                    <a16:rowId xmlns:a16="http://schemas.microsoft.com/office/drawing/2014/main" val="103097719"/>
                  </a:ext>
                </a:extLst>
              </a:tr>
              <a:tr h="370840">
                <a:tc>
                  <a:txBody>
                    <a:bodyPr/>
                    <a:lstStyle/>
                    <a:p>
                      <a:r>
                        <a:rPr lang="en-US" dirty="0"/>
                        <a:t>float16</a:t>
                      </a:r>
                    </a:p>
                  </a:txBody>
                  <a:tcPr/>
                </a:tc>
                <a:tc>
                  <a:txBody>
                    <a:bodyPr/>
                    <a:lstStyle/>
                    <a:p>
                      <a:r>
                        <a:rPr lang="en-US" dirty="0"/>
                        <a:t>Software representation</a:t>
                      </a:r>
                    </a:p>
                  </a:txBody>
                  <a:tcPr/>
                </a:tc>
                <a:extLst>
                  <a:ext uri="{0D108BD9-81ED-4DB2-BD59-A6C34878D82A}">
                    <a16:rowId xmlns:a16="http://schemas.microsoft.com/office/drawing/2014/main" val="2015974797"/>
                  </a:ext>
                </a:extLst>
              </a:tr>
              <a:tr h="370840">
                <a:tc>
                  <a:txBody>
                    <a:bodyPr/>
                    <a:lstStyle/>
                    <a:p>
                      <a:r>
                        <a:rPr lang="en-US" dirty="0"/>
                        <a:t>float32</a:t>
                      </a:r>
                    </a:p>
                  </a:txBody>
                  <a:tcPr/>
                </a:tc>
                <a:tc>
                  <a:txBody>
                    <a:bodyPr/>
                    <a:lstStyle/>
                    <a:p>
                      <a:r>
                        <a:rPr lang="en-US" dirty="0"/>
                        <a:t>float</a:t>
                      </a:r>
                    </a:p>
                  </a:txBody>
                  <a:tcPr/>
                </a:tc>
                <a:extLst>
                  <a:ext uri="{0D108BD9-81ED-4DB2-BD59-A6C34878D82A}">
                    <a16:rowId xmlns:a16="http://schemas.microsoft.com/office/drawing/2014/main" val="1073140644"/>
                  </a:ext>
                </a:extLst>
              </a:tr>
              <a:tr h="370840">
                <a:tc>
                  <a:txBody>
                    <a:bodyPr/>
                    <a:lstStyle/>
                    <a:p>
                      <a:r>
                        <a:rPr lang="en-US" dirty="0"/>
                        <a:t>float64</a:t>
                      </a:r>
                    </a:p>
                  </a:txBody>
                  <a:tcPr/>
                </a:tc>
                <a:tc>
                  <a:txBody>
                    <a:bodyPr/>
                    <a:lstStyle/>
                    <a:p>
                      <a:r>
                        <a:rPr lang="en-US" dirty="0"/>
                        <a:t>double</a:t>
                      </a:r>
                    </a:p>
                  </a:txBody>
                  <a:tcPr/>
                </a:tc>
                <a:extLst>
                  <a:ext uri="{0D108BD9-81ED-4DB2-BD59-A6C34878D82A}">
                    <a16:rowId xmlns:a16="http://schemas.microsoft.com/office/drawing/2014/main" val="3185999039"/>
                  </a:ext>
                </a:extLst>
              </a:tr>
              <a:tr h="370840">
                <a:tc>
                  <a:txBody>
                    <a:bodyPr/>
                    <a:lstStyle/>
                    <a:p>
                      <a:r>
                        <a:rPr lang="en-US" dirty="0"/>
                        <a:t>float128</a:t>
                      </a:r>
                    </a:p>
                  </a:txBody>
                  <a:tcPr/>
                </a:tc>
                <a:tc>
                  <a:txBody>
                    <a:bodyPr/>
                    <a:lstStyle/>
                    <a:p>
                      <a:r>
                        <a:rPr lang="en-US" dirty="0"/>
                        <a:t>long double (depending on architecture)</a:t>
                      </a:r>
                    </a:p>
                  </a:txBody>
                  <a:tcPr/>
                </a:tc>
                <a:extLst>
                  <a:ext uri="{0D108BD9-81ED-4DB2-BD59-A6C34878D82A}">
                    <a16:rowId xmlns:a16="http://schemas.microsoft.com/office/drawing/2014/main" val="3761744458"/>
                  </a:ext>
                </a:extLst>
              </a:tr>
              <a:tr h="370840">
                <a:tc>
                  <a:txBody>
                    <a:bodyPr/>
                    <a:lstStyle/>
                    <a:p>
                      <a:r>
                        <a:rPr lang="en-US" dirty="0"/>
                        <a:t>complex64</a:t>
                      </a:r>
                    </a:p>
                  </a:txBody>
                  <a:tcPr/>
                </a:tc>
                <a:tc>
                  <a:txBody>
                    <a:bodyPr/>
                    <a:lstStyle/>
                    <a:p>
                      <a:r>
                        <a:rPr lang="en-US" sz="1400" b="0" i="0" kern="1200" dirty="0">
                          <a:solidFill>
                            <a:schemeClr val="dk1"/>
                          </a:solidFill>
                          <a:effectLst/>
                          <a:latin typeface="+mn-lt"/>
                          <a:ea typeface="+mn-ea"/>
                          <a:cs typeface="+mn-cs"/>
                        </a:rPr>
                        <a:t>mapped to C structs containing two </a:t>
                      </a:r>
                      <a:r>
                        <a:rPr lang="en-US" sz="1400" dirty="0"/>
                        <a:t>float</a:t>
                      </a:r>
                    </a:p>
                  </a:txBody>
                  <a:tcPr/>
                </a:tc>
                <a:extLst>
                  <a:ext uri="{0D108BD9-81ED-4DB2-BD59-A6C34878D82A}">
                    <a16:rowId xmlns:a16="http://schemas.microsoft.com/office/drawing/2014/main" val="2283715219"/>
                  </a:ext>
                </a:extLst>
              </a:tr>
              <a:tr h="370840">
                <a:tc>
                  <a:txBody>
                    <a:bodyPr/>
                    <a:lstStyle/>
                    <a:p>
                      <a:r>
                        <a:rPr lang="en-US" dirty="0"/>
                        <a:t>comples128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mn-lt"/>
                          <a:ea typeface="+mn-ea"/>
                          <a:cs typeface="+mn-cs"/>
                        </a:rPr>
                        <a:t>mapped to C structs containing two double</a:t>
                      </a:r>
                      <a:endParaRPr lang="en-US" sz="1400" dirty="0"/>
                    </a:p>
                  </a:txBody>
                  <a:tcPr/>
                </a:tc>
                <a:extLst>
                  <a:ext uri="{0D108BD9-81ED-4DB2-BD59-A6C34878D82A}">
                    <a16:rowId xmlns:a16="http://schemas.microsoft.com/office/drawing/2014/main" val="2694989212"/>
                  </a:ext>
                </a:extLst>
              </a:tr>
              <a:tr h="370840">
                <a:tc>
                  <a:txBody>
                    <a:bodyPr/>
                    <a:lstStyle/>
                    <a:p>
                      <a:r>
                        <a:rPr lang="en-US" dirty="0"/>
                        <a:t>Strings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Array of chars</a:t>
                      </a:r>
                    </a:p>
                  </a:txBody>
                  <a:tcPr/>
                </a:tc>
                <a:extLst>
                  <a:ext uri="{0D108BD9-81ED-4DB2-BD59-A6C34878D82A}">
                    <a16:rowId xmlns:a16="http://schemas.microsoft.com/office/drawing/2014/main" val="1871140252"/>
                  </a:ext>
                </a:extLst>
              </a:tr>
            </a:tbl>
          </a:graphicData>
        </a:graphic>
      </p:graphicFrame>
    </p:spTree>
    <p:extLst>
      <p:ext uri="{BB962C8B-B14F-4D97-AF65-F5344CB8AC3E}">
        <p14:creationId xmlns:p14="http://schemas.microsoft.com/office/powerpoint/2010/main" val="3392215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Arrays (constructors)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44709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An array can be created using the method </a:t>
            </a:r>
            <a:r>
              <a:rPr lang="en-US" dirty="0">
                <a:highlight>
                  <a:srgbClr val="C0C0C0"/>
                </a:highlight>
                <a:latin typeface="Arial" panose="020B0604020202020204" pitchFamily="34" charset="0"/>
                <a:cs typeface="Arial" panose="020B0604020202020204" pitchFamily="34" charset="0"/>
              </a:rPr>
              <a:t>.array(…)</a:t>
            </a:r>
            <a:r>
              <a:rPr lang="en-US" dirty="0">
                <a:latin typeface="Arial" panose="020B0604020202020204" pitchFamily="34" charset="0"/>
                <a:cs typeface="Arial" panose="020B0604020202020204" pitchFamily="34" charset="0"/>
              </a:rPr>
              <a:t> defined as follows:</a:t>
            </a:r>
          </a:p>
          <a:p>
            <a:pPr lvl="1"/>
            <a:r>
              <a:rPr lang="en-US" dirty="0">
                <a:highlight>
                  <a:srgbClr val="C0C0C0"/>
                </a:highlight>
                <a:latin typeface="Arial" panose="020B0604020202020204" pitchFamily="34" charset="0"/>
                <a:cs typeface="Arial" panose="020B0604020202020204" pitchFamily="34" charset="0"/>
              </a:rPr>
              <a:t>.array( &lt;data&gt;, [type] )</a:t>
            </a:r>
            <a:r>
              <a:rPr lang="en-US" dirty="0">
                <a:latin typeface="Arial" panose="020B0604020202020204" pitchFamily="34" charset="0"/>
                <a:cs typeface="Arial" panose="020B0604020202020204" pitchFamily="34" charset="0"/>
              </a:rPr>
              <a:t>, where</a:t>
            </a:r>
          </a:p>
          <a:p>
            <a:pPr lvl="2"/>
            <a:r>
              <a:rPr lang="en-US" dirty="0">
                <a:latin typeface="Arial" panose="020B0604020202020204" pitchFamily="34" charset="0"/>
                <a:cs typeface="Arial" panose="020B0604020202020204" pitchFamily="34" charset="0"/>
              </a:rPr>
              <a:t>&lt;data&gt; is the raw data (one usual solution is to provide a list of values)</a:t>
            </a:r>
          </a:p>
          <a:p>
            <a:pPr lvl="2"/>
            <a:r>
              <a:rPr lang="en-US" dirty="0">
                <a:latin typeface="Arial" panose="020B0604020202020204" pitchFamily="34" charset="0"/>
                <a:cs typeface="Arial" panose="020B0604020202020204" pitchFamily="34" charset="0"/>
              </a:rPr>
              <a:t>[type] is an optional parameter that describes a possible scalar type for the data. If not provided, it will be inferred from the data type.</a:t>
            </a: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79612" y="44958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int32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685212" y="4648200"/>
          <a:ext cx="2310341" cy="88900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[1 2 3]</a:t>
                      </a:r>
                    </a:p>
                    <a:p>
                      <a:r>
                        <a:rPr lang="en-US" dirty="0">
                          <a:solidFill>
                            <a:schemeClr val="tx2">
                              <a:lumMod val="95000"/>
                              <a:lumOff val="5000"/>
                            </a:schemeClr>
                          </a:solidFill>
                          <a:latin typeface="Consolas" panose="020B0609020204030204" pitchFamily="49" charset="0"/>
                        </a:rPr>
                        <a:t>int32</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464016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You can also build an array with multiple dimensions (by providing  lists within lists as the first parameter.</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403606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int32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685212" y="4208780"/>
          <a:ext cx="2310341" cy="110236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[[1 2 3]</a:t>
                      </a:r>
                    </a:p>
                    <a:p>
                      <a:r>
                        <a:rPr lang="en-US" dirty="0">
                          <a:solidFill>
                            <a:schemeClr val="tx2">
                              <a:lumMod val="95000"/>
                              <a:lumOff val="5000"/>
                            </a:schemeClr>
                          </a:solidFill>
                          <a:latin typeface="Consolas" panose="020B0609020204030204" pitchFamily="49" charset="0"/>
                        </a:rPr>
                        <a:t> [4 5 6]]</a:t>
                      </a:r>
                    </a:p>
                    <a:p>
                      <a:r>
                        <a:rPr lang="en-US" dirty="0">
                          <a:solidFill>
                            <a:schemeClr val="tx2">
                              <a:lumMod val="95000"/>
                              <a:lumOff val="5000"/>
                            </a:schemeClr>
                          </a:solidFill>
                          <a:latin typeface="Consolas" panose="020B0609020204030204" pitchFamily="49" charset="0"/>
                        </a:rPr>
                        <a:t>int32</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3817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Or a more complex matrix (in terms of shape and definition):</a:t>
            </a: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2971800"/>
            <a:ext cx="9144000" cy="3581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8</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80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609012" y="3200400"/>
          <a:ext cx="2310341" cy="216916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[[[ 1  2  3]</a:t>
                      </a:r>
                    </a:p>
                    <a:p>
                      <a:r>
                        <a:rPr lang="en-US" dirty="0">
                          <a:solidFill>
                            <a:schemeClr val="tx2">
                              <a:lumMod val="95000"/>
                              <a:lumOff val="5000"/>
                            </a:schemeClr>
                          </a:solidFill>
                          <a:latin typeface="Consolas" panose="020B0609020204030204" pitchFamily="49" charset="0"/>
                        </a:rPr>
                        <a:t>  [ 4  5  6]</a:t>
                      </a:r>
                    </a:p>
                    <a:p>
                      <a:r>
                        <a:rPr lang="en-US" dirty="0">
                          <a:solidFill>
                            <a:schemeClr val="tx2">
                              <a:lumMod val="95000"/>
                              <a:lumOff val="5000"/>
                            </a:schemeClr>
                          </a:solidFill>
                          <a:latin typeface="Consolas" panose="020B0609020204030204" pitchFamily="49" charset="0"/>
                        </a:rPr>
                        <a:t>  [ 7  8  9]]</a:t>
                      </a:r>
                    </a:p>
                    <a:p>
                      <a:endParaRPr lang="en-US" dirty="0">
                        <a:solidFill>
                          <a:schemeClr val="tx2">
                            <a:lumMod val="95000"/>
                            <a:lumOff val="5000"/>
                          </a:schemeClr>
                        </a:solidFill>
                        <a:latin typeface="Consolas" panose="020B0609020204030204" pitchFamily="49" charset="0"/>
                      </a:endParaRPr>
                    </a:p>
                    <a:p>
                      <a:r>
                        <a:rPr lang="en-US" dirty="0">
                          <a:solidFill>
                            <a:schemeClr val="tx2">
                              <a:lumMod val="95000"/>
                              <a:lumOff val="5000"/>
                            </a:schemeClr>
                          </a:solidFill>
                          <a:latin typeface="Consolas" panose="020B0609020204030204" pitchFamily="49" charset="0"/>
                        </a:rPr>
                        <a:t> [[10 20 30]</a:t>
                      </a:r>
                    </a:p>
                    <a:p>
                      <a:r>
                        <a:rPr lang="en-US" dirty="0">
                          <a:solidFill>
                            <a:schemeClr val="tx2">
                              <a:lumMod val="95000"/>
                              <a:lumOff val="5000"/>
                            </a:schemeClr>
                          </a:solidFill>
                          <a:latin typeface="Consolas" panose="020B0609020204030204" pitchFamily="49" charset="0"/>
                        </a:rPr>
                        <a:t>  [40 50 60]</a:t>
                      </a:r>
                    </a:p>
                    <a:p>
                      <a:r>
                        <a:rPr lang="en-US" dirty="0">
                          <a:solidFill>
                            <a:schemeClr val="tx2">
                              <a:lumMod val="95000"/>
                              <a:lumOff val="5000"/>
                            </a:schemeClr>
                          </a:solidFill>
                          <a:latin typeface="Consolas" panose="020B0609020204030204" pitchFamily="49" charset="0"/>
                        </a:rPr>
                        <a:t>  [70 80 90]]]</a:t>
                      </a:r>
                    </a:p>
                    <a:p>
                      <a:r>
                        <a:rPr lang="en-US" dirty="0">
                          <a:solidFill>
                            <a:schemeClr val="tx2">
                              <a:lumMod val="95000"/>
                              <a:lumOff val="5000"/>
                            </a:schemeClr>
                          </a:solidFill>
                          <a:latin typeface="Consolas" panose="020B0609020204030204" pitchFamily="49" charset="0"/>
                        </a:rPr>
                        <a:t>int32</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005314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However, keep in mind that when building n-dimensional arrays you have to respect the shape (sizes) for each list within the declaration.</a:t>
            </a: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34290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int32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4037012" y="4419600"/>
          <a:ext cx="7491941" cy="1742440"/>
        </p:xfrm>
        <a:graphic>
          <a:graphicData uri="http://schemas.openxmlformats.org/drawingml/2006/table">
            <a:tbl>
              <a:tblPr firstRow="1" bandRow="1">
                <a:tableStyleId>{2A488322-F2BA-4B5B-9748-0D474271808F}</a:tableStyleId>
              </a:tblPr>
              <a:tblGrid>
                <a:gridCol w="7491941">
                  <a:extLst>
                    <a:ext uri="{9D8B030D-6E8A-4147-A177-3AD203B41FA5}">
                      <a16:colId xmlns:a16="http://schemas.microsoft.com/office/drawing/2014/main" val="3899577134"/>
                    </a:ext>
                  </a:extLst>
                </a:gridCol>
              </a:tblGrid>
              <a:tr h="370840">
                <a:tc>
                  <a:txBody>
                    <a:bodyPr/>
                    <a:lstStyle/>
                    <a:p>
                      <a:r>
                        <a:rPr lang="en-US" dirty="0"/>
                        <a:t>Error</a:t>
                      </a:r>
                    </a:p>
                  </a:txBody>
                  <a:tcPr/>
                </a:tc>
                <a:extLst>
                  <a:ext uri="{0D108BD9-81ED-4DB2-BD59-A6C34878D82A}">
                    <a16:rowId xmlns:a16="http://schemas.microsoft.com/office/drawing/2014/main" val="117988312"/>
                  </a:ext>
                </a:extLst>
              </a:tr>
              <a:tr h="370840">
                <a:tc>
                  <a:txBody>
                    <a:bodyPr/>
                    <a:lstStyle/>
                    <a:p>
                      <a:r>
                        <a:rPr lang="en-US" dirty="0"/>
                        <a:t>Traceback (most recent call last):</a:t>
                      </a:r>
                    </a:p>
                    <a:p>
                      <a:r>
                        <a:rPr lang="en-US" dirty="0"/>
                        <a:t>  File "E:\Lucru\RN\teste\a.py", line 3, in &lt;module&gt;</a:t>
                      </a:r>
                    </a:p>
                    <a:p>
                      <a:r>
                        <a:rPr lang="en-US" dirty="0"/>
                        <a:t>    a = </a:t>
                      </a:r>
                      <a:r>
                        <a:rPr lang="en-US" dirty="0" err="1"/>
                        <a:t>np.array</a:t>
                      </a:r>
                      <a:r>
                        <a:rPr lang="en-US" dirty="0"/>
                        <a:t>([[1,2,3],[4,5]],</a:t>
                      </a:r>
                      <a:r>
                        <a:rPr lang="en-US" dirty="0" err="1"/>
                        <a:t>dtype</a:t>
                      </a:r>
                      <a:r>
                        <a:rPr lang="en-US" dirty="0"/>
                        <a:t>=np.int32)</a:t>
                      </a:r>
                    </a:p>
                    <a:p>
                      <a:r>
                        <a:rPr lang="en-US" dirty="0" err="1"/>
                        <a:t>ValueError</a:t>
                      </a:r>
                      <a:r>
                        <a:rPr lang="en-US" dirty="0"/>
                        <a:t>: setting an array element with a sequence. The requested array has an inhomogeneous shape after 1 dimensions. The detected shape was (2,) + inhomogeneous part.</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33865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However, keep in mind that when building n-dimensional arrays you have to respect the shape (sizes) for each list within the declaration.</a:t>
            </a: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34290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1">
                    <a:lumMod val="75000"/>
                  </a:schemeClr>
                </a:solidFill>
                <a:effectLst/>
                <a:latin typeface="Consolas" panose="020B0609020204030204" pitchFamily="49" charset="0"/>
              </a:rPr>
              <a:t>import </a:t>
            </a:r>
            <a:r>
              <a:rPr lang="en-US" b="0" dirty="0" err="1">
                <a:solidFill>
                  <a:schemeClr val="tx1">
                    <a:lumMod val="75000"/>
                  </a:schemeClr>
                </a:solidFill>
                <a:effectLst/>
                <a:latin typeface="Consolas" panose="020B0609020204030204" pitchFamily="49" charset="0"/>
              </a:rPr>
              <a:t>numpy</a:t>
            </a:r>
            <a:r>
              <a:rPr lang="en-US" b="0" dirty="0">
                <a:solidFill>
                  <a:schemeClr val="tx1">
                    <a:lumMod val="75000"/>
                  </a:schemeClr>
                </a:solidFill>
                <a:effectLst/>
                <a:latin typeface="Consolas" panose="020B0609020204030204" pitchFamily="49" charset="0"/>
              </a:rPr>
              <a:t> as np</a:t>
            </a:r>
          </a:p>
          <a:p>
            <a:br>
              <a:rPr lang="en-US" b="0" dirty="0">
                <a:solidFill>
                  <a:schemeClr val="tx1">
                    <a:lumMod val="75000"/>
                  </a:schemeClr>
                </a:solidFill>
                <a:effectLst/>
                <a:latin typeface="Consolas" panose="020B0609020204030204" pitchFamily="49" charset="0"/>
              </a:rPr>
            </a:br>
            <a:r>
              <a:rPr lang="en-US" b="0" dirty="0">
                <a:solidFill>
                  <a:schemeClr val="tx1">
                    <a:lumMod val="75000"/>
                  </a:schemeClr>
                </a:solidFill>
                <a:effectLst/>
                <a:latin typeface="Consolas" panose="020B0609020204030204" pitchFamily="49" charset="0"/>
              </a:rPr>
              <a:t>a = </a:t>
            </a:r>
            <a:r>
              <a:rPr lang="en-US" b="0" dirty="0" err="1">
                <a:solidFill>
                  <a:schemeClr val="tx1">
                    <a:lumMod val="75000"/>
                  </a:schemeClr>
                </a:solidFill>
                <a:effectLst/>
                <a:latin typeface="Consolas" panose="020B0609020204030204" pitchFamily="49" charset="0"/>
              </a:rPr>
              <a:t>np.array</a:t>
            </a:r>
            <a:r>
              <a:rPr lang="en-US" b="0" dirty="0">
                <a:solidFill>
                  <a:schemeClr val="tx1">
                    <a:lumMod val="75000"/>
                  </a:schemeClr>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chemeClr val="tx1">
                    <a:lumMod val="75000"/>
                  </a:schemeClr>
                </a:solidFill>
                <a:effectLst/>
                <a:latin typeface="Consolas" panose="020B0609020204030204" pitchFamily="49" charset="0"/>
              </a:rPr>
              <a:t>,</a:t>
            </a:r>
            <a:r>
              <a:rPr lang="en-US" b="0" dirty="0" err="1">
                <a:solidFill>
                  <a:schemeClr val="tx1">
                    <a:lumMod val="75000"/>
                  </a:schemeClr>
                </a:solidFill>
                <a:effectLst/>
                <a:latin typeface="Consolas" panose="020B0609020204030204" pitchFamily="49" charset="0"/>
              </a:rPr>
              <a:t>dtype</a:t>
            </a:r>
            <a:r>
              <a:rPr lang="en-US" b="0" dirty="0">
                <a:solidFill>
                  <a:schemeClr val="tx1">
                    <a:lumMod val="75000"/>
                  </a:schemeClr>
                </a:solidFill>
                <a:effectLst/>
                <a:latin typeface="Consolas" panose="020B0609020204030204" pitchFamily="49" charset="0"/>
              </a:rPr>
              <a:t>=np.int32)</a:t>
            </a:r>
          </a:p>
          <a:p>
            <a:r>
              <a:rPr lang="en-US" b="0" dirty="0">
                <a:solidFill>
                  <a:schemeClr val="tx1">
                    <a:lumMod val="75000"/>
                  </a:schemeClr>
                </a:solidFill>
                <a:effectLst/>
                <a:latin typeface="Consolas" panose="020B0609020204030204" pitchFamily="49" charset="0"/>
              </a:rPr>
              <a:t>print(a)</a:t>
            </a:r>
          </a:p>
          <a:p>
            <a:r>
              <a:rPr lang="en-US" b="0" dirty="0">
                <a:solidFill>
                  <a:schemeClr val="tx1">
                    <a:lumMod val="75000"/>
                  </a:schemeClr>
                </a:solidFill>
                <a:effectLst/>
                <a:latin typeface="Consolas" panose="020B0609020204030204" pitchFamily="49" charset="0"/>
              </a:rPr>
              <a:t>print(</a:t>
            </a:r>
            <a:r>
              <a:rPr lang="en-US" b="0" dirty="0" err="1">
                <a:solidFill>
                  <a:schemeClr val="tx1">
                    <a:lumMod val="75000"/>
                  </a:schemeClr>
                </a:solidFill>
                <a:effectLst/>
                <a:latin typeface="Consolas" panose="020B0609020204030204" pitchFamily="49" charset="0"/>
              </a:rPr>
              <a:t>a.dtype</a:t>
            </a:r>
            <a:r>
              <a:rPr lang="en-US" b="0" dirty="0">
                <a:solidFill>
                  <a:schemeClr val="tx1">
                    <a:lumMod val="75000"/>
                  </a:schemeClr>
                </a:solidFill>
                <a:effectLst/>
                <a:latin typeface="Consolas" panose="020B0609020204030204" pitchFamily="49" charset="0"/>
              </a:rPr>
              <a:t>)</a:t>
            </a:r>
          </a:p>
        </p:txBody>
      </p:sp>
      <p:sp>
        <p:nvSpPr>
          <p:cNvPr id="4" name="Rectangle 3">
            <a:extLst>
              <a:ext uri="{FF2B5EF4-FFF2-40B4-BE49-F238E27FC236}">
                <a16:creationId xmlns:a16="http://schemas.microsoft.com/office/drawing/2014/main" id="{DF6BEDD4-A0CC-D5A1-5187-3F891AABF46A}"/>
              </a:ext>
            </a:extLst>
          </p:cNvPr>
          <p:cNvSpPr/>
          <p:nvPr/>
        </p:nvSpPr>
        <p:spPr>
          <a:xfrm>
            <a:off x="3143394" y="3933154"/>
            <a:ext cx="190500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Up Arrow 6">
            <a:extLst>
              <a:ext uri="{FF2B5EF4-FFF2-40B4-BE49-F238E27FC236}">
                <a16:creationId xmlns:a16="http://schemas.microsoft.com/office/drawing/2014/main" id="{4179808C-4A11-F390-D2ED-92F7367BB1DA}"/>
              </a:ext>
            </a:extLst>
          </p:cNvPr>
          <p:cNvSpPr/>
          <p:nvPr/>
        </p:nvSpPr>
        <p:spPr>
          <a:xfrm>
            <a:off x="2243941" y="4426066"/>
            <a:ext cx="4729141" cy="1663468"/>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In our case, </a:t>
            </a:r>
            <a:r>
              <a:rPr lang="en-US" dirty="0">
                <a:highlight>
                  <a:srgbClr val="000000"/>
                </a:highlight>
              </a:rPr>
              <a:t>[1,2,3]</a:t>
            </a:r>
            <a:r>
              <a:rPr lang="en-US" dirty="0"/>
              <a:t> has the size of 3 and </a:t>
            </a:r>
            <a:r>
              <a:rPr lang="en-US" dirty="0">
                <a:highlight>
                  <a:srgbClr val="000000"/>
                </a:highlight>
              </a:rPr>
              <a:t>[4,5]</a:t>
            </a:r>
            <a:r>
              <a:rPr lang="en-US" dirty="0"/>
              <a:t> has the size 2 (and it is impossible to construct a matrix this way)</a:t>
            </a:r>
          </a:p>
        </p:txBody>
      </p:sp>
    </p:spTree>
    <p:extLst>
      <p:ext uri="{BB962C8B-B14F-4D97-AF65-F5344CB8AC3E}">
        <p14:creationId xmlns:p14="http://schemas.microsoft.com/office/powerpoint/2010/main" val="2233462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When converting the value from an array into internal data, a cast is being performed (that might lose precision).</a:t>
            </a:r>
          </a:p>
          <a:p>
            <a:r>
              <a:rPr lang="en-US" dirty="0">
                <a:latin typeface="Arial" panose="020B0604020202020204" pitchFamily="34" charset="0"/>
                <a:cs typeface="Arial" panose="020B0604020202020204" pitchFamily="34" charset="0"/>
              </a:rPr>
              <a:t>Examples:</a:t>
            </a:r>
          </a:p>
        </p:txBody>
      </p:sp>
      <p:sp>
        <p:nvSpPr>
          <p:cNvPr id="2" name="Rectangle 1">
            <a:extLst>
              <a:ext uri="{FF2B5EF4-FFF2-40B4-BE49-F238E27FC236}">
                <a16:creationId xmlns:a16="http://schemas.microsoft.com/office/drawing/2014/main" id="{45FED430-06A4-77E2-798D-E562DBDED8D1}"/>
              </a:ext>
            </a:extLst>
          </p:cNvPr>
          <p:cNvSpPr/>
          <p:nvPr/>
        </p:nvSpPr>
        <p:spPr>
          <a:xfrm>
            <a:off x="2055812" y="31242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2</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int32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699813" y="3276600"/>
          <a:ext cx="2310341" cy="88900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[1 2 4]</a:t>
                      </a:r>
                    </a:p>
                    <a:p>
                      <a:r>
                        <a:rPr lang="en-US" dirty="0">
                          <a:solidFill>
                            <a:schemeClr val="tx2">
                              <a:lumMod val="95000"/>
                              <a:lumOff val="5000"/>
                            </a:schemeClr>
                          </a:solidFill>
                          <a:latin typeface="Consolas" panose="020B0609020204030204" pitchFamily="49" charset="0"/>
                        </a:rPr>
                        <a:t>int32</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B015A19D-BC38-33A4-1F03-486C01CEB862}"/>
              </a:ext>
            </a:extLst>
          </p:cNvPr>
          <p:cNvSpPr/>
          <p:nvPr/>
        </p:nvSpPr>
        <p:spPr>
          <a:xfrm>
            <a:off x="2049478" y="4906963"/>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dirty="0">
                <a:solidFill>
                  <a:srgbClr val="E0EBB2"/>
                </a:solidFill>
                <a:latin typeface="Consolas" panose="020B0609020204030204" pitchFamily="49" charset="0"/>
              </a:rPr>
              <a:t>2.7</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int32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1B8C5ACE-DCFE-24B1-D0D1-85C272418709}"/>
              </a:ext>
            </a:extLst>
          </p:cNvPr>
          <p:cNvGraphicFramePr>
            <a:graphicFrameLocks noGrp="1"/>
          </p:cNvGraphicFramePr>
          <p:nvPr/>
        </p:nvGraphicFramePr>
        <p:xfrm>
          <a:off x="8699813" y="5116576"/>
          <a:ext cx="2310341" cy="88900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[1 2 4]</a:t>
                      </a:r>
                    </a:p>
                    <a:p>
                      <a:r>
                        <a:rPr lang="en-US" dirty="0">
                          <a:solidFill>
                            <a:schemeClr val="tx2">
                              <a:lumMod val="95000"/>
                              <a:lumOff val="5000"/>
                            </a:schemeClr>
                          </a:solidFill>
                          <a:latin typeface="Consolas" panose="020B0609020204030204" pitchFamily="49" charset="0"/>
                        </a:rPr>
                        <a:t>int32</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53197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However, keep in mind that the cast has to be possible (this usually translates into having an operator such as </a:t>
            </a:r>
            <a:r>
              <a:rPr lang="en-US" dirty="0">
                <a:highlight>
                  <a:srgbClr val="C0C0C0"/>
                </a:highlight>
                <a:latin typeface="Arial" panose="020B0604020202020204" pitchFamily="34" charset="0"/>
                <a:cs typeface="Arial" panose="020B0604020202020204" pitchFamily="34" charset="0"/>
              </a:rPr>
              <a:t>int()</a:t>
            </a:r>
            <a:r>
              <a:rPr lang="en-US" dirty="0">
                <a:latin typeface="Arial" panose="020B0604020202020204" pitchFamily="34" charset="0"/>
                <a:cs typeface="Arial" panose="020B0604020202020204" pitchFamily="34" charset="0"/>
              </a:rPr>
              <a:t> defined for that specific type).</a:t>
            </a: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34290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some text</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int32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8" name="Table 3">
            <a:extLst>
              <a:ext uri="{FF2B5EF4-FFF2-40B4-BE49-F238E27FC236}">
                <a16:creationId xmlns:a16="http://schemas.microsoft.com/office/drawing/2014/main" id="{E62BFB3F-36B6-0BFD-5531-EB37BA7C66AB}"/>
              </a:ext>
            </a:extLst>
          </p:cNvPr>
          <p:cNvGraphicFramePr>
            <a:graphicFrameLocks noGrp="1"/>
          </p:cNvGraphicFramePr>
          <p:nvPr/>
        </p:nvGraphicFramePr>
        <p:xfrm>
          <a:off x="5027612" y="4572000"/>
          <a:ext cx="6477000" cy="1315720"/>
        </p:xfrm>
        <a:graphic>
          <a:graphicData uri="http://schemas.openxmlformats.org/drawingml/2006/table">
            <a:tbl>
              <a:tblPr firstRow="1" bandRow="1">
                <a:tableStyleId>{2A488322-F2BA-4B5B-9748-0D474271808F}</a:tableStyleId>
              </a:tblPr>
              <a:tblGrid>
                <a:gridCol w="6477000">
                  <a:extLst>
                    <a:ext uri="{9D8B030D-6E8A-4147-A177-3AD203B41FA5}">
                      <a16:colId xmlns:a16="http://schemas.microsoft.com/office/drawing/2014/main" val="3899577134"/>
                    </a:ext>
                  </a:extLst>
                </a:gridCol>
              </a:tblGrid>
              <a:tr h="370840">
                <a:tc>
                  <a:txBody>
                    <a:bodyPr/>
                    <a:lstStyle/>
                    <a:p>
                      <a:r>
                        <a:rPr lang="en-US"/>
                        <a:t>Error</a:t>
                      </a:r>
                      <a:endParaRPr lang="en-US" dirty="0"/>
                    </a:p>
                  </a:txBody>
                  <a:tcPr/>
                </a:tc>
                <a:extLst>
                  <a:ext uri="{0D108BD9-81ED-4DB2-BD59-A6C34878D82A}">
                    <a16:rowId xmlns:a16="http://schemas.microsoft.com/office/drawing/2014/main" val="117988312"/>
                  </a:ext>
                </a:extLst>
              </a:tr>
              <a:tr h="370840">
                <a:tc>
                  <a:txBody>
                    <a:bodyPr/>
                    <a:lstStyle/>
                    <a:p>
                      <a:r>
                        <a:rPr lang="en-US" dirty="0"/>
                        <a:t>Traceback (most recent call last):</a:t>
                      </a:r>
                    </a:p>
                    <a:p>
                      <a:r>
                        <a:rPr lang="en-US" dirty="0"/>
                        <a:t>  File "E:\Lucru\RN\teste\a.py", line 3, in &lt;module&gt;</a:t>
                      </a:r>
                    </a:p>
                    <a:p>
                      <a:r>
                        <a:rPr lang="en-US" dirty="0"/>
                        <a:t>    a = </a:t>
                      </a:r>
                      <a:r>
                        <a:rPr lang="en-US" dirty="0" err="1"/>
                        <a:t>np.array</a:t>
                      </a:r>
                      <a:r>
                        <a:rPr lang="en-US" dirty="0"/>
                        <a:t>([1,"some text",4],</a:t>
                      </a:r>
                      <a:r>
                        <a:rPr lang="en-US" dirty="0" err="1"/>
                        <a:t>dtype</a:t>
                      </a:r>
                      <a:r>
                        <a:rPr lang="en-US" dirty="0"/>
                        <a:t>=np.int32)</a:t>
                      </a:r>
                    </a:p>
                    <a:p>
                      <a:r>
                        <a:rPr lang="en-US" dirty="0" err="1"/>
                        <a:t>ValueError</a:t>
                      </a:r>
                      <a:r>
                        <a:rPr lang="en-US" dirty="0"/>
                        <a:t>: invalid literal for int() with base 10: 'some text'</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253924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If the second parameter is missing, the type is inferred. If the input data contains values of different types, the larger one will be selected.</a:t>
            </a:r>
          </a:p>
          <a:p>
            <a:r>
              <a:rPr lang="en-US" dirty="0">
                <a:latin typeface="Arial" panose="020B0604020202020204" pitchFamily="34" charset="0"/>
                <a:cs typeface="Arial" panose="020B0604020202020204" pitchFamily="34" charset="0"/>
              </a:rPr>
              <a:t>Example:</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Since 2.5 (a float64) is the biggest value, the entire array will be considered of this type.</a:t>
            </a:r>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2145866" y="3714681"/>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761412" y="3974592"/>
          <a:ext cx="2310341" cy="88900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[1.  2.5 4. ]</a:t>
                      </a:r>
                    </a:p>
                    <a:p>
                      <a:r>
                        <a:rPr lang="en-US" dirty="0">
                          <a:solidFill>
                            <a:schemeClr val="tx2">
                              <a:lumMod val="95000"/>
                              <a:lumOff val="5000"/>
                            </a:schemeClr>
                          </a:solidFill>
                          <a:latin typeface="Consolas" panose="020B0609020204030204" pitchFamily="49" charset="0"/>
                        </a:rPr>
                        <a:t>float64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49061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029200"/>
          </a:xfrm>
        </p:spPr>
        <p:txBody>
          <a:bodyPr>
            <a:normAutofit/>
          </a:bodyPr>
          <a:lstStyle/>
          <a:p>
            <a:r>
              <a:rPr lang="en-US" dirty="0">
                <a:latin typeface="Arial" panose="020B0604020202020204" pitchFamily="34" charset="0"/>
                <a:cs typeface="Arial" panose="020B0604020202020204" pitchFamily="34" charset="0"/>
              </a:rPr>
              <a:t>We should also mention that using strings (or large strings) might have a different behavior.</a:t>
            </a:r>
          </a:p>
          <a:p>
            <a:r>
              <a:rPr lang="en-US" dirty="0">
                <a:latin typeface="Arial" panose="020B0604020202020204" pitchFamily="34" charset="0"/>
                <a:cs typeface="Arial" panose="020B0604020202020204" pitchFamily="34" charset="0"/>
              </a:rPr>
              <a:t>Example:</a:t>
            </a:r>
          </a:p>
          <a:p>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This has the following translation:</a:t>
            </a:r>
          </a:p>
          <a:p>
            <a:pPr lvl="1"/>
            <a:r>
              <a:rPr lang="en-US" dirty="0">
                <a:latin typeface="Arial" panose="020B0604020202020204" pitchFamily="34" charset="0"/>
                <a:cs typeface="Arial" panose="020B0604020202020204" pitchFamily="34" charset="0"/>
              </a:rPr>
              <a:t>“&lt;“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little endian</a:t>
            </a:r>
          </a:p>
          <a:p>
            <a:pPr lvl="1"/>
            <a:r>
              <a:rPr lang="en-US" dirty="0">
                <a:latin typeface="Arial" panose="020B0604020202020204" pitchFamily="34" charset="0"/>
                <a:cs typeface="Arial" panose="020B0604020202020204" pitchFamily="34" charset="0"/>
              </a:rPr>
              <a:t>“U”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Unicode string</a:t>
            </a:r>
          </a:p>
          <a:p>
            <a:pPr lvl="1"/>
            <a:r>
              <a:rPr lang="en-US" dirty="0">
                <a:latin typeface="Arial" panose="020B0604020202020204" pitchFamily="34" charset="0"/>
                <a:cs typeface="Arial" panose="020B0604020202020204" pitchFamily="34" charset="0"/>
              </a:rPr>
              <a:t>“33” 	</a:t>
            </a:r>
            <a:r>
              <a:rPr lang="en-US" dirty="0">
                <a:latin typeface="Arial" panose="020B0604020202020204" pitchFamily="34" charset="0"/>
                <a:cs typeface="Arial" panose="020B0604020202020204" pitchFamily="34" charset="0"/>
                <a:sym typeface="Wingdings" panose="05000000000000000000" pitchFamily="2" charset="2"/>
              </a:rPr>
              <a:t> 33 characters</a:t>
            </a:r>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335534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1</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hello world from python and </a:t>
            </a:r>
            <a:r>
              <a:rPr lang="en-US" b="0" dirty="0" err="1">
                <a:solidFill>
                  <a:srgbClr val="E68A8A"/>
                </a:solidFill>
                <a:effectLst/>
                <a:latin typeface="Consolas" panose="020B0609020204030204" pitchFamily="49" charset="0"/>
              </a:rPr>
              <a:t>numpy</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5042212" y="2758440"/>
          <a:ext cx="6705600" cy="889000"/>
        </p:xfrm>
        <a:graphic>
          <a:graphicData uri="http://schemas.openxmlformats.org/drawingml/2006/table">
            <a:tbl>
              <a:tblPr firstRow="1" bandRow="1">
                <a:tableStyleId>{073A0DAA-6AF3-43AB-8588-CEC1D06C72B9}</a:tableStyleId>
              </a:tblPr>
              <a:tblGrid>
                <a:gridCol w="6705600">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['1' '2.5' '4' 'hello world from python and </a:t>
                      </a:r>
                      <a:r>
                        <a:rPr lang="en-US" dirty="0" err="1">
                          <a:solidFill>
                            <a:schemeClr val="tx2">
                              <a:lumMod val="95000"/>
                              <a:lumOff val="5000"/>
                            </a:schemeClr>
                          </a:solidFill>
                          <a:latin typeface="Consolas" panose="020B0609020204030204" pitchFamily="49" charset="0"/>
                        </a:rPr>
                        <a:t>numpy</a:t>
                      </a:r>
                      <a:r>
                        <a:rPr lang="en-US" dirty="0">
                          <a:solidFill>
                            <a:schemeClr val="tx2">
                              <a:lumMod val="95000"/>
                              <a:lumOff val="5000"/>
                            </a:schemeClr>
                          </a:solidFill>
                          <a:latin typeface="Consolas" panose="020B0609020204030204" pitchFamily="49" charset="0"/>
                        </a:rPr>
                        <a:t>']</a:t>
                      </a:r>
                    </a:p>
                    <a:p>
                      <a:r>
                        <a:rPr lang="en-US" dirty="0">
                          <a:solidFill>
                            <a:schemeClr val="tx2">
                              <a:lumMod val="95000"/>
                              <a:lumOff val="5000"/>
                            </a:schemeClr>
                          </a:solidFill>
                          <a:latin typeface="Consolas" panose="020B0609020204030204" pitchFamily="49" charset="0"/>
                        </a:rPr>
                        <a:t>&lt;U33</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408844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Another way of create an array is with </a:t>
            </a:r>
            <a:r>
              <a:rPr lang="en-US" dirty="0">
                <a:highlight>
                  <a:srgbClr val="C0C0C0"/>
                </a:highlight>
                <a:latin typeface="Arial" panose="020B0604020202020204" pitchFamily="34" charset="0"/>
                <a:cs typeface="Arial" panose="020B0604020202020204" pitchFamily="34" charset="0"/>
              </a:rPr>
              <a:t>.zeros(&lt;shape&gt;,[type])</a:t>
            </a:r>
            <a:r>
              <a:rPr lang="en-US" dirty="0">
                <a:latin typeface="Arial" panose="020B0604020202020204" pitchFamily="34" charset="0"/>
                <a:cs typeface="Arial" panose="020B0604020202020204" pitchFamily="34" charset="0"/>
              </a:rPr>
              <a:t> method.</a:t>
            </a:r>
          </a:p>
          <a:p>
            <a:r>
              <a:rPr lang="en-US" dirty="0">
                <a:latin typeface="Arial" panose="020B0604020202020204" pitchFamily="34" charset="0"/>
                <a:cs typeface="Arial" panose="020B0604020202020204" pitchFamily="34" charset="0"/>
              </a:rPr>
              <a:t>Examples:</a:t>
            </a:r>
          </a:p>
        </p:txBody>
      </p:sp>
      <p:sp>
        <p:nvSpPr>
          <p:cNvPr id="2" name="Rectangle 1">
            <a:extLst>
              <a:ext uri="{FF2B5EF4-FFF2-40B4-BE49-F238E27FC236}">
                <a16:creationId xmlns:a16="http://schemas.microsoft.com/office/drawing/2014/main" id="{45FED430-06A4-77E2-798D-E562DBDED8D1}"/>
              </a:ext>
            </a:extLst>
          </p:cNvPr>
          <p:cNvSpPr/>
          <p:nvPr/>
        </p:nvSpPr>
        <p:spPr>
          <a:xfrm>
            <a:off x="2055812" y="31242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zeros</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761412" y="2819400"/>
          <a:ext cx="2310341" cy="131572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[[0. 0. 0. 0.]</a:t>
                      </a:r>
                    </a:p>
                    <a:p>
                      <a:r>
                        <a:rPr lang="en-US" dirty="0">
                          <a:solidFill>
                            <a:schemeClr val="tx2">
                              <a:lumMod val="95000"/>
                              <a:lumOff val="5000"/>
                            </a:schemeClr>
                          </a:solidFill>
                          <a:latin typeface="Consolas" panose="020B0609020204030204" pitchFamily="49" charset="0"/>
                        </a:rPr>
                        <a:t> [0. 0. 0. 0.]</a:t>
                      </a:r>
                    </a:p>
                    <a:p>
                      <a:r>
                        <a:rPr lang="en-US" dirty="0">
                          <a:solidFill>
                            <a:schemeClr val="tx2">
                              <a:lumMod val="95000"/>
                              <a:lumOff val="5000"/>
                            </a:schemeClr>
                          </a:solidFill>
                          <a:latin typeface="Consolas" panose="020B0609020204030204" pitchFamily="49" charset="0"/>
                        </a:rPr>
                        <a:t> [0. 0. 0. 0.]]</a:t>
                      </a:r>
                    </a:p>
                    <a:p>
                      <a:r>
                        <a:rPr lang="en-US" dirty="0">
                          <a:solidFill>
                            <a:schemeClr val="tx2">
                              <a:lumMod val="95000"/>
                              <a:lumOff val="5000"/>
                            </a:schemeClr>
                          </a:solidFill>
                          <a:latin typeface="Consolas" panose="020B0609020204030204" pitchFamily="49" charset="0"/>
                        </a:rPr>
                        <a:t>float64</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B015A19D-BC38-33A4-1F03-486C01CEB862}"/>
              </a:ext>
            </a:extLst>
          </p:cNvPr>
          <p:cNvSpPr/>
          <p:nvPr/>
        </p:nvSpPr>
        <p:spPr>
          <a:xfrm>
            <a:off x="2049478" y="4906963"/>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zeros</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uint16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1B8C5ACE-DCFE-24B1-D0D1-85C272418709}"/>
              </a:ext>
            </a:extLst>
          </p:cNvPr>
          <p:cNvGraphicFramePr>
            <a:graphicFrameLocks noGrp="1"/>
          </p:cNvGraphicFramePr>
          <p:nvPr/>
        </p:nvGraphicFramePr>
        <p:xfrm>
          <a:off x="8761412" y="5029200"/>
          <a:ext cx="2310341" cy="110236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nl-NL" dirty="0">
                          <a:solidFill>
                            <a:schemeClr val="tx2">
                              <a:lumMod val="95000"/>
                              <a:lumOff val="5000"/>
                            </a:schemeClr>
                          </a:solidFill>
                          <a:latin typeface="Consolas" panose="020B0609020204030204" pitchFamily="49" charset="0"/>
                        </a:rPr>
                        <a:t>[[0 0 0 0]</a:t>
                      </a:r>
                    </a:p>
                    <a:p>
                      <a:r>
                        <a:rPr lang="nl-NL" dirty="0">
                          <a:solidFill>
                            <a:schemeClr val="tx2">
                              <a:lumMod val="95000"/>
                              <a:lumOff val="5000"/>
                            </a:schemeClr>
                          </a:solidFill>
                          <a:latin typeface="Consolas" panose="020B0609020204030204" pitchFamily="49" charset="0"/>
                        </a:rPr>
                        <a:t> [0 0 0 0]]</a:t>
                      </a:r>
                    </a:p>
                    <a:p>
                      <a:r>
                        <a:rPr lang="nl-NL" dirty="0">
                          <a:solidFill>
                            <a:schemeClr val="tx2">
                              <a:lumMod val="95000"/>
                              <a:lumOff val="5000"/>
                            </a:schemeClr>
                          </a:solidFill>
                          <a:latin typeface="Consolas" panose="020B0609020204030204" pitchFamily="49" charset="0"/>
                        </a:rPr>
                        <a:t>uint16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02342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Similarly, </a:t>
            </a:r>
            <a:r>
              <a:rPr lang="en-US" dirty="0">
                <a:highlight>
                  <a:srgbClr val="C0C0C0"/>
                </a:highlight>
                <a:latin typeface="Arial" panose="020B0604020202020204" pitchFamily="34" charset="0"/>
                <a:cs typeface="Arial" panose="020B0604020202020204" pitchFamily="34" charset="0"/>
              </a:rPr>
              <a:t>.ones(&lt;shape&gt;,[type])</a:t>
            </a:r>
            <a:r>
              <a:rPr lang="en-US" dirty="0">
                <a:latin typeface="Arial" panose="020B0604020202020204" pitchFamily="34" charset="0"/>
                <a:cs typeface="Arial" panose="020B0604020202020204" pitchFamily="34" charset="0"/>
              </a:rPr>
              <a:t> method performs the same task but uses 1 instead of 0 to fill a matrix:</a:t>
            </a:r>
          </a:p>
          <a:p>
            <a:r>
              <a:rPr lang="en-US" dirty="0">
                <a:latin typeface="Arial" panose="020B0604020202020204" pitchFamily="34" charset="0"/>
                <a:cs typeface="Arial" panose="020B0604020202020204" pitchFamily="34" charset="0"/>
              </a:rPr>
              <a:t>Examples:</a:t>
            </a:r>
          </a:p>
        </p:txBody>
      </p:sp>
      <p:sp>
        <p:nvSpPr>
          <p:cNvPr id="2" name="Rectangle 1">
            <a:extLst>
              <a:ext uri="{FF2B5EF4-FFF2-40B4-BE49-F238E27FC236}">
                <a16:creationId xmlns:a16="http://schemas.microsoft.com/office/drawing/2014/main" id="{45FED430-06A4-77E2-798D-E562DBDED8D1}"/>
              </a:ext>
            </a:extLst>
          </p:cNvPr>
          <p:cNvSpPr/>
          <p:nvPr/>
        </p:nvSpPr>
        <p:spPr>
          <a:xfrm>
            <a:off x="2055812" y="31242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ones</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761411" y="3205480"/>
          <a:ext cx="2310341" cy="110236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[[1. 1. 1.]</a:t>
                      </a:r>
                    </a:p>
                    <a:p>
                      <a:r>
                        <a:rPr lang="en-US" dirty="0">
                          <a:solidFill>
                            <a:schemeClr val="tx2">
                              <a:lumMod val="95000"/>
                              <a:lumOff val="5000"/>
                            </a:schemeClr>
                          </a:solidFill>
                          <a:latin typeface="Consolas" panose="020B0609020204030204" pitchFamily="49" charset="0"/>
                        </a:rPr>
                        <a:t> [1. 1. 1.]]</a:t>
                      </a:r>
                    </a:p>
                    <a:p>
                      <a:r>
                        <a:rPr lang="en-US" dirty="0">
                          <a:solidFill>
                            <a:schemeClr val="tx2">
                              <a:lumMod val="95000"/>
                              <a:lumOff val="5000"/>
                            </a:schemeClr>
                          </a:solidFill>
                          <a:latin typeface="Consolas" panose="020B0609020204030204" pitchFamily="49" charset="0"/>
                        </a:rPr>
                        <a:t>float64</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B015A19D-BC38-33A4-1F03-486C01CEB862}"/>
              </a:ext>
            </a:extLst>
          </p:cNvPr>
          <p:cNvSpPr/>
          <p:nvPr/>
        </p:nvSpPr>
        <p:spPr>
          <a:xfrm>
            <a:off x="2049478" y="4906963"/>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ones</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uint16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1B8C5ACE-DCFE-24B1-D0D1-85C272418709}"/>
              </a:ext>
            </a:extLst>
          </p:cNvPr>
          <p:cNvGraphicFramePr>
            <a:graphicFrameLocks noGrp="1"/>
          </p:cNvGraphicFramePr>
          <p:nvPr/>
        </p:nvGraphicFramePr>
        <p:xfrm>
          <a:off x="8761412" y="5029200"/>
          <a:ext cx="2310341" cy="110236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a:solidFill>
                            <a:schemeClr val="tx2">
                              <a:lumMod val="95000"/>
                              <a:lumOff val="5000"/>
                            </a:schemeClr>
                          </a:solidFill>
                        </a:rPr>
                        <a:t>Output</a:t>
                      </a:r>
                      <a:endParaRPr lang="en-US" dirty="0">
                        <a:solidFill>
                          <a:schemeClr val="tx2">
                            <a:lumMod val="95000"/>
                            <a:lumOff val="5000"/>
                          </a:schemeClr>
                        </a:solidFill>
                      </a:endParaRPr>
                    </a:p>
                  </a:txBody>
                  <a:tcPr/>
                </a:tc>
                <a:extLst>
                  <a:ext uri="{0D108BD9-81ED-4DB2-BD59-A6C34878D82A}">
                    <a16:rowId xmlns:a16="http://schemas.microsoft.com/office/drawing/2014/main" val="117988312"/>
                  </a:ext>
                </a:extLst>
              </a:tr>
              <a:tr h="370840">
                <a:tc>
                  <a:txBody>
                    <a:bodyPr/>
                    <a:lstStyle/>
                    <a:p>
                      <a:r>
                        <a:rPr lang="nl-NL" dirty="0">
                          <a:solidFill>
                            <a:schemeClr val="tx2">
                              <a:lumMod val="95000"/>
                              <a:lumOff val="5000"/>
                            </a:schemeClr>
                          </a:solidFill>
                          <a:latin typeface="Consolas" panose="020B0609020204030204" pitchFamily="49" charset="0"/>
                        </a:rPr>
                        <a:t>[[1 1 1 1]</a:t>
                      </a:r>
                    </a:p>
                    <a:p>
                      <a:r>
                        <a:rPr lang="nl-NL" dirty="0">
                          <a:solidFill>
                            <a:schemeClr val="tx2">
                              <a:lumMod val="95000"/>
                              <a:lumOff val="5000"/>
                            </a:schemeClr>
                          </a:solidFill>
                          <a:latin typeface="Consolas" panose="020B0609020204030204" pitchFamily="49" charset="0"/>
                        </a:rPr>
                        <a:t> [1 1 1 1]]</a:t>
                      </a:r>
                    </a:p>
                    <a:p>
                      <a:r>
                        <a:rPr lang="nl-NL" dirty="0">
                          <a:solidFill>
                            <a:schemeClr val="tx2">
                              <a:lumMod val="95000"/>
                              <a:lumOff val="5000"/>
                            </a:schemeClr>
                          </a:solidFill>
                          <a:latin typeface="Consolas" panose="020B0609020204030204" pitchFamily="49" charset="0"/>
                        </a:rPr>
                        <a:t>uint16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253353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Another method is </a:t>
            </a:r>
            <a:r>
              <a:rPr lang="en-US" dirty="0">
                <a:highlight>
                  <a:srgbClr val="C0C0C0"/>
                </a:highlight>
                <a:latin typeface="Arial" panose="020B0604020202020204" pitchFamily="34" charset="0"/>
                <a:cs typeface="Arial" panose="020B0604020202020204" pitchFamily="34" charset="0"/>
              </a:rPr>
              <a:t>.</a:t>
            </a:r>
            <a:r>
              <a:rPr lang="en-US" dirty="0" err="1">
                <a:solidFill>
                  <a:schemeClr val="tx2">
                    <a:lumMod val="95000"/>
                    <a:lumOff val="5000"/>
                  </a:schemeClr>
                </a:solidFill>
                <a:highlight>
                  <a:srgbClr val="C0C0C0"/>
                </a:highlight>
                <a:latin typeface="Arial" panose="020B0604020202020204" pitchFamily="34" charset="0"/>
                <a:cs typeface="Arial" panose="020B0604020202020204" pitchFamily="34" charset="0"/>
              </a:rPr>
              <a:t>arange</a:t>
            </a:r>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a:t>
            </a:r>
            <a:r>
              <a:rPr lang="en-US" dirty="0">
                <a:solidFill>
                  <a:schemeClr val="tx2">
                    <a:lumMod val="95000"/>
                    <a:lumOff val="5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that creates a vector with consecutive values.  Since every array/vector can be reshaped into another array, this method can be used to create any kind of array</a:t>
            </a:r>
          </a:p>
          <a:p>
            <a:r>
              <a:rPr lang="en-US" dirty="0">
                <a:latin typeface="Arial" panose="020B0604020202020204" pitchFamily="34" charset="0"/>
                <a:cs typeface="Arial" panose="020B0604020202020204" pitchFamily="34" charset="0"/>
              </a:rPr>
              <a:t>Format:</a:t>
            </a:r>
          </a:p>
          <a:p>
            <a:pPr lvl="1"/>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a:t>
            </a:r>
            <a:r>
              <a:rPr lang="en-US" dirty="0" err="1">
                <a:solidFill>
                  <a:schemeClr val="tx2">
                    <a:lumMod val="95000"/>
                    <a:lumOff val="5000"/>
                  </a:schemeClr>
                </a:solidFill>
                <a:highlight>
                  <a:srgbClr val="C0C0C0"/>
                </a:highlight>
                <a:latin typeface="Arial" panose="020B0604020202020204" pitchFamily="34" charset="0"/>
                <a:cs typeface="Arial" panose="020B0604020202020204" pitchFamily="34" charset="0"/>
              </a:rPr>
              <a:t>arange</a:t>
            </a:r>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(stop,[type])</a:t>
            </a:r>
          </a:p>
          <a:p>
            <a:pPr lvl="1"/>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a:t>
            </a:r>
            <a:r>
              <a:rPr lang="en-US" dirty="0" err="1">
                <a:solidFill>
                  <a:schemeClr val="tx2">
                    <a:lumMod val="95000"/>
                    <a:lumOff val="5000"/>
                  </a:schemeClr>
                </a:solidFill>
                <a:highlight>
                  <a:srgbClr val="C0C0C0"/>
                </a:highlight>
                <a:latin typeface="Arial" panose="020B0604020202020204" pitchFamily="34" charset="0"/>
                <a:cs typeface="Arial" panose="020B0604020202020204" pitchFamily="34" charset="0"/>
              </a:rPr>
              <a:t>arange</a:t>
            </a:r>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(start, stop, [type])</a:t>
            </a:r>
          </a:p>
          <a:p>
            <a:pPr lvl="1"/>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a:t>
            </a:r>
            <a:r>
              <a:rPr lang="en-US" dirty="0" err="1">
                <a:solidFill>
                  <a:schemeClr val="tx2">
                    <a:lumMod val="95000"/>
                    <a:lumOff val="5000"/>
                  </a:schemeClr>
                </a:solidFill>
                <a:highlight>
                  <a:srgbClr val="C0C0C0"/>
                </a:highlight>
                <a:latin typeface="Arial" panose="020B0604020202020204" pitchFamily="34" charset="0"/>
                <a:cs typeface="Arial" panose="020B0604020202020204" pitchFamily="34" charset="0"/>
              </a:rPr>
              <a:t>arange</a:t>
            </a:r>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(start, stop, step, [type</a:t>
            </a:r>
            <a:r>
              <a:rPr lang="en-US" dirty="0">
                <a:highlight>
                  <a:srgbClr val="C0C0C0"/>
                </a:highligh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63238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Example (with </a:t>
            </a:r>
            <a:r>
              <a:rPr lang="en-US" b="1" dirty="0">
                <a:latin typeface="Arial" panose="020B0604020202020204" pitchFamily="34" charset="0"/>
                <a:cs typeface="Arial" panose="020B0604020202020204" pitchFamily="34" charset="0"/>
              </a:rPr>
              <a:t>stop</a:t>
            </a:r>
            <a:r>
              <a:rPr lang="en-US" dirty="0">
                <a:latin typeface="Arial" panose="020B0604020202020204" pitchFamily="34" charset="0"/>
                <a:cs typeface="Arial" panose="020B0604020202020204" pitchFamily="34" charset="0"/>
              </a:rPr>
              <a:t> parameter):</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(with </a:t>
            </a:r>
            <a:r>
              <a:rPr lang="en-US" b="1" dirty="0">
                <a:latin typeface="Arial" panose="020B0604020202020204" pitchFamily="34" charset="0"/>
                <a:cs typeface="Arial" panose="020B0604020202020204" pitchFamily="34" charset="0"/>
              </a:rPr>
              <a:t>start </a:t>
            </a:r>
            <a:r>
              <a:rPr lang="en-US" dirty="0">
                <a:latin typeface="Arial" panose="020B0604020202020204" pitchFamily="34" charset="0"/>
                <a:cs typeface="Arial" panose="020B0604020202020204" pitchFamily="34" charset="0"/>
              </a:rPr>
              <a:t>and </a:t>
            </a:r>
            <a:r>
              <a:rPr lang="en-US" b="1" dirty="0">
                <a:latin typeface="Arial" panose="020B0604020202020204" pitchFamily="34" charset="0"/>
                <a:cs typeface="Arial" panose="020B0604020202020204" pitchFamily="34" charset="0"/>
              </a:rPr>
              <a:t>stop</a:t>
            </a:r>
            <a:r>
              <a:rPr lang="en-US" dirty="0">
                <a:latin typeface="Arial" panose="020B0604020202020204" pitchFamily="34" charset="0"/>
                <a:cs typeface="Arial" panose="020B0604020202020204" pitchFamily="34" charset="0"/>
              </a:rPr>
              <a:t> parameter):</a:t>
            </a: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25146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arange</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151812" y="2595880"/>
          <a:ext cx="2843740" cy="889000"/>
        </p:xfrm>
        <a:graphic>
          <a:graphicData uri="http://schemas.openxmlformats.org/drawingml/2006/table">
            <a:tbl>
              <a:tblPr firstRow="1" bandRow="1">
                <a:tableStyleId>{073A0DAA-6AF3-43AB-8588-CEC1D06C72B9}</a:tableStyleId>
              </a:tblPr>
              <a:tblGrid>
                <a:gridCol w="2843740">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[0 1 2 3 4 5 6 7 8 9]</a:t>
                      </a:r>
                    </a:p>
                    <a:p>
                      <a:r>
                        <a:rPr lang="en-US" dirty="0">
                          <a:solidFill>
                            <a:schemeClr val="tx2">
                              <a:lumMod val="95000"/>
                              <a:lumOff val="5000"/>
                            </a:schemeClr>
                          </a:solidFill>
                          <a:latin typeface="Consolas" panose="020B0609020204030204" pitchFamily="49" charset="0"/>
                        </a:rPr>
                        <a:t>int64</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2C86A502-FF1D-8804-C74C-828B7929C6F3}"/>
              </a:ext>
            </a:extLst>
          </p:cNvPr>
          <p:cNvSpPr/>
          <p:nvPr/>
        </p:nvSpPr>
        <p:spPr>
          <a:xfrm>
            <a:off x="1970912" y="47244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arange</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D687E092-42D4-E283-B5FF-22B756B4ABF2}"/>
              </a:ext>
            </a:extLst>
          </p:cNvPr>
          <p:cNvGraphicFramePr>
            <a:graphicFrameLocks noGrp="1"/>
          </p:cNvGraphicFramePr>
          <p:nvPr/>
        </p:nvGraphicFramePr>
        <p:xfrm>
          <a:off x="8685212" y="4805680"/>
          <a:ext cx="2301640" cy="889000"/>
        </p:xfrm>
        <a:graphic>
          <a:graphicData uri="http://schemas.openxmlformats.org/drawingml/2006/table">
            <a:tbl>
              <a:tblPr firstRow="1" bandRow="1">
                <a:tableStyleId>{073A0DAA-6AF3-43AB-8588-CEC1D06C72B9}</a:tableStyleId>
              </a:tblPr>
              <a:tblGrid>
                <a:gridCol w="2301640">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[3 4 5 6 7 8 9]</a:t>
                      </a:r>
                    </a:p>
                    <a:p>
                      <a:r>
                        <a:rPr lang="en-US" dirty="0">
                          <a:solidFill>
                            <a:schemeClr val="tx2">
                              <a:lumMod val="95000"/>
                              <a:lumOff val="5000"/>
                            </a:schemeClr>
                          </a:solidFill>
                          <a:latin typeface="Consolas" panose="020B0609020204030204" pitchFamily="49" charset="0"/>
                        </a:rPr>
                        <a:t>int64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63533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Example (with </a:t>
            </a:r>
            <a:r>
              <a:rPr lang="en-US" b="1" dirty="0">
                <a:latin typeface="Arial" panose="020B0604020202020204" pitchFamily="34" charset="0"/>
                <a:cs typeface="Arial" panose="020B0604020202020204" pitchFamily="34" charset="0"/>
              </a:rPr>
              <a:t>start</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stop </a:t>
            </a:r>
            <a:r>
              <a:rPr lang="en-US" dirty="0">
                <a:latin typeface="Arial" panose="020B0604020202020204" pitchFamily="34" charset="0"/>
                <a:cs typeface="Arial" panose="020B0604020202020204" pitchFamily="34" charset="0"/>
              </a:rPr>
              <a:t>and</a:t>
            </a:r>
            <a:r>
              <a:rPr lang="en-US" b="1" dirty="0">
                <a:latin typeface="Arial" panose="020B0604020202020204" pitchFamily="34" charset="0"/>
                <a:cs typeface="Arial" panose="020B0604020202020204" pitchFamily="34" charset="0"/>
              </a:rPr>
              <a:t> step</a:t>
            </a:r>
            <a:r>
              <a:rPr lang="en-US" dirty="0">
                <a:latin typeface="Arial" panose="020B0604020202020204" pitchFamily="34" charset="0"/>
                <a:cs typeface="Arial" panose="020B0604020202020204" pitchFamily="34" charset="0"/>
              </a:rPr>
              <a:t> parameter):</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(with </a:t>
            </a:r>
            <a:r>
              <a:rPr lang="en-US" b="1" dirty="0">
                <a:latin typeface="Arial" panose="020B0604020202020204" pitchFamily="34" charset="0"/>
                <a:cs typeface="Arial" panose="020B0604020202020204" pitchFamily="34" charset="0"/>
              </a:rPr>
              <a:t>start</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stop , step</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type</a:t>
            </a:r>
            <a:r>
              <a:rPr lang="en-US" dirty="0">
                <a:latin typeface="Arial" panose="020B0604020202020204" pitchFamily="34" charset="0"/>
                <a:cs typeface="Arial" panose="020B0604020202020204" pitchFamily="34" charset="0"/>
              </a:rPr>
              <a:t> parameters):</a:t>
            </a: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2424549"/>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arange</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9371012" y="2214880"/>
          <a:ext cx="1624540" cy="889000"/>
        </p:xfrm>
        <a:graphic>
          <a:graphicData uri="http://schemas.openxmlformats.org/drawingml/2006/table">
            <a:tbl>
              <a:tblPr firstRow="1" bandRow="1">
                <a:tableStyleId>{073A0DAA-6AF3-43AB-8588-CEC1D06C72B9}</a:tableStyleId>
              </a:tblPr>
              <a:tblGrid>
                <a:gridCol w="1624540">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[3 5 7 9]</a:t>
                      </a:r>
                    </a:p>
                    <a:p>
                      <a:r>
                        <a:rPr lang="en-US" dirty="0">
                          <a:solidFill>
                            <a:schemeClr val="tx2">
                              <a:lumMod val="95000"/>
                              <a:lumOff val="5000"/>
                            </a:schemeClr>
                          </a:solidFill>
                          <a:latin typeface="Consolas" panose="020B0609020204030204" pitchFamily="49" charset="0"/>
                        </a:rPr>
                        <a:t>int64</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2C86A502-FF1D-8804-C74C-828B7929C6F3}"/>
              </a:ext>
            </a:extLst>
          </p:cNvPr>
          <p:cNvSpPr/>
          <p:nvPr/>
        </p:nvSpPr>
        <p:spPr>
          <a:xfrm>
            <a:off x="1970912" y="4634349"/>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arange</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float16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D687E092-42D4-E283-B5FF-22B756B4ABF2}"/>
              </a:ext>
            </a:extLst>
          </p:cNvPr>
          <p:cNvGraphicFramePr>
            <a:graphicFrameLocks noGrp="1"/>
          </p:cNvGraphicFramePr>
          <p:nvPr/>
        </p:nvGraphicFramePr>
        <p:xfrm>
          <a:off x="8685212" y="4424680"/>
          <a:ext cx="2301640" cy="889000"/>
        </p:xfrm>
        <a:graphic>
          <a:graphicData uri="http://schemas.openxmlformats.org/drawingml/2006/table">
            <a:tbl>
              <a:tblPr firstRow="1" bandRow="1">
                <a:tableStyleId>{073A0DAA-6AF3-43AB-8588-CEC1D06C72B9}</a:tableStyleId>
              </a:tblPr>
              <a:tblGrid>
                <a:gridCol w="2301640">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[3. 5. 7. 9.]</a:t>
                      </a:r>
                    </a:p>
                    <a:p>
                      <a:r>
                        <a:rPr lang="en-US" dirty="0">
                          <a:solidFill>
                            <a:schemeClr val="tx2">
                              <a:lumMod val="95000"/>
                              <a:lumOff val="5000"/>
                            </a:schemeClr>
                          </a:solidFill>
                          <a:latin typeface="Consolas" panose="020B0609020204030204" pitchFamily="49" charset="0"/>
                        </a:rPr>
                        <a:t>float16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520481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For large arrays, you can use </a:t>
            </a:r>
            <a:r>
              <a:rPr lang="en-US" dirty="0">
                <a:highlight>
                  <a:srgbClr val="C0C0C0"/>
                </a:highlight>
                <a:latin typeface="Arial" panose="020B0604020202020204" pitchFamily="34" charset="0"/>
                <a:cs typeface="Arial" panose="020B0604020202020204" pitchFamily="34" charset="0"/>
              </a:rPr>
              <a:t>.</a:t>
            </a:r>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empty(shape,[type])</a:t>
            </a:r>
            <a:r>
              <a:rPr lang="en-US" dirty="0">
                <a:solidFill>
                  <a:schemeClr val="tx2">
                    <a:lumMod val="95000"/>
                    <a:lumOff val="5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to create an empty array and then fill it with values. If the type is not provided, </a:t>
            </a:r>
            <a:r>
              <a:rPr lang="en-US" b="1" i="1" dirty="0">
                <a:latin typeface="Arial" panose="020B0604020202020204" pitchFamily="34" charset="0"/>
                <a:cs typeface="Arial" panose="020B0604020202020204" pitchFamily="34" charset="0"/>
              </a:rPr>
              <a:t>float64</a:t>
            </a:r>
            <a:r>
              <a:rPr lang="en-US" dirty="0">
                <a:latin typeface="Arial" panose="020B0604020202020204" pitchFamily="34" charset="0"/>
                <a:cs typeface="Arial" panose="020B0604020202020204" pitchFamily="34" charset="0"/>
              </a:rPr>
              <a:t> is implied.</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Notice that the values are unknown (what lies in memory at the moment of allocation).</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358140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empty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err="1">
                <a:solidFill>
                  <a:srgbClr val="9A9A9A"/>
                </a:solidFill>
                <a:effectLst/>
                <a:latin typeface="Consolas" panose="020B0609020204030204" pitchFamily="49" charset="0"/>
              </a:rPr>
              <a:t>dtype</a:t>
            </a:r>
            <a:r>
              <a:rPr lang="en-US" b="0" dirty="0">
                <a:solidFill>
                  <a:srgbClr val="C0C0C0"/>
                </a:solidFill>
                <a:effectLst/>
                <a:latin typeface="Consolas" panose="020B0609020204030204" pitchFamily="49" charset="0"/>
              </a:rPr>
              <a:t>=</a:t>
            </a:r>
            <a:r>
              <a:rPr lang="en-US" b="0" dirty="0">
                <a:solidFill>
                  <a:srgbClr val="C8C8C8"/>
                </a:solidFill>
                <a:effectLst/>
                <a:latin typeface="Consolas" panose="020B0609020204030204" pitchFamily="49" charset="0"/>
              </a:rPr>
              <a:t>np</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int32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466012" y="3124200"/>
          <a:ext cx="3529541" cy="1315720"/>
        </p:xfrm>
        <a:graphic>
          <a:graphicData uri="http://schemas.openxmlformats.org/drawingml/2006/table">
            <a:tbl>
              <a:tblPr firstRow="1" bandRow="1">
                <a:tableStyleId>{073A0DAA-6AF3-43AB-8588-CEC1D06C72B9}</a:tableStyleId>
              </a:tblPr>
              <a:tblGrid>
                <a:gridCol w="35295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 (probable)</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[[1800082696        459]</a:t>
                      </a:r>
                    </a:p>
                    <a:p>
                      <a:r>
                        <a:rPr lang="en-US" dirty="0">
                          <a:solidFill>
                            <a:schemeClr val="tx2">
                              <a:lumMod val="95000"/>
                              <a:lumOff val="5000"/>
                            </a:schemeClr>
                          </a:solidFill>
                          <a:latin typeface="Consolas" panose="020B0609020204030204" pitchFamily="49" charset="0"/>
                        </a:rPr>
                        <a:t> [        32          0]</a:t>
                      </a:r>
                    </a:p>
                    <a:p>
                      <a:r>
                        <a:rPr lang="en-US" dirty="0">
                          <a:solidFill>
                            <a:schemeClr val="tx2">
                              <a:lumMod val="95000"/>
                              <a:lumOff val="5000"/>
                            </a:schemeClr>
                          </a:solidFill>
                          <a:latin typeface="Consolas" panose="020B0609020204030204" pitchFamily="49" charset="0"/>
                        </a:rPr>
                        <a:t> [1800059672        459]]</a:t>
                      </a:r>
                    </a:p>
                    <a:p>
                      <a:r>
                        <a:rPr lang="en-US" dirty="0">
                          <a:solidFill>
                            <a:schemeClr val="tx2">
                              <a:lumMod val="95000"/>
                              <a:lumOff val="5000"/>
                            </a:schemeClr>
                          </a:solidFill>
                          <a:latin typeface="Consolas" panose="020B0609020204030204" pitchFamily="49" charset="0"/>
                        </a:rPr>
                        <a:t>int32</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31757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Another method is </a:t>
            </a:r>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.full(shape, </a:t>
            </a:r>
            <a:r>
              <a:rPr lang="en-US" dirty="0" err="1">
                <a:solidFill>
                  <a:schemeClr val="tx2">
                    <a:lumMod val="95000"/>
                    <a:lumOff val="5000"/>
                  </a:schemeClr>
                </a:solidFill>
                <a:highlight>
                  <a:srgbClr val="C0C0C0"/>
                </a:highlight>
                <a:latin typeface="Arial" panose="020B0604020202020204" pitchFamily="34" charset="0"/>
                <a:cs typeface="Arial" panose="020B0604020202020204" pitchFamily="34" charset="0"/>
              </a:rPr>
              <a:t>fill_value</a:t>
            </a:r>
            <a:r>
              <a:rPr lang="en-US" dirty="0">
                <a:solidFill>
                  <a:schemeClr val="tx2">
                    <a:lumMod val="95000"/>
                    <a:lumOff val="5000"/>
                  </a:schemeClr>
                </a:solidFill>
                <a:highlight>
                  <a:srgbClr val="C0C0C0"/>
                </a:highlight>
                <a:latin typeface="Arial" panose="020B0604020202020204" pitchFamily="34" charset="0"/>
                <a:cs typeface="Arial" panose="020B0604020202020204" pitchFamily="34" charset="0"/>
              </a:rPr>
              <a:t>, [type])</a:t>
            </a:r>
            <a:r>
              <a:rPr lang="en-US" dirty="0">
                <a:solidFill>
                  <a:schemeClr val="tx2">
                    <a:lumMod val="95000"/>
                    <a:lumOff val="5000"/>
                  </a:schemeClr>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that can be used to create a matrix filled with a specific value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3868420"/>
            <a:ext cx="91440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full</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9523412" y="2971800"/>
          <a:ext cx="1472141" cy="1315720"/>
        </p:xfrm>
        <a:graphic>
          <a:graphicData uri="http://schemas.openxmlformats.org/drawingml/2006/table">
            <a:tbl>
              <a:tblPr firstRow="1" bandRow="1">
                <a:tableStyleId>{073A0DAA-6AF3-43AB-8588-CEC1D06C72B9}</a:tableStyleId>
              </a:tblPr>
              <a:tblGrid>
                <a:gridCol w="1472141">
                  <a:extLst>
                    <a:ext uri="{9D8B030D-6E8A-4147-A177-3AD203B41FA5}">
                      <a16:colId xmlns:a16="http://schemas.microsoft.com/office/drawing/2014/main" val="3899577134"/>
                    </a:ext>
                  </a:extLst>
                </a:gridCol>
              </a:tblGrid>
              <a:tr h="370840">
                <a:tc>
                  <a:txBody>
                    <a:bodyPr/>
                    <a:lstStyle/>
                    <a:p>
                      <a:r>
                        <a:rPr lang="en-US" dirty="0">
                          <a:solidFill>
                            <a:schemeClr val="tx2">
                              <a:lumMod val="95000"/>
                              <a:lumOff val="5000"/>
                            </a:schemeClr>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lumMod val="95000"/>
                              <a:lumOff val="5000"/>
                            </a:schemeClr>
                          </a:solidFill>
                          <a:latin typeface="Consolas" panose="020B0609020204030204" pitchFamily="49" charset="0"/>
                        </a:rPr>
                        <a:t>[[3 3]</a:t>
                      </a:r>
                    </a:p>
                    <a:p>
                      <a:r>
                        <a:rPr lang="en-US" dirty="0">
                          <a:solidFill>
                            <a:schemeClr val="tx2">
                              <a:lumMod val="95000"/>
                              <a:lumOff val="5000"/>
                            </a:schemeClr>
                          </a:solidFill>
                          <a:latin typeface="Consolas" panose="020B0609020204030204" pitchFamily="49" charset="0"/>
                        </a:rPr>
                        <a:t> [3 3]</a:t>
                      </a:r>
                    </a:p>
                    <a:p>
                      <a:r>
                        <a:rPr lang="en-US" dirty="0">
                          <a:solidFill>
                            <a:schemeClr val="tx2">
                              <a:lumMod val="95000"/>
                              <a:lumOff val="5000"/>
                            </a:schemeClr>
                          </a:solidFill>
                          <a:latin typeface="Consolas" panose="020B0609020204030204" pitchFamily="49" charset="0"/>
                        </a:rPr>
                        <a:t> [3 3]]</a:t>
                      </a:r>
                    </a:p>
                    <a:p>
                      <a:r>
                        <a:rPr lang="en-US" dirty="0">
                          <a:solidFill>
                            <a:schemeClr val="tx2">
                              <a:lumMod val="95000"/>
                              <a:lumOff val="5000"/>
                            </a:schemeClr>
                          </a:solidFill>
                          <a:latin typeface="Consolas" panose="020B0609020204030204" pitchFamily="49" charset="0"/>
                        </a:rPr>
                        <a:t>int64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28237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Overview</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graphicFrame>
        <p:nvGraphicFramePr>
          <p:cNvPr id="4" name="Table 6">
            <a:extLst>
              <a:ext uri="{FF2B5EF4-FFF2-40B4-BE49-F238E27FC236}">
                <a16:creationId xmlns:a16="http://schemas.microsoft.com/office/drawing/2014/main" id="{9D399456-484F-67BE-40B7-064F87F6F3EC}"/>
              </a:ext>
            </a:extLst>
          </p:cNvPr>
          <p:cNvGraphicFramePr>
            <a:graphicFrameLocks noGrp="1"/>
          </p:cNvGraphicFramePr>
          <p:nvPr/>
        </p:nvGraphicFramePr>
        <p:xfrm>
          <a:off x="1903412" y="2522220"/>
          <a:ext cx="9525000" cy="3337560"/>
        </p:xfrm>
        <a:graphic>
          <a:graphicData uri="http://schemas.openxmlformats.org/drawingml/2006/table">
            <a:tbl>
              <a:tblPr firstRow="1" bandRow="1">
                <a:tableStyleId>{073A0DAA-6AF3-43AB-8588-CEC1D06C72B9}</a:tableStyleId>
              </a:tblPr>
              <a:tblGrid>
                <a:gridCol w="3048000">
                  <a:extLst>
                    <a:ext uri="{9D8B030D-6E8A-4147-A177-3AD203B41FA5}">
                      <a16:colId xmlns:a16="http://schemas.microsoft.com/office/drawing/2014/main" val="3575043542"/>
                    </a:ext>
                  </a:extLst>
                </a:gridCol>
                <a:gridCol w="6477000">
                  <a:extLst>
                    <a:ext uri="{9D8B030D-6E8A-4147-A177-3AD203B41FA5}">
                      <a16:colId xmlns:a16="http://schemas.microsoft.com/office/drawing/2014/main" val="575741411"/>
                    </a:ext>
                  </a:extLst>
                </a:gridCol>
              </a:tblGrid>
              <a:tr h="370840">
                <a:tc>
                  <a:txBody>
                    <a:bodyPr/>
                    <a:lstStyle/>
                    <a:p>
                      <a:r>
                        <a:rPr lang="en-US" dirty="0">
                          <a:solidFill>
                            <a:schemeClr val="tx2">
                              <a:lumMod val="95000"/>
                              <a:lumOff val="5000"/>
                            </a:schemeClr>
                          </a:solidFill>
                        </a:rPr>
                        <a:t>Method</a:t>
                      </a:r>
                    </a:p>
                  </a:txBody>
                  <a:tcPr/>
                </a:tc>
                <a:tc>
                  <a:txBody>
                    <a:bodyPr/>
                    <a:lstStyle/>
                    <a:p>
                      <a:r>
                        <a:rPr lang="en-US" dirty="0">
                          <a:solidFill>
                            <a:schemeClr val="tx2">
                              <a:lumMod val="95000"/>
                              <a:lumOff val="5000"/>
                            </a:schemeClr>
                          </a:solidFill>
                        </a:rPr>
                        <a:t>Purpose</a:t>
                      </a:r>
                    </a:p>
                  </a:txBody>
                  <a:tcPr/>
                </a:tc>
                <a:extLst>
                  <a:ext uri="{0D108BD9-81ED-4DB2-BD59-A6C34878D82A}">
                    <a16:rowId xmlns:a16="http://schemas.microsoft.com/office/drawing/2014/main" val="3007309836"/>
                  </a:ext>
                </a:extLst>
              </a:tr>
              <a:tr h="370840">
                <a:tc>
                  <a:txBody>
                    <a:bodyPr/>
                    <a:lstStyle/>
                    <a:p>
                      <a:r>
                        <a:rPr lang="en-US" sz="1600" dirty="0">
                          <a:solidFill>
                            <a:schemeClr val="tx2">
                              <a:lumMod val="95000"/>
                              <a:lumOff val="5000"/>
                            </a:schemeClr>
                          </a:solidFill>
                        </a:rPr>
                        <a:t>.array( &lt;data&gt;, [type] )</a:t>
                      </a:r>
                    </a:p>
                  </a:txBody>
                  <a:tcPr/>
                </a:tc>
                <a:tc>
                  <a:txBody>
                    <a:bodyPr/>
                    <a:lstStyle/>
                    <a:p>
                      <a:r>
                        <a:rPr lang="en-US" sz="1600" dirty="0">
                          <a:solidFill>
                            <a:schemeClr val="tx2">
                              <a:lumMod val="95000"/>
                              <a:lumOff val="5000"/>
                            </a:schemeClr>
                          </a:solidFill>
                        </a:rPr>
                        <a:t>Create an array based on python lists / tuples</a:t>
                      </a:r>
                    </a:p>
                  </a:txBody>
                  <a:tcPr/>
                </a:tc>
                <a:extLst>
                  <a:ext uri="{0D108BD9-81ED-4DB2-BD59-A6C34878D82A}">
                    <a16:rowId xmlns:a16="http://schemas.microsoft.com/office/drawing/2014/main" val="467513831"/>
                  </a:ext>
                </a:extLst>
              </a:tr>
              <a:tr h="370840">
                <a:tc>
                  <a:txBody>
                    <a:bodyPr/>
                    <a:lstStyle/>
                    <a:p>
                      <a:r>
                        <a:rPr lang="en-US" sz="1600" dirty="0">
                          <a:solidFill>
                            <a:schemeClr val="tx2">
                              <a:lumMod val="95000"/>
                              <a:lumOff val="5000"/>
                            </a:schemeClr>
                          </a:solidFill>
                        </a:rPr>
                        <a:t>.zeros(&lt;shape&gt;,[type]) </a:t>
                      </a:r>
                    </a:p>
                  </a:txBody>
                  <a:tcPr/>
                </a:tc>
                <a:tc>
                  <a:txBody>
                    <a:bodyPr/>
                    <a:lstStyle/>
                    <a:p>
                      <a:r>
                        <a:rPr lang="en-US" sz="1600" dirty="0">
                          <a:solidFill>
                            <a:schemeClr val="tx2">
                              <a:lumMod val="95000"/>
                              <a:lumOff val="5000"/>
                            </a:schemeClr>
                          </a:solidFill>
                        </a:rPr>
                        <a:t>Create an array filled with zeros based on a shape and a type</a:t>
                      </a:r>
                    </a:p>
                  </a:txBody>
                  <a:tcPr/>
                </a:tc>
                <a:extLst>
                  <a:ext uri="{0D108BD9-81ED-4DB2-BD59-A6C34878D82A}">
                    <a16:rowId xmlns:a16="http://schemas.microsoft.com/office/drawing/2014/main" val="3720017455"/>
                  </a:ext>
                </a:extLst>
              </a:tr>
              <a:tr h="370840">
                <a:tc>
                  <a:txBody>
                    <a:bodyPr/>
                    <a:lstStyle/>
                    <a:p>
                      <a:r>
                        <a:rPr lang="en-US" sz="1600" dirty="0">
                          <a:solidFill>
                            <a:schemeClr val="tx2">
                              <a:lumMod val="95000"/>
                              <a:lumOff val="5000"/>
                            </a:schemeClr>
                          </a:solidFill>
                        </a:rPr>
                        <a:t>.ones(&lt;shape&gt;,[type]) </a:t>
                      </a:r>
                    </a:p>
                  </a:txBody>
                  <a:tcPr/>
                </a:tc>
                <a:tc>
                  <a:txBody>
                    <a:bodyPr/>
                    <a:lstStyle/>
                    <a:p>
                      <a:r>
                        <a:rPr lang="en-US" sz="1600" dirty="0">
                          <a:solidFill>
                            <a:schemeClr val="tx2">
                              <a:lumMod val="95000"/>
                              <a:lumOff val="5000"/>
                            </a:schemeClr>
                          </a:solidFill>
                        </a:rPr>
                        <a:t>Create an array filled with ones based on a shape and a type</a:t>
                      </a:r>
                    </a:p>
                  </a:txBody>
                  <a:tcPr/>
                </a:tc>
                <a:extLst>
                  <a:ext uri="{0D108BD9-81ED-4DB2-BD59-A6C34878D82A}">
                    <a16:rowId xmlns:a16="http://schemas.microsoft.com/office/drawing/2014/main" val="3372859652"/>
                  </a:ext>
                </a:extLst>
              </a:tr>
              <a:tr h="370840">
                <a:tc>
                  <a:txBody>
                    <a:bodyPr/>
                    <a:lstStyle/>
                    <a:p>
                      <a:r>
                        <a:rPr lang="en-US" sz="1600" dirty="0">
                          <a:solidFill>
                            <a:schemeClr val="tx2">
                              <a:lumMod val="95000"/>
                              <a:lumOff val="5000"/>
                            </a:schemeClr>
                          </a:solidFill>
                        </a:rPr>
                        <a:t>.full(&lt;shape&gt;,value, [type]) </a:t>
                      </a:r>
                    </a:p>
                  </a:txBody>
                  <a:tcPr/>
                </a:tc>
                <a:tc>
                  <a:txBody>
                    <a:bodyPr/>
                    <a:lstStyle/>
                    <a:p>
                      <a:r>
                        <a:rPr lang="en-US" sz="1600" dirty="0">
                          <a:solidFill>
                            <a:schemeClr val="tx2">
                              <a:lumMod val="95000"/>
                              <a:lumOff val="5000"/>
                            </a:schemeClr>
                          </a:solidFill>
                        </a:rPr>
                        <a:t>Create an array filled with </a:t>
                      </a:r>
                      <a:r>
                        <a:rPr lang="en-US" sz="1600" b="1" i="1" dirty="0">
                          <a:solidFill>
                            <a:schemeClr val="tx2">
                              <a:lumMod val="95000"/>
                              <a:lumOff val="5000"/>
                            </a:schemeClr>
                          </a:solidFill>
                        </a:rPr>
                        <a:t>value</a:t>
                      </a:r>
                      <a:r>
                        <a:rPr lang="en-US" sz="1600" dirty="0">
                          <a:solidFill>
                            <a:schemeClr val="tx2">
                              <a:lumMod val="95000"/>
                              <a:lumOff val="5000"/>
                            </a:schemeClr>
                          </a:solidFill>
                        </a:rPr>
                        <a:t> based on a shape and a type</a:t>
                      </a:r>
                    </a:p>
                  </a:txBody>
                  <a:tcPr/>
                </a:tc>
                <a:extLst>
                  <a:ext uri="{0D108BD9-81ED-4DB2-BD59-A6C34878D82A}">
                    <a16:rowId xmlns:a16="http://schemas.microsoft.com/office/drawing/2014/main" val="2094028012"/>
                  </a:ext>
                </a:extLst>
              </a:tr>
              <a:tr h="370840">
                <a:tc>
                  <a:txBody>
                    <a:bodyPr/>
                    <a:lstStyle/>
                    <a:p>
                      <a:r>
                        <a:rPr lang="en-US" sz="1600" dirty="0">
                          <a:solidFill>
                            <a:schemeClr val="tx2">
                              <a:lumMod val="95000"/>
                              <a:lumOff val="5000"/>
                            </a:schemeClr>
                          </a:solidFill>
                        </a:rPr>
                        <a:t>.</a:t>
                      </a:r>
                      <a:r>
                        <a:rPr lang="en-US" sz="1600" dirty="0" err="1">
                          <a:solidFill>
                            <a:schemeClr val="tx2">
                              <a:lumMod val="95000"/>
                              <a:lumOff val="5000"/>
                            </a:schemeClr>
                          </a:solidFill>
                        </a:rPr>
                        <a:t>arange</a:t>
                      </a:r>
                      <a:r>
                        <a:rPr lang="en-US" sz="1600" dirty="0">
                          <a:solidFill>
                            <a:schemeClr val="tx2">
                              <a:lumMod val="95000"/>
                              <a:lumOff val="5000"/>
                            </a:schemeClr>
                          </a:solidFill>
                        </a:rPr>
                        <a:t>(stop,[type])</a:t>
                      </a:r>
                    </a:p>
                  </a:txBody>
                  <a:tcPr/>
                </a:tc>
                <a:tc>
                  <a:txBody>
                    <a:bodyPr/>
                    <a:lstStyle/>
                    <a:p>
                      <a:r>
                        <a:rPr lang="en-US" sz="1600" dirty="0">
                          <a:solidFill>
                            <a:schemeClr val="tx2">
                              <a:lumMod val="95000"/>
                              <a:lumOff val="5000"/>
                            </a:schemeClr>
                          </a:solidFill>
                        </a:rPr>
                        <a:t>Creates a vector with values from 0 to stop</a:t>
                      </a:r>
                    </a:p>
                  </a:txBody>
                  <a:tcPr/>
                </a:tc>
                <a:extLst>
                  <a:ext uri="{0D108BD9-81ED-4DB2-BD59-A6C34878D82A}">
                    <a16:rowId xmlns:a16="http://schemas.microsoft.com/office/drawing/2014/main" val="951432125"/>
                  </a:ext>
                </a:extLst>
              </a:tr>
              <a:tr h="370840">
                <a:tc>
                  <a:txBody>
                    <a:bodyPr/>
                    <a:lstStyle/>
                    <a:p>
                      <a:r>
                        <a:rPr lang="en-US" sz="1600" dirty="0">
                          <a:solidFill>
                            <a:schemeClr val="tx2">
                              <a:lumMod val="95000"/>
                              <a:lumOff val="5000"/>
                            </a:schemeClr>
                          </a:solidFill>
                        </a:rPr>
                        <a:t>.</a:t>
                      </a:r>
                      <a:r>
                        <a:rPr lang="en-US" sz="1600" dirty="0" err="1">
                          <a:solidFill>
                            <a:schemeClr val="tx2">
                              <a:lumMod val="95000"/>
                              <a:lumOff val="5000"/>
                            </a:schemeClr>
                          </a:solidFill>
                        </a:rPr>
                        <a:t>arange</a:t>
                      </a:r>
                      <a:r>
                        <a:rPr lang="en-US" sz="1600" dirty="0">
                          <a:solidFill>
                            <a:schemeClr val="tx2">
                              <a:lumMod val="95000"/>
                              <a:lumOff val="5000"/>
                            </a:schemeClr>
                          </a:solidFill>
                        </a:rPr>
                        <a:t>(start, stop, [type])</a:t>
                      </a:r>
                    </a:p>
                  </a:txBody>
                  <a:tcPr/>
                </a:tc>
                <a:tc>
                  <a:txBody>
                    <a:bodyPr/>
                    <a:lstStyle/>
                    <a:p>
                      <a:r>
                        <a:rPr lang="en-US" sz="1600" dirty="0">
                          <a:solidFill>
                            <a:schemeClr val="tx2">
                              <a:lumMod val="95000"/>
                              <a:lumOff val="5000"/>
                            </a:schemeClr>
                          </a:solidFill>
                        </a:rPr>
                        <a:t>Creates a vector with values from </a:t>
                      </a:r>
                      <a:r>
                        <a:rPr lang="en-US" sz="1600" b="1" i="1" dirty="0">
                          <a:solidFill>
                            <a:schemeClr val="tx2">
                              <a:lumMod val="95000"/>
                              <a:lumOff val="5000"/>
                            </a:schemeClr>
                          </a:solidFill>
                        </a:rPr>
                        <a:t>start</a:t>
                      </a:r>
                      <a:r>
                        <a:rPr lang="en-US" sz="1600" b="0" i="0" dirty="0">
                          <a:solidFill>
                            <a:schemeClr val="tx2">
                              <a:lumMod val="95000"/>
                              <a:lumOff val="5000"/>
                            </a:schemeClr>
                          </a:solidFill>
                        </a:rPr>
                        <a:t> to </a:t>
                      </a:r>
                      <a:r>
                        <a:rPr lang="en-US" sz="1600" b="1" i="1" dirty="0">
                          <a:solidFill>
                            <a:schemeClr val="tx2">
                              <a:lumMod val="95000"/>
                              <a:lumOff val="5000"/>
                            </a:schemeClr>
                          </a:solidFill>
                        </a:rPr>
                        <a:t>stop</a:t>
                      </a:r>
                      <a:endParaRPr lang="en-US" sz="1600" dirty="0">
                        <a:solidFill>
                          <a:schemeClr val="tx2">
                            <a:lumMod val="95000"/>
                            <a:lumOff val="5000"/>
                          </a:schemeClr>
                        </a:solidFill>
                      </a:endParaRPr>
                    </a:p>
                  </a:txBody>
                  <a:tcPr/>
                </a:tc>
                <a:extLst>
                  <a:ext uri="{0D108BD9-81ED-4DB2-BD59-A6C34878D82A}">
                    <a16:rowId xmlns:a16="http://schemas.microsoft.com/office/drawing/2014/main" val="42186111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lumMod val="95000"/>
                              <a:lumOff val="5000"/>
                            </a:schemeClr>
                          </a:solidFill>
                        </a:rPr>
                        <a:t>.</a:t>
                      </a:r>
                      <a:r>
                        <a:rPr lang="en-US" sz="1600" dirty="0" err="1">
                          <a:solidFill>
                            <a:schemeClr val="tx2">
                              <a:lumMod val="95000"/>
                              <a:lumOff val="5000"/>
                            </a:schemeClr>
                          </a:solidFill>
                        </a:rPr>
                        <a:t>arange</a:t>
                      </a:r>
                      <a:r>
                        <a:rPr lang="en-US" sz="1600" dirty="0">
                          <a:solidFill>
                            <a:schemeClr val="tx2">
                              <a:lumMod val="95000"/>
                              <a:lumOff val="5000"/>
                            </a:schemeClr>
                          </a:solidFill>
                        </a:rPr>
                        <a:t>(start, stop, step, [type]</a:t>
                      </a:r>
                    </a:p>
                  </a:txBody>
                  <a:tcPr/>
                </a:tc>
                <a:tc>
                  <a:txBody>
                    <a:bodyPr/>
                    <a:lstStyle/>
                    <a:p>
                      <a:r>
                        <a:rPr lang="en-US" sz="1600" dirty="0">
                          <a:solidFill>
                            <a:schemeClr val="tx2">
                              <a:lumMod val="95000"/>
                              <a:lumOff val="5000"/>
                            </a:schemeClr>
                          </a:solidFill>
                        </a:rPr>
                        <a:t>Creates a vector with values from </a:t>
                      </a:r>
                      <a:r>
                        <a:rPr lang="en-US" sz="1600" b="1" i="1" dirty="0">
                          <a:solidFill>
                            <a:schemeClr val="tx2">
                              <a:lumMod val="95000"/>
                              <a:lumOff val="5000"/>
                            </a:schemeClr>
                          </a:solidFill>
                        </a:rPr>
                        <a:t>start</a:t>
                      </a:r>
                      <a:r>
                        <a:rPr lang="en-US" sz="1600" b="0" i="0" dirty="0">
                          <a:solidFill>
                            <a:schemeClr val="tx2">
                              <a:lumMod val="95000"/>
                              <a:lumOff val="5000"/>
                            </a:schemeClr>
                          </a:solidFill>
                        </a:rPr>
                        <a:t> to </a:t>
                      </a:r>
                      <a:r>
                        <a:rPr lang="en-US" sz="1600" b="1" i="1" dirty="0">
                          <a:solidFill>
                            <a:schemeClr val="tx2">
                              <a:lumMod val="95000"/>
                              <a:lumOff val="5000"/>
                            </a:schemeClr>
                          </a:solidFill>
                        </a:rPr>
                        <a:t>stop</a:t>
                      </a:r>
                      <a:r>
                        <a:rPr lang="en-US" sz="1600" b="0" i="0" dirty="0">
                          <a:solidFill>
                            <a:schemeClr val="tx2">
                              <a:lumMod val="95000"/>
                              <a:lumOff val="5000"/>
                            </a:schemeClr>
                          </a:solidFill>
                        </a:rPr>
                        <a:t> (with step </a:t>
                      </a:r>
                      <a:r>
                        <a:rPr lang="en-US" sz="1600" b="1" i="1" dirty="0">
                          <a:solidFill>
                            <a:schemeClr val="tx2">
                              <a:lumMod val="95000"/>
                              <a:lumOff val="5000"/>
                            </a:schemeClr>
                          </a:solidFill>
                        </a:rPr>
                        <a:t>step</a:t>
                      </a:r>
                      <a:r>
                        <a:rPr lang="en-US" sz="1600" b="0" i="0" dirty="0">
                          <a:solidFill>
                            <a:schemeClr val="tx2">
                              <a:lumMod val="95000"/>
                              <a:lumOff val="5000"/>
                            </a:schemeClr>
                          </a:solidFill>
                        </a:rPr>
                        <a:t>)</a:t>
                      </a:r>
                      <a:endParaRPr lang="en-US" sz="1600" dirty="0">
                        <a:solidFill>
                          <a:schemeClr val="tx2">
                            <a:lumMod val="95000"/>
                            <a:lumOff val="5000"/>
                          </a:schemeClr>
                        </a:solidFill>
                      </a:endParaRPr>
                    </a:p>
                  </a:txBody>
                  <a:tcPr/>
                </a:tc>
                <a:extLst>
                  <a:ext uri="{0D108BD9-81ED-4DB2-BD59-A6C34878D82A}">
                    <a16:rowId xmlns:a16="http://schemas.microsoft.com/office/drawing/2014/main" val="17539543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lumMod val="95000"/>
                              <a:lumOff val="5000"/>
                            </a:schemeClr>
                          </a:solidFill>
                        </a:rPr>
                        <a:t>.empty(&lt;shape&gt;,[type])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2">
                              <a:lumMod val="95000"/>
                              <a:lumOff val="5000"/>
                            </a:schemeClr>
                          </a:solidFill>
                        </a:rPr>
                        <a:t>Create an uninitialized array based on a shape and type</a:t>
                      </a:r>
                    </a:p>
                  </a:txBody>
                  <a:tcPr/>
                </a:tc>
                <a:extLst>
                  <a:ext uri="{0D108BD9-81ED-4DB2-BD59-A6C34878D82A}">
                    <a16:rowId xmlns:a16="http://schemas.microsoft.com/office/drawing/2014/main" val="1508339979"/>
                  </a:ext>
                </a:extLst>
              </a:tr>
            </a:tbl>
          </a:graphicData>
        </a:graphic>
      </p:graphicFrame>
    </p:spTree>
    <p:extLst>
      <p:ext uri="{BB962C8B-B14F-4D97-AF65-F5344CB8AC3E}">
        <p14:creationId xmlns:p14="http://schemas.microsoft.com/office/powerpoint/2010/main" val="1704450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Shapes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78480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Shapes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pPr marL="0" indent="0">
              <a:buNone/>
            </a:pPr>
            <a:r>
              <a:rPr lang="en-US" dirty="0">
                <a:latin typeface="Arial" panose="020B0604020202020204" pitchFamily="34" charset="0"/>
                <a:cs typeface="Arial" panose="020B0604020202020204" pitchFamily="34" charset="0"/>
              </a:rPr>
              <a:t>There is a difference between how we (people) understand a vector / and array /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 and how a computer stores the data.</a:t>
            </a:r>
          </a:p>
        </p:txBody>
      </p:sp>
      <p:graphicFrame>
        <p:nvGraphicFramePr>
          <p:cNvPr id="2" name="Table 1">
            <a:extLst>
              <a:ext uri="{FF2B5EF4-FFF2-40B4-BE49-F238E27FC236}">
                <a16:creationId xmlns:a16="http://schemas.microsoft.com/office/drawing/2014/main" id="{5C5A38D1-C978-F5B8-2E8B-1DC92FD0F006}"/>
              </a:ext>
            </a:extLst>
          </p:cNvPr>
          <p:cNvGraphicFramePr>
            <a:graphicFrameLocks noGrp="1"/>
          </p:cNvGraphicFramePr>
          <p:nvPr/>
        </p:nvGraphicFramePr>
        <p:xfrm>
          <a:off x="5103812" y="2743200"/>
          <a:ext cx="2057400" cy="370840"/>
        </p:xfrm>
        <a:graphic>
          <a:graphicData uri="http://schemas.openxmlformats.org/drawingml/2006/table">
            <a:tbl>
              <a:tblPr firstRow="1" bandRow="1">
                <a:tableStyleId>{5940675A-B579-460E-94D1-54222C63F5DA}</a:tableStyleId>
              </a:tblPr>
              <a:tblGrid>
                <a:gridCol w="257175">
                  <a:extLst>
                    <a:ext uri="{9D8B030D-6E8A-4147-A177-3AD203B41FA5}">
                      <a16:colId xmlns:a16="http://schemas.microsoft.com/office/drawing/2014/main" val="103024786"/>
                    </a:ext>
                  </a:extLst>
                </a:gridCol>
                <a:gridCol w="257175">
                  <a:extLst>
                    <a:ext uri="{9D8B030D-6E8A-4147-A177-3AD203B41FA5}">
                      <a16:colId xmlns:a16="http://schemas.microsoft.com/office/drawing/2014/main" val="2668120668"/>
                    </a:ext>
                  </a:extLst>
                </a:gridCol>
                <a:gridCol w="257175">
                  <a:extLst>
                    <a:ext uri="{9D8B030D-6E8A-4147-A177-3AD203B41FA5}">
                      <a16:colId xmlns:a16="http://schemas.microsoft.com/office/drawing/2014/main" val="2935351810"/>
                    </a:ext>
                  </a:extLst>
                </a:gridCol>
                <a:gridCol w="257175">
                  <a:extLst>
                    <a:ext uri="{9D8B030D-6E8A-4147-A177-3AD203B41FA5}">
                      <a16:colId xmlns:a16="http://schemas.microsoft.com/office/drawing/2014/main" val="513690287"/>
                    </a:ext>
                  </a:extLst>
                </a:gridCol>
                <a:gridCol w="257175">
                  <a:extLst>
                    <a:ext uri="{9D8B030D-6E8A-4147-A177-3AD203B41FA5}">
                      <a16:colId xmlns:a16="http://schemas.microsoft.com/office/drawing/2014/main" val="2953114095"/>
                    </a:ext>
                  </a:extLst>
                </a:gridCol>
                <a:gridCol w="257175">
                  <a:extLst>
                    <a:ext uri="{9D8B030D-6E8A-4147-A177-3AD203B41FA5}">
                      <a16:colId xmlns:a16="http://schemas.microsoft.com/office/drawing/2014/main" val="1046495952"/>
                    </a:ext>
                  </a:extLst>
                </a:gridCol>
                <a:gridCol w="257175">
                  <a:extLst>
                    <a:ext uri="{9D8B030D-6E8A-4147-A177-3AD203B41FA5}">
                      <a16:colId xmlns:a16="http://schemas.microsoft.com/office/drawing/2014/main" val="2454233105"/>
                    </a:ext>
                  </a:extLst>
                </a:gridCol>
                <a:gridCol w="257175">
                  <a:extLst>
                    <a:ext uri="{9D8B030D-6E8A-4147-A177-3AD203B41FA5}">
                      <a16:colId xmlns:a16="http://schemas.microsoft.com/office/drawing/2014/main" val="1446177257"/>
                    </a:ext>
                  </a:extLst>
                </a:gridCol>
              </a:tblGrid>
              <a:tr h="370840">
                <a:tc>
                  <a:txBody>
                    <a:bodyPr/>
                    <a:lstStyle/>
                    <a:p>
                      <a:pPr algn="ctr"/>
                      <a:r>
                        <a:rPr lang="en-US" dirty="0">
                          <a:solidFill>
                            <a:schemeClr val="bg1"/>
                          </a:solidFill>
                        </a:rPr>
                        <a:t>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B</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F</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78851035"/>
                  </a:ext>
                </a:extLst>
              </a:tr>
            </a:tbl>
          </a:graphicData>
        </a:graphic>
      </p:graphicFrame>
      <p:graphicFrame>
        <p:nvGraphicFramePr>
          <p:cNvPr id="4" name="Table 3">
            <a:extLst>
              <a:ext uri="{FF2B5EF4-FFF2-40B4-BE49-F238E27FC236}">
                <a16:creationId xmlns:a16="http://schemas.microsoft.com/office/drawing/2014/main" id="{92C090EA-DC96-7198-185B-BC91D11B90BA}"/>
              </a:ext>
            </a:extLst>
          </p:cNvPr>
          <p:cNvGraphicFramePr>
            <a:graphicFrameLocks noGrp="1"/>
          </p:cNvGraphicFramePr>
          <p:nvPr/>
        </p:nvGraphicFramePr>
        <p:xfrm>
          <a:off x="1903412" y="4406900"/>
          <a:ext cx="2057400" cy="370840"/>
        </p:xfrm>
        <a:graphic>
          <a:graphicData uri="http://schemas.openxmlformats.org/drawingml/2006/table">
            <a:tbl>
              <a:tblPr firstRow="1" bandRow="1">
                <a:tableStyleId>{5940675A-B579-460E-94D1-54222C63F5DA}</a:tableStyleId>
              </a:tblPr>
              <a:tblGrid>
                <a:gridCol w="257175">
                  <a:extLst>
                    <a:ext uri="{9D8B030D-6E8A-4147-A177-3AD203B41FA5}">
                      <a16:colId xmlns:a16="http://schemas.microsoft.com/office/drawing/2014/main" val="103024786"/>
                    </a:ext>
                  </a:extLst>
                </a:gridCol>
                <a:gridCol w="257175">
                  <a:extLst>
                    <a:ext uri="{9D8B030D-6E8A-4147-A177-3AD203B41FA5}">
                      <a16:colId xmlns:a16="http://schemas.microsoft.com/office/drawing/2014/main" val="2668120668"/>
                    </a:ext>
                  </a:extLst>
                </a:gridCol>
                <a:gridCol w="257175">
                  <a:extLst>
                    <a:ext uri="{9D8B030D-6E8A-4147-A177-3AD203B41FA5}">
                      <a16:colId xmlns:a16="http://schemas.microsoft.com/office/drawing/2014/main" val="2935351810"/>
                    </a:ext>
                  </a:extLst>
                </a:gridCol>
                <a:gridCol w="257175">
                  <a:extLst>
                    <a:ext uri="{9D8B030D-6E8A-4147-A177-3AD203B41FA5}">
                      <a16:colId xmlns:a16="http://schemas.microsoft.com/office/drawing/2014/main" val="513690287"/>
                    </a:ext>
                  </a:extLst>
                </a:gridCol>
                <a:gridCol w="257175">
                  <a:extLst>
                    <a:ext uri="{9D8B030D-6E8A-4147-A177-3AD203B41FA5}">
                      <a16:colId xmlns:a16="http://schemas.microsoft.com/office/drawing/2014/main" val="2953114095"/>
                    </a:ext>
                  </a:extLst>
                </a:gridCol>
                <a:gridCol w="257175">
                  <a:extLst>
                    <a:ext uri="{9D8B030D-6E8A-4147-A177-3AD203B41FA5}">
                      <a16:colId xmlns:a16="http://schemas.microsoft.com/office/drawing/2014/main" val="1046495952"/>
                    </a:ext>
                  </a:extLst>
                </a:gridCol>
                <a:gridCol w="257175">
                  <a:extLst>
                    <a:ext uri="{9D8B030D-6E8A-4147-A177-3AD203B41FA5}">
                      <a16:colId xmlns:a16="http://schemas.microsoft.com/office/drawing/2014/main" val="2454233105"/>
                    </a:ext>
                  </a:extLst>
                </a:gridCol>
                <a:gridCol w="257175">
                  <a:extLst>
                    <a:ext uri="{9D8B030D-6E8A-4147-A177-3AD203B41FA5}">
                      <a16:colId xmlns:a16="http://schemas.microsoft.com/office/drawing/2014/main" val="1446177257"/>
                    </a:ext>
                  </a:extLst>
                </a:gridCol>
              </a:tblGrid>
              <a:tr h="370840">
                <a:tc>
                  <a:txBody>
                    <a:bodyPr/>
                    <a:lstStyle/>
                    <a:p>
                      <a:pPr algn="ctr"/>
                      <a:r>
                        <a:rPr lang="en-US" dirty="0">
                          <a:solidFill>
                            <a:schemeClr val="bg1"/>
                          </a:solidFill>
                        </a:rPr>
                        <a:t>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B</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F</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78851035"/>
                  </a:ext>
                </a:extLst>
              </a:tr>
            </a:tbl>
          </a:graphicData>
        </a:graphic>
      </p:graphicFrame>
      <p:graphicFrame>
        <p:nvGraphicFramePr>
          <p:cNvPr id="8" name="Table 7">
            <a:extLst>
              <a:ext uri="{FF2B5EF4-FFF2-40B4-BE49-F238E27FC236}">
                <a16:creationId xmlns:a16="http://schemas.microsoft.com/office/drawing/2014/main" id="{B3CAD69B-0594-6BA1-B8DF-DCA77998EC3A}"/>
              </a:ext>
            </a:extLst>
          </p:cNvPr>
          <p:cNvGraphicFramePr>
            <a:graphicFrameLocks noGrp="1"/>
          </p:cNvGraphicFramePr>
          <p:nvPr/>
        </p:nvGraphicFramePr>
        <p:xfrm>
          <a:off x="4494212" y="4239260"/>
          <a:ext cx="1700740" cy="741680"/>
        </p:xfrm>
        <a:graphic>
          <a:graphicData uri="http://schemas.openxmlformats.org/drawingml/2006/table">
            <a:tbl>
              <a:tblPr firstRow="1" bandRow="1">
                <a:tableStyleId>{5940675A-B579-460E-94D1-54222C63F5DA}</a:tableStyleId>
              </a:tblPr>
              <a:tblGrid>
                <a:gridCol w="425185">
                  <a:extLst>
                    <a:ext uri="{9D8B030D-6E8A-4147-A177-3AD203B41FA5}">
                      <a16:colId xmlns:a16="http://schemas.microsoft.com/office/drawing/2014/main" val="2545334498"/>
                    </a:ext>
                  </a:extLst>
                </a:gridCol>
                <a:gridCol w="425185">
                  <a:extLst>
                    <a:ext uri="{9D8B030D-6E8A-4147-A177-3AD203B41FA5}">
                      <a16:colId xmlns:a16="http://schemas.microsoft.com/office/drawing/2014/main" val="1115727923"/>
                    </a:ext>
                  </a:extLst>
                </a:gridCol>
                <a:gridCol w="425185">
                  <a:extLst>
                    <a:ext uri="{9D8B030D-6E8A-4147-A177-3AD203B41FA5}">
                      <a16:colId xmlns:a16="http://schemas.microsoft.com/office/drawing/2014/main" val="1979156407"/>
                    </a:ext>
                  </a:extLst>
                </a:gridCol>
                <a:gridCol w="425185">
                  <a:extLst>
                    <a:ext uri="{9D8B030D-6E8A-4147-A177-3AD203B41FA5}">
                      <a16:colId xmlns:a16="http://schemas.microsoft.com/office/drawing/2014/main" val="3404962133"/>
                    </a:ext>
                  </a:extLst>
                </a:gridCol>
              </a:tblGrid>
              <a:tr h="370840">
                <a:tc>
                  <a:txBody>
                    <a:bodyPr/>
                    <a:lstStyle/>
                    <a:p>
                      <a:pPr algn="ctr"/>
                      <a:r>
                        <a:rPr lang="en-US" dirty="0">
                          <a:solidFill>
                            <a:schemeClr val="bg1"/>
                          </a:solidFill>
                        </a:rPr>
                        <a:t>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B</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95361612"/>
                  </a:ext>
                </a:extLst>
              </a:tr>
              <a:tr h="370840">
                <a:tc>
                  <a:txBody>
                    <a:bodyPr/>
                    <a:lstStyle/>
                    <a:p>
                      <a:pPr algn="ctr"/>
                      <a:r>
                        <a:rPr lang="en-US" dirty="0">
                          <a:solidFill>
                            <a:schemeClr val="bg1"/>
                          </a:solidFill>
                        </a:rPr>
                        <a:t>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F</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752168777"/>
                  </a:ext>
                </a:extLst>
              </a:tr>
            </a:tbl>
          </a:graphicData>
        </a:graphic>
      </p:graphicFrame>
      <p:graphicFrame>
        <p:nvGraphicFramePr>
          <p:cNvPr id="9" name="Table 8">
            <a:extLst>
              <a:ext uri="{FF2B5EF4-FFF2-40B4-BE49-F238E27FC236}">
                <a16:creationId xmlns:a16="http://schemas.microsoft.com/office/drawing/2014/main" id="{DBFF2C9B-9841-4DC5-BEAC-0E06201C7A50}"/>
              </a:ext>
            </a:extLst>
          </p:cNvPr>
          <p:cNvGraphicFramePr>
            <a:graphicFrameLocks noGrp="1"/>
          </p:cNvGraphicFramePr>
          <p:nvPr/>
        </p:nvGraphicFramePr>
        <p:xfrm>
          <a:off x="7618412" y="3820160"/>
          <a:ext cx="762000" cy="121920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1111660507"/>
                    </a:ext>
                  </a:extLst>
                </a:gridCol>
                <a:gridCol w="381000">
                  <a:extLst>
                    <a:ext uri="{9D8B030D-6E8A-4147-A177-3AD203B41FA5}">
                      <a16:colId xmlns:a16="http://schemas.microsoft.com/office/drawing/2014/main" val="3622588240"/>
                    </a:ext>
                  </a:extLst>
                </a:gridCol>
              </a:tblGrid>
              <a:tr h="168910">
                <a:tc>
                  <a:txBody>
                    <a:bodyPr/>
                    <a:lstStyle/>
                    <a:p>
                      <a:pPr algn="ctr"/>
                      <a:r>
                        <a:rPr lang="en-US" dirty="0">
                          <a:solidFill>
                            <a:schemeClr val="bg1"/>
                          </a:solidFill>
                        </a:rPr>
                        <a:t>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B</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08121893"/>
                  </a:ext>
                </a:extLst>
              </a:tr>
              <a:tr h="168910">
                <a:tc>
                  <a:txBody>
                    <a:bodyPr/>
                    <a:lstStyle/>
                    <a:p>
                      <a:pPr algn="ctr"/>
                      <a:r>
                        <a:rPr lang="en-US" dirty="0">
                          <a:solidFill>
                            <a:schemeClr val="bg1"/>
                          </a:solidFill>
                        </a:rPr>
                        <a:t>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02225852"/>
                  </a:ext>
                </a:extLst>
              </a:tr>
              <a:tr h="168910">
                <a:tc>
                  <a:txBody>
                    <a:bodyPr/>
                    <a:lstStyle/>
                    <a:p>
                      <a:pPr algn="ctr"/>
                      <a:r>
                        <a:rPr lang="en-US" dirty="0">
                          <a:solidFill>
                            <a:schemeClr val="bg1"/>
                          </a:solidFill>
                        </a:rPr>
                        <a:t>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F</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27820819"/>
                  </a:ext>
                </a:extLst>
              </a:tr>
              <a:tr h="168910">
                <a:tc>
                  <a:txBody>
                    <a:bodyPr/>
                    <a:lstStyle/>
                    <a:p>
                      <a:pPr algn="ctr"/>
                      <a:r>
                        <a:rPr lang="en-US" dirty="0">
                          <a:solidFill>
                            <a:schemeClr val="bg1"/>
                          </a:solidFill>
                        </a:rPr>
                        <a:t>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5505732"/>
                  </a:ext>
                </a:extLst>
              </a:tr>
            </a:tbl>
          </a:graphicData>
        </a:graphic>
      </p:graphicFrame>
      <p:graphicFrame>
        <p:nvGraphicFramePr>
          <p:cNvPr id="11" name="Table 10">
            <a:extLst>
              <a:ext uri="{FF2B5EF4-FFF2-40B4-BE49-F238E27FC236}">
                <a16:creationId xmlns:a16="http://schemas.microsoft.com/office/drawing/2014/main" id="{D59D4EC0-8957-365F-DDB6-B01D62CB26E6}"/>
              </a:ext>
            </a:extLst>
          </p:cNvPr>
          <p:cNvGraphicFramePr>
            <a:graphicFrameLocks noGrp="1"/>
          </p:cNvGraphicFramePr>
          <p:nvPr/>
        </p:nvGraphicFramePr>
        <p:xfrm>
          <a:off x="10250031" y="3850640"/>
          <a:ext cx="786342" cy="741680"/>
        </p:xfrm>
        <a:graphic>
          <a:graphicData uri="http://schemas.openxmlformats.org/drawingml/2006/table">
            <a:tbl>
              <a:tblPr firstRow="1" bandRow="1">
                <a:tableStyleId>{5940675A-B579-460E-94D1-54222C63F5DA}</a:tableStyleId>
              </a:tblPr>
              <a:tblGrid>
                <a:gridCol w="393171">
                  <a:extLst>
                    <a:ext uri="{9D8B030D-6E8A-4147-A177-3AD203B41FA5}">
                      <a16:colId xmlns:a16="http://schemas.microsoft.com/office/drawing/2014/main" val="953213393"/>
                    </a:ext>
                  </a:extLst>
                </a:gridCol>
                <a:gridCol w="393171">
                  <a:extLst>
                    <a:ext uri="{9D8B030D-6E8A-4147-A177-3AD203B41FA5}">
                      <a16:colId xmlns:a16="http://schemas.microsoft.com/office/drawing/2014/main" val="3468475054"/>
                    </a:ext>
                  </a:extLst>
                </a:gridCol>
              </a:tblGrid>
              <a:tr h="370840">
                <a:tc>
                  <a:txBody>
                    <a:bodyPr/>
                    <a:lstStyle/>
                    <a:p>
                      <a:pPr algn="ctr"/>
                      <a:r>
                        <a:rPr lang="en-US" dirty="0">
                          <a:solidFill>
                            <a:schemeClr val="bg1"/>
                          </a:solidFill>
                        </a:rPr>
                        <a:t>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F</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997061"/>
                  </a:ext>
                </a:extLst>
              </a:tr>
              <a:tr h="370840">
                <a:tc>
                  <a:txBody>
                    <a:bodyPr/>
                    <a:lstStyle/>
                    <a:p>
                      <a:pPr algn="ctr"/>
                      <a:r>
                        <a:rPr lang="en-US" dirty="0">
                          <a:solidFill>
                            <a:schemeClr val="bg1"/>
                          </a:solidFill>
                        </a:rPr>
                        <a:t>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dirty="0">
                          <a:solidFill>
                            <a:schemeClr val="bg1"/>
                          </a:solidFill>
                        </a:rPr>
                        <a:t>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4798903"/>
                  </a:ext>
                </a:extLst>
              </a:tr>
            </a:tbl>
          </a:graphicData>
        </a:graphic>
      </p:graphicFrame>
      <p:graphicFrame>
        <p:nvGraphicFramePr>
          <p:cNvPr id="10" name="Table 9">
            <a:extLst>
              <a:ext uri="{FF2B5EF4-FFF2-40B4-BE49-F238E27FC236}">
                <a16:creationId xmlns:a16="http://schemas.microsoft.com/office/drawing/2014/main" id="{6B39AF13-5A2A-B473-C5CA-52F2D419F101}"/>
              </a:ext>
            </a:extLst>
          </p:cNvPr>
          <p:cNvGraphicFramePr>
            <a:graphicFrameLocks noGrp="1"/>
          </p:cNvGraphicFramePr>
          <p:nvPr/>
        </p:nvGraphicFramePr>
        <p:xfrm>
          <a:off x="9956270" y="4079240"/>
          <a:ext cx="786342" cy="741680"/>
        </p:xfrm>
        <a:graphic>
          <a:graphicData uri="http://schemas.openxmlformats.org/drawingml/2006/table">
            <a:tbl>
              <a:tblPr firstRow="1" bandRow="1">
                <a:tableStyleId>{5940675A-B579-460E-94D1-54222C63F5DA}</a:tableStyleId>
              </a:tblPr>
              <a:tblGrid>
                <a:gridCol w="393171">
                  <a:extLst>
                    <a:ext uri="{9D8B030D-6E8A-4147-A177-3AD203B41FA5}">
                      <a16:colId xmlns:a16="http://schemas.microsoft.com/office/drawing/2014/main" val="953213393"/>
                    </a:ext>
                  </a:extLst>
                </a:gridCol>
                <a:gridCol w="393171">
                  <a:extLst>
                    <a:ext uri="{9D8B030D-6E8A-4147-A177-3AD203B41FA5}">
                      <a16:colId xmlns:a16="http://schemas.microsoft.com/office/drawing/2014/main" val="3468475054"/>
                    </a:ext>
                  </a:extLst>
                </a:gridCol>
              </a:tblGrid>
              <a:tr h="370840">
                <a:tc>
                  <a:txBody>
                    <a:bodyPr/>
                    <a:lstStyle/>
                    <a:p>
                      <a:pPr algn="ctr"/>
                      <a:r>
                        <a:rPr lang="en-US" dirty="0">
                          <a:solidFill>
                            <a:schemeClr val="bg2"/>
                          </a:solidFill>
                        </a:rPr>
                        <a:t>A</a:t>
                      </a:r>
                    </a:p>
                  </a:txBody>
                  <a:tcPr>
                    <a:solidFill>
                      <a:schemeClr val="bg1"/>
                    </a:solidFill>
                  </a:tcPr>
                </a:tc>
                <a:tc>
                  <a:txBody>
                    <a:bodyPr/>
                    <a:lstStyle/>
                    <a:p>
                      <a:pPr algn="ctr"/>
                      <a:r>
                        <a:rPr lang="en-US" dirty="0">
                          <a:solidFill>
                            <a:schemeClr val="bg2"/>
                          </a:solidFill>
                        </a:rPr>
                        <a:t>B</a:t>
                      </a:r>
                    </a:p>
                  </a:txBody>
                  <a:tcPr>
                    <a:solidFill>
                      <a:schemeClr val="bg1"/>
                    </a:solidFill>
                  </a:tcPr>
                </a:tc>
                <a:extLst>
                  <a:ext uri="{0D108BD9-81ED-4DB2-BD59-A6C34878D82A}">
                    <a16:rowId xmlns:a16="http://schemas.microsoft.com/office/drawing/2014/main" val="12997061"/>
                  </a:ext>
                </a:extLst>
              </a:tr>
              <a:tr h="370840">
                <a:tc>
                  <a:txBody>
                    <a:bodyPr/>
                    <a:lstStyle/>
                    <a:p>
                      <a:pPr algn="ctr"/>
                      <a:r>
                        <a:rPr lang="en-US" dirty="0">
                          <a:solidFill>
                            <a:schemeClr val="bg2"/>
                          </a:solidFill>
                        </a:rPr>
                        <a:t>C</a:t>
                      </a:r>
                    </a:p>
                  </a:txBody>
                  <a:tcPr>
                    <a:solidFill>
                      <a:schemeClr val="bg1"/>
                    </a:solidFill>
                  </a:tcPr>
                </a:tc>
                <a:tc>
                  <a:txBody>
                    <a:bodyPr/>
                    <a:lstStyle/>
                    <a:p>
                      <a:pPr algn="ctr"/>
                      <a:r>
                        <a:rPr lang="en-US" dirty="0">
                          <a:solidFill>
                            <a:schemeClr val="bg2"/>
                          </a:solidFill>
                        </a:rPr>
                        <a:t>D</a:t>
                      </a:r>
                    </a:p>
                  </a:txBody>
                  <a:tcPr>
                    <a:solidFill>
                      <a:schemeClr val="bg1"/>
                    </a:solidFill>
                  </a:tcPr>
                </a:tc>
                <a:extLst>
                  <a:ext uri="{0D108BD9-81ED-4DB2-BD59-A6C34878D82A}">
                    <a16:rowId xmlns:a16="http://schemas.microsoft.com/office/drawing/2014/main" val="194798903"/>
                  </a:ext>
                </a:extLst>
              </a:tr>
            </a:tbl>
          </a:graphicData>
        </a:graphic>
      </p:graphicFrame>
      <p:cxnSp>
        <p:nvCxnSpPr>
          <p:cNvPr id="13" name="Straight Connector 12">
            <a:extLst>
              <a:ext uri="{FF2B5EF4-FFF2-40B4-BE49-F238E27FC236}">
                <a16:creationId xmlns:a16="http://schemas.microsoft.com/office/drawing/2014/main" id="{A9C6D62C-EF05-E090-8A51-A89A0C21F798}"/>
              </a:ext>
            </a:extLst>
          </p:cNvPr>
          <p:cNvCxnSpPr>
            <a:cxnSpLocks/>
          </p:cNvCxnSpPr>
          <p:nvPr/>
        </p:nvCxnSpPr>
        <p:spPr>
          <a:xfrm flipV="1">
            <a:off x="9950751" y="3850640"/>
            <a:ext cx="299280" cy="228600"/>
          </a:xfrm>
          <a:prstGeom prst="line">
            <a:avLst/>
          </a:prstGeom>
          <a:ln>
            <a:solidFill>
              <a:schemeClr val="tx2">
                <a:lumMod val="95000"/>
                <a:lumOff val="5000"/>
              </a:schemeClr>
            </a:solidFill>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58BB6AC6-8654-AE65-69F5-43D59CFCA953}"/>
              </a:ext>
            </a:extLst>
          </p:cNvPr>
          <p:cNvCxnSpPr/>
          <p:nvPr/>
        </p:nvCxnSpPr>
        <p:spPr>
          <a:xfrm flipV="1">
            <a:off x="10739853" y="3850640"/>
            <a:ext cx="296520" cy="228600"/>
          </a:xfrm>
          <a:prstGeom prst="line">
            <a:avLst/>
          </a:prstGeom>
          <a:ln>
            <a:solidFill>
              <a:schemeClr val="tx2">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B8F8EC7-8919-EF3B-1F3A-DC54C5EEEAD4}"/>
              </a:ext>
            </a:extLst>
          </p:cNvPr>
          <p:cNvCxnSpPr/>
          <p:nvPr/>
        </p:nvCxnSpPr>
        <p:spPr>
          <a:xfrm flipV="1">
            <a:off x="10748131" y="4592320"/>
            <a:ext cx="288242" cy="228600"/>
          </a:xfrm>
          <a:prstGeom prst="line">
            <a:avLst/>
          </a:prstGeom>
          <a:ln>
            <a:solidFill>
              <a:schemeClr val="tx2">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F6CD1D2-85A4-5C97-4014-6A74BD7A36D3}"/>
              </a:ext>
            </a:extLst>
          </p:cNvPr>
          <p:cNvCxnSpPr>
            <a:cxnSpLocks/>
          </p:cNvCxnSpPr>
          <p:nvPr/>
        </p:nvCxnSpPr>
        <p:spPr>
          <a:xfrm>
            <a:off x="1751012" y="3505200"/>
            <a:ext cx="9753600" cy="0"/>
          </a:xfrm>
          <a:prstGeom prst="line">
            <a:avLst/>
          </a:prstGeom>
          <a:ln w="57150">
            <a:solidFill>
              <a:schemeClr val="tx2">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3" name="Callout: Left Arrow 22">
            <a:extLst>
              <a:ext uri="{FF2B5EF4-FFF2-40B4-BE49-F238E27FC236}">
                <a16:creationId xmlns:a16="http://schemas.microsoft.com/office/drawing/2014/main" id="{F6ECE602-0ABE-7189-60DC-E9EC1920F65A}"/>
              </a:ext>
            </a:extLst>
          </p:cNvPr>
          <p:cNvSpPr/>
          <p:nvPr/>
        </p:nvSpPr>
        <p:spPr>
          <a:xfrm>
            <a:off x="7466012" y="2743200"/>
            <a:ext cx="3276600" cy="370840"/>
          </a:xfrm>
          <a:prstGeom prst="leftArrowCallout">
            <a:avLst>
              <a:gd name="adj1" fmla="val 25000"/>
              <a:gd name="adj2" fmla="val 25000"/>
              <a:gd name="adj3" fmla="val 25000"/>
              <a:gd name="adj4" fmla="val 93233"/>
            </a:avLst>
          </a:prstGeom>
          <a:ln>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Data in memory</a:t>
            </a:r>
          </a:p>
        </p:txBody>
      </p:sp>
      <p:cxnSp>
        <p:nvCxnSpPr>
          <p:cNvPr id="24" name="Straight Connector 23">
            <a:extLst>
              <a:ext uri="{FF2B5EF4-FFF2-40B4-BE49-F238E27FC236}">
                <a16:creationId xmlns:a16="http://schemas.microsoft.com/office/drawing/2014/main" id="{93E1F383-BDCF-1EB8-3DD3-1425B42B99D7}"/>
              </a:ext>
            </a:extLst>
          </p:cNvPr>
          <p:cNvCxnSpPr>
            <a:cxnSpLocks/>
          </p:cNvCxnSpPr>
          <p:nvPr/>
        </p:nvCxnSpPr>
        <p:spPr>
          <a:xfrm>
            <a:off x="1751012" y="5562600"/>
            <a:ext cx="9753600" cy="0"/>
          </a:xfrm>
          <a:prstGeom prst="line">
            <a:avLst/>
          </a:prstGeom>
          <a:ln w="57150">
            <a:solidFill>
              <a:schemeClr val="tx2">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274E282F-CBFA-E9F0-D9C5-CC8116120B18}"/>
              </a:ext>
            </a:extLst>
          </p:cNvPr>
          <p:cNvSpPr/>
          <p:nvPr/>
        </p:nvSpPr>
        <p:spPr>
          <a:xfrm>
            <a:off x="1903412" y="5791200"/>
            <a:ext cx="1981200" cy="914400"/>
          </a:xfrm>
          <a:prstGeom prst="roundRect">
            <a:avLst/>
          </a:prstGeom>
          <a:ln>
            <a:solidFill>
              <a:schemeClr val="tx2">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chemeClr val="tx2">
                    <a:lumMod val="95000"/>
                    <a:lumOff val="5000"/>
                  </a:schemeClr>
                </a:solidFill>
              </a:rPr>
              <a:t>Vector</a:t>
            </a:r>
          </a:p>
          <a:p>
            <a:r>
              <a:rPr lang="en-US" dirty="0">
                <a:solidFill>
                  <a:schemeClr val="tx2">
                    <a:lumMod val="95000"/>
                    <a:lumOff val="5000"/>
                  </a:schemeClr>
                </a:solidFill>
              </a:rPr>
              <a:t>Shape: (8)</a:t>
            </a:r>
          </a:p>
        </p:txBody>
      </p:sp>
      <p:sp>
        <p:nvSpPr>
          <p:cNvPr id="26" name="Rectangle: Rounded Corners 25">
            <a:extLst>
              <a:ext uri="{FF2B5EF4-FFF2-40B4-BE49-F238E27FC236}">
                <a16:creationId xmlns:a16="http://schemas.microsoft.com/office/drawing/2014/main" id="{AD66B8AF-6DF4-F3BC-4BAE-84183A3AFD49}"/>
              </a:ext>
            </a:extLst>
          </p:cNvPr>
          <p:cNvSpPr/>
          <p:nvPr/>
        </p:nvSpPr>
        <p:spPr>
          <a:xfrm>
            <a:off x="4335570" y="5791199"/>
            <a:ext cx="2124176" cy="888999"/>
          </a:xfrm>
          <a:prstGeom prst="roundRect">
            <a:avLst/>
          </a:prstGeom>
          <a:ln>
            <a:solidFill>
              <a:schemeClr val="tx2">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chemeClr val="tx2">
                    <a:lumMod val="95000"/>
                    <a:lumOff val="5000"/>
                  </a:schemeClr>
                </a:solidFill>
              </a:rPr>
              <a:t>Bi-</a:t>
            </a:r>
            <a:r>
              <a:rPr lang="en-US" dirty="0" err="1">
                <a:solidFill>
                  <a:schemeClr val="tx2">
                    <a:lumMod val="95000"/>
                    <a:lumOff val="5000"/>
                  </a:schemeClr>
                </a:solidFill>
              </a:rPr>
              <a:t>dimentional</a:t>
            </a:r>
            <a:r>
              <a:rPr lang="en-US" dirty="0">
                <a:solidFill>
                  <a:schemeClr val="tx2">
                    <a:lumMod val="95000"/>
                    <a:lumOff val="5000"/>
                  </a:schemeClr>
                </a:solidFill>
              </a:rPr>
              <a:t> matrix</a:t>
            </a:r>
          </a:p>
          <a:p>
            <a:r>
              <a:rPr lang="en-US" dirty="0">
                <a:solidFill>
                  <a:schemeClr val="tx2">
                    <a:lumMod val="95000"/>
                    <a:lumOff val="5000"/>
                  </a:schemeClr>
                </a:solidFill>
              </a:rPr>
              <a:t>Shape: (2 , 4)</a:t>
            </a:r>
          </a:p>
        </p:txBody>
      </p:sp>
      <p:sp>
        <p:nvSpPr>
          <p:cNvPr id="27" name="Rectangle: Rounded Corners 26">
            <a:extLst>
              <a:ext uri="{FF2B5EF4-FFF2-40B4-BE49-F238E27FC236}">
                <a16:creationId xmlns:a16="http://schemas.microsoft.com/office/drawing/2014/main" id="{FF9F6899-A63D-2F78-0271-8D8164F42722}"/>
              </a:ext>
            </a:extLst>
          </p:cNvPr>
          <p:cNvSpPr/>
          <p:nvPr/>
        </p:nvSpPr>
        <p:spPr>
          <a:xfrm>
            <a:off x="6910704" y="5786120"/>
            <a:ext cx="2124176" cy="888999"/>
          </a:xfrm>
          <a:prstGeom prst="roundRect">
            <a:avLst/>
          </a:prstGeom>
          <a:ln>
            <a:solidFill>
              <a:schemeClr val="tx2">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chemeClr val="tx2">
                    <a:lumMod val="95000"/>
                    <a:lumOff val="5000"/>
                  </a:schemeClr>
                </a:solidFill>
              </a:rPr>
              <a:t>Bi-</a:t>
            </a:r>
            <a:r>
              <a:rPr lang="en-US" dirty="0" err="1">
                <a:solidFill>
                  <a:schemeClr val="tx2">
                    <a:lumMod val="95000"/>
                    <a:lumOff val="5000"/>
                  </a:schemeClr>
                </a:solidFill>
              </a:rPr>
              <a:t>dimentional</a:t>
            </a:r>
            <a:r>
              <a:rPr lang="en-US" dirty="0">
                <a:solidFill>
                  <a:schemeClr val="tx2">
                    <a:lumMod val="95000"/>
                    <a:lumOff val="5000"/>
                  </a:schemeClr>
                </a:solidFill>
              </a:rPr>
              <a:t> matrix</a:t>
            </a:r>
          </a:p>
          <a:p>
            <a:r>
              <a:rPr lang="en-US" dirty="0">
                <a:solidFill>
                  <a:schemeClr val="tx2">
                    <a:lumMod val="95000"/>
                    <a:lumOff val="5000"/>
                  </a:schemeClr>
                </a:solidFill>
              </a:rPr>
              <a:t>Shape: (4 , 2)</a:t>
            </a:r>
          </a:p>
        </p:txBody>
      </p:sp>
      <p:sp>
        <p:nvSpPr>
          <p:cNvPr id="28" name="Rectangle: Rounded Corners 27">
            <a:extLst>
              <a:ext uri="{FF2B5EF4-FFF2-40B4-BE49-F238E27FC236}">
                <a16:creationId xmlns:a16="http://schemas.microsoft.com/office/drawing/2014/main" id="{A98A0489-1367-39AC-58DF-1A33D1040194}"/>
              </a:ext>
            </a:extLst>
          </p:cNvPr>
          <p:cNvSpPr/>
          <p:nvPr/>
        </p:nvSpPr>
        <p:spPr>
          <a:xfrm>
            <a:off x="9485837" y="5789931"/>
            <a:ext cx="2124176" cy="888999"/>
          </a:xfrm>
          <a:prstGeom prst="roundRect">
            <a:avLst/>
          </a:prstGeom>
          <a:ln>
            <a:solidFill>
              <a:schemeClr val="tx2">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solidFill>
                  <a:schemeClr val="tx2">
                    <a:lumMod val="95000"/>
                    <a:lumOff val="5000"/>
                  </a:schemeClr>
                </a:solidFill>
              </a:rPr>
              <a:t>tri-</a:t>
            </a:r>
            <a:r>
              <a:rPr lang="en-US" dirty="0" err="1">
                <a:solidFill>
                  <a:schemeClr val="tx2">
                    <a:lumMod val="95000"/>
                    <a:lumOff val="5000"/>
                  </a:schemeClr>
                </a:solidFill>
              </a:rPr>
              <a:t>dimentional</a:t>
            </a:r>
            <a:r>
              <a:rPr lang="en-US" dirty="0">
                <a:solidFill>
                  <a:schemeClr val="tx2">
                    <a:lumMod val="95000"/>
                    <a:lumOff val="5000"/>
                  </a:schemeClr>
                </a:solidFill>
              </a:rPr>
              <a:t> matrix</a:t>
            </a:r>
          </a:p>
          <a:p>
            <a:r>
              <a:rPr lang="en-US" dirty="0">
                <a:solidFill>
                  <a:schemeClr val="tx2">
                    <a:lumMod val="95000"/>
                    <a:lumOff val="5000"/>
                  </a:schemeClr>
                </a:solidFill>
              </a:rPr>
              <a:t>Shape: (2 , 2, 2)</a:t>
            </a:r>
          </a:p>
        </p:txBody>
      </p:sp>
    </p:spTree>
    <p:extLst>
      <p:ext uri="{BB962C8B-B14F-4D97-AF65-F5344CB8AC3E}">
        <p14:creationId xmlns:p14="http://schemas.microsoft.com/office/powerpoint/2010/main" val="355801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randombar(horizontal)">
                                      <p:cBhvr>
                                        <p:cTn id="17" dur="500"/>
                                        <p:tgtEl>
                                          <p:spTgt spid="22"/>
                                        </p:tgtEl>
                                      </p:cBhvr>
                                    </p:animEffect>
                                  </p:childTnLst>
                                </p:cTn>
                              </p:par>
                              <p:par>
                                <p:cTn id="18" presetID="14" presetClass="entr" presetSubtype="1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randombar(horizontal)">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fill="hold"/>
                                        <p:tgtEl>
                                          <p:spTgt spid="25"/>
                                        </p:tgtEl>
                                        <p:attrNameLst>
                                          <p:attrName>ppt_x</p:attrName>
                                        </p:attrNameLst>
                                      </p:cBhvr>
                                      <p:tavLst>
                                        <p:tav tm="0">
                                          <p:val>
                                            <p:strVal val="#ppt_x"/>
                                          </p:val>
                                        </p:tav>
                                        <p:tav tm="100000">
                                          <p:val>
                                            <p:strVal val="#ppt_x"/>
                                          </p:val>
                                        </p:tav>
                                      </p:tavLst>
                                    </p:anim>
                                    <p:anim calcmode="lin" valueType="num">
                                      <p:cBhvr additive="base">
                                        <p:cTn id="3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randombar(horizontal)">
                                      <p:cBhvr>
                                        <p:cTn id="35" dur="500"/>
                                        <p:tgtEl>
                                          <p:spTgt spid="8"/>
                                        </p:tgtEl>
                                      </p:cBhvr>
                                    </p:animEffect>
                                  </p:childTnLst>
                                </p:cTn>
                              </p:par>
                            </p:childTnLst>
                          </p:cTn>
                        </p:par>
                        <p:par>
                          <p:cTn id="36" fill="hold">
                            <p:stCondLst>
                              <p:cond delay="500"/>
                            </p:stCondLst>
                            <p:childTnLst>
                              <p:par>
                                <p:cTn id="37" presetID="2" presetClass="entr" presetSubtype="4"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additive="base">
                                        <p:cTn id="39" dur="500" fill="hold"/>
                                        <p:tgtEl>
                                          <p:spTgt spid="26"/>
                                        </p:tgtEl>
                                        <p:attrNameLst>
                                          <p:attrName>ppt_x</p:attrName>
                                        </p:attrNameLst>
                                      </p:cBhvr>
                                      <p:tavLst>
                                        <p:tav tm="0">
                                          <p:val>
                                            <p:strVal val="#ppt_x"/>
                                          </p:val>
                                        </p:tav>
                                        <p:tav tm="100000">
                                          <p:val>
                                            <p:strVal val="#ppt_x"/>
                                          </p:val>
                                        </p:tav>
                                      </p:tavLst>
                                    </p:anim>
                                    <p:anim calcmode="lin" valueType="num">
                                      <p:cBhvr additive="base">
                                        <p:cTn id="4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randombar(horizontal)">
                                      <p:cBhvr>
                                        <p:cTn id="45" dur="500"/>
                                        <p:tgtEl>
                                          <p:spTgt spid="9"/>
                                        </p:tgtEl>
                                      </p:cBhvr>
                                    </p:animEffect>
                                  </p:childTnLst>
                                </p:cTn>
                              </p:par>
                            </p:childTnLst>
                          </p:cTn>
                        </p:par>
                        <p:par>
                          <p:cTn id="46" fill="hold">
                            <p:stCondLst>
                              <p:cond delay="500"/>
                            </p:stCondLst>
                            <p:childTnLst>
                              <p:par>
                                <p:cTn id="47" presetID="2" presetClass="entr" presetSubtype="4" fill="hold" grpId="0" nodeType="after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ppt_x"/>
                                          </p:val>
                                        </p:tav>
                                        <p:tav tm="100000">
                                          <p:val>
                                            <p:strVal val="#ppt_x"/>
                                          </p:val>
                                        </p:tav>
                                      </p:tavLst>
                                    </p:anim>
                                    <p:anim calcmode="lin" valueType="num">
                                      <p:cBhvr additive="base">
                                        <p:cTn id="5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randombar(horizontal)">
                                      <p:cBhvr>
                                        <p:cTn id="55" dur="500"/>
                                        <p:tgtEl>
                                          <p:spTgt spid="11"/>
                                        </p:tgtEl>
                                      </p:cBhvr>
                                    </p:animEffect>
                                  </p:childTnLst>
                                </p:cTn>
                              </p:par>
                              <p:par>
                                <p:cTn id="56" presetID="14" presetClass="entr" presetSubtype="1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randombar(horizontal)">
                                      <p:cBhvr>
                                        <p:cTn id="58" dur="500"/>
                                        <p:tgtEl>
                                          <p:spTgt spid="10"/>
                                        </p:tgtEl>
                                      </p:cBhvr>
                                    </p:animEffect>
                                  </p:childTnLst>
                                </p:cTn>
                              </p:par>
                              <p:par>
                                <p:cTn id="59" presetID="14" presetClass="entr" presetSubtype="10" fill="hold"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randombar(horizontal)">
                                      <p:cBhvr>
                                        <p:cTn id="61" dur="500"/>
                                        <p:tgtEl>
                                          <p:spTgt spid="13"/>
                                        </p:tgtEl>
                                      </p:cBhvr>
                                    </p:animEffect>
                                  </p:childTnLst>
                                </p:cTn>
                              </p:par>
                              <p:par>
                                <p:cTn id="62" presetID="14" presetClass="entr" presetSubtype="10"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randombar(horizontal)">
                                      <p:cBhvr>
                                        <p:cTn id="64" dur="500"/>
                                        <p:tgtEl>
                                          <p:spTgt spid="17"/>
                                        </p:tgtEl>
                                      </p:cBhvr>
                                    </p:animEffect>
                                  </p:childTnLst>
                                </p:cTn>
                              </p:par>
                              <p:par>
                                <p:cTn id="65" presetID="14" presetClass="entr" presetSubtype="10"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randombar(horizontal)">
                                      <p:cBhvr>
                                        <p:cTn id="67" dur="500"/>
                                        <p:tgtEl>
                                          <p:spTgt spid="19"/>
                                        </p:tgtEl>
                                      </p:cBhvr>
                                    </p:animEffect>
                                  </p:childTnLst>
                                </p:cTn>
                              </p:par>
                            </p:childTnLst>
                          </p:cTn>
                        </p:par>
                        <p:par>
                          <p:cTn id="68" fill="hold">
                            <p:stCondLst>
                              <p:cond delay="500"/>
                            </p:stCondLst>
                            <p:childTnLst>
                              <p:par>
                                <p:cTn id="69" presetID="2" presetClass="entr" presetSubtype="4"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 calcmode="lin" valueType="num">
                                      <p:cBhvr additive="base">
                                        <p:cTn id="71" dur="500" fill="hold"/>
                                        <p:tgtEl>
                                          <p:spTgt spid="28"/>
                                        </p:tgtEl>
                                        <p:attrNameLst>
                                          <p:attrName>ppt_x</p:attrName>
                                        </p:attrNameLst>
                                      </p:cBhvr>
                                      <p:tavLst>
                                        <p:tav tm="0">
                                          <p:val>
                                            <p:strVal val="#ppt_x"/>
                                          </p:val>
                                        </p:tav>
                                        <p:tav tm="100000">
                                          <p:val>
                                            <p:strVal val="#ppt_x"/>
                                          </p:val>
                                        </p:tav>
                                      </p:tavLst>
                                    </p:anim>
                                    <p:anim calcmode="lin" valueType="num">
                                      <p:cBhvr additive="base">
                                        <p:cTn id="7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6" grpId="0" animBg="1"/>
      <p:bldP spid="27" grpId="0" animBg="1"/>
      <p:bldP spid="2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Shapes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For any </a:t>
            </a:r>
            <a:r>
              <a:rPr lang="en-US" b="1" i="1"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array you can use .shape and .size to get the shape of the array and its size (total number of elements in the array)</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3581400"/>
            <a:ext cx="4739001" cy="1752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shape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size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5032802" y="4572000"/>
          <a:ext cx="1472141" cy="1102360"/>
        </p:xfrm>
        <a:graphic>
          <a:graphicData uri="http://schemas.openxmlformats.org/drawingml/2006/table">
            <a:tbl>
              <a:tblPr firstRow="1" bandRow="1">
                <a:tableStyleId>{073A0DAA-6AF3-43AB-8588-CEC1D06C72B9}</a:tableStyleId>
              </a:tblPr>
              <a:tblGrid>
                <a:gridCol w="14721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[1 2 3]</a:t>
                      </a:r>
                    </a:p>
                    <a:p>
                      <a:r>
                        <a:rPr lang="en-US" dirty="0">
                          <a:solidFill>
                            <a:schemeClr val="tx2"/>
                          </a:solidFill>
                          <a:latin typeface="Consolas" panose="020B0609020204030204" pitchFamily="49" charset="0"/>
                        </a:rPr>
                        <a:t>(3,)</a:t>
                      </a:r>
                    </a:p>
                    <a:p>
                      <a:r>
                        <a:rPr lang="en-US" dirty="0">
                          <a:solidFill>
                            <a:schemeClr val="tx2"/>
                          </a:solidFill>
                          <a:latin typeface="Consolas" panose="020B0609020204030204" pitchFamily="49" charset="0"/>
                        </a:rPr>
                        <a:t>3</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63247BC9-7E5E-6055-D718-D381CFF6C9CF}"/>
              </a:ext>
            </a:extLst>
          </p:cNvPr>
          <p:cNvSpPr/>
          <p:nvPr/>
        </p:nvSpPr>
        <p:spPr>
          <a:xfrm>
            <a:off x="6888053" y="3577590"/>
            <a:ext cx="4739001" cy="1752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shape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size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3ADE524B-4D16-15B5-47B8-75F6B072191D}"/>
              </a:ext>
            </a:extLst>
          </p:cNvPr>
          <p:cNvGraphicFramePr>
            <a:graphicFrameLocks noGrp="1"/>
          </p:cNvGraphicFramePr>
          <p:nvPr/>
        </p:nvGraphicFramePr>
        <p:xfrm>
          <a:off x="9977543" y="4579620"/>
          <a:ext cx="1472141" cy="1315720"/>
        </p:xfrm>
        <a:graphic>
          <a:graphicData uri="http://schemas.openxmlformats.org/drawingml/2006/table">
            <a:tbl>
              <a:tblPr firstRow="1" bandRow="1">
                <a:tableStyleId>{073A0DAA-6AF3-43AB-8588-CEC1D06C72B9}</a:tableStyleId>
              </a:tblPr>
              <a:tblGrid>
                <a:gridCol w="1472141">
                  <a:extLst>
                    <a:ext uri="{9D8B030D-6E8A-4147-A177-3AD203B41FA5}">
                      <a16:colId xmlns:a16="http://schemas.microsoft.com/office/drawing/2014/main" val="3899577134"/>
                    </a:ext>
                  </a:extLst>
                </a:gridCol>
              </a:tblGrid>
              <a:tr h="370840">
                <a:tc>
                  <a:txBody>
                    <a:bodyPr/>
                    <a:lstStyle/>
                    <a:p>
                      <a:r>
                        <a:rPr lang="en-US">
                          <a:solidFill>
                            <a:schemeClr val="tx2"/>
                          </a:solidFill>
                        </a:rPr>
                        <a:t>Output </a:t>
                      </a:r>
                      <a:endParaRPr lang="en-US" dirty="0">
                        <a:solidFill>
                          <a:schemeClr val="tx2"/>
                        </a:solidFill>
                      </a:endParaRP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[[1 2 3]</a:t>
                      </a:r>
                    </a:p>
                    <a:p>
                      <a:r>
                        <a:rPr lang="en-US" dirty="0">
                          <a:solidFill>
                            <a:schemeClr val="tx2"/>
                          </a:solidFill>
                          <a:latin typeface="Consolas" panose="020B0609020204030204" pitchFamily="49" charset="0"/>
                        </a:rPr>
                        <a:t> [4 5 6]]</a:t>
                      </a:r>
                    </a:p>
                    <a:p>
                      <a:r>
                        <a:rPr lang="en-US" dirty="0">
                          <a:solidFill>
                            <a:schemeClr val="tx2"/>
                          </a:solidFill>
                          <a:latin typeface="Consolas" panose="020B0609020204030204" pitchFamily="49" charset="0"/>
                        </a:rPr>
                        <a:t>(2, 3)</a:t>
                      </a:r>
                    </a:p>
                    <a:p>
                      <a:r>
                        <a:rPr lang="en-US" dirty="0">
                          <a:solidFill>
                            <a:schemeClr val="tx2"/>
                          </a:solidFill>
                          <a:latin typeface="Consolas" panose="020B0609020204030204" pitchFamily="49" charset="0"/>
                        </a:rPr>
                        <a:t>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936269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Shapes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We can also reshape any array (as long as the number of elements of the resulting shape is the same as the one from the current array). For this we can use the method </a:t>
            </a:r>
            <a:r>
              <a:rPr lang="en-US" b="1" dirty="0">
                <a:latin typeface="Arial" panose="020B0604020202020204" pitchFamily="34" charset="0"/>
                <a:cs typeface="Arial" panose="020B0604020202020204" pitchFamily="34" charset="0"/>
              </a:rPr>
              <a:t>reshape(…)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733800"/>
            <a:ext cx="9448800" cy="2590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8</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shape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size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reshape</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shape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9294812" y="3810000"/>
          <a:ext cx="2005541" cy="1742440"/>
        </p:xfrm>
        <a:graphic>
          <a:graphicData uri="http://schemas.openxmlformats.org/drawingml/2006/table">
            <a:tbl>
              <a:tblPr firstRow="1" bandRow="1">
                <a:tableStyleId>{073A0DAA-6AF3-43AB-8588-CEC1D06C72B9}</a:tableStyleId>
              </a:tblPr>
              <a:tblGrid>
                <a:gridCol w="20055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[1 2 3 4 5 6 7 8]</a:t>
                      </a:r>
                    </a:p>
                    <a:p>
                      <a:r>
                        <a:rPr lang="en-US" dirty="0">
                          <a:solidFill>
                            <a:schemeClr val="tx2"/>
                          </a:solidFill>
                          <a:latin typeface="Consolas" panose="020B0609020204030204" pitchFamily="49" charset="0"/>
                        </a:rPr>
                        <a:t>(8,)</a:t>
                      </a:r>
                    </a:p>
                    <a:p>
                      <a:r>
                        <a:rPr lang="en-US" dirty="0">
                          <a:solidFill>
                            <a:schemeClr val="tx2"/>
                          </a:solidFill>
                          <a:latin typeface="Consolas" panose="020B0609020204030204" pitchFamily="49" charset="0"/>
                        </a:rPr>
                        <a:t>8</a:t>
                      </a:r>
                    </a:p>
                    <a:p>
                      <a:r>
                        <a:rPr lang="en-US" dirty="0">
                          <a:solidFill>
                            <a:schemeClr val="tx2"/>
                          </a:solidFill>
                          <a:latin typeface="Consolas" panose="020B0609020204030204" pitchFamily="49" charset="0"/>
                        </a:rPr>
                        <a:t>[[1 2 3 4]</a:t>
                      </a:r>
                    </a:p>
                    <a:p>
                      <a:r>
                        <a:rPr lang="en-US" dirty="0">
                          <a:solidFill>
                            <a:schemeClr val="tx2"/>
                          </a:solidFill>
                          <a:latin typeface="Consolas" panose="020B0609020204030204" pitchFamily="49" charset="0"/>
                        </a:rPr>
                        <a:t> [5 6 7 8]]</a:t>
                      </a:r>
                    </a:p>
                    <a:p>
                      <a:r>
                        <a:rPr lang="en-US" dirty="0">
                          <a:solidFill>
                            <a:schemeClr val="tx2"/>
                          </a:solidFill>
                          <a:latin typeface="Consolas" panose="020B0609020204030204" pitchFamily="49" charset="0"/>
                        </a:rPr>
                        <a:t>(2, 4)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012766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Shapes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Additionally, we can also use:</a:t>
            </a:r>
          </a:p>
          <a:p>
            <a:pPr lvl="1"/>
            <a:r>
              <a:rPr lang="en-US" dirty="0">
                <a:latin typeface="Arial" panose="020B0604020202020204" pitchFamily="34" charset="0"/>
                <a:cs typeface="Arial" panose="020B0604020202020204" pitchFamily="34" charset="0"/>
              </a:rPr>
              <a:t>.size </a:t>
            </a:r>
            <a:r>
              <a:rPr lang="en-US" dirty="0">
                <a:latin typeface="Arial" panose="020B0604020202020204" pitchFamily="34" charset="0"/>
                <a:cs typeface="Arial" panose="020B0604020202020204" pitchFamily="34" charset="0"/>
                <a:sym typeface="Wingdings" panose="05000000000000000000" pitchFamily="2" charset="2"/>
              </a:rPr>
              <a:t> to get the total number of elements in the array</a:t>
            </a:r>
          </a:p>
          <a:p>
            <a:pPr lvl="1"/>
            <a:r>
              <a:rPr lang="en-US" dirty="0">
                <a:latin typeface="Arial" panose="020B0604020202020204" pitchFamily="34" charset="0"/>
                <a:cs typeface="Arial" panose="020B0604020202020204" pitchFamily="34" charset="0"/>
                <a:sym typeface="Wingdings" panose="05000000000000000000" pitchFamily="2" charset="2"/>
              </a:rPr>
              <a:t>.</a:t>
            </a:r>
            <a:r>
              <a:rPr lang="en-US" dirty="0" err="1">
                <a:latin typeface="Arial" panose="020B0604020202020204" pitchFamily="34" charset="0"/>
                <a:cs typeface="Arial" panose="020B0604020202020204" pitchFamily="34" charset="0"/>
                <a:sym typeface="Wingdings" panose="05000000000000000000" pitchFamily="2" charset="2"/>
              </a:rPr>
              <a:t>ndim</a:t>
            </a:r>
            <a:r>
              <a:rPr lang="en-US" dirty="0">
                <a:latin typeface="Arial" panose="020B0604020202020204" pitchFamily="34" charset="0"/>
                <a:cs typeface="Arial" panose="020B0604020202020204" pitchFamily="34" charset="0"/>
                <a:sym typeface="Wingdings" panose="05000000000000000000" pitchFamily="2" charset="2"/>
              </a:rPr>
              <a:t>  to get the number of dimensions</a:t>
            </a:r>
          </a:p>
          <a:p>
            <a:pPr lvl="1"/>
            <a:r>
              <a:rPr lang="en-US" dirty="0">
                <a:latin typeface="Arial" panose="020B0604020202020204" pitchFamily="34" charset="0"/>
                <a:cs typeface="Arial" panose="020B0604020202020204" pitchFamily="34" charset="0"/>
                <a:sym typeface="Wingdings" panose="05000000000000000000" pitchFamily="2" charset="2"/>
              </a:rPr>
              <a:t>.</a:t>
            </a:r>
            <a:r>
              <a:rPr lang="en-US" dirty="0" err="1">
                <a:latin typeface="Arial" panose="020B0604020202020204" pitchFamily="34" charset="0"/>
                <a:cs typeface="Arial" panose="020B0604020202020204" pitchFamily="34" charset="0"/>
                <a:sym typeface="Wingdings" panose="05000000000000000000" pitchFamily="2" charset="2"/>
              </a:rPr>
              <a:t>itemsize</a:t>
            </a:r>
            <a:r>
              <a:rPr lang="en-US" dirty="0">
                <a:latin typeface="Arial" panose="020B0604020202020204" pitchFamily="34" charset="0"/>
                <a:cs typeface="Arial" panose="020B0604020202020204" pitchFamily="34" charset="0"/>
                <a:sym typeface="Wingdings" panose="05000000000000000000" pitchFamily="2" charset="2"/>
              </a:rPr>
              <a:t>  to get the size of an item/element (in bytes)</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4038600"/>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Array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Shape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shape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Dim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ndim</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Size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size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Type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dtype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ItemSize</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itemsize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662228" y="4127500"/>
          <a:ext cx="3681941" cy="1955800"/>
        </p:xfrm>
        <a:graphic>
          <a:graphicData uri="http://schemas.openxmlformats.org/drawingml/2006/table">
            <a:tbl>
              <a:tblPr firstRow="1" bandRow="1">
                <a:tableStyleId>{073A0DAA-6AF3-43AB-8588-CEC1D06C72B9}</a:tableStyleId>
              </a:tblPr>
              <a:tblGrid>
                <a:gridCol w="36819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Array    =  [[1 2 3]</a:t>
                      </a:r>
                    </a:p>
                    <a:p>
                      <a:r>
                        <a:rPr lang="en-US" dirty="0">
                          <a:solidFill>
                            <a:schemeClr val="tx2"/>
                          </a:solidFill>
                          <a:latin typeface="Consolas" panose="020B0609020204030204" pitchFamily="49" charset="0"/>
                        </a:rPr>
                        <a:t>             [4 5 6]]</a:t>
                      </a:r>
                    </a:p>
                    <a:p>
                      <a:r>
                        <a:rPr lang="en-US" dirty="0">
                          <a:solidFill>
                            <a:schemeClr val="tx2"/>
                          </a:solidFill>
                          <a:latin typeface="Consolas" panose="020B0609020204030204" pitchFamily="49" charset="0"/>
                        </a:rPr>
                        <a:t>Shape    =  (2, 3)</a:t>
                      </a:r>
                    </a:p>
                    <a:p>
                      <a:r>
                        <a:rPr lang="en-US" dirty="0">
                          <a:solidFill>
                            <a:schemeClr val="tx2"/>
                          </a:solidFill>
                          <a:latin typeface="Consolas" panose="020B0609020204030204" pitchFamily="49" charset="0"/>
                        </a:rPr>
                        <a:t>Dim      =  2</a:t>
                      </a:r>
                    </a:p>
                    <a:p>
                      <a:r>
                        <a:rPr lang="en-US" dirty="0">
                          <a:solidFill>
                            <a:schemeClr val="tx2"/>
                          </a:solidFill>
                          <a:latin typeface="Consolas" panose="020B0609020204030204" pitchFamily="49" charset="0"/>
                        </a:rPr>
                        <a:t>Size     =  6</a:t>
                      </a:r>
                    </a:p>
                    <a:p>
                      <a:r>
                        <a:rPr lang="en-US" dirty="0">
                          <a:solidFill>
                            <a:schemeClr val="tx2"/>
                          </a:solidFill>
                          <a:latin typeface="Consolas" panose="020B0609020204030204" pitchFamily="49" charset="0"/>
                        </a:rPr>
                        <a:t>Type     =  int64</a:t>
                      </a:r>
                    </a:p>
                    <a:p>
                      <a:r>
                        <a:rPr lang="en-US" dirty="0" err="1">
                          <a:solidFill>
                            <a:schemeClr val="tx2"/>
                          </a:solidFill>
                          <a:latin typeface="Consolas" panose="020B0609020204030204" pitchFamily="49" charset="0"/>
                        </a:rPr>
                        <a:t>ItemSize</a:t>
                      </a:r>
                      <a:r>
                        <a:rPr lang="en-US" dirty="0">
                          <a:solidFill>
                            <a:schemeClr val="tx2"/>
                          </a:solidFill>
                          <a:latin typeface="Consolas" panose="020B0609020204030204" pitchFamily="49" charset="0"/>
                        </a:rPr>
                        <a:t> =  8</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313588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Indexes &amp; Slicing</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51846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Indexes and slices work in a similar manner as with Python list (in particular if we are referring to vectors).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955475"/>
            <a:ext cx="94488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a[1:3]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532812" y="4184075"/>
          <a:ext cx="2767541" cy="1315720"/>
        </p:xfrm>
        <a:graphic>
          <a:graphicData uri="http://schemas.openxmlformats.org/drawingml/2006/table">
            <a:tbl>
              <a:tblPr firstRow="1" bandRow="1">
                <a:tableStyleId>{073A0DAA-6AF3-43AB-8588-CEC1D06C72B9}</a:tableStyleId>
              </a:tblPr>
              <a:tblGrid>
                <a:gridCol w="27675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a[0]   =  1</a:t>
                      </a:r>
                    </a:p>
                    <a:p>
                      <a:r>
                        <a:rPr lang="pt-BR" dirty="0">
                          <a:solidFill>
                            <a:schemeClr val="tx2"/>
                          </a:solidFill>
                          <a:latin typeface="Consolas" panose="020B0609020204030204" pitchFamily="49" charset="0"/>
                        </a:rPr>
                        <a:t>a[-1]  =  6</a:t>
                      </a:r>
                    </a:p>
                    <a:p>
                      <a:r>
                        <a:rPr lang="pt-BR" dirty="0">
                          <a:solidFill>
                            <a:schemeClr val="tx2"/>
                          </a:solidFill>
                          <a:latin typeface="Consolas" panose="020B0609020204030204" pitchFamily="49" charset="0"/>
                        </a:rPr>
                        <a:t>a[1:3] =  [2 3]</a:t>
                      </a:r>
                    </a:p>
                    <a:p>
                      <a:r>
                        <a:rPr lang="pt-BR" dirty="0">
                          <a:solidFill>
                            <a:schemeClr val="tx2"/>
                          </a:solidFill>
                          <a:latin typeface="Consolas" panose="020B0609020204030204" pitchFamily="49" charset="0"/>
                        </a:rPr>
                        <a:t>a[:2]  =  [1 2]</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391579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In case of matrixes, the logic is similar (but the results are somehow different as they will not be a scalar but rather another matrix or vectors).</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581400"/>
            <a:ext cx="94488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a[1:4]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770812" y="3733800"/>
          <a:ext cx="3529541" cy="1529080"/>
        </p:xfrm>
        <a:graphic>
          <a:graphicData uri="http://schemas.openxmlformats.org/drawingml/2006/table">
            <a:tbl>
              <a:tblPr firstRow="1" bandRow="1">
                <a:tableStyleId>{073A0DAA-6AF3-43AB-8588-CEC1D06C72B9}</a:tableStyleId>
              </a:tblPr>
              <a:tblGrid>
                <a:gridCol w="35295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a[0]   =  [1 2 3]</a:t>
                      </a:r>
                    </a:p>
                    <a:p>
                      <a:r>
                        <a:rPr lang="pt-BR" dirty="0">
                          <a:solidFill>
                            <a:schemeClr val="tx2"/>
                          </a:solidFill>
                          <a:latin typeface="Consolas" panose="020B0609020204030204" pitchFamily="49" charset="0"/>
                        </a:rPr>
                        <a:t>a[-1]  =  [4 5 6]</a:t>
                      </a:r>
                    </a:p>
                    <a:p>
                      <a:r>
                        <a:rPr lang="pt-BR" dirty="0">
                          <a:solidFill>
                            <a:schemeClr val="tx2"/>
                          </a:solidFill>
                          <a:latin typeface="Consolas" panose="020B0609020204030204" pitchFamily="49" charset="0"/>
                        </a:rPr>
                        <a:t>a[1:4] =  [[4 5 6]]</a:t>
                      </a:r>
                    </a:p>
                    <a:p>
                      <a:r>
                        <a:rPr lang="pt-BR" dirty="0">
                          <a:solidFill>
                            <a:schemeClr val="tx2"/>
                          </a:solidFill>
                          <a:latin typeface="Consolas" panose="020B0609020204030204" pitchFamily="49" charset="0"/>
                        </a:rPr>
                        <a:t>a[:2]  =  [[1 2 3]</a:t>
                      </a:r>
                    </a:p>
                    <a:p>
                      <a:r>
                        <a:rPr lang="pt-BR" dirty="0">
                          <a:solidFill>
                            <a:schemeClr val="tx2"/>
                          </a:solidFill>
                          <a:latin typeface="Consolas" panose="020B0609020204030204" pitchFamily="49" charset="0"/>
                        </a:rPr>
                        <a:t>           [4 5 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296388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In case of matrixes, the logic is similar (but the results are somehow different as they will not be a scalar but rather another matrix or vectors).</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581400"/>
            <a:ext cx="94488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75000"/>
                    <a:lumOff val="25000"/>
                  </a:schemeClr>
                </a:solidFill>
                <a:effectLst/>
                <a:latin typeface="Consolas" panose="020B0609020204030204" pitchFamily="49" charset="0"/>
              </a:rPr>
              <a:t>import </a:t>
            </a:r>
            <a:r>
              <a:rPr lang="en-US" b="0" dirty="0" err="1">
                <a:solidFill>
                  <a:schemeClr val="tx2">
                    <a:lumMod val="75000"/>
                    <a:lumOff val="25000"/>
                  </a:schemeClr>
                </a:solidFill>
                <a:effectLst/>
                <a:latin typeface="Consolas" panose="020B0609020204030204" pitchFamily="49" charset="0"/>
              </a:rPr>
              <a:t>numpy</a:t>
            </a:r>
            <a:r>
              <a:rPr lang="en-US" b="0" dirty="0">
                <a:solidFill>
                  <a:schemeClr val="tx2">
                    <a:lumMod val="75000"/>
                    <a:lumOff val="25000"/>
                  </a:schemeClr>
                </a:solidFill>
                <a:effectLst/>
                <a:latin typeface="Consolas" panose="020B0609020204030204" pitchFamily="49" charset="0"/>
              </a:rPr>
              <a:t> as np</a:t>
            </a:r>
          </a:p>
          <a:p>
            <a:br>
              <a:rPr lang="en-US" b="0" dirty="0">
                <a:solidFill>
                  <a:schemeClr val="tx2">
                    <a:lumMod val="75000"/>
                    <a:lumOff val="25000"/>
                  </a:schemeClr>
                </a:solidFill>
                <a:effectLst/>
                <a:latin typeface="Consolas" panose="020B0609020204030204" pitchFamily="49" charset="0"/>
              </a:rPr>
            </a:br>
            <a:r>
              <a:rPr lang="en-US" b="0" dirty="0">
                <a:solidFill>
                  <a:schemeClr val="tx2">
                    <a:lumMod val="75000"/>
                    <a:lumOff val="25000"/>
                  </a:schemeClr>
                </a:solidFill>
                <a:effectLst/>
                <a:latin typeface="Consolas" panose="020B0609020204030204" pitchFamily="49" charset="0"/>
              </a:rPr>
              <a:t>a = </a:t>
            </a:r>
            <a:r>
              <a:rPr lang="en-US" b="0" dirty="0" err="1">
                <a:solidFill>
                  <a:schemeClr val="tx2">
                    <a:lumMod val="75000"/>
                    <a:lumOff val="25000"/>
                  </a:schemeClr>
                </a:solidFill>
                <a:effectLst/>
                <a:latin typeface="Consolas" panose="020B0609020204030204" pitchFamily="49" charset="0"/>
              </a:rPr>
              <a:t>np.array</a:t>
            </a:r>
            <a:r>
              <a:rPr lang="en-US" b="0" dirty="0">
                <a:solidFill>
                  <a:schemeClr val="tx2">
                    <a:lumMod val="75000"/>
                    <a:lumOff val="25000"/>
                  </a:schemeClr>
                </a:solidFill>
                <a:effectLst/>
                <a:latin typeface="Consolas" panose="020B0609020204030204" pitchFamily="49" charset="0"/>
              </a:rPr>
              <a:t>([[1,2,3],[4,5,6]])</a:t>
            </a:r>
          </a:p>
          <a:p>
            <a:r>
              <a:rPr lang="en-US" b="0" dirty="0">
                <a:solidFill>
                  <a:schemeClr val="tx2">
                    <a:lumMod val="75000"/>
                    <a:lumOff val="25000"/>
                  </a:schemeClr>
                </a:solidFill>
                <a:effectLst/>
                <a:latin typeface="Consolas" panose="020B0609020204030204" pitchFamily="49" charset="0"/>
              </a:rPr>
              <a:t>print("a[0]   = ",a[0])</a:t>
            </a:r>
          </a:p>
          <a:p>
            <a:r>
              <a:rPr lang="en-US" b="0" dirty="0">
                <a:solidFill>
                  <a:schemeClr val="tx2">
                    <a:lumMod val="75000"/>
                    <a:lumOff val="25000"/>
                  </a:schemeClr>
                </a:solidFill>
                <a:effectLst/>
                <a:latin typeface="Consolas" panose="020B0609020204030204" pitchFamily="49" charset="0"/>
              </a:rPr>
              <a:t>print("a[-1]  = ",a[-1])</a:t>
            </a: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a[1:4]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chemeClr val="tx2">
                    <a:lumMod val="75000"/>
                    <a:lumOff val="25000"/>
                  </a:schemeClr>
                </a:solidFill>
                <a:effectLst/>
                <a:latin typeface="Consolas" panose="020B0609020204030204" pitchFamily="49" charset="0"/>
              </a:rPr>
              <a:t>print("a[:2]  = ",a[:2])</a:t>
            </a: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770812" y="3733800"/>
          <a:ext cx="3529541" cy="1529080"/>
        </p:xfrm>
        <a:graphic>
          <a:graphicData uri="http://schemas.openxmlformats.org/drawingml/2006/table">
            <a:tbl>
              <a:tblPr firstRow="1" bandRow="1">
                <a:tableStyleId>{073A0DAA-6AF3-43AB-8588-CEC1D06C72B9}</a:tableStyleId>
              </a:tblPr>
              <a:tblGrid>
                <a:gridCol w="35295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a[0]   =  [1 2 3]</a:t>
                      </a:r>
                    </a:p>
                    <a:p>
                      <a:r>
                        <a:rPr lang="pt-BR" dirty="0">
                          <a:solidFill>
                            <a:schemeClr val="tx2"/>
                          </a:solidFill>
                          <a:latin typeface="Consolas" panose="020B0609020204030204" pitchFamily="49" charset="0"/>
                        </a:rPr>
                        <a:t>a[-1]  =  [4 5 6]</a:t>
                      </a:r>
                    </a:p>
                    <a:p>
                      <a:r>
                        <a:rPr lang="pt-BR" dirty="0">
                          <a:solidFill>
                            <a:schemeClr val="tx2"/>
                          </a:solidFill>
                          <a:latin typeface="Consolas" panose="020B0609020204030204" pitchFamily="49" charset="0"/>
                        </a:rPr>
                        <a:t>a[1:4] =  [[4 5 6]]</a:t>
                      </a:r>
                    </a:p>
                    <a:p>
                      <a:r>
                        <a:rPr lang="pt-BR" dirty="0">
                          <a:solidFill>
                            <a:schemeClr val="tx2"/>
                          </a:solidFill>
                          <a:latin typeface="Consolas" panose="020B0609020204030204" pitchFamily="49" charset="0"/>
                        </a:rPr>
                        <a:t>a[:2]  =  [[1 2 3]</a:t>
                      </a:r>
                    </a:p>
                    <a:p>
                      <a:r>
                        <a:rPr lang="pt-BR" dirty="0">
                          <a:solidFill>
                            <a:schemeClr val="tx2"/>
                          </a:solidFill>
                          <a:latin typeface="Consolas" panose="020B0609020204030204" pitchFamily="49" charset="0"/>
                        </a:rPr>
                        <a:t>           [4 5 6]]</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5AAB7EAD-7D3A-31E3-65C1-AF7F81701773}"/>
              </a:ext>
            </a:extLst>
          </p:cNvPr>
          <p:cNvSpPr/>
          <p:nvPr/>
        </p:nvSpPr>
        <p:spPr>
          <a:xfrm>
            <a:off x="7709994" y="4479292"/>
            <a:ext cx="2519998"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Up Arrow 6">
            <a:extLst>
              <a:ext uri="{FF2B5EF4-FFF2-40B4-BE49-F238E27FC236}">
                <a16:creationId xmlns:a16="http://schemas.microsoft.com/office/drawing/2014/main" id="{F2EF2A45-CC7A-5BC6-122E-755CC0C5DEF7}"/>
              </a:ext>
            </a:extLst>
          </p:cNvPr>
          <p:cNvSpPr/>
          <p:nvPr/>
        </p:nvSpPr>
        <p:spPr>
          <a:xfrm>
            <a:off x="2150859" y="5153892"/>
            <a:ext cx="8667954" cy="1464078"/>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Notice that even if the upper index (3) is not an index that exists in the matrix (the shape of the matrix is (2x3) – so only 2 rows (not 3), the slicing operation is limited to the maximum number of rows</a:t>
            </a:r>
          </a:p>
        </p:txBody>
      </p:sp>
      <p:sp>
        <p:nvSpPr>
          <p:cNvPr id="8" name="Rectangle 7">
            <a:extLst>
              <a:ext uri="{FF2B5EF4-FFF2-40B4-BE49-F238E27FC236}">
                <a16:creationId xmlns:a16="http://schemas.microsoft.com/office/drawing/2014/main" id="{23178C76-0380-F46A-4BC1-6426DC45EC47}"/>
              </a:ext>
            </a:extLst>
          </p:cNvPr>
          <p:cNvSpPr/>
          <p:nvPr/>
        </p:nvSpPr>
        <p:spPr>
          <a:xfrm>
            <a:off x="2000392" y="4800602"/>
            <a:ext cx="327660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06F2EC73-E111-F522-55EE-1BE448021470}"/>
              </a:ext>
            </a:extLst>
          </p:cNvPr>
          <p:cNvCxnSpPr>
            <a:stCxn id="8" idx="3"/>
            <a:endCxn id="4" idx="1"/>
          </p:cNvCxnSpPr>
          <p:nvPr/>
        </p:nvCxnSpPr>
        <p:spPr>
          <a:xfrm flipV="1">
            <a:off x="5276992" y="4690958"/>
            <a:ext cx="2433002" cy="321310"/>
          </a:xfrm>
          <a:prstGeom prst="bentConnector3">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128433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randombar(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In case of matrixes, you can access an element or a smaller matrix by using the “,” character and specify multiple dimensions and operations such as slicing to be performed for each dimension.</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3733800"/>
            <a:ext cx="94488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a[0,0]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0,0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a[-1,-1]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a[1:2,2]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A7A774"/>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a[:2,:2]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770812" y="3733800"/>
          <a:ext cx="3529541" cy="1742440"/>
        </p:xfrm>
        <a:graphic>
          <a:graphicData uri="http://schemas.openxmlformats.org/drawingml/2006/table">
            <a:tbl>
              <a:tblPr firstRow="1" bandRow="1">
                <a:tableStyleId>{073A0DAA-6AF3-43AB-8588-CEC1D06C72B9}</a:tableStyleId>
              </a:tblPr>
              <a:tblGrid>
                <a:gridCol w="35295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a[0,0]   =  1</a:t>
                      </a:r>
                    </a:p>
                    <a:p>
                      <a:r>
                        <a:rPr lang="pt-BR" dirty="0">
                          <a:solidFill>
                            <a:schemeClr val="tx2"/>
                          </a:solidFill>
                          <a:latin typeface="Consolas" panose="020B0609020204030204" pitchFamily="49" charset="0"/>
                        </a:rPr>
                        <a:t>a[-1,-1] =  6</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pt-BR" dirty="0">
                          <a:solidFill>
                            <a:schemeClr val="tx2"/>
                          </a:solidFill>
                          <a:latin typeface="Consolas" panose="020B0609020204030204" pitchFamily="49" charset="0"/>
                        </a:rPr>
                        <a:t>a[1:2,2] =  [6]</a:t>
                      </a:r>
                      <a:br>
                        <a:rPr lang="pt-BR" dirty="0">
                          <a:solidFill>
                            <a:schemeClr val="tx2"/>
                          </a:solidFill>
                          <a:latin typeface="Consolas" panose="020B0609020204030204" pitchFamily="49" charset="0"/>
                        </a:rPr>
                      </a:br>
                      <a:r>
                        <a:rPr lang="pt-BR" dirty="0">
                          <a:solidFill>
                            <a:schemeClr val="tx2"/>
                          </a:solidFill>
                          <a:latin typeface="Consolas" panose="020B0609020204030204" pitchFamily="49" charset="0"/>
                        </a:rPr>
                        <a:t>a[1,2] =  6</a:t>
                      </a:r>
                    </a:p>
                    <a:p>
                      <a:r>
                        <a:rPr lang="pt-BR" dirty="0">
                          <a:solidFill>
                            <a:schemeClr val="tx2"/>
                          </a:solidFill>
                          <a:latin typeface="Consolas" panose="020B0609020204030204" pitchFamily="49" charset="0"/>
                        </a:rPr>
                        <a:t>a[:2,:2] =  [[1 2]</a:t>
                      </a:r>
                    </a:p>
                    <a:p>
                      <a:r>
                        <a:rPr lang="pt-BR" dirty="0">
                          <a:solidFill>
                            <a:schemeClr val="tx2"/>
                          </a:solidFill>
                          <a:latin typeface="Consolas" panose="020B0609020204030204" pitchFamily="49" charset="0"/>
                        </a:rPr>
                        <a:t>             [4 5]]</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54291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In case of matrixes, you can access an element or a smaller matrix by using the “,” character and specify multiple dimensions and operations such as slicing to be performed for each dimension.</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3733800"/>
            <a:ext cx="94488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75000"/>
                    <a:lumOff val="25000"/>
                  </a:schemeClr>
                </a:solidFill>
                <a:effectLst/>
                <a:latin typeface="Consolas" panose="020B0609020204030204" pitchFamily="49" charset="0"/>
              </a:rPr>
              <a:t>import </a:t>
            </a:r>
            <a:r>
              <a:rPr lang="en-US" b="0" dirty="0" err="1">
                <a:solidFill>
                  <a:schemeClr val="tx2">
                    <a:lumMod val="75000"/>
                    <a:lumOff val="25000"/>
                  </a:schemeClr>
                </a:solidFill>
                <a:effectLst/>
                <a:latin typeface="Consolas" panose="020B0609020204030204" pitchFamily="49" charset="0"/>
              </a:rPr>
              <a:t>numpy</a:t>
            </a:r>
            <a:r>
              <a:rPr lang="en-US" b="0" dirty="0">
                <a:solidFill>
                  <a:schemeClr val="tx2">
                    <a:lumMod val="75000"/>
                    <a:lumOff val="25000"/>
                  </a:schemeClr>
                </a:solidFill>
                <a:effectLst/>
                <a:latin typeface="Consolas" panose="020B0609020204030204" pitchFamily="49" charset="0"/>
              </a:rPr>
              <a:t> as np</a:t>
            </a:r>
          </a:p>
          <a:p>
            <a:br>
              <a:rPr lang="en-US" b="0" dirty="0">
                <a:solidFill>
                  <a:schemeClr val="tx2">
                    <a:lumMod val="75000"/>
                    <a:lumOff val="25000"/>
                  </a:schemeClr>
                </a:solidFill>
                <a:effectLst/>
                <a:latin typeface="Consolas" panose="020B0609020204030204" pitchFamily="49" charset="0"/>
              </a:rPr>
            </a:br>
            <a:r>
              <a:rPr lang="en-US" b="0" dirty="0">
                <a:solidFill>
                  <a:schemeClr val="tx2">
                    <a:lumMod val="75000"/>
                    <a:lumOff val="25000"/>
                  </a:schemeClr>
                </a:solidFill>
                <a:effectLst/>
                <a:latin typeface="Consolas" panose="020B0609020204030204" pitchFamily="49" charset="0"/>
              </a:rPr>
              <a:t>a = </a:t>
            </a:r>
            <a:r>
              <a:rPr lang="en-US" b="0" dirty="0" err="1">
                <a:solidFill>
                  <a:schemeClr val="tx2">
                    <a:lumMod val="75000"/>
                    <a:lumOff val="25000"/>
                  </a:schemeClr>
                </a:solidFill>
                <a:effectLst/>
                <a:latin typeface="Consolas" panose="020B0609020204030204" pitchFamily="49" charset="0"/>
              </a:rPr>
              <a:t>np.array</a:t>
            </a:r>
            <a:r>
              <a:rPr lang="en-US" b="0" dirty="0">
                <a:solidFill>
                  <a:schemeClr val="tx2">
                    <a:lumMod val="75000"/>
                    <a:lumOff val="25000"/>
                  </a:schemeClr>
                </a:solidFill>
                <a:effectLst/>
                <a:latin typeface="Consolas" panose="020B0609020204030204" pitchFamily="49" charset="0"/>
              </a:rPr>
              <a:t>([[1,2,3],[4,5,6]])</a:t>
            </a:r>
          </a:p>
          <a:p>
            <a:r>
              <a:rPr lang="en-US" b="0" dirty="0">
                <a:solidFill>
                  <a:schemeClr val="tx2">
                    <a:lumMod val="75000"/>
                    <a:lumOff val="25000"/>
                  </a:schemeClr>
                </a:solidFill>
                <a:effectLst/>
                <a:latin typeface="Consolas" panose="020B0609020204030204" pitchFamily="49" charset="0"/>
              </a:rPr>
              <a:t>print("a[0,0]   = ",a[0,0])</a:t>
            </a:r>
          </a:p>
          <a:p>
            <a:r>
              <a:rPr lang="en-US" b="0" dirty="0">
                <a:solidFill>
                  <a:schemeClr val="tx2">
                    <a:lumMod val="75000"/>
                    <a:lumOff val="25000"/>
                  </a:schemeClr>
                </a:solidFill>
                <a:effectLst/>
                <a:latin typeface="Consolas" panose="020B0609020204030204" pitchFamily="49" charset="0"/>
              </a:rPr>
              <a:t>print("a[-1,-1] = ",a[-1,-1])</a:t>
            </a:r>
          </a:p>
          <a:p>
            <a:r>
              <a:rPr lang="en-US" b="0" dirty="0">
                <a:solidFill>
                  <a:schemeClr val="tx2">
                    <a:lumMod val="75000"/>
                    <a:lumOff val="25000"/>
                  </a:schemeClr>
                </a:solidFill>
                <a:effectLst/>
                <a:latin typeface="Consolas" panose="020B0609020204030204" pitchFamily="49" charset="0"/>
              </a:rPr>
              <a:t>print("a[1:2,2] = ",a[1:2,2])</a:t>
            </a: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a[:2,:2]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770812" y="3733800"/>
          <a:ext cx="3529541" cy="1529080"/>
        </p:xfrm>
        <a:graphic>
          <a:graphicData uri="http://schemas.openxmlformats.org/drawingml/2006/table">
            <a:tbl>
              <a:tblPr firstRow="1" bandRow="1">
                <a:tableStyleId>{073A0DAA-6AF3-43AB-8588-CEC1D06C72B9}</a:tableStyleId>
              </a:tblPr>
              <a:tblGrid>
                <a:gridCol w="35295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a[0,0]   =  1</a:t>
                      </a:r>
                    </a:p>
                    <a:p>
                      <a:r>
                        <a:rPr lang="pt-BR" dirty="0">
                          <a:solidFill>
                            <a:schemeClr val="tx2"/>
                          </a:solidFill>
                          <a:latin typeface="Consolas" panose="020B0609020204030204" pitchFamily="49" charset="0"/>
                        </a:rPr>
                        <a:t>a[-1,-1] =  6</a:t>
                      </a:r>
                    </a:p>
                    <a:p>
                      <a:r>
                        <a:rPr lang="pt-BR" dirty="0">
                          <a:solidFill>
                            <a:schemeClr val="tx2"/>
                          </a:solidFill>
                          <a:latin typeface="Consolas" panose="020B0609020204030204" pitchFamily="49" charset="0"/>
                        </a:rPr>
                        <a:t>a[1:2,2] =  [6]</a:t>
                      </a:r>
                    </a:p>
                    <a:p>
                      <a:r>
                        <a:rPr lang="pt-BR" dirty="0">
                          <a:solidFill>
                            <a:schemeClr val="tx2"/>
                          </a:solidFill>
                          <a:latin typeface="Consolas" panose="020B0609020204030204" pitchFamily="49" charset="0"/>
                        </a:rPr>
                        <a:t>a[:2,:2] =  [[1 2]</a:t>
                      </a:r>
                    </a:p>
                    <a:p>
                      <a:r>
                        <a:rPr lang="pt-BR" dirty="0">
                          <a:solidFill>
                            <a:schemeClr val="tx2"/>
                          </a:solidFill>
                          <a:latin typeface="Consolas" panose="020B0609020204030204" pitchFamily="49" charset="0"/>
                        </a:rPr>
                        <a:t>             [4 5]]</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0E8374CE-42D6-393B-5472-D9237E7B3484}"/>
              </a:ext>
            </a:extLst>
          </p:cNvPr>
          <p:cNvSpPr/>
          <p:nvPr/>
        </p:nvSpPr>
        <p:spPr>
          <a:xfrm>
            <a:off x="7721278" y="4731325"/>
            <a:ext cx="2640334" cy="61468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0FEAA2-1715-0D9A-6978-F87F3274C5BA}"/>
              </a:ext>
            </a:extLst>
          </p:cNvPr>
          <p:cNvSpPr/>
          <p:nvPr/>
        </p:nvSpPr>
        <p:spPr>
          <a:xfrm>
            <a:off x="2011676" y="5188525"/>
            <a:ext cx="3701736"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Elbow 7">
            <a:extLst>
              <a:ext uri="{FF2B5EF4-FFF2-40B4-BE49-F238E27FC236}">
                <a16:creationId xmlns:a16="http://schemas.microsoft.com/office/drawing/2014/main" id="{C99E59F4-A8D1-9F53-16BA-45BE655B44F8}"/>
              </a:ext>
            </a:extLst>
          </p:cNvPr>
          <p:cNvCxnSpPr>
            <a:cxnSpLocks/>
            <a:endCxn id="4" idx="1"/>
          </p:cNvCxnSpPr>
          <p:nvPr/>
        </p:nvCxnSpPr>
        <p:spPr>
          <a:xfrm flipV="1">
            <a:off x="5713412" y="5038665"/>
            <a:ext cx="2007866" cy="378460"/>
          </a:xfrm>
          <a:prstGeom prst="bentConnector3">
            <a:avLst/>
          </a:prstGeom>
          <a:ln>
            <a:tailEnd type="triangle"/>
          </a:ln>
        </p:spPr>
        <p:style>
          <a:lnRef idx="3">
            <a:schemeClr val="accent5"/>
          </a:lnRef>
          <a:fillRef idx="0">
            <a:schemeClr val="accent5"/>
          </a:fillRef>
          <a:effectRef idx="2">
            <a:schemeClr val="accent5"/>
          </a:effectRef>
          <a:fontRef idx="minor">
            <a:schemeClr val="tx1"/>
          </a:fontRef>
        </p:style>
      </p:cxnSp>
      <p:sp>
        <p:nvSpPr>
          <p:cNvPr id="14" name="Callout: Up Arrow 13">
            <a:extLst>
              <a:ext uri="{FF2B5EF4-FFF2-40B4-BE49-F238E27FC236}">
                <a16:creationId xmlns:a16="http://schemas.microsoft.com/office/drawing/2014/main" id="{C96CCD8D-12B6-249F-29FA-C916DE39295D}"/>
              </a:ext>
            </a:extLst>
          </p:cNvPr>
          <p:cNvSpPr/>
          <p:nvPr/>
        </p:nvSpPr>
        <p:spPr>
          <a:xfrm>
            <a:off x="4265612" y="5353282"/>
            <a:ext cx="5696153" cy="1464078"/>
          </a:xfrm>
          <a:prstGeom prst="upArrow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In this case we request a slicing from the original matrix (of shape 2x3) to another matrix of shape 2x2</a:t>
            </a:r>
          </a:p>
        </p:txBody>
      </p:sp>
    </p:spTree>
    <p:extLst>
      <p:ext uri="{BB962C8B-B14F-4D97-AF65-F5344CB8AC3E}">
        <p14:creationId xmlns:p14="http://schemas.microsoft.com/office/powerpoint/2010/main" val="540821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4"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Observation: When you use indexing to access a specific index, you lose one dimension per index.</a:t>
            </a:r>
          </a:p>
          <a:p>
            <a:r>
              <a:rPr lang="en-US" dirty="0">
                <a:latin typeface="Arial" panose="020B0604020202020204" pitchFamily="34" charset="0"/>
                <a:cs typeface="Arial" panose="020B0604020202020204" pitchFamily="34" charset="0"/>
              </a:rPr>
              <a:t>You can avoid this by using “:” operator and accessing just one element.</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3733800"/>
            <a:ext cx="9448800" cy="284956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C586C0"/>
                </a:solidFill>
                <a:effectLst/>
                <a:latin typeface="Consolas" panose="020B0609020204030204" pitchFamily="49" charset="0"/>
                <a:cs typeface="Consolas" panose="020B0609020204030204" pitchFamily="49" charset="0"/>
              </a:rPr>
              <a:t>import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4EC9B0"/>
                </a:solidFill>
                <a:effectLst/>
                <a:latin typeface="Consolas" panose="020B0609020204030204" pitchFamily="49" charset="0"/>
                <a:cs typeface="Consolas" panose="020B0609020204030204" pitchFamily="49" charset="0"/>
              </a:rPr>
              <a:t>numpy</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C586C0"/>
                </a:solidFill>
                <a:effectLst/>
                <a:latin typeface="Consolas" panose="020B0609020204030204" pitchFamily="49" charset="0"/>
                <a:cs typeface="Consolas" panose="020B0609020204030204" pitchFamily="49" charset="0"/>
              </a:rPr>
              <a:t>as</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4EC9B0"/>
                </a:solidFill>
                <a:effectLst/>
                <a:latin typeface="Consolas" panose="020B0609020204030204" pitchFamily="49" charset="0"/>
                <a:cs typeface="Consolas" panose="020B0609020204030204" pitchFamily="49" charset="0"/>
              </a:rPr>
              <a:t>np</a:t>
            </a:r>
            <a:endParaRPr lang="en-US" b="0" dirty="0">
              <a:solidFill>
                <a:srgbClr val="CCCCCC"/>
              </a:solidFill>
              <a:effectLst/>
              <a:latin typeface="Consolas" panose="020B0609020204030204" pitchFamily="49" charset="0"/>
              <a:cs typeface="Consolas" panose="020B0609020204030204" pitchFamily="49" charset="0"/>
            </a:endParaRPr>
          </a:p>
          <a:p>
            <a:br>
              <a:rPr lang="en-US" b="0" dirty="0">
                <a:solidFill>
                  <a:srgbClr val="CCCCCC"/>
                </a:solidFill>
                <a:effectLst/>
                <a:latin typeface="Consolas" panose="020B0609020204030204" pitchFamily="49" charset="0"/>
                <a:cs typeface="Consolas" panose="020B0609020204030204" pitchFamily="49" charset="0"/>
              </a:rPr>
            </a:b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D4D4D4"/>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4EC9B0"/>
                </a:solidFill>
                <a:effectLst/>
                <a:latin typeface="Consolas" panose="020B0609020204030204" pitchFamily="49" charset="0"/>
                <a:cs typeface="Consolas" panose="020B0609020204030204" pitchFamily="49" charset="0"/>
              </a:rPr>
              <a:t>np</a:t>
            </a:r>
            <a:r>
              <a:rPr lang="en-US" b="0" dirty="0" err="1">
                <a:solidFill>
                  <a:srgbClr val="CCCCCC"/>
                </a:solidFill>
                <a:effectLst/>
                <a:latin typeface="Consolas" panose="020B0609020204030204" pitchFamily="49" charset="0"/>
                <a:cs typeface="Consolas" panose="020B0609020204030204" pitchFamily="49" charset="0"/>
              </a:rPr>
              <a:t>.</a:t>
            </a:r>
            <a:r>
              <a:rPr lang="en-US" b="0" dirty="0" err="1">
                <a:solidFill>
                  <a:srgbClr val="DCDCAA"/>
                </a:solidFill>
                <a:effectLst/>
                <a:latin typeface="Consolas" panose="020B0609020204030204" pitchFamily="49" charset="0"/>
                <a:cs typeface="Consolas" panose="020B0609020204030204" pitchFamily="49" charset="0"/>
              </a:rPr>
              <a:t>array</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2</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3</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4</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5</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6</a:t>
            </a:r>
            <a:r>
              <a:rPr lang="en-US" b="0" dirty="0">
                <a:solidFill>
                  <a:srgbClr val="CCCCCC"/>
                </a:solidFill>
                <a:effectLst/>
                <a:latin typeface="Consolas" panose="020B0609020204030204" pitchFamily="49" charset="0"/>
                <a:cs typeface="Consolas" panose="020B0609020204030204" pitchFamily="49" charset="0"/>
              </a:rPr>
              <a:t>]])</a:t>
            </a:r>
          </a:p>
          <a:p>
            <a:r>
              <a:rPr lang="en-US" dirty="0">
                <a:solidFill>
                  <a:srgbClr val="DCDCAA"/>
                </a:solidFill>
                <a:latin typeface="Consolas" panose="020B0609020204030204" pitchFamily="49" charset="0"/>
                <a:cs typeface="Consolas" panose="020B0609020204030204" pitchFamily="49" charset="0"/>
              </a:rPr>
              <a:t>print</a:t>
            </a:r>
            <a:r>
              <a:rPr lang="en-US" dirty="0">
                <a:solidFill>
                  <a:srgbClr val="CCCCCC"/>
                </a:solidFill>
                <a:latin typeface="Consolas" panose="020B0609020204030204" pitchFamily="49" charset="0"/>
                <a:cs typeface="Consolas" panose="020B0609020204030204" pitchFamily="49" charset="0"/>
              </a:rPr>
              <a:t>(</a:t>
            </a:r>
            <a:r>
              <a:rPr lang="en-US" dirty="0" err="1">
                <a:solidFill>
                  <a:srgbClr val="569CD6"/>
                </a:solidFill>
                <a:latin typeface="Consolas" panose="020B0609020204030204" pitchFamily="49" charset="0"/>
                <a:cs typeface="Consolas" panose="020B0609020204030204" pitchFamily="49" charset="0"/>
              </a:rPr>
              <a:t>f</a:t>
            </a:r>
            <a:r>
              <a:rPr lang="en-US" dirty="0" err="1">
                <a:solidFill>
                  <a:srgbClr val="CE9178"/>
                </a:solidFill>
                <a:latin typeface="Consolas" panose="020B0609020204030204" pitchFamily="49" charset="0"/>
                <a:cs typeface="Consolas" panose="020B0609020204030204" pitchFamily="49" charset="0"/>
              </a:rPr>
              <a:t>"a.ndim</a:t>
            </a:r>
            <a:r>
              <a:rPr lang="en-US" dirty="0">
                <a:solidFill>
                  <a:srgbClr val="CE9178"/>
                </a:solidFill>
                <a:latin typeface="Consolas" panose="020B0609020204030204" pitchFamily="49" charset="0"/>
                <a:cs typeface="Consolas" panose="020B0609020204030204" pitchFamily="49" charset="0"/>
              </a:rPr>
              <a:t> = </a:t>
            </a:r>
            <a:r>
              <a:rPr lang="en-US" dirty="0">
                <a:solidFill>
                  <a:srgbClr val="569CD6"/>
                </a:solidFill>
                <a:latin typeface="Consolas" panose="020B0609020204030204" pitchFamily="49" charset="0"/>
                <a:cs typeface="Consolas" panose="020B0609020204030204" pitchFamily="49" charset="0"/>
              </a:rPr>
              <a:t>{</a:t>
            </a:r>
            <a:r>
              <a:rPr lang="en-US" dirty="0" err="1">
                <a:solidFill>
                  <a:srgbClr val="9CDCFE"/>
                </a:solidFill>
                <a:latin typeface="Consolas" panose="020B0609020204030204" pitchFamily="49" charset="0"/>
                <a:cs typeface="Consolas" panose="020B0609020204030204" pitchFamily="49" charset="0"/>
              </a:rPr>
              <a:t>a</a:t>
            </a:r>
            <a:r>
              <a:rPr lang="en-US" dirty="0" err="1">
                <a:solidFill>
                  <a:srgbClr val="CCCCCC"/>
                </a:solidFill>
                <a:latin typeface="Consolas" panose="020B0609020204030204" pitchFamily="49" charset="0"/>
                <a:cs typeface="Consolas" panose="020B0609020204030204" pitchFamily="49" charset="0"/>
              </a:rPr>
              <a:t>.</a:t>
            </a:r>
            <a:r>
              <a:rPr lang="en-US" dirty="0" err="1">
                <a:solidFill>
                  <a:srgbClr val="9CDCFE"/>
                </a:solidFill>
                <a:latin typeface="Consolas" panose="020B0609020204030204" pitchFamily="49" charset="0"/>
                <a:cs typeface="Consolas" panose="020B0609020204030204" pitchFamily="49" charset="0"/>
              </a:rPr>
              <a:t>ndim</a:t>
            </a:r>
            <a:r>
              <a:rPr lang="en-US" dirty="0">
                <a:solidFill>
                  <a:srgbClr val="569CD6"/>
                </a:solidFill>
                <a:latin typeface="Consolas" panose="020B0609020204030204" pitchFamily="49" charset="0"/>
                <a:cs typeface="Consolas" panose="020B0609020204030204" pitchFamily="49" charset="0"/>
              </a:rPr>
              <a:t>}</a:t>
            </a:r>
            <a:r>
              <a:rPr lang="en-US" dirty="0">
                <a:solidFill>
                  <a:srgbClr val="CE9178"/>
                </a:solidFill>
                <a:latin typeface="Consolas" panose="020B0609020204030204" pitchFamily="49" charset="0"/>
                <a:cs typeface="Consolas" panose="020B0609020204030204" pitchFamily="49" charset="0"/>
              </a:rPr>
              <a:t>, </a:t>
            </a:r>
            <a:r>
              <a:rPr lang="en-US" dirty="0" err="1">
                <a:solidFill>
                  <a:srgbClr val="CE9178"/>
                </a:solidFill>
                <a:latin typeface="Consolas" panose="020B0609020204030204" pitchFamily="49" charset="0"/>
                <a:cs typeface="Consolas" panose="020B0609020204030204" pitchFamily="49" charset="0"/>
              </a:rPr>
              <a:t>a.shape</a:t>
            </a:r>
            <a:r>
              <a:rPr lang="en-US" dirty="0">
                <a:solidFill>
                  <a:srgbClr val="CE9178"/>
                </a:solidFill>
                <a:latin typeface="Consolas" panose="020B0609020204030204" pitchFamily="49" charset="0"/>
                <a:cs typeface="Consolas" panose="020B0609020204030204" pitchFamily="49" charset="0"/>
              </a:rPr>
              <a:t>=</a:t>
            </a:r>
            <a:r>
              <a:rPr lang="en-US" dirty="0">
                <a:solidFill>
                  <a:srgbClr val="569CD6"/>
                </a:solidFill>
                <a:latin typeface="Consolas" panose="020B0609020204030204" pitchFamily="49" charset="0"/>
                <a:cs typeface="Consolas" panose="020B0609020204030204" pitchFamily="49" charset="0"/>
              </a:rPr>
              <a:t>{</a:t>
            </a:r>
            <a:r>
              <a:rPr lang="en-US" dirty="0" err="1">
                <a:solidFill>
                  <a:srgbClr val="9CDCFE"/>
                </a:solidFill>
                <a:latin typeface="Consolas" panose="020B0609020204030204" pitchFamily="49" charset="0"/>
                <a:cs typeface="Consolas" panose="020B0609020204030204" pitchFamily="49" charset="0"/>
              </a:rPr>
              <a:t>a</a:t>
            </a:r>
            <a:r>
              <a:rPr lang="en-US" dirty="0" err="1">
                <a:solidFill>
                  <a:srgbClr val="CCCCCC"/>
                </a:solidFill>
                <a:latin typeface="Consolas" panose="020B0609020204030204" pitchFamily="49" charset="0"/>
                <a:cs typeface="Consolas" panose="020B0609020204030204" pitchFamily="49" charset="0"/>
              </a:rPr>
              <a:t>.</a:t>
            </a:r>
            <a:r>
              <a:rPr lang="en-US" dirty="0" err="1">
                <a:solidFill>
                  <a:srgbClr val="9CDCFE"/>
                </a:solidFill>
                <a:latin typeface="Consolas" panose="020B0609020204030204" pitchFamily="49" charset="0"/>
                <a:cs typeface="Consolas" panose="020B0609020204030204" pitchFamily="49" charset="0"/>
              </a:rPr>
              <a:t>shape</a:t>
            </a:r>
            <a:r>
              <a:rPr lang="en-US" dirty="0">
                <a:solidFill>
                  <a:srgbClr val="569CD6"/>
                </a:solidFill>
                <a:latin typeface="Consolas" panose="020B0609020204030204" pitchFamily="49" charset="0"/>
                <a:cs typeface="Consolas" panose="020B0609020204030204" pitchFamily="49" charset="0"/>
              </a:rPr>
              <a:t>}</a:t>
            </a:r>
            <a:r>
              <a:rPr lang="en-US" dirty="0">
                <a:solidFill>
                  <a:srgbClr val="CE9178"/>
                </a:solidFill>
                <a:latin typeface="Consolas" panose="020B0609020204030204" pitchFamily="49" charset="0"/>
                <a:cs typeface="Consolas" panose="020B0609020204030204" pitchFamily="49" charset="0"/>
              </a:rPr>
              <a:t>"</a:t>
            </a:r>
            <a:r>
              <a:rPr lang="en-US" dirty="0">
                <a:solidFill>
                  <a:srgbClr val="CCCCCC"/>
                </a:solidFill>
                <a:latin typeface="Consolas" panose="020B0609020204030204" pitchFamily="49" charset="0"/>
                <a:cs typeface="Consolas" panose="020B0609020204030204" pitchFamily="49" charset="0"/>
              </a:rPr>
              <a:t>)</a:t>
            </a:r>
            <a:endParaRPr lang="en-US" b="0" dirty="0">
              <a:solidFill>
                <a:srgbClr val="CCCCCC"/>
              </a:solidFill>
              <a:effectLst/>
              <a:latin typeface="Consolas" panose="020B0609020204030204" pitchFamily="49" charset="0"/>
              <a:cs typeface="Consolas" panose="020B0609020204030204" pitchFamily="49" charset="0"/>
            </a:endParaRPr>
          </a:p>
          <a:p>
            <a:r>
              <a:rPr lang="en-US" b="0" dirty="0">
                <a:solidFill>
                  <a:srgbClr val="DCDCAA"/>
                </a:solidFill>
                <a:effectLst/>
                <a:latin typeface="Consolas" panose="020B0609020204030204" pitchFamily="49" charset="0"/>
                <a:cs typeface="Consolas" panose="020B0609020204030204" pitchFamily="49" charset="0"/>
              </a:rPr>
              <a:t>print</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569CD6"/>
                </a:solidFill>
                <a:effectLst/>
                <a:latin typeface="Consolas" panose="020B0609020204030204" pitchFamily="49" charset="0"/>
                <a:cs typeface="Consolas" panose="020B0609020204030204" pitchFamily="49" charset="0"/>
              </a:rPr>
              <a:t>f</a:t>
            </a:r>
            <a:r>
              <a:rPr lang="en-US" b="0" dirty="0" err="1">
                <a:solidFill>
                  <a:srgbClr val="CE9178"/>
                </a:solidFill>
                <a:effectLst/>
                <a:latin typeface="Consolas" panose="020B0609020204030204" pitchFamily="49" charset="0"/>
                <a:cs typeface="Consolas" panose="020B0609020204030204" pitchFamily="49" charset="0"/>
              </a:rPr>
              <a:t>"a</a:t>
            </a:r>
            <a:r>
              <a:rPr lang="en-US" b="0" dirty="0">
                <a:solidFill>
                  <a:srgbClr val="CE9178"/>
                </a:solidFill>
                <a:effectLst/>
                <a:latin typeface="Consolas" panose="020B0609020204030204" pitchFamily="49" charset="0"/>
                <a:cs typeface="Consolas" panose="020B0609020204030204" pitchFamily="49" charset="0"/>
              </a:rPr>
              <a:t>[0,0] = </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 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dirty="0">
                <a:solidFill>
                  <a:srgbClr val="9CDCFE"/>
                </a:solidFill>
                <a:latin typeface="Consolas" panose="020B0609020204030204" pitchFamily="49" charset="0"/>
                <a:cs typeface="Consolas" panose="020B0609020204030204" pitchFamily="49" charset="0"/>
              </a:rPr>
              <a:t> </a:t>
            </a:r>
            <a:r>
              <a:rPr lang="en-US" dirty="0" err="1">
                <a:solidFill>
                  <a:srgbClr val="9CDCFE"/>
                </a:solidFill>
                <a:latin typeface="Consolas" panose="020B0609020204030204" pitchFamily="49" charset="0"/>
                <a:cs typeface="Consolas" panose="020B0609020204030204" pitchFamily="49" charset="0"/>
              </a:rPr>
              <a:t>ndim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a:t>
            </a:r>
          </a:p>
          <a:p>
            <a:r>
              <a:rPr lang="en-US" b="0" dirty="0">
                <a:solidFill>
                  <a:srgbClr val="DCDCAA"/>
                </a:solidFill>
                <a:effectLst/>
                <a:latin typeface="Consolas" panose="020B0609020204030204" pitchFamily="49" charset="0"/>
                <a:cs typeface="Consolas" panose="020B0609020204030204" pitchFamily="49" charset="0"/>
              </a:rPr>
              <a:t>print</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569CD6"/>
                </a:solidFill>
                <a:effectLst/>
                <a:latin typeface="Consolas" panose="020B0609020204030204" pitchFamily="49" charset="0"/>
                <a:cs typeface="Consolas" panose="020B0609020204030204" pitchFamily="49" charset="0"/>
              </a:rPr>
              <a:t>f</a:t>
            </a:r>
            <a:r>
              <a:rPr lang="en-US" b="0" dirty="0" err="1">
                <a:solidFill>
                  <a:srgbClr val="CE9178"/>
                </a:solidFill>
                <a:effectLst/>
                <a:latin typeface="Consolas" panose="020B0609020204030204" pitchFamily="49" charset="0"/>
                <a:cs typeface="Consolas" panose="020B0609020204030204" pitchFamily="49" charset="0"/>
              </a:rPr>
              <a:t>"a</a:t>
            </a:r>
            <a:r>
              <a:rPr lang="en-US" b="0" dirty="0">
                <a:solidFill>
                  <a:srgbClr val="CE9178"/>
                </a:solidFill>
                <a:effectLst/>
                <a:latin typeface="Consolas" panose="020B0609020204030204" pitchFamily="49" charset="0"/>
                <a:cs typeface="Consolas" panose="020B0609020204030204" pitchFamily="49" charset="0"/>
              </a:rPr>
              <a:t>[1,:] = </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 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9CDCFE"/>
                </a:solidFill>
                <a:effectLst/>
                <a:latin typeface="Consolas" panose="020B0609020204030204" pitchFamily="49" charset="0"/>
                <a:cs typeface="Consolas" panose="020B0609020204030204" pitchFamily="49" charset="0"/>
              </a:rPr>
              <a:t>ndim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a:t>
            </a:r>
          </a:p>
          <a:p>
            <a:r>
              <a:rPr lang="en-US" dirty="0">
                <a:solidFill>
                  <a:srgbClr val="DCDCAA"/>
                </a:solidFill>
                <a:latin typeface="Consolas" panose="020B0609020204030204" pitchFamily="49" charset="0"/>
                <a:cs typeface="Consolas" panose="020B0609020204030204" pitchFamily="49" charset="0"/>
              </a:rPr>
              <a:t>print</a:t>
            </a:r>
            <a:r>
              <a:rPr lang="en-US" dirty="0">
                <a:solidFill>
                  <a:srgbClr val="CCCCCC"/>
                </a:solidFill>
                <a:latin typeface="Consolas" panose="020B0609020204030204" pitchFamily="49" charset="0"/>
                <a:cs typeface="Consolas" panose="020B0609020204030204" pitchFamily="49" charset="0"/>
              </a:rPr>
              <a:t>(</a:t>
            </a:r>
            <a:r>
              <a:rPr lang="en-US" dirty="0">
                <a:solidFill>
                  <a:srgbClr val="CE9178"/>
                </a:solidFill>
                <a:latin typeface="Consolas" panose="020B0609020204030204" pitchFamily="49" charset="0"/>
                <a:cs typeface="Consolas" panose="020B0609020204030204" pitchFamily="49" charset="0"/>
              </a:rPr>
              <a:t>"solution for keeping the same nr of dimensions”)</a:t>
            </a:r>
            <a:br>
              <a:rPr lang="en-US" b="0" dirty="0">
                <a:solidFill>
                  <a:srgbClr val="CCCCCC"/>
                </a:solidFill>
                <a:effectLst/>
                <a:latin typeface="Consolas" panose="020B0609020204030204" pitchFamily="49" charset="0"/>
                <a:cs typeface="Consolas" panose="020B0609020204030204" pitchFamily="49" charset="0"/>
              </a:rPr>
            </a:br>
            <a:r>
              <a:rPr lang="en-US" dirty="0">
                <a:solidFill>
                  <a:srgbClr val="DCDCAA"/>
                </a:solidFill>
                <a:latin typeface="Consolas" panose="020B0609020204030204" pitchFamily="49" charset="0"/>
                <a:cs typeface="Consolas" panose="020B0609020204030204" pitchFamily="49" charset="0"/>
              </a:rPr>
              <a:t>print</a:t>
            </a:r>
            <a:r>
              <a:rPr lang="en-US" dirty="0">
                <a:solidFill>
                  <a:srgbClr val="CCCCCC"/>
                </a:solidFill>
                <a:latin typeface="Consolas" panose="020B0609020204030204" pitchFamily="49" charset="0"/>
                <a:cs typeface="Consolas" panose="020B0609020204030204" pitchFamily="49" charset="0"/>
              </a:rPr>
              <a:t>(</a:t>
            </a:r>
            <a:r>
              <a:rPr lang="en-US" dirty="0" err="1">
                <a:solidFill>
                  <a:srgbClr val="569CD6"/>
                </a:solidFill>
                <a:latin typeface="Consolas" panose="020B0609020204030204" pitchFamily="49" charset="0"/>
                <a:cs typeface="Consolas" panose="020B0609020204030204" pitchFamily="49" charset="0"/>
              </a:rPr>
              <a:t>f</a:t>
            </a:r>
            <a:r>
              <a:rPr lang="en-US" dirty="0" err="1">
                <a:solidFill>
                  <a:srgbClr val="CE9178"/>
                </a:solidFill>
                <a:latin typeface="Consolas" panose="020B0609020204030204" pitchFamily="49" charset="0"/>
                <a:cs typeface="Consolas" panose="020B0609020204030204" pitchFamily="49" charset="0"/>
              </a:rPr>
              <a:t>"a</a:t>
            </a:r>
            <a:r>
              <a:rPr lang="en-US" dirty="0">
                <a:solidFill>
                  <a:srgbClr val="CE9178"/>
                </a:solidFill>
                <a:latin typeface="Consolas" panose="020B0609020204030204" pitchFamily="49" charset="0"/>
                <a:cs typeface="Consolas" panose="020B0609020204030204" pitchFamily="49" charset="0"/>
              </a:rPr>
              <a:t>[:,1] = </a:t>
            </a:r>
            <a:r>
              <a:rPr lang="en-US" dirty="0">
                <a:solidFill>
                  <a:srgbClr val="569CD6"/>
                </a:solidFill>
                <a:latin typeface="Consolas" panose="020B0609020204030204" pitchFamily="49" charset="0"/>
                <a:cs typeface="Consolas" panose="020B0609020204030204" pitchFamily="49" charset="0"/>
              </a:rPr>
              <a:t>{</a:t>
            </a:r>
            <a:r>
              <a:rPr lang="en-US" dirty="0">
                <a:solidFill>
                  <a:srgbClr val="9CDCFE"/>
                </a:solidFill>
                <a:latin typeface="Consolas" panose="020B0609020204030204" pitchFamily="49" charset="0"/>
                <a:cs typeface="Consolas" panose="020B0609020204030204" pitchFamily="49" charset="0"/>
              </a:rPr>
              <a:t>a</a:t>
            </a:r>
            <a:r>
              <a:rPr lang="en-US" dirty="0">
                <a:solidFill>
                  <a:srgbClr val="CCCCCC"/>
                </a:solidFill>
                <a:latin typeface="Consolas" panose="020B0609020204030204" pitchFamily="49" charset="0"/>
                <a:cs typeface="Consolas" panose="020B0609020204030204" pitchFamily="49" charset="0"/>
              </a:rPr>
              <a:t>[:,</a:t>
            </a:r>
            <a:r>
              <a:rPr lang="en-US" dirty="0">
                <a:solidFill>
                  <a:srgbClr val="B5CEA8"/>
                </a:solidFill>
                <a:latin typeface="Consolas" panose="020B0609020204030204" pitchFamily="49" charset="0"/>
                <a:cs typeface="Consolas" panose="020B0609020204030204" pitchFamily="49" charset="0"/>
              </a:rPr>
              <a:t>1</a:t>
            </a:r>
            <a:r>
              <a:rPr lang="en-US" dirty="0">
                <a:solidFill>
                  <a:srgbClr val="CCCCCC"/>
                </a:solidFill>
                <a:latin typeface="Consolas" panose="020B0609020204030204" pitchFamily="49" charset="0"/>
                <a:cs typeface="Consolas" panose="020B0609020204030204" pitchFamily="49" charset="0"/>
              </a:rPr>
              <a:t>]</a:t>
            </a:r>
            <a:r>
              <a:rPr lang="en-US" dirty="0">
                <a:solidFill>
                  <a:srgbClr val="569CD6"/>
                </a:solidFill>
                <a:latin typeface="Consolas" panose="020B0609020204030204" pitchFamily="49" charset="0"/>
                <a:cs typeface="Consolas" panose="020B0609020204030204" pitchFamily="49" charset="0"/>
              </a:rPr>
              <a:t>}</a:t>
            </a:r>
            <a:r>
              <a:rPr lang="en-US" dirty="0">
                <a:solidFill>
                  <a:srgbClr val="CE9178"/>
                </a:solidFill>
                <a:latin typeface="Consolas" panose="020B0609020204030204" pitchFamily="49" charset="0"/>
                <a:cs typeface="Consolas" panose="020B0609020204030204" pitchFamily="49" charset="0"/>
              </a:rPr>
              <a:t>, dim=</a:t>
            </a:r>
            <a:r>
              <a:rPr lang="en-US" dirty="0">
                <a:solidFill>
                  <a:srgbClr val="569CD6"/>
                </a:solidFill>
                <a:latin typeface="Consolas" panose="020B0609020204030204" pitchFamily="49" charset="0"/>
                <a:cs typeface="Consolas" panose="020B0609020204030204" pitchFamily="49" charset="0"/>
              </a:rPr>
              <a:t>{</a:t>
            </a:r>
            <a:r>
              <a:rPr lang="en-US" dirty="0">
                <a:solidFill>
                  <a:srgbClr val="9CDCFE"/>
                </a:solidFill>
                <a:latin typeface="Consolas" panose="020B0609020204030204" pitchFamily="49" charset="0"/>
                <a:cs typeface="Consolas" panose="020B0609020204030204" pitchFamily="49" charset="0"/>
              </a:rPr>
              <a:t>a</a:t>
            </a:r>
            <a:r>
              <a:rPr lang="en-US" dirty="0">
                <a:solidFill>
                  <a:srgbClr val="CCCCCC"/>
                </a:solidFill>
                <a:latin typeface="Consolas" panose="020B0609020204030204" pitchFamily="49" charset="0"/>
                <a:cs typeface="Consolas" panose="020B0609020204030204" pitchFamily="49" charset="0"/>
              </a:rPr>
              <a:t>[:,</a:t>
            </a:r>
            <a:r>
              <a:rPr lang="en-US" dirty="0">
                <a:solidFill>
                  <a:srgbClr val="B5CEA8"/>
                </a:solidFill>
                <a:latin typeface="Consolas" panose="020B0609020204030204" pitchFamily="49" charset="0"/>
                <a:cs typeface="Consolas" panose="020B0609020204030204" pitchFamily="49" charset="0"/>
              </a:rPr>
              <a:t>1</a:t>
            </a:r>
            <a:r>
              <a:rPr lang="en-US" dirty="0">
                <a:solidFill>
                  <a:srgbClr val="CCCCCC"/>
                </a:solidFill>
                <a:latin typeface="Consolas" panose="020B0609020204030204" pitchFamily="49" charset="0"/>
                <a:cs typeface="Consolas" panose="020B0609020204030204" pitchFamily="49" charset="0"/>
              </a:rPr>
              <a:t>].</a:t>
            </a:r>
            <a:r>
              <a:rPr lang="en-US" dirty="0" err="1">
                <a:solidFill>
                  <a:srgbClr val="9CDCFE"/>
                </a:solidFill>
                <a:latin typeface="Consolas" panose="020B0609020204030204" pitchFamily="49" charset="0"/>
                <a:cs typeface="Consolas" panose="020B0609020204030204" pitchFamily="49" charset="0"/>
              </a:rPr>
              <a:t>ndim</a:t>
            </a:r>
            <a:r>
              <a:rPr lang="en-US" dirty="0">
                <a:solidFill>
                  <a:srgbClr val="569CD6"/>
                </a:solidFill>
                <a:latin typeface="Consolas" panose="020B0609020204030204" pitchFamily="49" charset="0"/>
                <a:cs typeface="Consolas" panose="020B0609020204030204" pitchFamily="49" charset="0"/>
              </a:rPr>
              <a:t>}</a:t>
            </a:r>
            <a:r>
              <a:rPr lang="en-US" dirty="0">
                <a:solidFill>
                  <a:srgbClr val="CE9178"/>
                </a:solidFill>
                <a:latin typeface="Consolas" panose="020B0609020204030204" pitchFamily="49" charset="0"/>
                <a:cs typeface="Consolas" panose="020B0609020204030204" pitchFamily="49" charset="0"/>
              </a:rPr>
              <a:t>"</a:t>
            </a:r>
            <a:r>
              <a:rPr lang="en-US" dirty="0">
                <a:solidFill>
                  <a:srgbClr val="CCCCCC"/>
                </a:solidFill>
                <a:latin typeface="Consolas" panose="020B0609020204030204" pitchFamily="49" charset="0"/>
                <a:cs typeface="Consolas" panose="020B0609020204030204" pitchFamily="49" charset="0"/>
              </a:rPr>
              <a:t>)</a:t>
            </a:r>
            <a:endParaRPr lang="en-US" b="0" dirty="0">
              <a:solidFill>
                <a:srgbClr val="CCCCCC"/>
              </a:solidFill>
              <a:effectLst/>
              <a:latin typeface="Consolas" panose="020B0609020204030204" pitchFamily="49" charset="0"/>
              <a:cs typeface="Consolas" panose="020B0609020204030204" pitchFamily="49" charset="0"/>
            </a:endParaRPr>
          </a:p>
          <a:p>
            <a:r>
              <a:rPr lang="en-US" b="0" dirty="0">
                <a:solidFill>
                  <a:srgbClr val="DCDCAA"/>
                </a:solidFill>
                <a:effectLst/>
                <a:latin typeface="Consolas" panose="020B0609020204030204" pitchFamily="49" charset="0"/>
                <a:cs typeface="Consolas" panose="020B0609020204030204" pitchFamily="49" charset="0"/>
              </a:rPr>
              <a:t>print</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569CD6"/>
                </a:solidFill>
                <a:effectLst/>
                <a:latin typeface="Consolas" panose="020B0609020204030204" pitchFamily="49" charset="0"/>
                <a:cs typeface="Consolas" panose="020B0609020204030204" pitchFamily="49" charset="0"/>
              </a:rPr>
              <a:t>f</a:t>
            </a:r>
            <a:r>
              <a:rPr lang="en-US" b="0" dirty="0" err="1">
                <a:solidFill>
                  <a:srgbClr val="CE9178"/>
                </a:solidFill>
                <a:effectLst/>
                <a:latin typeface="Consolas" panose="020B0609020204030204" pitchFamily="49" charset="0"/>
                <a:cs typeface="Consolas" panose="020B0609020204030204" pitchFamily="49" charset="0"/>
              </a:rPr>
              <a:t>"a</a:t>
            </a:r>
            <a:r>
              <a:rPr lang="en-US" b="0" dirty="0">
                <a:solidFill>
                  <a:srgbClr val="CE9178"/>
                </a:solidFill>
                <a:effectLst/>
                <a:latin typeface="Consolas" panose="020B0609020204030204" pitchFamily="49" charset="0"/>
                <a:cs typeface="Consolas" panose="020B0609020204030204" pitchFamily="49" charset="0"/>
              </a:rPr>
              <a:t>[0,0:1] = </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 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9CDCFE"/>
                </a:solidFill>
                <a:effectLst/>
                <a:latin typeface="Consolas" panose="020B0609020204030204" pitchFamily="49" charset="0"/>
                <a:cs typeface="Consolas" panose="020B0609020204030204" pitchFamily="49" charset="0"/>
              </a:rPr>
              <a:t>ndim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a:t>
            </a:r>
          </a:p>
          <a:p>
            <a:r>
              <a:rPr lang="en-US" b="0" dirty="0">
                <a:solidFill>
                  <a:srgbClr val="DCDCAA"/>
                </a:solidFill>
                <a:effectLst/>
                <a:latin typeface="Consolas" panose="020B0609020204030204" pitchFamily="49" charset="0"/>
                <a:cs typeface="Consolas" panose="020B0609020204030204" pitchFamily="49" charset="0"/>
              </a:rPr>
              <a:t>print</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569CD6"/>
                </a:solidFill>
                <a:effectLst/>
                <a:latin typeface="Consolas" panose="020B0609020204030204" pitchFamily="49" charset="0"/>
                <a:cs typeface="Consolas" panose="020B0609020204030204" pitchFamily="49" charset="0"/>
              </a:rPr>
              <a:t>f</a:t>
            </a:r>
            <a:r>
              <a:rPr lang="en-US" b="0" dirty="0" err="1">
                <a:solidFill>
                  <a:srgbClr val="CE9178"/>
                </a:solidFill>
                <a:effectLst/>
                <a:latin typeface="Consolas" panose="020B0609020204030204" pitchFamily="49" charset="0"/>
                <a:cs typeface="Consolas" panose="020B0609020204030204" pitchFamily="49" charset="0"/>
              </a:rPr>
              <a:t>"a</a:t>
            </a:r>
            <a:r>
              <a:rPr lang="en-US" b="0" dirty="0">
                <a:solidFill>
                  <a:srgbClr val="CE9178"/>
                </a:solidFill>
                <a:effectLst/>
                <a:latin typeface="Consolas" panose="020B0609020204030204" pitchFamily="49" charset="0"/>
                <a:cs typeface="Consolas" panose="020B0609020204030204" pitchFamily="49" charset="0"/>
              </a:rPr>
              <a:t>[0:1,0:1] = </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 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9CDCFE"/>
                </a:solidFill>
                <a:effectLst/>
                <a:latin typeface="Consolas" panose="020B0609020204030204" pitchFamily="49" charset="0"/>
                <a:cs typeface="Consolas" panose="020B0609020204030204" pitchFamily="49" charset="0"/>
              </a:rPr>
              <a:t>ndim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a:t>
            </a:r>
          </a:p>
          <a:p>
            <a:r>
              <a:rPr lang="en-US" b="0" dirty="0">
                <a:solidFill>
                  <a:srgbClr val="DCDCAA"/>
                </a:solidFill>
                <a:effectLst/>
                <a:latin typeface="Consolas" panose="020B0609020204030204" pitchFamily="49" charset="0"/>
                <a:cs typeface="Consolas" panose="020B0609020204030204" pitchFamily="49" charset="0"/>
              </a:rPr>
              <a:t>print</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569CD6"/>
                </a:solidFill>
                <a:effectLst/>
                <a:latin typeface="Consolas" panose="020B0609020204030204" pitchFamily="49" charset="0"/>
                <a:cs typeface="Consolas" panose="020B0609020204030204" pitchFamily="49" charset="0"/>
              </a:rPr>
              <a:t>f</a:t>
            </a:r>
            <a:r>
              <a:rPr lang="en-US" b="0" dirty="0" err="1">
                <a:solidFill>
                  <a:srgbClr val="CE9178"/>
                </a:solidFill>
                <a:effectLst/>
                <a:latin typeface="Consolas" panose="020B0609020204030204" pitchFamily="49" charset="0"/>
                <a:cs typeface="Consolas" panose="020B0609020204030204" pitchFamily="49" charset="0"/>
              </a:rPr>
              <a:t>"a</a:t>
            </a:r>
            <a:r>
              <a:rPr lang="en-US" b="0" dirty="0">
                <a:solidFill>
                  <a:srgbClr val="CE9178"/>
                </a:solidFill>
                <a:effectLst/>
                <a:latin typeface="Consolas" panose="020B0609020204030204" pitchFamily="49" charset="0"/>
                <a:cs typeface="Consolas" panose="020B0609020204030204" pitchFamily="49" charset="0"/>
              </a:rPr>
              <a:t>[1:2,:] = </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2</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 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2</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9CDCFE"/>
                </a:solidFill>
                <a:effectLst/>
                <a:latin typeface="Consolas" panose="020B0609020204030204" pitchFamily="49" charset="0"/>
                <a:cs typeface="Consolas" panose="020B0609020204030204" pitchFamily="49" charset="0"/>
              </a:rPr>
              <a:t>ndim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a:t>
            </a:r>
          </a:p>
          <a:p>
            <a:r>
              <a:rPr lang="en-US" b="0" dirty="0">
                <a:solidFill>
                  <a:srgbClr val="DCDCAA"/>
                </a:solidFill>
                <a:effectLst/>
                <a:latin typeface="Consolas" panose="020B0609020204030204" pitchFamily="49" charset="0"/>
                <a:cs typeface="Consolas" panose="020B0609020204030204" pitchFamily="49" charset="0"/>
              </a:rPr>
              <a:t>print</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569CD6"/>
                </a:solidFill>
                <a:effectLst/>
                <a:latin typeface="Consolas" panose="020B0609020204030204" pitchFamily="49" charset="0"/>
                <a:cs typeface="Consolas" panose="020B0609020204030204" pitchFamily="49" charset="0"/>
              </a:rPr>
              <a:t>f</a:t>
            </a:r>
            <a:r>
              <a:rPr lang="en-US" b="0" dirty="0" err="1">
                <a:solidFill>
                  <a:srgbClr val="CE9178"/>
                </a:solidFill>
                <a:effectLst/>
                <a:latin typeface="Consolas" panose="020B0609020204030204" pitchFamily="49" charset="0"/>
                <a:cs typeface="Consolas" panose="020B0609020204030204" pitchFamily="49" charset="0"/>
              </a:rPr>
              <a:t>"a</a:t>
            </a:r>
            <a:r>
              <a:rPr lang="en-US" b="0" dirty="0">
                <a:solidFill>
                  <a:srgbClr val="CE9178"/>
                </a:solidFill>
                <a:effectLst/>
                <a:latin typeface="Consolas" panose="020B0609020204030204" pitchFamily="49" charset="0"/>
                <a:cs typeface="Consolas" panose="020B0609020204030204" pitchFamily="49" charset="0"/>
              </a:rPr>
              <a:t>[:,1:2]] = </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2</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 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a</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1</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2</a:t>
            </a:r>
            <a:r>
              <a:rPr lang="en-US" b="0" dirty="0">
                <a:solidFill>
                  <a:srgbClr val="CCCCCC"/>
                </a:solidFill>
                <a:effectLst/>
                <a:latin typeface="Consolas" panose="020B0609020204030204" pitchFamily="49" charset="0"/>
                <a:cs typeface="Consolas" panose="020B0609020204030204" pitchFamily="49" charset="0"/>
              </a:rPr>
              <a:t>].</a:t>
            </a:r>
            <a:r>
              <a:rPr lang="en-US" b="0" dirty="0" err="1">
                <a:solidFill>
                  <a:srgbClr val="9CDCFE"/>
                </a:solidFill>
                <a:effectLst/>
                <a:latin typeface="Consolas" panose="020B0609020204030204" pitchFamily="49" charset="0"/>
                <a:cs typeface="Consolas" panose="020B0609020204030204" pitchFamily="49" charset="0"/>
              </a:rPr>
              <a:t>ndim</a:t>
            </a:r>
            <a:r>
              <a:rPr lang="en-US" b="0" dirty="0">
                <a:solidFill>
                  <a:srgbClr val="569CD6"/>
                </a:solidFill>
                <a:effectLst/>
                <a:latin typeface="Consolas" panose="020B0609020204030204" pitchFamily="49" charset="0"/>
                <a:cs typeface="Consolas" panose="020B0609020204030204" pitchFamily="49" charset="0"/>
              </a:rPr>
              <a:t>}</a:t>
            </a:r>
            <a:r>
              <a:rPr lang="en-US" b="0" dirty="0">
                <a:solidFill>
                  <a:srgbClr val="CE9178"/>
                </a:solidFill>
                <a:effectLst/>
                <a:latin typeface="Consolas" panose="020B0609020204030204" pitchFamily="49" charset="0"/>
                <a:cs typeface="Consolas" panose="020B0609020204030204" pitchFamily="49" charset="0"/>
              </a:rPr>
              <a:t>"</a:t>
            </a:r>
            <a:br>
              <a:rPr lang="en-US" b="0" dirty="0">
                <a:solidFill>
                  <a:srgbClr val="CCCCCC"/>
                </a:solidFill>
                <a:effectLst/>
                <a:latin typeface="Consolas" panose="020B0609020204030204" pitchFamily="49" charset="0"/>
                <a:cs typeface="Consolas" panose="020B0609020204030204" pitchFamily="49" charset="0"/>
              </a:rPr>
            </a:br>
            <a:endParaRPr lang="en-US" b="0" dirty="0">
              <a:solidFill>
                <a:srgbClr val="CCCCCC"/>
              </a:solidFill>
              <a:effectLst/>
              <a:latin typeface="Consolas" panose="020B0609020204030204" pitchFamily="49" charset="0"/>
              <a:cs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043970" y="3421914"/>
          <a:ext cx="3529541" cy="2809240"/>
        </p:xfrm>
        <a:graphic>
          <a:graphicData uri="http://schemas.openxmlformats.org/drawingml/2006/table">
            <a:tbl>
              <a:tblPr firstRow="1" bandRow="1">
                <a:tableStyleId>{073A0DAA-6AF3-43AB-8588-CEC1D06C72B9}</a:tableStyleId>
              </a:tblPr>
              <a:tblGrid>
                <a:gridCol w="35295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sz="1400" b="0" i="0" u="none" strike="noStrike" cap="none" dirty="0" err="1">
                          <a:solidFill>
                            <a:schemeClr val="tx2"/>
                          </a:solidFill>
                          <a:effectLst/>
                          <a:latin typeface="+mn-lt"/>
                          <a:ea typeface="+mn-ea"/>
                          <a:cs typeface="+mn-cs"/>
                          <a:sym typeface="Arial"/>
                        </a:rPr>
                        <a:t>a.ndim</a:t>
                      </a:r>
                      <a:r>
                        <a:rPr lang="en-US" sz="1400" b="0" i="0" u="none" strike="noStrike" cap="none" dirty="0">
                          <a:solidFill>
                            <a:schemeClr val="tx2"/>
                          </a:solidFill>
                          <a:effectLst/>
                          <a:latin typeface="+mn-lt"/>
                          <a:ea typeface="+mn-ea"/>
                          <a:cs typeface="+mn-cs"/>
                          <a:sym typeface="Arial"/>
                        </a:rPr>
                        <a:t> = 2, </a:t>
                      </a:r>
                      <a:r>
                        <a:rPr lang="en-US" sz="1400" b="0" i="0" u="none" strike="noStrike" cap="none" dirty="0" err="1">
                          <a:solidFill>
                            <a:schemeClr val="tx2"/>
                          </a:solidFill>
                          <a:effectLst/>
                          <a:latin typeface="+mn-lt"/>
                          <a:ea typeface="+mn-ea"/>
                          <a:cs typeface="+mn-cs"/>
                          <a:sym typeface="Arial"/>
                        </a:rPr>
                        <a:t>a.shape</a:t>
                      </a:r>
                      <a:r>
                        <a:rPr lang="en-US" sz="1400" b="0" i="0" u="none" strike="noStrike" cap="none" dirty="0">
                          <a:solidFill>
                            <a:schemeClr val="tx2"/>
                          </a:solidFill>
                          <a:effectLst/>
                          <a:latin typeface="+mn-lt"/>
                          <a:ea typeface="+mn-ea"/>
                          <a:cs typeface="+mn-cs"/>
                          <a:sym typeface="Arial"/>
                        </a:rPr>
                        <a:t> = (2, 3)</a:t>
                      </a:r>
                    </a:p>
                    <a:p>
                      <a:r>
                        <a:rPr lang="en-US" sz="1400" b="0" i="0" u="none" strike="noStrike" cap="none" dirty="0">
                          <a:solidFill>
                            <a:schemeClr val="tx2"/>
                          </a:solidFill>
                          <a:effectLst/>
                          <a:latin typeface="+mn-lt"/>
                          <a:ea typeface="+mn-ea"/>
                          <a:cs typeface="+mn-cs"/>
                          <a:sym typeface="Arial"/>
                        </a:rPr>
                        <a:t>a[0,0] = 1, dim=0</a:t>
                      </a:r>
                    </a:p>
                    <a:p>
                      <a:r>
                        <a:rPr lang="en-US" sz="1400" b="0" i="0" u="none" strike="noStrike" cap="none" dirty="0">
                          <a:solidFill>
                            <a:schemeClr val="tx2"/>
                          </a:solidFill>
                          <a:effectLst/>
                          <a:latin typeface="+mn-lt"/>
                          <a:ea typeface="+mn-ea"/>
                          <a:cs typeface="+mn-cs"/>
                          <a:sym typeface="Arial"/>
                        </a:rPr>
                        <a:t>a[1,:] = [4 5 6], dim=1</a:t>
                      </a:r>
                    </a:p>
                    <a:p>
                      <a:r>
                        <a:rPr lang="en-US" sz="1400" b="0" i="0" u="none" strike="noStrike" cap="none" dirty="0">
                          <a:solidFill>
                            <a:schemeClr val="tx2"/>
                          </a:solidFill>
                          <a:effectLst/>
                          <a:latin typeface="+mn-lt"/>
                          <a:ea typeface="+mn-ea"/>
                          <a:cs typeface="+mn-cs"/>
                          <a:sym typeface="Arial"/>
                        </a:rPr>
                        <a:t>a[:,1] = [2 5], dim=1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solution for keeping the same nr of dimensions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tx2"/>
                          </a:solidFill>
                          <a:effectLst/>
                          <a:latin typeface="+mn-lt"/>
                          <a:ea typeface="+mn-ea"/>
                          <a:cs typeface="+mn-cs"/>
                          <a:sym typeface="Arial"/>
                        </a:rPr>
                        <a:t>a[0,0:1] = [1], dim=1</a:t>
                      </a:r>
                    </a:p>
                    <a:p>
                      <a:r>
                        <a:rPr lang="en-US" sz="1400" b="0" i="0" u="none" strike="noStrike" cap="none" dirty="0">
                          <a:solidFill>
                            <a:schemeClr val="tx2"/>
                          </a:solidFill>
                          <a:effectLst/>
                          <a:latin typeface="+mn-lt"/>
                          <a:ea typeface="+mn-ea"/>
                          <a:cs typeface="+mn-cs"/>
                          <a:sym typeface="Arial"/>
                        </a:rPr>
                        <a:t>a[0:1,0:1] = [[1]], dim=2</a:t>
                      </a:r>
                    </a:p>
                    <a:p>
                      <a:r>
                        <a:rPr lang="en-US" sz="1400" b="0" i="0" u="none" strike="noStrike" cap="none" dirty="0">
                          <a:solidFill>
                            <a:schemeClr val="tx2"/>
                          </a:solidFill>
                          <a:effectLst/>
                          <a:latin typeface="+mn-lt"/>
                          <a:ea typeface="+mn-ea"/>
                          <a:cs typeface="+mn-cs"/>
                          <a:sym typeface="Arial"/>
                        </a:rPr>
                        <a:t>a[1:2,:] = [[4 5 6]], dim=2</a:t>
                      </a:r>
                    </a:p>
                    <a:p>
                      <a:r>
                        <a:rPr lang="en-US" sz="1400" b="0" i="0" u="none" strike="noStrike" cap="none" dirty="0">
                          <a:solidFill>
                            <a:schemeClr val="tx2"/>
                          </a:solidFill>
                          <a:effectLst/>
                          <a:latin typeface="+mn-lt"/>
                          <a:ea typeface="+mn-ea"/>
                          <a:cs typeface="+mn-cs"/>
                          <a:sym typeface="Arial"/>
                        </a:rPr>
                        <a:t>a[:,1:2]] = [[2]</a:t>
                      </a:r>
                    </a:p>
                    <a:p>
                      <a:r>
                        <a:rPr lang="en-US" sz="1400" b="0" i="0" u="none" strike="noStrike" cap="none" dirty="0">
                          <a:solidFill>
                            <a:schemeClr val="tx2"/>
                          </a:solidFill>
                          <a:effectLst/>
                          <a:latin typeface="+mn-lt"/>
                          <a:ea typeface="+mn-ea"/>
                          <a:cs typeface="+mn-cs"/>
                          <a:sym typeface="Arial"/>
                        </a:rPr>
                        <a:t> [5]], dim=2</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06732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You can also use another special character (…) that specifies to fill all of the rest of the dimensions (similar to using ‘:’ in Python list for each dimension).</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65011" y="3002938"/>
            <a:ext cx="9448800" cy="23622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8</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9</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11</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12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a[0,0]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a[-1,-1,-1]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a[...,1:2]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1:2</a:t>
            </a:r>
            <a:r>
              <a:rPr lang="en-US" b="0" dirty="0">
                <a:solidFill>
                  <a:srgbClr val="B4B4B4"/>
                </a:solidFill>
                <a:effectLst/>
                <a:latin typeface="Consolas" panose="020B0609020204030204" pitchFamily="49" charset="0"/>
              </a:rPr>
              <a:t>])</a:t>
            </a:r>
          </a:p>
          <a:p>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677571" y="3794844"/>
          <a:ext cx="4215341" cy="3063156"/>
        </p:xfrm>
        <a:graphic>
          <a:graphicData uri="http://schemas.openxmlformats.org/drawingml/2006/table">
            <a:tbl>
              <a:tblPr firstRow="1" bandRow="1">
                <a:tableStyleId>{073A0DAA-6AF3-43AB-8588-CEC1D06C72B9}</a:tableStyleId>
              </a:tblPr>
              <a:tblGrid>
                <a:gridCol w="4215341">
                  <a:extLst>
                    <a:ext uri="{9D8B030D-6E8A-4147-A177-3AD203B41FA5}">
                      <a16:colId xmlns:a16="http://schemas.microsoft.com/office/drawing/2014/main" val="3899577134"/>
                    </a:ext>
                  </a:extLst>
                </a:gridCol>
              </a:tblGrid>
              <a:tr h="309650">
                <a:tc>
                  <a:txBody>
                    <a:bodyPr/>
                    <a:lstStyle/>
                    <a:p>
                      <a:pPr algn="r"/>
                      <a:r>
                        <a:rPr lang="en-US" dirty="0">
                          <a:solidFill>
                            <a:schemeClr val="tx2"/>
                          </a:solidFill>
                        </a:rPr>
                        <a:t>Output </a:t>
                      </a:r>
                    </a:p>
                  </a:txBody>
                  <a:tcPr>
                    <a:solidFill>
                      <a:schemeClr val="dk1">
                        <a:alpha val="64864"/>
                      </a:schemeClr>
                    </a:solidFill>
                  </a:tcPr>
                </a:tc>
                <a:extLst>
                  <a:ext uri="{0D108BD9-81ED-4DB2-BD59-A6C34878D82A}">
                    <a16:rowId xmlns:a16="http://schemas.microsoft.com/office/drawing/2014/main" val="117988312"/>
                  </a:ext>
                </a:extLst>
              </a:tr>
              <a:tr h="2753506">
                <a:tc>
                  <a:txBody>
                    <a:bodyPr/>
                    <a:lstStyle/>
                    <a:p>
                      <a:r>
                        <a:rPr lang="pt-BR" dirty="0">
                          <a:solidFill>
                            <a:schemeClr val="tx2"/>
                          </a:solidFill>
                          <a:latin typeface="Consolas" panose="020B0609020204030204" pitchFamily="49" charset="0"/>
                        </a:rPr>
                        <a:t>a[0,0]      =  [1 2 3]</a:t>
                      </a:r>
                    </a:p>
                    <a:p>
                      <a:r>
                        <a:rPr lang="pt-BR" dirty="0">
                          <a:solidFill>
                            <a:schemeClr val="tx2"/>
                          </a:solidFill>
                          <a:latin typeface="Consolas" panose="020B0609020204030204" pitchFamily="49" charset="0"/>
                        </a:rPr>
                        <a:t>a[-1,-1,-1] =  12</a:t>
                      </a:r>
                    </a:p>
                    <a:p>
                      <a:r>
                        <a:rPr lang="pt-BR" dirty="0">
                          <a:solidFill>
                            <a:schemeClr val="tx2"/>
                          </a:solidFill>
                          <a:latin typeface="Consolas" panose="020B0609020204030204" pitchFamily="49" charset="0"/>
                        </a:rPr>
                        <a:t>a[1,...]    =  [[ 7  8  9]</a:t>
                      </a:r>
                    </a:p>
                    <a:p>
                      <a:r>
                        <a:rPr lang="pt-BR" dirty="0">
                          <a:solidFill>
                            <a:schemeClr val="tx2"/>
                          </a:solidFill>
                          <a:latin typeface="Consolas" panose="020B0609020204030204" pitchFamily="49" charset="0"/>
                        </a:rPr>
                        <a:t>                [10 11 12]]</a:t>
                      </a:r>
                    </a:p>
                    <a:p>
                      <a:r>
                        <a:rPr lang="pt-BR" dirty="0">
                          <a:solidFill>
                            <a:schemeClr val="tx2"/>
                          </a:solidFill>
                          <a:latin typeface="Consolas" panose="020B0609020204030204" pitchFamily="49" charset="0"/>
                        </a:rPr>
                        <a:t>a[1,:,:]    =  [[ 7  8  9]</a:t>
                      </a:r>
                    </a:p>
                    <a:p>
                      <a:r>
                        <a:rPr lang="pt-BR" dirty="0">
                          <a:solidFill>
                            <a:schemeClr val="tx2"/>
                          </a:solidFill>
                          <a:latin typeface="Consolas" panose="020B0609020204030204" pitchFamily="49" charset="0"/>
                        </a:rPr>
                        <a:t>                [10 11 12]]</a:t>
                      </a:r>
                    </a:p>
                    <a:p>
                      <a:r>
                        <a:rPr lang="pt-BR" dirty="0">
                          <a:solidFill>
                            <a:schemeClr val="tx2"/>
                          </a:solidFill>
                          <a:latin typeface="Consolas" panose="020B0609020204030204" pitchFamily="49" charset="0"/>
                        </a:rPr>
                        <a:t>a[...,1]    =  [[ 2  5]</a:t>
                      </a:r>
                    </a:p>
                    <a:p>
                      <a:r>
                        <a:rPr lang="pt-BR" dirty="0">
                          <a:solidFill>
                            <a:schemeClr val="tx2"/>
                          </a:solidFill>
                          <a:latin typeface="Consolas" panose="020B0609020204030204" pitchFamily="49" charset="0"/>
                        </a:rPr>
                        <a:t>                [ 8 11]]</a:t>
                      </a:r>
                    </a:p>
                    <a:p>
                      <a:r>
                        <a:rPr lang="pt-BR" dirty="0">
                          <a:solidFill>
                            <a:schemeClr val="tx2"/>
                          </a:solidFill>
                          <a:latin typeface="Consolas" panose="020B0609020204030204" pitchFamily="49" charset="0"/>
                        </a:rPr>
                        <a:t>a[...,1:2]    =  [[[ 2],</a:t>
                      </a:r>
                    </a:p>
                    <a:p>
                      <a:r>
                        <a:rPr lang="pt-BR" dirty="0">
                          <a:solidFill>
                            <a:schemeClr val="tx2"/>
                          </a:solidFill>
                          <a:latin typeface="Consolas" panose="020B0609020204030204" pitchFamily="49" charset="0"/>
                        </a:rPr>
                        <a:t>                 [ 5]],</a:t>
                      </a:r>
                    </a:p>
                    <a:p>
                      <a:r>
                        <a:rPr lang="pt-BR" dirty="0">
                          <a:solidFill>
                            <a:schemeClr val="tx2"/>
                          </a:solidFill>
                          <a:latin typeface="Consolas" panose="020B0609020204030204" pitchFamily="49" charset="0"/>
                        </a:rPr>
                        <a:t>                [[ 8],</a:t>
                      </a:r>
                    </a:p>
                    <a:p>
                      <a:r>
                        <a:rPr lang="pt-BR" dirty="0">
                          <a:solidFill>
                            <a:schemeClr val="tx2"/>
                          </a:solidFill>
                          <a:latin typeface="Consolas" panose="020B0609020204030204" pitchFamily="49" charset="0"/>
                        </a:rPr>
                        <a:t>                  11]]]</a:t>
                      </a:r>
                    </a:p>
                  </a:txBody>
                  <a:tcPr/>
                </a:tc>
                <a:extLst>
                  <a:ext uri="{0D108BD9-81ED-4DB2-BD59-A6C34878D82A}">
                    <a16:rowId xmlns:a16="http://schemas.microsoft.com/office/drawing/2014/main" val="4231599274"/>
                  </a:ext>
                </a:extLst>
              </a:tr>
            </a:tbl>
          </a:graphicData>
        </a:graphic>
      </p:graphicFrame>
      <p:sp>
        <p:nvSpPr>
          <p:cNvPr id="4" name="Callout: Right Arrow 3">
            <a:extLst>
              <a:ext uri="{FF2B5EF4-FFF2-40B4-BE49-F238E27FC236}">
                <a16:creationId xmlns:a16="http://schemas.microsoft.com/office/drawing/2014/main" id="{08AC21D3-B8A5-30C6-35A2-DFD67EE852E8}"/>
              </a:ext>
            </a:extLst>
          </p:cNvPr>
          <p:cNvSpPr/>
          <p:nvPr/>
        </p:nvSpPr>
        <p:spPr>
          <a:xfrm>
            <a:off x="2896442" y="5998007"/>
            <a:ext cx="4038600" cy="685800"/>
          </a:xfrm>
          <a:prstGeom prst="rightArrowCallout">
            <a:avLst>
              <a:gd name="adj1" fmla="val 25000"/>
              <a:gd name="adj2" fmla="val 25000"/>
              <a:gd name="adj3" fmla="val 25000"/>
              <a:gd name="adj4" fmla="val 9044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Notice that a[1,…] and a[1,:,:] are equivalent !</a:t>
            </a:r>
          </a:p>
        </p:txBody>
      </p:sp>
    </p:spTree>
    <p:extLst>
      <p:ext uri="{BB962C8B-B14F-4D97-AF65-F5344CB8AC3E}">
        <p14:creationId xmlns:p14="http://schemas.microsoft.com/office/powerpoint/2010/main" val="733249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Additionally, the index operation can be used with a function parameter (something that evaluates to true or false). That function works as a filtering method, keeping only the elements that yield true when that function is called upon them. When using this method of filtering use the name of the array as a reference to each element:</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52519" y="4724400"/>
            <a:ext cx="94488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a[a&gt;5]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C0C0C0"/>
                </a:solidFill>
                <a:effectLst/>
                <a:latin typeface="Consolas" panose="020B0609020204030204" pitchFamily="49" charset="0"/>
              </a:rPr>
              <a:t>&gt;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a[a%2==0]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304212" y="4942840"/>
          <a:ext cx="2895600" cy="889000"/>
        </p:xfrm>
        <a:graphic>
          <a:graphicData uri="http://schemas.openxmlformats.org/drawingml/2006/table">
            <a:tbl>
              <a:tblPr firstRow="1" bandRow="1">
                <a:tableStyleId>{073A0DAA-6AF3-43AB-8588-CEC1D06C72B9}</a:tableStyleId>
              </a:tblPr>
              <a:tblGrid>
                <a:gridCol w="2895600">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a[a&gt;5]    =  [6]</a:t>
                      </a:r>
                    </a:p>
                    <a:p>
                      <a:r>
                        <a:rPr lang="pt-BR" dirty="0">
                          <a:solidFill>
                            <a:schemeClr val="tx2"/>
                          </a:solidFill>
                          <a:latin typeface="Consolas" panose="020B0609020204030204" pitchFamily="49" charset="0"/>
                        </a:rPr>
                        <a:t>a[a%2==0] =  [2 4 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501458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Additionally, the index operation can be used with a function parameter (something that evaluates to true or false). That function works as a filtering method, keeping only the elements that yield true when that function is called upon them. When using this method of filtering use the name of the array as a reference to each element:</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52519" y="4724400"/>
            <a:ext cx="94488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75000"/>
                    <a:lumOff val="25000"/>
                  </a:schemeClr>
                </a:solidFill>
                <a:effectLst/>
                <a:latin typeface="Consolas" panose="020B0609020204030204" pitchFamily="49" charset="0"/>
              </a:rPr>
              <a:t>import </a:t>
            </a:r>
            <a:r>
              <a:rPr lang="en-US" b="0" dirty="0" err="1">
                <a:solidFill>
                  <a:schemeClr val="tx2">
                    <a:lumMod val="75000"/>
                    <a:lumOff val="25000"/>
                  </a:schemeClr>
                </a:solidFill>
                <a:effectLst/>
                <a:latin typeface="Consolas" panose="020B0609020204030204" pitchFamily="49" charset="0"/>
              </a:rPr>
              <a:t>numpy</a:t>
            </a:r>
            <a:r>
              <a:rPr lang="en-US" b="0" dirty="0">
                <a:solidFill>
                  <a:schemeClr val="tx2">
                    <a:lumMod val="75000"/>
                    <a:lumOff val="25000"/>
                  </a:schemeClr>
                </a:solidFill>
                <a:effectLst/>
                <a:latin typeface="Consolas" panose="020B0609020204030204" pitchFamily="49" charset="0"/>
              </a:rPr>
              <a:t> as np</a:t>
            </a:r>
          </a:p>
          <a:p>
            <a:br>
              <a:rPr lang="en-US" b="0" dirty="0">
                <a:solidFill>
                  <a:schemeClr val="tx2">
                    <a:lumMod val="75000"/>
                    <a:lumOff val="25000"/>
                  </a:schemeClr>
                </a:solidFill>
                <a:effectLst/>
                <a:latin typeface="Consolas" panose="020B0609020204030204" pitchFamily="49" charset="0"/>
              </a:rPr>
            </a:br>
            <a:r>
              <a:rPr lang="en-US" b="0" dirty="0">
                <a:solidFill>
                  <a:schemeClr val="tx2">
                    <a:lumMod val="75000"/>
                    <a:lumOff val="25000"/>
                  </a:schemeClr>
                </a:solidFill>
                <a:effectLst/>
                <a:latin typeface="Consolas" panose="020B0609020204030204" pitchFamily="49" charset="0"/>
              </a:rPr>
              <a:t>a = </a:t>
            </a:r>
            <a:r>
              <a:rPr lang="en-US" b="0" dirty="0" err="1">
                <a:solidFill>
                  <a:schemeClr val="tx2">
                    <a:lumMod val="75000"/>
                    <a:lumOff val="25000"/>
                  </a:schemeClr>
                </a:solidFill>
                <a:effectLst/>
                <a:latin typeface="Consolas" panose="020B0609020204030204" pitchFamily="49" charset="0"/>
              </a:rPr>
              <a:t>np.array</a:t>
            </a:r>
            <a:r>
              <a:rPr lang="en-US" b="0" dirty="0">
                <a:solidFill>
                  <a:schemeClr val="tx2">
                    <a:lumMod val="75000"/>
                    <a:lumOff val="25000"/>
                  </a:schemeClr>
                </a:solidFill>
                <a:effectLst/>
                <a:latin typeface="Consolas" panose="020B0609020204030204" pitchFamily="49" charset="0"/>
              </a:rPr>
              <a:t>([1,2,3,4,5,6])</a:t>
            </a:r>
          </a:p>
          <a:p>
            <a:r>
              <a:rPr lang="en-US" b="0" dirty="0">
                <a:solidFill>
                  <a:schemeClr val="tx2">
                    <a:lumMod val="75000"/>
                    <a:lumOff val="25000"/>
                  </a:schemeClr>
                </a:solidFill>
                <a:effectLst/>
                <a:latin typeface="Consolas" panose="020B0609020204030204" pitchFamily="49" charset="0"/>
              </a:rPr>
              <a:t>print("a[a&gt;5]    = ",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C0C0C0"/>
                </a:solidFill>
                <a:effectLst/>
                <a:latin typeface="Consolas" panose="020B0609020204030204" pitchFamily="49" charset="0"/>
              </a:rPr>
              <a:t>&gt;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chemeClr val="tx2">
                    <a:lumMod val="75000"/>
                    <a:lumOff val="25000"/>
                  </a:schemeClr>
                </a:solidFill>
                <a:effectLst/>
                <a:latin typeface="Consolas" panose="020B0609020204030204" pitchFamily="49" charset="0"/>
              </a:rPr>
              <a:t>print("a[a%2==0] = ", a[a%2==0])</a:t>
            </a: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304212" y="4942840"/>
          <a:ext cx="2895600" cy="889000"/>
        </p:xfrm>
        <a:graphic>
          <a:graphicData uri="http://schemas.openxmlformats.org/drawingml/2006/table">
            <a:tbl>
              <a:tblPr firstRow="1" bandRow="1">
                <a:tableStyleId>{073A0DAA-6AF3-43AB-8588-CEC1D06C72B9}</a:tableStyleId>
              </a:tblPr>
              <a:tblGrid>
                <a:gridCol w="2895600">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a[a&gt;5]    =  [6]</a:t>
                      </a:r>
                    </a:p>
                    <a:p>
                      <a:r>
                        <a:rPr lang="pt-BR" dirty="0">
                          <a:solidFill>
                            <a:schemeClr val="tx2"/>
                          </a:solidFill>
                          <a:latin typeface="Consolas" panose="020B0609020204030204" pitchFamily="49" charset="0"/>
                        </a:rPr>
                        <a:t>a[a%2==0] =  [2 4 6]</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2E7EBBD8-E30E-3149-4C36-328D83A75178}"/>
              </a:ext>
            </a:extLst>
          </p:cNvPr>
          <p:cNvSpPr/>
          <p:nvPr/>
        </p:nvSpPr>
        <p:spPr>
          <a:xfrm>
            <a:off x="4113212" y="5489788"/>
            <a:ext cx="91440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Down Arrow 6">
            <a:extLst>
              <a:ext uri="{FF2B5EF4-FFF2-40B4-BE49-F238E27FC236}">
                <a16:creationId xmlns:a16="http://schemas.microsoft.com/office/drawing/2014/main" id="{8BDAA55F-3356-F9FF-F053-5CBC4990ED3A}"/>
              </a:ext>
            </a:extLst>
          </p:cNvPr>
          <p:cNvSpPr/>
          <p:nvPr/>
        </p:nvSpPr>
        <p:spPr>
          <a:xfrm>
            <a:off x="2589212" y="4076700"/>
            <a:ext cx="3962400" cy="1295400"/>
          </a:xfrm>
          <a:prstGeom prst="downArrowCallout">
            <a:avLst>
              <a:gd name="adj1" fmla="val 11190"/>
              <a:gd name="adj2" fmla="val 15714"/>
              <a:gd name="adj3" fmla="val 15714"/>
              <a:gd name="adj4" fmla="val 7616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In this case, the </a:t>
            </a:r>
            <a:r>
              <a:rPr lang="en-US" dirty="0">
                <a:highlight>
                  <a:srgbClr val="000000"/>
                </a:highlight>
                <a:latin typeface="Arial" panose="020B0604020202020204" pitchFamily="34" charset="0"/>
                <a:cs typeface="Arial" panose="020B0604020202020204" pitchFamily="34" charset="0"/>
              </a:rPr>
              <a:t>“a”</a:t>
            </a:r>
            <a:r>
              <a:rPr lang="en-US" dirty="0">
                <a:latin typeface="Arial" panose="020B0604020202020204" pitchFamily="34" charset="0"/>
                <a:cs typeface="Arial" panose="020B0604020202020204" pitchFamily="34" charset="0"/>
              </a:rPr>
              <a:t> from “a&gt;5” expression represents each element from “a” matrix.</a:t>
            </a:r>
          </a:p>
        </p:txBody>
      </p:sp>
    </p:spTree>
    <p:extLst>
      <p:ext uri="{BB962C8B-B14F-4D97-AF65-F5344CB8AC3E}">
        <p14:creationId xmlns:p14="http://schemas.microsoft.com/office/powerpoint/2010/main" val="215549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When this method is being used with matrixes, it works in a similar manner, but the result is not a matrix , but a vector.</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You can use this method to convert a matrix into a vector:</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3172694"/>
            <a:ext cx="9448800" cy="1752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a[a&gt;5]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C0C0C0"/>
                </a:solidFill>
                <a:effectLst/>
                <a:latin typeface="Consolas" panose="020B0609020204030204" pitchFamily="49" charset="0"/>
              </a:rPr>
              <a:t>&gt;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a[a%2==0]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304212" y="3401294"/>
          <a:ext cx="2895600" cy="889000"/>
        </p:xfrm>
        <a:graphic>
          <a:graphicData uri="http://schemas.openxmlformats.org/drawingml/2006/table">
            <a:tbl>
              <a:tblPr firstRow="1" bandRow="1">
                <a:tableStyleId>{073A0DAA-6AF3-43AB-8588-CEC1D06C72B9}</a:tableStyleId>
              </a:tblPr>
              <a:tblGrid>
                <a:gridCol w="2895600">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a[a&gt;5]    =  [6]</a:t>
                      </a:r>
                    </a:p>
                    <a:p>
                      <a:r>
                        <a:rPr lang="pt-BR" dirty="0">
                          <a:solidFill>
                            <a:schemeClr val="tx2"/>
                          </a:solidFill>
                          <a:latin typeface="Consolas" panose="020B0609020204030204" pitchFamily="49" charset="0"/>
                        </a:rPr>
                        <a:t>a[a%2==0] =  [2 4 6]</a:t>
                      </a:r>
                    </a:p>
                  </a:txBody>
                  <a:tcPr/>
                </a:tc>
                <a:extLst>
                  <a:ext uri="{0D108BD9-81ED-4DB2-BD59-A6C34878D82A}">
                    <a16:rowId xmlns:a16="http://schemas.microsoft.com/office/drawing/2014/main" val="4231599274"/>
                  </a:ext>
                </a:extLst>
              </a:tr>
            </a:tbl>
          </a:graphicData>
        </a:graphic>
      </p:graphicFrame>
      <p:sp>
        <p:nvSpPr>
          <p:cNvPr id="8" name="Rectangle 7">
            <a:extLst>
              <a:ext uri="{FF2B5EF4-FFF2-40B4-BE49-F238E27FC236}">
                <a16:creationId xmlns:a16="http://schemas.microsoft.com/office/drawing/2014/main" id="{35ADF17E-5E49-080F-107A-F7E45F4A6EEE}"/>
              </a:ext>
            </a:extLst>
          </p:cNvPr>
          <p:cNvSpPr/>
          <p:nvPr/>
        </p:nvSpPr>
        <p:spPr>
          <a:xfrm>
            <a:off x="1965011" y="5366937"/>
            <a:ext cx="9448800" cy="115855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a[a&gt;0]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a</a:t>
            </a:r>
            <a:r>
              <a:rPr lang="en-US" b="0" dirty="0">
                <a:solidFill>
                  <a:srgbClr val="C0C0C0"/>
                </a:solidFill>
                <a:effectLst/>
                <a:latin typeface="Consolas" panose="020B0609020204030204" pitchFamily="49" charset="0"/>
              </a:rPr>
              <a:t>&gt;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9" name="Table 3">
            <a:extLst>
              <a:ext uri="{FF2B5EF4-FFF2-40B4-BE49-F238E27FC236}">
                <a16:creationId xmlns:a16="http://schemas.microsoft.com/office/drawing/2014/main" id="{38559281-7B52-8C8A-4E65-09A27F116FFB}"/>
              </a:ext>
            </a:extLst>
          </p:cNvPr>
          <p:cNvGraphicFramePr>
            <a:graphicFrameLocks noGrp="1"/>
          </p:cNvGraphicFramePr>
          <p:nvPr/>
        </p:nvGraphicFramePr>
        <p:xfrm>
          <a:off x="8151812" y="5603474"/>
          <a:ext cx="3061652" cy="741680"/>
        </p:xfrm>
        <a:graphic>
          <a:graphicData uri="http://schemas.openxmlformats.org/drawingml/2006/table">
            <a:tbl>
              <a:tblPr firstRow="1" bandRow="1">
                <a:tableStyleId>{073A0DAA-6AF3-43AB-8588-CEC1D06C72B9}</a:tableStyleId>
              </a:tblPr>
              <a:tblGrid>
                <a:gridCol w="3061652">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a[a&gt;0] = [1 2 3 4 5 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97918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You can also use for statement to iterate through a matrix or vector.</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581400"/>
            <a:ext cx="94488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56AA6"/>
                </a:solidFill>
                <a:effectLst/>
                <a:latin typeface="Consolas" panose="020B0609020204030204" pitchFamily="49" charset="0"/>
              </a:rPr>
              <a:t>for</a:t>
            </a:r>
            <a:r>
              <a:rPr lang="en-US" b="0" dirty="0">
                <a:solidFill>
                  <a:srgbClr val="DADADA"/>
                </a:solidFill>
                <a:effectLst/>
                <a:latin typeface="Consolas" panose="020B0609020204030204" pitchFamily="49" charset="0"/>
              </a:rPr>
              <a:t> </a:t>
            </a:r>
            <a:r>
              <a:rPr lang="en-US" b="0" dirty="0" err="1">
                <a:solidFill>
                  <a:srgbClr val="229977"/>
                </a:solidFill>
                <a:effectLst/>
                <a:latin typeface="Consolas" panose="020B0609020204030204" pitchFamily="49" charset="0"/>
              </a:rPr>
              <a:t>i</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in</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i</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9599611" y="3810000"/>
          <a:ext cx="1614801" cy="1742440"/>
        </p:xfrm>
        <a:graphic>
          <a:graphicData uri="http://schemas.openxmlformats.org/drawingml/2006/table">
            <a:tbl>
              <a:tblPr firstRow="1" bandRow="1">
                <a:tableStyleId>{073A0DAA-6AF3-43AB-8588-CEC1D06C72B9}</a:tableStyleId>
              </a:tblPr>
              <a:tblGrid>
                <a:gridCol w="161480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1</a:t>
                      </a:r>
                    </a:p>
                    <a:p>
                      <a:r>
                        <a:rPr lang="pt-BR" dirty="0">
                          <a:solidFill>
                            <a:schemeClr val="tx2"/>
                          </a:solidFill>
                          <a:latin typeface="Consolas" panose="020B0609020204030204" pitchFamily="49" charset="0"/>
                        </a:rPr>
                        <a:t>2</a:t>
                      </a:r>
                    </a:p>
                    <a:p>
                      <a:r>
                        <a:rPr lang="pt-BR" dirty="0">
                          <a:solidFill>
                            <a:schemeClr val="tx2"/>
                          </a:solidFill>
                          <a:latin typeface="Consolas" panose="020B0609020204030204" pitchFamily="49" charset="0"/>
                        </a:rPr>
                        <a:t>3</a:t>
                      </a:r>
                    </a:p>
                    <a:p>
                      <a:r>
                        <a:rPr lang="pt-BR" dirty="0">
                          <a:solidFill>
                            <a:schemeClr val="tx2"/>
                          </a:solidFill>
                          <a:latin typeface="Consolas" panose="020B0609020204030204" pitchFamily="49" charset="0"/>
                        </a:rPr>
                        <a:t>4</a:t>
                      </a:r>
                    </a:p>
                    <a:p>
                      <a:r>
                        <a:rPr lang="pt-BR" dirty="0">
                          <a:solidFill>
                            <a:schemeClr val="tx2"/>
                          </a:solidFill>
                          <a:latin typeface="Consolas" panose="020B0609020204030204" pitchFamily="49" charset="0"/>
                        </a:rPr>
                        <a:t>5</a:t>
                      </a:r>
                    </a:p>
                    <a:p>
                      <a:r>
                        <a:rPr lang="pt-BR" dirty="0">
                          <a:solidFill>
                            <a:schemeClr val="tx2"/>
                          </a:solidFill>
                          <a:latin typeface="Consolas" panose="020B0609020204030204" pitchFamily="49" charset="0"/>
                        </a:rPr>
                        <a:t>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57807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In case of matrixes, the output of one iteration will be a lower dimension matrix or a vector for a bidimensional matrix.</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782294"/>
            <a:ext cx="9448800" cy="14478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56AA6"/>
                </a:solidFill>
                <a:effectLst/>
                <a:latin typeface="Consolas" panose="020B0609020204030204" pitchFamily="49" charset="0"/>
              </a:rPr>
              <a:t>for</a:t>
            </a:r>
            <a:r>
              <a:rPr lang="en-US" b="0" dirty="0">
                <a:solidFill>
                  <a:srgbClr val="DADADA"/>
                </a:solidFill>
                <a:effectLst/>
                <a:latin typeface="Consolas" panose="020B0609020204030204" pitchFamily="49" charset="0"/>
              </a:rPr>
              <a:t> </a:t>
            </a:r>
            <a:r>
              <a:rPr lang="en-US" b="0" dirty="0" err="1">
                <a:solidFill>
                  <a:srgbClr val="229977"/>
                </a:solidFill>
                <a:effectLst/>
                <a:latin typeface="Consolas" panose="020B0609020204030204" pitchFamily="49" charset="0"/>
              </a:rPr>
              <a:t>i</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in</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i</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9599612" y="3876040"/>
          <a:ext cx="1614801" cy="889000"/>
        </p:xfrm>
        <a:graphic>
          <a:graphicData uri="http://schemas.openxmlformats.org/drawingml/2006/table">
            <a:tbl>
              <a:tblPr firstRow="1" bandRow="1">
                <a:tableStyleId>{073A0DAA-6AF3-43AB-8588-CEC1D06C72B9}</a:tableStyleId>
              </a:tblPr>
              <a:tblGrid>
                <a:gridCol w="161480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[1 2 3]</a:t>
                      </a:r>
                    </a:p>
                    <a:p>
                      <a:r>
                        <a:rPr lang="pt-BR" dirty="0">
                          <a:solidFill>
                            <a:schemeClr val="tx2"/>
                          </a:solidFill>
                          <a:latin typeface="Consolas" panose="020B0609020204030204" pitchFamily="49" charset="0"/>
                        </a:rPr>
                        <a:t>[4 5 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8460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r>
              <a:rPr lang="en-US" dirty="0">
                <a:latin typeface="Arial" panose="020B0604020202020204" pitchFamily="34" charset="0"/>
                <a:cs typeface="Arial" panose="020B0604020202020204" pitchFamily="34" charset="0"/>
              </a:rPr>
              <a:t>To iterate through all elements in a matrix use multiple imbricated for statements: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581400"/>
            <a:ext cx="9448800" cy="19812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56AA6"/>
                </a:solidFill>
                <a:effectLst/>
                <a:latin typeface="Consolas" panose="020B0609020204030204" pitchFamily="49" charset="0"/>
              </a:rPr>
              <a:t>for</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row</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in</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a</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for</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element</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in</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row</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row</a:t>
            </a:r>
            <a:r>
              <a:rPr lang="en-US" b="0" dirty="0" err="1">
                <a:solidFill>
                  <a:srgbClr val="B4B4B4"/>
                </a:solidFill>
                <a:effectLst/>
                <a:latin typeface="Consolas" panose="020B0609020204030204" pitchFamily="49" charset="0"/>
              </a:rPr>
              <a:t>,</a:t>
            </a:r>
            <a:r>
              <a:rPr lang="en-US" b="0" dirty="0" err="1">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a:t>
            </a:r>
            <a:r>
              <a:rPr lang="en-US" b="0" dirty="0" err="1">
                <a:solidFill>
                  <a:srgbClr val="E8C9BB"/>
                </a:solidFill>
                <a:effectLst/>
                <a:latin typeface="Consolas" panose="020B0609020204030204" pitchFamily="49" charset="0"/>
              </a:rPr>
              <a:t>"</a:t>
            </a:r>
            <a:r>
              <a:rPr lang="en-US" b="0" dirty="0" err="1">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element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9599612" y="3799840"/>
          <a:ext cx="1614801" cy="1742440"/>
        </p:xfrm>
        <a:graphic>
          <a:graphicData uri="http://schemas.openxmlformats.org/drawingml/2006/table">
            <a:tbl>
              <a:tblPr firstRow="1" bandRow="1">
                <a:tableStyleId>{073A0DAA-6AF3-43AB-8588-CEC1D06C72B9}</a:tableStyleId>
              </a:tblPr>
              <a:tblGrid>
                <a:gridCol w="161480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[1 2 3] : 1</a:t>
                      </a:r>
                    </a:p>
                    <a:p>
                      <a:r>
                        <a:rPr lang="pt-BR" dirty="0">
                          <a:solidFill>
                            <a:schemeClr val="tx2"/>
                          </a:solidFill>
                          <a:latin typeface="Consolas" panose="020B0609020204030204" pitchFamily="49" charset="0"/>
                        </a:rPr>
                        <a:t>[1 2 3] : 2</a:t>
                      </a:r>
                    </a:p>
                    <a:p>
                      <a:r>
                        <a:rPr lang="pt-BR" dirty="0">
                          <a:solidFill>
                            <a:schemeClr val="tx2"/>
                          </a:solidFill>
                          <a:latin typeface="Consolas" panose="020B0609020204030204" pitchFamily="49" charset="0"/>
                        </a:rPr>
                        <a:t>[1 2 3] : 3</a:t>
                      </a:r>
                    </a:p>
                    <a:p>
                      <a:r>
                        <a:rPr lang="pt-BR" dirty="0">
                          <a:solidFill>
                            <a:schemeClr val="tx2"/>
                          </a:solidFill>
                          <a:latin typeface="Consolas" panose="020B0609020204030204" pitchFamily="49" charset="0"/>
                        </a:rPr>
                        <a:t>[4 5 6] : 4</a:t>
                      </a:r>
                    </a:p>
                    <a:p>
                      <a:r>
                        <a:rPr lang="pt-BR" dirty="0">
                          <a:solidFill>
                            <a:schemeClr val="tx2"/>
                          </a:solidFill>
                          <a:latin typeface="Consolas" panose="020B0609020204030204" pitchFamily="49" charset="0"/>
                        </a:rPr>
                        <a:t>[4 5 6] : 5</a:t>
                      </a:r>
                    </a:p>
                    <a:p>
                      <a:r>
                        <a:rPr lang="pt-BR" dirty="0">
                          <a:solidFill>
                            <a:schemeClr val="tx2"/>
                          </a:solidFill>
                          <a:latin typeface="Consolas" panose="020B0609020204030204" pitchFamily="49" charset="0"/>
                        </a:rPr>
                        <a:t>[4 5 6] : 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570233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Operations</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1221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Indexes &amp; Slicing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lnSpcReduction="10000"/>
          </a:bodyPr>
          <a:lstStyle/>
          <a:p>
            <a:r>
              <a:rPr lang="en-US" dirty="0">
                <a:latin typeface="Arial" panose="020B0604020202020204" pitchFamily="34" charset="0"/>
                <a:cs typeface="Arial" panose="020B0604020202020204" pitchFamily="34" charset="0"/>
              </a:rPr>
              <a:t>The following operations are supported by </a:t>
            </a:r>
            <a:r>
              <a:rPr lang="en-US"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a:t>
            </a:r>
          </a:p>
          <a:p>
            <a:pPr lvl="1"/>
            <a:r>
              <a:rPr lang="en-US" b="1" dirty="0">
                <a:latin typeface="Arial" panose="020B0604020202020204" pitchFamily="34" charset="0"/>
                <a:cs typeface="Arial" panose="020B0604020202020204" pitchFamily="34" charset="0"/>
              </a:rPr>
              <a:t>Arithmetic operations </a:t>
            </a:r>
            <a:r>
              <a:rPr lang="en-US" dirty="0">
                <a:latin typeface="Arial" panose="020B0604020202020204" pitchFamily="34" charset="0"/>
                <a:cs typeface="Arial" panose="020B0604020202020204" pitchFamily="34" charset="0"/>
              </a:rPr>
              <a:t>(addition, subtraction, multiplication, division) between arrays of the same shape. The operation are performed element wise and the operation results in a new array of the same shape.</a:t>
            </a:r>
          </a:p>
          <a:p>
            <a:pPr lvl="1"/>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Scalar operations</a:t>
            </a:r>
            <a:r>
              <a:rPr lang="en-US" dirty="0">
                <a:latin typeface="Arial" panose="020B0604020202020204" pitchFamily="34" charset="0"/>
                <a:cs typeface="Arial" panose="020B0604020202020204" pitchFamily="34" charset="0"/>
              </a:rPr>
              <a:t> (also called broadcasting) – addition, subtraction, multiplication and division between an array and a scalar. </a:t>
            </a:r>
          </a:p>
          <a:p>
            <a:pPr lvl="1"/>
            <a:endParaRPr lang="en-US" b="1"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DOT product</a:t>
            </a:r>
          </a:p>
          <a:p>
            <a:pPr lvl="1"/>
            <a:endParaRPr lang="en-US" b="1"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Matrix multiplication</a:t>
            </a:r>
          </a:p>
          <a:p>
            <a:pPr lvl="1"/>
            <a:endParaRPr lang="en-US" b="1"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Transpose matrix</a:t>
            </a:r>
          </a:p>
          <a:p>
            <a:pPr lvl="1"/>
            <a:endParaRPr lang="en-US" b="1"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Statistical operations</a:t>
            </a:r>
            <a:r>
              <a:rPr lang="en-US" dirty="0">
                <a:latin typeface="Arial" panose="020B0604020202020204" pitchFamily="34" charset="0"/>
                <a:cs typeface="Arial" panose="020B0604020202020204" pitchFamily="34" charset="0"/>
              </a:rPr>
              <a:t> (sum, min, max, mean, …)</a:t>
            </a:r>
            <a:endParaRPr lang="en-US" b="1"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643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Example (vector addition):</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(vector addition – different shapes):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97074" y="2295942"/>
            <a:ext cx="9448800" cy="2286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v</a:t>
            </a:r>
            <a:r>
              <a:rPr lang="en-US" b="0" dirty="0" err="1">
                <a:solidFill>
                  <a:srgbClr val="C0C0C0"/>
                </a:solidFill>
                <a:effectLst/>
                <a:latin typeface="Consolas" panose="020B0609020204030204" pitchFamily="49" charset="0"/>
              </a:rPr>
              <a:t>+</a:t>
            </a:r>
            <a:r>
              <a:rPr lang="en-US" b="0" dirty="0" err="1">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dif</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mul</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div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532812" y="2524542"/>
          <a:ext cx="2767541" cy="1315720"/>
        </p:xfrm>
        <a:graphic>
          <a:graphicData uri="http://schemas.openxmlformats.org/drawingml/2006/table">
            <a:tbl>
              <a:tblPr firstRow="1" bandRow="1">
                <a:tableStyleId>{073A0DAA-6AF3-43AB-8588-CEC1D06C72B9}</a:tableStyleId>
              </a:tblPr>
              <a:tblGrid>
                <a:gridCol w="27675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sum =  [11 22 33]</a:t>
                      </a:r>
                    </a:p>
                    <a:p>
                      <a:r>
                        <a:rPr lang="pt-BR" dirty="0">
                          <a:solidFill>
                            <a:schemeClr val="tx2"/>
                          </a:solidFill>
                          <a:latin typeface="Consolas" panose="020B0609020204030204" pitchFamily="49" charset="0"/>
                        </a:rPr>
                        <a:t>dif =  [ 9 18 27]</a:t>
                      </a:r>
                    </a:p>
                    <a:p>
                      <a:r>
                        <a:rPr lang="pt-BR" dirty="0">
                          <a:solidFill>
                            <a:schemeClr val="tx2"/>
                          </a:solidFill>
                          <a:latin typeface="Consolas" panose="020B0609020204030204" pitchFamily="49" charset="0"/>
                        </a:rPr>
                        <a:t>mul =  [10 40 90]</a:t>
                      </a:r>
                    </a:p>
                    <a:p>
                      <a:r>
                        <a:rPr lang="pt-BR" dirty="0">
                          <a:solidFill>
                            <a:schemeClr val="tx2"/>
                          </a:solidFill>
                          <a:latin typeface="Consolas" panose="020B0609020204030204" pitchFamily="49" charset="0"/>
                        </a:rPr>
                        <a:t>div =  [10. 10. 10.]</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C30A00A7-B77C-8F34-F84E-5E0CF6BE6733}"/>
              </a:ext>
            </a:extLst>
          </p:cNvPr>
          <p:cNvSpPr/>
          <p:nvPr/>
        </p:nvSpPr>
        <p:spPr>
          <a:xfrm>
            <a:off x="2006916" y="5115342"/>
            <a:ext cx="9448800" cy="1371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s-ES" b="0" dirty="0">
                <a:solidFill>
                  <a:srgbClr val="229977"/>
                </a:solidFill>
                <a:effectLst/>
                <a:latin typeface="Consolas" panose="020B0609020204030204" pitchFamily="49" charset="0"/>
              </a:rPr>
              <a:t>u</a:t>
            </a:r>
            <a:r>
              <a:rPr lang="es-ES" b="0" dirty="0">
                <a:solidFill>
                  <a:srgbClr val="DADADA"/>
                </a:solidFill>
                <a:effectLst/>
                <a:latin typeface="Consolas" panose="020B0609020204030204" pitchFamily="49" charset="0"/>
              </a:rPr>
              <a:t> </a:t>
            </a:r>
            <a:r>
              <a:rPr lang="es-ES" b="0" dirty="0">
                <a:solidFill>
                  <a:srgbClr val="C0C0C0"/>
                </a:solidFill>
                <a:effectLst/>
                <a:latin typeface="Consolas" panose="020B0609020204030204" pitchFamily="49" charset="0"/>
              </a:rPr>
              <a:t>=</a:t>
            </a:r>
            <a:r>
              <a:rPr lang="es-ES" b="0" dirty="0">
                <a:solidFill>
                  <a:srgbClr val="DADADA"/>
                </a:solidFill>
                <a:effectLst/>
                <a:latin typeface="Consolas" panose="020B0609020204030204" pitchFamily="49" charset="0"/>
              </a:rPr>
              <a:t> </a:t>
            </a:r>
            <a:r>
              <a:rPr lang="es-ES" b="0" dirty="0" err="1">
                <a:solidFill>
                  <a:srgbClr val="C8C8C8"/>
                </a:solidFill>
                <a:effectLst/>
                <a:latin typeface="Consolas" panose="020B0609020204030204" pitchFamily="49" charset="0"/>
              </a:rPr>
              <a:t>np</a:t>
            </a:r>
            <a:r>
              <a:rPr lang="es-ES" b="0" dirty="0" err="1">
                <a:solidFill>
                  <a:srgbClr val="B4B4B4"/>
                </a:solidFill>
                <a:effectLst/>
                <a:latin typeface="Consolas" panose="020B0609020204030204" pitchFamily="49" charset="0"/>
              </a:rPr>
              <a:t>.</a:t>
            </a:r>
            <a:r>
              <a:rPr lang="es-ES" b="0" dirty="0" err="1">
                <a:solidFill>
                  <a:srgbClr val="A7A774"/>
                </a:solidFill>
                <a:effectLst/>
                <a:latin typeface="Consolas" panose="020B0609020204030204" pitchFamily="49" charset="0"/>
              </a:rPr>
              <a:t>array</a:t>
            </a:r>
            <a:r>
              <a:rPr lang="es-ES" b="0" dirty="0">
                <a:solidFill>
                  <a:srgbClr val="B4B4B4"/>
                </a:solidFill>
                <a:effectLst/>
                <a:latin typeface="Consolas" panose="020B0609020204030204" pitchFamily="49" charset="0"/>
              </a:rPr>
              <a:t>([</a:t>
            </a:r>
            <a:r>
              <a:rPr lang="es-ES" b="0" dirty="0">
                <a:solidFill>
                  <a:srgbClr val="E0EBB2"/>
                </a:solidFill>
                <a:effectLst/>
                <a:latin typeface="Consolas" panose="020B0609020204030204" pitchFamily="49" charset="0"/>
              </a:rPr>
              <a:t>10</a:t>
            </a:r>
            <a:r>
              <a:rPr lang="es-ES" b="0" dirty="0">
                <a:solidFill>
                  <a:srgbClr val="B4B4B4"/>
                </a:solidFill>
                <a:effectLst/>
                <a:latin typeface="Consolas" panose="020B0609020204030204" pitchFamily="49" charset="0"/>
              </a:rPr>
              <a:t>,</a:t>
            </a:r>
            <a:r>
              <a:rPr lang="es-ES" b="0" dirty="0">
                <a:solidFill>
                  <a:srgbClr val="E0EBB2"/>
                </a:solidFill>
                <a:effectLst/>
                <a:latin typeface="Consolas" panose="020B0609020204030204" pitchFamily="49" charset="0"/>
              </a:rPr>
              <a:t>20</a:t>
            </a:r>
            <a:r>
              <a:rPr lang="es-ES" b="0" dirty="0">
                <a:solidFill>
                  <a:srgbClr val="B4B4B4"/>
                </a:solidFill>
                <a:effectLst/>
                <a:latin typeface="Consolas" panose="020B0609020204030204" pitchFamily="49" charset="0"/>
              </a:rPr>
              <a:t>,</a:t>
            </a:r>
            <a:r>
              <a:rPr lang="es-ES" b="0" dirty="0">
                <a:solidFill>
                  <a:srgbClr val="E0EBB2"/>
                </a:solidFill>
                <a:effectLst/>
                <a:latin typeface="Consolas" panose="020B0609020204030204" pitchFamily="49" charset="0"/>
              </a:rPr>
              <a:t>30</a:t>
            </a:r>
            <a:r>
              <a:rPr lang="es-ES" b="0" dirty="0">
                <a:solidFill>
                  <a:srgbClr val="B4B4B4"/>
                </a:solidFill>
                <a:effectLst/>
                <a:latin typeface="Consolas" panose="020B0609020204030204" pitchFamily="49" charset="0"/>
              </a:rPr>
              <a:t>,</a:t>
            </a:r>
            <a:r>
              <a:rPr lang="es-ES" b="0" dirty="0">
                <a:solidFill>
                  <a:srgbClr val="E0EBB2"/>
                </a:solidFill>
                <a:effectLst/>
                <a:latin typeface="Consolas" panose="020B0609020204030204" pitchFamily="49" charset="0"/>
              </a:rPr>
              <a:t>40</a:t>
            </a:r>
            <a:r>
              <a:rPr lang="es-ES" b="0" dirty="0">
                <a:solidFill>
                  <a:srgbClr val="B4B4B4"/>
                </a:solidFill>
                <a:effectLst/>
                <a:latin typeface="Consolas" panose="020B0609020204030204" pitchFamily="49" charset="0"/>
              </a:rPr>
              <a:t>])</a:t>
            </a:r>
            <a:endParaRPr lang="es-E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v</a:t>
            </a:r>
            <a:r>
              <a:rPr lang="en-US" b="0" dirty="0" err="1">
                <a:solidFill>
                  <a:srgbClr val="C0C0C0"/>
                </a:solidFill>
                <a:effectLst/>
                <a:latin typeface="Consolas" panose="020B0609020204030204" pitchFamily="49" charset="0"/>
              </a:rPr>
              <a:t>+</a:t>
            </a:r>
            <a:r>
              <a:rPr lang="en-US" b="0" dirty="0" err="1">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07E3FE69-D519-44DF-4392-51CA6DDC9F28}"/>
              </a:ext>
            </a:extLst>
          </p:cNvPr>
          <p:cNvGraphicFramePr>
            <a:graphicFrameLocks noGrp="1"/>
          </p:cNvGraphicFramePr>
          <p:nvPr/>
        </p:nvGraphicFramePr>
        <p:xfrm>
          <a:off x="5942012" y="5191542"/>
          <a:ext cx="5791200" cy="1529080"/>
        </p:xfrm>
        <a:graphic>
          <a:graphicData uri="http://schemas.openxmlformats.org/drawingml/2006/table">
            <a:tbl>
              <a:tblPr firstRow="1" bandRow="1">
                <a:tableStyleId>{2A488322-F2BA-4B5B-9748-0D474271808F}</a:tableStyleId>
              </a:tblPr>
              <a:tblGrid>
                <a:gridCol w="5791200">
                  <a:extLst>
                    <a:ext uri="{9D8B030D-6E8A-4147-A177-3AD203B41FA5}">
                      <a16:colId xmlns:a16="http://schemas.microsoft.com/office/drawing/2014/main" val="3899577134"/>
                    </a:ext>
                  </a:extLst>
                </a:gridCol>
              </a:tblGrid>
              <a:tr h="370840">
                <a:tc>
                  <a:txBody>
                    <a:bodyPr/>
                    <a:lstStyle/>
                    <a:p>
                      <a:r>
                        <a:rPr lang="en-US"/>
                        <a:t>Error</a:t>
                      </a:r>
                      <a:endParaRPr lang="en-US" dirty="0"/>
                    </a:p>
                  </a:txBody>
                  <a:tcPr/>
                </a:tc>
                <a:extLst>
                  <a:ext uri="{0D108BD9-81ED-4DB2-BD59-A6C34878D82A}">
                    <a16:rowId xmlns:a16="http://schemas.microsoft.com/office/drawing/2014/main" val="117988312"/>
                  </a:ext>
                </a:extLst>
              </a:tr>
              <a:tr h="370840">
                <a:tc>
                  <a:txBody>
                    <a:bodyPr/>
                    <a:lstStyle/>
                    <a:p>
                      <a:r>
                        <a:rPr lang="en-US" dirty="0">
                          <a:solidFill>
                            <a:schemeClr val="tx2"/>
                          </a:solidFill>
                        </a:rPr>
                        <a:t>Traceback (most recent call last):</a:t>
                      </a:r>
                    </a:p>
                    <a:p>
                      <a:r>
                        <a:rPr lang="en-US" dirty="0">
                          <a:solidFill>
                            <a:schemeClr val="tx2"/>
                          </a:solidFill>
                        </a:rPr>
                        <a:t>  File "E:\Lucru\RN\teste\a.py", line 5, in &lt;module&gt;</a:t>
                      </a:r>
                    </a:p>
                    <a:p>
                      <a:r>
                        <a:rPr lang="en-US" dirty="0">
                          <a:solidFill>
                            <a:schemeClr val="tx2"/>
                          </a:solidFill>
                        </a:rPr>
                        <a:t>    print("sum = ",</a:t>
                      </a:r>
                      <a:r>
                        <a:rPr lang="en-US" dirty="0" err="1">
                          <a:solidFill>
                            <a:schemeClr val="tx2"/>
                          </a:solidFill>
                        </a:rPr>
                        <a:t>v+u</a:t>
                      </a:r>
                      <a:r>
                        <a:rPr lang="en-US" dirty="0">
                          <a:solidFill>
                            <a:schemeClr val="tx2"/>
                          </a:solidFill>
                        </a:rPr>
                        <a:t>)</a:t>
                      </a:r>
                    </a:p>
                    <a:p>
                      <a:r>
                        <a:rPr lang="en-US" dirty="0" err="1">
                          <a:solidFill>
                            <a:schemeClr val="tx2"/>
                          </a:solidFill>
                        </a:rPr>
                        <a:t>ValueError</a:t>
                      </a:r>
                      <a:r>
                        <a:rPr lang="en-US" dirty="0">
                          <a:solidFill>
                            <a:schemeClr val="tx2"/>
                          </a:solidFill>
                        </a:rPr>
                        <a:t>: operands could not be broadcast together with shapes (3,) (4,) </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652539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Example (matrix addition):</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(matrix addition – different shapes):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97074" y="2315818"/>
            <a:ext cx="9448800" cy="2286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v</a:t>
            </a:r>
            <a:r>
              <a:rPr lang="en-US" b="0" dirty="0" err="1">
                <a:solidFill>
                  <a:srgbClr val="C0C0C0"/>
                </a:solidFill>
                <a:effectLst/>
                <a:latin typeface="Consolas" panose="020B0609020204030204" pitchFamily="49" charset="0"/>
              </a:rPr>
              <a:t>+</a:t>
            </a:r>
            <a:r>
              <a:rPr lang="en-US" b="0" dirty="0" err="1">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dif</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mul</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div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770812" y="1630018"/>
          <a:ext cx="3453341" cy="2169160"/>
        </p:xfrm>
        <a:graphic>
          <a:graphicData uri="http://schemas.openxmlformats.org/drawingml/2006/table">
            <a:tbl>
              <a:tblPr firstRow="1" bandRow="1">
                <a:tableStyleId>{073A0DAA-6AF3-43AB-8588-CEC1D06C72B9}</a:tableStyleId>
              </a:tblPr>
              <a:tblGrid>
                <a:gridCol w="34533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sum =  [[11 22 33]</a:t>
                      </a:r>
                    </a:p>
                    <a:p>
                      <a:r>
                        <a:rPr lang="pt-BR" dirty="0">
                          <a:solidFill>
                            <a:schemeClr val="tx2"/>
                          </a:solidFill>
                          <a:latin typeface="Consolas" panose="020B0609020204030204" pitchFamily="49" charset="0"/>
                        </a:rPr>
                        <a:t>        [44 55 66]]</a:t>
                      </a:r>
                    </a:p>
                    <a:p>
                      <a:r>
                        <a:rPr lang="pt-BR" dirty="0">
                          <a:solidFill>
                            <a:schemeClr val="tx2"/>
                          </a:solidFill>
                          <a:latin typeface="Consolas" panose="020B0609020204030204" pitchFamily="49" charset="0"/>
                        </a:rPr>
                        <a:t>dif =  [[ 9 18 27]</a:t>
                      </a:r>
                    </a:p>
                    <a:p>
                      <a:r>
                        <a:rPr lang="pt-BR" dirty="0">
                          <a:solidFill>
                            <a:schemeClr val="tx2"/>
                          </a:solidFill>
                          <a:latin typeface="Consolas" panose="020B0609020204030204" pitchFamily="49" charset="0"/>
                        </a:rPr>
                        <a:t>        [36 45 54]]</a:t>
                      </a:r>
                    </a:p>
                    <a:p>
                      <a:r>
                        <a:rPr lang="pt-BR" dirty="0">
                          <a:solidFill>
                            <a:schemeClr val="tx2"/>
                          </a:solidFill>
                          <a:latin typeface="Consolas" panose="020B0609020204030204" pitchFamily="49" charset="0"/>
                        </a:rPr>
                        <a:t>mul =  [[ 10  40  90]</a:t>
                      </a:r>
                    </a:p>
                    <a:p>
                      <a:r>
                        <a:rPr lang="pt-BR" dirty="0">
                          <a:solidFill>
                            <a:schemeClr val="tx2"/>
                          </a:solidFill>
                          <a:latin typeface="Consolas" panose="020B0609020204030204" pitchFamily="49" charset="0"/>
                        </a:rPr>
                        <a:t>        [160 250 360]]</a:t>
                      </a:r>
                    </a:p>
                    <a:p>
                      <a:r>
                        <a:rPr lang="pt-BR" dirty="0">
                          <a:solidFill>
                            <a:schemeClr val="tx2"/>
                          </a:solidFill>
                          <a:latin typeface="Consolas" panose="020B0609020204030204" pitchFamily="49" charset="0"/>
                        </a:rPr>
                        <a:t>div =  [[10. 10. 10.]</a:t>
                      </a:r>
                    </a:p>
                    <a:p>
                      <a:r>
                        <a:rPr lang="pt-BR" dirty="0">
                          <a:solidFill>
                            <a:schemeClr val="tx2"/>
                          </a:solidFill>
                          <a:latin typeface="Consolas" panose="020B0609020204030204" pitchFamily="49" charset="0"/>
                        </a:rPr>
                        <a:t>        [10. 10. 10.]]</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C30A00A7-B77C-8F34-F84E-5E0CF6BE6733}"/>
              </a:ext>
            </a:extLst>
          </p:cNvPr>
          <p:cNvSpPr/>
          <p:nvPr/>
        </p:nvSpPr>
        <p:spPr>
          <a:xfrm>
            <a:off x="2006916" y="5135218"/>
            <a:ext cx="9448800" cy="1371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v</a:t>
            </a:r>
            <a:r>
              <a:rPr lang="en-US" b="0" dirty="0" err="1">
                <a:solidFill>
                  <a:srgbClr val="C0C0C0"/>
                </a:solidFill>
                <a:effectLst/>
                <a:latin typeface="Consolas" panose="020B0609020204030204" pitchFamily="49" charset="0"/>
              </a:rPr>
              <a:t>+</a:t>
            </a:r>
            <a:r>
              <a:rPr lang="en-US" b="0" dirty="0" err="1">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7" name="Table 3">
            <a:extLst>
              <a:ext uri="{FF2B5EF4-FFF2-40B4-BE49-F238E27FC236}">
                <a16:creationId xmlns:a16="http://schemas.microsoft.com/office/drawing/2014/main" id="{07E3FE69-D519-44DF-4392-51CA6DDC9F28}"/>
              </a:ext>
            </a:extLst>
          </p:cNvPr>
          <p:cNvGraphicFramePr>
            <a:graphicFrameLocks noGrp="1"/>
          </p:cNvGraphicFramePr>
          <p:nvPr/>
        </p:nvGraphicFramePr>
        <p:xfrm>
          <a:off x="6094411" y="5211418"/>
          <a:ext cx="5695305" cy="1529080"/>
        </p:xfrm>
        <a:graphic>
          <a:graphicData uri="http://schemas.openxmlformats.org/drawingml/2006/table">
            <a:tbl>
              <a:tblPr firstRow="1" bandRow="1">
                <a:tableStyleId>{2A488322-F2BA-4B5B-9748-0D474271808F}</a:tableStyleId>
              </a:tblPr>
              <a:tblGrid>
                <a:gridCol w="5695305">
                  <a:extLst>
                    <a:ext uri="{9D8B030D-6E8A-4147-A177-3AD203B41FA5}">
                      <a16:colId xmlns:a16="http://schemas.microsoft.com/office/drawing/2014/main" val="3899577134"/>
                    </a:ext>
                  </a:extLst>
                </a:gridCol>
              </a:tblGrid>
              <a:tr h="370840">
                <a:tc>
                  <a:txBody>
                    <a:bodyPr/>
                    <a:lstStyle/>
                    <a:p>
                      <a:r>
                        <a:rPr lang="en-US"/>
                        <a:t>Error</a:t>
                      </a:r>
                      <a:endParaRPr lang="en-US" dirty="0"/>
                    </a:p>
                  </a:txBody>
                  <a:tcPr/>
                </a:tc>
                <a:extLst>
                  <a:ext uri="{0D108BD9-81ED-4DB2-BD59-A6C34878D82A}">
                    <a16:rowId xmlns:a16="http://schemas.microsoft.com/office/drawing/2014/main" val="117988312"/>
                  </a:ext>
                </a:extLst>
              </a:tr>
              <a:tr h="370840">
                <a:tc>
                  <a:txBody>
                    <a:bodyPr/>
                    <a:lstStyle/>
                    <a:p>
                      <a:r>
                        <a:rPr lang="en-US" dirty="0">
                          <a:solidFill>
                            <a:schemeClr val="tx2"/>
                          </a:solidFill>
                        </a:rPr>
                        <a:t>Traceback (most recent call last):</a:t>
                      </a:r>
                    </a:p>
                    <a:p>
                      <a:r>
                        <a:rPr lang="en-US" dirty="0">
                          <a:solidFill>
                            <a:schemeClr val="tx2"/>
                          </a:solidFill>
                        </a:rPr>
                        <a:t>  File "E:\Lucru\RN\teste\a.py", line 5, in &lt;module&gt;</a:t>
                      </a:r>
                    </a:p>
                    <a:p>
                      <a:r>
                        <a:rPr lang="en-US" dirty="0">
                          <a:solidFill>
                            <a:schemeClr val="tx2"/>
                          </a:solidFill>
                        </a:rPr>
                        <a:t>    print("sum = ",</a:t>
                      </a:r>
                      <a:r>
                        <a:rPr lang="en-US" dirty="0" err="1">
                          <a:solidFill>
                            <a:schemeClr val="tx2"/>
                          </a:solidFill>
                        </a:rPr>
                        <a:t>v+u</a:t>
                      </a:r>
                      <a:r>
                        <a:rPr lang="en-US" dirty="0">
                          <a:solidFill>
                            <a:schemeClr val="tx2"/>
                          </a:solidFill>
                        </a:rPr>
                        <a:t>)</a:t>
                      </a:r>
                    </a:p>
                    <a:p>
                      <a:r>
                        <a:rPr lang="en-US" dirty="0" err="1">
                          <a:solidFill>
                            <a:schemeClr val="tx2"/>
                          </a:solidFill>
                        </a:rPr>
                        <a:t>ValueError</a:t>
                      </a:r>
                      <a:r>
                        <a:rPr lang="en-US" dirty="0">
                          <a:solidFill>
                            <a:schemeClr val="tx2"/>
                          </a:solidFill>
                        </a:rPr>
                        <a:t>: operands could not be broadcast together with shapes (2,3) (2,2) </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65775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Arithmetic operations create a new array. This can impact the overall performance and memory. If a new array is not needed, but instead it is possible to perform the operation directly over an existing array, you can use operators such as ‘</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 ‘</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 ‘</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(matrix addition – different shapes):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2008504" y="4876800"/>
            <a:ext cx="9448800" cy="1676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V </a:t>
            </a:r>
            <a:r>
              <a:rPr lang="en-US" b="0" dirty="0">
                <a:solidFill>
                  <a:srgbClr val="C0C0C0"/>
                </a:solidFill>
                <a:effectLst/>
                <a:latin typeface="Consolas" panose="020B0609020204030204" pitchFamily="49" charset="0"/>
              </a:rPr>
              <a:t>+= </a:t>
            </a:r>
            <a:r>
              <a:rPr lang="en-US" b="0" dirty="0">
                <a:solidFill>
                  <a:srgbClr val="229977"/>
                </a:solidFill>
                <a:effectLst/>
                <a:latin typeface="Consolas" panose="020B0609020204030204" pitchFamily="49" charset="0"/>
              </a:rPr>
              <a:t>u</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609012" y="5029200"/>
          <a:ext cx="2691341" cy="822960"/>
        </p:xfrm>
        <a:graphic>
          <a:graphicData uri="http://schemas.openxmlformats.org/drawingml/2006/table">
            <a:tbl>
              <a:tblPr firstRow="1" bandRow="1">
                <a:tableStyleId>{073A0DAA-6AF3-43AB-8588-CEC1D06C72B9}</a:tableStyleId>
              </a:tblPr>
              <a:tblGrid>
                <a:gridCol w="269134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sum =  [[11 22 33]</a:t>
                      </a:r>
                    </a:p>
                    <a:p>
                      <a:r>
                        <a:rPr lang="pt-BR" dirty="0">
                          <a:solidFill>
                            <a:schemeClr val="tx2"/>
                          </a:solidFill>
                          <a:latin typeface="Consolas" panose="020B0609020204030204" pitchFamily="49" charset="0"/>
                        </a:rPr>
                        <a:t>        [44 55 66]]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986042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Operations between a matrix and a scalar are performed elementwise (for each element in the matrix, the scalar operation is being performed). The result is a new matrix with the same shape as the original one. It is also possible to compute this changes in place via </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operators.</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4191000"/>
            <a:ext cx="94488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m</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add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m</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sub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m</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mul</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m</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div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m</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542212" y="3931920"/>
          <a:ext cx="3758141" cy="2103120"/>
        </p:xfrm>
        <a:graphic>
          <a:graphicData uri="http://schemas.openxmlformats.org/drawingml/2006/table">
            <a:tbl>
              <a:tblPr firstRow="1" bandRow="1">
                <a:tableStyleId>{073A0DAA-6AF3-43AB-8588-CEC1D06C72B9}</a:tableStyleId>
              </a:tblPr>
              <a:tblGrid>
                <a:gridCol w="375814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add =  [[3 4 5]</a:t>
                      </a:r>
                    </a:p>
                    <a:p>
                      <a:r>
                        <a:rPr lang="en-US" dirty="0">
                          <a:solidFill>
                            <a:schemeClr val="tx2"/>
                          </a:solidFill>
                          <a:latin typeface="Consolas" panose="020B0609020204030204" pitchFamily="49" charset="0"/>
                        </a:rPr>
                        <a:t>        [6 7 8]]</a:t>
                      </a:r>
                    </a:p>
                    <a:p>
                      <a:r>
                        <a:rPr lang="en-US" dirty="0">
                          <a:solidFill>
                            <a:schemeClr val="tx2"/>
                          </a:solidFill>
                          <a:latin typeface="Consolas" panose="020B0609020204030204" pitchFamily="49" charset="0"/>
                        </a:rPr>
                        <a:t>sub =  [[0 1 2]</a:t>
                      </a:r>
                    </a:p>
                    <a:p>
                      <a:r>
                        <a:rPr lang="en-US" dirty="0">
                          <a:solidFill>
                            <a:schemeClr val="tx2"/>
                          </a:solidFill>
                          <a:latin typeface="Consolas" panose="020B0609020204030204" pitchFamily="49" charset="0"/>
                        </a:rPr>
                        <a:t>        [3 4 5]]</a:t>
                      </a:r>
                    </a:p>
                    <a:p>
                      <a:r>
                        <a:rPr lang="en-US" dirty="0" err="1">
                          <a:solidFill>
                            <a:schemeClr val="tx2"/>
                          </a:solidFill>
                          <a:latin typeface="Consolas" panose="020B0609020204030204" pitchFamily="49" charset="0"/>
                        </a:rPr>
                        <a:t>mul</a:t>
                      </a:r>
                      <a:r>
                        <a:rPr lang="en-US" dirty="0">
                          <a:solidFill>
                            <a:schemeClr val="tx2"/>
                          </a:solidFill>
                          <a:latin typeface="Consolas" panose="020B0609020204030204" pitchFamily="49" charset="0"/>
                        </a:rPr>
                        <a:t> =  [[ 2  4  6]</a:t>
                      </a:r>
                    </a:p>
                    <a:p>
                      <a:r>
                        <a:rPr lang="en-US" dirty="0">
                          <a:solidFill>
                            <a:schemeClr val="tx2"/>
                          </a:solidFill>
                          <a:latin typeface="Consolas" panose="020B0609020204030204" pitchFamily="49" charset="0"/>
                        </a:rPr>
                        <a:t>        [ 8 10 12]]</a:t>
                      </a:r>
                    </a:p>
                    <a:p>
                      <a:r>
                        <a:rPr lang="en-US" dirty="0">
                          <a:solidFill>
                            <a:schemeClr val="tx2"/>
                          </a:solidFill>
                          <a:latin typeface="Consolas" panose="020B0609020204030204" pitchFamily="49" charset="0"/>
                        </a:rPr>
                        <a:t>div =  [[0.5 1.  1.5]</a:t>
                      </a:r>
                    </a:p>
                    <a:p>
                      <a:r>
                        <a:rPr lang="en-US" dirty="0">
                          <a:solidFill>
                            <a:schemeClr val="tx2"/>
                          </a:solidFill>
                          <a:latin typeface="Consolas" panose="020B0609020204030204" pitchFamily="49" charset="0"/>
                        </a:rPr>
                        <a:t>        [2.  2.5 3. ]]</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87946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Dot product can be computed using </a:t>
            </a:r>
            <a:r>
              <a:rPr lang="en-US" dirty="0">
                <a:highlight>
                  <a:srgbClr val="C0C0C0"/>
                </a:highlight>
                <a:latin typeface="Arial" panose="020B0604020202020204" pitchFamily="34" charset="0"/>
                <a:cs typeface="Arial" panose="020B0604020202020204" pitchFamily="34" charset="0"/>
              </a:rPr>
              <a:t>.dot()</a:t>
            </a:r>
            <a:r>
              <a:rPr lang="en-US" dirty="0">
                <a:latin typeface="Arial" panose="020B0604020202020204" pitchFamily="34" charset="0"/>
                <a:cs typeface="Arial" panose="020B0604020202020204" pitchFamily="34" charset="0"/>
              </a:rPr>
              <a:t> method</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170237"/>
            <a:ext cx="9448800" cy="1676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dot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dot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9599612" y="3276600"/>
          <a:ext cx="1624541" cy="675640"/>
        </p:xfrm>
        <a:graphic>
          <a:graphicData uri="http://schemas.openxmlformats.org/drawingml/2006/table">
            <a:tbl>
              <a:tblPr firstRow="1" bandRow="1">
                <a:tableStyleId>{073A0DAA-6AF3-43AB-8588-CEC1D06C72B9}</a:tableStyleId>
              </a:tblPr>
              <a:tblGrid>
                <a:gridCol w="162454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pt-BR" dirty="0">
                          <a:solidFill>
                            <a:schemeClr val="tx2"/>
                          </a:solidFill>
                          <a:latin typeface="Consolas" panose="020B0609020204030204" pitchFamily="49" charset="0"/>
                        </a:rPr>
                        <a:t>Dot = 32</a:t>
                      </a:r>
                    </a:p>
                  </a:txBody>
                  <a:tcPr/>
                </a:tc>
                <a:extLst>
                  <a:ext uri="{0D108BD9-81ED-4DB2-BD59-A6C34878D82A}">
                    <a16:rowId xmlns:a16="http://schemas.microsoft.com/office/drawing/2014/main" val="4231599274"/>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9BB48FC-AF43-15B7-4BD6-F9D8E6358E92}"/>
                  </a:ext>
                </a:extLst>
              </p:cNvPr>
              <p:cNvSpPr txBox="1"/>
              <p:nvPr/>
            </p:nvSpPr>
            <p:spPr>
              <a:xfrm>
                <a:off x="1624973" y="5181600"/>
                <a:ext cx="9834976" cy="824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𝑣</m:t>
                      </m:r>
                      <m:r>
                        <a:rPr lang="en-US" sz="1800" b="0" i="1" smtClean="0">
                          <a:solidFill>
                            <a:schemeClr val="bg1"/>
                          </a:solidFill>
                          <a:latin typeface="Cambria Math" panose="02040503050406030204" pitchFamily="18" charset="0"/>
                        </a:rPr>
                        <m:t>= </m:t>
                      </m:r>
                      <m:d>
                        <m:dPr>
                          <m:begChr m:val="["/>
                          <m:endChr m:val="]"/>
                          <m:ctrlPr>
                            <a:rPr lang="en-US" sz="1800" i="1" smtClean="0">
                              <a:solidFill>
                                <a:schemeClr val="bg1"/>
                              </a:solidFill>
                              <a:latin typeface="Cambria Math" panose="02040503050406030204" pitchFamily="18" charset="0"/>
                            </a:rPr>
                          </m:ctrlPr>
                        </m:dPr>
                        <m:e>
                          <m:eqArr>
                            <m:eqArrPr>
                              <m:ctrlPr>
                                <a:rPr lang="en-US" sz="1800" b="0" i="1" smtClean="0">
                                  <a:solidFill>
                                    <a:schemeClr val="bg1"/>
                                  </a:solidFill>
                                  <a:latin typeface="Cambria Math" panose="02040503050406030204" pitchFamily="18" charset="0"/>
                                </a:rPr>
                              </m:ctrlPr>
                            </m:eqArrPr>
                            <m:e>
                              <m:r>
                                <a:rPr lang="en-US" sz="1800" b="0" i="1" smtClean="0">
                                  <a:solidFill>
                                    <a:schemeClr val="bg1"/>
                                  </a:solidFill>
                                  <a:latin typeface="Cambria Math" panose="02040503050406030204" pitchFamily="18" charset="0"/>
                                </a:rPr>
                                <m:t>1</m:t>
                              </m:r>
                            </m:e>
                            <m:e>
                              <m:r>
                                <a:rPr lang="en-US" sz="1800" b="0" i="1" smtClean="0">
                                  <a:solidFill>
                                    <a:schemeClr val="bg1"/>
                                  </a:solidFill>
                                  <a:latin typeface="Cambria Math" panose="02040503050406030204" pitchFamily="18" charset="0"/>
                                </a:rPr>
                                <m:t>2</m:t>
                              </m:r>
                            </m:e>
                            <m:e>
                              <m:r>
                                <a:rPr lang="en-US" sz="1800" b="0" i="1" smtClean="0">
                                  <a:solidFill>
                                    <a:schemeClr val="bg1"/>
                                  </a:solidFill>
                                  <a:latin typeface="Cambria Math" panose="02040503050406030204" pitchFamily="18" charset="0"/>
                                </a:rPr>
                                <m:t>3</m:t>
                              </m:r>
                            </m:e>
                          </m:eqArr>
                        </m:e>
                      </m:d>
                      <m:r>
                        <a:rPr lang="en-US" sz="1800" b="0" i="1" smtClean="0">
                          <a:solidFill>
                            <a:schemeClr val="bg1"/>
                          </a:solidFill>
                          <a:latin typeface="Cambria Math" panose="02040503050406030204" pitchFamily="18" charset="0"/>
                        </a:rPr>
                        <m:t>,</m:t>
                      </m:r>
                      <m:r>
                        <a:rPr lang="en-US" sz="1800" b="0" i="1" smtClean="0">
                          <a:solidFill>
                            <a:schemeClr val="bg1"/>
                          </a:solidFill>
                          <a:latin typeface="Cambria Math" panose="02040503050406030204" pitchFamily="18" charset="0"/>
                        </a:rPr>
                        <m:t>𝑢</m:t>
                      </m:r>
                      <m:r>
                        <a:rPr lang="en-US" sz="1800" i="1">
                          <a:solidFill>
                            <a:schemeClr val="bg1"/>
                          </a:solidFill>
                          <a:latin typeface="Cambria Math" panose="02040503050406030204" pitchFamily="18" charset="0"/>
                        </a:rPr>
                        <m:t>= </m:t>
                      </m:r>
                      <m:d>
                        <m:dPr>
                          <m:begChr m:val="["/>
                          <m:endChr m:val="]"/>
                          <m:ctrlPr>
                            <a:rPr lang="en-US" sz="1800" i="1">
                              <a:solidFill>
                                <a:schemeClr val="bg1"/>
                              </a:solidFill>
                              <a:latin typeface="Cambria Math" panose="02040503050406030204" pitchFamily="18" charset="0"/>
                            </a:rPr>
                          </m:ctrlPr>
                        </m:dPr>
                        <m:e>
                          <m:eqArr>
                            <m:eqArrPr>
                              <m:ctrlPr>
                                <a:rPr lang="en-US" sz="1800" b="0" i="1" smtClean="0">
                                  <a:solidFill>
                                    <a:schemeClr val="bg1"/>
                                  </a:solidFill>
                                  <a:latin typeface="Cambria Math" panose="02040503050406030204" pitchFamily="18" charset="0"/>
                                </a:rPr>
                              </m:ctrlPr>
                            </m:eqArrPr>
                            <m:e>
                              <m:r>
                                <a:rPr lang="en-US" sz="1800" b="0" i="1" smtClean="0">
                                  <a:solidFill>
                                    <a:schemeClr val="bg1"/>
                                  </a:solidFill>
                                  <a:latin typeface="Cambria Math" panose="02040503050406030204" pitchFamily="18" charset="0"/>
                                </a:rPr>
                                <m:t>4</m:t>
                              </m:r>
                            </m:e>
                            <m:e>
                              <m:r>
                                <a:rPr lang="en-US" sz="1800" b="0" i="1" smtClean="0">
                                  <a:solidFill>
                                    <a:schemeClr val="bg1"/>
                                  </a:solidFill>
                                  <a:latin typeface="Cambria Math" panose="02040503050406030204" pitchFamily="18" charset="0"/>
                                </a:rPr>
                                <m:t>5</m:t>
                              </m:r>
                            </m:e>
                            <m:e>
                              <m:r>
                                <a:rPr lang="en-US" sz="1800" b="0" i="1" smtClean="0">
                                  <a:solidFill>
                                    <a:schemeClr val="bg1"/>
                                  </a:solidFill>
                                  <a:latin typeface="Cambria Math" panose="02040503050406030204" pitchFamily="18" charset="0"/>
                                </a:rPr>
                                <m:t>6</m:t>
                              </m:r>
                            </m:e>
                          </m:eqArr>
                        </m:e>
                      </m:d>
                      <m:r>
                        <a:rPr lang="en-US" sz="1800" i="1">
                          <a:solidFill>
                            <a:schemeClr val="bg1"/>
                          </a:solidFill>
                          <a:latin typeface="Cambria Math" panose="02040503050406030204" pitchFamily="18" charset="0"/>
                        </a:rPr>
                        <m:t>,</m:t>
                      </m:r>
                      <m:r>
                        <a:rPr lang="en-US" sz="1800" i="1">
                          <a:solidFill>
                            <a:schemeClr val="bg1"/>
                          </a:solidFill>
                          <a:latin typeface="Cambria Math" panose="02040503050406030204" pitchFamily="18" charset="0"/>
                        </a:rPr>
                        <m:t>𝑡h𝑒𝑛</m:t>
                      </m:r>
                      <m:r>
                        <a:rPr lang="en-US" sz="1800" i="1" smtClean="0">
                          <a:solidFill>
                            <a:schemeClr val="bg1"/>
                          </a:solidFill>
                          <a:latin typeface="Cambria Math" panose="02040503050406030204" pitchFamily="18" charset="0"/>
                        </a:rPr>
                        <m:t> </m:t>
                      </m:r>
                      <m:r>
                        <a:rPr lang="en-US" sz="1800" i="1" smtClean="0">
                          <a:solidFill>
                            <a:schemeClr val="bg1"/>
                          </a:solidFill>
                          <a:latin typeface="Cambria Math" panose="02040503050406030204" pitchFamily="18" charset="0"/>
                        </a:rPr>
                        <m:t>𝑣</m:t>
                      </m:r>
                      <m:r>
                        <a:rPr lang="en-US" sz="1800" b="0" i="1" smtClean="0">
                          <a:solidFill>
                            <a:schemeClr val="bg1"/>
                          </a:solidFill>
                          <a:latin typeface="Cambria Math" panose="02040503050406030204" pitchFamily="18" charset="0"/>
                          <a:ea typeface="Cambria Math" panose="02040503050406030204" pitchFamily="18" charset="0"/>
                        </a:rPr>
                        <m:t>∙</m:t>
                      </m:r>
                      <m:r>
                        <a:rPr lang="en-US" sz="1800" b="0" i="1" smtClean="0">
                          <a:solidFill>
                            <a:schemeClr val="bg1"/>
                          </a:solidFill>
                          <a:latin typeface="Cambria Math" panose="02040503050406030204" pitchFamily="18" charset="0"/>
                          <a:ea typeface="Cambria Math" panose="02040503050406030204" pitchFamily="18" charset="0"/>
                        </a:rPr>
                        <m:t>𝑠</m:t>
                      </m:r>
                      <m:r>
                        <a:rPr lang="en-US" sz="1800" b="0" i="1" smtClean="0">
                          <a:solidFill>
                            <a:schemeClr val="bg1"/>
                          </a:solidFill>
                          <a:latin typeface="Cambria Math" panose="02040503050406030204" pitchFamily="18" charset="0"/>
                          <a:ea typeface="Cambria Math" panose="02040503050406030204" pitchFamily="18" charset="0"/>
                        </a:rPr>
                        <m:t>=</m:t>
                      </m:r>
                      <m:d>
                        <m:dPr>
                          <m:ctrlPr>
                            <a:rPr lang="en-US" sz="1800" b="0" i="1" smtClean="0">
                              <a:solidFill>
                                <a:schemeClr val="bg1"/>
                              </a:solidFill>
                              <a:latin typeface="Cambria Math" panose="02040503050406030204" pitchFamily="18" charset="0"/>
                              <a:ea typeface="Cambria Math" panose="02040503050406030204" pitchFamily="18" charset="0"/>
                            </a:rPr>
                          </m:ctrlPr>
                        </m:dPr>
                        <m:e>
                          <m:r>
                            <a:rPr lang="en-US" sz="1800" b="0" i="1" smtClean="0">
                              <a:solidFill>
                                <a:schemeClr val="bg1"/>
                              </a:solidFill>
                              <a:latin typeface="Cambria Math" panose="02040503050406030204" pitchFamily="18" charset="0"/>
                              <a:ea typeface="Cambria Math" panose="02040503050406030204" pitchFamily="18" charset="0"/>
                            </a:rPr>
                            <m:t>1×4</m:t>
                          </m:r>
                        </m:e>
                      </m:d>
                      <m:r>
                        <a:rPr lang="en-US" sz="1800" b="0" i="1" smtClean="0">
                          <a:solidFill>
                            <a:schemeClr val="bg1"/>
                          </a:solidFill>
                          <a:latin typeface="Cambria Math" panose="02040503050406030204" pitchFamily="18" charset="0"/>
                          <a:ea typeface="Cambria Math" panose="02040503050406030204" pitchFamily="18" charset="0"/>
                        </a:rPr>
                        <m:t>+</m:t>
                      </m:r>
                      <m:d>
                        <m:dPr>
                          <m:ctrlPr>
                            <a:rPr lang="en-US" sz="1800" b="0" i="1" smtClean="0">
                              <a:solidFill>
                                <a:schemeClr val="bg1"/>
                              </a:solidFill>
                              <a:latin typeface="Cambria Math" panose="02040503050406030204" pitchFamily="18" charset="0"/>
                              <a:ea typeface="Cambria Math" panose="02040503050406030204" pitchFamily="18" charset="0"/>
                            </a:rPr>
                          </m:ctrlPr>
                        </m:dPr>
                        <m:e>
                          <m:r>
                            <a:rPr lang="en-US" sz="1800" b="0" i="1" smtClean="0">
                              <a:solidFill>
                                <a:schemeClr val="bg1"/>
                              </a:solidFill>
                              <a:latin typeface="Cambria Math" panose="02040503050406030204" pitchFamily="18" charset="0"/>
                              <a:ea typeface="Cambria Math" panose="02040503050406030204" pitchFamily="18" charset="0"/>
                            </a:rPr>
                            <m:t>2×5</m:t>
                          </m:r>
                        </m:e>
                      </m:d>
                      <m:r>
                        <a:rPr lang="en-US" sz="1800" b="0" i="1" smtClean="0">
                          <a:solidFill>
                            <a:schemeClr val="bg1"/>
                          </a:solidFill>
                          <a:latin typeface="Cambria Math" panose="02040503050406030204" pitchFamily="18" charset="0"/>
                          <a:ea typeface="Cambria Math" panose="02040503050406030204" pitchFamily="18" charset="0"/>
                        </a:rPr>
                        <m:t>+</m:t>
                      </m:r>
                      <m:d>
                        <m:dPr>
                          <m:ctrlPr>
                            <a:rPr lang="en-US" sz="1800" b="0" i="1" smtClean="0">
                              <a:solidFill>
                                <a:schemeClr val="bg1"/>
                              </a:solidFill>
                              <a:latin typeface="Cambria Math" panose="02040503050406030204" pitchFamily="18" charset="0"/>
                              <a:ea typeface="Cambria Math" panose="02040503050406030204" pitchFamily="18" charset="0"/>
                            </a:rPr>
                          </m:ctrlPr>
                        </m:dPr>
                        <m:e>
                          <m:r>
                            <a:rPr lang="en-US" sz="1800" b="0" i="1" smtClean="0">
                              <a:solidFill>
                                <a:schemeClr val="bg1"/>
                              </a:solidFill>
                              <a:latin typeface="Cambria Math" panose="02040503050406030204" pitchFamily="18" charset="0"/>
                              <a:ea typeface="Cambria Math" panose="02040503050406030204" pitchFamily="18" charset="0"/>
                            </a:rPr>
                            <m:t>3×6</m:t>
                          </m:r>
                        </m:e>
                      </m:d>
                      <m:r>
                        <a:rPr lang="en-US" sz="1800" b="0" i="1" smtClean="0">
                          <a:solidFill>
                            <a:schemeClr val="bg1"/>
                          </a:solidFill>
                          <a:latin typeface="Cambria Math" panose="02040503050406030204" pitchFamily="18" charset="0"/>
                          <a:ea typeface="Cambria Math" panose="02040503050406030204" pitchFamily="18" charset="0"/>
                        </a:rPr>
                        <m:t>=4+10+18=</m:t>
                      </m:r>
                      <m:r>
                        <a:rPr lang="en-US" sz="1800" b="1" i="1" smtClean="0">
                          <a:solidFill>
                            <a:schemeClr val="bg1"/>
                          </a:solidFill>
                          <a:latin typeface="Cambria Math" panose="02040503050406030204" pitchFamily="18" charset="0"/>
                          <a:ea typeface="Cambria Math" panose="02040503050406030204" pitchFamily="18" charset="0"/>
                        </a:rPr>
                        <m:t>𝟑𝟐</m:t>
                      </m:r>
                    </m:oMath>
                  </m:oMathPara>
                </a14:m>
                <a:endParaRPr lang="en-US" sz="1800" b="1" dirty="0">
                  <a:solidFill>
                    <a:schemeClr val="bg1"/>
                  </a:solidFill>
                </a:endParaRPr>
              </a:p>
            </p:txBody>
          </p:sp>
        </mc:Choice>
        <mc:Fallback xmlns="">
          <p:sp>
            <p:nvSpPr>
              <p:cNvPr id="4" name="TextBox 3">
                <a:extLst>
                  <a:ext uri="{FF2B5EF4-FFF2-40B4-BE49-F238E27FC236}">
                    <a16:creationId xmlns:a16="http://schemas.microsoft.com/office/drawing/2014/main" id="{69BB48FC-AF43-15B7-4BD6-F9D8E6358E92}"/>
                  </a:ext>
                </a:extLst>
              </p:cNvPr>
              <p:cNvSpPr txBox="1">
                <a:spLocks noRot="1" noChangeAspect="1" noMove="1" noResize="1" noEditPoints="1" noAdjustHandles="1" noChangeArrowheads="1" noChangeShapeType="1" noTextEdit="1"/>
              </p:cNvSpPr>
              <p:nvPr/>
            </p:nvSpPr>
            <p:spPr>
              <a:xfrm>
                <a:off x="1624973" y="5181600"/>
                <a:ext cx="9834976" cy="824906"/>
              </a:xfrm>
              <a:prstGeom prst="rect">
                <a:avLst/>
              </a:prstGeom>
              <a:blipFill>
                <a:blip r:embed="rId2"/>
                <a:stretch>
                  <a:fillRect b="-3077"/>
                </a:stretch>
              </a:blipFill>
            </p:spPr>
            <p:txBody>
              <a:bodyPr/>
              <a:lstStyle/>
              <a:p>
                <a:r>
                  <a:rPr lang="en-US">
                    <a:noFill/>
                  </a:rPr>
                  <a:t> </a:t>
                </a:r>
              </a:p>
            </p:txBody>
          </p:sp>
        </mc:Fallback>
      </mc:AlternateContent>
    </p:spTree>
    <p:extLst>
      <p:ext uri="{BB962C8B-B14F-4D97-AF65-F5344CB8AC3E}">
        <p14:creationId xmlns:p14="http://schemas.microsoft.com/office/powerpoint/2010/main" val="196834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You can also use </a:t>
            </a:r>
            <a:r>
              <a:rPr lang="en-US" dirty="0">
                <a:highlight>
                  <a:srgbClr val="C0C0C0"/>
                </a:highlight>
                <a:latin typeface="Arial" panose="020B0604020202020204" pitchFamily="34" charset="0"/>
                <a:cs typeface="Arial" panose="020B0604020202020204" pitchFamily="34" charset="0"/>
              </a:rPr>
              <a:t>.dot()</a:t>
            </a:r>
            <a:r>
              <a:rPr lang="en-US" dirty="0">
                <a:latin typeface="Arial" panose="020B0604020202020204" pitchFamily="34" charset="0"/>
                <a:cs typeface="Arial" panose="020B0604020202020204" pitchFamily="34" charset="0"/>
              </a:rPr>
              <a:t> method to compute matrix multiplication. The same result is obtained via ‘</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operator.</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611218"/>
            <a:ext cx="9448800" cy="2667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70</a:t>
            </a:r>
            <a:r>
              <a:rPr lang="en-US" b="0" dirty="0">
                <a:solidFill>
                  <a:srgbClr val="B4B4B4"/>
                </a:solidFill>
                <a:effectLst/>
                <a:latin typeface="Consolas" panose="020B0609020204030204" pitchFamily="49" charset="0"/>
              </a:rPr>
              <a:t>],</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80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110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result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r>
              <a:rPr lang="en-US" b="0" dirty="0">
                <a:solidFill>
                  <a:srgbClr val="A7A774"/>
                </a:solidFill>
                <a:effectLst/>
                <a:latin typeface="Consolas" panose="020B0609020204030204" pitchFamily="49" charset="0"/>
              </a:rPr>
              <a:t>dot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matrix_mul</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 </a:t>
            </a:r>
            <a:r>
              <a:rPr lang="en-US" b="0" dirty="0">
                <a:solidFill>
                  <a:schemeClr val="bg1"/>
                </a:solidFill>
                <a:effectLst/>
                <a:latin typeface="Consolas" panose="020B0609020204030204" pitchFamily="49" charset="0"/>
              </a:rPr>
              <a:t>@</a:t>
            </a:r>
            <a:r>
              <a:rPr lang="en-US" b="0" dirty="0">
                <a:solidFill>
                  <a:srgbClr val="229977"/>
                </a:solidFill>
                <a:effectLst/>
                <a:latin typeface="Consolas" panose="020B0609020204030204" pitchFamily="49" charset="0"/>
              </a:rPr>
              <a:t> 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6475412" y="3748378"/>
          <a:ext cx="4824941" cy="1249680"/>
        </p:xfrm>
        <a:graphic>
          <a:graphicData uri="http://schemas.openxmlformats.org/drawingml/2006/table">
            <a:tbl>
              <a:tblPr firstRow="1" bandRow="1">
                <a:tableStyleId>{073A0DAA-6AF3-43AB-8588-CEC1D06C72B9}</a:tableStyleId>
              </a:tblPr>
              <a:tblGrid>
                <a:gridCol w="482494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fi-FI" dirty="0">
                          <a:solidFill>
                            <a:schemeClr val="tx2"/>
                          </a:solidFill>
                          <a:latin typeface="Consolas" panose="020B0609020204030204" pitchFamily="49" charset="0"/>
                        </a:rPr>
                        <a:t>result     = [[ 330  390  450  510]</a:t>
                      </a:r>
                    </a:p>
                    <a:p>
                      <a:r>
                        <a:rPr lang="fi-FI" dirty="0">
                          <a:solidFill>
                            <a:schemeClr val="tx2"/>
                          </a:solidFill>
                          <a:latin typeface="Consolas" panose="020B0609020204030204" pitchFamily="49" charset="0"/>
                        </a:rPr>
                        <a:t>              [ 720  870 1020 1170]]</a:t>
                      </a:r>
                    </a:p>
                    <a:p>
                      <a:r>
                        <a:rPr lang="fi-FI" dirty="0">
                          <a:solidFill>
                            <a:schemeClr val="tx2"/>
                          </a:solidFill>
                          <a:latin typeface="Consolas" panose="020B0609020204030204" pitchFamily="49" charset="0"/>
                        </a:rPr>
                        <a:t>matrix_mul = [[ 330  390  450  510]</a:t>
                      </a:r>
                    </a:p>
                    <a:p>
                      <a:r>
                        <a:rPr lang="fi-FI" dirty="0">
                          <a:solidFill>
                            <a:schemeClr val="tx2"/>
                          </a:solidFill>
                          <a:latin typeface="Consolas" panose="020B0609020204030204" pitchFamily="49" charset="0"/>
                        </a:rPr>
                        <a:t>              [ 720  870 1020 1170]]</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37841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You can also use </a:t>
            </a:r>
            <a:r>
              <a:rPr lang="en-US" dirty="0">
                <a:highlight>
                  <a:srgbClr val="C0C0C0"/>
                </a:highlight>
                <a:latin typeface="Arial" panose="020B0604020202020204" pitchFamily="34" charset="0"/>
                <a:cs typeface="Arial" panose="020B0604020202020204" pitchFamily="34" charset="0"/>
              </a:rPr>
              <a:t>.dot()</a:t>
            </a:r>
            <a:r>
              <a:rPr lang="en-US" dirty="0">
                <a:latin typeface="Arial" panose="020B0604020202020204" pitchFamily="34" charset="0"/>
                <a:cs typeface="Arial" panose="020B0604020202020204" pitchFamily="34" charset="0"/>
              </a:rPr>
              <a:t> method to compute matrix multiplication. The same result is obtained via ‘</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operator.</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352800"/>
            <a:ext cx="9448800" cy="2667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75000"/>
                    <a:lumOff val="25000"/>
                  </a:schemeClr>
                </a:solidFill>
                <a:effectLst/>
                <a:latin typeface="Consolas" panose="020B0609020204030204" pitchFamily="49" charset="0"/>
              </a:rPr>
              <a:t>import </a:t>
            </a:r>
            <a:r>
              <a:rPr lang="en-US" b="0" dirty="0" err="1">
                <a:solidFill>
                  <a:schemeClr val="tx2">
                    <a:lumMod val="75000"/>
                    <a:lumOff val="25000"/>
                  </a:schemeClr>
                </a:solidFill>
                <a:effectLst/>
                <a:latin typeface="Consolas" panose="020B0609020204030204" pitchFamily="49" charset="0"/>
              </a:rPr>
              <a:t>numpy</a:t>
            </a:r>
            <a:r>
              <a:rPr lang="en-US" b="0" dirty="0">
                <a:solidFill>
                  <a:schemeClr val="tx2">
                    <a:lumMod val="75000"/>
                    <a:lumOff val="25000"/>
                  </a:schemeClr>
                </a:solidFill>
                <a:effectLst/>
                <a:latin typeface="Consolas" panose="020B0609020204030204" pitchFamily="49" charset="0"/>
              </a:rPr>
              <a:t> as np</a:t>
            </a:r>
          </a:p>
          <a:p>
            <a:br>
              <a:rPr lang="en-US" b="0" dirty="0">
                <a:solidFill>
                  <a:schemeClr val="tx2">
                    <a:lumMod val="75000"/>
                    <a:lumOff val="25000"/>
                  </a:schemeClr>
                </a:solidFill>
                <a:effectLst/>
                <a:latin typeface="Consolas" panose="020B0609020204030204" pitchFamily="49" charset="0"/>
              </a:rPr>
            </a:br>
            <a:r>
              <a:rPr lang="en-US" b="0" dirty="0">
                <a:solidFill>
                  <a:schemeClr val="tx2">
                    <a:lumMod val="75000"/>
                    <a:lumOff val="25000"/>
                  </a:schemeClr>
                </a:solidFill>
                <a:effectLst/>
                <a:latin typeface="Consolas" panose="020B0609020204030204" pitchFamily="49" charset="0"/>
              </a:rPr>
              <a:t>v = </a:t>
            </a:r>
            <a:r>
              <a:rPr lang="en-US" b="0" dirty="0" err="1">
                <a:solidFill>
                  <a:schemeClr val="tx2">
                    <a:lumMod val="75000"/>
                    <a:lumOff val="25000"/>
                  </a:schemeClr>
                </a:solidFill>
                <a:effectLst/>
                <a:latin typeface="Consolas" panose="020B0609020204030204" pitchFamily="49" charset="0"/>
              </a:rPr>
              <a:t>np.array</a:t>
            </a:r>
            <a:r>
              <a:rPr lang="en-US" b="0" dirty="0">
                <a:solidFill>
                  <a:schemeClr val="tx2">
                    <a:lumMod val="75000"/>
                    <a:lumOff val="25000"/>
                  </a:schemeClr>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chemeClr val="tx2">
                    <a:lumMod val="75000"/>
                    <a:lumOff val="25000"/>
                  </a:schemeClr>
                </a:solidFill>
                <a:effectLst/>
                <a:latin typeface="Consolas" panose="020B0609020204030204" pitchFamily="49" charset="0"/>
              </a:rPr>
              <a:t>],</a:t>
            </a:r>
          </a:p>
          <a:p>
            <a:r>
              <a:rPr lang="en-US" dirty="0">
                <a:solidFill>
                  <a:schemeClr val="tx2">
                    <a:lumMod val="75000"/>
                    <a:lumOff val="25000"/>
                  </a:schemeClr>
                </a:solidFill>
                <a:latin typeface="Consolas" panose="020B0609020204030204" pitchFamily="49" charset="0"/>
              </a:rPr>
              <a:t>              </a:t>
            </a:r>
            <a:r>
              <a:rPr lang="en-US" b="0" dirty="0">
                <a:solidFill>
                  <a:schemeClr val="tx2">
                    <a:lumMod val="75000"/>
                    <a:lumOff val="25000"/>
                  </a:schemeClr>
                </a:solidFill>
                <a:effectLst/>
                <a:latin typeface="Consolas" panose="020B0609020204030204" pitchFamily="49" charset="0"/>
              </a:rPr>
              <a:t>[4,5,6]])</a:t>
            </a:r>
          </a:p>
          <a:p>
            <a:r>
              <a:rPr lang="en-US" b="0" dirty="0">
                <a:solidFill>
                  <a:schemeClr val="tx2">
                    <a:lumMod val="75000"/>
                    <a:lumOff val="25000"/>
                  </a:schemeClr>
                </a:solidFill>
                <a:effectLst/>
                <a:latin typeface="Consolas" panose="020B0609020204030204" pitchFamily="49" charset="0"/>
              </a:rPr>
              <a:t>u = </a:t>
            </a:r>
            <a:r>
              <a:rPr lang="en-US" b="0" dirty="0" err="1">
                <a:solidFill>
                  <a:schemeClr val="tx2">
                    <a:lumMod val="75000"/>
                    <a:lumOff val="25000"/>
                  </a:schemeClr>
                </a:solidFill>
                <a:effectLst/>
                <a:latin typeface="Consolas" panose="020B0609020204030204" pitchFamily="49" charset="0"/>
              </a:rPr>
              <a:t>np.array</a:t>
            </a:r>
            <a:r>
              <a:rPr lang="en-US" b="0" dirty="0">
                <a:solidFill>
                  <a:schemeClr val="tx2">
                    <a:lumMod val="75000"/>
                    <a:lumOff val="25000"/>
                  </a:schemeClr>
                </a:solidFill>
                <a:effectLst/>
                <a:latin typeface="Consolas" panose="020B0609020204030204" pitchFamily="49" charset="0"/>
              </a:rPr>
              <a:t>([[10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20</a:t>
            </a:r>
            <a:r>
              <a:rPr lang="en-US" b="0" dirty="0">
                <a:solidFill>
                  <a:srgbClr val="B4B4B4"/>
                </a:solidFill>
                <a:effectLst/>
                <a:latin typeface="Consolas" panose="020B0609020204030204" pitchFamily="49" charset="0"/>
              </a:rPr>
              <a:t>,</a:t>
            </a:r>
            <a:r>
              <a:rPr lang="en-US" b="0" dirty="0">
                <a:solidFill>
                  <a:schemeClr val="tx2">
                    <a:lumMod val="75000"/>
                    <a:lumOff val="25000"/>
                  </a:schemeClr>
                </a:solidFill>
                <a:effectLst/>
                <a:latin typeface="Consolas" panose="020B0609020204030204" pitchFamily="49" charset="0"/>
              </a:rPr>
              <a:t>30,40],</a:t>
            </a:r>
          </a:p>
          <a:p>
            <a:r>
              <a:rPr lang="en-US" dirty="0">
                <a:solidFill>
                  <a:srgbClr val="B4B4B4"/>
                </a:solidFill>
                <a:latin typeface="Consolas" panose="020B0609020204030204" pitchFamily="49" charset="0"/>
              </a:rPr>
              <a:t>              </a:t>
            </a:r>
            <a:r>
              <a:rPr lang="en-US" b="0" dirty="0">
                <a:solidFill>
                  <a:schemeClr val="tx2">
                    <a:lumMod val="75000"/>
                    <a:lumOff val="25000"/>
                  </a:schemeClr>
                </a:solidFill>
                <a:effectLst/>
                <a:latin typeface="Consolas" panose="020B0609020204030204" pitchFamily="49" charset="0"/>
              </a:rPr>
              <a:t>[40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r>
              <a:rPr lang="en-US" b="0" dirty="0">
                <a:solidFill>
                  <a:schemeClr val="tx2">
                    <a:lumMod val="75000"/>
                    <a:lumOff val="25000"/>
                  </a:schemeClr>
                </a:solidFill>
                <a:effectLst/>
                <a:latin typeface="Consolas" panose="020B0609020204030204" pitchFamily="49" charset="0"/>
              </a:rPr>
              <a:t>60,70],</a:t>
            </a:r>
          </a:p>
          <a:p>
            <a:r>
              <a:rPr lang="en-US" dirty="0">
                <a:solidFill>
                  <a:srgbClr val="B4B4B4"/>
                </a:solidFill>
                <a:latin typeface="Consolas" panose="020B0609020204030204" pitchFamily="49" charset="0"/>
              </a:rPr>
              <a:t>              </a:t>
            </a:r>
            <a:r>
              <a:rPr lang="en-US" b="0" dirty="0">
                <a:solidFill>
                  <a:schemeClr val="tx2">
                    <a:lumMod val="75000"/>
                    <a:lumOff val="25000"/>
                  </a:schemeClr>
                </a:solidFill>
                <a:effectLst/>
                <a:latin typeface="Consolas" panose="020B0609020204030204" pitchFamily="49" charset="0"/>
              </a:rPr>
              <a:t>[80</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90</a:t>
            </a:r>
            <a:r>
              <a:rPr lang="en-US" b="0" dirty="0">
                <a:solidFill>
                  <a:srgbClr val="B4B4B4"/>
                </a:solidFill>
                <a:effectLst/>
                <a:latin typeface="Consolas" panose="020B0609020204030204" pitchFamily="49" charset="0"/>
              </a:rPr>
              <a:t>,</a:t>
            </a:r>
            <a:r>
              <a:rPr lang="en-US" b="0" dirty="0">
                <a:solidFill>
                  <a:schemeClr val="tx2">
                    <a:lumMod val="75000"/>
                    <a:lumOff val="25000"/>
                  </a:schemeClr>
                </a:solidFill>
                <a:effectLst/>
                <a:latin typeface="Consolas" panose="020B0609020204030204" pitchFamily="49" charset="0"/>
              </a:rPr>
              <a:t>100,110]])</a:t>
            </a:r>
          </a:p>
          <a:p>
            <a:r>
              <a:rPr lang="en-US" b="0" dirty="0">
                <a:solidFill>
                  <a:schemeClr val="tx2">
                    <a:lumMod val="75000"/>
                    <a:lumOff val="25000"/>
                  </a:schemeClr>
                </a:solidFill>
                <a:effectLst/>
                <a:latin typeface="Consolas" panose="020B0609020204030204" pitchFamily="49" charset="0"/>
              </a:rPr>
              <a:t>print("result     = ",v.dot(u))</a:t>
            </a:r>
          </a:p>
          <a:p>
            <a:r>
              <a:rPr lang="en-US" b="0" dirty="0">
                <a:solidFill>
                  <a:schemeClr val="tx2">
                    <a:lumMod val="75000"/>
                    <a:lumOff val="25000"/>
                  </a:schemeClr>
                </a:solidFill>
                <a:effectLst/>
                <a:latin typeface="Consolas" panose="020B0609020204030204" pitchFamily="49" charset="0"/>
              </a:rPr>
              <a:t>print("</a:t>
            </a:r>
            <a:r>
              <a:rPr lang="en-US" b="0" dirty="0" err="1">
                <a:solidFill>
                  <a:schemeClr val="tx2">
                    <a:lumMod val="75000"/>
                    <a:lumOff val="25000"/>
                  </a:schemeClr>
                </a:solidFill>
                <a:effectLst/>
                <a:latin typeface="Consolas" panose="020B0609020204030204" pitchFamily="49" charset="0"/>
              </a:rPr>
              <a:t>matrix_mul</a:t>
            </a:r>
            <a:r>
              <a:rPr lang="en-US" b="0" dirty="0">
                <a:solidFill>
                  <a:schemeClr val="tx2">
                    <a:lumMod val="75000"/>
                    <a:lumOff val="25000"/>
                  </a:schemeClr>
                </a:solidFill>
                <a:effectLst/>
                <a:latin typeface="Consolas" panose="020B0609020204030204" pitchFamily="49" charset="0"/>
              </a:rPr>
              <a:t> = ",v @ u)</a:t>
            </a: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6475412" y="3489960"/>
          <a:ext cx="4824941" cy="1249680"/>
        </p:xfrm>
        <a:graphic>
          <a:graphicData uri="http://schemas.openxmlformats.org/drawingml/2006/table">
            <a:tbl>
              <a:tblPr firstRow="1" bandRow="1">
                <a:tableStyleId>{073A0DAA-6AF3-43AB-8588-CEC1D06C72B9}</a:tableStyleId>
              </a:tblPr>
              <a:tblGrid>
                <a:gridCol w="482494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fi-FI" dirty="0">
                          <a:solidFill>
                            <a:schemeClr val="tx2"/>
                          </a:solidFill>
                          <a:latin typeface="Consolas" panose="020B0609020204030204" pitchFamily="49" charset="0"/>
                        </a:rPr>
                        <a:t>result     = [[ 330  390  450  510]</a:t>
                      </a:r>
                    </a:p>
                    <a:p>
                      <a:r>
                        <a:rPr lang="fi-FI" dirty="0">
                          <a:solidFill>
                            <a:schemeClr val="tx2"/>
                          </a:solidFill>
                          <a:latin typeface="Consolas" panose="020B0609020204030204" pitchFamily="49" charset="0"/>
                        </a:rPr>
                        <a:t>              [ 720  870 1020 1170]]</a:t>
                      </a:r>
                    </a:p>
                    <a:p>
                      <a:r>
                        <a:rPr lang="fi-FI" dirty="0">
                          <a:solidFill>
                            <a:schemeClr val="tx2"/>
                          </a:solidFill>
                          <a:latin typeface="Consolas" panose="020B0609020204030204" pitchFamily="49" charset="0"/>
                        </a:rPr>
                        <a:t>matrix_mul = [[ 330  390  450  510]</a:t>
                      </a:r>
                    </a:p>
                    <a:p>
                      <a:r>
                        <a:rPr lang="fi-FI" dirty="0">
                          <a:solidFill>
                            <a:schemeClr val="tx2"/>
                          </a:solidFill>
                          <a:latin typeface="Consolas" panose="020B0609020204030204" pitchFamily="49" charset="0"/>
                        </a:rPr>
                        <a:t>              [ 720  870 1020 1170]]</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0CA16084-2910-8590-A8BA-D3AA5786A16C}"/>
              </a:ext>
            </a:extLst>
          </p:cNvPr>
          <p:cNvSpPr/>
          <p:nvPr/>
        </p:nvSpPr>
        <p:spPr>
          <a:xfrm>
            <a:off x="3407533" y="4002157"/>
            <a:ext cx="762000" cy="3810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Down Arrow 6">
            <a:extLst>
              <a:ext uri="{FF2B5EF4-FFF2-40B4-BE49-F238E27FC236}">
                <a16:creationId xmlns:a16="http://schemas.microsoft.com/office/drawing/2014/main" id="{71C941F2-741D-6D74-D755-7855F4CAF104}"/>
              </a:ext>
            </a:extLst>
          </p:cNvPr>
          <p:cNvSpPr/>
          <p:nvPr/>
        </p:nvSpPr>
        <p:spPr>
          <a:xfrm>
            <a:off x="4474333" y="2626906"/>
            <a:ext cx="5334000" cy="1295400"/>
          </a:xfrm>
          <a:prstGeom prst="downArrowCallout">
            <a:avLst>
              <a:gd name="adj1" fmla="val 11190"/>
              <a:gd name="adj2" fmla="val 15714"/>
              <a:gd name="adj3" fmla="val 15714"/>
              <a:gd name="adj4" fmla="val 761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Arial" panose="020B0604020202020204" pitchFamily="34" charset="0"/>
                <a:cs typeface="Arial" panose="020B0604020202020204" pitchFamily="34" charset="0"/>
              </a:rPr>
              <a:t>390 = dot product (row 1 from matrix “v” and column 2 from matrix “u”) = </a:t>
            </a:r>
          </a:p>
          <a:p>
            <a:pPr algn="ctr"/>
            <a:r>
              <a:rPr lang="en-US" dirty="0">
                <a:highlight>
                  <a:srgbClr val="000000"/>
                </a:highlight>
                <a:latin typeface="Arial" panose="020B0604020202020204" pitchFamily="34" charset="0"/>
                <a:cs typeface="Arial" panose="020B0604020202020204" pitchFamily="34" charset="0"/>
              </a:rPr>
              <a:t>1 x 20 + 2 x 50 + 3 x 90 = 20 + 100+ 270 = 390</a:t>
            </a:r>
          </a:p>
        </p:txBody>
      </p:sp>
      <p:sp>
        <p:nvSpPr>
          <p:cNvPr id="8" name="Rectangle 7">
            <a:extLst>
              <a:ext uri="{FF2B5EF4-FFF2-40B4-BE49-F238E27FC236}">
                <a16:creationId xmlns:a16="http://schemas.microsoft.com/office/drawing/2014/main" id="{563CC025-BC9A-A07F-BB89-89BBACEA3886}"/>
              </a:ext>
            </a:extLst>
          </p:cNvPr>
          <p:cNvSpPr/>
          <p:nvPr/>
        </p:nvSpPr>
        <p:spPr>
          <a:xfrm>
            <a:off x="3788533" y="4529263"/>
            <a:ext cx="381000" cy="86106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4E0A1C8-1E3A-FB11-C00A-908A49AE8730}"/>
              </a:ext>
            </a:extLst>
          </p:cNvPr>
          <p:cNvSpPr/>
          <p:nvPr/>
        </p:nvSpPr>
        <p:spPr>
          <a:xfrm>
            <a:off x="8470611" y="3790938"/>
            <a:ext cx="557848" cy="296863"/>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Connector: Elbow 10">
            <a:extLst>
              <a:ext uri="{FF2B5EF4-FFF2-40B4-BE49-F238E27FC236}">
                <a16:creationId xmlns:a16="http://schemas.microsoft.com/office/drawing/2014/main" id="{13970751-56E1-89E8-393A-A18DACAFEDB6}"/>
              </a:ext>
            </a:extLst>
          </p:cNvPr>
          <p:cNvCxnSpPr>
            <a:cxnSpLocks/>
            <a:stCxn id="4" idx="3"/>
            <a:endCxn id="8" idx="3"/>
          </p:cNvCxnSpPr>
          <p:nvPr/>
        </p:nvCxnSpPr>
        <p:spPr>
          <a:xfrm>
            <a:off x="4169533" y="4192657"/>
            <a:ext cx="12700" cy="767136"/>
          </a:xfrm>
          <a:prstGeom prst="bentConnector3">
            <a:avLst>
              <a:gd name="adj1" fmla="val 1800000"/>
            </a:avLst>
          </a:prstGeom>
          <a:ln w="38100">
            <a:solidFill>
              <a:schemeClr val="accent5">
                <a:lumMod val="50000"/>
              </a:schemeClr>
            </a:solidFill>
          </a:ln>
        </p:spPr>
        <p:style>
          <a:lnRef idx="3">
            <a:schemeClr val="accent5"/>
          </a:lnRef>
          <a:fillRef idx="0">
            <a:schemeClr val="accent5"/>
          </a:fillRef>
          <a:effectRef idx="2">
            <a:schemeClr val="accent5"/>
          </a:effectRef>
          <a:fontRef idx="minor">
            <a:schemeClr val="tx1"/>
          </a:fontRef>
        </p:style>
      </p:cxnSp>
      <p:cxnSp>
        <p:nvCxnSpPr>
          <p:cNvPr id="14" name="Connector: Elbow 13">
            <a:extLst>
              <a:ext uri="{FF2B5EF4-FFF2-40B4-BE49-F238E27FC236}">
                <a16:creationId xmlns:a16="http://schemas.microsoft.com/office/drawing/2014/main" id="{BAB3B76C-8D44-845B-025C-B97324CAD4BA}"/>
              </a:ext>
            </a:extLst>
          </p:cNvPr>
          <p:cNvCxnSpPr>
            <a:cxnSpLocks/>
          </p:cNvCxnSpPr>
          <p:nvPr/>
        </p:nvCxnSpPr>
        <p:spPr>
          <a:xfrm flipV="1">
            <a:off x="4394821" y="3923302"/>
            <a:ext cx="4166552" cy="556101"/>
          </a:xfrm>
          <a:prstGeom prst="bentConnector3">
            <a:avLst/>
          </a:prstGeom>
          <a:ln w="38100">
            <a:solidFill>
              <a:schemeClr val="accent5">
                <a:lumMod val="50000"/>
              </a:schemeClr>
            </a:solidFill>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048939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2000"/>
                            </p:stCondLst>
                            <p:childTnLst>
                              <p:par>
                                <p:cTn id="21" presetID="14" presetClass="entr" presetSubtype="1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randombar(horizontal)">
                                      <p:cBhvr>
                                        <p:cTn id="23" dur="500"/>
                                        <p:tgtEl>
                                          <p:spTgt spid="9"/>
                                        </p:tgtEl>
                                      </p:cBhvr>
                                    </p:animEffect>
                                  </p:childTnLst>
                                </p:cTn>
                              </p:par>
                            </p:childTnLst>
                          </p:cTn>
                        </p:par>
                        <p:par>
                          <p:cTn id="24" fill="hold">
                            <p:stCondLst>
                              <p:cond delay="2500"/>
                            </p:stCondLst>
                            <p:childTnLst>
                              <p:par>
                                <p:cTn id="25" presetID="2"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To transpose a matrix, use the </a:t>
            </a:r>
            <a:r>
              <a:rPr lang="en-US" dirty="0">
                <a:highlight>
                  <a:srgbClr val="C0C0C0"/>
                </a:highlight>
                <a:latin typeface="Arial" panose="020B0604020202020204" pitchFamily="34" charset="0"/>
                <a:cs typeface="Arial" panose="020B0604020202020204" pitchFamily="34" charset="0"/>
              </a:rPr>
              <a:t>.transpose()</a:t>
            </a:r>
            <a:r>
              <a:rPr lang="en-US" dirty="0">
                <a:latin typeface="Arial" panose="020B0604020202020204" pitchFamily="34" charset="0"/>
                <a:cs typeface="Arial" panose="020B0604020202020204" pitchFamily="34" charset="0"/>
              </a:rPr>
              <a:t> method</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352800"/>
            <a:ext cx="9448800" cy="190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m</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matrix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m</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transpose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transpose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380096" y="3390900"/>
          <a:ext cx="2996141" cy="1463040"/>
        </p:xfrm>
        <a:graphic>
          <a:graphicData uri="http://schemas.openxmlformats.org/drawingml/2006/table">
            <a:tbl>
              <a:tblPr firstRow="1" bandRow="1">
                <a:tableStyleId>{073A0DAA-6AF3-43AB-8588-CEC1D06C72B9}</a:tableStyleId>
              </a:tblPr>
              <a:tblGrid>
                <a:gridCol w="299614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fr-FR" dirty="0">
                          <a:solidFill>
                            <a:schemeClr val="tx2"/>
                          </a:solidFill>
                          <a:latin typeface="Consolas" panose="020B0609020204030204" pitchFamily="49" charset="0"/>
                        </a:rPr>
                        <a:t>matrix =  [[1 2 3]</a:t>
                      </a:r>
                    </a:p>
                    <a:p>
                      <a:r>
                        <a:rPr lang="fr-FR" dirty="0">
                          <a:solidFill>
                            <a:schemeClr val="tx2"/>
                          </a:solidFill>
                          <a:latin typeface="Consolas" panose="020B0609020204030204" pitchFamily="49" charset="0"/>
                        </a:rPr>
                        <a:t>           [4 5 6]]</a:t>
                      </a:r>
                    </a:p>
                    <a:p>
                      <a:r>
                        <a:rPr lang="fr-FR" dirty="0">
                          <a:solidFill>
                            <a:schemeClr val="tx2"/>
                          </a:solidFill>
                          <a:latin typeface="Consolas" panose="020B0609020204030204" pitchFamily="49" charset="0"/>
                        </a:rPr>
                        <a:t>transpose =  [[1 4]</a:t>
                      </a:r>
                    </a:p>
                    <a:p>
                      <a:r>
                        <a:rPr lang="fr-FR" dirty="0">
                          <a:solidFill>
                            <a:schemeClr val="tx2"/>
                          </a:solidFill>
                          <a:latin typeface="Consolas" panose="020B0609020204030204" pitchFamily="49" charset="0"/>
                        </a:rPr>
                        <a:t>              [2 5]</a:t>
                      </a:r>
                    </a:p>
                    <a:p>
                      <a:r>
                        <a:rPr lang="fr-FR" dirty="0">
                          <a:solidFill>
                            <a:schemeClr val="tx2"/>
                          </a:solidFill>
                          <a:latin typeface="Consolas" panose="020B0609020204030204" pitchFamily="49" charset="0"/>
                        </a:rPr>
                        <a:t>              [3 6]]</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90249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Several statistical operations are available. When used against a matrix, without any parameters, all elements from the matrix are being used for analysis.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4214" y="3962400"/>
            <a:ext cx="9448800" cy="190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m</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sum</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min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min</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max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max</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mean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mean</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9135798" y="4137660"/>
          <a:ext cx="2157625" cy="1249680"/>
        </p:xfrm>
        <a:graphic>
          <a:graphicData uri="http://schemas.openxmlformats.org/drawingml/2006/table">
            <a:tbl>
              <a:tblPr firstRow="1" bandRow="1">
                <a:tableStyleId>{073A0DAA-6AF3-43AB-8588-CEC1D06C72B9}</a:tableStyleId>
              </a:tblPr>
              <a:tblGrid>
                <a:gridCol w="2157625">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sum     =  21</a:t>
                      </a:r>
                    </a:p>
                    <a:p>
                      <a:r>
                        <a:rPr lang="en-US" dirty="0">
                          <a:solidFill>
                            <a:schemeClr val="tx2"/>
                          </a:solidFill>
                          <a:latin typeface="Consolas" panose="020B0609020204030204" pitchFamily="49" charset="0"/>
                        </a:rPr>
                        <a:t>min     =  1</a:t>
                      </a:r>
                    </a:p>
                    <a:p>
                      <a:r>
                        <a:rPr lang="en-US" dirty="0">
                          <a:solidFill>
                            <a:schemeClr val="tx2"/>
                          </a:solidFill>
                          <a:latin typeface="Consolas" panose="020B0609020204030204" pitchFamily="49" charset="0"/>
                        </a:rPr>
                        <a:t>max     =  6</a:t>
                      </a:r>
                    </a:p>
                    <a:p>
                      <a:r>
                        <a:rPr lang="en-US" dirty="0">
                          <a:solidFill>
                            <a:schemeClr val="tx2"/>
                          </a:solidFill>
                          <a:latin typeface="Consolas" panose="020B0609020204030204" pitchFamily="49" charset="0"/>
                        </a:rPr>
                        <a:t>mean    =  3.5</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255773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However, all of the statistical methods have a parameter called </a:t>
            </a:r>
            <a:r>
              <a:rPr lang="en-US" b="1" i="1" dirty="0">
                <a:latin typeface="Arial" panose="020B0604020202020204" pitchFamily="34" charset="0"/>
                <a:cs typeface="Arial" panose="020B0604020202020204" pitchFamily="34" charset="0"/>
              </a:rPr>
              <a:t>axes</a:t>
            </a:r>
            <a:r>
              <a:rPr lang="en-US" i="1" dirty="0">
                <a:latin typeface="Arial" panose="020B0604020202020204" pitchFamily="34" charset="0"/>
                <a:cs typeface="Arial" panose="020B0604020202020204" pitchFamily="34" charset="0"/>
              </a:rPr>
              <a:t> that can allow specifying an axes/shape that can be used to limit the computations for a specific dimension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4214" y="3962400"/>
            <a:ext cx="9448800" cy="23622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m</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sum</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axis</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min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min</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axis</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max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max</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axis</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mean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mean</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axis</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075612" y="4137660"/>
          <a:ext cx="3217811" cy="1249680"/>
        </p:xfrm>
        <a:graphic>
          <a:graphicData uri="http://schemas.openxmlformats.org/drawingml/2006/table">
            <a:tbl>
              <a:tblPr firstRow="1" bandRow="1">
                <a:tableStyleId>{073A0DAA-6AF3-43AB-8588-CEC1D06C72B9}</a:tableStyleId>
              </a:tblPr>
              <a:tblGrid>
                <a:gridCol w="321781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sum     =  [5 7 9]</a:t>
                      </a:r>
                    </a:p>
                    <a:p>
                      <a:r>
                        <a:rPr lang="en-US" dirty="0">
                          <a:solidFill>
                            <a:schemeClr val="tx2"/>
                          </a:solidFill>
                          <a:latin typeface="Consolas" panose="020B0609020204030204" pitchFamily="49" charset="0"/>
                        </a:rPr>
                        <a:t>min     =  [1 2 3]</a:t>
                      </a:r>
                    </a:p>
                    <a:p>
                      <a:r>
                        <a:rPr lang="en-US" dirty="0">
                          <a:solidFill>
                            <a:schemeClr val="tx2"/>
                          </a:solidFill>
                          <a:latin typeface="Consolas" panose="020B0609020204030204" pitchFamily="49" charset="0"/>
                        </a:rPr>
                        <a:t>max     =  [4 5 6]</a:t>
                      </a:r>
                    </a:p>
                    <a:p>
                      <a:r>
                        <a:rPr lang="en-US" dirty="0">
                          <a:solidFill>
                            <a:schemeClr val="tx2"/>
                          </a:solidFill>
                          <a:latin typeface="Consolas" panose="020B0609020204030204" pitchFamily="49" charset="0"/>
                        </a:rPr>
                        <a:t>mean    =  [2.5 3.5 4.5]</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440835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However, all of the statistical methods have a parameter called </a:t>
            </a:r>
            <a:r>
              <a:rPr lang="en-US" b="1" i="1" dirty="0">
                <a:latin typeface="Arial" panose="020B0604020202020204" pitchFamily="34" charset="0"/>
                <a:cs typeface="Arial" panose="020B0604020202020204" pitchFamily="34" charset="0"/>
              </a:rPr>
              <a:t>axis</a:t>
            </a:r>
            <a:r>
              <a:rPr lang="en-US" i="1" dirty="0">
                <a:latin typeface="Arial" panose="020B0604020202020204" pitchFamily="34" charset="0"/>
                <a:cs typeface="Arial" panose="020B0604020202020204" pitchFamily="34" charset="0"/>
              </a:rPr>
              <a:t> that can allow specifying an axes/shape that can be used to limit the computations for a specific dimension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4214" y="3962400"/>
            <a:ext cx="9448800" cy="23622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75000"/>
                    <a:lumOff val="25000"/>
                  </a:schemeClr>
                </a:solidFill>
                <a:effectLst/>
                <a:latin typeface="Consolas" panose="020B0609020204030204" pitchFamily="49" charset="0"/>
              </a:rPr>
              <a:t>import </a:t>
            </a:r>
            <a:r>
              <a:rPr lang="en-US" b="0" dirty="0" err="1">
                <a:solidFill>
                  <a:schemeClr val="tx2">
                    <a:lumMod val="75000"/>
                    <a:lumOff val="25000"/>
                  </a:schemeClr>
                </a:solidFill>
                <a:effectLst/>
                <a:latin typeface="Consolas" panose="020B0609020204030204" pitchFamily="49" charset="0"/>
              </a:rPr>
              <a:t>numpy</a:t>
            </a:r>
            <a:r>
              <a:rPr lang="en-US" b="0" dirty="0">
                <a:solidFill>
                  <a:schemeClr val="tx2">
                    <a:lumMod val="75000"/>
                    <a:lumOff val="25000"/>
                  </a:schemeClr>
                </a:solidFill>
                <a:effectLst/>
                <a:latin typeface="Consolas" panose="020B0609020204030204" pitchFamily="49" charset="0"/>
              </a:rPr>
              <a:t> as np</a:t>
            </a:r>
          </a:p>
          <a:p>
            <a:br>
              <a:rPr lang="en-US" b="0" dirty="0">
                <a:solidFill>
                  <a:schemeClr val="tx2">
                    <a:lumMod val="75000"/>
                    <a:lumOff val="25000"/>
                  </a:schemeClr>
                </a:solidFill>
                <a:effectLst/>
                <a:latin typeface="Consolas" panose="020B0609020204030204" pitchFamily="49" charset="0"/>
              </a:rPr>
            </a:br>
            <a:r>
              <a:rPr lang="en-US" b="0" dirty="0">
                <a:solidFill>
                  <a:schemeClr val="tx2">
                    <a:lumMod val="75000"/>
                    <a:lumOff val="25000"/>
                  </a:schemeClr>
                </a:solidFill>
                <a:effectLst/>
                <a:latin typeface="Consolas" panose="020B0609020204030204" pitchFamily="49" charset="0"/>
              </a:rPr>
              <a:t>m = </a:t>
            </a:r>
            <a:r>
              <a:rPr lang="en-US" b="0" dirty="0" err="1">
                <a:solidFill>
                  <a:schemeClr val="tx2">
                    <a:lumMod val="75000"/>
                    <a:lumOff val="25000"/>
                  </a:schemeClr>
                </a:solidFill>
                <a:effectLst/>
                <a:latin typeface="Consolas" panose="020B0609020204030204" pitchFamily="49" charset="0"/>
              </a:rPr>
              <a:t>np.array</a:t>
            </a:r>
            <a:r>
              <a:rPr lang="en-US" b="0" dirty="0">
                <a:solidFill>
                  <a:schemeClr val="tx2">
                    <a:lumMod val="75000"/>
                    <a:lumOff val="25000"/>
                  </a:schemeClr>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chemeClr val="tx2">
                    <a:lumMod val="75000"/>
                    <a:lumOff val="25000"/>
                  </a:schemeClr>
                </a:solidFill>
                <a:effectLst/>
                <a:latin typeface="Consolas" panose="020B0609020204030204" pitchFamily="49" charset="0"/>
              </a:rPr>
              <a:t>2,3],</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chemeClr val="tx2">
                    <a:lumMod val="75000"/>
                    <a:lumOff val="25000"/>
                  </a:schemeClr>
                </a:solidFill>
                <a:effectLst/>
                <a:latin typeface="Consolas" panose="020B0609020204030204" pitchFamily="49" charset="0"/>
              </a:rPr>
              <a:t>5,6]])</a:t>
            </a:r>
          </a:p>
          <a:p>
            <a:r>
              <a:rPr lang="en-US" b="0" dirty="0">
                <a:solidFill>
                  <a:schemeClr val="tx2">
                    <a:lumMod val="75000"/>
                    <a:lumOff val="25000"/>
                  </a:schemeClr>
                </a:solidFill>
                <a:effectLst/>
                <a:latin typeface="Consolas" panose="020B0609020204030204" pitchFamily="49" charset="0"/>
              </a:rPr>
              <a:t>print("sum     = ",</a:t>
            </a:r>
            <a:r>
              <a:rPr lang="en-US" b="0" dirty="0" err="1">
                <a:solidFill>
                  <a:schemeClr val="tx2">
                    <a:lumMod val="75000"/>
                    <a:lumOff val="25000"/>
                  </a:schemeClr>
                </a:solidFill>
                <a:effectLst/>
                <a:latin typeface="Consolas" panose="020B0609020204030204" pitchFamily="49" charset="0"/>
              </a:rPr>
              <a:t>m.sum</a:t>
            </a:r>
            <a:r>
              <a:rPr lang="en-US" b="0" dirty="0">
                <a:solidFill>
                  <a:schemeClr val="tx2">
                    <a:lumMod val="75000"/>
                    <a:lumOff val="25000"/>
                  </a:schemeClr>
                </a:solidFill>
                <a:effectLst/>
                <a:latin typeface="Consolas" panose="020B0609020204030204" pitchFamily="49" charset="0"/>
              </a:rPr>
              <a:t>(axis=0))</a:t>
            </a:r>
          </a:p>
          <a:p>
            <a:r>
              <a:rPr lang="en-US" b="0" dirty="0">
                <a:solidFill>
                  <a:schemeClr val="tx2">
                    <a:lumMod val="75000"/>
                    <a:lumOff val="25000"/>
                  </a:schemeClr>
                </a:solidFill>
                <a:effectLst/>
                <a:latin typeface="Consolas" panose="020B0609020204030204" pitchFamily="49" charset="0"/>
              </a:rPr>
              <a:t>print("min     = ",</a:t>
            </a:r>
            <a:r>
              <a:rPr lang="en-US" b="0" dirty="0" err="1">
                <a:solidFill>
                  <a:schemeClr val="tx2">
                    <a:lumMod val="75000"/>
                    <a:lumOff val="25000"/>
                  </a:schemeClr>
                </a:solidFill>
                <a:effectLst/>
                <a:latin typeface="Consolas" panose="020B0609020204030204" pitchFamily="49" charset="0"/>
              </a:rPr>
              <a:t>m.min</a:t>
            </a:r>
            <a:r>
              <a:rPr lang="en-US" b="0" dirty="0">
                <a:solidFill>
                  <a:schemeClr val="tx2">
                    <a:lumMod val="75000"/>
                    <a:lumOff val="25000"/>
                  </a:schemeClr>
                </a:solidFill>
                <a:effectLst/>
                <a:latin typeface="Consolas" panose="020B0609020204030204" pitchFamily="49" charset="0"/>
              </a:rPr>
              <a:t>(axis=0))</a:t>
            </a:r>
          </a:p>
          <a:p>
            <a:r>
              <a:rPr lang="en-US" b="0" dirty="0">
                <a:solidFill>
                  <a:schemeClr val="tx2">
                    <a:lumMod val="75000"/>
                    <a:lumOff val="25000"/>
                  </a:schemeClr>
                </a:solidFill>
                <a:effectLst/>
                <a:latin typeface="Consolas" panose="020B0609020204030204" pitchFamily="49" charset="0"/>
              </a:rPr>
              <a:t>print("max     = ",</a:t>
            </a:r>
            <a:r>
              <a:rPr lang="en-US" b="0" dirty="0" err="1">
                <a:solidFill>
                  <a:schemeClr val="tx2">
                    <a:lumMod val="75000"/>
                    <a:lumOff val="25000"/>
                  </a:schemeClr>
                </a:solidFill>
                <a:effectLst/>
                <a:latin typeface="Consolas" panose="020B0609020204030204" pitchFamily="49" charset="0"/>
              </a:rPr>
              <a:t>m.max</a:t>
            </a:r>
            <a:r>
              <a:rPr lang="en-US" b="0" dirty="0">
                <a:solidFill>
                  <a:schemeClr val="tx2">
                    <a:lumMod val="75000"/>
                    <a:lumOff val="25000"/>
                  </a:schemeClr>
                </a:solidFill>
                <a:effectLst/>
                <a:latin typeface="Consolas" panose="020B0609020204030204" pitchFamily="49" charset="0"/>
              </a:rPr>
              <a:t>(axis=0))</a:t>
            </a:r>
          </a:p>
          <a:p>
            <a:r>
              <a:rPr lang="en-US" b="0" dirty="0">
                <a:solidFill>
                  <a:schemeClr val="tx2">
                    <a:lumMod val="75000"/>
                    <a:lumOff val="25000"/>
                  </a:schemeClr>
                </a:solidFill>
                <a:effectLst/>
                <a:latin typeface="Consolas" panose="020B0609020204030204" pitchFamily="49" charset="0"/>
              </a:rPr>
              <a:t>print("mean    = ",</a:t>
            </a:r>
            <a:r>
              <a:rPr lang="en-US" b="0" dirty="0" err="1">
                <a:solidFill>
                  <a:schemeClr val="tx2">
                    <a:lumMod val="75000"/>
                    <a:lumOff val="25000"/>
                  </a:schemeClr>
                </a:solidFill>
                <a:effectLst/>
                <a:latin typeface="Consolas" panose="020B0609020204030204" pitchFamily="49" charset="0"/>
              </a:rPr>
              <a:t>m.mean</a:t>
            </a:r>
            <a:r>
              <a:rPr lang="en-US" b="0" dirty="0">
                <a:solidFill>
                  <a:schemeClr val="tx2">
                    <a:lumMod val="75000"/>
                    <a:lumOff val="25000"/>
                  </a:schemeClr>
                </a:solidFill>
                <a:effectLst/>
                <a:latin typeface="Consolas" panose="020B0609020204030204" pitchFamily="49" charset="0"/>
              </a:rPr>
              <a:t>(axis=0))</a:t>
            </a: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075612" y="4137660"/>
          <a:ext cx="3217811" cy="1249680"/>
        </p:xfrm>
        <a:graphic>
          <a:graphicData uri="http://schemas.openxmlformats.org/drawingml/2006/table">
            <a:tbl>
              <a:tblPr firstRow="1" bandRow="1">
                <a:tableStyleId>{073A0DAA-6AF3-43AB-8588-CEC1D06C72B9}</a:tableStyleId>
              </a:tblPr>
              <a:tblGrid>
                <a:gridCol w="321781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sum     =  [5 7 9]</a:t>
                      </a:r>
                    </a:p>
                    <a:p>
                      <a:r>
                        <a:rPr lang="en-US" dirty="0">
                          <a:solidFill>
                            <a:schemeClr val="tx2"/>
                          </a:solidFill>
                          <a:latin typeface="Consolas" panose="020B0609020204030204" pitchFamily="49" charset="0"/>
                        </a:rPr>
                        <a:t>min     =  [1 2 3]</a:t>
                      </a:r>
                    </a:p>
                    <a:p>
                      <a:r>
                        <a:rPr lang="en-US" dirty="0">
                          <a:solidFill>
                            <a:schemeClr val="tx2"/>
                          </a:solidFill>
                          <a:latin typeface="Consolas" panose="020B0609020204030204" pitchFamily="49" charset="0"/>
                        </a:rPr>
                        <a:t>max     =  [4 5 6]</a:t>
                      </a:r>
                    </a:p>
                    <a:p>
                      <a:r>
                        <a:rPr lang="en-US" dirty="0">
                          <a:solidFill>
                            <a:schemeClr val="tx2"/>
                          </a:solidFill>
                          <a:latin typeface="Consolas" panose="020B0609020204030204" pitchFamily="49" charset="0"/>
                        </a:rPr>
                        <a:t>mean    =  [2.5 3.5 4.5]</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13236AA7-90B8-E31F-6D29-DD7F7B34B6F9}"/>
              </a:ext>
            </a:extLst>
          </p:cNvPr>
          <p:cNvSpPr/>
          <p:nvPr/>
        </p:nvSpPr>
        <p:spPr>
          <a:xfrm>
            <a:off x="9508489" y="4533900"/>
            <a:ext cx="395924" cy="335598"/>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Down Arrow 6">
            <a:extLst>
              <a:ext uri="{FF2B5EF4-FFF2-40B4-BE49-F238E27FC236}">
                <a16:creationId xmlns:a16="http://schemas.microsoft.com/office/drawing/2014/main" id="{C3D437C4-6170-10FC-4DDB-A8ACE39B10EE}"/>
              </a:ext>
            </a:extLst>
          </p:cNvPr>
          <p:cNvSpPr/>
          <p:nvPr/>
        </p:nvSpPr>
        <p:spPr>
          <a:xfrm>
            <a:off x="4372451" y="3044189"/>
            <a:ext cx="5334000" cy="1554480"/>
          </a:xfrm>
          <a:prstGeom prst="downArrowCallout">
            <a:avLst>
              <a:gd name="adj1" fmla="val 11190"/>
              <a:gd name="adj2" fmla="val 15714"/>
              <a:gd name="adj3" fmla="val 15714"/>
              <a:gd name="adj4" fmla="val 761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Arial" panose="020B0604020202020204" pitchFamily="34" charset="0"/>
                <a:cs typeface="Arial" panose="020B0604020202020204" pitchFamily="34" charset="0"/>
              </a:rPr>
              <a:t>axis = 0 (means “X” axis). This translates that all operations will be perform over “X” axis. For sum, the values [5 7 9] are obtained in the following way: </a:t>
            </a:r>
            <a:r>
              <a:rPr lang="en-US" dirty="0">
                <a:highlight>
                  <a:srgbClr val="000000"/>
                </a:highlight>
                <a:latin typeface="Arial" panose="020B0604020202020204" pitchFamily="34" charset="0"/>
                <a:cs typeface="Arial" panose="020B0604020202020204" pitchFamily="34" charset="0"/>
              </a:rPr>
              <a:t>5=1+4, 7=2+5, 9=3+6</a:t>
            </a:r>
          </a:p>
        </p:txBody>
      </p:sp>
      <p:cxnSp>
        <p:nvCxnSpPr>
          <p:cNvPr id="8" name="Connector: Elbow 7">
            <a:extLst>
              <a:ext uri="{FF2B5EF4-FFF2-40B4-BE49-F238E27FC236}">
                <a16:creationId xmlns:a16="http://schemas.microsoft.com/office/drawing/2014/main" id="{485553F0-6383-6AED-DEF0-88BF1D7E16A2}"/>
              </a:ext>
            </a:extLst>
          </p:cNvPr>
          <p:cNvCxnSpPr>
            <a:cxnSpLocks/>
            <a:stCxn id="9" idx="3"/>
            <a:endCxn id="4" idx="1"/>
          </p:cNvCxnSpPr>
          <p:nvPr/>
        </p:nvCxnSpPr>
        <p:spPr>
          <a:xfrm flipV="1">
            <a:off x="4113213" y="4701699"/>
            <a:ext cx="5395276" cy="175021"/>
          </a:xfrm>
          <a:prstGeom prst="bentConnector3">
            <a:avLst/>
          </a:prstGeom>
          <a:ln w="38100">
            <a:solidFill>
              <a:schemeClr val="accent5">
                <a:lumMod val="50000"/>
              </a:schemeClr>
            </a:solidFill>
            <a:tailEnd type="triangle"/>
          </a:ln>
        </p:spPr>
        <p:style>
          <a:lnRef idx="3">
            <a:schemeClr val="accent5"/>
          </a:lnRef>
          <a:fillRef idx="0">
            <a:schemeClr val="accent5"/>
          </a:fillRef>
          <a:effectRef idx="2">
            <a:schemeClr val="accent5"/>
          </a:effectRef>
          <a:fontRef idx="minor">
            <a:schemeClr val="tx1"/>
          </a:fontRef>
        </p:style>
      </p:cxnSp>
      <p:sp>
        <p:nvSpPr>
          <p:cNvPr id="9" name="Rectangle 8">
            <a:extLst>
              <a:ext uri="{FF2B5EF4-FFF2-40B4-BE49-F238E27FC236}">
                <a16:creationId xmlns:a16="http://schemas.microsoft.com/office/drawing/2014/main" id="{099AA1FE-AD99-F7EB-DBA7-2561DCD6D625}"/>
              </a:ext>
            </a:extLst>
          </p:cNvPr>
          <p:cNvSpPr/>
          <p:nvPr/>
        </p:nvSpPr>
        <p:spPr>
          <a:xfrm>
            <a:off x="3884613" y="4598669"/>
            <a:ext cx="228600" cy="556101"/>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5733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Similarly, using axis=1 refers to the “Y” axis (the second dimension) and all computation will be made around that axis.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4214" y="3962400"/>
            <a:ext cx="9448800" cy="23622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m</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p>
          <a:p>
            <a:r>
              <a:rPr lang="en-US" dirty="0">
                <a:solidFill>
                  <a:srgbClr val="B4B4B4"/>
                </a:solidFill>
                <a:latin typeface="Consolas" panose="020B0609020204030204" pitchFamily="49" charset="0"/>
              </a:rPr>
              <a:t>              </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sum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sum</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axis</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min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min</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axis</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max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max</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axis</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mean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m</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mean</a:t>
            </a:r>
            <a:r>
              <a:rPr lang="en-US" b="0" dirty="0">
                <a:solidFill>
                  <a:srgbClr val="B4B4B4"/>
                </a:solidFill>
                <a:effectLst/>
                <a:latin typeface="Consolas" panose="020B0609020204030204" pitchFamily="49" charset="0"/>
              </a:rPr>
              <a:t>(</a:t>
            </a:r>
            <a:r>
              <a:rPr lang="en-US" b="0" dirty="0">
                <a:solidFill>
                  <a:srgbClr val="9A9A9A"/>
                </a:solidFill>
                <a:effectLst/>
                <a:latin typeface="Consolas" panose="020B0609020204030204" pitchFamily="49" charset="0"/>
              </a:rPr>
              <a:t>axis</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075612" y="4137660"/>
          <a:ext cx="3217811" cy="1249680"/>
        </p:xfrm>
        <a:graphic>
          <a:graphicData uri="http://schemas.openxmlformats.org/drawingml/2006/table">
            <a:tbl>
              <a:tblPr firstRow="1" bandRow="1">
                <a:tableStyleId>{073A0DAA-6AF3-43AB-8588-CEC1D06C72B9}</a:tableStyleId>
              </a:tblPr>
              <a:tblGrid>
                <a:gridCol w="321781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sum     =  [6 15]</a:t>
                      </a:r>
                    </a:p>
                    <a:p>
                      <a:r>
                        <a:rPr lang="en-US" dirty="0">
                          <a:solidFill>
                            <a:schemeClr val="tx2"/>
                          </a:solidFill>
                          <a:latin typeface="Consolas" panose="020B0609020204030204" pitchFamily="49" charset="0"/>
                        </a:rPr>
                        <a:t>min     =  [1 4]</a:t>
                      </a:r>
                    </a:p>
                    <a:p>
                      <a:r>
                        <a:rPr lang="en-US" dirty="0">
                          <a:solidFill>
                            <a:schemeClr val="tx2"/>
                          </a:solidFill>
                          <a:latin typeface="Consolas" panose="020B0609020204030204" pitchFamily="49" charset="0"/>
                        </a:rPr>
                        <a:t>max     =  [3 6]</a:t>
                      </a:r>
                    </a:p>
                    <a:p>
                      <a:r>
                        <a:rPr lang="en-US" dirty="0">
                          <a:solidFill>
                            <a:schemeClr val="tx2"/>
                          </a:solidFill>
                          <a:latin typeface="Consolas" panose="020B0609020204030204" pitchFamily="49" charset="0"/>
                        </a:rPr>
                        <a:t>mean    =  [2. 5.]</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50926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Similarly, using axis=1 refers to the “Y” axis (the second dimension) and all computation will be made around that axis.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4214" y="3962400"/>
            <a:ext cx="9448800" cy="23622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65000"/>
                    <a:lumOff val="35000"/>
                  </a:schemeClr>
                </a:solidFill>
                <a:effectLst/>
                <a:latin typeface="Consolas" panose="020B0609020204030204" pitchFamily="49" charset="0"/>
              </a:rPr>
              <a:t>import </a:t>
            </a:r>
            <a:r>
              <a:rPr lang="en-US" b="0" dirty="0" err="1">
                <a:solidFill>
                  <a:schemeClr val="tx2">
                    <a:lumMod val="65000"/>
                    <a:lumOff val="35000"/>
                  </a:schemeClr>
                </a:solidFill>
                <a:effectLst/>
                <a:latin typeface="Consolas" panose="020B0609020204030204" pitchFamily="49" charset="0"/>
              </a:rPr>
              <a:t>numpy</a:t>
            </a:r>
            <a:r>
              <a:rPr lang="en-US" b="0" dirty="0">
                <a:solidFill>
                  <a:schemeClr val="tx2">
                    <a:lumMod val="65000"/>
                    <a:lumOff val="35000"/>
                  </a:schemeClr>
                </a:solidFill>
                <a:effectLst/>
                <a:latin typeface="Consolas" panose="020B0609020204030204" pitchFamily="49" charset="0"/>
              </a:rPr>
              <a:t> as np</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m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([[1,2,3],</a:t>
            </a:r>
          </a:p>
          <a:p>
            <a:r>
              <a:rPr lang="en-US" dirty="0">
                <a:solidFill>
                  <a:schemeClr val="tx2">
                    <a:lumMod val="65000"/>
                    <a:lumOff val="35000"/>
                  </a:schemeClr>
                </a:solidFill>
                <a:latin typeface="Consolas" panose="020B0609020204030204" pitchFamily="49" charset="0"/>
              </a:rPr>
              <a:t>              </a:t>
            </a:r>
            <a:r>
              <a:rPr lang="en-US" b="0" dirty="0">
                <a:solidFill>
                  <a:schemeClr val="tx2">
                    <a:lumMod val="65000"/>
                    <a:lumOff val="35000"/>
                  </a:schemeClr>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r>
              <a:rPr lang="en-US" b="0" dirty="0">
                <a:solidFill>
                  <a:schemeClr val="tx2">
                    <a:lumMod val="65000"/>
                    <a:lumOff val="35000"/>
                  </a:schemeClr>
                </a:solidFill>
                <a:effectLst/>
                <a:latin typeface="Consolas" panose="020B0609020204030204" pitchFamily="49" charset="0"/>
              </a:rPr>
              <a:t>])</a:t>
            </a:r>
          </a:p>
          <a:p>
            <a:r>
              <a:rPr lang="en-US" b="0" dirty="0">
                <a:solidFill>
                  <a:schemeClr val="tx2">
                    <a:lumMod val="65000"/>
                    <a:lumOff val="35000"/>
                  </a:schemeClr>
                </a:solidFill>
                <a:effectLst/>
                <a:latin typeface="Consolas" panose="020B0609020204030204" pitchFamily="49" charset="0"/>
              </a:rPr>
              <a:t>print("sum     = ",</a:t>
            </a:r>
            <a:r>
              <a:rPr lang="en-US" b="0" dirty="0" err="1">
                <a:solidFill>
                  <a:schemeClr val="tx2">
                    <a:lumMod val="65000"/>
                    <a:lumOff val="35000"/>
                  </a:schemeClr>
                </a:solidFill>
                <a:effectLst/>
                <a:latin typeface="Consolas" panose="020B0609020204030204" pitchFamily="49" charset="0"/>
              </a:rPr>
              <a:t>m.sum</a:t>
            </a:r>
            <a:r>
              <a:rPr lang="en-US" b="0" dirty="0">
                <a:solidFill>
                  <a:schemeClr val="tx2">
                    <a:lumMod val="65000"/>
                    <a:lumOff val="35000"/>
                  </a:schemeClr>
                </a:solidFill>
                <a:effectLst/>
                <a:latin typeface="Consolas" panose="020B0609020204030204" pitchFamily="49" charset="0"/>
              </a:rPr>
              <a:t>(axis=1))</a:t>
            </a:r>
          </a:p>
          <a:p>
            <a:r>
              <a:rPr lang="en-US" b="0" dirty="0">
                <a:solidFill>
                  <a:schemeClr val="tx2">
                    <a:lumMod val="65000"/>
                    <a:lumOff val="35000"/>
                  </a:schemeClr>
                </a:solidFill>
                <a:effectLst/>
                <a:latin typeface="Consolas" panose="020B0609020204030204" pitchFamily="49" charset="0"/>
              </a:rPr>
              <a:t>print("min     = ",</a:t>
            </a:r>
            <a:r>
              <a:rPr lang="en-US" b="0" dirty="0" err="1">
                <a:solidFill>
                  <a:schemeClr val="tx2">
                    <a:lumMod val="65000"/>
                    <a:lumOff val="35000"/>
                  </a:schemeClr>
                </a:solidFill>
                <a:effectLst/>
                <a:latin typeface="Consolas" panose="020B0609020204030204" pitchFamily="49" charset="0"/>
              </a:rPr>
              <a:t>m.min</a:t>
            </a:r>
            <a:r>
              <a:rPr lang="en-US" b="0" dirty="0">
                <a:solidFill>
                  <a:schemeClr val="tx2">
                    <a:lumMod val="65000"/>
                    <a:lumOff val="35000"/>
                  </a:schemeClr>
                </a:solidFill>
                <a:effectLst/>
                <a:latin typeface="Consolas" panose="020B0609020204030204" pitchFamily="49" charset="0"/>
              </a:rPr>
              <a:t>(axis=1))</a:t>
            </a:r>
          </a:p>
          <a:p>
            <a:r>
              <a:rPr lang="en-US" b="0" dirty="0">
                <a:solidFill>
                  <a:schemeClr val="tx2">
                    <a:lumMod val="65000"/>
                    <a:lumOff val="35000"/>
                  </a:schemeClr>
                </a:solidFill>
                <a:effectLst/>
                <a:latin typeface="Consolas" panose="020B0609020204030204" pitchFamily="49" charset="0"/>
              </a:rPr>
              <a:t>print("max     = ",</a:t>
            </a:r>
            <a:r>
              <a:rPr lang="en-US" b="0" dirty="0" err="1">
                <a:solidFill>
                  <a:schemeClr val="tx2">
                    <a:lumMod val="65000"/>
                    <a:lumOff val="35000"/>
                  </a:schemeClr>
                </a:solidFill>
                <a:effectLst/>
                <a:latin typeface="Consolas" panose="020B0609020204030204" pitchFamily="49" charset="0"/>
              </a:rPr>
              <a:t>m.max</a:t>
            </a:r>
            <a:r>
              <a:rPr lang="en-US" b="0" dirty="0">
                <a:solidFill>
                  <a:schemeClr val="tx2">
                    <a:lumMod val="65000"/>
                    <a:lumOff val="35000"/>
                  </a:schemeClr>
                </a:solidFill>
                <a:effectLst/>
                <a:latin typeface="Consolas" panose="020B0609020204030204" pitchFamily="49" charset="0"/>
              </a:rPr>
              <a:t>(axis=1))</a:t>
            </a:r>
          </a:p>
          <a:p>
            <a:r>
              <a:rPr lang="en-US" b="0" dirty="0">
                <a:solidFill>
                  <a:schemeClr val="tx2">
                    <a:lumMod val="65000"/>
                    <a:lumOff val="35000"/>
                  </a:schemeClr>
                </a:solidFill>
                <a:effectLst/>
                <a:latin typeface="Consolas" panose="020B0609020204030204" pitchFamily="49" charset="0"/>
              </a:rPr>
              <a:t>print("mean    = ",</a:t>
            </a:r>
            <a:r>
              <a:rPr lang="en-US" b="0" dirty="0" err="1">
                <a:solidFill>
                  <a:schemeClr val="tx2">
                    <a:lumMod val="65000"/>
                    <a:lumOff val="35000"/>
                  </a:schemeClr>
                </a:solidFill>
                <a:effectLst/>
                <a:latin typeface="Consolas" panose="020B0609020204030204" pitchFamily="49" charset="0"/>
              </a:rPr>
              <a:t>m.mean</a:t>
            </a:r>
            <a:r>
              <a:rPr lang="en-US" b="0" dirty="0">
                <a:solidFill>
                  <a:schemeClr val="tx2">
                    <a:lumMod val="65000"/>
                    <a:lumOff val="35000"/>
                  </a:schemeClr>
                </a:solidFill>
                <a:effectLst/>
                <a:latin typeface="Consolas" panose="020B0609020204030204" pitchFamily="49" charset="0"/>
              </a:rPr>
              <a:t>(axis=1))</a:t>
            </a: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075612" y="4137660"/>
          <a:ext cx="3217811" cy="1249680"/>
        </p:xfrm>
        <a:graphic>
          <a:graphicData uri="http://schemas.openxmlformats.org/drawingml/2006/table">
            <a:tbl>
              <a:tblPr firstRow="1" bandRow="1">
                <a:tableStyleId>{073A0DAA-6AF3-43AB-8588-CEC1D06C72B9}</a:tableStyleId>
              </a:tblPr>
              <a:tblGrid>
                <a:gridCol w="3217811">
                  <a:extLst>
                    <a:ext uri="{9D8B030D-6E8A-4147-A177-3AD203B41FA5}">
                      <a16:colId xmlns:a16="http://schemas.microsoft.com/office/drawing/2014/main" val="3899577134"/>
                    </a:ext>
                  </a:extLst>
                </a:gridCol>
              </a:tblGrid>
              <a:tr h="142240">
                <a:tc>
                  <a:txBody>
                    <a:bodyPr/>
                    <a:lstStyle/>
                    <a:p>
                      <a:r>
                        <a:rPr lang="en-US" dirty="0"/>
                        <a:t>Output </a:t>
                      </a:r>
                    </a:p>
                  </a:txBody>
                  <a:tcPr/>
                </a:tc>
                <a:extLst>
                  <a:ext uri="{0D108BD9-81ED-4DB2-BD59-A6C34878D82A}">
                    <a16:rowId xmlns:a16="http://schemas.microsoft.com/office/drawing/2014/main" val="117988312"/>
                  </a:ext>
                </a:extLst>
              </a:tr>
              <a:tr h="370840">
                <a:tc>
                  <a:txBody>
                    <a:bodyPr/>
                    <a:lstStyle/>
                    <a:p>
                      <a:r>
                        <a:rPr lang="en-US" dirty="0">
                          <a:solidFill>
                            <a:schemeClr val="bg1">
                              <a:lumMod val="65000"/>
                            </a:schemeClr>
                          </a:solidFill>
                          <a:latin typeface="Consolas" panose="020B0609020204030204" pitchFamily="49" charset="0"/>
                        </a:rPr>
                        <a:t>sum     =  [6 </a:t>
                      </a:r>
                      <a:r>
                        <a:rPr lang="en-US" dirty="0">
                          <a:latin typeface="Consolas" panose="020B0609020204030204" pitchFamily="49" charset="0"/>
                        </a:rPr>
                        <a:t>15</a:t>
                      </a:r>
                      <a:r>
                        <a:rPr lang="en-US" dirty="0">
                          <a:solidFill>
                            <a:schemeClr val="bg1">
                              <a:lumMod val="65000"/>
                            </a:schemeClr>
                          </a:solidFill>
                          <a:latin typeface="Consolas" panose="020B0609020204030204" pitchFamily="49" charset="0"/>
                        </a:rPr>
                        <a:t>]</a:t>
                      </a:r>
                    </a:p>
                    <a:p>
                      <a:r>
                        <a:rPr lang="en-US" dirty="0">
                          <a:solidFill>
                            <a:schemeClr val="bg1">
                              <a:lumMod val="65000"/>
                            </a:schemeClr>
                          </a:solidFill>
                          <a:latin typeface="Consolas" panose="020B0609020204030204" pitchFamily="49" charset="0"/>
                        </a:rPr>
                        <a:t>min     =  [1 4]</a:t>
                      </a:r>
                    </a:p>
                    <a:p>
                      <a:r>
                        <a:rPr lang="en-US" dirty="0">
                          <a:solidFill>
                            <a:schemeClr val="bg1">
                              <a:lumMod val="65000"/>
                            </a:schemeClr>
                          </a:solidFill>
                          <a:latin typeface="Consolas" panose="020B0609020204030204" pitchFamily="49" charset="0"/>
                        </a:rPr>
                        <a:t>max     =  [3 6]</a:t>
                      </a:r>
                    </a:p>
                    <a:p>
                      <a:r>
                        <a:rPr lang="en-US" dirty="0">
                          <a:solidFill>
                            <a:schemeClr val="bg1">
                              <a:lumMod val="65000"/>
                            </a:schemeClr>
                          </a:solidFill>
                          <a:latin typeface="Consolas" panose="020B0609020204030204" pitchFamily="49" charset="0"/>
                        </a:rPr>
                        <a:t>mean    =  [2. 5.]</a:t>
                      </a:r>
                    </a:p>
                  </a:txBody>
                  <a:tcPr/>
                </a:tc>
                <a:extLst>
                  <a:ext uri="{0D108BD9-81ED-4DB2-BD59-A6C34878D82A}">
                    <a16:rowId xmlns:a16="http://schemas.microsoft.com/office/drawing/2014/main" val="4231599274"/>
                  </a:ext>
                </a:extLst>
              </a:tr>
            </a:tbl>
          </a:graphicData>
        </a:graphic>
      </p:graphicFrame>
      <p:sp>
        <p:nvSpPr>
          <p:cNvPr id="4" name="Rectangle 3">
            <a:extLst>
              <a:ext uri="{FF2B5EF4-FFF2-40B4-BE49-F238E27FC236}">
                <a16:creationId xmlns:a16="http://schemas.microsoft.com/office/drawing/2014/main" id="{584F6E87-9526-161A-8A96-E5C8252BC2C3}"/>
              </a:ext>
            </a:extLst>
          </p:cNvPr>
          <p:cNvSpPr/>
          <p:nvPr/>
        </p:nvSpPr>
        <p:spPr>
          <a:xfrm>
            <a:off x="9311378" y="4434510"/>
            <a:ext cx="457200" cy="335598"/>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Down Arrow 6">
            <a:extLst>
              <a:ext uri="{FF2B5EF4-FFF2-40B4-BE49-F238E27FC236}">
                <a16:creationId xmlns:a16="http://schemas.microsoft.com/office/drawing/2014/main" id="{A2F1922A-C989-3F86-E9EA-B16B1C34A74D}"/>
              </a:ext>
            </a:extLst>
          </p:cNvPr>
          <p:cNvSpPr/>
          <p:nvPr/>
        </p:nvSpPr>
        <p:spPr>
          <a:xfrm>
            <a:off x="4350517" y="2932543"/>
            <a:ext cx="5334000" cy="1554480"/>
          </a:xfrm>
          <a:prstGeom prst="downArrowCallout">
            <a:avLst>
              <a:gd name="adj1" fmla="val 11190"/>
              <a:gd name="adj2" fmla="val 15714"/>
              <a:gd name="adj3" fmla="val 15714"/>
              <a:gd name="adj4" fmla="val 761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Arial" panose="020B0604020202020204" pitchFamily="34" charset="0"/>
                <a:cs typeface="Arial" panose="020B0604020202020204" pitchFamily="34" charset="0"/>
              </a:rPr>
              <a:t>In this case, the values for sum method are computed in the following way: </a:t>
            </a:r>
          </a:p>
          <a:p>
            <a:pPr algn="ctr"/>
            <a:r>
              <a:rPr lang="en-US" dirty="0">
                <a:highlight>
                  <a:srgbClr val="000000"/>
                </a:highlight>
                <a:latin typeface="Arial" panose="020B0604020202020204" pitchFamily="34" charset="0"/>
                <a:cs typeface="Arial" panose="020B0604020202020204" pitchFamily="34" charset="0"/>
              </a:rPr>
              <a:t>6=1+2+3, 15=4+5+6</a:t>
            </a:r>
          </a:p>
        </p:txBody>
      </p:sp>
      <p:cxnSp>
        <p:nvCxnSpPr>
          <p:cNvPr id="8" name="Connector: Elbow 7">
            <a:extLst>
              <a:ext uri="{FF2B5EF4-FFF2-40B4-BE49-F238E27FC236}">
                <a16:creationId xmlns:a16="http://schemas.microsoft.com/office/drawing/2014/main" id="{3E895E3A-2060-58C4-0141-0130BE60918F}"/>
              </a:ext>
            </a:extLst>
          </p:cNvPr>
          <p:cNvCxnSpPr>
            <a:cxnSpLocks/>
            <a:stCxn id="9" idx="3"/>
            <a:endCxn id="4" idx="1"/>
          </p:cNvCxnSpPr>
          <p:nvPr/>
        </p:nvCxnSpPr>
        <p:spPr>
          <a:xfrm flipV="1">
            <a:off x="4149655" y="4602309"/>
            <a:ext cx="5161723" cy="433354"/>
          </a:xfrm>
          <a:prstGeom prst="bentConnector3">
            <a:avLst>
              <a:gd name="adj1" fmla="val 50000"/>
            </a:avLst>
          </a:prstGeom>
          <a:ln w="38100">
            <a:solidFill>
              <a:schemeClr val="accent5">
                <a:lumMod val="50000"/>
              </a:schemeClr>
            </a:solidFill>
            <a:tailEnd type="triangle"/>
          </a:ln>
        </p:spPr>
        <p:style>
          <a:lnRef idx="3">
            <a:schemeClr val="accent5"/>
          </a:lnRef>
          <a:fillRef idx="0">
            <a:schemeClr val="accent5"/>
          </a:fillRef>
          <a:effectRef idx="2">
            <a:schemeClr val="accent5"/>
          </a:effectRef>
          <a:fontRef idx="minor">
            <a:schemeClr val="tx1"/>
          </a:fontRef>
        </p:style>
      </p:cxnSp>
      <p:sp>
        <p:nvSpPr>
          <p:cNvPr id="9" name="Rectangle 8">
            <a:extLst>
              <a:ext uri="{FF2B5EF4-FFF2-40B4-BE49-F238E27FC236}">
                <a16:creationId xmlns:a16="http://schemas.microsoft.com/office/drawing/2014/main" id="{460C59E4-6E2B-A62E-0D51-3911B3004984}"/>
              </a:ext>
            </a:extLst>
          </p:cNvPr>
          <p:cNvSpPr/>
          <p:nvPr/>
        </p:nvSpPr>
        <p:spPr>
          <a:xfrm>
            <a:off x="3387656" y="4896678"/>
            <a:ext cx="761999" cy="27797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4172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More on axis: Using axis, you specify that you want to perform operations on that axis. This will make the result one dimension lower.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4221162"/>
            <a:ext cx="9448800" cy="23622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9CDCFE"/>
                </a:solidFill>
                <a:effectLst/>
                <a:latin typeface="Menlo" panose="020B0609030804020204" pitchFamily="49" charset="0"/>
              </a:rPr>
              <a:t>a</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err="1">
                <a:solidFill>
                  <a:srgbClr val="4EC9B0"/>
                </a:solidFill>
                <a:effectLst/>
                <a:latin typeface="Menlo" panose="020B0609030804020204" pitchFamily="49" charset="0"/>
              </a:rPr>
              <a:t>np</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arange</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D4D4D4"/>
                </a:solidFill>
                <a:effectLst/>
                <a:latin typeface="Menlo" panose="020B0609030804020204" pitchFamily="49" charset="0"/>
              </a:rPr>
              <a:t>+</a:t>
            </a:r>
            <a:r>
              <a:rPr lang="en-US" b="0" dirty="0">
                <a:solidFill>
                  <a:srgbClr val="B5CEA8"/>
                </a:solidFill>
                <a:effectLst/>
                <a:latin typeface="Menlo" panose="020B0609030804020204" pitchFamily="49" charset="0"/>
              </a:rPr>
              <a:t>2</a:t>
            </a:r>
            <a:r>
              <a:rPr lang="en-US" b="0" dirty="0">
                <a:solidFill>
                  <a:srgbClr val="D4D4D4"/>
                </a:solidFill>
                <a:effectLst/>
                <a:latin typeface="Menlo" panose="020B0609030804020204" pitchFamily="49" charset="0"/>
              </a:rPr>
              <a:t>*</a:t>
            </a:r>
            <a:r>
              <a:rPr lang="en-US" b="0" dirty="0">
                <a:solidFill>
                  <a:srgbClr val="B5CEA8"/>
                </a:solidFill>
                <a:effectLst/>
                <a:latin typeface="Menlo" panose="020B0609030804020204" pitchFamily="49" charset="0"/>
              </a:rPr>
              <a:t>3</a:t>
            </a:r>
            <a:r>
              <a:rPr lang="en-US" b="0" dirty="0">
                <a:solidFill>
                  <a:srgbClr val="D4D4D4"/>
                </a:solidFill>
                <a:effectLst/>
                <a:latin typeface="Menlo" panose="020B0609030804020204" pitchFamily="49" charset="0"/>
              </a:rPr>
              <a:t>*</a:t>
            </a:r>
            <a:r>
              <a:rPr lang="en-US" b="0" dirty="0">
                <a:solidFill>
                  <a:srgbClr val="B5CEA8"/>
                </a:solidFill>
                <a:effectLst/>
                <a:latin typeface="Menlo" panose="020B0609030804020204" pitchFamily="49" charset="0"/>
              </a:rPr>
              <a:t>4</a:t>
            </a:r>
            <a:r>
              <a:rPr lang="en-US" b="0" dirty="0">
                <a:solidFill>
                  <a:srgbClr val="CCCCCC"/>
                </a:solidFill>
                <a:effectLst/>
                <a:latin typeface="Menlo" panose="020B0609030804020204" pitchFamily="49" charset="0"/>
              </a:rPr>
              <a:t>).</a:t>
            </a:r>
            <a:r>
              <a:rPr lang="en-US" b="0" dirty="0">
                <a:solidFill>
                  <a:srgbClr val="DCDCAA"/>
                </a:solidFill>
                <a:effectLst/>
                <a:latin typeface="Menlo" panose="020B0609030804020204" pitchFamily="49" charset="0"/>
              </a:rPr>
              <a:t>reshape</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2</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3</a:t>
            </a:r>
            <a:r>
              <a:rPr lang="en-US" b="0" dirty="0">
                <a:solidFill>
                  <a:srgbClr val="CCCCCC"/>
                </a:solidFill>
                <a:effectLst/>
                <a:latin typeface="Menlo" panose="020B0609030804020204" pitchFamily="49" charset="0"/>
              </a:rPr>
              <a:t>,</a:t>
            </a:r>
            <a:r>
              <a:rPr lang="en-US" b="0" dirty="0">
                <a:solidFill>
                  <a:srgbClr val="B5CEA8"/>
                </a:solidFill>
                <a:effectLst/>
                <a:latin typeface="Menlo" panose="020B0609030804020204" pitchFamily="49" charset="0"/>
              </a:rPr>
              <a:t>4</a:t>
            </a:r>
            <a:r>
              <a:rPr lang="en-US" b="0" dirty="0">
                <a:solidFill>
                  <a:srgbClr val="CCCCCC"/>
                </a:solidFill>
                <a:effectLst/>
                <a:latin typeface="Menlo" panose="020B0609030804020204" pitchFamily="49" charset="0"/>
              </a:rPr>
              <a:t>)</a:t>
            </a:r>
          </a:p>
          <a:p>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"a="</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a</a:t>
            </a:r>
            <a:r>
              <a:rPr lang="en-US" b="0" dirty="0">
                <a:solidFill>
                  <a:srgbClr val="CCCCCC"/>
                </a:solidFill>
                <a:effectLst/>
                <a:latin typeface="Menlo" panose="020B0609030804020204" pitchFamily="49" charset="0"/>
              </a:rPr>
              <a:t>)</a:t>
            </a:r>
          </a:p>
          <a:p>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a.sum</a:t>
            </a:r>
            <a:r>
              <a:rPr lang="en-US" b="0" dirty="0">
                <a:solidFill>
                  <a:srgbClr val="CE9178"/>
                </a:solidFill>
                <a:effectLst/>
                <a:latin typeface="Menlo" panose="020B0609030804020204" pitchFamily="49" charset="0"/>
              </a:rPr>
              <a:t>(axis=0)="</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a</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sum</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axis</a:t>
            </a:r>
            <a:r>
              <a:rPr lang="en-US" b="0" dirty="0">
                <a:solidFill>
                  <a:srgbClr val="D4D4D4"/>
                </a:solidFill>
                <a:effectLst/>
                <a:latin typeface="Menlo" panose="020B0609030804020204" pitchFamily="49" charset="0"/>
              </a:rPr>
              <a:t>=</a:t>
            </a:r>
            <a:r>
              <a:rPr lang="en-US" b="0" dirty="0">
                <a:solidFill>
                  <a:srgbClr val="B5CEA8"/>
                </a:solidFill>
                <a:effectLst/>
                <a:latin typeface="Menlo" panose="020B0609030804020204" pitchFamily="49" charset="0"/>
              </a:rPr>
              <a:t>0</a:t>
            </a:r>
            <a:r>
              <a:rPr lang="en-US" b="0" dirty="0">
                <a:solidFill>
                  <a:srgbClr val="CCCCCC"/>
                </a:solidFill>
                <a:effectLst/>
                <a:latin typeface="Menlo" panose="020B0609030804020204" pitchFamily="49" charset="0"/>
              </a:rPr>
              <a:t>))</a:t>
            </a:r>
          </a:p>
          <a:p>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a.sum</a:t>
            </a:r>
            <a:r>
              <a:rPr lang="en-US" b="0" dirty="0">
                <a:solidFill>
                  <a:srgbClr val="CE9178"/>
                </a:solidFill>
                <a:effectLst/>
                <a:latin typeface="Menlo" panose="020B0609030804020204" pitchFamily="49" charset="0"/>
              </a:rPr>
              <a:t>(axis=1)="</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a</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sum</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axis</a:t>
            </a:r>
            <a:r>
              <a:rPr lang="en-US" b="0" dirty="0">
                <a:solidFill>
                  <a:srgbClr val="D4D4D4"/>
                </a:solidFill>
                <a:effectLst/>
                <a:latin typeface="Menlo" panose="020B0609030804020204" pitchFamily="49" charset="0"/>
              </a:rPr>
              <a:t>=</a:t>
            </a:r>
            <a:r>
              <a:rPr lang="en-US" b="0" dirty="0">
                <a:solidFill>
                  <a:srgbClr val="B5CEA8"/>
                </a:solidFill>
                <a:effectLst/>
                <a:latin typeface="Menlo" panose="020B0609030804020204" pitchFamily="49" charset="0"/>
              </a:rPr>
              <a:t>1</a:t>
            </a:r>
            <a:r>
              <a:rPr lang="en-US" b="0" dirty="0">
                <a:solidFill>
                  <a:srgbClr val="CCCCCC"/>
                </a:solidFill>
                <a:effectLst/>
                <a:latin typeface="Menlo" panose="020B0609030804020204" pitchFamily="49" charset="0"/>
              </a:rPr>
              <a:t>))</a:t>
            </a:r>
          </a:p>
          <a:p>
            <a:r>
              <a:rPr lang="en-US" b="0" dirty="0">
                <a:solidFill>
                  <a:srgbClr val="DCDCAA"/>
                </a:solidFill>
                <a:effectLst/>
                <a:latin typeface="Menlo" panose="020B0609030804020204" pitchFamily="49" charset="0"/>
              </a:rPr>
              <a:t>print</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a:t>
            </a:r>
            <a:r>
              <a:rPr lang="en-US" b="0" dirty="0" err="1">
                <a:solidFill>
                  <a:srgbClr val="CE9178"/>
                </a:solidFill>
                <a:effectLst/>
                <a:latin typeface="Menlo" panose="020B0609030804020204" pitchFamily="49" charset="0"/>
              </a:rPr>
              <a:t>a.sum</a:t>
            </a:r>
            <a:r>
              <a:rPr lang="en-US" b="0" dirty="0">
                <a:solidFill>
                  <a:srgbClr val="CE9178"/>
                </a:solidFill>
                <a:effectLst/>
                <a:latin typeface="Menlo" panose="020B0609030804020204" pitchFamily="49" charset="0"/>
              </a:rPr>
              <a:t>(axis=2)="</a:t>
            </a:r>
            <a:r>
              <a:rPr lang="en-US" b="0" dirty="0">
                <a:solidFill>
                  <a:srgbClr val="CCCCCC"/>
                </a:solidFill>
                <a:effectLst/>
                <a:latin typeface="Menlo" panose="020B0609030804020204" pitchFamily="49" charset="0"/>
              </a:rPr>
              <a:t>, </a:t>
            </a:r>
            <a:r>
              <a:rPr lang="en-US" b="0" dirty="0" err="1">
                <a:solidFill>
                  <a:srgbClr val="9CDCFE"/>
                </a:solidFill>
                <a:effectLst/>
                <a:latin typeface="Menlo" panose="020B0609030804020204" pitchFamily="49" charset="0"/>
              </a:rPr>
              <a:t>a</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sum</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axis</a:t>
            </a:r>
            <a:r>
              <a:rPr lang="en-US" b="0" dirty="0">
                <a:solidFill>
                  <a:srgbClr val="D4D4D4"/>
                </a:solidFill>
                <a:effectLst/>
                <a:latin typeface="Menlo" panose="020B0609030804020204" pitchFamily="49" charset="0"/>
              </a:rPr>
              <a:t>=</a:t>
            </a:r>
            <a:r>
              <a:rPr lang="en-US" b="0" dirty="0">
                <a:solidFill>
                  <a:srgbClr val="B5CEA8"/>
                </a:solidFill>
                <a:effectLst/>
                <a:latin typeface="Menlo" panose="020B0609030804020204" pitchFamily="49" charset="0"/>
              </a:rPr>
              <a:t>2</a:t>
            </a:r>
            <a:r>
              <a:rPr lang="en-US" b="0" dirty="0">
                <a:solidFill>
                  <a:srgbClr val="CCCCCC"/>
                </a:solidFill>
                <a:effectLst/>
                <a:latin typeface="Menlo" panose="020B0609030804020204" pitchFamily="49" charset="0"/>
              </a:rPr>
              <a:t>))</a:t>
            </a: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035362" y="2553597"/>
          <a:ext cx="3822373" cy="4182165"/>
        </p:xfrm>
        <a:graphic>
          <a:graphicData uri="http://schemas.openxmlformats.org/drawingml/2006/table">
            <a:tbl>
              <a:tblPr firstRow="1" bandRow="1">
                <a:tableStyleId>{073A0DAA-6AF3-43AB-8588-CEC1D06C72B9}</a:tableStyleId>
              </a:tblPr>
              <a:tblGrid>
                <a:gridCol w="3822373">
                  <a:extLst>
                    <a:ext uri="{9D8B030D-6E8A-4147-A177-3AD203B41FA5}">
                      <a16:colId xmlns:a16="http://schemas.microsoft.com/office/drawing/2014/main" val="3899577134"/>
                    </a:ext>
                  </a:extLst>
                </a:gridCol>
              </a:tblGrid>
              <a:tr h="463605">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sz="1400" b="0" i="0" u="none" strike="noStrike" cap="none" dirty="0">
                          <a:solidFill>
                            <a:schemeClr val="tx2"/>
                          </a:solidFill>
                          <a:effectLst/>
                          <a:latin typeface="+mn-lt"/>
                          <a:ea typeface="+mn-ea"/>
                          <a:cs typeface="+mn-cs"/>
                          <a:sym typeface="Arial"/>
                        </a:rPr>
                        <a:t>a= [[[ 1  2  3  4]</a:t>
                      </a:r>
                    </a:p>
                    <a:p>
                      <a:r>
                        <a:rPr lang="en-US" sz="1400" b="0" i="0" u="none" strike="noStrike" cap="none" dirty="0">
                          <a:solidFill>
                            <a:schemeClr val="tx2"/>
                          </a:solidFill>
                          <a:effectLst/>
                          <a:latin typeface="+mn-lt"/>
                          <a:ea typeface="+mn-ea"/>
                          <a:cs typeface="+mn-cs"/>
                          <a:sym typeface="Arial"/>
                        </a:rPr>
                        <a:t>  [ 5  6  7  8]</a:t>
                      </a:r>
                    </a:p>
                    <a:p>
                      <a:r>
                        <a:rPr lang="en-US" sz="1400" b="0" i="0" u="none" strike="noStrike" cap="none" dirty="0">
                          <a:solidFill>
                            <a:schemeClr val="tx2"/>
                          </a:solidFill>
                          <a:effectLst/>
                          <a:latin typeface="+mn-lt"/>
                          <a:ea typeface="+mn-ea"/>
                          <a:cs typeface="+mn-cs"/>
                          <a:sym typeface="Arial"/>
                        </a:rPr>
                        <a:t>  [ 9 10 11 12]]</a:t>
                      </a:r>
                    </a:p>
                    <a:p>
                      <a:endParaRPr lang="en-US" sz="1400" b="0" i="0" u="none" strike="noStrike" cap="none" dirty="0">
                        <a:solidFill>
                          <a:schemeClr val="tx2"/>
                        </a:solidFill>
                        <a:effectLst/>
                        <a:latin typeface="+mn-lt"/>
                        <a:ea typeface="+mn-ea"/>
                        <a:cs typeface="+mn-cs"/>
                        <a:sym typeface="Arial"/>
                      </a:endParaRPr>
                    </a:p>
                    <a:p>
                      <a:r>
                        <a:rPr lang="en-US" sz="1400" b="0" i="0" u="none" strike="noStrike" cap="none" dirty="0">
                          <a:solidFill>
                            <a:schemeClr val="tx2"/>
                          </a:solidFill>
                          <a:effectLst/>
                          <a:latin typeface="+mn-lt"/>
                          <a:ea typeface="+mn-ea"/>
                          <a:cs typeface="+mn-cs"/>
                          <a:sym typeface="Arial"/>
                        </a:rPr>
                        <a:t> [[13 14 15 16]</a:t>
                      </a:r>
                    </a:p>
                    <a:p>
                      <a:r>
                        <a:rPr lang="en-US" sz="1400" b="0" i="0" u="none" strike="noStrike" cap="none" dirty="0">
                          <a:solidFill>
                            <a:schemeClr val="tx2"/>
                          </a:solidFill>
                          <a:effectLst/>
                          <a:latin typeface="+mn-lt"/>
                          <a:ea typeface="+mn-ea"/>
                          <a:cs typeface="+mn-cs"/>
                          <a:sym typeface="Arial"/>
                        </a:rPr>
                        <a:t>  [17 18 19 20]</a:t>
                      </a:r>
                    </a:p>
                    <a:p>
                      <a:r>
                        <a:rPr lang="en-US" sz="1400" b="0" i="0" u="none" strike="noStrike" cap="none" dirty="0">
                          <a:solidFill>
                            <a:schemeClr val="tx2"/>
                          </a:solidFill>
                          <a:effectLst/>
                          <a:latin typeface="+mn-lt"/>
                          <a:ea typeface="+mn-ea"/>
                          <a:cs typeface="+mn-cs"/>
                          <a:sym typeface="Arial"/>
                        </a:rPr>
                        <a:t>  [21 22 23 24]]]</a:t>
                      </a:r>
                    </a:p>
                    <a:p>
                      <a:endParaRPr lang="en-US" sz="1400" b="0" i="0" u="none" strike="noStrike" cap="none" dirty="0">
                        <a:solidFill>
                          <a:schemeClr val="tx2"/>
                        </a:solidFill>
                        <a:effectLst/>
                        <a:latin typeface="+mn-lt"/>
                        <a:ea typeface="+mn-ea"/>
                        <a:cs typeface="+mn-cs"/>
                        <a:sym typeface="Arial"/>
                      </a:endParaRPr>
                    </a:p>
                    <a:p>
                      <a:r>
                        <a:rPr lang="en-US" sz="1400" b="0" i="0" u="none" strike="noStrike" cap="none" dirty="0" err="1">
                          <a:solidFill>
                            <a:schemeClr val="tx2"/>
                          </a:solidFill>
                          <a:effectLst/>
                          <a:latin typeface="+mn-lt"/>
                          <a:ea typeface="+mn-ea"/>
                          <a:cs typeface="+mn-cs"/>
                          <a:sym typeface="Arial"/>
                        </a:rPr>
                        <a:t>a.sum</a:t>
                      </a:r>
                      <a:r>
                        <a:rPr lang="en-US" sz="1400" b="0" i="0" u="none" strike="noStrike" cap="none" dirty="0">
                          <a:solidFill>
                            <a:schemeClr val="tx2"/>
                          </a:solidFill>
                          <a:effectLst/>
                          <a:latin typeface="+mn-lt"/>
                          <a:ea typeface="+mn-ea"/>
                          <a:cs typeface="+mn-cs"/>
                          <a:sym typeface="Arial"/>
                        </a:rPr>
                        <a:t>(axis=0)= [[14 16 18 20]</a:t>
                      </a:r>
                    </a:p>
                    <a:p>
                      <a:r>
                        <a:rPr lang="en-US" sz="1400" b="0" i="0" u="none" strike="noStrike" cap="none" dirty="0">
                          <a:solidFill>
                            <a:schemeClr val="tx2"/>
                          </a:solidFill>
                          <a:effectLst/>
                          <a:latin typeface="+mn-lt"/>
                          <a:ea typeface="+mn-ea"/>
                          <a:cs typeface="+mn-cs"/>
                          <a:sym typeface="Arial"/>
                        </a:rPr>
                        <a:t>                           [22 24 26 28]</a:t>
                      </a:r>
                    </a:p>
                    <a:p>
                      <a:r>
                        <a:rPr lang="en-US" sz="1400" b="0" i="0" u="none" strike="noStrike" cap="none" dirty="0">
                          <a:solidFill>
                            <a:schemeClr val="tx2"/>
                          </a:solidFill>
                          <a:effectLst/>
                          <a:latin typeface="+mn-lt"/>
                          <a:ea typeface="+mn-ea"/>
                          <a:cs typeface="+mn-cs"/>
                          <a:sym typeface="Arial"/>
                        </a:rPr>
                        <a:t>                           [30 32 34 36]]</a:t>
                      </a:r>
                    </a:p>
                    <a:p>
                      <a:endParaRPr lang="en-US" sz="1400" b="0" i="0" u="none" strike="noStrike" cap="none" dirty="0">
                        <a:solidFill>
                          <a:schemeClr val="tx2"/>
                        </a:solidFill>
                        <a:effectLst/>
                        <a:latin typeface="+mn-lt"/>
                        <a:ea typeface="+mn-ea"/>
                        <a:cs typeface="+mn-cs"/>
                        <a:sym typeface="Arial"/>
                      </a:endParaRPr>
                    </a:p>
                    <a:p>
                      <a:r>
                        <a:rPr lang="en-US" sz="1400" b="0" i="0" u="none" strike="noStrike" cap="none" dirty="0" err="1">
                          <a:solidFill>
                            <a:schemeClr val="tx2"/>
                          </a:solidFill>
                          <a:effectLst/>
                          <a:latin typeface="+mn-lt"/>
                          <a:ea typeface="+mn-ea"/>
                          <a:cs typeface="+mn-cs"/>
                          <a:sym typeface="Arial"/>
                        </a:rPr>
                        <a:t>a.sum</a:t>
                      </a:r>
                      <a:r>
                        <a:rPr lang="en-US" sz="1400" b="0" i="0" u="none" strike="noStrike" cap="none" dirty="0">
                          <a:solidFill>
                            <a:schemeClr val="tx2"/>
                          </a:solidFill>
                          <a:effectLst/>
                          <a:latin typeface="+mn-lt"/>
                          <a:ea typeface="+mn-ea"/>
                          <a:cs typeface="+mn-cs"/>
                          <a:sym typeface="Arial"/>
                        </a:rPr>
                        <a:t>(axis=1)= [[15 18 21 24]</a:t>
                      </a:r>
                    </a:p>
                    <a:p>
                      <a:r>
                        <a:rPr lang="en-US" sz="1400" b="0" i="0" u="none" strike="noStrike" cap="none" dirty="0">
                          <a:solidFill>
                            <a:schemeClr val="tx2"/>
                          </a:solidFill>
                          <a:effectLst/>
                          <a:latin typeface="+mn-lt"/>
                          <a:ea typeface="+mn-ea"/>
                          <a:cs typeface="+mn-cs"/>
                          <a:sym typeface="Arial"/>
                        </a:rPr>
                        <a:t>                           [51 54 57 60]]</a:t>
                      </a:r>
                    </a:p>
                    <a:p>
                      <a:endParaRPr lang="en-US" sz="1400" b="0" i="0" u="none" strike="noStrike" cap="none" dirty="0">
                        <a:solidFill>
                          <a:schemeClr val="tx2"/>
                        </a:solidFill>
                        <a:effectLst/>
                        <a:latin typeface="+mn-lt"/>
                        <a:ea typeface="+mn-ea"/>
                        <a:cs typeface="+mn-cs"/>
                        <a:sym typeface="Arial"/>
                      </a:endParaRPr>
                    </a:p>
                    <a:p>
                      <a:r>
                        <a:rPr lang="en-US" sz="1400" b="0" i="0" u="none" strike="noStrike" cap="none" dirty="0" err="1">
                          <a:solidFill>
                            <a:schemeClr val="tx2"/>
                          </a:solidFill>
                          <a:effectLst/>
                          <a:latin typeface="+mn-lt"/>
                          <a:ea typeface="+mn-ea"/>
                          <a:cs typeface="+mn-cs"/>
                          <a:sym typeface="Arial"/>
                        </a:rPr>
                        <a:t>a.sum</a:t>
                      </a:r>
                      <a:r>
                        <a:rPr lang="en-US" sz="1400" b="0" i="0" u="none" strike="noStrike" cap="none" dirty="0">
                          <a:solidFill>
                            <a:schemeClr val="tx2"/>
                          </a:solidFill>
                          <a:effectLst/>
                          <a:latin typeface="+mn-lt"/>
                          <a:ea typeface="+mn-ea"/>
                          <a:cs typeface="+mn-cs"/>
                          <a:sym typeface="Arial"/>
                        </a:rPr>
                        <a:t>(axis=2)= [[10 26 42]</a:t>
                      </a:r>
                    </a:p>
                    <a:p>
                      <a:r>
                        <a:rPr lang="en-US" sz="1400" b="0" i="0" u="none" strike="noStrike" cap="none" dirty="0">
                          <a:solidFill>
                            <a:schemeClr val="tx2"/>
                          </a:solidFill>
                          <a:effectLst/>
                          <a:latin typeface="+mn-lt"/>
                          <a:ea typeface="+mn-ea"/>
                          <a:cs typeface="+mn-cs"/>
                          <a:sym typeface="Arial"/>
                        </a:rPr>
                        <a:t>                           [58 74 90]]</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715980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graphicFrame>
        <p:nvGraphicFramePr>
          <p:cNvPr id="9" name="Table 8">
            <a:extLst>
              <a:ext uri="{FF2B5EF4-FFF2-40B4-BE49-F238E27FC236}">
                <a16:creationId xmlns:a16="http://schemas.microsoft.com/office/drawing/2014/main" id="{32CA7433-F0BA-F92C-D8DC-89CDC3711E61}"/>
              </a:ext>
            </a:extLst>
          </p:cNvPr>
          <p:cNvGraphicFramePr>
            <a:graphicFrameLocks noGrp="1"/>
          </p:cNvGraphicFramePr>
          <p:nvPr/>
        </p:nvGraphicFramePr>
        <p:xfrm>
          <a:off x="1127594" y="2539633"/>
          <a:ext cx="1839476"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17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21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4" name="Table 3">
            <a:extLst>
              <a:ext uri="{FF2B5EF4-FFF2-40B4-BE49-F238E27FC236}">
                <a16:creationId xmlns:a16="http://schemas.microsoft.com/office/drawing/2014/main" id="{17C99D9F-019A-D3A2-A2F9-19E4933F0A2D}"/>
              </a:ext>
            </a:extLst>
          </p:cNvPr>
          <p:cNvGraphicFramePr>
            <a:graphicFrameLocks noGrp="1"/>
          </p:cNvGraphicFramePr>
          <p:nvPr/>
        </p:nvGraphicFramePr>
        <p:xfrm>
          <a:off x="1299285" y="2683357"/>
          <a:ext cx="1839476"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cxnSp>
        <p:nvCxnSpPr>
          <p:cNvPr id="11" name="Straight Arrow Connector 10">
            <a:extLst>
              <a:ext uri="{FF2B5EF4-FFF2-40B4-BE49-F238E27FC236}">
                <a16:creationId xmlns:a16="http://schemas.microsoft.com/office/drawing/2014/main" id="{FBB8BD62-2045-E781-65C8-97F31977E812}"/>
              </a:ext>
            </a:extLst>
          </p:cNvPr>
          <p:cNvCxnSpPr/>
          <p:nvPr/>
        </p:nvCxnSpPr>
        <p:spPr>
          <a:xfrm>
            <a:off x="3017540" y="2422430"/>
            <a:ext cx="343382" cy="307684"/>
          </a:xfrm>
          <a:prstGeom prst="straightConnector1">
            <a:avLst/>
          </a:prstGeom>
          <a:ln w="2540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2AFA152-5F61-025C-76AF-C945F32BC5A1}"/>
              </a:ext>
            </a:extLst>
          </p:cNvPr>
          <p:cNvSpPr txBox="1"/>
          <p:nvPr/>
        </p:nvSpPr>
        <p:spPr>
          <a:xfrm>
            <a:off x="3143656" y="2169572"/>
            <a:ext cx="857927" cy="369332"/>
          </a:xfrm>
          <a:prstGeom prst="rect">
            <a:avLst/>
          </a:prstGeom>
          <a:noFill/>
        </p:spPr>
        <p:txBody>
          <a:bodyPr wrap="none" rtlCol="0">
            <a:spAutoFit/>
          </a:bodyPr>
          <a:lstStyle/>
          <a:p>
            <a:r>
              <a:rPr lang="en-US" sz="1800" dirty="0">
                <a:solidFill>
                  <a:schemeClr val="bg1"/>
                </a:solidFill>
              </a:rPr>
              <a:t>axis=0</a:t>
            </a:r>
          </a:p>
        </p:txBody>
      </p:sp>
      <p:sp>
        <p:nvSpPr>
          <p:cNvPr id="13" name="TextBox 12">
            <a:extLst>
              <a:ext uri="{FF2B5EF4-FFF2-40B4-BE49-F238E27FC236}">
                <a16:creationId xmlns:a16="http://schemas.microsoft.com/office/drawing/2014/main" id="{3DB09415-7523-FD2D-3545-7AF09889F83F}"/>
              </a:ext>
            </a:extLst>
          </p:cNvPr>
          <p:cNvSpPr txBox="1"/>
          <p:nvPr/>
        </p:nvSpPr>
        <p:spPr>
          <a:xfrm>
            <a:off x="241882" y="3226846"/>
            <a:ext cx="857927" cy="369332"/>
          </a:xfrm>
          <a:prstGeom prst="rect">
            <a:avLst/>
          </a:prstGeom>
          <a:noFill/>
        </p:spPr>
        <p:txBody>
          <a:bodyPr wrap="none" rtlCol="0">
            <a:spAutoFit/>
          </a:bodyPr>
          <a:lstStyle/>
          <a:p>
            <a:r>
              <a:rPr lang="en-US" sz="1800" dirty="0">
                <a:solidFill>
                  <a:schemeClr val="bg1"/>
                </a:solidFill>
              </a:rPr>
              <a:t>axis=1</a:t>
            </a:r>
          </a:p>
        </p:txBody>
      </p:sp>
      <p:cxnSp>
        <p:nvCxnSpPr>
          <p:cNvPr id="14" name="Straight Arrow Connector 13">
            <a:extLst>
              <a:ext uri="{FF2B5EF4-FFF2-40B4-BE49-F238E27FC236}">
                <a16:creationId xmlns:a16="http://schemas.microsoft.com/office/drawing/2014/main" id="{D8256021-3E03-F4AF-AD3C-8DBD891171B0}"/>
              </a:ext>
            </a:extLst>
          </p:cNvPr>
          <p:cNvCxnSpPr>
            <a:cxnSpLocks/>
          </p:cNvCxnSpPr>
          <p:nvPr/>
        </p:nvCxnSpPr>
        <p:spPr>
          <a:xfrm>
            <a:off x="1003375" y="2663479"/>
            <a:ext cx="0" cy="1531041"/>
          </a:xfrm>
          <a:prstGeom prst="straightConnector1">
            <a:avLst/>
          </a:prstGeom>
          <a:ln w="2540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76CDC01-461C-ED8F-ECB3-257BD209EFFC}"/>
              </a:ext>
            </a:extLst>
          </p:cNvPr>
          <p:cNvCxnSpPr>
            <a:cxnSpLocks/>
          </p:cNvCxnSpPr>
          <p:nvPr/>
        </p:nvCxnSpPr>
        <p:spPr>
          <a:xfrm flipH="1">
            <a:off x="1256903" y="4325466"/>
            <a:ext cx="1864367" cy="8676"/>
          </a:xfrm>
          <a:prstGeom prst="straightConnector1">
            <a:avLst/>
          </a:prstGeom>
          <a:ln w="2540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013B672-BC8F-F227-A612-C958E0DCA905}"/>
              </a:ext>
            </a:extLst>
          </p:cNvPr>
          <p:cNvSpPr txBox="1"/>
          <p:nvPr/>
        </p:nvSpPr>
        <p:spPr>
          <a:xfrm>
            <a:off x="1865400" y="4268775"/>
            <a:ext cx="857927" cy="369332"/>
          </a:xfrm>
          <a:prstGeom prst="rect">
            <a:avLst/>
          </a:prstGeom>
          <a:noFill/>
        </p:spPr>
        <p:txBody>
          <a:bodyPr wrap="none" rtlCol="0">
            <a:spAutoFit/>
          </a:bodyPr>
          <a:lstStyle/>
          <a:p>
            <a:r>
              <a:rPr lang="en-US" sz="1800" dirty="0">
                <a:solidFill>
                  <a:schemeClr val="bg1"/>
                </a:solidFill>
              </a:rPr>
              <a:t>axis=2</a:t>
            </a:r>
          </a:p>
        </p:txBody>
      </p:sp>
      <p:graphicFrame>
        <p:nvGraphicFramePr>
          <p:cNvPr id="24" name="Table 23">
            <a:extLst>
              <a:ext uri="{FF2B5EF4-FFF2-40B4-BE49-F238E27FC236}">
                <a16:creationId xmlns:a16="http://schemas.microsoft.com/office/drawing/2014/main" id="{BEABC5FD-F806-D492-9DDF-385C33FE9999}"/>
              </a:ext>
            </a:extLst>
          </p:cNvPr>
          <p:cNvGraphicFramePr>
            <a:graphicFrameLocks noGrp="1"/>
          </p:cNvGraphicFramePr>
          <p:nvPr/>
        </p:nvGraphicFramePr>
        <p:xfrm>
          <a:off x="9854311" y="670445"/>
          <a:ext cx="1839476"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22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30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32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34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36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cxnSp>
        <p:nvCxnSpPr>
          <p:cNvPr id="26" name="Straight Arrow Connector 25">
            <a:extLst>
              <a:ext uri="{FF2B5EF4-FFF2-40B4-BE49-F238E27FC236}">
                <a16:creationId xmlns:a16="http://schemas.microsoft.com/office/drawing/2014/main" id="{D9354D39-E642-EDF3-94CD-EE72BB615982}"/>
              </a:ext>
            </a:extLst>
          </p:cNvPr>
          <p:cNvCxnSpPr>
            <a:cxnSpLocks/>
            <a:endCxn id="32" idx="1"/>
          </p:cNvCxnSpPr>
          <p:nvPr/>
        </p:nvCxnSpPr>
        <p:spPr>
          <a:xfrm flipV="1">
            <a:off x="3350459" y="1401148"/>
            <a:ext cx="2048084" cy="1644187"/>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0BA9E14-7F36-AB52-AF23-EB9F0F649B67}"/>
              </a:ext>
            </a:extLst>
          </p:cNvPr>
          <p:cNvSpPr txBox="1"/>
          <p:nvPr/>
        </p:nvSpPr>
        <p:spPr>
          <a:xfrm rot="19329631">
            <a:off x="3803181" y="1966471"/>
            <a:ext cx="1858267" cy="400110"/>
          </a:xfrm>
          <a:prstGeom prst="rect">
            <a:avLst/>
          </a:prstGeom>
          <a:noFill/>
        </p:spPr>
        <p:txBody>
          <a:bodyPr wrap="square">
            <a:spAutoFit/>
          </a:bodyPr>
          <a:lstStyle/>
          <a:p>
            <a:r>
              <a:rPr lang="en-US" sz="2000" b="0" i="0" u="none" strike="noStrike" cap="none" dirty="0" err="1">
                <a:solidFill>
                  <a:schemeClr val="bg1"/>
                </a:solidFill>
                <a:effectLst/>
                <a:latin typeface="+mn-lt"/>
                <a:ea typeface="+mn-ea"/>
                <a:cs typeface="+mn-cs"/>
                <a:sym typeface="Arial"/>
              </a:rPr>
              <a:t>a.sum</a:t>
            </a:r>
            <a:r>
              <a:rPr lang="en-US" sz="2000" b="0" i="0" u="none" strike="noStrike" cap="none" dirty="0">
                <a:solidFill>
                  <a:schemeClr val="bg1"/>
                </a:solidFill>
                <a:effectLst/>
                <a:latin typeface="+mn-lt"/>
                <a:ea typeface="+mn-ea"/>
                <a:cs typeface="+mn-cs"/>
                <a:sym typeface="Arial"/>
              </a:rPr>
              <a:t>(axis=0) </a:t>
            </a:r>
            <a:endParaRPr lang="en-US" sz="2000" dirty="0">
              <a:solidFill>
                <a:schemeClr val="bg1"/>
              </a:solidFill>
            </a:endParaRPr>
          </a:p>
        </p:txBody>
      </p:sp>
      <p:cxnSp>
        <p:nvCxnSpPr>
          <p:cNvPr id="30" name="Straight Arrow Connector 29">
            <a:extLst>
              <a:ext uri="{FF2B5EF4-FFF2-40B4-BE49-F238E27FC236}">
                <a16:creationId xmlns:a16="http://schemas.microsoft.com/office/drawing/2014/main" id="{EC235386-3B73-BC8E-C0E6-72242A1E43BF}"/>
              </a:ext>
            </a:extLst>
          </p:cNvPr>
          <p:cNvCxnSpPr/>
          <p:nvPr/>
        </p:nvCxnSpPr>
        <p:spPr>
          <a:xfrm>
            <a:off x="3360922" y="3505425"/>
            <a:ext cx="1697173" cy="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FB188B4-F505-F4F8-56B8-77DD27B83704}"/>
              </a:ext>
            </a:extLst>
          </p:cNvPr>
          <p:cNvSpPr txBox="1"/>
          <p:nvPr/>
        </p:nvSpPr>
        <p:spPr>
          <a:xfrm rot="2705669">
            <a:off x="3513271" y="4333020"/>
            <a:ext cx="1858267" cy="400110"/>
          </a:xfrm>
          <a:prstGeom prst="rect">
            <a:avLst/>
          </a:prstGeom>
          <a:noFill/>
        </p:spPr>
        <p:txBody>
          <a:bodyPr wrap="square">
            <a:spAutoFit/>
          </a:bodyPr>
          <a:lstStyle/>
          <a:p>
            <a:r>
              <a:rPr lang="en-US" sz="2000" b="0" i="0" u="none" strike="noStrike" cap="none" dirty="0" err="1">
                <a:solidFill>
                  <a:schemeClr val="bg1"/>
                </a:solidFill>
                <a:effectLst/>
                <a:latin typeface="+mn-lt"/>
                <a:ea typeface="+mn-ea"/>
                <a:cs typeface="+mn-cs"/>
                <a:sym typeface="Arial"/>
              </a:rPr>
              <a:t>a.sum</a:t>
            </a:r>
            <a:r>
              <a:rPr lang="en-US" sz="2000" b="0" i="0" u="none" strike="noStrike" cap="none" dirty="0">
                <a:solidFill>
                  <a:schemeClr val="bg1"/>
                </a:solidFill>
                <a:effectLst/>
                <a:latin typeface="+mn-lt"/>
                <a:ea typeface="+mn-ea"/>
                <a:cs typeface="+mn-cs"/>
                <a:sym typeface="Arial"/>
              </a:rPr>
              <a:t>(axis=2) </a:t>
            </a:r>
            <a:endParaRPr lang="en-US" sz="2000" dirty="0">
              <a:solidFill>
                <a:schemeClr val="bg1"/>
              </a:solidFill>
            </a:endParaRPr>
          </a:p>
        </p:txBody>
      </p:sp>
      <p:graphicFrame>
        <p:nvGraphicFramePr>
          <p:cNvPr id="32" name="Table 31">
            <a:extLst>
              <a:ext uri="{FF2B5EF4-FFF2-40B4-BE49-F238E27FC236}">
                <a16:creationId xmlns:a16="http://schemas.microsoft.com/office/drawing/2014/main" id="{2F29680A-8B3E-4455-3CA6-DF033CA18ED7}"/>
              </a:ext>
            </a:extLst>
          </p:cNvPr>
          <p:cNvGraphicFramePr>
            <a:graphicFrameLocks noGrp="1"/>
          </p:cNvGraphicFramePr>
          <p:nvPr/>
        </p:nvGraphicFramePr>
        <p:xfrm>
          <a:off x="5398543" y="635628"/>
          <a:ext cx="1839476"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33" name="Table 32">
            <a:extLst>
              <a:ext uri="{FF2B5EF4-FFF2-40B4-BE49-F238E27FC236}">
                <a16:creationId xmlns:a16="http://schemas.microsoft.com/office/drawing/2014/main" id="{455F442E-295E-8949-011C-102B12796097}"/>
              </a:ext>
            </a:extLst>
          </p:cNvPr>
          <p:cNvGraphicFramePr>
            <a:graphicFrameLocks noGrp="1"/>
          </p:cNvGraphicFramePr>
          <p:nvPr/>
        </p:nvGraphicFramePr>
        <p:xfrm>
          <a:off x="7626427" y="658291"/>
          <a:ext cx="1839476"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17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21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sp>
        <p:nvSpPr>
          <p:cNvPr id="34" name="TextBox 33">
            <a:extLst>
              <a:ext uri="{FF2B5EF4-FFF2-40B4-BE49-F238E27FC236}">
                <a16:creationId xmlns:a16="http://schemas.microsoft.com/office/drawing/2014/main" id="{B36EF78E-1770-4B6A-29CD-0D5D68CAEA34}"/>
              </a:ext>
            </a:extLst>
          </p:cNvPr>
          <p:cNvSpPr txBox="1"/>
          <p:nvPr/>
        </p:nvSpPr>
        <p:spPr>
          <a:xfrm>
            <a:off x="7274204" y="1093413"/>
            <a:ext cx="316037"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a:t>
            </a:r>
            <a:endParaRPr lang="en-US" sz="2000" dirty="0">
              <a:solidFill>
                <a:schemeClr val="bg1"/>
              </a:solidFill>
            </a:endParaRPr>
          </a:p>
        </p:txBody>
      </p:sp>
      <p:sp>
        <p:nvSpPr>
          <p:cNvPr id="35" name="TextBox 34">
            <a:extLst>
              <a:ext uri="{FF2B5EF4-FFF2-40B4-BE49-F238E27FC236}">
                <a16:creationId xmlns:a16="http://schemas.microsoft.com/office/drawing/2014/main" id="{8C9C7084-B1B7-AF23-0FAE-A267CA89CA07}"/>
              </a:ext>
            </a:extLst>
          </p:cNvPr>
          <p:cNvSpPr txBox="1"/>
          <p:nvPr/>
        </p:nvSpPr>
        <p:spPr>
          <a:xfrm>
            <a:off x="9502088" y="1093413"/>
            <a:ext cx="316037" cy="400110"/>
          </a:xfrm>
          <a:prstGeom prst="rect">
            <a:avLst/>
          </a:prstGeom>
          <a:noFill/>
        </p:spPr>
        <p:txBody>
          <a:bodyPr wrap="square">
            <a:spAutoFit/>
          </a:bodyPr>
          <a:lstStyle/>
          <a:p>
            <a:r>
              <a:rPr lang="en-US" sz="2000" dirty="0">
                <a:solidFill>
                  <a:schemeClr val="bg1"/>
                </a:solidFill>
                <a:latin typeface="+mn-lt"/>
                <a:ea typeface="+mn-ea"/>
                <a:cs typeface="+mn-cs"/>
              </a:rPr>
              <a:t>=</a:t>
            </a:r>
            <a:endParaRPr lang="en-US" sz="2000" dirty="0">
              <a:solidFill>
                <a:schemeClr val="bg1"/>
              </a:solidFill>
            </a:endParaRPr>
          </a:p>
        </p:txBody>
      </p:sp>
      <p:sp>
        <p:nvSpPr>
          <p:cNvPr id="37" name="TextBox 36">
            <a:extLst>
              <a:ext uri="{FF2B5EF4-FFF2-40B4-BE49-F238E27FC236}">
                <a16:creationId xmlns:a16="http://schemas.microsoft.com/office/drawing/2014/main" id="{5D436920-B51D-717F-CD95-A87983C3A534}"/>
              </a:ext>
            </a:extLst>
          </p:cNvPr>
          <p:cNvSpPr txBox="1"/>
          <p:nvPr/>
        </p:nvSpPr>
        <p:spPr>
          <a:xfrm>
            <a:off x="1365229" y="4730702"/>
            <a:ext cx="1858267" cy="400110"/>
          </a:xfrm>
          <a:prstGeom prst="rect">
            <a:avLst/>
          </a:prstGeom>
          <a:noFill/>
        </p:spPr>
        <p:txBody>
          <a:bodyPr wrap="square">
            <a:spAutoFit/>
          </a:bodyPr>
          <a:lstStyle/>
          <a:p>
            <a:r>
              <a:rPr lang="en-US" sz="2000" dirty="0">
                <a:solidFill>
                  <a:schemeClr val="bg1"/>
                </a:solidFill>
                <a:latin typeface="+mn-lt"/>
                <a:ea typeface="+mn-ea"/>
                <a:cs typeface="+mn-cs"/>
              </a:rPr>
              <a:t>s</a:t>
            </a:r>
            <a:r>
              <a:rPr lang="en-US" sz="2000" b="0" i="0" u="none" strike="noStrike" cap="none" dirty="0">
                <a:solidFill>
                  <a:schemeClr val="bg1"/>
                </a:solidFill>
                <a:effectLst/>
                <a:latin typeface="+mn-lt"/>
                <a:ea typeface="+mn-ea"/>
                <a:cs typeface="+mn-cs"/>
                <a:sym typeface="Arial"/>
              </a:rPr>
              <a:t>hape=(2,3,4)</a:t>
            </a:r>
            <a:endParaRPr lang="en-US" sz="2000" dirty="0">
              <a:solidFill>
                <a:schemeClr val="bg1"/>
              </a:solidFill>
            </a:endParaRPr>
          </a:p>
        </p:txBody>
      </p:sp>
      <p:sp>
        <p:nvSpPr>
          <p:cNvPr id="38" name="TextBox 37">
            <a:extLst>
              <a:ext uri="{FF2B5EF4-FFF2-40B4-BE49-F238E27FC236}">
                <a16:creationId xmlns:a16="http://schemas.microsoft.com/office/drawing/2014/main" id="{67815615-2835-2CA0-BD19-F4C0C6FCA8BB}"/>
              </a:ext>
            </a:extLst>
          </p:cNvPr>
          <p:cNvSpPr txBox="1"/>
          <p:nvPr/>
        </p:nvSpPr>
        <p:spPr>
          <a:xfrm>
            <a:off x="10432907" y="2176332"/>
            <a:ext cx="916678"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(3,4)</a:t>
            </a:r>
            <a:endParaRPr lang="en-US" sz="2000" dirty="0">
              <a:solidFill>
                <a:schemeClr val="bg1"/>
              </a:solidFill>
            </a:endParaRPr>
          </a:p>
        </p:txBody>
      </p:sp>
      <p:sp>
        <p:nvSpPr>
          <p:cNvPr id="39" name="TextBox 38">
            <a:extLst>
              <a:ext uri="{FF2B5EF4-FFF2-40B4-BE49-F238E27FC236}">
                <a16:creationId xmlns:a16="http://schemas.microsoft.com/office/drawing/2014/main" id="{66587CE7-AEFB-113D-B8A7-EA7B65EDD38B}"/>
              </a:ext>
            </a:extLst>
          </p:cNvPr>
          <p:cNvSpPr txBox="1"/>
          <p:nvPr/>
        </p:nvSpPr>
        <p:spPr>
          <a:xfrm>
            <a:off x="10548006" y="6231518"/>
            <a:ext cx="916678"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(2,3)</a:t>
            </a:r>
            <a:endParaRPr lang="en-US" sz="2000" dirty="0">
              <a:solidFill>
                <a:schemeClr val="bg1"/>
              </a:solidFill>
            </a:endParaRPr>
          </a:p>
        </p:txBody>
      </p:sp>
      <p:graphicFrame>
        <p:nvGraphicFramePr>
          <p:cNvPr id="40" name="Table 39">
            <a:extLst>
              <a:ext uri="{FF2B5EF4-FFF2-40B4-BE49-F238E27FC236}">
                <a16:creationId xmlns:a16="http://schemas.microsoft.com/office/drawing/2014/main" id="{BC8D8292-1C53-98BC-F0C5-9DCE09A78123}"/>
              </a:ext>
            </a:extLst>
          </p:cNvPr>
          <p:cNvGraphicFramePr>
            <a:graphicFrameLocks noGrp="1"/>
          </p:cNvGraphicFramePr>
          <p:nvPr/>
        </p:nvGraphicFramePr>
        <p:xfrm>
          <a:off x="5398543" y="2469735"/>
          <a:ext cx="1839476" cy="510347"/>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bl>
          </a:graphicData>
        </a:graphic>
      </p:graphicFrame>
      <p:graphicFrame>
        <p:nvGraphicFramePr>
          <p:cNvPr id="42" name="Table 41">
            <a:extLst>
              <a:ext uri="{FF2B5EF4-FFF2-40B4-BE49-F238E27FC236}">
                <a16:creationId xmlns:a16="http://schemas.microsoft.com/office/drawing/2014/main" id="{64F5DCCB-48E1-45C7-B3B1-8DA682948CDC}"/>
              </a:ext>
            </a:extLst>
          </p:cNvPr>
          <p:cNvGraphicFramePr>
            <a:graphicFrameLocks noGrp="1"/>
          </p:cNvGraphicFramePr>
          <p:nvPr/>
        </p:nvGraphicFramePr>
        <p:xfrm>
          <a:off x="5419230" y="3250252"/>
          <a:ext cx="1839476" cy="510347"/>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bl>
          </a:graphicData>
        </a:graphic>
      </p:graphicFrame>
      <p:graphicFrame>
        <p:nvGraphicFramePr>
          <p:cNvPr id="43" name="Table 42">
            <a:extLst>
              <a:ext uri="{FF2B5EF4-FFF2-40B4-BE49-F238E27FC236}">
                <a16:creationId xmlns:a16="http://schemas.microsoft.com/office/drawing/2014/main" id="{82783820-0E56-8310-6D9B-D3A96DFBC6EB}"/>
              </a:ext>
            </a:extLst>
          </p:cNvPr>
          <p:cNvGraphicFramePr>
            <a:graphicFrameLocks noGrp="1"/>
          </p:cNvGraphicFramePr>
          <p:nvPr/>
        </p:nvGraphicFramePr>
        <p:xfrm>
          <a:off x="5398543" y="4045493"/>
          <a:ext cx="1839476" cy="510347"/>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bl>
          </a:graphicData>
        </a:graphic>
      </p:graphicFrame>
      <p:sp>
        <p:nvSpPr>
          <p:cNvPr id="44" name="TextBox 43">
            <a:extLst>
              <a:ext uri="{FF2B5EF4-FFF2-40B4-BE49-F238E27FC236}">
                <a16:creationId xmlns:a16="http://schemas.microsoft.com/office/drawing/2014/main" id="{3CFBC1AA-B299-E9CE-563E-F603B79E56AD}"/>
              </a:ext>
            </a:extLst>
          </p:cNvPr>
          <p:cNvSpPr txBox="1"/>
          <p:nvPr/>
        </p:nvSpPr>
        <p:spPr>
          <a:xfrm>
            <a:off x="6146984" y="2956284"/>
            <a:ext cx="316037"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a:t>
            </a:r>
            <a:endParaRPr lang="en-US" sz="2000" dirty="0">
              <a:solidFill>
                <a:schemeClr val="bg1"/>
              </a:solidFill>
            </a:endParaRPr>
          </a:p>
        </p:txBody>
      </p:sp>
      <p:sp>
        <p:nvSpPr>
          <p:cNvPr id="45" name="TextBox 44">
            <a:extLst>
              <a:ext uri="{FF2B5EF4-FFF2-40B4-BE49-F238E27FC236}">
                <a16:creationId xmlns:a16="http://schemas.microsoft.com/office/drawing/2014/main" id="{E844F2C7-2EF6-07AE-2FCC-3841E196B187}"/>
              </a:ext>
            </a:extLst>
          </p:cNvPr>
          <p:cNvSpPr txBox="1"/>
          <p:nvPr/>
        </p:nvSpPr>
        <p:spPr>
          <a:xfrm>
            <a:off x="6160000" y="3733770"/>
            <a:ext cx="316037"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a:t>
            </a:r>
            <a:endParaRPr lang="en-US" sz="2000" dirty="0">
              <a:solidFill>
                <a:schemeClr val="bg1"/>
              </a:solidFill>
            </a:endParaRPr>
          </a:p>
        </p:txBody>
      </p:sp>
      <p:graphicFrame>
        <p:nvGraphicFramePr>
          <p:cNvPr id="49" name="Table 48">
            <a:extLst>
              <a:ext uri="{FF2B5EF4-FFF2-40B4-BE49-F238E27FC236}">
                <a16:creationId xmlns:a16="http://schemas.microsoft.com/office/drawing/2014/main" id="{060923EF-6F3B-39C0-40EA-97D7341C67F0}"/>
              </a:ext>
            </a:extLst>
          </p:cNvPr>
          <p:cNvGraphicFramePr>
            <a:graphicFrameLocks noGrp="1"/>
          </p:cNvGraphicFramePr>
          <p:nvPr/>
        </p:nvGraphicFramePr>
        <p:xfrm>
          <a:off x="5535612" y="2550203"/>
          <a:ext cx="1839476" cy="510347"/>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bl>
          </a:graphicData>
        </a:graphic>
      </p:graphicFrame>
      <p:graphicFrame>
        <p:nvGraphicFramePr>
          <p:cNvPr id="50" name="Table 49">
            <a:extLst>
              <a:ext uri="{FF2B5EF4-FFF2-40B4-BE49-F238E27FC236}">
                <a16:creationId xmlns:a16="http://schemas.microsoft.com/office/drawing/2014/main" id="{44EBA56E-65B4-FC62-1C67-48F7DFEF13FC}"/>
              </a:ext>
            </a:extLst>
          </p:cNvPr>
          <p:cNvGraphicFramePr>
            <a:graphicFrameLocks noGrp="1"/>
          </p:cNvGraphicFramePr>
          <p:nvPr/>
        </p:nvGraphicFramePr>
        <p:xfrm>
          <a:off x="5556299" y="3330720"/>
          <a:ext cx="1839476" cy="510347"/>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bl>
          </a:graphicData>
        </a:graphic>
      </p:graphicFrame>
      <p:graphicFrame>
        <p:nvGraphicFramePr>
          <p:cNvPr id="51" name="Table 50">
            <a:extLst>
              <a:ext uri="{FF2B5EF4-FFF2-40B4-BE49-F238E27FC236}">
                <a16:creationId xmlns:a16="http://schemas.microsoft.com/office/drawing/2014/main" id="{83289061-E4D4-BB04-A78B-2AEEAD514350}"/>
              </a:ext>
            </a:extLst>
          </p:cNvPr>
          <p:cNvGraphicFramePr>
            <a:graphicFrameLocks noGrp="1"/>
          </p:cNvGraphicFramePr>
          <p:nvPr/>
        </p:nvGraphicFramePr>
        <p:xfrm>
          <a:off x="5535612" y="4125961"/>
          <a:ext cx="1839476" cy="510347"/>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bl>
          </a:graphicData>
        </a:graphic>
      </p:graphicFrame>
      <p:graphicFrame>
        <p:nvGraphicFramePr>
          <p:cNvPr id="52" name="Table 51">
            <a:extLst>
              <a:ext uri="{FF2B5EF4-FFF2-40B4-BE49-F238E27FC236}">
                <a16:creationId xmlns:a16="http://schemas.microsoft.com/office/drawing/2014/main" id="{E8B2F932-3F65-35D0-191A-E561CE7FEDEB}"/>
              </a:ext>
            </a:extLst>
          </p:cNvPr>
          <p:cNvGraphicFramePr>
            <a:graphicFrameLocks noGrp="1"/>
          </p:cNvGraphicFramePr>
          <p:nvPr/>
        </p:nvGraphicFramePr>
        <p:xfrm>
          <a:off x="7680010" y="3275926"/>
          <a:ext cx="1839476" cy="510347"/>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bl>
          </a:graphicData>
        </a:graphic>
      </p:graphicFrame>
      <p:graphicFrame>
        <p:nvGraphicFramePr>
          <p:cNvPr id="53" name="Table 52">
            <a:extLst>
              <a:ext uri="{FF2B5EF4-FFF2-40B4-BE49-F238E27FC236}">
                <a16:creationId xmlns:a16="http://schemas.microsoft.com/office/drawing/2014/main" id="{119EC3E5-DE35-13E3-737A-3FCBAFEBB6CD}"/>
              </a:ext>
            </a:extLst>
          </p:cNvPr>
          <p:cNvGraphicFramePr>
            <a:graphicFrameLocks noGrp="1"/>
          </p:cNvGraphicFramePr>
          <p:nvPr/>
        </p:nvGraphicFramePr>
        <p:xfrm>
          <a:off x="7817079" y="3356394"/>
          <a:ext cx="1839476" cy="510347"/>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bl>
          </a:graphicData>
        </a:graphic>
      </p:graphicFrame>
      <p:graphicFrame>
        <p:nvGraphicFramePr>
          <p:cNvPr id="54" name="Table 53">
            <a:extLst>
              <a:ext uri="{FF2B5EF4-FFF2-40B4-BE49-F238E27FC236}">
                <a16:creationId xmlns:a16="http://schemas.microsoft.com/office/drawing/2014/main" id="{DE71EB5A-FEC0-AF33-A7BA-B57590A1AB63}"/>
              </a:ext>
            </a:extLst>
          </p:cNvPr>
          <p:cNvGraphicFramePr>
            <a:graphicFrameLocks noGrp="1"/>
          </p:cNvGraphicFramePr>
          <p:nvPr/>
        </p:nvGraphicFramePr>
        <p:xfrm>
          <a:off x="9918437" y="3075546"/>
          <a:ext cx="1839476" cy="1020694"/>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gridCol w="459869">
                  <a:extLst>
                    <a:ext uri="{9D8B030D-6E8A-4147-A177-3AD203B41FA5}">
                      <a16:colId xmlns:a16="http://schemas.microsoft.com/office/drawing/2014/main" val="3909054839"/>
                    </a:ext>
                  </a:extLst>
                </a:gridCol>
              </a:tblGrid>
              <a:tr h="510347">
                <a:tc>
                  <a:txBody>
                    <a:bodyPr/>
                    <a:lstStyle/>
                    <a:p>
                      <a:pPr algn="ctr"/>
                      <a:r>
                        <a:rPr lang="en-US" dirty="0">
                          <a:solidFill>
                            <a:schemeClr val="tx2"/>
                          </a:solidFill>
                        </a:rPr>
                        <a:t>15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18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54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57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60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02387163"/>
                  </a:ext>
                </a:extLst>
              </a:tr>
            </a:tbl>
          </a:graphicData>
        </a:graphic>
      </p:graphicFrame>
      <p:sp>
        <p:nvSpPr>
          <p:cNvPr id="55" name="TextBox 54">
            <a:extLst>
              <a:ext uri="{FF2B5EF4-FFF2-40B4-BE49-F238E27FC236}">
                <a16:creationId xmlns:a16="http://schemas.microsoft.com/office/drawing/2014/main" id="{BA5B2D07-B962-D829-F72F-D450F92555E7}"/>
              </a:ext>
            </a:extLst>
          </p:cNvPr>
          <p:cNvSpPr txBox="1"/>
          <p:nvPr/>
        </p:nvSpPr>
        <p:spPr>
          <a:xfrm>
            <a:off x="10473583" y="4073754"/>
            <a:ext cx="916678"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(2,4)</a:t>
            </a:r>
            <a:endParaRPr lang="en-US" sz="2000" dirty="0">
              <a:solidFill>
                <a:schemeClr val="bg1"/>
              </a:solidFill>
            </a:endParaRPr>
          </a:p>
        </p:txBody>
      </p:sp>
      <p:graphicFrame>
        <p:nvGraphicFramePr>
          <p:cNvPr id="56" name="Table 55">
            <a:extLst>
              <a:ext uri="{FF2B5EF4-FFF2-40B4-BE49-F238E27FC236}">
                <a16:creationId xmlns:a16="http://schemas.microsoft.com/office/drawing/2014/main" id="{4DA5B1EC-D7B2-6C4E-22C8-8336944918EE}"/>
              </a:ext>
            </a:extLst>
          </p:cNvPr>
          <p:cNvGraphicFramePr>
            <a:graphicFrameLocks noGrp="1"/>
          </p:cNvGraphicFramePr>
          <p:nvPr/>
        </p:nvGraphicFramePr>
        <p:xfrm>
          <a:off x="5419230" y="4921202"/>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57" name="Table 56">
            <a:extLst>
              <a:ext uri="{FF2B5EF4-FFF2-40B4-BE49-F238E27FC236}">
                <a16:creationId xmlns:a16="http://schemas.microsoft.com/office/drawing/2014/main" id="{42EB4795-44A0-04F9-FD03-AD8E5660B6F5}"/>
              </a:ext>
            </a:extLst>
          </p:cNvPr>
          <p:cNvGraphicFramePr>
            <a:graphicFrameLocks noGrp="1"/>
          </p:cNvGraphicFramePr>
          <p:nvPr/>
        </p:nvGraphicFramePr>
        <p:xfrm>
          <a:off x="5571630" y="5073602"/>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58" name="Table 57">
            <a:extLst>
              <a:ext uri="{FF2B5EF4-FFF2-40B4-BE49-F238E27FC236}">
                <a16:creationId xmlns:a16="http://schemas.microsoft.com/office/drawing/2014/main" id="{381691BD-3EF4-8111-120D-9AE9547C1F55}"/>
              </a:ext>
            </a:extLst>
          </p:cNvPr>
          <p:cNvGraphicFramePr>
            <a:graphicFrameLocks noGrp="1"/>
          </p:cNvGraphicFramePr>
          <p:nvPr/>
        </p:nvGraphicFramePr>
        <p:xfrm>
          <a:off x="6310621" y="4921202"/>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59" name="Table 58">
            <a:extLst>
              <a:ext uri="{FF2B5EF4-FFF2-40B4-BE49-F238E27FC236}">
                <a16:creationId xmlns:a16="http://schemas.microsoft.com/office/drawing/2014/main" id="{20C1AB9E-BE89-D994-DF89-8BE4FAD6B1B2}"/>
              </a:ext>
            </a:extLst>
          </p:cNvPr>
          <p:cNvGraphicFramePr>
            <a:graphicFrameLocks noGrp="1"/>
          </p:cNvGraphicFramePr>
          <p:nvPr/>
        </p:nvGraphicFramePr>
        <p:xfrm>
          <a:off x="6463021" y="5073602"/>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10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sp>
        <p:nvSpPr>
          <p:cNvPr id="60" name="TextBox 59">
            <a:extLst>
              <a:ext uri="{FF2B5EF4-FFF2-40B4-BE49-F238E27FC236}">
                <a16:creationId xmlns:a16="http://schemas.microsoft.com/office/drawing/2014/main" id="{E8912302-D22C-D51C-2541-ADDD32B066C1}"/>
              </a:ext>
            </a:extLst>
          </p:cNvPr>
          <p:cNvSpPr txBox="1"/>
          <p:nvPr/>
        </p:nvSpPr>
        <p:spPr>
          <a:xfrm>
            <a:off x="6025880" y="5486667"/>
            <a:ext cx="316037"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a:t>
            </a:r>
            <a:endParaRPr lang="en-US" sz="2000" dirty="0">
              <a:solidFill>
                <a:schemeClr val="bg1"/>
              </a:solidFill>
            </a:endParaRPr>
          </a:p>
        </p:txBody>
      </p:sp>
      <p:graphicFrame>
        <p:nvGraphicFramePr>
          <p:cNvPr id="61" name="Table 60">
            <a:extLst>
              <a:ext uri="{FF2B5EF4-FFF2-40B4-BE49-F238E27FC236}">
                <a16:creationId xmlns:a16="http://schemas.microsoft.com/office/drawing/2014/main" id="{E1D44A68-DB3B-C4FC-9AD4-A41F6176BBC0}"/>
              </a:ext>
            </a:extLst>
          </p:cNvPr>
          <p:cNvGraphicFramePr>
            <a:graphicFrameLocks noGrp="1"/>
          </p:cNvGraphicFramePr>
          <p:nvPr/>
        </p:nvGraphicFramePr>
        <p:xfrm>
          <a:off x="7176335" y="4968856"/>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62" name="Table 61">
            <a:extLst>
              <a:ext uri="{FF2B5EF4-FFF2-40B4-BE49-F238E27FC236}">
                <a16:creationId xmlns:a16="http://schemas.microsoft.com/office/drawing/2014/main" id="{8AB0D0C6-EC20-EFAC-3846-E107303D1080}"/>
              </a:ext>
            </a:extLst>
          </p:cNvPr>
          <p:cNvGraphicFramePr>
            <a:graphicFrameLocks noGrp="1"/>
          </p:cNvGraphicFramePr>
          <p:nvPr/>
        </p:nvGraphicFramePr>
        <p:xfrm>
          <a:off x="7328735" y="5121256"/>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3</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7</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11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sp>
        <p:nvSpPr>
          <p:cNvPr id="63" name="TextBox 62">
            <a:extLst>
              <a:ext uri="{FF2B5EF4-FFF2-40B4-BE49-F238E27FC236}">
                <a16:creationId xmlns:a16="http://schemas.microsoft.com/office/drawing/2014/main" id="{689539A1-93A6-978E-537B-28F3A10E674C}"/>
              </a:ext>
            </a:extLst>
          </p:cNvPr>
          <p:cNvSpPr txBox="1"/>
          <p:nvPr/>
        </p:nvSpPr>
        <p:spPr>
          <a:xfrm>
            <a:off x="6891594" y="5534321"/>
            <a:ext cx="316037"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a:t>
            </a:r>
            <a:endParaRPr lang="en-US" sz="2000" dirty="0">
              <a:solidFill>
                <a:schemeClr val="bg1"/>
              </a:solidFill>
            </a:endParaRPr>
          </a:p>
        </p:txBody>
      </p:sp>
      <p:graphicFrame>
        <p:nvGraphicFramePr>
          <p:cNvPr id="64" name="Table 63">
            <a:extLst>
              <a:ext uri="{FF2B5EF4-FFF2-40B4-BE49-F238E27FC236}">
                <a16:creationId xmlns:a16="http://schemas.microsoft.com/office/drawing/2014/main" id="{201BEEE5-6B38-9DD9-B94B-1F73142F7750}"/>
              </a:ext>
            </a:extLst>
          </p:cNvPr>
          <p:cNvGraphicFramePr>
            <a:graphicFrameLocks noGrp="1"/>
          </p:cNvGraphicFramePr>
          <p:nvPr/>
        </p:nvGraphicFramePr>
        <p:xfrm>
          <a:off x="8049669" y="4982978"/>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1</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9</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65" name="Table 64">
            <a:extLst>
              <a:ext uri="{FF2B5EF4-FFF2-40B4-BE49-F238E27FC236}">
                <a16:creationId xmlns:a16="http://schemas.microsoft.com/office/drawing/2014/main" id="{E61B9670-B549-BE55-8302-F3C2F9A21E78}"/>
              </a:ext>
            </a:extLst>
          </p:cNvPr>
          <p:cNvGraphicFramePr>
            <a:graphicFrameLocks noGrp="1"/>
          </p:cNvGraphicFramePr>
          <p:nvPr/>
        </p:nvGraphicFramePr>
        <p:xfrm>
          <a:off x="8202069" y="5135378"/>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12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sp>
        <p:nvSpPr>
          <p:cNvPr id="66" name="TextBox 65">
            <a:extLst>
              <a:ext uri="{FF2B5EF4-FFF2-40B4-BE49-F238E27FC236}">
                <a16:creationId xmlns:a16="http://schemas.microsoft.com/office/drawing/2014/main" id="{8BE55824-432B-781B-5C44-E0FA479C18C9}"/>
              </a:ext>
            </a:extLst>
          </p:cNvPr>
          <p:cNvSpPr txBox="1"/>
          <p:nvPr/>
        </p:nvSpPr>
        <p:spPr>
          <a:xfrm>
            <a:off x="7764928" y="5548443"/>
            <a:ext cx="316037" cy="400110"/>
          </a:xfrm>
          <a:prstGeom prst="rect">
            <a:avLst/>
          </a:prstGeom>
          <a:noFill/>
        </p:spPr>
        <p:txBody>
          <a:bodyPr wrap="square">
            <a:spAutoFit/>
          </a:bodyPr>
          <a:lstStyle/>
          <a:p>
            <a:r>
              <a:rPr lang="en-US" sz="2000" b="0" i="0" u="none" strike="noStrike" cap="none" dirty="0">
                <a:solidFill>
                  <a:schemeClr val="bg1"/>
                </a:solidFill>
                <a:effectLst/>
                <a:latin typeface="+mn-lt"/>
                <a:ea typeface="+mn-ea"/>
                <a:cs typeface="+mn-cs"/>
                <a:sym typeface="Arial"/>
              </a:rPr>
              <a:t>+</a:t>
            </a:r>
            <a:endParaRPr lang="en-US" sz="2000" dirty="0">
              <a:solidFill>
                <a:schemeClr val="bg1"/>
              </a:solidFill>
            </a:endParaRPr>
          </a:p>
        </p:txBody>
      </p:sp>
      <p:sp>
        <p:nvSpPr>
          <p:cNvPr id="67" name="TextBox 66">
            <a:extLst>
              <a:ext uri="{FF2B5EF4-FFF2-40B4-BE49-F238E27FC236}">
                <a16:creationId xmlns:a16="http://schemas.microsoft.com/office/drawing/2014/main" id="{0C1116C7-2EE0-6487-9DC0-FB2EDC90F01C}"/>
              </a:ext>
            </a:extLst>
          </p:cNvPr>
          <p:cNvSpPr txBox="1"/>
          <p:nvPr/>
        </p:nvSpPr>
        <p:spPr>
          <a:xfrm>
            <a:off x="7377908" y="3359522"/>
            <a:ext cx="316037" cy="400110"/>
          </a:xfrm>
          <a:prstGeom prst="rect">
            <a:avLst/>
          </a:prstGeom>
          <a:noFill/>
        </p:spPr>
        <p:txBody>
          <a:bodyPr wrap="square">
            <a:spAutoFit/>
          </a:bodyPr>
          <a:lstStyle/>
          <a:p>
            <a:r>
              <a:rPr lang="en-US" sz="2000" dirty="0">
                <a:solidFill>
                  <a:schemeClr val="bg1"/>
                </a:solidFill>
                <a:latin typeface="+mn-lt"/>
                <a:ea typeface="+mn-ea"/>
                <a:cs typeface="+mn-cs"/>
              </a:rPr>
              <a:t>=</a:t>
            </a:r>
            <a:endParaRPr lang="en-US" sz="2000" dirty="0">
              <a:solidFill>
                <a:schemeClr val="bg1"/>
              </a:solidFill>
            </a:endParaRPr>
          </a:p>
        </p:txBody>
      </p:sp>
      <p:sp>
        <p:nvSpPr>
          <p:cNvPr id="68" name="TextBox 67">
            <a:extLst>
              <a:ext uri="{FF2B5EF4-FFF2-40B4-BE49-F238E27FC236}">
                <a16:creationId xmlns:a16="http://schemas.microsoft.com/office/drawing/2014/main" id="{C42AB71F-AC6B-8219-74CF-4CA90BABE7E9}"/>
              </a:ext>
            </a:extLst>
          </p:cNvPr>
          <p:cNvSpPr txBox="1"/>
          <p:nvPr/>
        </p:nvSpPr>
        <p:spPr>
          <a:xfrm>
            <a:off x="9614763" y="3411512"/>
            <a:ext cx="316037" cy="400110"/>
          </a:xfrm>
          <a:prstGeom prst="rect">
            <a:avLst/>
          </a:prstGeom>
          <a:noFill/>
        </p:spPr>
        <p:txBody>
          <a:bodyPr wrap="square">
            <a:spAutoFit/>
          </a:bodyPr>
          <a:lstStyle/>
          <a:p>
            <a:r>
              <a:rPr lang="en-US" sz="2000" dirty="0">
                <a:solidFill>
                  <a:schemeClr val="bg1"/>
                </a:solidFill>
                <a:latin typeface="+mn-lt"/>
                <a:ea typeface="+mn-ea"/>
                <a:cs typeface="+mn-cs"/>
              </a:rPr>
              <a:t>=</a:t>
            </a:r>
            <a:endParaRPr lang="en-US" sz="2000" dirty="0">
              <a:solidFill>
                <a:schemeClr val="bg1"/>
              </a:solidFill>
            </a:endParaRPr>
          </a:p>
        </p:txBody>
      </p:sp>
      <p:sp>
        <p:nvSpPr>
          <p:cNvPr id="69" name="TextBox 68">
            <a:extLst>
              <a:ext uri="{FF2B5EF4-FFF2-40B4-BE49-F238E27FC236}">
                <a16:creationId xmlns:a16="http://schemas.microsoft.com/office/drawing/2014/main" id="{63580EE8-D8F4-9D8F-0650-F5B9DF62FA6F}"/>
              </a:ext>
            </a:extLst>
          </p:cNvPr>
          <p:cNvSpPr txBox="1"/>
          <p:nvPr/>
        </p:nvSpPr>
        <p:spPr>
          <a:xfrm>
            <a:off x="8698585" y="5686721"/>
            <a:ext cx="316037" cy="400110"/>
          </a:xfrm>
          <a:prstGeom prst="rect">
            <a:avLst/>
          </a:prstGeom>
          <a:noFill/>
        </p:spPr>
        <p:txBody>
          <a:bodyPr wrap="square">
            <a:spAutoFit/>
          </a:bodyPr>
          <a:lstStyle/>
          <a:p>
            <a:r>
              <a:rPr lang="en-US" sz="2000" dirty="0">
                <a:solidFill>
                  <a:schemeClr val="bg1"/>
                </a:solidFill>
                <a:latin typeface="+mn-lt"/>
                <a:ea typeface="+mn-ea"/>
                <a:cs typeface="+mn-cs"/>
              </a:rPr>
              <a:t>=</a:t>
            </a:r>
            <a:endParaRPr lang="en-US" sz="2000" dirty="0">
              <a:solidFill>
                <a:schemeClr val="bg1"/>
              </a:solidFill>
            </a:endParaRPr>
          </a:p>
        </p:txBody>
      </p:sp>
      <p:graphicFrame>
        <p:nvGraphicFramePr>
          <p:cNvPr id="71" name="Table 70">
            <a:extLst>
              <a:ext uri="{FF2B5EF4-FFF2-40B4-BE49-F238E27FC236}">
                <a16:creationId xmlns:a16="http://schemas.microsoft.com/office/drawing/2014/main" id="{25A0D722-D46F-A480-956B-008E1A0998C1}"/>
              </a:ext>
            </a:extLst>
          </p:cNvPr>
          <p:cNvGraphicFramePr>
            <a:graphicFrameLocks noGrp="1"/>
          </p:cNvGraphicFramePr>
          <p:nvPr/>
        </p:nvGraphicFramePr>
        <p:xfrm>
          <a:off x="9051270" y="4999066"/>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10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26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42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73" name="Table 72">
            <a:extLst>
              <a:ext uri="{FF2B5EF4-FFF2-40B4-BE49-F238E27FC236}">
                <a16:creationId xmlns:a16="http://schemas.microsoft.com/office/drawing/2014/main" id="{13C53D41-36C6-73FD-DAE7-4B119F9B6AAF}"/>
              </a:ext>
            </a:extLst>
          </p:cNvPr>
          <p:cNvGraphicFramePr>
            <a:graphicFrameLocks noGrp="1"/>
          </p:cNvGraphicFramePr>
          <p:nvPr/>
        </p:nvGraphicFramePr>
        <p:xfrm>
          <a:off x="9203670" y="5151466"/>
          <a:ext cx="459869" cy="1531041"/>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tblGrid>
              <a:tr h="510347">
                <a:tc>
                  <a:txBody>
                    <a:bodyPr/>
                    <a:lstStyle/>
                    <a:p>
                      <a:pPr algn="ctr"/>
                      <a:r>
                        <a:rPr lang="en-US" dirty="0">
                          <a:solidFill>
                            <a:schemeClr val="tx2"/>
                          </a:solidFill>
                        </a:rPr>
                        <a:t>10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26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r h="510347">
                <a:tc>
                  <a:txBody>
                    <a:bodyPr/>
                    <a:lstStyle/>
                    <a:p>
                      <a:pPr algn="ctr"/>
                      <a:r>
                        <a:rPr lang="en-US" dirty="0">
                          <a:solidFill>
                            <a:schemeClr val="tx2"/>
                          </a:solidFill>
                        </a:rPr>
                        <a:t>42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0858793"/>
                  </a:ext>
                </a:extLst>
              </a:tr>
            </a:tbl>
          </a:graphicData>
        </a:graphic>
      </p:graphicFrame>
      <p:graphicFrame>
        <p:nvGraphicFramePr>
          <p:cNvPr id="75" name="Table 74">
            <a:extLst>
              <a:ext uri="{FF2B5EF4-FFF2-40B4-BE49-F238E27FC236}">
                <a16:creationId xmlns:a16="http://schemas.microsoft.com/office/drawing/2014/main" id="{E4437BD8-4B05-8FBF-1BC3-221E73D1CD6A}"/>
              </a:ext>
            </a:extLst>
          </p:cNvPr>
          <p:cNvGraphicFramePr>
            <a:graphicFrameLocks noGrp="1"/>
          </p:cNvGraphicFramePr>
          <p:nvPr/>
        </p:nvGraphicFramePr>
        <p:xfrm>
          <a:off x="10197102" y="5238762"/>
          <a:ext cx="1379607" cy="1020694"/>
        </p:xfrm>
        <a:graphic>
          <a:graphicData uri="http://schemas.openxmlformats.org/drawingml/2006/table">
            <a:tbl>
              <a:tblPr firstRow="1" bandRow="1"/>
              <a:tblGrid>
                <a:gridCol w="459869">
                  <a:extLst>
                    <a:ext uri="{9D8B030D-6E8A-4147-A177-3AD203B41FA5}">
                      <a16:colId xmlns:a16="http://schemas.microsoft.com/office/drawing/2014/main" val="3705656316"/>
                    </a:ext>
                  </a:extLst>
                </a:gridCol>
                <a:gridCol w="459869">
                  <a:extLst>
                    <a:ext uri="{9D8B030D-6E8A-4147-A177-3AD203B41FA5}">
                      <a16:colId xmlns:a16="http://schemas.microsoft.com/office/drawing/2014/main" val="2255058430"/>
                    </a:ext>
                  </a:extLst>
                </a:gridCol>
                <a:gridCol w="459869">
                  <a:extLst>
                    <a:ext uri="{9D8B030D-6E8A-4147-A177-3AD203B41FA5}">
                      <a16:colId xmlns:a16="http://schemas.microsoft.com/office/drawing/2014/main" val="2931386812"/>
                    </a:ext>
                  </a:extLst>
                </a:gridCol>
              </a:tblGrid>
              <a:tr h="510347">
                <a:tc>
                  <a:txBody>
                    <a:bodyPr/>
                    <a:lstStyle/>
                    <a:p>
                      <a:pPr algn="ctr"/>
                      <a:r>
                        <a:rPr lang="en-US" dirty="0">
                          <a:solidFill>
                            <a:schemeClr val="tx2"/>
                          </a:solidFill>
                        </a:rPr>
                        <a:t>10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26</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42</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52854728"/>
                  </a:ext>
                </a:extLst>
              </a:tr>
              <a:tr h="510347">
                <a:tc>
                  <a:txBody>
                    <a:bodyPr/>
                    <a:lstStyle/>
                    <a:p>
                      <a:pPr algn="ctr"/>
                      <a:r>
                        <a:rPr lang="en-US" dirty="0">
                          <a:solidFill>
                            <a:schemeClr val="tx2"/>
                          </a:solidFill>
                        </a:rPr>
                        <a:t>58</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74</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tc>
                  <a:txBody>
                    <a:bodyPr/>
                    <a:lstStyle/>
                    <a:p>
                      <a:pPr algn="ctr"/>
                      <a:r>
                        <a:rPr lang="en-US" dirty="0">
                          <a:solidFill>
                            <a:schemeClr val="tx2"/>
                          </a:solidFill>
                        </a:rPr>
                        <a:t>90</a:t>
                      </a:r>
                    </a:p>
                  </a:txBody>
                  <a:tcPr anchor="ctr">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79173436"/>
                  </a:ext>
                </a:extLst>
              </a:tr>
            </a:tbl>
          </a:graphicData>
        </a:graphic>
      </p:graphicFrame>
      <p:sp>
        <p:nvSpPr>
          <p:cNvPr id="76" name="TextBox 75">
            <a:extLst>
              <a:ext uri="{FF2B5EF4-FFF2-40B4-BE49-F238E27FC236}">
                <a16:creationId xmlns:a16="http://schemas.microsoft.com/office/drawing/2014/main" id="{F05921D0-79A9-9A43-6EE5-696AA47CEE58}"/>
              </a:ext>
            </a:extLst>
          </p:cNvPr>
          <p:cNvSpPr txBox="1"/>
          <p:nvPr/>
        </p:nvSpPr>
        <p:spPr>
          <a:xfrm>
            <a:off x="9688217" y="5700843"/>
            <a:ext cx="316037" cy="400110"/>
          </a:xfrm>
          <a:prstGeom prst="rect">
            <a:avLst/>
          </a:prstGeom>
          <a:noFill/>
        </p:spPr>
        <p:txBody>
          <a:bodyPr wrap="square">
            <a:spAutoFit/>
          </a:bodyPr>
          <a:lstStyle/>
          <a:p>
            <a:r>
              <a:rPr lang="en-US" sz="2000" dirty="0">
                <a:solidFill>
                  <a:schemeClr val="bg1"/>
                </a:solidFill>
                <a:latin typeface="+mn-lt"/>
                <a:ea typeface="+mn-ea"/>
                <a:cs typeface="+mn-cs"/>
              </a:rPr>
              <a:t>=</a:t>
            </a:r>
            <a:endParaRPr lang="en-US" sz="2000" dirty="0">
              <a:solidFill>
                <a:schemeClr val="bg1"/>
              </a:solidFill>
            </a:endParaRPr>
          </a:p>
        </p:txBody>
      </p:sp>
      <p:sp>
        <p:nvSpPr>
          <p:cNvPr id="78" name="TextBox 77">
            <a:extLst>
              <a:ext uri="{FF2B5EF4-FFF2-40B4-BE49-F238E27FC236}">
                <a16:creationId xmlns:a16="http://schemas.microsoft.com/office/drawing/2014/main" id="{9AD7761D-C591-2CF3-F9A5-390BB9D6A349}"/>
              </a:ext>
            </a:extLst>
          </p:cNvPr>
          <p:cNvSpPr txBox="1"/>
          <p:nvPr/>
        </p:nvSpPr>
        <p:spPr>
          <a:xfrm>
            <a:off x="3302874" y="3055445"/>
            <a:ext cx="1858267" cy="400110"/>
          </a:xfrm>
          <a:prstGeom prst="rect">
            <a:avLst/>
          </a:prstGeom>
          <a:noFill/>
        </p:spPr>
        <p:txBody>
          <a:bodyPr wrap="square">
            <a:spAutoFit/>
          </a:bodyPr>
          <a:lstStyle/>
          <a:p>
            <a:r>
              <a:rPr lang="en-US" sz="2000" b="0" i="0" u="none" strike="noStrike" cap="none" dirty="0" err="1">
                <a:solidFill>
                  <a:schemeClr val="bg1"/>
                </a:solidFill>
                <a:effectLst/>
                <a:latin typeface="+mn-lt"/>
                <a:ea typeface="+mn-ea"/>
                <a:cs typeface="+mn-cs"/>
                <a:sym typeface="Arial"/>
              </a:rPr>
              <a:t>a.sum</a:t>
            </a:r>
            <a:r>
              <a:rPr lang="en-US" sz="2000" b="0" i="0" u="none" strike="noStrike" cap="none" dirty="0">
                <a:solidFill>
                  <a:schemeClr val="bg1"/>
                </a:solidFill>
                <a:effectLst/>
                <a:latin typeface="+mn-lt"/>
                <a:ea typeface="+mn-ea"/>
                <a:cs typeface="+mn-cs"/>
                <a:sym typeface="Arial"/>
              </a:rPr>
              <a:t>(axis=1) </a:t>
            </a:r>
            <a:endParaRPr lang="en-US" sz="2000" dirty="0">
              <a:solidFill>
                <a:schemeClr val="bg1"/>
              </a:solidFill>
            </a:endParaRPr>
          </a:p>
        </p:txBody>
      </p:sp>
      <p:cxnSp>
        <p:nvCxnSpPr>
          <p:cNvPr id="79" name="Straight Arrow Connector 78">
            <a:extLst>
              <a:ext uri="{FF2B5EF4-FFF2-40B4-BE49-F238E27FC236}">
                <a16:creationId xmlns:a16="http://schemas.microsoft.com/office/drawing/2014/main" id="{51082263-F3BB-C436-AFA3-215CC550F61F}"/>
              </a:ext>
            </a:extLst>
          </p:cNvPr>
          <p:cNvCxnSpPr>
            <a:cxnSpLocks/>
          </p:cNvCxnSpPr>
          <p:nvPr/>
        </p:nvCxnSpPr>
        <p:spPr>
          <a:xfrm>
            <a:off x="3371146" y="3809947"/>
            <a:ext cx="2000840" cy="1820711"/>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4004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Other statistical operations (such as percentile, mean, median) are used as functions exported directly from the </a:t>
            </a:r>
            <a:r>
              <a:rPr lang="en-US"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module.</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429000"/>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dirty="0">
                <a:solidFill>
                  <a:srgbClr val="E68A8A"/>
                </a:solidFill>
                <a:latin typeface="Consolas" panose="020B0609020204030204" pitchFamily="49" charset="0"/>
              </a:rPr>
              <a:t>m</a:t>
            </a:r>
            <a:r>
              <a:rPr lang="en-US" b="0" dirty="0">
                <a:solidFill>
                  <a:srgbClr val="E68A8A"/>
                </a:solidFill>
                <a:effectLst/>
                <a:latin typeface="Consolas" panose="020B0609020204030204" pitchFamily="49" charset="0"/>
              </a:rPr>
              <a:t>ean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mean</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dirty="0">
                <a:solidFill>
                  <a:srgbClr val="E68A8A"/>
                </a:solidFill>
                <a:latin typeface="Consolas" panose="020B0609020204030204" pitchFamily="49" charset="0"/>
              </a:rPr>
              <a:t>m</a:t>
            </a:r>
            <a:r>
              <a:rPr lang="en-US" b="0" dirty="0">
                <a:solidFill>
                  <a:srgbClr val="E68A8A"/>
                </a:solidFill>
                <a:effectLst/>
                <a:latin typeface="Consolas" panose="020B0609020204030204" pitchFamily="49" charset="0"/>
              </a:rPr>
              <a:t>edian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median</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average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average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percentile 5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percentile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percentile 50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percentile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percentile 95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percentile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95</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304212" y="3581400"/>
          <a:ext cx="2989211" cy="1676400"/>
        </p:xfrm>
        <a:graphic>
          <a:graphicData uri="http://schemas.openxmlformats.org/drawingml/2006/table">
            <a:tbl>
              <a:tblPr firstRow="1" bandRow="1">
                <a:tableStyleId>{073A0DAA-6AF3-43AB-8588-CEC1D06C72B9}</a:tableStyleId>
              </a:tblPr>
              <a:tblGrid>
                <a:gridCol w="2989211">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it-IT" dirty="0" err="1">
                          <a:solidFill>
                            <a:schemeClr val="tx2"/>
                          </a:solidFill>
                          <a:latin typeface="Consolas" panose="020B0609020204030204" pitchFamily="49" charset="0"/>
                        </a:rPr>
                        <a:t>mean</a:t>
                      </a:r>
                      <a:r>
                        <a:rPr lang="it-IT" dirty="0">
                          <a:solidFill>
                            <a:schemeClr val="tx2"/>
                          </a:solidFill>
                          <a:latin typeface="Consolas" panose="020B0609020204030204" pitchFamily="49" charset="0"/>
                        </a:rPr>
                        <a:t>          =  3.0</a:t>
                      </a:r>
                    </a:p>
                    <a:p>
                      <a:r>
                        <a:rPr lang="it-IT" dirty="0" err="1">
                          <a:solidFill>
                            <a:schemeClr val="tx2"/>
                          </a:solidFill>
                          <a:latin typeface="Consolas" panose="020B0609020204030204" pitchFamily="49" charset="0"/>
                        </a:rPr>
                        <a:t>median</a:t>
                      </a:r>
                      <a:r>
                        <a:rPr lang="it-IT" dirty="0">
                          <a:solidFill>
                            <a:schemeClr val="tx2"/>
                          </a:solidFill>
                          <a:latin typeface="Consolas" panose="020B0609020204030204" pitchFamily="49" charset="0"/>
                        </a:rPr>
                        <a:t>        =  2.5</a:t>
                      </a:r>
                    </a:p>
                    <a:p>
                      <a:r>
                        <a:rPr lang="it-IT" dirty="0" err="1">
                          <a:solidFill>
                            <a:schemeClr val="tx2"/>
                          </a:solidFill>
                          <a:latin typeface="Consolas" panose="020B0609020204030204" pitchFamily="49" charset="0"/>
                        </a:rPr>
                        <a:t>average</a:t>
                      </a:r>
                      <a:r>
                        <a:rPr lang="it-IT" dirty="0">
                          <a:solidFill>
                            <a:schemeClr val="tx2"/>
                          </a:solidFill>
                          <a:latin typeface="Consolas" panose="020B0609020204030204" pitchFamily="49" charset="0"/>
                        </a:rPr>
                        <a:t>       =  3.0</a:t>
                      </a:r>
                    </a:p>
                    <a:p>
                      <a:r>
                        <a:rPr lang="it-IT" dirty="0">
                          <a:solidFill>
                            <a:schemeClr val="tx2"/>
                          </a:solidFill>
                          <a:latin typeface="Consolas" panose="020B0609020204030204" pitchFamily="49" charset="0"/>
                        </a:rPr>
                        <a:t>percentile 5  =  1.0</a:t>
                      </a:r>
                    </a:p>
                    <a:p>
                      <a:r>
                        <a:rPr lang="it-IT" dirty="0">
                          <a:solidFill>
                            <a:schemeClr val="tx2"/>
                          </a:solidFill>
                          <a:latin typeface="Consolas" panose="020B0609020204030204" pitchFamily="49" charset="0"/>
                        </a:rPr>
                        <a:t>percentile 50 =  2.5</a:t>
                      </a:r>
                    </a:p>
                    <a:p>
                      <a:r>
                        <a:rPr lang="it-IT" dirty="0">
                          <a:solidFill>
                            <a:schemeClr val="tx2"/>
                          </a:solidFill>
                          <a:latin typeface="Consolas" panose="020B0609020204030204" pitchFamily="49" charset="0"/>
                        </a:rPr>
                        <a:t>percentile 95 =  5.64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51638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You can also use method such as </a:t>
            </a:r>
            <a:r>
              <a:rPr lang="en-US" dirty="0">
                <a:highlight>
                  <a:srgbClr val="C0C0C0"/>
                </a:highlight>
                <a:latin typeface="Arial" panose="020B0604020202020204" pitchFamily="34" charset="0"/>
                <a:cs typeface="Arial" panose="020B0604020202020204" pitchFamily="34" charset="0"/>
              </a:rPr>
              <a:t>.square()</a:t>
            </a:r>
            <a:r>
              <a:rPr lang="en-US" dirty="0">
                <a:latin typeface="Arial" panose="020B0604020202020204" pitchFamily="34" charset="0"/>
                <a:cs typeface="Arial" panose="020B0604020202020204" pitchFamily="34" charset="0"/>
              </a:rPr>
              <a:t>, </a:t>
            </a:r>
            <a:r>
              <a:rPr lang="en-US" dirty="0">
                <a:highlight>
                  <a:srgbClr val="C0C0C0"/>
                </a:highlight>
                <a:latin typeface="Arial" panose="020B0604020202020204" pitchFamily="34" charset="0"/>
                <a:cs typeface="Arial" panose="020B0604020202020204" pitchFamily="34" charset="0"/>
              </a:rPr>
              <a:t>.sqrt()</a:t>
            </a:r>
            <a:r>
              <a:rPr lang="en-US" dirty="0">
                <a:latin typeface="Arial" panose="020B0604020202020204" pitchFamily="34" charset="0"/>
                <a:cs typeface="Arial" panose="020B0604020202020204" pitchFamily="34" charset="0"/>
              </a:rPr>
              <a:t> or </a:t>
            </a:r>
            <a:r>
              <a:rPr lang="en-US" dirty="0">
                <a:highlight>
                  <a:srgbClr val="C0C0C0"/>
                </a:highlight>
                <a:latin typeface="Arial" panose="020B0604020202020204" pitchFamily="34" charset="0"/>
                <a:cs typeface="Arial" panose="020B0604020202020204" pitchFamily="34" charset="0"/>
              </a:rPr>
              <a:t>.</a:t>
            </a:r>
            <a:r>
              <a:rPr lang="en-US" dirty="0" err="1">
                <a:highlight>
                  <a:srgbClr val="C0C0C0"/>
                </a:highlight>
                <a:latin typeface="Arial" panose="020B0604020202020204" pitchFamily="34" charset="0"/>
                <a:cs typeface="Arial" panose="020B0604020202020204" pitchFamily="34" charset="0"/>
              </a:rPr>
              <a:t>cbrt</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Cubic root</a:t>
            </a:r>
            <a:r>
              <a:rPr lang="en-US" dirty="0">
                <a:latin typeface="Arial" panose="020B0604020202020204" pitchFamily="34" charset="0"/>
                <a:cs typeface="Arial" panose="020B0604020202020204" pitchFamily="34" charset="0"/>
              </a:rPr>
              <a:t>] to performed more advanced mathematical computation (for both arrays and scalars)</a:t>
            </a:r>
          </a:p>
          <a:p>
            <a:r>
              <a:rPr lang="en-US" dirty="0">
                <a:latin typeface="Arial" panose="020B0604020202020204" pitchFamily="34" charset="0"/>
                <a:cs typeface="Arial" panose="020B0604020202020204" pitchFamily="34" charset="0"/>
              </a:rPr>
              <a:t>Example: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45FED430-06A4-77E2-798D-E562DBDED8D1}"/>
              </a:ext>
            </a:extLst>
          </p:cNvPr>
          <p:cNvSpPr/>
          <p:nvPr/>
        </p:nvSpPr>
        <p:spPr>
          <a:xfrm>
            <a:off x="1979612" y="3429000"/>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m</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Square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square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m</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Sqrt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sqrt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m</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Cubic root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cbrt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m</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Scalar square(2)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square</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Scalar sqrt(100)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sqrt</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100</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Scalar </a:t>
            </a:r>
            <a:r>
              <a:rPr lang="en-US" b="0" dirty="0" err="1">
                <a:solidFill>
                  <a:srgbClr val="E68A8A"/>
                </a:solidFill>
                <a:effectLst/>
                <a:latin typeface="Consolas" panose="020B0609020204030204" pitchFamily="49" charset="0"/>
              </a:rPr>
              <a:t>cbrt</a:t>
            </a:r>
            <a:r>
              <a:rPr lang="en-US" b="0" dirty="0">
                <a:solidFill>
                  <a:srgbClr val="E68A8A"/>
                </a:solidFill>
                <a:effectLst/>
                <a:latin typeface="Consolas" panose="020B0609020204030204" pitchFamily="49" charset="0"/>
              </a:rPr>
              <a:t>(27)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cbrt</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27</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7389812" y="3810000"/>
          <a:ext cx="4495800" cy="2590800"/>
        </p:xfrm>
        <a:graphic>
          <a:graphicData uri="http://schemas.openxmlformats.org/drawingml/2006/table">
            <a:tbl>
              <a:tblPr firstRow="1" bandRow="1">
                <a:tableStyleId>{073A0DAA-6AF3-43AB-8588-CEC1D06C72B9}</a:tableStyleId>
              </a:tblPr>
              <a:tblGrid>
                <a:gridCol w="4495800">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370840">
                <a:tc>
                  <a:txBody>
                    <a:bodyPr/>
                    <a:lstStyle/>
                    <a:p>
                      <a:r>
                        <a:rPr lang="en-US" sz="1600" dirty="0">
                          <a:solidFill>
                            <a:schemeClr val="tx2"/>
                          </a:solidFill>
                          <a:latin typeface="Consolas" panose="020B0609020204030204" pitchFamily="49" charset="0"/>
                        </a:rPr>
                        <a:t>Square           =  [[ 1    4    9]</a:t>
                      </a:r>
                    </a:p>
                    <a:p>
                      <a:r>
                        <a:rPr lang="en-US" sz="1600" dirty="0">
                          <a:solidFill>
                            <a:schemeClr val="tx2"/>
                          </a:solidFill>
                          <a:latin typeface="Consolas" panose="020B0609020204030204" pitchFamily="49" charset="0"/>
                        </a:rPr>
                        <a:t>                     [16   25   36]]</a:t>
                      </a:r>
                    </a:p>
                    <a:p>
                      <a:r>
                        <a:rPr lang="en-US" sz="1600" dirty="0">
                          <a:solidFill>
                            <a:schemeClr val="tx2"/>
                          </a:solidFill>
                          <a:latin typeface="Consolas" panose="020B0609020204030204" pitchFamily="49" charset="0"/>
                        </a:rPr>
                        <a:t>Sqrt             =  [[1.   1.41 1.73]</a:t>
                      </a:r>
                    </a:p>
                    <a:p>
                      <a:r>
                        <a:rPr lang="en-US" sz="1600" dirty="0">
                          <a:solidFill>
                            <a:schemeClr val="tx2"/>
                          </a:solidFill>
                          <a:latin typeface="Consolas" panose="020B0609020204030204" pitchFamily="49" charset="0"/>
                        </a:rPr>
                        <a:t>                     [2.   2.23 2.44]]</a:t>
                      </a:r>
                    </a:p>
                    <a:p>
                      <a:r>
                        <a:rPr lang="en-US" sz="1600" dirty="0">
                          <a:solidFill>
                            <a:schemeClr val="tx2"/>
                          </a:solidFill>
                          <a:latin typeface="Consolas" panose="020B0609020204030204" pitchFamily="49" charset="0"/>
                        </a:rPr>
                        <a:t>Cubic root       =  [[1.   1.25 1.44]</a:t>
                      </a:r>
                    </a:p>
                    <a:p>
                      <a:r>
                        <a:rPr lang="en-US" sz="1600" dirty="0">
                          <a:solidFill>
                            <a:schemeClr val="tx2"/>
                          </a:solidFill>
                          <a:latin typeface="Consolas" panose="020B0609020204030204" pitchFamily="49" charset="0"/>
                        </a:rPr>
                        <a:t>                     [1.58 1.70 1.81]]</a:t>
                      </a:r>
                    </a:p>
                    <a:p>
                      <a:r>
                        <a:rPr lang="en-US" sz="1600" dirty="0">
                          <a:solidFill>
                            <a:schemeClr val="tx2"/>
                          </a:solidFill>
                          <a:latin typeface="Consolas" panose="020B0609020204030204" pitchFamily="49" charset="0"/>
                        </a:rPr>
                        <a:t>Scalar square(2) =  4</a:t>
                      </a:r>
                    </a:p>
                    <a:p>
                      <a:r>
                        <a:rPr lang="en-US" sz="1600" dirty="0">
                          <a:solidFill>
                            <a:schemeClr val="tx2"/>
                          </a:solidFill>
                          <a:latin typeface="Consolas" panose="020B0609020204030204" pitchFamily="49" charset="0"/>
                        </a:rPr>
                        <a:t>Scalar sqrt(100) =  10.0</a:t>
                      </a:r>
                    </a:p>
                    <a:p>
                      <a:r>
                        <a:rPr lang="en-US" sz="1600" dirty="0">
                          <a:solidFill>
                            <a:schemeClr val="tx2"/>
                          </a:solidFill>
                          <a:latin typeface="Consolas" panose="020B0609020204030204" pitchFamily="49" charset="0"/>
                        </a:rPr>
                        <a:t>Scalar </a:t>
                      </a:r>
                      <a:r>
                        <a:rPr lang="en-US" sz="1600" dirty="0" err="1">
                          <a:solidFill>
                            <a:schemeClr val="tx2"/>
                          </a:solidFill>
                          <a:latin typeface="Consolas" panose="020B0609020204030204" pitchFamily="49" charset="0"/>
                        </a:rPr>
                        <a:t>cbrt</a:t>
                      </a:r>
                      <a:r>
                        <a:rPr lang="en-US" sz="1600" dirty="0">
                          <a:solidFill>
                            <a:schemeClr val="tx2"/>
                          </a:solidFill>
                          <a:latin typeface="Consolas" panose="020B0609020204030204" pitchFamily="49" charset="0"/>
                        </a:rPr>
                        <a:t>(27)  =  3.0</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86613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Besides these functions, there a lot of other methods available in the </a:t>
            </a:r>
            <a:r>
              <a:rPr lang="en-US"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library (including methods for sorting elements, resize-</a:t>
            </a:r>
            <a:r>
              <a:rPr lang="en-US" dirty="0" err="1">
                <a:latin typeface="Arial" panose="020B0604020202020204" pitchFamily="34" charset="0"/>
                <a:cs typeface="Arial" panose="020B0604020202020204" pitchFamily="34" charset="0"/>
              </a:rPr>
              <a:t>ing</a:t>
            </a:r>
            <a:r>
              <a:rPr lang="en-US" dirty="0">
                <a:latin typeface="Arial" panose="020B0604020202020204" pitchFamily="34" charset="0"/>
                <a:cs typeface="Arial" panose="020B0604020202020204" pitchFamily="34" charset="0"/>
              </a:rPr>
              <a:t> arrays, </a:t>
            </a:r>
            <a:r>
              <a:rPr lang="en-US" dirty="0" err="1">
                <a:latin typeface="Arial" panose="020B0604020202020204" pitchFamily="34" charset="0"/>
                <a:cs typeface="Arial" panose="020B0604020202020204" pitchFamily="34" charset="0"/>
              </a:rPr>
              <a:t>etc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Those methods are improved for optimal performance.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9661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All of these functions can be used together to compute more complex functions.</a:t>
                </a:r>
              </a:p>
              <a:p>
                <a:r>
                  <a:rPr lang="en-US" dirty="0">
                    <a:latin typeface="Arial" panose="020B0604020202020204" pitchFamily="34" charset="0"/>
                    <a:cs typeface="Arial" panose="020B0604020202020204" pitchFamily="34" charset="0"/>
                  </a:rPr>
                  <a:t>Example (Root Mean Square Error – RMSE):</a:t>
                </a:r>
              </a:p>
              <a:p>
                <a:endParaRPr lang="en-US"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𝑣</m:t>
                      </m:r>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𝑎𝑛𝑑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𝑙𝑒𝑛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𝑣</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𝑙𝑒𝑛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𝑢</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 </m:t>
                      </m:r>
                    </m:oMath>
                  </m:oMathPara>
                </a14:m>
                <a:endParaRPr lang="en-US" b="0" i="1" dirty="0">
                  <a:latin typeface="Cambria Math" panose="02040503050406030204" pitchFamily="18" charset="0"/>
                  <a:cs typeface="Arial" panose="020B0604020202020204" pitchFamily="34" charset="0"/>
                </a:endParaRPr>
              </a:p>
              <a:p>
                <a:pPr marL="0" indent="0">
                  <a:buNone/>
                </a:pPr>
                <a:endParaRPr lang="en-US" b="0" i="1" dirty="0">
                  <a:latin typeface="Cambria Math" panose="02040503050406030204" pitchFamily="18"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𝑅𝑀𝑆𝐸</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𝑣</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𝑢</m:t>
                          </m:r>
                        </m:e>
                      </m:d>
                      <m:r>
                        <a:rPr lang="en-US" b="0" i="1" smtClean="0">
                          <a:latin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𝑛</m:t>
                              </m:r>
                            </m:den>
                          </m:f>
                          <m:nary>
                            <m:naryPr>
                              <m:chr m:val="∑"/>
                              <m:ctrlPr>
                                <a:rPr lang="en-US" b="0" i="1" smtClean="0">
                                  <a:latin typeface="Cambria Math" panose="02040503050406030204" pitchFamily="18" charset="0"/>
                                  <a:cs typeface="Arial" panose="020B0604020202020204" pitchFamily="34" charset="0"/>
                                </a:rPr>
                              </m:ctrlPr>
                            </m:naryPr>
                            <m:sub>
                              <m:r>
                                <m:rPr>
                                  <m:brk m:alnAt="23"/>
                                </m:rPr>
                                <a:rPr lang="en-US" b="0" i="1" smtClean="0">
                                  <a:latin typeface="Cambria Math" panose="02040503050406030204" pitchFamily="18" charset="0"/>
                                  <a:cs typeface="Arial" panose="020B0604020202020204" pitchFamily="34" charset="0"/>
                                </a:rPr>
                                <m:t>𝑖</m:t>
                              </m:r>
                              <m:r>
                                <a:rPr lang="en-US" b="0" i="1" smtClean="0">
                                  <a:latin typeface="Cambria Math" panose="02040503050406030204" pitchFamily="18" charset="0"/>
                                  <a:cs typeface="Arial" panose="020B0604020202020204" pitchFamily="34" charset="0"/>
                                </a:rPr>
                                <m:t>=1</m:t>
                              </m:r>
                            </m:sub>
                            <m:sup>
                              <m:r>
                                <a:rPr lang="en-US" b="0" i="1" smtClean="0">
                                  <a:latin typeface="Cambria Math" panose="02040503050406030204" pitchFamily="18" charset="0"/>
                                  <a:cs typeface="Arial" panose="020B0604020202020204" pitchFamily="34" charset="0"/>
                                </a:rPr>
                                <m:t>𝑛</m:t>
                              </m:r>
                            </m:sup>
                            <m:e>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𝑖</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𝑖</m:t>
                                          </m:r>
                                        </m:sub>
                                      </m:sSub>
                                    </m:e>
                                  </m:d>
                                </m:e>
                                <m:sup>
                                  <m:r>
                                    <a:rPr lang="en-US" b="0" i="1" smtClean="0">
                                      <a:latin typeface="Cambria Math" panose="02040503050406030204" pitchFamily="18" charset="0"/>
                                      <a:cs typeface="Arial" panose="020B0604020202020204" pitchFamily="34" charset="0"/>
                                    </a:rPr>
                                    <m:t>2</m:t>
                                  </m:r>
                                </m:sup>
                              </m:sSup>
                            </m:e>
                          </m:nary>
                        </m:e>
                      </m:rad>
                    </m:oMath>
                  </m:oMathPara>
                </a14:m>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782801" cy="5181600"/>
              </a:xfrm>
              <a:blipFill>
                <a:blip r:embed="rId2"/>
                <a:stretch>
                  <a:fillRect l="-1495" t="-2941"/>
                </a:stretch>
              </a:blipFill>
            </p:spPr>
            <p:txBody>
              <a:bodyPr/>
              <a:lstStyle/>
              <a:p>
                <a:r>
                  <a:rPr lang="en-US">
                    <a:noFill/>
                  </a:rPr>
                  <a:t> </a:t>
                </a:r>
              </a:p>
            </p:txBody>
          </p:sp>
        </mc:Fallback>
      </mc:AlternateContent>
    </p:spTree>
    <p:extLst>
      <p:ext uri="{BB962C8B-B14F-4D97-AF65-F5344CB8AC3E}">
        <p14:creationId xmlns:p14="http://schemas.microsoft.com/office/powerpoint/2010/main" val="594395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Let’s see how we can write RMSE in </a:t>
            </a:r>
            <a:r>
              <a:rPr lang="en-US" dirty="0" err="1">
                <a:latin typeface="Arial" panose="020B0604020202020204" pitchFamily="34" charset="0"/>
                <a:cs typeface="Arial" panose="020B0604020202020204" pitchFamily="34" charset="0"/>
              </a:rPr>
              <a:t>numpy</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E9139021-A718-DAEE-8D58-133A7756306B}"/>
              </a:ext>
            </a:extLst>
          </p:cNvPr>
          <p:cNvSpPr/>
          <p:nvPr/>
        </p:nvSpPr>
        <p:spPr>
          <a:xfrm>
            <a:off x="1979612" y="3144079"/>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4</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6</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8</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606060"/>
                </a:solidFill>
                <a:effectLst/>
                <a:latin typeface="Consolas" panose="020B0609020204030204" pitchFamily="49" charset="0"/>
              </a:rPr>
              <a:t># it is assumed the v and u have the same size</a:t>
            </a:r>
            <a:endParaRPr lang="en-US" b="0" dirty="0">
              <a:solidFill>
                <a:srgbClr val="DADADA"/>
              </a:solidFill>
              <a:effectLst/>
              <a:latin typeface="Consolas" panose="020B0609020204030204" pitchFamily="49" charset="0"/>
            </a:endParaRPr>
          </a:p>
          <a:p>
            <a:r>
              <a:rPr lang="en-US" b="0" dirty="0" err="1">
                <a:solidFill>
                  <a:srgbClr val="229977"/>
                </a:solidFill>
                <a:effectLst/>
                <a:latin typeface="Consolas" panose="020B0609020204030204" pitchFamily="49" charset="0"/>
              </a:rPr>
              <a:t>rmse</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sqrt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sum</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square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err="1">
                <a:solidFill>
                  <a:srgbClr val="229977"/>
                </a:solidFill>
                <a:effectLst/>
                <a:latin typeface="Consolas" panose="020B0609020204030204" pitchFamily="49" charset="0"/>
              </a:rPr>
              <a:t>v</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size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RMSE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rmse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E8D6060B-E315-BE73-66F2-56A1228107E0}"/>
              </a:ext>
            </a:extLst>
          </p:cNvPr>
          <p:cNvGraphicFramePr>
            <a:graphicFrameLocks noGrp="1"/>
          </p:cNvGraphicFramePr>
          <p:nvPr/>
        </p:nvGraphicFramePr>
        <p:xfrm>
          <a:off x="9781214" y="3296479"/>
          <a:ext cx="1524000" cy="640080"/>
        </p:xfrm>
        <a:graphic>
          <a:graphicData uri="http://schemas.openxmlformats.org/drawingml/2006/table">
            <a:tbl>
              <a:tblPr firstRow="1" bandRow="1">
                <a:tableStyleId>{073A0DAA-6AF3-43AB-8588-CEC1D06C72B9}</a:tableStyleId>
              </a:tblPr>
              <a:tblGrid>
                <a:gridCol w="1524000">
                  <a:extLst>
                    <a:ext uri="{9D8B030D-6E8A-4147-A177-3AD203B41FA5}">
                      <a16:colId xmlns:a16="http://schemas.microsoft.com/office/drawing/2014/main" val="3899577134"/>
                    </a:ext>
                  </a:extLst>
                </a:gridCol>
              </a:tblGrid>
              <a:tr h="142240">
                <a:tc>
                  <a:txBody>
                    <a:bodyPr/>
                    <a:lstStyle/>
                    <a:p>
                      <a:r>
                        <a:rPr lang="en-US" dirty="0">
                          <a:solidFill>
                            <a:schemeClr val="tx2"/>
                          </a:solidFill>
                        </a:rPr>
                        <a:t>Output </a:t>
                      </a:r>
                    </a:p>
                  </a:txBody>
                  <a:tcPr/>
                </a:tc>
                <a:extLst>
                  <a:ext uri="{0D108BD9-81ED-4DB2-BD59-A6C34878D82A}">
                    <a16:rowId xmlns:a16="http://schemas.microsoft.com/office/drawing/2014/main" val="117988312"/>
                  </a:ext>
                </a:extLst>
              </a:tr>
              <a:tr h="0">
                <a:tc>
                  <a:txBody>
                    <a:bodyPr/>
                    <a:lstStyle/>
                    <a:p>
                      <a:r>
                        <a:rPr lang="en-US" sz="1600" dirty="0">
                          <a:solidFill>
                            <a:schemeClr val="tx2"/>
                          </a:solidFill>
                          <a:latin typeface="Consolas" panose="020B0609020204030204" pitchFamily="49" charset="0"/>
                        </a:rPr>
                        <a:t>RMSE = 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195866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Let’s see how we can write RMSE in </a:t>
            </a:r>
            <a:r>
              <a:rPr lang="en-US" dirty="0" err="1">
                <a:latin typeface="Arial" panose="020B0604020202020204" pitchFamily="34" charset="0"/>
                <a:cs typeface="Arial" panose="020B0604020202020204" pitchFamily="34" charset="0"/>
              </a:rPr>
              <a:t>numpy</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E9139021-A718-DAEE-8D58-133A7756306B}"/>
              </a:ext>
            </a:extLst>
          </p:cNvPr>
          <p:cNvSpPr/>
          <p:nvPr/>
        </p:nvSpPr>
        <p:spPr>
          <a:xfrm>
            <a:off x="1979612" y="3390900"/>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65000"/>
                    <a:lumOff val="35000"/>
                  </a:schemeClr>
                </a:solidFill>
                <a:effectLst/>
                <a:latin typeface="Consolas" panose="020B0609020204030204" pitchFamily="49" charset="0"/>
              </a:rPr>
              <a:t>import </a:t>
            </a:r>
            <a:r>
              <a:rPr lang="en-US" b="0" dirty="0" err="1">
                <a:solidFill>
                  <a:schemeClr val="tx2">
                    <a:lumMod val="65000"/>
                    <a:lumOff val="35000"/>
                  </a:schemeClr>
                </a:solidFill>
                <a:effectLst/>
                <a:latin typeface="Consolas" panose="020B0609020204030204" pitchFamily="49" charset="0"/>
              </a:rPr>
              <a:t>numpy</a:t>
            </a:r>
            <a:r>
              <a:rPr lang="en-US" b="0" dirty="0">
                <a:solidFill>
                  <a:schemeClr val="tx2">
                    <a:lumMod val="65000"/>
                    <a:lumOff val="35000"/>
                  </a:schemeClr>
                </a:solidFill>
                <a:effectLst/>
                <a:latin typeface="Consolas" panose="020B0609020204030204" pitchFamily="49" charset="0"/>
              </a:rPr>
              <a:t> as np</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v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([1,2,3,4])</a:t>
            </a:r>
          </a:p>
          <a:p>
            <a:r>
              <a:rPr lang="en-US" b="0" dirty="0">
                <a:solidFill>
                  <a:schemeClr val="tx2">
                    <a:lumMod val="65000"/>
                    <a:lumOff val="35000"/>
                  </a:schemeClr>
                </a:solidFill>
                <a:effectLst/>
                <a:latin typeface="Consolas" panose="020B0609020204030204" pitchFamily="49" charset="0"/>
              </a:rPr>
              <a:t>u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([5,6,7,8])</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 it is assumed the v and u have the same size</a:t>
            </a:r>
          </a:p>
          <a:p>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 = </a:t>
            </a:r>
            <a:r>
              <a:rPr lang="en-US" b="0" dirty="0" err="1">
                <a:solidFill>
                  <a:schemeClr val="tx2">
                    <a:lumMod val="65000"/>
                    <a:lumOff val="35000"/>
                  </a:schemeClr>
                </a:solidFill>
                <a:effectLst/>
                <a:latin typeface="Consolas" panose="020B0609020204030204" pitchFamily="49" charset="0"/>
              </a:rPr>
              <a:t>np.sqrt</a:t>
            </a:r>
            <a:r>
              <a:rPr lang="en-US" b="0" dirty="0">
                <a:solidFill>
                  <a:schemeClr val="tx2">
                    <a:lumMod val="65000"/>
                    <a:lumOff val="35000"/>
                  </a:schemeClr>
                </a:solidFill>
                <a:effectLst/>
                <a:latin typeface="Consolas" panose="020B0609020204030204" pitchFamily="49" charset="0"/>
              </a:rPr>
              <a:t>(</a:t>
            </a:r>
            <a:r>
              <a:rPr lang="en-US" b="0" dirty="0" err="1">
                <a:solidFill>
                  <a:schemeClr val="tx2">
                    <a:lumMod val="65000"/>
                    <a:lumOff val="35000"/>
                  </a:schemeClr>
                </a:solidFill>
                <a:effectLst/>
                <a:latin typeface="Consolas" panose="020B0609020204030204" pitchFamily="49" charset="0"/>
              </a:rPr>
              <a:t>np.sum</a:t>
            </a:r>
            <a:r>
              <a:rPr lang="en-US" b="0" dirty="0">
                <a:solidFill>
                  <a:schemeClr val="tx2">
                    <a:lumMod val="65000"/>
                    <a:lumOff val="35000"/>
                  </a:schemeClr>
                </a:solidFill>
                <a:effectLst/>
                <a:latin typeface="Consolas" panose="020B0609020204030204" pitchFamily="49" charset="0"/>
              </a:rPr>
              <a:t>(</a:t>
            </a:r>
            <a:r>
              <a:rPr lang="en-US" b="0" dirty="0" err="1">
                <a:solidFill>
                  <a:schemeClr val="tx2">
                    <a:lumMod val="65000"/>
                    <a:lumOff val="35000"/>
                  </a:schemeClr>
                </a:solidFill>
                <a:effectLst/>
                <a:latin typeface="Consolas" panose="020B0609020204030204" pitchFamily="49" charset="0"/>
              </a:rPr>
              <a:t>np.square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r>
              <a:rPr lang="en-US" b="0" dirty="0">
                <a:solidFill>
                  <a:schemeClr val="tx2">
                    <a:lumMod val="65000"/>
                    <a:lumOff val="35000"/>
                  </a:schemeClr>
                </a:solidFill>
                <a:effectLst/>
                <a:latin typeface="Consolas" panose="020B0609020204030204" pitchFamily="49" charset="0"/>
              </a:rPr>
              <a:t>)/</a:t>
            </a:r>
            <a:r>
              <a:rPr lang="en-US" b="0" dirty="0" err="1">
                <a:solidFill>
                  <a:schemeClr val="tx2">
                    <a:lumMod val="65000"/>
                    <a:lumOff val="35000"/>
                  </a:schemeClr>
                </a:solidFill>
                <a:effectLst/>
                <a:latin typeface="Consolas" panose="020B0609020204030204" pitchFamily="49" charset="0"/>
              </a:rPr>
              <a:t>v.size</a:t>
            </a:r>
            <a:r>
              <a:rPr lang="en-US" b="0" dirty="0">
                <a:solidFill>
                  <a:schemeClr val="tx2">
                    <a:lumMod val="65000"/>
                    <a:lumOff val="35000"/>
                  </a:schemeClr>
                </a:solidFill>
                <a:effectLst/>
                <a:latin typeface="Consolas" panose="020B0609020204030204" pitchFamily="49" charset="0"/>
              </a:rPr>
              <a:t>)</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print("RMSE = ",</a:t>
            </a:r>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a:t>
            </a:r>
          </a:p>
        </p:txBody>
      </p:sp>
      <p:sp>
        <p:nvSpPr>
          <p:cNvPr id="4" name="Rectangle 3">
            <a:extLst>
              <a:ext uri="{FF2B5EF4-FFF2-40B4-BE49-F238E27FC236}">
                <a16:creationId xmlns:a16="http://schemas.microsoft.com/office/drawing/2014/main" id="{BA304BCC-E4E0-C05C-D3F4-ECBDBCEBE2AC}"/>
              </a:ext>
            </a:extLst>
          </p:cNvPr>
          <p:cNvSpPr/>
          <p:nvPr/>
        </p:nvSpPr>
        <p:spPr>
          <a:xfrm>
            <a:off x="5087247" y="4922202"/>
            <a:ext cx="685800" cy="335598"/>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3">
            <a:extLst>
              <a:ext uri="{FF2B5EF4-FFF2-40B4-BE49-F238E27FC236}">
                <a16:creationId xmlns:a16="http://schemas.microsoft.com/office/drawing/2014/main" id="{879FA050-9D47-8DAE-C432-E41F04FB7C1F}"/>
              </a:ext>
            </a:extLst>
          </p:cNvPr>
          <p:cNvGraphicFramePr>
            <a:graphicFrameLocks noGrp="1"/>
          </p:cNvGraphicFramePr>
          <p:nvPr/>
        </p:nvGraphicFramePr>
        <p:xfrm>
          <a:off x="7847012" y="3619500"/>
          <a:ext cx="3529225" cy="1127760"/>
        </p:xfrm>
        <a:graphic>
          <a:graphicData uri="http://schemas.openxmlformats.org/drawingml/2006/table">
            <a:tbl>
              <a:tblPr firstRow="1" bandRow="1">
                <a:tableStyleId>{125E5076-3810-47DD-B79F-674D7AD40C01}</a:tableStyleId>
              </a:tblPr>
              <a:tblGrid>
                <a:gridCol w="3529225">
                  <a:extLst>
                    <a:ext uri="{9D8B030D-6E8A-4147-A177-3AD203B41FA5}">
                      <a16:colId xmlns:a16="http://schemas.microsoft.com/office/drawing/2014/main" val="3899577134"/>
                    </a:ext>
                  </a:extLst>
                </a:gridCol>
              </a:tblGrid>
              <a:tr h="142240">
                <a:tc>
                  <a:txBody>
                    <a:bodyPr/>
                    <a:lstStyle/>
                    <a:p>
                      <a:r>
                        <a:rPr lang="en-US" dirty="0"/>
                        <a:t>Debug </a:t>
                      </a:r>
                    </a:p>
                  </a:txBody>
                  <a:tcPr/>
                </a:tc>
                <a:extLst>
                  <a:ext uri="{0D108BD9-81ED-4DB2-BD59-A6C34878D82A}">
                    <a16:rowId xmlns:a16="http://schemas.microsoft.com/office/drawing/2014/main" val="117988312"/>
                  </a:ext>
                </a:extLst>
              </a:tr>
              <a:tr h="0">
                <a:tc>
                  <a:txBody>
                    <a:bodyPr/>
                    <a:lstStyle/>
                    <a:p>
                      <a:r>
                        <a:rPr lang="en-US" sz="1600" dirty="0">
                          <a:latin typeface="Consolas" panose="020B0609020204030204" pitchFamily="49" charset="0"/>
                        </a:rPr>
                        <a:t>v-u = [1,2,3,4] – [5,6,7,8] = </a:t>
                      </a:r>
                    </a:p>
                    <a:p>
                      <a:r>
                        <a:rPr lang="en-US" sz="1600" dirty="0">
                          <a:latin typeface="Consolas" panose="020B0609020204030204" pitchFamily="49" charset="0"/>
                        </a:rPr>
                        <a:t>    = [1-5, 2-6, 3-7, 4-8] = </a:t>
                      </a:r>
                    </a:p>
                    <a:p>
                      <a:r>
                        <a:rPr lang="en-US" sz="1600" dirty="0">
                          <a:latin typeface="Consolas" panose="020B0609020204030204" pitchFamily="49" charset="0"/>
                        </a:rPr>
                        <a:t>    = [-4,-4,-4,-4]</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2354716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026A47-CA6A-BFBC-32D8-A7E90F1D6CC5}"/>
              </a:ext>
            </a:extLst>
          </p:cNvPr>
          <p:cNvSpPr/>
          <p:nvPr/>
        </p:nvSpPr>
        <p:spPr>
          <a:xfrm>
            <a:off x="1979612" y="2667000"/>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65000"/>
                    <a:lumOff val="35000"/>
                  </a:schemeClr>
                </a:solidFill>
                <a:effectLst/>
                <a:latin typeface="Consolas" panose="020B0609020204030204" pitchFamily="49" charset="0"/>
              </a:rPr>
              <a:t>import </a:t>
            </a:r>
            <a:r>
              <a:rPr lang="en-US" b="0" dirty="0" err="1">
                <a:solidFill>
                  <a:schemeClr val="tx2">
                    <a:lumMod val="65000"/>
                    <a:lumOff val="35000"/>
                  </a:schemeClr>
                </a:solidFill>
                <a:effectLst/>
                <a:latin typeface="Consolas" panose="020B0609020204030204" pitchFamily="49" charset="0"/>
              </a:rPr>
              <a:t>numpy</a:t>
            </a:r>
            <a:r>
              <a:rPr lang="en-US" b="0" dirty="0">
                <a:solidFill>
                  <a:schemeClr val="tx2">
                    <a:lumMod val="65000"/>
                    <a:lumOff val="35000"/>
                  </a:schemeClr>
                </a:solidFill>
                <a:effectLst/>
                <a:latin typeface="Consolas" panose="020B0609020204030204" pitchFamily="49" charset="0"/>
              </a:rPr>
              <a:t> as np</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v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([1,2,3,4])</a:t>
            </a:r>
          </a:p>
          <a:p>
            <a:r>
              <a:rPr lang="en-US" b="0" dirty="0">
                <a:solidFill>
                  <a:schemeClr val="tx2">
                    <a:lumMod val="65000"/>
                    <a:lumOff val="35000"/>
                  </a:schemeClr>
                </a:solidFill>
                <a:effectLst/>
                <a:latin typeface="Consolas" panose="020B0609020204030204" pitchFamily="49" charset="0"/>
              </a:rPr>
              <a:t>u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([5,6,7,8])</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 it is assumed the v and u have the same size</a:t>
            </a:r>
          </a:p>
          <a:p>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 = </a:t>
            </a:r>
            <a:r>
              <a:rPr lang="en-US" b="0" dirty="0" err="1">
                <a:solidFill>
                  <a:schemeClr val="tx2">
                    <a:lumMod val="65000"/>
                    <a:lumOff val="35000"/>
                  </a:schemeClr>
                </a:solidFill>
                <a:effectLst/>
                <a:latin typeface="Consolas" panose="020B0609020204030204" pitchFamily="49" charset="0"/>
              </a:rPr>
              <a:t>np.sqrt</a:t>
            </a:r>
            <a:r>
              <a:rPr lang="en-US" b="0" dirty="0">
                <a:solidFill>
                  <a:schemeClr val="tx2">
                    <a:lumMod val="65000"/>
                    <a:lumOff val="35000"/>
                  </a:schemeClr>
                </a:solidFill>
                <a:effectLst/>
                <a:latin typeface="Consolas" panose="020B0609020204030204" pitchFamily="49" charset="0"/>
              </a:rPr>
              <a:t>(</a:t>
            </a:r>
            <a:r>
              <a:rPr lang="en-US" b="0" dirty="0" err="1">
                <a:solidFill>
                  <a:schemeClr val="tx2">
                    <a:lumMod val="65000"/>
                    <a:lumOff val="35000"/>
                  </a:schemeClr>
                </a:solidFill>
                <a:effectLst/>
                <a:latin typeface="Consolas" panose="020B0609020204030204" pitchFamily="49" charset="0"/>
              </a:rPr>
              <a:t>np.sum</a:t>
            </a:r>
            <a:r>
              <a:rPr lang="en-US" b="0" dirty="0">
                <a:solidFill>
                  <a:schemeClr val="tx2">
                    <a:lumMod val="65000"/>
                    <a:lumOff val="35000"/>
                  </a:schemeClr>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square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r>
              <a:rPr lang="en-US" b="0" dirty="0">
                <a:solidFill>
                  <a:schemeClr val="tx2">
                    <a:lumMod val="65000"/>
                    <a:lumOff val="35000"/>
                  </a:schemeClr>
                </a:solidFill>
                <a:effectLst/>
                <a:latin typeface="Consolas" panose="020B0609020204030204" pitchFamily="49" charset="0"/>
              </a:rPr>
              <a:t>)/</a:t>
            </a:r>
            <a:r>
              <a:rPr lang="en-US" b="0" dirty="0" err="1">
                <a:solidFill>
                  <a:schemeClr val="tx2">
                    <a:lumMod val="65000"/>
                    <a:lumOff val="35000"/>
                  </a:schemeClr>
                </a:solidFill>
                <a:effectLst/>
                <a:latin typeface="Consolas" panose="020B0609020204030204" pitchFamily="49" charset="0"/>
              </a:rPr>
              <a:t>v.size</a:t>
            </a:r>
            <a:r>
              <a:rPr lang="en-US" b="0" dirty="0">
                <a:solidFill>
                  <a:schemeClr val="tx2">
                    <a:lumMod val="65000"/>
                    <a:lumOff val="35000"/>
                  </a:schemeClr>
                </a:solidFill>
                <a:effectLst/>
                <a:latin typeface="Consolas" panose="020B0609020204030204" pitchFamily="49" charset="0"/>
              </a:rPr>
              <a:t>)</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print("RMSE = ",</a:t>
            </a:r>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a:t>
            </a:r>
          </a:p>
        </p:txBody>
      </p:sp>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Let’s see how we can write RMSE in </a:t>
            </a:r>
            <a:r>
              <a:rPr lang="en-US" dirty="0" err="1">
                <a:latin typeface="Arial" panose="020B0604020202020204" pitchFamily="34" charset="0"/>
                <a:cs typeface="Arial" panose="020B0604020202020204" pitchFamily="34" charset="0"/>
              </a:rPr>
              <a:t>numpy</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graphicFrame>
        <p:nvGraphicFramePr>
          <p:cNvPr id="7" name="Table 3">
            <a:extLst>
              <a:ext uri="{FF2B5EF4-FFF2-40B4-BE49-F238E27FC236}">
                <a16:creationId xmlns:a16="http://schemas.microsoft.com/office/drawing/2014/main" id="{879FA050-9D47-8DAE-C432-E41F04FB7C1F}"/>
              </a:ext>
            </a:extLst>
          </p:cNvPr>
          <p:cNvGraphicFramePr>
            <a:graphicFrameLocks noGrp="1"/>
          </p:cNvGraphicFramePr>
          <p:nvPr/>
        </p:nvGraphicFramePr>
        <p:xfrm>
          <a:off x="7847012" y="2895600"/>
          <a:ext cx="3529225" cy="1706880"/>
        </p:xfrm>
        <a:graphic>
          <a:graphicData uri="http://schemas.openxmlformats.org/drawingml/2006/table">
            <a:tbl>
              <a:tblPr firstRow="1" bandRow="1">
                <a:tableStyleId>{125E5076-3810-47DD-B79F-674D7AD40C01}</a:tableStyleId>
              </a:tblPr>
              <a:tblGrid>
                <a:gridCol w="3529225">
                  <a:extLst>
                    <a:ext uri="{9D8B030D-6E8A-4147-A177-3AD203B41FA5}">
                      <a16:colId xmlns:a16="http://schemas.microsoft.com/office/drawing/2014/main" val="3899577134"/>
                    </a:ext>
                  </a:extLst>
                </a:gridCol>
              </a:tblGrid>
              <a:tr h="142240">
                <a:tc>
                  <a:txBody>
                    <a:bodyPr/>
                    <a:lstStyle/>
                    <a:p>
                      <a:r>
                        <a:rPr lang="en-US" dirty="0"/>
                        <a:t>Debug </a:t>
                      </a:r>
                    </a:p>
                  </a:txBody>
                  <a:tcPr/>
                </a:tc>
                <a:extLst>
                  <a:ext uri="{0D108BD9-81ED-4DB2-BD59-A6C34878D82A}">
                    <a16:rowId xmlns:a16="http://schemas.microsoft.com/office/drawing/2014/main" val="117988312"/>
                  </a:ext>
                </a:extLst>
              </a:tr>
              <a:tr h="0">
                <a:tc>
                  <a:txBody>
                    <a:bodyPr/>
                    <a:lstStyle/>
                    <a:p>
                      <a:r>
                        <a:rPr lang="en-US" sz="1600" dirty="0">
                          <a:latin typeface="Consolas" panose="020B0609020204030204" pitchFamily="49" charset="0"/>
                        </a:rPr>
                        <a:t>v-u = [1,2,3,4] – [5,6,7,8] = </a:t>
                      </a:r>
                    </a:p>
                    <a:p>
                      <a:r>
                        <a:rPr lang="en-US" sz="1600" dirty="0">
                          <a:latin typeface="Consolas" panose="020B0609020204030204" pitchFamily="49" charset="0"/>
                        </a:rPr>
                        <a:t>    = [1-5, 2-6, 3-7, 4-8] = </a:t>
                      </a:r>
                    </a:p>
                    <a:p>
                      <a:r>
                        <a:rPr lang="en-US" sz="1600" dirty="0">
                          <a:latin typeface="Consolas" panose="020B0609020204030204" pitchFamily="49" charset="0"/>
                        </a:rPr>
                        <a:t>    = [-4,-4,-4,-4]</a:t>
                      </a:r>
                    </a:p>
                  </a:txBody>
                  <a:tcPr/>
                </a:tc>
                <a:extLst>
                  <a:ext uri="{0D108BD9-81ED-4DB2-BD59-A6C34878D82A}">
                    <a16:rowId xmlns:a16="http://schemas.microsoft.com/office/drawing/2014/main" val="4231599274"/>
                  </a:ext>
                </a:extLst>
              </a:tr>
              <a:tr h="0">
                <a:tc>
                  <a:txBody>
                    <a:bodyPr/>
                    <a:lstStyle/>
                    <a:p>
                      <a:r>
                        <a:rPr lang="en-US" sz="1600" dirty="0">
                          <a:latin typeface="Consolas" panose="020B0609020204030204" pitchFamily="49" charset="0"/>
                        </a:rPr>
                        <a:t>square(v-u) = [-4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a:t>
                      </a:r>
                    </a:p>
                    <a:p>
                      <a:r>
                        <a:rPr lang="en-US" sz="1600" dirty="0">
                          <a:latin typeface="Consolas" panose="020B0609020204030204" pitchFamily="49" charset="0"/>
                        </a:rPr>
                        <a:t>            = [16, 16, 16, 16]</a:t>
                      </a:r>
                    </a:p>
                  </a:txBody>
                  <a:tcPr/>
                </a:tc>
                <a:extLst>
                  <a:ext uri="{0D108BD9-81ED-4DB2-BD59-A6C34878D82A}">
                    <a16:rowId xmlns:a16="http://schemas.microsoft.com/office/drawing/2014/main" val="2815973251"/>
                  </a:ext>
                </a:extLst>
              </a:tr>
            </a:tbl>
          </a:graphicData>
        </a:graphic>
      </p:graphicFrame>
      <p:sp>
        <p:nvSpPr>
          <p:cNvPr id="8" name="Rectangle 7">
            <a:extLst>
              <a:ext uri="{FF2B5EF4-FFF2-40B4-BE49-F238E27FC236}">
                <a16:creationId xmlns:a16="http://schemas.microsoft.com/office/drawing/2014/main" id="{99278A4A-6699-AD68-EAC7-481716C39725}"/>
              </a:ext>
            </a:extLst>
          </p:cNvPr>
          <p:cNvSpPr/>
          <p:nvPr/>
        </p:nvSpPr>
        <p:spPr>
          <a:xfrm>
            <a:off x="3960812" y="4187687"/>
            <a:ext cx="1905000" cy="335598"/>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90118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Let’s see how we can write RMSE in </a:t>
            </a:r>
            <a:r>
              <a:rPr lang="en-US" dirty="0" err="1">
                <a:latin typeface="Arial" panose="020B0604020202020204" pitchFamily="34" charset="0"/>
                <a:cs typeface="Arial" panose="020B0604020202020204" pitchFamily="34" charset="0"/>
              </a:rPr>
              <a:t>numpy</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2962DC8-153E-C2FB-9843-7FD1C07EFA3C}"/>
              </a:ext>
            </a:extLst>
          </p:cNvPr>
          <p:cNvSpPr/>
          <p:nvPr/>
        </p:nvSpPr>
        <p:spPr>
          <a:xfrm>
            <a:off x="1979612" y="2667000"/>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65000"/>
                    <a:lumOff val="35000"/>
                  </a:schemeClr>
                </a:solidFill>
                <a:effectLst/>
                <a:latin typeface="Consolas" panose="020B0609020204030204" pitchFamily="49" charset="0"/>
              </a:rPr>
              <a:t>import </a:t>
            </a:r>
            <a:r>
              <a:rPr lang="en-US" b="0" dirty="0" err="1">
                <a:solidFill>
                  <a:schemeClr val="tx2">
                    <a:lumMod val="65000"/>
                    <a:lumOff val="35000"/>
                  </a:schemeClr>
                </a:solidFill>
                <a:effectLst/>
                <a:latin typeface="Consolas" panose="020B0609020204030204" pitchFamily="49" charset="0"/>
              </a:rPr>
              <a:t>numpy</a:t>
            </a:r>
            <a:r>
              <a:rPr lang="en-US" b="0" dirty="0">
                <a:solidFill>
                  <a:schemeClr val="tx2">
                    <a:lumMod val="65000"/>
                    <a:lumOff val="35000"/>
                  </a:schemeClr>
                </a:solidFill>
                <a:effectLst/>
                <a:latin typeface="Consolas" panose="020B0609020204030204" pitchFamily="49" charset="0"/>
              </a:rPr>
              <a:t> as np</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v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([1,2,3,4])</a:t>
            </a:r>
          </a:p>
          <a:p>
            <a:r>
              <a:rPr lang="en-US" b="0" dirty="0">
                <a:solidFill>
                  <a:schemeClr val="tx2">
                    <a:lumMod val="65000"/>
                    <a:lumOff val="35000"/>
                  </a:schemeClr>
                </a:solidFill>
                <a:effectLst/>
                <a:latin typeface="Consolas" panose="020B0609020204030204" pitchFamily="49" charset="0"/>
              </a:rPr>
              <a:t>u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([5,6,7,8])</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 it is assumed the v and u have the same size</a:t>
            </a:r>
          </a:p>
          <a:p>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 = </a:t>
            </a:r>
            <a:r>
              <a:rPr lang="en-US" b="0" dirty="0" err="1">
                <a:solidFill>
                  <a:schemeClr val="tx2">
                    <a:lumMod val="65000"/>
                    <a:lumOff val="35000"/>
                  </a:schemeClr>
                </a:solidFill>
                <a:effectLst/>
                <a:latin typeface="Consolas" panose="020B0609020204030204" pitchFamily="49" charset="0"/>
              </a:rPr>
              <a:t>np.sqrt</a:t>
            </a:r>
            <a:r>
              <a:rPr lang="en-US" b="0" dirty="0">
                <a:solidFill>
                  <a:schemeClr val="tx2">
                    <a:lumMod val="65000"/>
                    <a:lumOff val="35000"/>
                  </a:schemeClr>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sum</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square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r>
              <a:rPr lang="en-US" b="0" dirty="0">
                <a:solidFill>
                  <a:schemeClr val="tx2">
                    <a:lumMod val="65000"/>
                    <a:lumOff val="35000"/>
                  </a:schemeClr>
                </a:solidFill>
                <a:effectLst/>
                <a:latin typeface="Consolas" panose="020B0609020204030204" pitchFamily="49" charset="0"/>
              </a:rPr>
              <a:t>/</a:t>
            </a:r>
            <a:r>
              <a:rPr lang="en-US" b="0" dirty="0" err="1">
                <a:solidFill>
                  <a:schemeClr val="tx2">
                    <a:lumMod val="65000"/>
                    <a:lumOff val="35000"/>
                  </a:schemeClr>
                </a:solidFill>
                <a:effectLst/>
                <a:latin typeface="Consolas" panose="020B0609020204030204" pitchFamily="49" charset="0"/>
              </a:rPr>
              <a:t>v.size</a:t>
            </a:r>
            <a:r>
              <a:rPr lang="en-US" b="0" dirty="0">
                <a:solidFill>
                  <a:schemeClr val="tx2">
                    <a:lumMod val="65000"/>
                    <a:lumOff val="35000"/>
                  </a:schemeClr>
                </a:solidFill>
                <a:effectLst/>
                <a:latin typeface="Consolas" panose="020B0609020204030204" pitchFamily="49" charset="0"/>
              </a:rPr>
              <a:t>)</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print("RMSE = ",</a:t>
            </a:r>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a:t>
            </a:r>
          </a:p>
        </p:txBody>
      </p:sp>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graphicFrame>
        <p:nvGraphicFramePr>
          <p:cNvPr id="7" name="Table 3">
            <a:extLst>
              <a:ext uri="{FF2B5EF4-FFF2-40B4-BE49-F238E27FC236}">
                <a16:creationId xmlns:a16="http://schemas.microsoft.com/office/drawing/2014/main" id="{879FA050-9D47-8DAE-C432-E41F04FB7C1F}"/>
              </a:ext>
            </a:extLst>
          </p:cNvPr>
          <p:cNvGraphicFramePr>
            <a:graphicFrameLocks noGrp="1"/>
          </p:cNvGraphicFramePr>
          <p:nvPr/>
        </p:nvGraphicFramePr>
        <p:xfrm>
          <a:off x="7847012" y="2895600"/>
          <a:ext cx="3529225" cy="2286000"/>
        </p:xfrm>
        <a:graphic>
          <a:graphicData uri="http://schemas.openxmlformats.org/drawingml/2006/table">
            <a:tbl>
              <a:tblPr firstRow="1" bandRow="1">
                <a:tableStyleId>{125E5076-3810-47DD-B79F-674D7AD40C01}</a:tableStyleId>
              </a:tblPr>
              <a:tblGrid>
                <a:gridCol w="3529225">
                  <a:extLst>
                    <a:ext uri="{9D8B030D-6E8A-4147-A177-3AD203B41FA5}">
                      <a16:colId xmlns:a16="http://schemas.microsoft.com/office/drawing/2014/main" val="3899577134"/>
                    </a:ext>
                  </a:extLst>
                </a:gridCol>
              </a:tblGrid>
              <a:tr h="142240">
                <a:tc>
                  <a:txBody>
                    <a:bodyPr/>
                    <a:lstStyle/>
                    <a:p>
                      <a:r>
                        <a:rPr lang="en-US" dirty="0"/>
                        <a:t>Debug </a:t>
                      </a:r>
                    </a:p>
                  </a:txBody>
                  <a:tcPr/>
                </a:tc>
                <a:extLst>
                  <a:ext uri="{0D108BD9-81ED-4DB2-BD59-A6C34878D82A}">
                    <a16:rowId xmlns:a16="http://schemas.microsoft.com/office/drawing/2014/main" val="117988312"/>
                  </a:ext>
                </a:extLst>
              </a:tr>
              <a:tr h="0">
                <a:tc>
                  <a:txBody>
                    <a:bodyPr/>
                    <a:lstStyle/>
                    <a:p>
                      <a:r>
                        <a:rPr lang="en-US" sz="1600" dirty="0">
                          <a:latin typeface="Consolas" panose="020B0609020204030204" pitchFamily="49" charset="0"/>
                        </a:rPr>
                        <a:t>v-u = [1,2,3,4] – [5,6,7,8] = </a:t>
                      </a:r>
                    </a:p>
                    <a:p>
                      <a:r>
                        <a:rPr lang="en-US" sz="1600" dirty="0">
                          <a:latin typeface="Consolas" panose="020B0609020204030204" pitchFamily="49" charset="0"/>
                        </a:rPr>
                        <a:t>    = [1-5, 2-6, 3-7, 4-8] = </a:t>
                      </a:r>
                    </a:p>
                    <a:p>
                      <a:r>
                        <a:rPr lang="en-US" sz="1600" dirty="0">
                          <a:latin typeface="Consolas" panose="020B0609020204030204" pitchFamily="49" charset="0"/>
                        </a:rPr>
                        <a:t>    = [-4,-4,-4,-4]</a:t>
                      </a:r>
                    </a:p>
                  </a:txBody>
                  <a:tcPr/>
                </a:tc>
                <a:extLst>
                  <a:ext uri="{0D108BD9-81ED-4DB2-BD59-A6C34878D82A}">
                    <a16:rowId xmlns:a16="http://schemas.microsoft.com/office/drawing/2014/main" val="4231599274"/>
                  </a:ext>
                </a:extLst>
              </a:tr>
              <a:tr h="0">
                <a:tc>
                  <a:txBody>
                    <a:bodyPr/>
                    <a:lstStyle/>
                    <a:p>
                      <a:r>
                        <a:rPr lang="en-US" sz="1600" dirty="0">
                          <a:latin typeface="Consolas" panose="020B0609020204030204" pitchFamily="49" charset="0"/>
                        </a:rPr>
                        <a:t>square(v-u) = [-4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a:t>
                      </a:r>
                    </a:p>
                    <a:p>
                      <a:r>
                        <a:rPr lang="en-US" sz="1600" dirty="0">
                          <a:latin typeface="Consolas" panose="020B0609020204030204" pitchFamily="49" charset="0"/>
                        </a:rPr>
                        <a:t>            = [16, 16, 16, 16]</a:t>
                      </a:r>
                    </a:p>
                  </a:txBody>
                  <a:tcPr/>
                </a:tc>
                <a:extLst>
                  <a:ext uri="{0D108BD9-81ED-4DB2-BD59-A6C34878D82A}">
                    <a16:rowId xmlns:a16="http://schemas.microsoft.com/office/drawing/2014/main" val="2815973251"/>
                  </a:ext>
                </a:extLst>
              </a:tr>
              <a:tr h="0">
                <a:tc>
                  <a:txBody>
                    <a:bodyPr/>
                    <a:lstStyle/>
                    <a:p>
                      <a:r>
                        <a:rPr lang="en-US" sz="1600" dirty="0">
                          <a:latin typeface="Consolas" panose="020B0609020204030204" pitchFamily="49" charset="0"/>
                        </a:rPr>
                        <a:t>sum(square(..)) = 16+16+16+16</a:t>
                      </a:r>
                    </a:p>
                    <a:p>
                      <a:r>
                        <a:rPr lang="en-US" sz="1600" dirty="0">
                          <a:latin typeface="Consolas" panose="020B0609020204030204" pitchFamily="49" charset="0"/>
                        </a:rPr>
                        <a:t>                = 64</a:t>
                      </a:r>
                    </a:p>
                  </a:txBody>
                  <a:tcPr/>
                </a:tc>
                <a:extLst>
                  <a:ext uri="{0D108BD9-81ED-4DB2-BD59-A6C34878D82A}">
                    <a16:rowId xmlns:a16="http://schemas.microsoft.com/office/drawing/2014/main" val="3302204963"/>
                  </a:ext>
                </a:extLst>
              </a:tr>
            </a:tbl>
          </a:graphicData>
        </a:graphic>
      </p:graphicFrame>
      <p:sp>
        <p:nvSpPr>
          <p:cNvPr id="10" name="Rectangle 9">
            <a:extLst>
              <a:ext uri="{FF2B5EF4-FFF2-40B4-BE49-F238E27FC236}">
                <a16:creationId xmlns:a16="http://schemas.microsoft.com/office/drawing/2014/main" id="{83C33711-F469-956B-218B-763A835B9EC5}"/>
              </a:ext>
            </a:extLst>
          </p:cNvPr>
          <p:cNvSpPr/>
          <p:nvPr/>
        </p:nvSpPr>
        <p:spPr>
          <a:xfrm>
            <a:off x="3109360" y="4191000"/>
            <a:ext cx="2819400" cy="335598"/>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26912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Let’s see how we can write RMSE in </a:t>
            </a:r>
            <a:r>
              <a:rPr lang="en-US" dirty="0" err="1">
                <a:latin typeface="Arial" panose="020B0604020202020204" pitchFamily="34" charset="0"/>
                <a:cs typeface="Arial" panose="020B0604020202020204" pitchFamily="34" charset="0"/>
              </a:rPr>
              <a:t>numpy</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2962DC8-153E-C2FB-9843-7FD1C07EFA3C}"/>
              </a:ext>
            </a:extLst>
          </p:cNvPr>
          <p:cNvSpPr/>
          <p:nvPr/>
        </p:nvSpPr>
        <p:spPr>
          <a:xfrm>
            <a:off x="1979612" y="2667000"/>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65000"/>
                    <a:lumOff val="35000"/>
                  </a:schemeClr>
                </a:solidFill>
                <a:effectLst/>
                <a:latin typeface="Consolas" panose="020B0609020204030204" pitchFamily="49" charset="0"/>
              </a:rPr>
              <a:t>import </a:t>
            </a:r>
            <a:r>
              <a:rPr lang="en-US" b="0" dirty="0" err="1">
                <a:solidFill>
                  <a:schemeClr val="tx2">
                    <a:lumMod val="65000"/>
                    <a:lumOff val="35000"/>
                  </a:schemeClr>
                </a:solidFill>
                <a:effectLst/>
                <a:latin typeface="Consolas" panose="020B0609020204030204" pitchFamily="49" charset="0"/>
              </a:rPr>
              <a:t>numpy</a:t>
            </a:r>
            <a:r>
              <a:rPr lang="en-US" b="0" dirty="0">
                <a:solidFill>
                  <a:schemeClr val="tx2">
                    <a:lumMod val="65000"/>
                    <a:lumOff val="35000"/>
                  </a:schemeClr>
                </a:solidFill>
                <a:effectLst/>
                <a:latin typeface="Consolas" panose="020B0609020204030204" pitchFamily="49" charset="0"/>
              </a:rPr>
              <a:t> as np</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v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([1,2,3,4])</a:t>
            </a:r>
          </a:p>
          <a:p>
            <a:r>
              <a:rPr lang="en-US" b="0" dirty="0">
                <a:solidFill>
                  <a:schemeClr val="tx2">
                    <a:lumMod val="65000"/>
                    <a:lumOff val="35000"/>
                  </a:schemeClr>
                </a:solidFill>
                <a:effectLst/>
                <a:latin typeface="Consolas" panose="020B0609020204030204" pitchFamily="49" charset="0"/>
              </a:rPr>
              <a:t>u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([5,6,7,8])</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 it is assumed the v and u have the same size</a:t>
            </a:r>
          </a:p>
          <a:p>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 = </a:t>
            </a:r>
            <a:r>
              <a:rPr lang="en-US" b="0" dirty="0" err="1">
                <a:solidFill>
                  <a:schemeClr val="tx2">
                    <a:lumMod val="65000"/>
                    <a:lumOff val="35000"/>
                  </a:schemeClr>
                </a:solidFill>
                <a:effectLst/>
                <a:latin typeface="Consolas" panose="020B0609020204030204" pitchFamily="49" charset="0"/>
              </a:rPr>
              <a:t>np.sqrt</a:t>
            </a:r>
            <a:r>
              <a:rPr lang="en-US" b="0" dirty="0">
                <a:solidFill>
                  <a:schemeClr val="tx2">
                    <a:lumMod val="65000"/>
                    <a:lumOff val="35000"/>
                  </a:schemeClr>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sum</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square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err="1">
                <a:solidFill>
                  <a:srgbClr val="229977"/>
                </a:solidFill>
                <a:effectLst/>
                <a:latin typeface="Consolas" panose="020B0609020204030204" pitchFamily="49" charset="0"/>
              </a:rPr>
              <a:t>v</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size</a:t>
            </a:r>
            <a:r>
              <a:rPr lang="en-US" b="0" dirty="0">
                <a:solidFill>
                  <a:schemeClr val="tx2">
                    <a:lumMod val="65000"/>
                    <a:lumOff val="35000"/>
                  </a:schemeClr>
                </a:solidFill>
                <a:effectLst/>
                <a:latin typeface="Consolas" panose="020B0609020204030204" pitchFamily="49" charset="0"/>
              </a:rPr>
              <a:t>)</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print("RMSE = ",</a:t>
            </a:r>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a:t>
            </a:r>
          </a:p>
        </p:txBody>
      </p:sp>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graphicFrame>
        <p:nvGraphicFramePr>
          <p:cNvPr id="7" name="Table 3">
            <a:extLst>
              <a:ext uri="{FF2B5EF4-FFF2-40B4-BE49-F238E27FC236}">
                <a16:creationId xmlns:a16="http://schemas.microsoft.com/office/drawing/2014/main" id="{879FA050-9D47-8DAE-C432-E41F04FB7C1F}"/>
              </a:ext>
            </a:extLst>
          </p:cNvPr>
          <p:cNvGraphicFramePr>
            <a:graphicFrameLocks noGrp="1"/>
          </p:cNvGraphicFramePr>
          <p:nvPr/>
        </p:nvGraphicFramePr>
        <p:xfrm>
          <a:off x="7847012" y="2895600"/>
          <a:ext cx="3529225" cy="2621280"/>
        </p:xfrm>
        <a:graphic>
          <a:graphicData uri="http://schemas.openxmlformats.org/drawingml/2006/table">
            <a:tbl>
              <a:tblPr firstRow="1" bandRow="1">
                <a:tableStyleId>{125E5076-3810-47DD-B79F-674D7AD40C01}</a:tableStyleId>
              </a:tblPr>
              <a:tblGrid>
                <a:gridCol w="3529225">
                  <a:extLst>
                    <a:ext uri="{9D8B030D-6E8A-4147-A177-3AD203B41FA5}">
                      <a16:colId xmlns:a16="http://schemas.microsoft.com/office/drawing/2014/main" val="3899577134"/>
                    </a:ext>
                  </a:extLst>
                </a:gridCol>
              </a:tblGrid>
              <a:tr h="142240">
                <a:tc>
                  <a:txBody>
                    <a:bodyPr/>
                    <a:lstStyle/>
                    <a:p>
                      <a:r>
                        <a:rPr lang="en-US" dirty="0"/>
                        <a:t>Debug </a:t>
                      </a:r>
                    </a:p>
                  </a:txBody>
                  <a:tcPr/>
                </a:tc>
                <a:extLst>
                  <a:ext uri="{0D108BD9-81ED-4DB2-BD59-A6C34878D82A}">
                    <a16:rowId xmlns:a16="http://schemas.microsoft.com/office/drawing/2014/main" val="117988312"/>
                  </a:ext>
                </a:extLst>
              </a:tr>
              <a:tr h="0">
                <a:tc>
                  <a:txBody>
                    <a:bodyPr/>
                    <a:lstStyle/>
                    <a:p>
                      <a:r>
                        <a:rPr lang="en-US" sz="1600" dirty="0">
                          <a:latin typeface="Consolas" panose="020B0609020204030204" pitchFamily="49" charset="0"/>
                        </a:rPr>
                        <a:t>v-u = [1,2,3,4] – [5,6,7,8] = </a:t>
                      </a:r>
                    </a:p>
                    <a:p>
                      <a:r>
                        <a:rPr lang="en-US" sz="1600" dirty="0">
                          <a:latin typeface="Consolas" panose="020B0609020204030204" pitchFamily="49" charset="0"/>
                        </a:rPr>
                        <a:t>    = [1-5, 2-6, 3-7, 4-8] = </a:t>
                      </a:r>
                    </a:p>
                    <a:p>
                      <a:r>
                        <a:rPr lang="en-US" sz="1600" dirty="0">
                          <a:latin typeface="Consolas" panose="020B0609020204030204" pitchFamily="49" charset="0"/>
                        </a:rPr>
                        <a:t>    = [-4,-4,-4,-4]</a:t>
                      </a:r>
                    </a:p>
                  </a:txBody>
                  <a:tcPr/>
                </a:tc>
                <a:extLst>
                  <a:ext uri="{0D108BD9-81ED-4DB2-BD59-A6C34878D82A}">
                    <a16:rowId xmlns:a16="http://schemas.microsoft.com/office/drawing/2014/main" val="4231599274"/>
                  </a:ext>
                </a:extLst>
              </a:tr>
              <a:tr h="0">
                <a:tc>
                  <a:txBody>
                    <a:bodyPr/>
                    <a:lstStyle/>
                    <a:p>
                      <a:r>
                        <a:rPr lang="en-US" sz="1600" dirty="0">
                          <a:latin typeface="Consolas" panose="020B0609020204030204" pitchFamily="49" charset="0"/>
                        </a:rPr>
                        <a:t>square(v-u) = [-4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a:t>
                      </a:r>
                    </a:p>
                    <a:p>
                      <a:r>
                        <a:rPr lang="en-US" sz="1600" dirty="0">
                          <a:latin typeface="Consolas" panose="020B0609020204030204" pitchFamily="49" charset="0"/>
                        </a:rPr>
                        <a:t>            = [16, 16, 16, 16]</a:t>
                      </a:r>
                    </a:p>
                  </a:txBody>
                  <a:tcPr/>
                </a:tc>
                <a:extLst>
                  <a:ext uri="{0D108BD9-81ED-4DB2-BD59-A6C34878D82A}">
                    <a16:rowId xmlns:a16="http://schemas.microsoft.com/office/drawing/2014/main" val="2815973251"/>
                  </a:ext>
                </a:extLst>
              </a:tr>
              <a:tr h="0">
                <a:tc>
                  <a:txBody>
                    <a:bodyPr/>
                    <a:lstStyle/>
                    <a:p>
                      <a:r>
                        <a:rPr lang="en-US" sz="1600" dirty="0">
                          <a:latin typeface="Consolas" panose="020B0609020204030204" pitchFamily="49" charset="0"/>
                        </a:rPr>
                        <a:t>sum(square(..)) = 16+16+16+16</a:t>
                      </a:r>
                    </a:p>
                    <a:p>
                      <a:r>
                        <a:rPr lang="en-US" sz="1600" dirty="0">
                          <a:latin typeface="Consolas" panose="020B0609020204030204" pitchFamily="49" charset="0"/>
                        </a:rPr>
                        <a:t>                = 64</a:t>
                      </a:r>
                    </a:p>
                  </a:txBody>
                  <a:tcPr/>
                </a:tc>
                <a:extLst>
                  <a:ext uri="{0D108BD9-81ED-4DB2-BD59-A6C34878D82A}">
                    <a16:rowId xmlns:a16="http://schemas.microsoft.com/office/drawing/2014/main" val="3302204963"/>
                  </a:ext>
                </a:extLst>
              </a:tr>
              <a:tr h="0">
                <a:tc>
                  <a:txBody>
                    <a:bodyPr/>
                    <a:lstStyle/>
                    <a:p>
                      <a:r>
                        <a:rPr lang="en-US" sz="1600" dirty="0">
                          <a:latin typeface="Consolas" panose="020B0609020204030204" pitchFamily="49" charset="0"/>
                        </a:rPr>
                        <a:t>sum(…)/size = 64 / 4 = 16</a:t>
                      </a:r>
                    </a:p>
                  </a:txBody>
                  <a:tcPr/>
                </a:tc>
                <a:extLst>
                  <a:ext uri="{0D108BD9-81ED-4DB2-BD59-A6C34878D82A}">
                    <a16:rowId xmlns:a16="http://schemas.microsoft.com/office/drawing/2014/main" val="3042375095"/>
                  </a:ext>
                </a:extLst>
              </a:tr>
            </a:tbl>
          </a:graphicData>
        </a:graphic>
      </p:graphicFrame>
      <p:sp>
        <p:nvSpPr>
          <p:cNvPr id="10" name="Rectangle 9">
            <a:extLst>
              <a:ext uri="{FF2B5EF4-FFF2-40B4-BE49-F238E27FC236}">
                <a16:creationId xmlns:a16="http://schemas.microsoft.com/office/drawing/2014/main" id="{83C33711-F469-956B-218B-763A835B9EC5}"/>
              </a:ext>
            </a:extLst>
          </p:cNvPr>
          <p:cNvSpPr/>
          <p:nvPr/>
        </p:nvSpPr>
        <p:spPr>
          <a:xfrm>
            <a:off x="3099489" y="4167809"/>
            <a:ext cx="3810000" cy="335598"/>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32844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Let’s see how we can write RMSE in </a:t>
            </a:r>
            <a:r>
              <a:rPr lang="en-US" dirty="0" err="1">
                <a:latin typeface="Arial" panose="020B0604020202020204" pitchFamily="34" charset="0"/>
                <a:cs typeface="Arial" panose="020B0604020202020204" pitchFamily="34" charset="0"/>
              </a:rPr>
              <a:t>numpy</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2962DC8-153E-C2FB-9843-7FD1C07EFA3C}"/>
              </a:ext>
            </a:extLst>
          </p:cNvPr>
          <p:cNvSpPr/>
          <p:nvPr/>
        </p:nvSpPr>
        <p:spPr>
          <a:xfrm>
            <a:off x="1979612" y="2667000"/>
            <a:ext cx="9448800" cy="25146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65000"/>
                    <a:lumOff val="35000"/>
                  </a:schemeClr>
                </a:solidFill>
                <a:effectLst/>
                <a:latin typeface="Consolas" panose="020B0609020204030204" pitchFamily="49" charset="0"/>
              </a:rPr>
              <a:t>import </a:t>
            </a:r>
            <a:r>
              <a:rPr lang="en-US" b="0" dirty="0" err="1">
                <a:solidFill>
                  <a:schemeClr val="tx2">
                    <a:lumMod val="65000"/>
                    <a:lumOff val="35000"/>
                  </a:schemeClr>
                </a:solidFill>
                <a:effectLst/>
                <a:latin typeface="Consolas" panose="020B0609020204030204" pitchFamily="49" charset="0"/>
              </a:rPr>
              <a:t>numpy</a:t>
            </a:r>
            <a:r>
              <a:rPr lang="en-US" b="0" dirty="0">
                <a:solidFill>
                  <a:schemeClr val="tx2">
                    <a:lumMod val="65000"/>
                    <a:lumOff val="35000"/>
                  </a:schemeClr>
                </a:solidFill>
                <a:effectLst/>
                <a:latin typeface="Consolas" panose="020B0609020204030204" pitchFamily="49" charset="0"/>
              </a:rPr>
              <a:t> as np</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v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([1,2,3,4])</a:t>
            </a:r>
          </a:p>
          <a:p>
            <a:r>
              <a:rPr lang="en-US" b="0" dirty="0">
                <a:solidFill>
                  <a:schemeClr val="tx2">
                    <a:lumMod val="65000"/>
                    <a:lumOff val="35000"/>
                  </a:schemeClr>
                </a:solidFill>
                <a:effectLst/>
                <a:latin typeface="Consolas" panose="020B0609020204030204" pitchFamily="49" charset="0"/>
              </a:rPr>
              <a:t>u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([5,6,7,8])</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 it is assumed the v and u have the same size</a:t>
            </a:r>
          </a:p>
          <a:p>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 =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sqrt</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sum</a:t>
            </a:r>
            <a:r>
              <a:rPr lang="en-US" b="0" dirty="0">
                <a:solidFill>
                  <a:srgbClr val="B4B4B4"/>
                </a:solidFill>
                <a:effectLst/>
                <a:latin typeface="Consolas" panose="020B0609020204030204" pitchFamily="49" charset="0"/>
              </a:rPr>
              <a:t>(</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square</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r>
              <a:rPr lang="en-US" b="0" dirty="0">
                <a:solidFill>
                  <a:srgbClr val="C0C0C0"/>
                </a:solidFill>
                <a:effectLst/>
                <a:latin typeface="Consolas" panose="020B0609020204030204" pitchFamily="49" charset="0"/>
              </a:rPr>
              <a:t>/</a:t>
            </a:r>
            <a:r>
              <a:rPr lang="en-US" b="0" dirty="0" err="1">
                <a:solidFill>
                  <a:srgbClr val="229977"/>
                </a:solidFill>
                <a:effectLst/>
                <a:latin typeface="Consolas" panose="020B0609020204030204" pitchFamily="49" charset="0"/>
              </a:rPr>
              <a:t>v</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size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print("RMSE = ",</a:t>
            </a:r>
            <a:r>
              <a:rPr lang="en-US" b="0" dirty="0" err="1">
                <a:solidFill>
                  <a:schemeClr val="tx2">
                    <a:lumMod val="65000"/>
                    <a:lumOff val="35000"/>
                  </a:schemeClr>
                </a:solidFill>
                <a:effectLst/>
                <a:latin typeface="Consolas" panose="020B0609020204030204" pitchFamily="49" charset="0"/>
              </a:rPr>
              <a:t>rmse</a:t>
            </a:r>
            <a:r>
              <a:rPr lang="en-US" b="0" dirty="0">
                <a:solidFill>
                  <a:schemeClr val="tx2">
                    <a:lumMod val="65000"/>
                    <a:lumOff val="35000"/>
                  </a:schemeClr>
                </a:solidFill>
                <a:effectLst/>
                <a:latin typeface="Consolas" panose="020B0609020204030204" pitchFamily="49" charset="0"/>
              </a:rPr>
              <a:t>)</a:t>
            </a:r>
          </a:p>
        </p:txBody>
      </p:sp>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Array operations</a:t>
            </a:r>
          </a:p>
        </p:txBody>
      </p:sp>
      <p:graphicFrame>
        <p:nvGraphicFramePr>
          <p:cNvPr id="7" name="Table 3">
            <a:extLst>
              <a:ext uri="{FF2B5EF4-FFF2-40B4-BE49-F238E27FC236}">
                <a16:creationId xmlns:a16="http://schemas.microsoft.com/office/drawing/2014/main" id="{879FA050-9D47-8DAE-C432-E41F04FB7C1F}"/>
              </a:ext>
            </a:extLst>
          </p:cNvPr>
          <p:cNvGraphicFramePr>
            <a:graphicFrameLocks noGrp="1"/>
          </p:cNvGraphicFramePr>
          <p:nvPr/>
        </p:nvGraphicFramePr>
        <p:xfrm>
          <a:off x="7847012" y="2895600"/>
          <a:ext cx="3529225" cy="3261360"/>
        </p:xfrm>
        <a:graphic>
          <a:graphicData uri="http://schemas.openxmlformats.org/drawingml/2006/table">
            <a:tbl>
              <a:tblPr firstRow="1" bandRow="1">
                <a:tableStyleId>{125E5076-3810-47DD-B79F-674D7AD40C01}</a:tableStyleId>
              </a:tblPr>
              <a:tblGrid>
                <a:gridCol w="3529225">
                  <a:extLst>
                    <a:ext uri="{9D8B030D-6E8A-4147-A177-3AD203B41FA5}">
                      <a16:colId xmlns:a16="http://schemas.microsoft.com/office/drawing/2014/main" val="3899577134"/>
                    </a:ext>
                  </a:extLst>
                </a:gridCol>
              </a:tblGrid>
              <a:tr h="142240">
                <a:tc>
                  <a:txBody>
                    <a:bodyPr/>
                    <a:lstStyle/>
                    <a:p>
                      <a:r>
                        <a:rPr lang="en-US" dirty="0"/>
                        <a:t>Debug </a:t>
                      </a:r>
                    </a:p>
                  </a:txBody>
                  <a:tcPr/>
                </a:tc>
                <a:extLst>
                  <a:ext uri="{0D108BD9-81ED-4DB2-BD59-A6C34878D82A}">
                    <a16:rowId xmlns:a16="http://schemas.microsoft.com/office/drawing/2014/main" val="117988312"/>
                  </a:ext>
                </a:extLst>
              </a:tr>
              <a:tr h="0">
                <a:tc>
                  <a:txBody>
                    <a:bodyPr/>
                    <a:lstStyle/>
                    <a:p>
                      <a:r>
                        <a:rPr lang="en-US" sz="1600" dirty="0">
                          <a:latin typeface="Consolas" panose="020B0609020204030204" pitchFamily="49" charset="0"/>
                        </a:rPr>
                        <a:t>v-u = [1,2,3,4] – [5,6,7,8] = </a:t>
                      </a:r>
                    </a:p>
                    <a:p>
                      <a:r>
                        <a:rPr lang="en-US" sz="1600" dirty="0">
                          <a:latin typeface="Consolas" panose="020B0609020204030204" pitchFamily="49" charset="0"/>
                        </a:rPr>
                        <a:t>    = [1-5, 2-6, 3-7, 4-8] = </a:t>
                      </a:r>
                    </a:p>
                    <a:p>
                      <a:r>
                        <a:rPr lang="en-US" sz="1600" dirty="0">
                          <a:latin typeface="Consolas" panose="020B0609020204030204" pitchFamily="49" charset="0"/>
                        </a:rPr>
                        <a:t>    = [-4,-4,-4,-4]</a:t>
                      </a:r>
                    </a:p>
                  </a:txBody>
                  <a:tcPr/>
                </a:tc>
                <a:extLst>
                  <a:ext uri="{0D108BD9-81ED-4DB2-BD59-A6C34878D82A}">
                    <a16:rowId xmlns:a16="http://schemas.microsoft.com/office/drawing/2014/main" val="4231599274"/>
                  </a:ext>
                </a:extLst>
              </a:tr>
              <a:tr h="0">
                <a:tc>
                  <a:txBody>
                    <a:bodyPr/>
                    <a:lstStyle/>
                    <a:p>
                      <a:r>
                        <a:rPr lang="en-US" sz="1600" dirty="0">
                          <a:latin typeface="Consolas" panose="020B0609020204030204" pitchFamily="49" charset="0"/>
                        </a:rPr>
                        <a:t>square(v-u) = [-4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,-4</a:t>
                      </a:r>
                      <a:r>
                        <a:rPr lang="en-US" sz="1600" baseline="30000" dirty="0">
                          <a:latin typeface="Consolas" panose="020B0609020204030204" pitchFamily="49" charset="0"/>
                        </a:rPr>
                        <a:t>2</a:t>
                      </a:r>
                      <a:r>
                        <a:rPr lang="en-US" sz="1600" dirty="0">
                          <a:latin typeface="Consolas" panose="020B0609020204030204" pitchFamily="49" charset="0"/>
                        </a:rPr>
                        <a:t>]</a:t>
                      </a:r>
                    </a:p>
                    <a:p>
                      <a:r>
                        <a:rPr lang="en-US" sz="1600" dirty="0">
                          <a:latin typeface="Consolas" panose="020B0609020204030204" pitchFamily="49" charset="0"/>
                        </a:rPr>
                        <a:t>            = [16, 16, 16, 16]</a:t>
                      </a:r>
                    </a:p>
                  </a:txBody>
                  <a:tcPr/>
                </a:tc>
                <a:extLst>
                  <a:ext uri="{0D108BD9-81ED-4DB2-BD59-A6C34878D82A}">
                    <a16:rowId xmlns:a16="http://schemas.microsoft.com/office/drawing/2014/main" val="2815973251"/>
                  </a:ext>
                </a:extLst>
              </a:tr>
              <a:tr h="0">
                <a:tc>
                  <a:txBody>
                    <a:bodyPr/>
                    <a:lstStyle/>
                    <a:p>
                      <a:r>
                        <a:rPr lang="en-US" sz="1600" dirty="0">
                          <a:latin typeface="Consolas" panose="020B0609020204030204" pitchFamily="49" charset="0"/>
                        </a:rPr>
                        <a:t>sum(square(..)) = 16+16+16+16</a:t>
                      </a:r>
                    </a:p>
                    <a:p>
                      <a:r>
                        <a:rPr lang="en-US" sz="1600" dirty="0">
                          <a:latin typeface="Consolas" panose="020B0609020204030204" pitchFamily="49" charset="0"/>
                        </a:rPr>
                        <a:t>                = 64</a:t>
                      </a:r>
                    </a:p>
                  </a:txBody>
                  <a:tcPr/>
                </a:tc>
                <a:extLst>
                  <a:ext uri="{0D108BD9-81ED-4DB2-BD59-A6C34878D82A}">
                    <a16:rowId xmlns:a16="http://schemas.microsoft.com/office/drawing/2014/main" val="3302204963"/>
                  </a:ext>
                </a:extLst>
              </a:tr>
              <a:tr h="0">
                <a:tc>
                  <a:txBody>
                    <a:bodyPr/>
                    <a:lstStyle/>
                    <a:p>
                      <a:r>
                        <a:rPr lang="en-US" sz="1600" dirty="0">
                          <a:latin typeface="Consolas" panose="020B0609020204030204" pitchFamily="49" charset="0"/>
                        </a:rPr>
                        <a:t>sum(…)/size = 64 / 4 = 16</a:t>
                      </a:r>
                    </a:p>
                  </a:txBody>
                  <a:tcPr/>
                </a:tc>
                <a:extLst>
                  <a:ext uri="{0D108BD9-81ED-4DB2-BD59-A6C34878D82A}">
                    <a16:rowId xmlns:a16="http://schemas.microsoft.com/office/drawing/2014/main" val="3042375095"/>
                  </a:ext>
                </a:extLst>
              </a:tr>
              <a:tr h="0">
                <a:tc>
                  <a:txBody>
                    <a:bodyPr/>
                    <a:lstStyle/>
                    <a:p>
                      <a:r>
                        <a:rPr lang="en-US" sz="1600" dirty="0">
                          <a:latin typeface="Consolas" panose="020B0609020204030204" pitchFamily="49" charset="0"/>
                        </a:rPr>
                        <a:t>sqrt(sum(…)/size) = sqrt(16) </a:t>
                      </a:r>
                    </a:p>
                    <a:p>
                      <a:r>
                        <a:rPr lang="en-US" sz="1600" dirty="0">
                          <a:latin typeface="Consolas" panose="020B0609020204030204" pitchFamily="49" charset="0"/>
                        </a:rPr>
                        <a:t>                  = </a:t>
                      </a:r>
                      <a:r>
                        <a:rPr lang="en-US" sz="2000" b="1" dirty="0">
                          <a:latin typeface="Consolas" panose="020B0609020204030204" pitchFamily="49" charset="0"/>
                        </a:rPr>
                        <a:t>4</a:t>
                      </a:r>
                      <a:endParaRPr lang="en-US" sz="1600" b="1" dirty="0">
                        <a:latin typeface="Consolas" panose="020B0609020204030204" pitchFamily="49" charset="0"/>
                      </a:endParaRPr>
                    </a:p>
                  </a:txBody>
                  <a:tcPr/>
                </a:tc>
                <a:extLst>
                  <a:ext uri="{0D108BD9-81ED-4DB2-BD59-A6C34878D82A}">
                    <a16:rowId xmlns:a16="http://schemas.microsoft.com/office/drawing/2014/main" val="2483852779"/>
                  </a:ext>
                </a:extLst>
              </a:tr>
            </a:tbl>
          </a:graphicData>
        </a:graphic>
      </p:graphicFrame>
      <p:sp>
        <p:nvSpPr>
          <p:cNvPr id="10" name="Rectangle 9">
            <a:extLst>
              <a:ext uri="{FF2B5EF4-FFF2-40B4-BE49-F238E27FC236}">
                <a16:creationId xmlns:a16="http://schemas.microsoft.com/office/drawing/2014/main" id="{83C33711-F469-956B-218B-763A835B9EC5}"/>
              </a:ext>
            </a:extLst>
          </p:cNvPr>
          <p:cNvSpPr/>
          <p:nvPr/>
        </p:nvSpPr>
        <p:spPr>
          <a:xfrm>
            <a:off x="2474912" y="4190682"/>
            <a:ext cx="4876800" cy="335598"/>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6424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a:xfrm>
            <a:off x="1598612" y="1600201"/>
            <a:ext cx="9524999" cy="2654064"/>
          </a:xfrm>
        </p:spPr>
        <p:txBody>
          <a:bodyPr/>
          <a:lstStyle/>
          <a:p>
            <a:r>
              <a:rPr lang="en-US" dirty="0"/>
              <a:t>Serialization/Deserialization</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2033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Serialization/Deserialization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err="1">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arrays can be saved and loaded to disk. This allows to create checkpoints or to save models. A special extension (.</a:t>
            </a:r>
            <a:r>
              <a:rPr lang="en-US" dirty="0" err="1">
                <a:latin typeface="Arial" panose="020B0604020202020204" pitchFamily="34" charset="0"/>
                <a:cs typeface="Arial" panose="020B0604020202020204" pitchFamily="34" charset="0"/>
              </a:rPr>
              <a:t>npy</a:t>
            </a:r>
            <a:r>
              <a:rPr lang="en-US" dirty="0">
                <a:latin typeface="Arial" panose="020B0604020202020204" pitchFamily="34" charset="0"/>
                <a:cs typeface="Arial" panose="020B0604020202020204" pitchFamily="34" charset="0"/>
              </a:rPr>
              <a:t>) will be added when saving to a file.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79612" y="4038600"/>
            <a:ext cx="9144000" cy="1676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save</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my_array</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load</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my_array.npy</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456612" y="3830637"/>
          <a:ext cx="2310341" cy="74168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[1 3 5 7 9]</a:t>
                      </a:r>
                    </a:p>
                  </a:txBody>
                  <a:tcPr/>
                </a:tc>
                <a:extLst>
                  <a:ext uri="{0D108BD9-81ED-4DB2-BD59-A6C34878D82A}">
                    <a16:rowId xmlns:a16="http://schemas.microsoft.com/office/drawing/2014/main" val="4231599274"/>
                  </a:ext>
                </a:extLst>
              </a:tr>
            </a:tbl>
          </a:graphicData>
        </a:graphic>
      </p:graphicFrame>
      <p:pic>
        <p:nvPicPr>
          <p:cNvPr id="7" name="Picture 6">
            <a:extLst>
              <a:ext uri="{FF2B5EF4-FFF2-40B4-BE49-F238E27FC236}">
                <a16:creationId xmlns:a16="http://schemas.microsoft.com/office/drawing/2014/main" id="{C409B173-6DFF-6CE5-50A4-E31FBC0F9CE2}"/>
              </a:ext>
            </a:extLst>
          </p:cNvPr>
          <p:cNvPicPr>
            <a:picLocks noChangeAspect="1"/>
          </p:cNvPicPr>
          <p:nvPr/>
        </p:nvPicPr>
        <p:blipFill>
          <a:blip r:embed="rId2"/>
          <a:stretch>
            <a:fillRect/>
          </a:stretch>
        </p:blipFill>
        <p:spPr>
          <a:xfrm>
            <a:off x="6094412" y="4810760"/>
            <a:ext cx="5544030" cy="1969941"/>
          </a:xfrm>
          <a:prstGeom prst="rect">
            <a:avLst/>
          </a:prstGeom>
          <a:ln>
            <a:noFill/>
          </a:ln>
          <a:effectLst>
            <a:outerShdw blurRad="190500" algn="tl" rotWithShape="0">
              <a:srgbClr val="000000">
                <a:alpha val="70000"/>
              </a:srgbClr>
            </a:outerShdw>
          </a:effectLst>
        </p:spPr>
      </p:pic>
      <p:sp>
        <p:nvSpPr>
          <p:cNvPr id="8" name="Callout: Right Arrow 7">
            <a:extLst>
              <a:ext uri="{FF2B5EF4-FFF2-40B4-BE49-F238E27FC236}">
                <a16:creationId xmlns:a16="http://schemas.microsoft.com/office/drawing/2014/main" id="{BC7F0A93-F025-8376-5FBD-6CF7C0336F9E}"/>
              </a:ext>
            </a:extLst>
          </p:cNvPr>
          <p:cNvSpPr/>
          <p:nvPr/>
        </p:nvSpPr>
        <p:spPr>
          <a:xfrm>
            <a:off x="2093912" y="6164263"/>
            <a:ext cx="3886200" cy="431800"/>
          </a:xfrm>
          <a:prstGeom prst="rightArrowCallout">
            <a:avLst>
              <a:gd name="adj1" fmla="val 25000"/>
              <a:gd name="adj2" fmla="val 25000"/>
              <a:gd name="adj3" fmla="val 25000"/>
              <a:gd name="adj4" fmla="val 84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solidFill>
                  <a:schemeClr val="tx2"/>
                </a:solidFill>
              </a:rPr>
              <a:t>my_array.npy</a:t>
            </a:r>
            <a:r>
              <a:rPr lang="en-US" dirty="0">
                <a:solidFill>
                  <a:schemeClr val="tx2"/>
                </a:solidFill>
              </a:rPr>
              <a:t> file content</a:t>
            </a:r>
          </a:p>
        </p:txBody>
      </p:sp>
    </p:spTree>
    <p:extLst>
      <p:ext uri="{BB962C8B-B14F-4D97-AF65-F5344CB8AC3E}">
        <p14:creationId xmlns:p14="http://schemas.microsoft.com/office/powerpoint/2010/main" val="3479499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Serialization/Deserialization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While the .save() method saves a file in a binary format, there is another method ( </a:t>
            </a:r>
            <a:r>
              <a:rPr lang="en-US" dirty="0">
                <a:highlight>
                  <a:srgbClr val="C0C0C0"/>
                </a:highlight>
                <a:latin typeface="Arial" panose="020B0604020202020204" pitchFamily="34" charset="0"/>
                <a:cs typeface="Arial" panose="020B0604020202020204" pitchFamily="34" charset="0"/>
              </a:rPr>
              <a:t>.</a:t>
            </a:r>
            <a:r>
              <a:rPr lang="en-US" dirty="0" err="1">
                <a:highlight>
                  <a:srgbClr val="C0C0C0"/>
                </a:highlight>
                <a:latin typeface="Arial" panose="020B0604020202020204" pitchFamily="34" charset="0"/>
                <a:cs typeface="Arial" panose="020B0604020202020204" pitchFamily="34" charset="0"/>
              </a:rPr>
              <a:t>savetxt</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 that can be used to save a file as a text (more suitable for debug purposes).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79612" y="4038600"/>
            <a:ext cx="9144000" cy="1676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savetxt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my_array.txt</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loadtxt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my_array.txt</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3" name="Table 3">
            <a:extLst>
              <a:ext uri="{FF2B5EF4-FFF2-40B4-BE49-F238E27FC236}">
                <a16:creationId xmlns:a16="http://schemas.microsoft.com/office/drawing/2014/main" id="{9AC11B59-AD71-9A2A-8147-D213D4F90B9B}"/>
              </a:ext>
            </a:extLst>
          </p:cNvPr>
          <p:cNvGraphicFramePr>
            <a:graphicFrameLocks noGrp="1"/>
          </p:cNvGraphicFramePr>
          <p:nvPr/>
        </p:nvGraphicFramePr>
        <p:xfrm>
          <a:off x="8456612" y="3830637"/>
          <a:ext cx="2310341" cy="741680"/>
        </p:xfrm>
        <a:graphic>
          <a:graphicData uri="http://schemas.openxmlformats.org/drawingml/2006/table">
            <a:tbl>
              <a:tblPr firstRow="1" bandRow="1">
                <a:tableStyleId>{073A0DAA-6AF3-43AB-8588-CEC1D06C72B9}</a:tableStyleId>
              </a:tblPr>
              <a:tblGrid>
                <a:gridCol w="2310341">
                  <a:extLst>
                    <a:ext uri="{9D8B030D-6E8A-4147-A177-3AD203B41FA5}">
                      <a16:colId xmlns:a16="http://schemas.microsoft.com/office/drawing/2014/main" val="3899577134"/>
                    </a:ext>
                  </a:extLst>
                </a:gridCol>
              </a:tblGrid>
              <a:tr h="370840">
                <a:tc>
                  <a:txBody>
                    <a:bodyPr/>
                    <a:lstStyle/>
                    <a:p>
                      <a:r>
                        <a:rPr lang="en-US" dirty="0">
                          <a:solidFill>
                            <a:schemeClr val="tx2"/>
                          </a:solidFill>
                        </a:rPr>
                        <a:t>Output</a:t>
                      </a:r>
                    </a:p>
                  </a:txBody>
                  <a:tcPr/>
                </a:tc>
                <a:extLst>
                  <a:ext uri="{0D108BD9-81ED-4DB2-BD59-A6C34878D82A}">
                    <a16:rowId xmlns:a16="http://schemas.microsoft.com/office/drawing/2014/main" val="117988312"/>
                  </a:ext>
                </a:extLst>
              </a:tr>
              <a:tr h="370840">
                <a:tc>
                  <a:txBody>
                    <a:bodyPr/>
                    <a:lstStyle/>
                    <a:p>
                      <a:r>
                        <a:rPr lang="en-US" dirty="0">
                          <a:solidFill>
                            <a:schemeClr val="tx2"/>
                          </a:solidFill>
                          <a:latin typeface="Consolas" panose="020B0609020204030204" pitchFamily="49" charset="0"/>
                        </a:rPr>
                        <a:t>[1 3 5 7 9]</a:t>
                      </a:r>
                    </a:p>
                  </a:txBody>
                  <a:tcPr/>
                </a:tc>
                <a:extLst>
                  <a:ext uri="{0D108BD9-81ED-4DB2-BD59-A6C34878D82A}">
                    <a16:rowId xmlns:a16="http://schemas.microsoft.com/office/drawing/2014/main" val="4231599274"/>
                  </a:ext>
                </a:extLst>
              </a:tr>
            </a:tbl>
          </a:graphicData>
        </a:graphic>
      </p:graphicFrame>
      <p:sp>
        <p:nvSpPr>
          <p:cNvPr id="8" name="Callout: Right Arrow 7">
            <a:extLst>
              <a:ext uri="{FF2B5EF4-FFF2-40B4-BE49-F238E27FC236}">
                <a16:creationId xmlns:a16="http://schemas.microsoft.com/office/drawing/2014/main" id="{BC7F0A93-F025-8376-5FBD-6CF7C0336F9E}"/>
              </a:ext>
            </a:extLst>
          </p:cNvPr>
          <p:cNvSpPr/>
          <p:nvPr/>
        </p:nvSpPr>
        <p:spPr>
          <a:xfrm>
            <a:off x="4189412" y="6051820"/>
            <a:ext cx="3886200" cy="431800"/>
          </a:xfrm>
          <a:prstGeom prst="rightArrowCallout">
            <a:avLst>
              <a:gd name="adj1" fmla="val 25000"/>
              <a:gd name="adj2" fmla="val 25000"/>
              <a:gd name="adj3" fmla="val 25000"/>
              <a:gd name="adj4" fmla="val 844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my_array.txt file content</a:t>
            </a:r>
          </a:p>
        </p:txBody>
      </p:sp>
      <p:pic>
        <p:nvPicPr>
          <p:cNvPr id="9" name="Picture 8">
            <a:extLst>
              <a:ext uri="{FF2B5EF4-FFF2-40B4-BE49-F238E27FC236}">
                <a16:creationId xmlns:a16="http://schemas.microsoft.com/office/drawing/2014/main" id="{0ACA5237-B806-B4B4-998E-4B6B68BA6C11}"/>
              </a:ext>
            </a:extLst>
          </p:cNvPr>
          <p:cNvPicPr>
            <a:picLocks noChangeAspect="1"/>
          </p:cNvPicPr>
          <p:nvPr/>
        </p:nvPicPr>
        <p:blipFill>
          <a:blip r:embed="rId2"/>
          <a:stretch>
            <a:fillRect/>
          </a:stretch>
        </p:blipFill>
        <p:spPr>
          <a:xfrm>
            <a:off x="8151812" y="5502498"/>
            <a:ext cx="2770110" cy="10935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65167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Serialization/Deserialization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In practice, complex models are formed out of multiple arrays (and it is easier to save all of them into an archive than in individual files). For this purpose, there are two methods: </a:t>
            </a:r>
            <a:r>
              <a:rPr lang="en-US" dirty="0">
                <a:highlight>
                  <a:srgbClr val="C0C0C0"/>
                </a:highlight>
                <a:latin typeface="Arial" panose="020B0604020202020204" pitchFamily="34" charset="0"/>
                <a:cs typeface="Arial" panose="020B0604020202020204" pitchFamily="34" charset="0"/>
              </a:rPr>
              <a:t>.</a:t>
            </a:r>
            <a:r>
              <a:rPr lang="en-US" dirty="0" err="1">
                <a:highlight>
                  <a:srgbClr val="C0C0C0"/>
                </a:highlight>
                <a:latin typeface="Arial" panose="020B0604020202020204" pitchFamily="34" charset="0"/>
                <a:cs typeface="Arial" panose="020B0604020202020204" pitchFamily="34" charset="0"/>
              </a:rPr>
              <a:t>savez</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and </a:t>
            </a:r>
            <a:r>
              <a:rPr lang="en-US" dirty="0">
                <a:highlight>
                  <a:srgbClr val="C0C0C0"/>
                </a:highlight>
                <a:latin typeface="Arial" panose="020B0604020202020204" pitchFamily="34" charset="0"/>
                <a:cs typeface="Arial" panose="020B0604020202020204" pitchFamily="34" charset="0"/>
              </a:rPr>
              <a:t>.</a:t>
            </a:r>
            <a:r>
              <a:rPr lang="en-US" dirty="0" err="1">
                <a:highlight>
                  <a:srgbClr val="C0C0C0"/>
                </a:highlight>
                <a:latin typeface="Arial" panose="020B0604020202020204" pitchFamily="34" charset="0"/>
                <a:cs typeface="Arial" panose="020B0604020202020204" pitchFamily="34" charset="0"/>
              </a:rPr>
              <a:t>savez_compressed</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(“z” stands for zip). The default extension will be </a:t>
            </a:r>
            <a:r>
              <a:rPr lang="en-US" b="1" i="1" dirty="0" err="1">
                <a:latin typeface="Arial" panose="020B0604020202020204" pitchFamily="34" charset="0"/>
                <a:cs typeface="Arial" panose="020B0604020202020204" pitchFamily="34" charset="0"/>
              </a:rPr>
              <a:t>npz</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4229100"/>
            <a:ext cx="91440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v</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9</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u</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5</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7</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t</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array</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2</a:t>
            </a:r>
            <a:r>
              <a:rPr lang="en-US" b="0" dirty="0">
                <a:solidFill>
                  <a:srgbClr val="B4B4B4"/>
                </a:solidFill>
                <a:effectLst/>
                <a:latin typeface="Consolas" panose="020B0609020204030204" pitchFamily="49" charset="0"/>
              </a:rPr>
              <a:t>,</a:t>
            </a:r>
            <a:r>
              <a:rPr lang="en-US" b="0" dirty="0">
                <a:solidFill>
                  <a:srgbClr val="E0EBB2"/>
                </a:solidFill>
                <a:effectLst/>
                <a:latin typeface="Consolas" panose="020B0609020204030204" pitchFamily="49" charset="0"/>
              </a:rPr>
              <a:t>3</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savez</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my_arrays</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9A9A9A"/>
                </a:solidFill>
                <a:effectLst/>
                <a:latin typeface="Consolas" panose="020B0609020204030204" pitchFamily="49" charset="0"/>
              </a:rPr>
              <a:t>vector1</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v</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9A9A9A"/>
                </a:solidFill>
                <a:effectLst/>
                <a:latin typeface="Consolas" panose="020B0609020204030204" pitchFamily="49" charset="0"/>
              </a:rPr>
              <a:t>matrix1</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9A9A9A"/>
                </a:solidFill>
                <a:effectLst/>
                <a:latin typeface="Consolas" panose="020B0609020204030204" pitchFamily="49" charset="0"/>
              </a:rPr>
              <a:t>vector2</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4" name="Table 3">
            <a:extLst>
              <a:ext uri="{FF2B5EF4-FFF2-40B4-BE49-F238E27FC236}">
                <a16:creationId xmlns:a16="http://schemas.microsoft.com/office/drawing/2014/main" id="{15E79D28-C77A-C3F8-2E68-4990C0B962A6}"/>
              </a:ext>
            </a:extLst>
          </p:cNvPr>
          <p:cNvGraphicFramePr>
            <a:graphicFrameLocks noGrp="1"/>
          </p:cNvGraphicFramePr>
          <p:nvPr/>
        </p:nvGraphicFramePr>
        <p:xfrm>
          <a:off x="7542212" y="3810000"/>
          <a:ext cx="3300941" cy="1483360"/>
        </p:xfrm>
        <a:graphic>
          <a:graphicData uri="http://schemas.openxmlformats.org/drawingml/2006/table">
            <a:tbl>
              <a:tblPr firstRow="1" bandRow="1">
                <a:tableStyleId>{073A0DAA-6AF3-43AB-8588-CEC1D06C72B9}</a:tableStyleId>
              </a:tblPr>
              <a:tblGrid>
                <a:gridCol w="3300941">
                  <a:extLst>
                    <a:ext uri="{9D8B030D-6E8A-4147-A177-3AD203B41FA5}">
                      <a16:colId xmlns:a16="http://schemas.microsoft.com/office/drawing/2014/main" val="2594094045"/>
                    </a:ext>
                  </a:extLst>
                </a:gridCol>
              </a:tblGrid>
              <a:tr h="370840">
                <a:tc>
                  <a:txBody>
                    <a:bodyPr/>
                    <a:lstStyle/>
                    <a:p>
                      <a:r>
                        <a:rPr lang="en-US" dirty="0">
                          <a:solidFill>
                            <a:schemeClr val="tx2"/>
                          </a:solidFill>
                        </a:rPr>
                        <a:t>Content of </a:t>
                      </a:r>
                      <a:r>
                        <a:rPr lang="en-US" dirty="0" err="1">
                          <a:solidFill>
                            <a:schemeClr val="tx2"/>
                          </a:solidFill>
                        </a:rPr>
                        <a:t>my_arrays.npz</a:t>
                      </a:r>
                      <a:endParaRPr lang="en-US" dirty="0">
                        <a:solidFill>
                          <a:schemeClr val="tx2"/>
                        </a:solidFill>
                      </a:endParaRPr>
                    </a:p>
                  </a:txBody>
                  <a:tcPr/>
                </a:tc>
                <a:extLst>
                  <a:ext uri="{0D108BD9-81ED-4DB2-BD59-A6C34878D82A}">
                    <a16:rowId xmlns:a16="http://schemas.microsoft.com/office/drawing/2014/main" val="4118102976"/>
                  </a:ext>
                </a:extLst>
              </a:tr>
              <a:tr h="370840">
                <a:tc>
                  <a:txBody>
                    <a:bodyPr/>
                    <a:lstStyle/>
                    <a:p>
                      <a:r>
                        <a:rPr lang="en-US" dirty="0">
                          <a:solidFill>
                            <a:schemeClr val="tx2"/>
                          </a:solidFill>
                        </a:rPr>
                        <a:t>vector1.npy</a:t>
                      </a:r>
                    </a:p>
                  </a:txBody>
                  <a:tcPr/>
                </a:tc>
                <a:extLst>
                  <a:ext uri="{0D108BD9-81ED-4DB2-BD59-A6C34878D82A}">
                    <a16:rowId xmlns:a16="http://schemas.microsoft.com/office/drawing/2014/main" val="3355268671"/>
                  </a:ext>
                </a:extLst>
              </a:tr>
              <a:tr h="370840">
                <a:tc>
                  <a:txBody>
                    <a:bodyPr/>
                    <a:lstStyle/>
                    <a:p>
                      <a:r>
                        <a:rPr lang="en-US" dirty="0">
                          <a:solidFill>
                            <a:schemeClr val="tx2"/>
                          </a:solidFill>
                        </a:rPr>
                        <a:t>vector2.npy</a:t>
                      </a:r>
                    </a:p>
                  </a:txBody>
                  <a:tcPr/>
                </a:tc>
                <a:extLst>
                  <a:ext uri="{0D108BD9-81ED-4DB2-BD59-A6C34878D82A}">
                    <a16:rowId xmlns:a16="http://schemas.microsoft.com/office/drawing/2014/main" val="1892696311"/>
                  </a:ext>
                </a:extLst>
              </a:tr>
              <a:tr h="370840">
                <a:tc>
                  <a:txBody>
                    <a:bodyPr/>
                    <a:lstStyle/>
                    <a:p>
                      <a:r>
                        <a:rPr lang="en-US" dirty="0">
                          <a:solidFill>
                            <a:schemeClr val="tx2"/>
                          </a:solidFill>
                        </a:rPr>
                        <a:t>matrix1.npy</a:t>
                      </a:r>
                    </a:p>
                  </a:txBody>
                  <a:tcPr/>
                </a:tc>
                <a:extLst>
                  <a:ext uri="{0D108BD9-81ED-4DB2-BD59-A6C34878D82A}">
                    <a16:rowId xmlns:a16="http://schemas.microsoft.com/office/drawing/2014/main" val="1698282643"/>
                  </a:ext>
                </a:extLst>
              </a:tr>
            </a:tbl>
          </a:graphicData>
        </a:graphic>
      </p:graphicFrame>
    </p:spTree>
    <p:extLst>
      <p:ext uri="{BB962C8B-B14F-4D97-AF65-F5344CB8AC3E}">
        <p14:creationId xmlns:p14="http://schemas.microsoft.com/office/powerpoint/2010/main" val="212875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Serialization/Deserialization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In practice, complex models are form out of multiple arrays (and it is easier to save all of them into an archive than in individual files). For this purpose, there are two methods: </a:t>
            </a:r>
            <a:r>
              <a:rPr lang="en-US" dirty="0">
                <a:highlight>
                  <a:srgbClr val="C0C0C0"/>
                </a:highlight>
                <a:latin typeface="Arial" panose="020B0604020202020204" pitchFamily="34" charset="0"/>
                <a:cs typeface="Arial" panose="020B0604020202020204" pitchFamily="34" charset="0"/>
              </a:rPr>
              <a:t>.</a:t>
            </a:r>
            <a:r>
              <a:rPr lang="en-US" dirty="0" err="1">
                <a:highlight>
                  <a:srgbClr val="C0C0C0"/>
                </a:highlight>
                <a:latin typeface="Arial" panose="020B0604020202020204" pitchFamily="34" charset="0"/>
                <a:cs typeface="Arial" panose="020B0604020202020204" pitchFamily="34" charset="0"/>
              </a:rPr>
              <a:t>savez</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and </a:t>
            </a:r>
            <a:r>
              <a:rPr lang="en-US" dirty="0">
                <a:highlight>
                  <a:srgbClr val="C0C0C0"/>
                </a:highlight>
                <a:latin typeface="Arial" panose="020B0604020202020204" pitchFamily="34" charset="0"/>
                <a:cs typeface="Arial" panose="020B0604020202020204" pitchFamily="34" charset="0"/>
              </a:rPr>
              <a:t>.</a:t>
            </a:r>
            <a:r>
              <a:rPr lang="en-US" dirty="0" err="1">
                <a:highlight>
                  <a:srgbClr val="C0C0C0"/>
                </a:highlight>
                <a:latin typeface="Arial" panose="020B0604020202020204" pitchFamily="34" charset="0"/>
                <a:cs typeface="Arial" panose="020B0604020202020204" pitchFamily="34" charset="0"/>
              </a:rPr>
              <a:t>savez_compressed</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(“z” stands for zip). The default extension will be </a:t>
            </a:r>
            <a:r>
              <a:rPr lang="en-US" b="1" i="1" dirty="0" err="1">
                <a:latin typeface="Arial" panose="020B0604020202020204" pitchFamily="34" charset="0"/>
                <a:cs typeface="Arial" panose="020B0604020202020204" pitchFamily="34" charset="0"/>
              </a:rPr>
              <a:t>npz</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65011" y="4229100"/>
            <a:ext cx="91440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chemeClr val="tx2">
                    <a:lumMod val="65000"/>
                    <a:lumOff val="35000"/>
                  </a:schemeClr>
                </a:solidFill>
                <a:effectLst/>
                <a:latin typeface="Consolas" panose="020B0609020204030204" pitchFamily="49" charset="0"/>
              </a:rPr>
              <a:t>import </a:t>
            </a:r>
            <a:r>
              <a:rPr lang="en-US" b="0" dirty="0" err="1">
                <a:solidFill>
                  <a:schemeClr val="tx2">
                    <a:lumMod val="65000"/>
                    <a:lumOff val="35000"/>
                  </a:schemeClr>
                </a:solidFill>
                <a:effectLst/>
                <a:latin typeface="Consolas" panose="020B0609020204030204" pitchFamily="49" charset="0"/>
              </a:rPr>
              <a:t>numpy</a:t>
            </a:r>
            <a:r>
              <a:rPr lang="en-US" b="0" dirty="0">
                <a:solidFill>
                  <a:schemeClr val="tx2">
                    <a:lumMod val="65000"/>
                    <a:lumOff val="35000"/>
                  </a:schemeClr>
                </a:solidFill>
                <a:effectLst/>
                <a:latin typeface="Consolas" panose="020B0609020204030204" pitchFamily="49" charset="0"/>
              </a:rPr>
              <a:t> as np</a:t>
            </a:r>
          </a:p>
          <a:p>
            <a:br>
              <a:rPr lang="en-US" b="0" dirty="0">
                <a:solidFill>
                  <a:schemeClr val="tx2">
                    <a:lumMod val="65000"/>
                    <a:lumOff val="35000"/>
                  </a:schemeClr>
                </a:solidFill>
                <a:effectLst/>
                <a:latin typeface="Consolas" panose="020B0609020204030204" pitchFamily="49" charset="0"/>
              </a:rPr>
            </a:br>
            <a:r>
              <a:rPr lang="en-US" b="0" dirty="0">
                <a:solidFill>
                  <a:schemeClr val="tx2">
                    <a:lumMod val="65000"/>
                    <a:lumOff val="35000"/>
                  </a:schemeClr>
                </a:solidFill>
                <a:effectLst/>
                <a:latin typeface="Consolas" panose="020B0609020204030204" pitchFamily="49" charset="0"/>
              </a:rPr>
              <a:t>v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([1,3,5,7,9])</a:t>
            </a:r>
          </a:p>
          <a:p>
            <a:r>
              <a:rPr lang="en-US" b="0" dirty="0">
                <a:solidFill>
                  <a:schemeClr val="tx2">
                    <a:lumMod val="65000"/>
                    <a:lumOff val="35000"/>
                  </a:schemeClr>
                </a:solidFill>
                <a:effectLst/>
                <a:latin typeface="Consolas" panose="020B0609020204030204" pitchFamily="49" charset="0"/>
              </a:rPr>
              <a:t>u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([[1,3],[5,7]])</a:t>
            </a:r>
          </a:p>
          <a:p>
            <a:r>
              <a:rPr lang="en-US" b="0" dirty="0">
                <a:solidFill>
                  <a:schemeClr val="tx2">
                    <a:lumMod val="65000"/>
                    <a:lumOff val="35000"/>
                  </a:schemeClr>
                </a:solidFill>
                <a:effectLst/>
                <a:latin typeface="Consolas" panose="020B0609020204030204" pitchFamily="49" charset="0"/>
              </a:rPr>
              <a:t>t = </a:t>
            </a:r>
            <a:r>
              <a:rPr lang="en-US" b="0" dirty="0" err="1">
                <a:solidFill>
                  <a:schemeClr val="tx2">
                    <a:lumMod val="65000"/>
                    <a:lumOff val="35000"/>
                  </a:schemeClr>
                </a:solidFill>
                <a:effectLst/>
                <a:latin typeface="Consolas" panose="020B0609020204030204" pitchFamily="49" charset="0"/>
              </a:rPr>
              <a:t>np.array</a:t>
            </a:r>
            <a:r>
              <a:rPr lang="en-US" b="0" dirty="0">
                <a:solidFill>
                  <a:schemeClr val="tx2">
                    <a:lumMod val="65000"/>
                    <a:lumOff val="35000"/>
                  </a:schemeClr>
                </a:solidFill>
                <a:effectLst/>
                <a:latin typeface="Consolas" panose="020B0609020204030204" pitchFamily="49" charset="0"/>
              </a:rPr>
              <a:t>([1,2,3])</a:t>
            </a:r>
          </a:p>
          <a:p>
            <a:br>
              <a:rPr lang="en-US" b="0" dirty="0">
                <a:solidFill>
                  <a:schemeClr val="tx2">
                    <a:lumMod val="65000"/>
                    <a:lumOff val="35000"/>
                  </a:schemeClr>
                </a:solidFill>
                <a:effectLst/>
                <a:latin typeface="Consolas" panose="020B0609020204030204" pitchFamily="49" charset="0"/>
              </a:rPr>
            </a:br>
            <a:r>
              <a:rPr lang="en-US" b="0" dirty="0" err="1">
                <a:solidFill>
                  <a:schemeClr val="tx2">
                    <a:lumMod val="65000"/>
                    <a:lumOff val="35000"/>
                  </a:schemeClr>
                </a:solidFill>
                <a:effectLst/>
                <a:latin typeface="Consolas" panose="020B0609020204030204" pitchFamily="49" charset="0"/>
              </a:rPr>
              <a:t>np.savez</a:t>
            </a:r>
            <a:r>
              <a:rPr lang="en-US" b="0" dirty="0">
                <a:solidFill>
                  <a:schemeClr val="tx2">
                    <a:lumMod val="65000"/>
                    <a:lumOff val="35000"/>
                  </a:schemeClr>
                </a:solidFill>
                <a:effectLst/>
                <a:latin typeface="Consolas" panose="020B0609020204030204" pitchFamily="49" charset="0"/>
              </a:rPr>
              <a:t>("</a:t>
            </a:r>
            <a:r>
              <a:rPr lang="en-US" b="0" dirty="0" err="1">
                <a:solidFill>
                  <a:schemeClr val="tx2">
                    <a:lumMod val="65000"/>
                    <a:lumOff val="35000"/>
                  </a:schemeClr>
                </a:solidFill>
                <a:effectLst/>
                <a:latin typeface="Consolas" panose="020B0609020204030204" pitchFamily="49" charset="0"/>
              </a:rPr>
              <a:t>my_arrays</a:t>
            </a:r>
            <a:r>
              <a:rPr lang="en-US" b="0" dirty="0">
                <a:solidFill>
                  <a:schemeClr val="tx2">
                    <a:lumMod val="65000"/>
                    <a:lumOff val="35000"/>
                  </a:schemeClr>
                </a:solidFill>
                <a:effectLst/>
                <a:latin typeface="Consolas" panose="020B0609020204030204" pitchFamily="49" charset="0"/>
              </a:rPr>
              <a:t>", vector1=v, </a:t>
            </a:r>
            <a:r>
              <a:rPr lang="en-US" b="0" dirty="0">
                <a:solidFill>
                  <a:srgbClr val="9A9A9A"/>
                </a:solidFill>
                <a:effectLst/>
                <a:latin typeface="Consolas" panose="020B0609020204030204" pitchFamily="49" charset="0"/>
              </a:rPr>
              <a:t>matrix1</a:t>
            </a:r>
            <a:r>
              <a:rPr lang="en-US" b="0" dirty="0">
                <a:solidFill>
                  <a:srgbClr val="C0C0C0"/>
                </a:solidFill>
                <a:effectLst/>
                <a:latin typeface="Consolas" panose="020B0609020204030204" pitchFamily="49" charset="0"/>
              </a:rPr>
              <a:t>=</a:t>
            </a:r>
            <a:r>
              <a:rPr lang="en-US" b="0" dirty="0">
                <a:solidFill>
                  <a:srgbClr val="229977"/>
                </a:solidFill>
                <a:effectLst/>
                <a:latin typeface="Consolas" panose="020B0609020204030204" pitchFamily="49" charset="0"/>
              </a:rPr>
              <a:t>u</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chemeClr val="tx2">
                    <a:lumMod val="65000"/>
                    <a:lumOff val="35000"/>
                  </a:schemeClr>
                </a:solidFill>
                <a:effectLst/>
                <a:latin typeface="Consolas" panose="020B0609020204030204" pitchFamily="49" charset="0"/>
              </a:rPr>
              <a:t>vector2=t)</a:t>
            </a:r>
          </a:p>
        </p:txBody>
      </p:sp>
      <p:graphicFrame>
        <p:nvGraphicFramePr>
          <p:cNvPr id="4" name="Table 3">
            <a:extLst>
              <a:ext uri="{FF2B5EF4-FFF2-40B4-BE49-F238E27FC236}">
                <a16:creationId xmlns:a16="http://schemas.microsoft.com/office/drawing/2014/main" id="{15E79D28-C77A-C3F8-2E68-4990C0B962A6}"/>
              </a:ext>
            </a:extLst>
          </p:cNvPr>
          <p:cNvGraphicFramePr>
            <a:graphicFrameLocks noGrp="1"/>
          </p:cNvGraphicFramePr>
          <p:nvPr/>
        </p:nvGraphicFramePr>
        <p:xfrm>
          <a:off x="7542212" y="3810000"/>
          <a:ext cx="3300941" cy="1483360"/>
        </p:xfrm>
        <a:graphic>
          <a:graphicData uri="http://schemas.openxmlformats.org/drawingml/2006/table">
            <a:tbl>
              <a:tblPr firstRow="1" bandRow="1">
                <a:tableStyleId>{073A0DAA-6AF3-43AB-8588-CEC1D06C72B9}</a:tableStyleId>
              </a:tblPr>
              <a:tblGrid>
                <a:gridCol w="3300941">
                  <a:extLst>
                    <a:ext uri="{9D8B030D-6E8A-4147-A177-3AD203B41FA5}">
                      <a16:colId xmlns:a16="http://schemas.microsoft.com/office/drawing/2014/main" val="2594094045"/>
                    </a:ext>
                  </a:extLst>
                </a:gridCol>
              </a:tblGrid>
              <a:tr h="370840">
                <a:tc>
                  <a:txBody>
                    <a:bodyPr/>
                    <a:lstStyle/>
                    <a:p>
                      <a:r>
                        <a:rPr lang="en-US" dirty="0">
                          <a:solidFill>
                            <a:schemeClr val="tx2"/>
                          </a:solidFill>
                        </a:rPr>
                        <a:t>Content of </a:t>
                      </a:r>
                      <a:r>
                        <a:rPr lang="en-US" dirty="0" err="1">
                          <a:solidFill>
                            <a:schemeClr val="tx2"/>
                          </a:solidFill>
                        </a:rPr>
                        <a:t>my_arrays.npz</a:t>
                      </a:r>
                      <a:endParaRPr lang="en-US" dirty="0">
                        <a:solidFill>
                          <a:schemeClr val="tx2"/>
                        </a:solidFill>
                      </a:endParaRPr>
                    </a:p>
                  </a:txBody>
                  <a:tcPr/>
                </a:tc>
                <a:extLst>
                  <a:ext uri="{0D108BD9-81ED-4DB2-BD59-A6C34878D82A}">
                    <a16:rowId xmlns:a16="http://schemas.microsoft.com/office/drawing/2014/main" val="4118102976"/>
                  </a:ext>
                </a:extLst>
              </a:tr>
              <a:tr h="370840">
                <a:tc>
                  <a:txBody>
                    <a:bodyPr/>
                    <a:lstStyle/>
                    <a:p>
                      <a:r>
                        <a:rPr lang="en-US" dirty="0">
                          <a:solidFill>
                            <a:schemeClr val="tx2"/>
                          </a:solidFill>
                        </a:rPr>
                        <a:t>vector1.npy</a:t>
                      </a:r>
                    </a:p>
                  </a:txBody>
                  <a:tcPr/>
                </a:tc>
                <a:extLst>
                  <a:ext uri="{0D108BD9-81ED-4DB2-BD59-A6C34878D82A}">
                    <a16:rowId xmlns:a16="http://schemas.microsoft.com/office/drawing/2014/main" val="3355268671"/>
                  </a:ext>
                </a:extLst>
              </a:tr>
              <a:tr h="370840">
                <a:tc>
                  <a:txBody>
                    <a:bodyPr/>
                    <a:lstStyle/>
                    <a:p>
                      <a:r>
                        <a:rPr lang="en-US" dirty="0">
                          <a:solidFill>
                            <a:schemeClr val="tx2"/>
                          </a:solidFill>
                        </a:rPr>
                        <a:t>vector2.npy</a:t>
                      </a:r>
                    </a:p>
                  </a:txBody>
                  <a:tcPr/>
                </a:tc>
                <a:extLst>
                  <a:ext uri="{0D108BD9-81ED-4DB2-BD59-A6C34878D82A}">
                    <a16:rowId xmlns:a16="http://schemas.microsoft.com/office/drawing/2014/main" val="1892696311"/>
                  </a:ext>
                </a:extLst>
              </a:tr>
              <a:tr h="370840">
                <a:tc>
                  <a:txBody>
                    <a:bodyPr/>
                    <a:lstStyle/>
                    <a:p>
                      <a:r>
                        <a:rPr lang="en-US" dirty="0">
                          <a:solidFill>
                            <a:schemeClr val="tx2"/>
                          </a:solidFill>
                        </a:rPr>
                        <a:t>matrix1.npy</a:t>
                      </a:r>
                    </a:p>
                  </a:txBody>
                  <a:tcPr/>
                </a:tc>
                <a:extLst>
                  <a:ext uri="{0D108BD9-81ED-4DB2-BD59-A6C34878D82A}">
                    <a16:rowId xmlns:a16="http://schemas.microsoft.com/office/drawing/2014/main" val="1698282643"/>
                  </a:ext>
                </a:extLst>
              </a:tr>
            </a:tbl>
          </a:graphicData>
        </a:graphic>
      </p:graphicFrame>
      <p:sp>
        <p:nvSpPr>
          <p:cNvPr id="3" name="Rectangle 2">
            <a:extLst>
              <a:ext uri="{FF2B5EF4-FFF2-40B4-BE49-F238E27FC236}">
                <a16:creationId xmlns:a16="http://schemas.microsoft.com/office/drawing/2014/main" id="{D0A9E8DE-0F5A-D2AA-4255-DA84BAFD52DA}"/>
              </a:ext>
            </a:extLst>
          </p:cNvPr>
          <p:cNvSpPr/>
          <p:nvPr/>
        </p:nvSpPr>
        <p:spPr>
          <a:xfrm>
            <a:off x="5056416" y="5750560"/>
            <a:ext cx="1295400" cy="3429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0E8539D-DC4A-E36F-C4F9-AA8724496C10}"/>
              </a:ext>
            </a:extLst>
          </p:cNvPr>
          <p:cNvSpPr/>
          <p:nvPr/>
        </p:nvSpPr>
        <p:spPr>
          <a:xfrm>
            <a:off x="7542212" y="4957762"/>
            <a:ext cx="3300941" cy="335598"/>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Connector: Elbow 8">
            <a:extLst>
              <a:ext uri="{FF2B5EF4-FFF2-40B4-BE49-F238E27FC236}">
                <a16:creationId xmlns:a16="http://schemas.microsoft.com/office/drawing/2014/main" id="{D1DFEC72-5857-95F9-8CFC-5BF1573948DE}"/>
              </a:ext>
            </a:extLst>
          </p:cNvPr>
          <p:cNvCxnSpPr>
            <a:stCxn id="3" idx="0"/>
            <a:endCxn id="7" idx="1"/>
          </p:cNvCxnSpPr>
          <p:nvPr/>
        </p:nvCxnSpPr>
        <p:spPr>
          <a:xfrm rot="5400000" flipH="1" flipV="1">
            <a:off x="6310665" y="4519013"/>
            <a:ext cx="624999" cy="1838096"/>
          </a:xfrm>
          <a:prstGeom prst="bentConnector2">
            <a:avLst/>
          </a:prstGeom>
          <a:ln>
            <a:tailEnd type="triangle"/>
          </a:ln>
        </p:spPr>
        <p:style>
          <a:lnRef idx="3">
            <a:schemeClr val="accent5"/>
          </a:lnRef>
          <a:fillRef idx="0">
            <a:schemeClr val="accent5"/>
          </a:fillRef>
          <a:effectRef idx="2">
            <a:schemeClr val="accent5"/>
          </a:effectRef>
          <a:fontRef idx="minor">
            <a:schemeClr val="tx1"/>
          </a:fontRef>
        </p:style>
      </p:cxnSp>
      <p:sp>
        <p:nvSpPr>
          <p:cNvPr id="10" name="Callout: Right Arrow 9">
            <a:extLst>
              <a:ext uri="{FF2B5EF4-FFF2-40B4-BE49-F238E27FC236}">
                <a16:creationId xmlns:a16="http://schemas.microsoft.com/office/drawing/2014/main" id="{F73F66AB-1381-EDDD-60A5-570315725ADA}"/>
              </a:ext>
            </a:extLst>
          </p:cNvPr>
          <p:cNvSpPr/>
          <p:nvPr/>
        </p:nvSpPr>
        <p:spPr>
          <a:xfrm>
            <a:off x="2814004" y="5242560"/>
            <a:ext cx="3886200" cy="431800"/>
          </a:xfrm>
          <a:prstGeom prst="rightArrowCallout">
            <a:avLst>
              <a:gd name="adj1" fmla="val 25000"/>
              <a:gd name="adj2" fmla="val 25000"/>
              <a:gd name="adj3" fmla="val 25000"/>
              <a:gd name="adj4" fmla="val 9164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Array “u” will be stored in this file</a:t>
            </a:r>
          </a:p>
        </p:txBody>
      </p:sp>
    </p:spTree>
    <p:extLst>
      <p:ext uri="{BB962C8B-B14F-4D97-AF65-F5344CB8AC3E}">
        <p14:creationId xmlns:p14="http://schemas.microsoft.com/office/powerpoint/2010/main" val="3319251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Serialization/Deserialization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To load a zip archive, create by the previous code, we can use the </a:t>
            </a:r>
            <a:r>
              <a:rPr lang="en-US" dirty="0" err="1">
                <a:highlight>
                  <a:srgbClr val="C0C0C0"/>
                </a:highlight>
                <a:latin typeface="Arial" panose="020B0604020202020204" pitchFamily="34" charset="0"/>
                <a:cs typeface="Arial" panose="020B0604020202020204" pitchFamily="34" charset="0"/>
              </a:rPr>
              <a:t>np.load</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method and the property `</a:t>
            </a:r>
            <a:r>
              <a:rPr lang="en-US" dirty="0">
                <a:highlight>
                  <a:srgbClr val="C0C0C0"/>
                </a:highlight>
                <a:latin typeface="Arial" panose="020B0604020202020204" pitchFamily="34" charset="0"/>
                <a:cs typeface="Arial" panose="020B0604020202020204" pitchFamily="34" charset="0"/>
              </a:rPr>
              <a:t>files</a:t>
            </a:r>
            <a:r>
              <a:rPr lang="en-US" dirty="0">
                <a:latin typeface="Arial" panose="020B0604020202020204" pitchFamily="34" charset="0"/>
                <a:cs typeface="Arial" panose="020B0604020202020204" pitchFamily="34" charset="0"/>
              </a:rPr>
              <a:t>` (to access all arrays).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Example:</a:t>
            </a:r>
          </a:p>
        </p:txBody>
      </p:sp>
      <p:sp>
        <p:nvSpPr>
          <p:cNvPr id="2" name="Rectangle 1">
            <a:extLst>
              <a:ext uri="{FF2B5EF4-FFF2-40B4-BE49-F238E27FC236}">
                <a16:creationId xmlns:a16="http://schemas.microsoft.com/office/drawing/2014/main" id="{45FED430-06A4-77E2-798D-E562DBDED8D1}"/>
              </a:ext>
            </a:extLst>
          </p:cNvPr>
          <p:cNvSpPr/>
          <p:nvPr/>
        </p:nvSpPr>
        <p:spPr>
          <a:xfrm>
            <a:off x="1912836" y="3929062"/>
            <a:ext cx="91440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229977"/>
                </a:solidFill>
                <a:effectLst/>
                <a:latin typeface="Consolas" panose="020B0609020204030204" pitchFamily="49" charset="0"/>
              </a:rPr>
              <a:t>data</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load</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err="1">
                <a:solidFill>
                  <a:srgbClr val="E68A8A"/>
                </a:solidFill>
                <a:effectLst/>
                <a:latin typeface="Consolas" panose="020B0609020204030204" pitchFamily="49" charset="0"/>
              </a:rPr>
              <a:t>my_arrays.npz</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data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files</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B56AA6"/>
                </a:solidFill>
                <a:effectLst/>
                <a:latin typeface="Consolas" panose="020B0609020204030204" pitchFamily="49" charset="0"/>
              </a:rPr>
              <a:t>for</a:t>
            </a:r>
            <a:r>
              <a:rPr lang="en-US" b="0" dirty="0">
                <a:solidFill>
                  <a:srgbClr val="DADADA"/>
                </a:solidFill>
                <a:effectLst/>
                <a:latin typeface="Consolas" panose="020B0609020204030204" pitchFamily="49" charset="0"/>
              </a:rPr>
              <a:t> </a:t>
            </a:r>
            <a:r>
              <a:rPr lang="en-US" b="0" dirty="0" err="1">
                <a:solidFill>
                  <a:srgbClr val="229977"/>
                </a:solidFill>
                <a:effectLst/>
                <a:latin typeface="Consolas" panose="020B0609020204030204" pitchFamily="49" charset="0"/>
              </a:rPr>
              <a:t>fname</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in</a:t>
            </a:r>
            <a:r>
              <a:rPr lang="en-US" b="0" dirty="0">
                <a:solidFill>
                  <a:srgbClr val="DADADA"/>
                </a:solidFill>
                <a:effectLst/>
                <a:latin typeface="Consolas" panose="020B0609020204030204" pitchFamily="49" charset="0"/>
              </a:rPr>
              <a:t> </a:t>
            </a:r>
            <a:r>
              <a:rPr lang="en-US" b="0" dirty="0" err="1">
                <a:solidFill>
                  <a:srgbClr val="229977"/>
                </a:solidFill>
                <a:effectLst/>
                <a:latin typeface="Consolas" panose="020B0609020204030204" pitchFamily="49" charset="0"/>
              </a:rPr>
              <a:t>data</a:t>
            </a:r>
            <a:r>
              <a:rPr lang="en-US" b="0" dirty="0" err="1">
                <a:solidFill>
                  <a:srgbClr val="B4B4B4"/>
                </a:solidFill>
                <a:effectLst/>
                <a:latin typeface="Consolas" panose="020B0609020204030204" pitchFamily="49" charset="0"/>
              </a:rPr>
              <a:t>.</a:t>
            </a:r>
            <a:r>
              <a:rPr lang="en-US" b="0" dirty="0" err="1">
                <a:solidFill>
                  <a:srgbClr val="DADADA"/>
                </a:solidFill>
                <a:effectLst/>
                <a:latin typeface="Consolas" panose="020B0609020204030204" pitchFamily="49" charset="0"/>
              </a:rPr>
              <a:t>files</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r>
              <a:rPr lang="en-US" b="0" dirty="0">
                <a:solidFill>
                  <a:srgbClr val="DADADA"/>
                </a:solidFill>
                <a:effectLst/>
                <a:latin typeface="Consolas" panose="020B0609020204030204" pitchFamily="49" charset="0"/>
              </a:rPr>
              <a:t>    </a:t>
            </a:r>
            <a:r>
              <a:rPr lang="en-US" b="0" dirty="0">
                <a:solidFill>
                  <a:srgbClr val="A7A774"/>
                </a:solidFill>
                <a:effectLst/>
                <a:latin typeface="Consolas" panose="020B0609020204030204" pitchFamily="49" charset="0"/>
              </a:rPr>
              <a:t>print</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fname</a:t>
            </a:r>
            <a:r>
              <a:rPr lang="en-US" b="0" dirty="0">
                <a:solidFill>
                  <a:srgbClr val="C0C0C0"/>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 = </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229977"/>
                </a:solidFill>
                <a:effectLst/>
                <a:latin typeface="Consolas" panose="020B0609020204030204" pitchFamily="49" charset="0"/>
              </a:rPr>
              <a:t>data</a:t>
            </a:r>
            <a:r>
              <a:rPr lang="en-US" b="0" dirty="0">
                <a:solidFill>
                  <a:srgbClr val="B4B4B4"/>
                </a:solidFill>
                <a:effectLst/>
                <a:latin typeface="Consolas" panose="020B0609020204030204" pitchFamily="49" charset="0"/>
              </a:rPr>
              <a:t>[</a:t>
            </a:r>
            <a:r>
              <a:rPr lang="en-US" b="0" dirty="0" err="1">
                <a:solidFill>
                  <a:srgbClr val="229977"/>
                </a:solidFill>
                <a:effectLst/>
                <a:latin typeface="Consolas" panose="020B0609020204030204" pitchFamily="49" charset="0"/>
              </a:rPr>
              <a:t>fname</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graphicFrame>
        <p:nvGraphicFramePr>
          <p:cNvPr id="8" name="Table 3">
            <a:extLst>
              <a:ext uri="{FF2B5EF4-FFF2-40B4-BE49-F238E27FC236}">
                <a16:creationId xmlns:a16="http://schemas.microsoft.com/office/drawing/2014/main" id="{1C245329-BAF3-A812-78F0-BD20CC66F5EA}"/>
              </a:ext>
            </a:extLst>
          </p:cNvPr>
          <p:cNvGraphicFramePr>
            <a:graphicFrameLocks noGrp="1"/>
          </p:cNvGraphicFramePr>
          <p:nvPr/>
        </p:nvGraphicFramePr>
        <p:xfrm>
          <a:off x="6651624" y="3292951"/>
          <a:ext cx="4800600" cy="1529080"/>
        </p:xfrm>
        <a:graphic>
          <a:graphicData uri="http://schemas.openxmlformats.org/drawingml/2006/table">
            <a:tbl>
              <a:tblPr firstRow="1" bandRow="1">
                <a:tableStyleId>{073A0DAA-6AF3-43AB-8588-CEC1D06C72B9}</a:tableStyleId>
              </a:tblPr>
              <a:tblGrid>
                <a:gridCol w="4800600">
                  <a:extLst>
                    <a:ext uri="{9D8B030D-6E8A-4147-A177-3AD203B41FA5}">
                      <a16:colId xmlns:a16="http://schemas.microsoft.com/office/drawing/2014/main" val="3899577134"/>
                    </a:ext>
                  </a:extLst>
                </a:gridCol>
              </a:tblGrid>
              <a:tr h="370840">
                <a:tc>
                  <a:txBody>
                    <a:bodyPr/>
                    <a:lstStyle/>
                    <a:p>
                      <a:r>
                        <a:rPr lang="en-US" dirty="0">
                          <a:solidFill>
                            <a:schemeClr val="tx2"/>
                          </a:solidFill>
                        </a:rPr>
                        <a:t>Output</a:t>
                      </a:r>
                    </a:p>
                  </a:txBody>
                  <a:tcPr/>
                </a:tc>
                <a:extLst>
                  <a:ext uri="{0D108BD9-81ED-4DB2-BD59-A6C34878D82A}">
                    <a16:rowId xmlns:a16="http://schemas.microsoft.com/office/drawing/2014/main" val="117988312"/>
                  </a:ext>
                </a:extLst>
              </a:tr>
              <a:tr h="370840">
                <a:tc>
                  <a:txBody>
                    <a:bodyPr/>
                    <a:lstStyle/>
                    <a:p>
                      <a:r>
                        <a:rPr lang="es-ES" dirty="0">
                          <a:solidFill>
                            <a:schemeClr val="tx2"/>
                          </a:solidFill>
                          <a:latin typeface="Consolas" panose="020B0609020204030204" pitchFamily="49" charset="0"/>
                        </a:rPr>
                        <a:t>['vector1', 'matrix1', 'vector2']</a:t>
                      </a:r>
                    </a:p>
                    <a:p>
                      <a:r>
                        <a:rPr lang="es-ES" dirty="0">
                          <a:solidFill>
                            <a:schemeClr val="tx2"/>
                          </a:solidFill>
                          <a:latin typeface="Consolas" panose="020B0609020204030204" pitchFamily="49" charset="0"/>
                        </a:rPr>
                        <a:t>vector1 =  [1 3 5 7 9]</a:t>
                      </a:r>
                    </a:p>
                    <a:p>
                      <a:r>
                        <a:rPr lang="es-ES" dirty="0">
                          <a:solidFill>
                            <a:schemeClr val="tx2"/>
                          </a:solidFill>
                          <a:latin typeface="Consolas" panose="020B0609020204030204" pitchFamily="49" charset="0"/>
                        </a:rPr>
                        <a:t>matrix1 =  [[1 3]</a:t>
                      </a:r>
                    </a:p>
                    <a:p>
                      <a:r>
                        <a:rPr lang="es-ES" dirty="0">
                          <a:solidFill>
                            <a:schemeClr val="tx2"/>
                          </a:solidFill>
                          <a:latin typeface="Consolas" panose="020B0609020204030204" pitchFamily="49" charset="0"/>
                        </a:rPr>
                        <a:t>            [5 7]]</a:t>
                      </a:r>
                    </a:p>
                    <a:p>
                      <a:r>
                        <a:rPr lang="es-ES" dirty="0">
                          <a:solidFill>
                            <a:schemeClr val="tx2"/>
                          </a:solidFill>
                          <a:latin typeface="Consolas" panose="020B0609020204030204" pitchFamily="49" charset="0"/>
                        </a:rPr>
                        <a:t>vector2 =  [1 2 3]</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354447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Serialization/Deserialization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Another interesting method is </a:t>
            </a:r>
            <a:r>
              <a:rPr lang="en-US" dirty="0">
                <a:highlight>
                  <a:srgbClr val="C0C0C0"/>
                </a:highlight>
                <a:latin typeface="Arial" panose="020B0604020202020204" pitchFamily="34" charset="0"/>
                <a:cs typeface="Arial" panose="020B0604020202020204" pitchFamily="34" charset="0"/>
              </a:rPr>
              <a:t>.</a:t>
            </a:r>
            <a:r>
              <a:rPr lang="en-US" dirty="0" err="1">
                <a:highlight>
                  <a:srgbClr val="C0C0C0"/>
                </a:highlight>
                <a:latin typeface="Arial" panose="020B0604020202020204" pitchFamily="34" charset="0"/>
                <a:cs typeface="Arial" panose="020B0604020202020204" pitchFamily="34" charset="0"/>
              </a:rPr>
              <a:t>genfromtxt</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with the following definition:</a:t>
            </a:r>
          </a:p>
          <a:p>
            <a:r>
              <a:rPr lang="en-US" sz="1800" dirty="0" err="1">
                <a:latin typeface="Consolas" panose="020B0609020204030204" pitchFamily="49" charset="0"/>
                <a:cs typeface="Arial" panose="020B0604020202020204" pitchFamily="34" charset="0"/>
              </a:rPr>
              <a:t>numpy.genfromtxt</a:t>
            </a: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fname</a:t>
            </a:r>
            <a:r>
              <a:rPr lang="en-US" sz="1800" dirty="0">
                <a:latin typeface="Consolas" panose="020B0609020204030204" pitchFamily="49" charset="0"/>
                <a:cs typeface="Arial" panose="020B0604020202020204" pitchFamily="34" charset="0"/>
              </a:rPr>
              <a:t>,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dtype</a:t>
            </a:r>
            <a:r>
              <a:rPr lang="en-US" sz="1800" dirty="0">
                <a:latin typeface="Consolas" panose="020B0609020204030204" pitchFamily="49" charset="0"/>
                <a:cs typeface="Arial" panose="020B0604020202020204" pitchFamily="34" charset="0"/>
              </a:rPr>
              <a:t>=&lt;class 'float’&gt;,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comments='#’,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delimiter=None,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skip_header</a:t>
            </a:r>
            <a:r>
              <a:rPr lang="en-US" sz="1800" dirty="0">
                <a:latin typeface="Consolas" panose="020B0609020204030204" pitchFamily="49" charset="0"/>
                <a:cs typeface="Arial" panose="020B0604020202020204" pitchFamily="34" charset="0"/>
              </a:rPr>
              <a:t>=0,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skip_footer</a:t>
            </a:r>
            <a:r>
              <a:rPr lang="en-US" sz="1800" dirty="0">
                <a:latin typeface="Consolas" panose="020B0609020204030204" pitchFamily="49" charset="0"/>
                <a:cs typeface="Arial" panose="020B0604020202020204" pitchFamily="34" charset="0"/>
              </a:rPr>
              <a:t>=0,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missing_values</a:t>
            </a:r>
            <a:r>
              <a:rPr lang="en-US" sz="1800" dirty="0">
                <a:latin typeface="Consolas" panose="020B0609020204030204" pitchFamily="49" charset="0"/>
                <a:cs typeface="Arial" panose="020B0604020202020204" pitchFamily="34" charset="0"/>
              </a:rPr>
              <a:t>=None,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filling_values</a:t>
            </a:r>
            <a:r>
              <a:rPr lang="en-US" sz="1800" dirty="0">
                <a:latin typeface="Consolas" panose="020B0609020204030204" pitchFamily="49" charset="0"/>
                <a:cs typeface="Arial" panose="020B0604020202020204" pitchFamily="34" charset="0"/>
              </a:rPr>
              <a:t>=None,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usecols</a:t>
            </a:r>
            <a:r>
              <a:rPr lang="en-US" sz="1800" dirty="0">
                <a:latin typeface="Consolas" panose="020B0609020204030204" pitchFamily="49" charset="0"/>
                <a:cs typeface="Arial" panose="020B0604020202020204" pitchFamily="34" charset="0"/>
              </a:rPr>
              <a:t>=None,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replace_space</a:t>
            </a:r>
            <a:r>
              <a:rPr lang="en-US" sz="1800" dirty="0">
                <a:latin typeface="Consolas" panose="020B0609020204030204" pitchFamily="49" charset="0"/>
                <a:cs typeface="Arial" panose="020B0604020202020204" pitchFamily="34" charset="0"/>
              </a:rPr>
              <a:t>='_’,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r>
              <a:rPr lang="en-US" sz="1800" dirty="0" err="1">
                <a:latin typeface="Consolas" panose="020B0609020204030204" pitchFamily="49" charset="0"/>
                <a:cs typeface="Arial" panose="020B0604020202020204" pitchFamily="34" charset="0"/>
              </a:rPr>
              <a:t>case_sensitive</a:t>
            </a:r>
            <a:r>
              <a:rPr lang="en-US" sz="1800" dirty="0">
                <a:latin typeface="Consolas" panose="020B0609020204030204" pitchFamily="49" charset="0"/>
                <a:cs typeface="Arial" panose="020B0604020202020204" pitchFamily="34" charset="0"/>
              </a:rPr>
              <a:t>=True,</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                  …</a:t>
            </a:r>
            <a:br>
              <a:rPr lang="en-US" sz="1800" dirty="0">
                <a:latin typeface="Consolas" panose="020B0609020204030204" pitchFamily="49" charset="0"/>
                <a:cs typeface="Arial" panose="020B0604020202020204" pitchFamily="34" charset="0"/>
              </a:rPr>
            </a:br>
            <a:r>
              <a:rPr lang="en-US" sz="1800" dirty="0">
                <a:latin typeface="Consolas" panose="020B0609020204030204" pitchFamily="49" charset="0"/>
                <a:cs typeface="Arial" panose="020B0604020202020204" pitchFamily="34" charset="0"/>
              </a:rPr>
              <a:t>)</a:t>
            </a:r>
          </a:p>
        </p:txBody>
      </p:sp>
    </p:spTree>
    <p:extLst>
      <p:ext uri="{BB962C8B-B14F-4D97-AF65-F5344CB8AC3E}">
        <p14:creationId xmlns:p14="http://schemas.microsoft.com/office/powerpoint/2010/main" val="2672230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Serialization/Deserialization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5181600"/>
          </a:xfrm>
        </p:spPr>
        <p:txBody>
          <a:bodyPr>
            <a:normAutofit/>
          </a:bodyPr>
          <a:lstStyle/>
          <a:p>
            <a:r>
              <a:rPr lang="en-US" dirty="0">
                <a:latin typeface="Arial" panose="020B0604020202020204" pitchFamily="34" charset="0"/>
                <a:cs typeface="Arial" panose="020B0604020202020204" pitchFamily="34" charset="0"/>
              </a:rPr>
              <a:t>This method ( </a:t>
            </a:r>
            <a:r>
              <a:rPr lang="en-US" dirty="0">
                <a:highlight>
                  <a:srgbClr val="C0C0C0"/>
                </a:highlight>
                <a:latin typeface="Arial" panose="020B0604020202020204" pitchFamily="34" charset="0"/>
                <a:cs typeface="Arial" panose="020B0604020202020204" pitchFamily="34" charset="0"/>
              </a:rPr>
              <a:t>.</a:t>
            </a:r>
            <a:r>
              <a:rPr lang="en-US" dirty="0" err="1">
                <a:highlight>
                  <a:srgbClr val="C0C0C0"/>
                </a:highlight>
                <a:latin typeface="Arial" panose="020B0604020202020204" pitchFamily="34" charset="0"/>
                <a:cs typeface="Arial" panose="020B0604020202020204" pitchFamily="34" charset="0"/>
              </a:rPr>
              <a:t>genfromtxt</a:t>
            </a:r>
            <a:r>
              <a:rPr lang="en-US" dirty="0">
                <a:highlight>
                  <a:srgbClr val="C0C0C0"/>
                </a:highlight>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 can be used to load data in a list format files (such as a .csv or .</a:t>
            </a:r>
            <a:r>
              <a:rPr lang="en-US" dirty="0" err="1">
                <a:latin typeface="Arial" panose="020B0604020202020204" pitchFamily="34" charset="0"/>
                <a:cs typeface="Arial" panose="020B0604020202020204" pitchFamily="34" charset="0"/>
              </a:rPr>
              <a:t>tsv</a:t>
            </a:r>
            <a:r>
              <a:rPr lang="en-US" dirty="0">
                <a:latin typeface="Arial" panose="020B0604020202020204" pitchFamily="34" charset="0"/>
                <a:cs typeface="Arial" panose="020B0604020202020204" pitchFamily="34" charset="0"/>
              </a:rPr>
              <a:t> file) into an array or matrix.</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Some examples:</a:t>
            </a:r>
          </a:p>
        </p:txBody>
      </p:sp>
      <p:sp>
        <p:nvSpPr>
          <p:cNvPr id="2" name="Rectangle 1">
            <a:extLst>
              <a:ext uri="{FF2B5EF4-FFF2-40B4-BE49-F238E27FC236}">
                <a16:creationId xmlns:a16="http://schemas.microsoft.com/office/drawing/2014/main" id="{63B9FCF1-DCD1-35C4-6298-2BD5F87E723F}"/>
              </a:ext>
            </a:extLst>
          </p:cNvPr>
          <p:cNvSpPr/>
          <p:nvPr/>
        </p:nvSpPr>
        <p:spPr>
          <a:xfrm>
            <a:off x="1912836" y="3929062"/>
            <a:ext cx="9144000" cy="2057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dirty="0">
                <a:solidFill>
                  <a:srgbClr val="B56AA6"/>
                </a:solidFill>
                <a:effectLst/>
                <a:latin typeface="Consolas" panose="020B0609020204030204" pitchFamily="49" charset="0"/>
              </a:rPr>
              <a:t>import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numpy</a:t>
            </a:r>
            <a:r>
              <a:rPr lang="en-US" b="0" dirty="0">
                <a:solidFill>
                  <a:srgbClr val="DADADA"/>
                </a:solidFill>
                <a:effectLst/>
                <a:latin typeface="Consolas" panose="020B0609020204030204" pitchFamily="49" charset="0"/>
              </a:rPr>
              <a:t> </a:t>
            </a:r>
            <a:r>
              <a:rPr lang="en-US" b="0" dirty="0">
                <a:solidFill>
                  <a:srgbClr val="B56AA6"/>
                </a:solidFill>
                <a:effectLst/>
                <a:latin typeface="Consolas" panose="020B0609020204030204" pitchFamily="49" charset="0"/>
              </a:rPr>
              <a:t>as</a:t>
            </a:r>
            <a:r>
              <a:rPr lang="en-US" b="0" dirty="0">
                <a:solidFill>
                  <a:srgbClr val="DADADA"/>
                </a:solidFill>
                <a:effectLst/>
                <a:latin typeface="Consolas" panose="020B0609020204030204" pitchFamily="49" charset="0"/>
              </a:rPr>
              <a:t> </a:t>
            </a:r>
            <a:r>
              <a:rPr lang="en-US" b="0" dirty="0">
                <a:solidFill>
                  <a:srgbClr val="C8C8C8"/>
                </a:solidFill>
                <a:effectLst/>
                <a:latin typeface="Consolas" panose="020B0609020204030204" pitchFamily="49" charset="0"/>
              </a:rPr>
              <a:t>np</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606060"/>
                </a:solidFill>
                <a:effectLst/>
                <a:latin typeface="Consolas" panose="020B0609020204030204" pitchFamily="49" charset="0"/>
              </a:rPr>
              <a:t># Load data from a regular </a:t>
            </a:r>
            <a:r>
              <a:rPr lang="en-US" b="0" dirty="0" err="1">
                <a:solidFill>
                  <a:srgbClr val="606060"/>
                </a:solidFill>
                <a:effectLst/>
                <a:latin typeface="Consolas" panose="020B0609020204030204" pitchFamily="49" charset="0"/>
              </a:rPr>
              <a:t>cvs</a:t>
            </a:r>
            <a:r>
              <a:rPr lang="en-US" b="0" dirty="0">
                <a:solidFill>
                  <a:srgbClr val="606060"/>
                </a:solidFill>
                <a:effectLst/>
                <a:latin typeface="Consolas" panose="020B0609020204030204" pitchFamily="49" charset="0"/>
              </a:rPr>
              <a:t> file with no headers</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array</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genfromtxt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csv_file.csv</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9A9A9A"/>
                </a:solidFill>
                <a:effectLst/>
                <a:latin typeface="Consolas" panose="020B0609020204030204" pitchFamily="49" charset="0"/>
              </a:rPr>
              <a:t>delimiter</a:t>
            </a:r>
            <a:r>
              <a:rPr lang="en-US" b="0" dirty="0">
                <a:solidFill>
                  <a:srgbClr val="C0C0C0"/>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a:p>
            <a:br>
              <a:rPr lang="en-US" b="0" dirty="0">
                <a:solidFill>
                  <a:srgbClr val="DADADA"/>
                </a:solidFill>
                <a:effectLst/>
                <a:latin typeface="Consolas" panose="020B0609020204030204" pitchFamily="49" charset="0"/>
              </a:rPr>
            </a:br>
            <a:r>
              <a:rPr lang="en-US" b="0" dirty="0">
                <a:solidFill>
                  <a:srgbClr val="606060"/>
                </a:solidFill>
                <a:effectLst/>
                <a:latin typeface="Consolas" panose="020B0609020204030204" pitchFamily="49" charset="0"/>
              </a:rPr>
              <a:t># Load data from a </a:t>
            </a:r>
            <a:r>
              <a:rPr lang="en-US" b="0" dirty="0" err="1">
                <a:solidFill>
                  <a:srgbClr val="606060"/>
                </a:solidFill>
                <a:effectLst/>
                <a:latin typeface="Consolas" panose="020B0609020204030204" pitchFamily="49" charset="0"/>
              </a:rPr>
              <a:t>cvs</a:t>
            </a:r>
            <a:r>
              <a:rPr lang="en-US" b="0" dirty="0">
                <a:solidFill>
                  <a:srgbClr val="606060"/>
                </a:solidFill>
                <a:effectLst/>
                <a:latin typeface="Consolas" panose="020B0609020204030204" pitchFamily="49" charset="0"/>
              </a:rPr>
              <a:t> file with headers</a:t>
            </a:r>
            <a:endParaRPr lang="en-US" b="0" dirty="0">
              <a:solidFill>
                <a:srgbClr val="DADADA"/>
              </a:solidFill>
              <a:effectLst/>
              <a:latin typeface="Consolas" panose="020B0609020204030204" pitchFamily="49" charset="0"/>
            </a:endParaRPr>
          </a:p>
          <a:p>
            <a:r>
              <a:rPr lang="en-US" b="0" dirty="0">
                <a:solidFill>
                  <a:srgbClr val="229977"/>
                </a:solidFill>
                <a:effectLst/>
                <a:latin typeface="Consolas" panose="020B0609020204030204" pitchFamily="49" charset="0"/>
              </a:rPr>
              <a:t>array</a:t>
            </a:r>
            <a:r>
              <a:rPr lang="en-US" b="0" dirty="0">
                <a:solidFill>
                  <a:srgbClr val="DADADA"/>
                </a:solidFill>
                <a:effectLst/>
                <a:latin typeface="Consolas" panose="020B0609020204030204" pitchFamily="49" charset="0"/>
              </a:rPr>
              <a:t> </a:t>
            </a:r>
            <a:r>
              <a:rPr lang="en-US" b="0" dirty="0">
                <a:solidFill>
                  <a:srgbClr val="C0C0C0"/>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C8C8C8"/>
                </a:solidFill>
                <a:effectLst/>
                <a:latin typeface="Consolas" panose="020B0609020204030204" pitchFamily="49" charset="0"/>
              </a:rPr>
              <a:t>np</a:t>
            </a:r>
            <a:r>
              <a:rPr lang="en-US" b="0" dirty="0" err="1">
                <a:solidFill>
                  <a:srgbClr val="B4B4B4"/>
                </a:solidFill>
                <a:effectLst/>
                <a:latin typeface="Consolas" panose="020B0609020204030204" pitchFamily="49" charset="0"/>
              </a:rPr>
              <a:t>.</a:t>
            </a:r>
            <a:r>
              <a:rPr lang="en-US" b="0" dirty="0" err="1">
                <a:solidFill>
                  <a:srgbClr val="A7A774"/>
                </a:solidFill>
                <a:effectLst/>
                <a:latin typeface="Consolas" panose="020B0609020204030204" pitchFamily="49" charset="0"/>
              </a:rPr>
              <a:t>genfromtxt</a:t>
            </a:r>
            <a:r>
              <a:rPr lang="en-US" b="0" dirty="0">
                <a:solidFill>
                  <a:srgbClr val="B4B4B4"/>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csv_file.csv</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a:solidFill>
                  <a:srgbClr val="9A9A9A"/>
                </a:solidFill>
                <a:effectLst/>
                <a:latin typeface="Consolas" panose="020B0609020204030204" pitchFamily="49" charset="0"/>
              </a:rPr>
              <a:t>delimiter</a:t>
            </a:r>
            <a:r>
              <a:rPr lang="en-US" b="0" dirty="0">
                <a:solidFill>
                  <a:srgbClr val="C0C0C0"/>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E68A8A"/>
                </a:solidFill>
                <a:effectLst/>
                <a:latin typeface="Consolas" panose="020B0609020204030204" pitchFamily="49" charset="0"/>
              </a:rPr>
              <a:t>,</a:t>
            </a:r>
            <a:r>
              <a:rPr lang="en-US" b="0" dirty="0">
                <a:solidFill>
                  <a:srgbClr val="E8C9BB"/>
                </a:solidFill>
                <a:effectLst/>
                <a:latin typeface="Consolas" panose="020B0609020204030204" pitchFamily="49" charset="0"/>
              </a:rPr>
              <a:t>'</a:t>
            </a:r>
            <a:r>
              <a:rPr lang="en-US" b="0" dirty="0">
                <a:solidFill>
                  <a:srgbClr val="B4B4B4"/>
                </a:solidFill>
                <a:effectLst/>
                <a:latin typeface="Consolas" panose="020B0609020204030204" pitchFamily="49" charset="0"/>
              </a:rPr>
              <a:t>,</a:t>
            </a:r>
            <a:r>
              <a:rPr lang="en-US" b="0" dirty="0">
                <a:solidFill>
                  <a:srgbClr val="DADADA"/>
                </a:solidFill>
                <a:effectLst/>
                <a:latin typeface="Consolas" panose="020B0609020204030204" pitchFamily="49" charset="0"/>
              </a:rPr>
              <a:t> </a:t>
            </a:r>
            <a:r>
              <a:rPr lang="en-US" b="0" dirty="0" err="1">
                <a:solidFill>
                  <a:srgbClr val="9A9A9A"/>
                </a:solidFill>
                <a:effectLst/>
                <a:latin typeface="Consolas" panose="020B0609020204030204" pitchFamily="49" charset="0"/>
              </a:rPr>
              <a:t>skip_header</a:t>
            </a:r>
            <a:r>
              <a:rPr lang="en-US" b="0" dirty="0">
                <a:solidFill>
                  <a:srgbClr val="C0C0C0"/>
                </a:solidFill>
                <a:effectLst/>
                <a:latin typeface="Consolas" panose="020B0609020204030204" pitchFamily="49" charset="0"/>
              </a:rPr>
              <a:t>=</a:t>
            </a:r>
            <a:r>
              <a:rPr lang="en-US" b="0" dirty="0">
                <a:solidFill>
                  <a:srgbClr val="E0EBB2"/>
                </a:solidFill>
                <a:effectLst/>
                <a:latin typeface="Consolas" panose="020B0609020204030204" pitchFamily="49" charset="0"/>
              </a:rPr>
              <a:t>1</a:t>
            </a:r>
            <a:r>
              <a:rPr lang="en-US" b="0" dirty="0">
                <a:solidFill>
                  <a:srgbClr val="B4B4B4"/>
                </a:solidFill>
                <a:effectLst/>
                <a:latin typeface="Consolas" panose="020B0609020204030204" pitchFamily="49" charset="0"/>
              </a:rPr>
              <a:t>)</a:t>
            </a:r>
            <a:endParaRPr lang="en-US" b="0" dirty="0">
              <a:solidFill>
                <a:srgbClr val="DADADA"/>
              </a:solidFill>
              <a:effectLst/>
              <a:latin typeface="Consolas" panose="020B0609020204030204" pitchFamily="49" charset="0"/>
            </a:endParaRPr>
          </a:p>
        </p:txBody>
      </p:sp>
    </p:spTree>
    <p:extLst>
      <p:ext uri="{BB962C8B-B14F-4D97-AF65-F5344CB8AC3E}">
        <p14:creationId xmlns:p14="http://schemas.microsoft.com/office/powerpoint/2010/main" val="3427707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2157"/>
        <p:cNvGrpSpPr/>
        <p:nvPr/>
      </p:nvGrpSpPr>
      <p:grpSpPr>
        <a:xfrm>
          <a:off x="0" y="0"/>
          <a:ext cx="0" cy="0"/>
          <a:chOff x="0" y="0"/>
          <a:chExt cx="0" cy="0"/>
        </a:xfrm>
      </p:grpSpPr>
      <p:sp>
        <p:nvSpPr>
          <p:cNvPr id="2158" name="Google Shape;2158;p74"/>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400"/>
              <a:buFont typeface="Century Gothic"/>
              <a:buNone/>
            </a:pPr>
            <a:r>
              <a:rPr lang="en-US"/>
              <a:t>Questions?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Student presentation">
  <a:themeElements>
    <a:clrScheme name="Custom 3">
      <a:dk1>
        <a:srgbClr val="919191"/>
      </a:dk1>
      <a:lt1>
        <a:srgbClr val="FFFFFF"/>
      </a:lt1>
      <a:dk2>
        <a:srgbClr val="212745"/>
      </a:dk2>
      <a:lt2>
        <a:srgbClr val="000000"/>
      </a:lt2>
      <a:accent1>
        <a:srgbClr val="FEFFFF"/>
      </a:accent1>
      <a:accent2>
        <a:srgbClr val="DCDCDC"/>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20512</TotalTime>
  <Words>15634</Words>
  <Application>Microsoft Macintosh PowerPoint</Application>
  <PresentationFormat>Custom</PresentationFormat>
  <Paragraphs>2402</Paragraphs>
  <Slides>147</Slides>
  <Notes>32</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147</vt:i4>
      </vt:variant>
    </vt:vector>
  </HeadingPairs>
  <TitlesOfParts>
    <vt:vector size="155" baseType="lpstr">
      <vt:lpstr>Century Gothic</vt:lpstr>
      <vt:lpstr>Cambria Math</vt:lpstr>
      <vt:lpstr>Calibri</vt:lpstr>
      <vt:lpstr>Noto Sans Symbols</vt:lpstr>
      <vt:lpstr>Menlo</vt:lpstr>
      <vt:lpstr>Consolas</vt:lpstr>
      <vt:lpstr>Arial</vt:lpstr>
      <vt:lpstr>Student presentation</vt:lpstr>
      <vt:lpstr>Neural Networks</vt:lpstr>
      <vt:lpstr>Overview</vt:lpstr>
      <vt:lpstr>Course Evaluation</vt:lpstr>
      <vt:lpstr>Evaluation</vt:lpstr>
      <vt:lpstr>Evaluation</vt:lpstr>
      <vt:lpstr>Evaluation</vt:lpstr>
      <vt:lpstr>Basic Neural Network Elements</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What is AI ?</vt:lpstr>
      <vt:lpstr>Basic linear algebra notions</vt:lpstr>
      <vt:lpstr>Basic notions</vt:lpstr>
      <vt:lpstr>Basic notions</vt:lpstr>
      <vt:lpstr>Basic notions</vt:lpstr>
      <vt:lpstr>Basic notions</vt:lpstr>
      <vt:lpstr>Basic operations (vectors)</vt:lpstr>
      <vt:lpstr>Basic operations (vectors)</vt:lpstr>
      <vt:lpstr>Basic operations (vectors)</vt:lpstr>
      <vt:lpstr>Basic operations (vectors)</vt:lpstr>
      <vt:lpstr>Basic operations (vectors)</vt:lpstr>
      <vt:lpstr>Basic operations (vectors)</vt:lpstr>
      <vt:lpstr>Basic operations (vectors)</vt:lpstr>
      <vt:lpstr>Basic operations (matrices)</vt:lpstr>
      <vt:lpstr>Basic operations (matrices)</vt:lpstr>
      <vt:lpstr>Basic operations (matrices)</vt:lpstr>
      <vt:lpstr>Basic operations (matrices)</vt:lpstr>
      <vt:lpstr>Basic operations (matrices)</vt:lpstr>
      <vt:lpstr>What is numpy</vt:lpstr>
      <vt:lpstr>What is numpy</vt:lpstr>
      <vt:lpstr>What is numpy</vt:lpstr>
      <vt:lpstr>What is numpy</vt:lpstr>
      <vt:lpstr>Data Types</vt:lpstr>
      <vt:lpstr>Data types</vt:lpstr>
      <vt:lpstr>Data types</vt:lpstr>
      <vt:lpstr>Data types</vt:lpstr>
      <vt:lpstr>Data types</vt:lpstr>
      <vt:lpstr>Data types</vt:lpstr>
      <vt:lpstr>Arrays (constructors)</vt:lpstr>
      <vt:lpstr>Arrays</vt:lpstr>
      <vt:lpstr>Arrays</vt:lpstr>
      <vt:lpstr>Arrays</vt:lpstr>
      <vt:lpstr>Arrays</vt:lpstr>
      <vt:lpstr>Arrays</vt:lpstr>
      <vt:lpstr>Arrays</vt:lpstr>
      <vt:lpstr>Arrays</vt:lpstr>
      <vt:lpstr>Arrays</vt:lpstr>
      <vt:lpstr>Arrays</vt:lpstr>
      <vt:lpstr>Arrays</vt:lpstr>
      <vt:lpstr>Arrays</vt:lpstr>
      <vt:lpstr>Arrays</vt:lpstr>
      <vt:lpstr>Arrays</vt:lpstr>
      <vt:lpstr>Arrays</vt:lpstr>
      <vt:lpstr>Arrays</vt:lpstr>
      <vt:lpstr>Arrays</vt:lpstr>
      <vt:lpstr>Arrays</vt:lpstr>
      <vt:lpstr>Shapes</vt:lpstr>
      <vt:lpstr>Shapes</vt:lpstr>
      <vt:lpstr>Shapes</vt:lpstr>
      <vt:lpstr>Shapes</vt:lpstr>
      <vt:lpstr>Shapes</vt:lpstr>
      <vt:lpstr>Indexes &amp; Slicing</vt:lpstr>
      <vt:lpstr>Indexes &amp; Slicing</vt:lpstr>
      <vt:lpstr>Indexes &amp; Slicing</vt:lpstr>
      <vt:lpstr>Indexes &amp; Slicing</vt:lpstr>
      <vt:lpstr>Indexes &amp; Slicing</vt:lpstr>
      <vt:lpstr>Indexes &amp; Slicing</vt:lpstr>
      <vt:lpstr>Indexes &amp; Slicing</vt:lpstr>
      <vt:lpstr>Indexes &amp; Slicing</vt:lpstr>
      <vt:lpstr>Indexes &amp; Slicing</vt:lpstr>
      <vt:lpstr>Indexes &amp; Slicing</vt:lpstr>
      <vt:lpstr>Indexes &amp; Slicing</vt:lpstr>
      <vt:lpstr>Indexes &amp; Slicing</vt:lpstr>
      <vt:lpstr>Indexes &amp; Slicing</vt:lpstr>
      <vt:lpstr>Indexes &amp; Slicing</vt:lpstr>
      <vt:lpstr>Operations</vt:lpstr>
      <vt:lpstr>Indexes &amp; Slicing</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Array operations</vt:lpstr>
      <vt:lpstr>Serialization/Deserialization</vt:lpstr>
      <vt:lpstr>Serialization/Deserialization</vt:lpstr>
      <vt:lpstr>Serialization/Deserialization</vt:lpstr>
      <vt:lpstr>Serialization/Deserialization</vt:lpstr>
      <vt:lpstr>Serialization/Deserialization</vt:lpstr>
      <vt:lpstr>Serialization/Deserialization</vt:lpstr>
      <vt:lpstr>Serialization/Deserialization</vt:lpstr>
      <vt:lpstr>Serialization/Deserialization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Mihai Razvan BENCHEA</cp:lastModifiedBy>
  <cp:revision>23</cp:revision>
  <dcterms:modified xsi:type="dcterms:W3CDTF">2025-09-28T10:24:54Z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d9c527f-5235-45cb-bea5-98c00c666442_Enabled">
    <vt:lpwstr>true</vt:lpwstr>
  </property>
  <property fmtid="{D5CDD505-2E9C-101B-9397-08002B2CF9AE}" pid="3" name="MSIP_Label_9d9c527f-5235-45cb-bea5-98c00c666442_SetDate">
    <vt:lpwstr>2024-08-28T04:14:10Z</vt:lpwstr>
  </property>
  <property fmtid="{D5CDD505-2E9C-101B-9397-08002B2CF9AE}" pid="4" name="MSIP_Label_9d9c527f-5235-45cb-bea5-98c00c666442_Method">
    <vt:lpwstr>Standard</vt:lpwstr>
  </property>
  <property fmtid="{D5CDD505-2E9C-101B-9397-08002B2CF9AE}" pid="5" name="MSIP_Label_9d9c527f-5235-45cb-bea5-98c00c666442_Name">
    <vt:lpwstr>INTERNAL</vt:lpwstr>
  </property>
  <property fmtid="{D5CDD505-2E9C-101B-9397-08002B2CF9AE}" pid="6" name="MSIP_Label_9d9c527f-5235-45cb-bea5-98c00c666442_SiteId">
    <vt:lpwstr>487baf29-f1da-469a-9221-243f830c36f3</vt:lpwstr>
  </property>
  <property fmtid="{D5CDD505-2E9C-101B-9397-08002B2CF9AE}" pid="7" name="MSIP_Label_9d9c527f-5235-45cb-bea5-98c00c666442_ActionId">
    <vt:lpwstr>244d04bf-414c-4df8-a276-5aec1aba3a45</vt:lpwstr>
  </property>
  <property fmtid="{D5CDD505-2E9C-101B-9397-08002B2CF9AE}" pid="8" name="MSIP_Label_9d9c527f-5235-45cb-bea5-98c00c666442_ContentBits">
    <vt:lpwstr>1</vt:lpwstr>
  </property>
  <property fmtid="{D5CDD505-2E9C-101B-9397-08002B2CF9AE}" pid="9" name="ClassificationContentMarkingHeaderLocations">
    <vt:lpwstr>Student presentation:3</vt:lpwstr>
  </property>
  <property fmtid="{D5CDD505-2E9C-101B-9397-08002B2CF9AE}" pid="10" name="ClassificationContentMarkingHeaderText">
    <vt:lpwstr>Internal Use Only</vt:lpwstr>
  </property>
</Properties>
</file>