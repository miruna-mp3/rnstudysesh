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8" r:id="rId52"/>
    <p:sldId id="676" r:id="rId53"/>
    <p:sldId id="677" r:id="rId54"/>
    <p:sldId id="675" r:id="rId55"/>
    <p:sldId id="678" r:id="rId56"/>
    <p:sldId id="679" r:id="rId57"/>
    <p:sldId id="680" r:id="rId58"/>
    <p:sldId id="681" r:id="rId59"/>
    <p:sldId id="682" r:id="rId60"/>
    <p:sldId id="683" r:id="rId61"/>
    <p:sldId id="684" r:id="rId62"/>
    <p:sldId id="685" r:id="rId63"/>
    <p:sldId id="689" r:id="rId64"/>
    <p:sldId id="686" r:id="rId65"/>
    <p:sldId id="687" r:id="rId66"/>
    <p:sldId id="688" r:id="rId67"/>
    <p:sldId id="306" r:id="rId68"/>
    <p:sldId id="307" r:id="rId69"/>
  </p:sldIdLst>
  <p:sldSz cx="12188825" cy="6858000"/>
  <p:notesSz cx="6858000" cy="9144000"/>
  <p:embeddedFontLst>
    <p:embeddedFont>
      <p:font typeface="Cambria" panose="02040503050406030204" pitchFamily="18" charset="0"/>
      <p:regular r:id="rId71"/>
      <p:bold r:id="rId72"/>
      <p:italic r:id="rId73"/>
      <p:boldItalic r:id="rId74"/>
    </p:embeddedFont>
    <p:embeddedFont>
      <p:font typeface="Cambria Math" panose="02040503050406030204" pitchFamily="18" charset="0"/>
      <p:regular r:id="rId75"/>
    </p:embeddedFont>
    <p:embeddedFont>
      <p:font typeface="Century Gothic" panose="020B0502020202020204" pitchFamily="34" charset="0"/>
      <p:regular r:id="rId76"/>
      <p:bold r:id="rId77"/>
      <p:italic r:id="rId78"/>
      <p:boldItalic r:id="rId79"/>
    </p:embeddedFont>
    <p:embeddedFont>
      <p:font typeface="Consolas" panose="020B0609020204030204" pitchFamily="49"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orient="horz" pos="1200">
          <p15:clr>
            <a:srgbClr val="A4A3A4"/>
          </p15:clr>
        </p15:guide>
        <p15:guide id="3" orient="horz" pos="3888">
          <p15:clr>
            <a:srgbClr val="A4A3A4"/>
          </p15:clr>
        </p15:guide>
        <p15:guide id="4" orient="horz" pos="2880">
          <p15:clr>
            <a:srgbClr val="A4A3A4"/>
          </p15:clr>
        </p15:guide>
        <p15:guide id="5" orient="horz" pos="3216">
          <p15:clr>
            <a:srgbClr val="A4A3A4"/>
          </p15:clr>
        </p15:guide>
        <p15:guide id="6" orient="horz" pos="816">
          <p15:clr>
            <a:srgbClr val="A4A3A4"/>
          </p15:clr>
        </p15:guide>
        <p15:guide id="7" orient="horz" pos="175">
          <p15:clr>
            <a:srgbClr val="A4A3A4"/>
          </p15:clr>
        </p15:guide>
        <p15:guide id="8" pos="3839">
          <p15:clr>
            <a:srgbClr val="A4A3A4"/>
          </p15:clr>
        </p15:guide>
        <p15:guide id="9" pos="959">
          <p15:clr>
            <a:srgbClr val="A4A3A4"/>
          </p15:clr>
        </p15:guide>
        <p15:guide id="10" pos="6719">
          <p15:clr>
            <a:srgbClr val="A4A3A4"/>
          </p15:clr>
        </p15:guide>
        <p15:guide id="11" pos="6143">
          <p15:clr>
            <a:srgbClr val="A4A3A4"/>
          </p15:clr>
        </p15:guide>
        <p15:guide id="12" pos="283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00"/>
    <p:restoredTop sz="78994"/>
  </p:normalViewPr>
  <p:slideViewPr>
    <p:cSldViewPr snapToGrid="0">
      <p:cViewPr>
        <p:scale>
          <a:sx n="102" d="100"/>
          <a:sy n="102" d="100"/>
        </p:scale>
        <p:origin x="-288" y="56"/>
      </p:cViewPr>
      <p:guideLst>
        <p:guide orient="horz" pos="2160"/>
        <p:guide orient="horz" pos="1200"/>
        <p:guide orient="horz" pos="3888"/>
        <p:guide orient="horz" pos="2880"/>
        <p:guide orient="horz" pos="3216"/>
        <p:guide orient="horz" pos="816"/>
        <p:guide orient="horz" pos="175"/>
        <p:guide pos="3839"/>
        <p:guide pos="959"/>
        <p:guide pos="6719"/>
        <p:guide pos="6143"/>
        <p:guide pos="2831"/>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5pPr>
            <a:lvl6pPr marL="2743200" marR="0" lvl="5"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6pPr>
            <a:lvl7pPr marL="3200400" marR="0" lvl="6"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7pPr>
            <a:lvl8pPr marL="3657600" marR="0" lvl="7"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8pPr>
            <a:lvl9pPr marL="4114800" marR="0" lvl="8"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entury Gothic"/>
                <a:ea typeface="Century Gothic"/>
                <a:cs typeface="Century Gothic"/>
                <a:sym typeface="Century Gothic"/>
              </a:rPr>
              <a:t>‹#›</a:t>
            </a:fld>
            <a:endParaRPr sz="1200" b="0" i="0" u="none" strike="noStrike" cap="none">
              <a:solidFill>
                <a:schemeClr val="dk1"/>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7" name="Google Shape;1387;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3" name="Google Shape;1393;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9" name="Google Shape;1399;p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3"/>
        <p:cNvGrpSpPr/>
        <p:nvPr/>
      </p:nvGrpSpPr>
      <p:grpSpPr>
        <a:xfrm>
          <a:off x="0" y="0"/>
          <a:ext cx="0" cy="0"/>
          <a:chOff x="0" y="0"/>
          <a:chExt cx="0" cy="0"/>
        </a:xfrm>
      </p:grpSpPr>
      <p:sp>
        <p:nvSpPr>
          <p:cNvPr id="1404" name="Google Shape;140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5" name="Google Shape;1405;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1" name="Google Shape;1411;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7" name="Google Shape;1417;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3" name="Google Shape;1423;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9" name="Google Shape;1429;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3"/>
        <p:cNvGrpSpPr/>
        <p:nvPr/>
      </p:nvGrpSpPr>
      <p:grpSpPr>
        <a:xfrm>
          <a:off x="0" y="0"/>
          <a:ext cx="0" cy="0"/>
          <a:chOff x="0" y="0"/>
          <a:chExt cx="0" cy="0"/>
        </a:xfrm>
      </p:grpSpPr>
      <p:sp>
        <p:nvSpPr>
          <p:cNvPr id="1434" name="Google Shape;143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5" name="Google Shape;1435;p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p1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1" name="Google Shape;1441;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Un exemplu bun ar fi cand invat sa folosesc un gps. Sa zicem ca nu am directia, dar pot observa ca daca fac 4 pasi in stanga e posibil sa ma deplasez spre vest, 4 pasi spre dreapta ma deplasez spre est si tot asa. Dupa ce am suficiente informatii pot sa-mi dau seama cum sa ajung intr-un punct, chiar daca nu asta a fost scopul initial</a:t>
            </a:r>
            <a:endParaRPr/>
          </a:p>
          <a:p>
            <a:pPr marL="0" lvl="0" indent="0" algn="l" rtl="0">
              <a:spcBef>
                <a:spcPts val="0"/>
              </a:spcBef>
              <a:spcAft>
                <a:spcPts val="0"/>
              </a:spcAft>
              <a:buNone/>
            </a:pPr>
            <a:endParaRPr/>
          </a:p>
          <a:p>
            <a:pPr marL="0" lvl="0" indent="0" algn="l" rtl="0">
              <a:spcBef>
                <a:spcPts val="0"/>
              </a:spcBef>
              <a:spcAft>
                <a:spcPts val="0"/>
              </a:spcAft>
              <a:buNone/>
            </a:pPr>
            <a:r>
              <a:rPr lang="en-US"/>
              <a:t>La online, exemplu ar fi asa. Vreau sa ajung in punctul a si fac niste pasi intr-o directive. Vad daca ma departez sau nu. Ajustez directia de deplasare si iar fac un pas, mai ajustez si iar fac un pas, scopul ramanand acelasi</a:t>
            </a:r>
            <a:endParaRPr/>
          </a:p>
        </p:txBody>
      </p:sp>
      <p:sp>
        <p:nvSpPr>
          <p:cNvPr id="1442" name="Google Shape;1442;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6"/>
        <p:cNvGrpSpPr/>
        <p:nvPr/>
      </p:nvGrpSpPr>
      <p:grpSpPr>
        <a:xfrm>
          <a:off x="0" y="0"/>
          <a:ext cx="0" cy="0"/>
          <a:chOff x="0" y="0"/>
          <a:chExt cx="0" cy="0"/>
        </a:xfrm>
      </p:grpSpPr>
      <p:sp>
        <p:nvSpPr>
          <p:cNvPr id="1447" name="Google Shape;1447;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8" name="Google Shape;1448;p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
        <p:cNvGrpSpPr/>
        <p:nvPr/>
      </p:nvGrpSpPr>
      <p:grpSpPr>
        <a:xfrm>
          <a:off x="0" y="0"/>
          <a:ext cx="0" cy="0"/>
          <a:chOff x="0" y="0"/>
          <a:chExt cx="0" cy="0"/>
        </a:xfrm>
      </p:grpSpPr>
      <p:sp>
        <p:nvSpPr>
          <p:cNvPr id="1453" name="Google Shape;145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4" name="Google Shape;1454;p1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9"/>
        <p:cNvGrpSpPr/>
        <p:nvPr/>
      </p:nvGrpSpPr>
      <p:grpSpPr>
        <a:xfrm>
          <a:off x="0" y="0"/>
          <a:ext cx="0" cy="0"/>
          <a:chOff x="0" y="0"/>
          <a:chExt cx="0" cy="0"/>
        </a:xfrm>
      </p:grpSpPr>
      <p:sp>
        <p:nvSpPr>
          <p:cNvPr id="1460" name="Google Shape;146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1" name="Google Shape;1461;p1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p:cNvGrpSpPr/>
        <p:nvPr/>
      </p:nvGrpSpPr>
      <p:grpSpPr>
        <a:xfrm>
          <a:off x="0" y="0"/>
          <a:ext cx="0" cy="0"/>
          <a:chOff x="0" y="0"/>
          <a:chExt cx="0" cy="0"/>
        </a:xfrm>
      </p:grpSpPr>
      <p:sp>
        <p:nvSpPr>
          <p:cNvPr id="1466" name="Google Shape;146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7" name="Google Shape;1467;p1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1"/>
        <p:cNvGrpSpPr/>
        <p:nvPr/>
      </p:nvGrpSpPr>
      <p:grpSpPr>
        <a:xfrm>
          <a:off x="0" y="0"/>
          <a:ext cx="0" cy="0"/>
          <a:chOff x="0" y="0"/>
          <a:chExt cx="0" cy="0"/>
        </a:xfrm>
      </p:grpSpPr>
      <p:sp>
        <p:nvSpPr>
          <p:cNvPr id="1472" name="Google Shape;147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3" name="Google Shape;1473;p1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9" name="Google Shape;1479;p1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7" name="Google Shape;1487;p1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b08052c3c1_0_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5" name="Google Shape;1495;gb08052c3c1_0_1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Better convergence since</a:t>
            </a:r>
            <a:endParaRPr/>
          </a:p>
        </p:txBody>
      </p:sp>
      <p:sp>
        <p:nvSpPr>
          <p:cNvPr id="1501" name="Google Shape;1501;p1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5"/>
        <p:cNvGrpSpPr/>
        <p:nvPr/>
      </p:nvGrpSpPr>
      <p:grpSpPr>
        <a:xfrm>
          <a:off x="0" y="0"/>
          <a:ext cx="0" cy="0"/>
          <a:chOff x="0" y="0"/>
          <a:chExt cx="0" cy="0"/>
        </a:xfrm>
      </p:grpSpPr>
      <p:sp>
        <p:nvSpPr>
          <p:cNvPr id="1506" name="Google Shape;1506;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Observe that our network outputs an action based on the state. So we’ll consider this to be the policy function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507" name="Google Shape;1507;p1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3"/>
        <p:cNvGrpSpPr/>
        <p:nvPr/>
      </p:nvGrpSpPr>
      <p:grpSpPr>
        <a:xfrm>
          <a:off x="0" y="0"/>
          <a:ext cx="0" cy="0"/>
          <a:chOff x="0" y="0"/>
          <a:chExt cx="0" cy="0"/>
        </a:xfrm>
      </p:grpSpPr>
      <p:sp>
        <p:nvSpPr>
          <p:cNvPr id="1524" name="Google Shape;1524;gb08052c3c1_0_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Vorbim</a:t>
            </a:r>
            <a:r>
              <a:rPr lang="en-US" dirty="0"/>
              <a:t> de </a:t>
            </a:r>
            <a:r>
              <a:rPr lang="en-US" dirty="0" err="1"/>
              <a:t>cazuri</a:t>
            </a:r>
            <a:r>
              <a:rPr lang="en-US" dirty="0"/>
              <a:t> </a:t>
            </a:r>
            <a:r>
              <a:rPr lang="en-US" dirty="0" err="1"/>
              <a:t>episodice</a:t>
            </a:r>
            <a:r>
              <a:rPr lang="en-US" dirty="0"/>
              <a:t>, de </a:t>
            </a:r>
            <a:r>
              <a:rPr lang="en-US" dirty="0" err="1"/>
              <a:t>exemplu</a:t>
            </a:r>
            <a:r>
              <a:rPr lang="en-US" dirty="0"/>
              <a:t> cand </a:t>
            </a:r>
            <a:r>
              <a:rPr lang="en-US" dirty="0" err="1"/>
              <a:t>avem</a:t>
            </a:r>
            <a:r>
              <a:rPr lang="en-US" dirty="0"/>
              <a:t> un </a:t>
            </a:r>
            <a:r>
              <a:rPr lang="en-US" dirty="0" err="1"/>
              <a:t>joc</a:t>
            </a:r>
            <a:r>
              <a:rPr lang="en-US" dirty="0"/>
              <a:t>. </a:t>
            </a:r>
            <a:r>
              <a:rPr lang="en-US" dirty="0" err="1"/>
              <a:t>Acolo</a:t>
            </a:r>
            <a:r>
              <a:rPr lang="en-US" dirty="0"/>
              <a:t> </a:t>
            </a:r>
            <a:r>
              <a:rPr lang="en-US" dirty="0" err="1"/>
              <a:t>trebuie</a:t>
            </a:r>
            <a:r>
              <a:rPr lang="en-US" dirty="0"/>
              <a:t> </a:t>
            </a:r>
            <a:r>
              <a:rPr lang="en-US" dirty="0" err="1"/>
              <a:t>sa</a:t>
            </a:r>
            <a:r>
              <a:rPr lang="en-US" dirty="0"/>
              <a:t> </a:t>
            </a:r>
            <a:r>
              <a:rPr lang="en-US" dirty="0" err="1"/>
              <a:t>maximizam</a:t>
            </a:r>
            <a:r>
              <a:rPr lang="en-US" dirty="0"/>
              <a:t> Value function </a:t>
            </a:r>
            <a:r>
              <a:rPr lang="en-US" dirty="0" err="1"/>
              <a:t>pornind</a:t>
            </a:r>
            <a:r>
              <a:rPr lang="en-US" dirty="0"/>
              <a:t> din </a:t>
            </a:r>
            <a:r>
              <a:rPr lang="en-US" dirty="0" err="1"/>
              <a:t>starea</a:t>
            </a:r>
            <a:r>
              <a:rPr lang="en-US" dirty="0"/>
              <a:t> </a:t>
            </a:r>
            <a:r>
              <a:rPr lang="en-US" dirty="0" err="1"/>
              <a:t>initiala</a:t>
            </a:r>
            <a:endParaRPr dirty="0"/>
          </a:p>
        </p:txBody>
      </p:sp>
      <p:sp>
        <p:nvSpPr>
          <p:cNvPr id="1525" name="Google Shape;1525;gb08052c3c1_0_5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gb08052c3c1_0_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Vorbim de cazuri episodice, de exemplu cand avem un joc. Acolo trebuie sa maximizam Value function pornind din starea initiala</a:t>
            </a:r>
            <a:endParaRPr/>
          </a:p>
        </p:txBody>
      </p:sp>
      <p:sp>
        <p:nvSpPr>
          <p:cNvPr id="1533" name="Google Shape;1533;gb08052c3c1_0_5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42" name="Google Shape;1542;gb08052c3c1_0_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en-US" dirty="0"/>
                  <a:t>Where </a:t>
                </a:r>
                <a:r>
                  <a:rPr lang="en-US" dirty="0" err="1"/>
                  <a:t>i</a:t>
                </a:r>
                <a:r>
                  <a:rPr lang="en-US" dirty="0"/>
                  <a:t> is an arbitrary starting point in the trajectory,</a:t>
                </a:r>
                <a:br>
                  <a:rPr lang="en-US" dirty="0"/>
                </a:br>
                <a:r>
                  <a:rPr lang="en-US" dirty="0"/>
                  <a:t>P(</a:t>
                </a:r>
                <a:r>
                  <a:rPr lang="en-US" dirty="0" err="1"/>
                  <a:t>st</a:t>
                </a:r>
                <a:r>
                  <a:rPr lang="en-US" dirty="0"/>
                  <a:t>, at) is the probability of </a:t>
                </a:r>
                <a:r>
                  <a:rPr lang="en-US" dirty="0" err="1"/>
                  <a:t>encounting</a:t>
                </a:r>
                <a:r>
                  <a:rPr lang="en-US" dirty="0"/>
                  <a:t> </a:t>
                </a:r>
                <a:r>
                  <a:rPr lang="en-US" dirty="0" err="1"/>
                  <a:t>st</a:t>
                </a:r>
                <a:r>
                  <a:rPr lang="en-US" dirty="0"/>
                  <a:t> and at along </a:t>
                </a:r>
                <a:r>
                  <a:rPr lang="en-US" dirty="0" err="1"/>
                  <a:t>th</a:t>
                </a:r>
                <a:r>
                  <a:rPr lang="en-US" dirty="0"/>
                  <a:t> </a:t>
                </a:r>
                <a:br>
                  <a:rPr lang="en-US" dirty="0"/>
                </a:br>
                <a:br>
                  <a:rPr lang="en-US" dirty="0"/>
                </a:br>
                <a:r>
                  <a:rPr lang="en-US" dirty="0"/>
                  <a:t>	</a:t>
                </a:r>
                <a:r>
                  <a:rPr lang="en-US" sz="1200" b="0" i="0" u="none" strike="noStrike" cap="none" dirty="0">
                    <a:solidFill>
                      <a:schemeClr val="dk1"/>
                    </a:solidFill>
                    <a:effectLst/>
                    <a:latin typeface="Century Gothic"/>
                    <a:ea typeface="Century Gothic"/>
                    <a:cs typeface="Century Gothic"/>
                    <a:sym typeface="Century Gothic"/>
                  </a:rPr>
                  <a:t>By definition, the expectation of any function </a:t>
                </a:r>
                <a14:m>
                  <m:oMath xmlns:m="http://schemas.openxmlformats.org/officeDocument/2006/math">
                    <m:r>
                      <a:rPr lang="en-US" sz="1200" b="0" i="1" u="none" strike="noStrike" cap="none">
                        <a:solidFill>
                          <a:schemeClr val="dk1"/>
                        </a:solidFill>
                        <a:latin typeface="Century Gothic"/>
                        <a:ea typeface="Century Gothic"/>
                        <a:cs typeface="Century Gothic"/>
                        <a:sym typeface="Century Gothic"/>
                      </a:rPr>
                      <m:t>𝑓</m:t>
                    </m:r>
                    <m:d>
                      <m:dPr>
                        <m:ctrlPr>
                          <a:rPr lang="ar-AE" sz="1200" b="0" i="1" u="none" strike="noStrike" cap="none">
                            <a:solidFill>
                              <a:schemeClr val="dk1"/>
                            </a:solidFill>
                            <a:latin typeface="Century Gothic"/>
                            <a:ea typeface="Century Gothic"/>
                            <a:cs typeface="Century Gothic"/>
                            <a:sym typeface="Century Gothic"/>
                          </a:rPr>
                        </m:ctrlPr>
                      </m:dPr>
                      <m:e>
                        <m:r>
                          <a:rPr lang="ar-AE" sz="1200" b="0" i="1" u="none" strike="noStrike" cap="none">
                            <a:solidFill>
                              <a:schemeClr val="dk1"/>
                            </a:solidFill>
                            <a:latin typeface="Century Gothic"/>
                            <a:ea typeface="Century Gothic"/>
                            <a:cs typeface="Century Gothic"/>
                            <a:sym typeface="Century Gothic"/>
                          </a:rPr>
                          <m:t>𝜏</m:t>
                        </m:r>
                      </m:e>
                    </m:d>
                  </m:oMath>
                </a14:m>
                <a:r>
                  <a:rPr lang="ar-AE" sz="1200" b="0" i="0" u="none" strike="noStrike" cap="none" dirty="0">
                    <a:solidFill>
                      <a:schemeClr val="dk1"/>
                    </a:solidFill>
                    <a:effectLst/>
                    <a:latin typeface="Century Gothic"/>
                    <a:ea typeface="Century Gothic"/>
                    <a:cs typeface="Century Gothic"/>
                    <a:sym typeface="Century Gothic"/>
                  </a:rPr>
                  <a:t> </a:t>
                </a:r>
                <a:r>
                  <a:rPr lang="en-US" sz="1200" b="0" i="0" u="none" strike="noStrike" cap="none" dirty="0">
                    <a:solidFill>
                      <a:schemeClr val="dk1"/>
                    </a:solidFill>
                    <a:effectLst/>
                    <a:latin typeface="Century Gothic"/>
                    <a:ea typeface="Century Gothic"/>
                    <a:cs typeface="Century Gothic"/>
                    <a:sym typeface="Century Gothic"/>
                  </a:rPr>
                  <a:t>under a distribution </a:t>
                </a:r>
                <a14:m>
                  <m:oMath xmlns:m="http://schemas.openxmlformats.org/officeDocument/2006/math">
                    <m:r>
                      <a:rPr lang="en-US" sz="1200" b="0" i="1" u="none" strike="noStrike" cap="none">
                        <a:solidFill>
                          <a:schemeClr val="dk1"/>
                        </a:solidFill>
                        <a:latin typeface="Century Gothic"/>
                        <a:ea typeface="Century Gothic"/>
                        <a:cs typeface="Century Gothic"/>
                        <a:sym typeface="Century Gothic"/>
                      </a:rPr>
                      <m:t>𝑝</m:t>
                    </m:r>
                    <m:d>
                      <m:dPr>
                        <m:ctrlPr>
                          <a:rPr lang="ar-AE" sz="1200" b="0" i="1" u="none" strike="noStrike" cap="none">
                            <a:solidFill>
                              <a:schemeClr val="dk1"/>
                            </a:solidFill>
                            <a:latin typeface="Century Gothic"/>
                            <a:ea typeface="Century Gothic"/>
                            <a:cs typeface="Century Gothic"/>
                            <a:sym typeface="Century Gothic"/>
                          </a:rPr>
                        </m:ctrlPr>
                      </m:dPr>
                      <m:e>
                        <m:r>
                          <a:rPr lang="ar-AE" sz="1200" b="0" i="1" u="none" strike="noStrike" cap="none">
                            <a:solidFill>
                              <a:schemeClr val="dk1"/>
                            </a:solidFill>
                            <a:latin typeface="Century Gothic"/>
                            <a:ea typeface="Century Gothic"/>
                            <a:cs typeface="Century Gothic"/>
                            <a:sym typeface="Century Gothic"/>
                          </a:rPr>
                          <m:t>𝜏</m:t>
                        </m:r>
                      </m:e>
                    </m:d>
                  </m:oMath>
                </a14:m>
                <a:r>
                  <a:rPr lang="ar-AE" sz="1200" b="0" i="0" u="none" strike="noStrike" cap="none" dirty="0">
                    <a:solidFill>
                      <a:schemeClr val="dk1"/>
                    </a:solidFill>
                    <a:effectLst/>
                    <a:latin typeface="Century Gothic"/>
                    <a:ea typeface="Century Gothic"/>
                    <a:cs typeface="Century Gothic"/>
                    <a:sym typeface="Century Gothic"/>
                  </a:rPr>
                  <a:t> </a:t>
                </a:r>
                <a:r>
                  <a:rPr lang="en-US" sz="1200" b="0" i="0" u="none" strike="noStrike" cap="none" dirty="0">
                    <a:solidFill>
                      <a:schemeClr val="dk1"/>
                    </a:solidFill>
                    <a:effectLst/>
                    <a:latin typeface="Century Gothic"/>
                    <a:ea typeface="Century Gothic"/>
                    <a:cs typeface="Century Gothic"/>
                    <a:sym typeface="Century Gothic"/>
                  </a:rPr>
                  <a:t>is:</a:t>
                </a:r>
              </a:p>
              <a:p>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entury Gothic"/>
                              <a:ea typeface="Century Gothic"/>
                              <a:cs typeface="Century Gothic"/>
                              <a:sym typeface="Century Gothic"/>
                            </a:rPr>
                          </m:ctrlPr>
                        </m:sSubPr>
                        <m:e>
                          <m:r>
                            <a:rPr lang="ar-AE" sz="1200" b="0" i="0" u="none" strike="noStrike" cap="none">
                              <a:solidFill>
                                <a:schemeClr val="dk1"/>
                              </a:solidFill>
                              <a:latin typeface="Century Gothic"/>
                              <a:ea typeface="Century Gothic"/>
                              <a:cs typeface="Century Gothic"/>
                              <a:sym typeface="Century Gothic"/>
                            </a:rPr>
                            <m:t>𝔼</m:t>
                          </m:r>
                        </m:e>
                        <m:sub>
                          <m:r>
                            <a:rPr lang="ar-AE" sz="1200" b="0" i="1" u="none" strike="noStrike" cap="none">
                              <a:solidFill>
                                <a:schemeClr val="dk1"/>
                              </a:solidFill>
                              <a:latin typeface="Century Gothic"/>
                              <a:ea typeface="Century Gothic"/>
                              <a:cs typeface="Century Gothic"/>
                              <a:sym typeface="Century Gothic"/>
                            </a:rPr>
                            <m:t>𝜏</m:t>
                          </m:r>
                        </m:sub>
                      </m:sSub>
                      <m:d>
                        <m:dPr>
                          <m:begChr m:val="["/>
                          <m:endChr m:val="]"/>
                          <m:ctrlPr>
                            <a:rPr lang="ar-AE" sz="1200" b="0" i="1" u="none" strike="noStrike" cap="none">
                              <a:solidFill>
                                <a:schemeClr val="dk1"/>
                              </a:solidFill>
                              <a:latin typeface="Century Gothic"/>
                              <a:ea typeface="Century Gothic"/>
                              <a:cs typeface="Century Gothic"/>
                              <a:sym typeface="Century Gothic"/>
                            </a:rPr>
                          </m:ctrlPr>
                        </m:dPr>
                        <m:e>
                          <m:r>
                            <a:rPr lang="ar-AE" sz="1200" b="0" i="1" u="none" strike="noStrike" cap="none">
                              <a:solidFill>
                                <a:schemeClr val="dk1"/>
                              </a:solidFill>
                              <a:latin typeface="Century Gothic"/>
                              <a:ea typeface="Century Gothic"/>
                              <a:cs typeface="Century Gothic"/>
                              <a:sym typeface="Century Gothic"/>
                            </a:rPr>
                            <m:t>𝑓</m:t>
                          </m:r>
                          <m:d>
                            <m:dPr>
                              <m:ctrlPr>
                                <a:rPr lang="ar-AE" sz="1200" b="0" i="1" u="none" strike="noStrike" cap="none">
                                  <a:solidFill>
                                    <a:schemeClr val="dk1"/>
                                  </a:solidFill>
                                  <a:latin typeface="Century Gothic"/>
                                  <a:ea typeface="Century Gothic"/>
                                  <a:cs typeface="Century Gothic"/>
                                  <a:sym typeface="Century Gothic"/>
                                </a:rPr>
                              </m:ctrlPr>
                            </m:dPr>
                            <m:e>
                              <m:r>
                                <a:rPr lang="ar-AE" sz="1200" b="0" i="1" u="none" strike="noStrike" cap="none">
                                  <a:solidFill>
                                    <a:schemeClr val="dk1"/>
                                  </a:solidFill>
                                  <a:latin typeface="Century Gothic"/>
                                  <a:ea typeface="Century Gothic"/>
                                  <a:cs typeface="Century Gothic"/>
                                  <a:sym typeface="Century Gothic"/>
                                </a:rPr>
                                <m:t>𝜏</m:t>
                              </m:r>
                            </m:e>
                          </m:d>
                        </m:e>
                      </m:d>
                      <m:r>
                        <a:rPr lang="ar-AE" sz="1200" b="0" i="0" u="none" strike="noStrike" cap="none">
                          <a:solidFill>
                            <a:schemeClr val="dk1"/>
                          </a:solidFill>
                          <a:latin typeface="Century Gothic"/>
                          <a:ea typeface="Century Gothic"/>
                          <a:cs typeface="Century Gothic"/>
                          <a:sym typeface="Century Gothic"/>
                        </a:rPr>
                        <m:t>=</m:t>
                      </m:r>
                      <m:nary>
                        <m:naryPr>
                          <m:chr m:val="∑"/>
                          <m:grow m:val="on"/>
                          <m:supHide m:val="on"/>
                          <m:ctrlPr>
                            <a:rPr lang="ar-AE" sz="1200" b="0" i="1" u="none" strike="noStrike" cap="none">
                              <a:solidFill>
                                <a:schemeClr val="dk1"/>
                              </a:solidFill>
                              <a:latin typeface="Century Gothic"/>
                              <a:ea typeface="Century Gothic"/>
                              <a:cs typeface="Century Gothic"/>
                              <a:sym typeface="Century Gothic"/>
                            </a:rPr>
                          </m:ctrlPr>
                        </m:naryPr>
                        <m:sub>
                          <m:r>
                            <a:rPr lang="ar-AE" sz="1200" b="0" i="1" u="none" strike="noStrike" cap="none">
                              <a:solidFill>
                                <a:schemeClr val="dk1"/>
                              </a:solidFill>
                              <a:latin typeface="Century Gothic"/>
                              <a:ea typeface="Century Gothic"/>
                              <a:cs typeface="Century Gothic"/>
                              <a:sym typeface="Century Gothic"/>
                            </a:rPr>
                            <m:t>𝜏</m:t>
                          </m:r>
                        </m:sub>
                        <m:sup/>
                        <m:e>
                          <m:r>
                            <a:rPr lang="ar-AE" sz="1200" b="0" i="1" u="none" strike="noStrike" cap="none">
                              <a:solidFill>
                                <a:schemeClr val="dk1"/>
                              </a:solidFill>
                              <a:latin typeface="Century Gothic"/>
                              <a:ea typeface="Century Gothic"/>
                              <a:cs typeface="Century Gothic"/>
                              <a:sym typeface="Century Gothic"/>
                            </a:rPr>
                            <m:t>𝑝</m:t>
                          </m:r>
                        </m:e>
                      </m:nary>
                      <m:d>
                        <m:dPr>
                          <m:ctrlPr>
                            <a:rPr lang="ar-AE" sz="1200" b="0" i="1" u="none" strike="noStrike" cap="none">
                              <a:solidFill>
                                <a:schemeClr val="dk1"/>
                              </a:solidFill>
                              <a:latin typeface="Century Gothic"/>
                              <a:ea typeface="Century Gothic"/>
                              <a:cs typeface="Century Gothic"/>
                              <a:sym typeface="Century Gothic"/>
                            </a:rPr>
                          </m:ctrlPr>
                        </m:dPr>
                        <m:e>
                          <m:r>
                            <a:rPr lang="ar-AE" sz="1200" b="0" i="1" u="none" strike="noStrike" cap="none">
                              <a:solidFill>
                                <a:schemeClr val="dk1"/>
                              </a:solidFill>
                              <a:latin typeface="Century Gothic"/>
                              <a:ea typeface="Century Gothic"/>
                              <a:cs typeface="Century Gothic"/>
                              <a:sym typeface="Century Gothic"/>
                            </a:rPr>
                            <m:t>𝜏</m:t>
                          </m:r>
                        </m:e>
                      </m:d>
                      <m:r>
                        <m:rPr>
                          <m:nor/>
                        </m:rPr>
                        <a:rPr lang="ar-AE" sz="1200" b="0" i="1" u="none" strike="noStrike" cap="none">
                          <a:solidFill>
                            <a:schemeClr val="dk1"/>
                          </a:solidFill>
                          <a:latin typeface="Century Gothic"/>
                          <a:ea typeface="Century Gothic"/>
                          <a:cs typeface="Century Gothic"/>
                          <a:sym typeface="Century Gothic"/>
                        </a:rPr>
                        <m:t> </m:t>
                      </m:r>
                      <m:r>
                        <a:rPr lang="ar-AE" sz="1200" b="0" i="1" u="none" strike="noStrike" cap="none">
                          <a:solidFill>
                            <a:schemeClr val="dk1"/>
                          </a:solidFill>
                          <a:latin typeface="Century Gothic"/>
                          <a:ea typeface="Century Gothic"/>
                          <a:cs typeface="Century Gothic"/>
                          <a:sym typeface="Century Gothic"/>
                        </a:rPr>
                        <m:t>𝑓</m:t>
                      </m:r>
                      <m:d>
                        <m:dPr>
                          <m:ctrlPr>
                            <a:rPr lang="ar-AE" sz="1200" b="0" i="1" u="none" strike="noStrike" cap="none">
                              <a:solidFill>
                                <a:schemeClr val="dk1"/>
                              </a:solidFill>
                              <a:latin typeface="Century Gothic"/>
                              <a:ea typeface="Century Gothic"/>
                              <a:cs typeface="Century Gothic"/>
                              <a:sym typeface="Century Gothic"/>
                            </a:rPr>
                          </m:ctrlPr>
                        </m:dPr>
                        <m:e>
                          <m:r>
                            <a:rPr lang="ar-AE" sz="1200" b="0" i="1" u="none" strike="noStrike" cap="none">
                              <a:solidFill>
                                <a:schemeClr val="dk1"/>
                              </a:solidFill>
                              <a:latin typeface="Century Gothic"/>
                              <a:ea typeface="Century Gothic"/>
                              <a:cs typeface="Century Gothic"/>
                              <a:sym typeface="Century Gothic"/>
                            </a:rPr>
                            <m:t>𝜏</m:t>
                          </m:r>
                        </m:e>
                      </m:d>
                    </m:oMath>
                  </m:oMathPara>
                </a14:m>
                <a:endParaRPr lang="ar-AE" b="0"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Formual</a:t>
                </a:r>
                <a:r>
                  <a:rPr lang="en-US" dirty="0"/>
                  <a:t> de expectation e </a:t>
                </a:r>
                <a:r>
                  <a:rPr lang="en-US" dirty="0" err="1"/>
                  <a:t>aplucata</a:t>
                </a:r>
                <a:r>
                  <a:rPr lang="en-US" dirty="0"/>
                  <a:t> pe o </a:t>
                </a:r>
                <a:r>
                  <a:rPr lang="en-US" dirty="0" err="1"/>
                  <a:t>traiectorie</a:t>
                </a:r>
                <a:r>
                  <a:rPr lang="en-US" dirty="0"/>
                  <a:t>, </a:t>
                </a:r>
                <a:r>
                  <a:rPr lang="en-US" dirty="0" err="1"/>
                  <a:t>dar</a:t>
                </a:r>
                <a:r>
                  <a:rPr lang="en-US" dirty="0"/>
                  <a:t> media e </a:t>
                </a:r>
                <a:r>
                  <a:rPr lang="en-US" dirty="0" err="1"/>
                  <a:t>facuta</a:t>
                </a:r>
                <a:r>
                  <a:rPr lang="en-US" dirty="0"/>
                  <a:t> pe </a:t>
                </a:r>
                <a:r>
                  <a:rPr lang="en-US" dirty="0" err="1"/>
                  <a:t>mai</a:t>
                </a:r>
                <a:r>
                  <a:rPr lang="en-US" dirty="0"/>
                  <a:t> </a:t>
                </a:r>
                <a:r>
                  <a:rPr lang="en-US" dirty="0" err="1"/>
                  <a:t>multe</a:t>
                </a:r>
                <a:r>
                  <a:rPr lang="en-US" dirty="0"/>
                  <a:t> </a:t>
                </a:r>
                <a:r>
                  <a:rPr lang="en-US" dirty="0" err="1"/>
                  <a:t>traiectorii</a:t>
                </a:r>
                <a:endParaRPr lang="en-US" dirty="0"/>
              </a:p>
              <a:p>
                <a:pPr marL="0" lvl="0" indent="0" algn="l" rtl="0">
                  <a:spcBef>
                    <a:spcPts val="0"/>
                  </a:spcBef>
                  <a:spcAft>
                    <a:spcPts val="0"/>
                  </a:spcAft>
                  <a:buNone/>
                </a:pPr>
                <a:r>
                  <a:rPr lang="en-US" dirty="0"/>
                  <a:t>Deci, </a:t>
                </a:r>
                <a:r>
                  <a:rPr lang="en-US" dirty="0" err="1"/>
                  <a:t>daca</a:t>
                </a:r>
                <a:r>
                  <a:rPr lang="en-US" dirty="0"/>
                  <a:t> o </a:t>
                </a:r>
                <a:r>
                  <a:rPr lang="en-US" dirty="0" err="1"/>
                  <a:t>traiectorie</a:t>
                </a:r>
                <a:r>
                  <a:rPr lang="en-US" dirty="0"/>
                  <a:t> conform </a:t>
                </a:r>
                <a:r>
                  <a:rPr lang="en-US" dirty="0" err="1"/>
                  <a:t>politicii</a:t>
                </a:r>
                <a:r>
                  <a:rPr lang="en-US" dirty="0"/>
                  <a:t> </a:t>
                </a:r>
                <a:r>
                  <a:rPr lang="en-US" dirty="0" err="1"/>
                  <a:t>noastre</a:t>
                </a:r>
                <a:r>
                  <a:rPr lang="en-US" dirty="0"/>
                  <a:t> (</a:t>
                </a:r>
                <a:r>
                  <a:rPr lang="en-US" dirty="0" err="1"/>
                  <a:t>reteaua</a:t>
                </a:r>
                <a:r>
                  <a:rPr lang="en-US" dirty="0"/>
                  <a:t>), Value function </a:t>
                </a:r>
                <a:r>
                  <a:rPr lang="en-US" dirty="0" err="1"/>
                  <a:t>este</a:t>
                </a:r>
                <a:r>
                  <a:rPr lang="en-US" dirty="0"/>
                  <a:t>  data de media (</a:t>
                </a:r>
                <a:r>
                  <a:rPr lang="en-US" dirty="0" err="1"/>
                  <a:t>aici</a:t>
                </a:r>
                <a:r>
                  <a:rPr lang="en-US" dirty="0"/>
                  <a:t> </a:t>
                </a:r>
                <a:r>
                  <a:rPr lang="en-US" dirty="0" err="1"/>
                  <a:t>lipsteste</a:t>
                </a:r>
                <a:r>
                  <a:rPr lang="en-US" dirty="0"/>
                  <a:t>) P(</a:t>
                </a:r>
                <a:r>
                  <a:rPr lang="en-US" dirty="0" err="1"/>
                  <a:t>st,at|t</a:t>
                </a:r>
                <a:r>
                  <a:rPr lang="en-US" dirty="0"/>
                  <a:t>)* reward-ul pe care-l </a:t>
                </a:r>
                <a:r>
                  <a:rPr lang="en-US" dirty="0" err="1"/>
                  <a:t>obtii</a:t>
                </a:r>
                <a:r>
                  <a:rPr lang="en-US" dirty="0"/>
                  <a:t>  (</a:t>
                </a:r>
                <a:r>
                  <a:rPr lang="en-US" dirty="0" err="1"/>
                  <a:t>asta</a:t>
                </a:r>
                <a:r>
                  <a:rPr lang="en-US" dirty="0"/>
                  <a:t> nu </a:t>
                </a:r>
                <a:r>
                  <a:rPr lang="en-US" dirty="0" err="1"/>
                  <a:t>mai</a:t>
                </a:r>
                <a:r>
                  <a:rPr lang="en-US" dirty="0"/>
                  <a:t> e probabilistic. E </a:t>
                </a:r>
                <a:r>
                  <a:rPr lang="en-US" dirty="0" err="1"/>
                  <a:t>dat</a:t>
                </a:r>
                <a:r>
                  <a:rPr lang="en-US" dirty="0"/>
                  <a:t> de env)</a:t>
                </a:r>
                <a:endParaRPr dirty="0"/>
              </a:p>
            </p:txBody>
          </p:sp>
        </mc:Choice>
        <mc:Fallback>
          <p:sp>
            <p:nvSpPr>
              <p:cNvPr id="1542" name="Google Shape;1542;gb08052c3c1_0_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en-US" dirty="0"/>
                  <a:t>Where </a:t>
                </a:r>
                <a:r>
                  <a:rPr lang="en-US" dirty="0" err="1"/>
                  <a:t>i</a:t>
                </a:r>
                <a:r>
                  <a:rPr lang="en-US" dirty="0"/>
                  <a:t> is an arbitrary starting point in the trajectory,</a:t>
                </a:r>
                <a:br>
                  <a:rPr lang="en-US" dirty="0"/>
                </a:br>
                <a:r>
                  <a:rPr lang="en-US" dirty="0"/>
                  <a:t>P(</a:t>
                </a:r>
                <a:r>
                  <a:rPr lang="en-US" dirty="0" err="1"/>
                  <a:t>st</a:t>
                </a:r>
                <a:r>
                  <a:rPr lang="en-US" dirty="0"/>
                  <a:t>, at) is the probability of </a:t>
                </a:r>
                <a:r>
                  <a:rPr lang="en-US" dirty="0" err="1"/>
                  <a:t>encounting</a:t>
                </a:r>
                <a:r>
                  <a:rPr lang="en-US" dirty="0"/>
                  <a:t> </a:t>
                </a:r>
                <a:r>
                  <a:rPr lang="en-US" dirty="0" err="1"/>
                  <a:t>st</a:t>
                </a:r>
                <a:r>
                  <a:rPr lang="en-US" dirty="0"/>
                  <a:t> and at along </a:t>
                </a:r>
                <a:r>
                  <a:rPr lang="en-US" dirty="0" err="1"/>
                  <a:t>th</a:t>
                </a:r>
                <a:r>
                  <a:rPr lang="en-US" dirty="0"/>
                  <a:t> </a:t>
                </a:r>
                <a:br>
                  <a:rPr lang="en-US" dirty="0"/>
                </a:br>
                <a:br>
                  <a:rPr lang="en-US" dirty="0"/>
                </a:br>
                <a:r>
                  <a:rPr lang="en-US" dirty="0"/>
                  <a:t>	</a:t>
                </a:r>
                <a:r>
                  <a:rPr lang="en-US" sz="1200" b="0" i="0" u="none" strike="noStrike" cap="none" dirty="0">
                    <a:solidFill>
                      <a:schemeClr val="dk1"/>
                    </a:solidFill>
                    <a:effectLst/>
                    <a:latin typeface="Century Gothic"/>
                    <a:ea typeface="Century Gothic"/>
                    <a:cs typeface="Century Gothic"/>
                    <a:sym typeface="Century Gothic"/>
                  </a:rPr>
                  <a:t>By definition, the expectation of any function </a:t>
                </a:r>
                <a:r>
                  <a:rPr lang="en-US" sz="1200" b="0" i="0" u="none" strike="noStrike" cap="none">
                    <a:solidFill>
                      <a:schemeClr val="dk1"/>
                    </a:solidFill>
                    <a:latin typeface="Century Gothic"/>
                    <a:ea typeface="Century Gothic"/>
                    <a:cs typeface="Century Gothic"/>
                    <a:sym typeface="Century Gothic"/>
                  </a:rPr>
                  <a:t>𝑓</a:t>
                </a:r>
                <a:r>
                  <a:rPr lang="ar-AE" sz="1200" b="0" i="0" u="none" strike="noStrike" cap="none">
                    <a:solidFill>
                      <a:schemeClr val="dk1"/>
                    </a:solidFill>
                    <a:latin typeface="Century Gothic"/>
                    <a:sym typeface="Century Gothic"/>
                  </a:rPr>
                  <a:t>(</a:t>
                </a:r>
                <a:r>
                  <a:rPr lang="ar-AE" sz="1200" b="0" i="0" u="none" strike="noStrike" cap="none">
                    <a:solidFill>
                      <a:schemeClr val="dk1"/>
                    </a:solidFill>
                    <a:latin typeface="Century Gothic"/>
                    <a:ea typeface="Century Gothic"/>
                    <a:cs typeface="Century Gothic"/>
                    <a:sym typeface="Century Gothic"/>
                  </a:rPr>
                  <a:t>𝜏)</a:t>
                </a:r>
                <a:r>
                  <a:rPr lang="ar-AE" sz="1200" b="0" i="0" u="none" strike="noStrike" cap="none" dirty="0">
                    <a:solidFill>
                      <a:schemeClr val="dk1"/>
                    </a:solidFill>
                    <a:effectLst/>
                    <a:latin typeface="Century Gothic"/>
                    <a:ea typeface="Century Gothic"/>
                    <a:cs typeface="Century Gothic"/>
                    <a:sym typeface="Century Gothic"/>
                  </a:rPr>
                  <a:t> </a:t>
                </a:r>
                <a:r>
                  <a:rPr lang="en-US" sz="1200" b="0" i="0" u="none" strike="noStrike" cap="none" dirty="0">
                    <a:solidFill>
                      <a:schemeClr val="dk1"/>
                    </a:solidFill>
                    <a:effectLst/>
                    <a:latin typeface="Century Gothic"/>
                    <a:ea typeface="Century Gothic"/>
                    <a:cs typeface="Century Gothic"/>
                    <a:sym typeface="Century Gothic"/>
                  </a:rPr>
                  <a:t>under a distribution </a:t>
                </a:r>
                <a:r>
                  <a:rPr lang="en-US" sz="1200" b="0" i="0" u="none" strike="noStrike" cap="none">
                    <a:solidFill>
                      <a:schemeClr val="dk1"/>
                    </a:solidFill>
                    <a:latin typeface="Century Gothic"/>
                    <a:ea typeface="Century Gothic"/>
                    <a:cs typeface="Century Gothic"/>
                    <a:sym typeface="Century Gothic"/>
                  </a:rPr>
                  <a:t>𝑝</a:t>
                </a:r>
                <a:r>
                  <a:rPr lang="ar-AE" sz="1200" b="0" i="0" u="none" strike="noStrike" cap="none">
                    <a:solidFill>
                      <a:schemeClr val="dk1"/>
                    </a:solidFill>
                    <a:latin typeface="Century Gothic"/>
                    <a:sym typeface="Century Gothic"/>
                  </a:rPr>
                  <a:t>(</a:t>
                </a:r>
                <a:r>
                  <a:rPr lang="ar-AE" sz="1200" b="0" i="0" u="none" strike="noStrike" cap="none">
                    <a:solidFill>
                      <a:schemeClr val="dk1"/>
                    </a:solidFill>
                    <a:latin typeface="Century Gothic"/>
                    <a:ea typeface="Century Gothic"/>
                    <a:cs typeface="Century Gothic"/>
                    <a:sym typeface="Century Gothic"/>
                  </a:rPr>
                  <a:t>𝜏)</a:t>
                </a:r>
                <a:r>
                  <a:rPr lang="ar-AE" sz="1200" b="0" i="0" u="none" strike="noStrike" cap="none" dirty="0">
                    <a:solidFill>
                      <a:schemeClr val="dk1"/>
                    </a:solidFill>
                    <a:effectLst/>
                    <a:latin typeface="Century Gothic"/>
                    <a:ea typeface="Century Gothic"/>
                    <a:cs typeface="Century Gothic"/>
                    <a:sym typeface="Century Gothic"/>
                  </a:rPr>
                  <a:t> </a:t>
                </a:r>
                <a:r>
                  <a:rPr lang="en-US" sz="1200" b="0" i="0" u="none" strike="noStrike" cap="none" dirty="0">
                    <a:solidFill>
                      <a:schemeClr val="dk1"/>
                    </a:solidFill>
                    <a:effectLst/>
                    <a:latin typeface="Century Gothic"/>
                    <a:ea typeface="Century Gothic"/>
                    <a:cs typeface="Century Gothic"/>
                    <a:sym typeface="Century Gothic"/>
                  </a:rPr>
                  <a:t>is:</a:t>
                </a:r>
              </a:p>
              <a:p>
                <a:r>
                  <a:rPr lang="ar-AE" sz="1200" b="0" i="0" u="none" strike="noStrike" cap="none">
                    <a:solidFill>
                      <a:schemeClr val="dk1"/>
                    </a:solidFill>
                    <a:latin typeface="Century Gothic"/>
                    <a:ea typeface="Century Gothic"/>
                    <a:cs typeface="Century Gothic"/>
                    <a:sym typeface="Century Gothic"/>
                  </a:rPr>
                  <a:t>𝔼_𝜏 </a:t>
                </a:r>
                <a:r>
                  <a:rPr lang="ar-AE" sz="1200" b="0" i="0" u="none" strike="noStrike" cap="none">
                    <a:solidFill>
                      <a:schemeClr val="dk1"/>
                    </a:solidFill>
                    <a:latin typeface="Century Gothic"/>
                    <a:sym typeface="Century Gothic"/>
                  </a:rPr>
                  <a:t>[</a:t>
                </a:r>
                <a:r>
                  <a:rPr lang="ar-AE" sz="1200" b="0" i="0" u="none" strike="noStrike" cap="none">
                    <a:solidFill>
                      <a:schemeClr val="dk1"/>
                    </a:solidFill>
                    <a:latin typeface="Century Gothic"/>
                    <a:ea typeface="Century Gothic"/>
                    <a:cs typeface="Century Gothic"/>
                    <a:sym typeface="Century Gothic"/>
                  </a:rPr>
                  <a:t>𝑓(𝜏)]=</a:t>
                </a:r>
                <a:r>
                  <a:rPr lang="ar-AE" sz="1200" b="0" i="0" u="none" strike="noStrike" cap="none">
                    <a:solidFill>
                      <a:schemeClr val="dk1"/>
                    </a:solidFill>
                    <a:latin typeface="Century Gothic"/>
                    <a:sym typeface="Century Gothic"/>
                  </a:rPr>
                  <a:t>∑128_</a:t>
                </a:r>
                <a:r>
                  <a:rPr lang="ar-AE" sz="1200" b="0" i="0" u="none" strike="noStrike" cap="none">
                    <a:solidFill>
                      <a:schemeClr val="dk1"/>
                    </a:solidFill>
                    <a:latin typeface="Century Gothic"/>
                    <a:ea typeface="Century Gothic"/>
                    <a:cs typeface="Century Gothic"/>
                    <a:sym typeface="Century Gothic"/>
                  </a:rPr>
                  <a:t>𝜏▒𝑝 </a:t>
                </a:r>
                <a:r>
                  <a:rPr lang="ar-AE" sz="1200" b="0" i="0" u="none" strike="noStrike" cap="none">
                    <a:solidFill>
                      <a:schemeClr val="dk1"/>
                    </a:solidFill>
                    <a:latin typeface="Century Gothic"/>
                    <a:sym typeface="Century Gothic"/>
                  </a:rPr>
                  <a:t>(</a:t>
                </a:r>
                <a:r>
                  <a:rPr lang="ar-AE" sz="1200" b="0" i="0" u="none" strike="noStrike" cap="none">
                    <a:solidFill>
                      <a:schemeClr val="dk1"/>
                    </a:solidFill>
                    <a:latin typeface="Century Gothic"/>
                    <a:ea typeface="Century Gothic"/>
                    <a:cs typeface="Century Gothic"/>
                    <a:sym typeface="Century Gothic"/>
                  </a:rPr>
                  <a:t>𝜏)</a:t>
                </a:r>
                <a:r>
                  <a:rPr lang="ar-AE" sz="1200" b="0" i="0" u="none" strike="noStrike" cap="none">
                    <a:solidFill>
                      <a:schemeClr val="dk1"/>
                    </a:solidFill>
                    <a:latin typeface="Cambria Math" panose="02040503050406030204" pitchFamily="18" charset="0"/>
                    <a:ea typeface="Century Gothic"/>
                    <a:cs typeface="Century Gothic"/>
                    <a:sym typeface="Century Gothic"/>
                  </a:rPr>
                  <a:t>" </a:t>
                </a:r>
                <a:r>
                  <a:rPr lang="ar-AE" sz="1200" b="0" i="0" u="none" strike="noStrike" cap="none">
                    <a:solidFill>
                      <a:schemeClr val="dk1"/>
                    </a:solidFill>
                    <a:latin typeface="Century Gothic"/>
                    <a:ea typeface="Century Gothic"/>
                    <a:cs typeface="Century Gothic"/>
                    <a:sym typeface="Century Gothic"/>
                  </a:rPr>
                  <a:t>" 𝑓</a:t>
                </a:r>
                <a:r>
                  <a:rPr lang="ar-AE" sz="1200" b="0" i="0" u="none" strike="noStrike" cap="none">
                    <a:solidFill>
                      <a:schemeClr val="dk1"/>
                    </a:solidFill>
                    <a:latin typeface="Century Gothic"/>
                    <a:sym typeface="Century Gothic"/>
                  </a:rPr>
                  <a:t>(</a:t>
                </a:r>
                <a:r>
                  <a:rPr lang="ar-AE" sz="1200" b="0" i="0" u="none" strike="noStrike" cap="none">
                    <a:solidFill>
                      <a:schemeClr val="dk1"/>
                    </a:solidFill>
                    <a:latin typeface="Century Gothic"/>
                    <a:ea typeface="Century Gothic"/>
                    <a:cs typeface="Century Gothic"/>
                    <a:sym typeface="Century Gothic"/>
                  </a:rPr>
                  <a:t>𝜏)</a:t>
                </a:r>
                <a:endParaRPr lang="ar-AE" b="0"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Formual</a:t>
                </a:r>
                <a:r>
                  <a:rPr lang="en-US" dirty="0"/>
                  <a:t> de expectation e </a:t>
                </a:r>
                <a:r>
                  <a:rPr lang="en-US" dirty="0" err="1"/>
                  <a:t>aplucata</a:t>
                </a:r>
                <a:r>
                  <a:rPr lang="en-US" dirty="0"/>
                  <a:t> pe o </a:t>
                </a:r>
                <a:r>
                  <a:rPr lang="en-US" dirty="0" err="1"/>
                  <a:t>traiectorie</a:t>
                </a:r>
                <a:r>
                  <a:rPr lang="en-US" dirty="0"/>
                  <a:t>, </a:t>
                </a:r>
                <a:r>
                  <a:rPr lang="en-US" dirty="0" err="1"/>
                  <a:t>dar</a:t>
                </a:r>
                <a:r>
                  <a:rPr lang="en-US" dirty="0"/>
                  <a:t> media e </a:t>
                </a:r>
                <a:r>
                  <a:rPr lang="en-US" dirty="0" err="1"/>
                  <a:t>facuta</a:t>
                </a:r>
                <a:r>
                  <a:rPr lang="en-US" dirty="0"/>
                  <a:t> pe </a:t>
                </a:r>
                <a:r>
                  <a:rPr lang="en-US" dirty="0" err="1"/>
                  <a:t>mai</a:t>
                </a:r>
                <a:r>
                  <a:rPr lang="en-US" dirty="0"/>
                  <a:t> </a:t>
                </a:r>
                <a:r>
                  <a:rPr lang="en-US" dirty="0" err="1"/>
                  <a:t>multe</a:t>
                </a:r>
                <a:r>
                  <a:rPr lang="en-US" dirty="0"/>
                  <a:t> </a:t>
                </a:r>
                <a:r>
                  <a:rPr lang="en-US" dirty="0" err="1"/>
                  <a:t>traiectorii</a:t>
                </a:r>
                <a:endParaRPr lang="en-US" dirty="0"/>
              </a:p>
              <a:p>
                <a:pPr marL="0" lvl="0" indent="0" algn="l" rtl="0">
                  <a:spcBef>
                    <a:spcPts val="0"/>
                  </a:spcBef>
                  <a:spcAft>
                    <a:spcPts val="0"/>
                  </a:spcAft>
                  <a:buNone/>
                </a:pPr>
                <a:r>
                  <a:rPr lang="en-US" dirty="0"/>
                  <a:t>Deci, </a:t>
                </a:r>
                <a:r>
                  <a:rPr lang="en-US" dirty="0" err="1"/>
                  <a:t>daca</a:t>
                </a:r>
                <a:r>
                  <a:rPr lang="en-US" dirty="0"/>
                  <a:t> o </a:t>
                </a:r>
                <a:r>
                  <a:rPr lang="en-US" dirty="0" err="1"/>
                  <a:t>traiectorie</a:t>
                </a:r>
                <a:r>
                  <a:rPr lang="en-US" dirty="0"/>
                  <a:t> conform </a:t>
                </a:r>
                <a:r>
                  <a:rPr lang="en-US" dirty="0" err="1"/>
                  <a:t>politicii</a:t>
                </a:r>
                <a:r>
                  <a:rPr lang="en-US" dirty="0"/>
                  <a:t> </a:t>
                </a:r>
                <a:r>
                  <a:rPr lang="en-US" dirty="0" err="1"/>
                  <a:t>noastre</a:t>
                </a:r>
                <a:r>
                  <a:rPr lang="en-US" dirty="0"/>
                  <a:t> (</a:t>
                </a:r>
                <a:r>
                  <a:rPr lang="en-US" dirty="0" err="1"/>
                  <a:t>reteaua</a:t>
                </a:r>
                <a:r>
                  <a:rPr lang="en-US" dirty="0"/>
                  <a:t>), Value function </a:t>
                </a:r>
                <a:r>
                  <a:rPr lang="en-US" dirty="0" err="1"/>
                  <a:t>este</a:t>
                </a:r>
                <a:r>
                  <a:rPr lang="en-US" dirty="0"/>
                  <a:t>  data de media (</a:t>
                </a:r>
                <a:r>
                  <a:rPr lang="en-US" dirty="0" err="1"/>
                  <a:t>aici</a:t>
                </a:r>
                <a:r>
                  <a:rPr lang="en-US" dirty="0"/>
                  <a:t> </a:t>
                </a:r>
                <a:r>
                  <a:rPr lang="en-US" dirty="0" err="1"/>
                  <a:t>lipsteste</a:t>
                </a:r>
                <a:r>
                  <a:rPr lang="en-US" dirty="0"/>
                  <a:t>) P(</a:t>
                </a:r>
                <a:r>
                  <a:rPr lang="en-US" dirty="0" err="1"/>
                  <a:t>st,at|t</a:t>
                </a:r>
                <a:r>
                  <a:rPr lang="en-US" dirty="0"/>
                  <a:t>)* reward-ul pe care-l </a:t>
                </a:r>
                <a:r>
                  <a:rPr lang="en-US" dirty="0" err="1"/>
                  <a:t>obtii</a:t>
                </a:r>
                <a:r>
                  <a:rPr lang="en-US" dirty="0"/>
                  <a:t>  (</a:t>
                </a:r>
                <a:r>
                  <a:rPr lang="en-US" dirty="0" err="1"/>
                  <a:t>asta</a:t>
                </a:r>
                <a:r>
                  <a:rPr lang="en-US" dirty="0"/>
                  <a:t> nu </a:t>
                </a:r>
                <a:r>
                  <a:rPr lang="en-US" dirty="0" err="1"/>
                  <a:t>mai</a:t>
                </a:r>
                <a:r>
                  <a:rPr lang="en-US" dirty="0"/>
                  <a:t> e probabilistic. E </a:t>
                </a:r>
                <a:r>
                  <a:rPr lang="en-US" dirty="0" err="1"/>
                  <a:t>dat</a:t>
                </a:r>
                <a:r>
                  <a:rPr lang="en-US" dirty="0"/>
                  <a:t> de env)</a:t>
                </a:r>
                <a:endParaRPr dirty="0"/>
              </a:p>
            </p:txBody>
          </p:sp>
        </mc:Fallback>
      </mc:AlternateContent>
      <p:sp>
        <p:nvSpPr>
          <p:cNvPr id="1543" name="Google Shape;1543;gb08052c3c1_0_7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gb08052c3c1_0_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Where </a:t>
            </a:r>
            <a:r>
              <a:rPr lang="en-US" dirty="0" err="1"/>
              <a:t>i</a:t>
            </a:r>
            <a:r>
              <a:rPr lang="en-US" dirty="0"/>
              <a:t> is an arbitrary starting point in the trajectory,</a:t>
            </a:r>
            <a:br>
              <a:rPr lang="en-US" dirty="0"/>
            </a:br>
            <a:r>
              <a:rPr lang="en-US" dirty="0"/>
              <a:t>P(</a:t>
            </a:r>
            <a:r>
              <a:rPr lang="en-US" dirty="0" err="1"/>
              <a:t>st</a:t>
            </a:r>
            <a:r>
              <a:rPr lang="en-US" dirty="0"/>
              <a:t>, at) is the probability of </a:t>
            </a:r>
            <a:r>
              <a:rPr lang="en-US" dirty="0" err="1"/>
              <a:t>encounting</a:t>
            </a:r>
            <a:r>
              <a:rPr lang="en-US" dirty="0"/>
              <a:t> </a:t>
            </a:r>
            <a:r>
              <a:rPr lang="en-US" dirty="0" err="1"/>
              <a:t>st</a:t>
            </a:r>
            <a:r>
              <a:rPr lang="en-US" dirty="0"/>
              <a:t> and at along </a:t>
            </a:r>
            <a:r>
              <a:rPr lang="en-US" dirty="0" err="1"/>
              <a:t>th</a:t>
            </a:r>
            <a:r>
              <a:rPr lang="en-US" dirty="0"/>
              <a:t> </a:t>
            </a:r>
            <a:br>
              <a:rPr lang="en-US" dirty="0"/>
            </a:br>
            <a:endParaRPr dirty="0"/>
          </a:p>
        </p:txBody>
      </p:sp>
      <p:sp>
        <p:nvSpPr>
          <p:cNvPr id="1553" name="Google Shape;1553;gb08052c3c1_0_8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gb08052c3c1_0_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Practic</a:t>
            </a:r>
            <a:r>
              <a:rPr lang="en-US" dirty="0"/>
              <a:t>, </a:t>
            </a:r>
            <a:r>
              <a:rPr lang="en-US" dirty="0" err="1"/>
              <a:t>desfac</a:t>
            </a:r>
            <a:r>
              <a:rPr lang="en-US" dirty="0"/>
              <a:t> </a:t>
            </a:r>
            <a:r>
              <a:rPr lang="en-US" dirty="0" err="1"/>
              <a:t>traiectoria</a:t>
            </a:r>
            <a:r>
              <a:rPr lang="en-US" dirty="0"/>
              <a:t> data de </a:t>
            </a:r>
            <a:r>
              <a:rPr lang="en-US" dirty="0" err="1"/>
              <a:t>reteaua</a:t>
            </a:r>
            <a:r>
              <a:rPr lang="en-US" dirty="0"/>
              <a:t> </a:t>
            </a:r>
            <a:r>
              <a:rPr lang="en-US" dirty="0" err="1"/>
              <a:t>mea</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64" name="Google Shape;1564;gb08052c3c1_0_9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3"/>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74" name="Google Shape;1574;gb08052c3c1_0_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 </a:t>
                </a:r>
                <a:r>
                  <a:rPr lang="en-US" dirty="0" err="1"/>
                  <a:t>doar</a:t>
                </a:r>
                <a:r>
                  <a:rPr lang="en-US" dirty="0"/>
                  <a:t> </a:t>
                </a:r>
                <a:r>
                  <a:rPr lang="en-US" dirty="0" err="1"/>
                  <a:t>notatie</a:t>
                </a:r>
                <a:r>
                  <a:rPr lang="en-US" dirty="0"/>
                  <a:t> </a:t>
                </a:r>
                <a:r>
                  <a:rPr lang="en-US" dirty="0" err="1"/>
                  <a:t>matematica</a:t>
                </a:r>
                <a:endParaRPr lang="en-US" dirty="0"/>
              </a:p>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0</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3</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m:oMathPara>
                </a14:m>
                <a:endParaRPr dirty="0"/>
              </a:p>
            </p:txBody>
          </p:sp>
        </mc:Choice>
        <mc:Fallback>
          <p:sp>
            <p:nvSpPr>
              <p:cNvPr id="1574" name="Google Shape;1574;gb08052c3c1_0_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 </a:t>
                </a:r>
                <a:r>
                  <a:rPr lang="en-US" dirty="0" err="1"/>
                  <a:t>doar</a:t>
                </a:r>
                <a:r>
                  <a:rPr lang="en-US" dirty="0"/>
                  <a:t> </a:t>
                </a:r>
                <a:r>
                  <a:rPr lang="en-US" dirty="0" err="1"/>
                  <a:t>notatie</a:t>
                </a:r>
                <a:r>
                  <a:rPr lang="en-US" dirty="0"/>
                  <a:t> </a:t>
                </a:r>
                <a:r>
                  <a:rPr lang="en-US" dirty="0" err="1"/>
                  <a:t>matematica</a:t>
                </a:r>
                <a:endParaRPr lang="en-US" dirty="0"/>
              </a:p>
              <a:p>
                <a:pPr marL="0" lvl="0" indent="0" algn="l" rtl="0">
                  <a:spcBef>
                    <a:spcPts val="0"/>
                  </a:spcBef>
                  <a:spcAft>
                    <a:spcPts val="0"/>
                  </a:spcAft>
                  <a:buNone/>
                </a:pPr>
                <a:r>
                  <a:rPr lang="en-US" b="0" i="0">
                    <a:latin typeface="Cambria Math" panose="02040503050406030204" pitchFamily="18" charset="0"/>
                  </a:rPr>
                  <a:t>𝑟_1 (𝑔_0 )+𝑟_2 (𝑔_0+𝑔_1 )+𝑟_3 (𝑔_0+𝑔_1+𝑔_2 )=𝑟_1 𝑔_0+𝑟_2 𝑔_0+𝑟_2 𝑔_1+𝑟_3 𝑔_0+𝑟_3 𝑔_1+𝑟_3 𝑔_2=𝑔_0 (𝑟_1+𝑟_2+𝑟_3 )+𝑔_1 (𝑟_2+𝑟3)+𝑔_2 (𝑟_3)</a:t>
                </a:r>
                <a:endParaRPr dirty="0"/>
              </a:p>
            </p:txBody>
          </p:sp>
        </mc:Fallback>
      </mc:AlternateContent>
      <p:sp>
        <p:nvSpPr>
          <p:cNvPr id="1575" name="Google Shape;1575;gb08052c3c1_0_1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4"/>
        <p:cNvGrpSpPr/>
        <p:nvPr/>
      </p:nvGrpSpPr>
      <p:grpSpPr>
        <a:xfrm>
          <a:off x="0" y="0"/>
          <a:ext cx="0" cy="0"/>
          <a:chOff x="0" y="0"/>
          <a:chExt cx="0" cy="0"/>
        </a:xfrm>
      </p:grpSpPr>
      <p:sp>
        <p:nvSpPr>
          <p:cNvPr id="1585" name="Google Shape;1585;gb08052c3c1_0_1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86" name="Google Shape;1586;gb08052c3c1_0_14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2"/>
        <p:cNvGrpSpPr/>
        <p:nvPr/>
      </p:nvGrpSpPr>
      <p:grpSpPr>
        <a:xfrm>
          <a:off x="0" y="0"/>
          <a:ext cx="0" cy="0"/>
          <a:chOff x="0" y="0"/>
          <a:chExt cx="0" cy="0"/>
        </a:xfrm>
      </p:grpSpPr>
      <p:sp>
        <p:nvSpPr>
          <p:cNvPr id="1593" name="Google Shape;1593;gb08052c3c1_0_1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Where i is an arbitrary starting point in the trajectory,</a:t>
            </a:r>
            <a:br>
              <a:rPr lang="en-US"/>
            </a:br>
            <a:r>
              <a:rPr lang="en-US"/>
              <a:t>P(st, at) is the probability of encounting st and at along th </a:t>
            </a:r>
            <a:br>
              <a:rPr lang="en-US"/>
            </a:br>
            <a:endParaRPr/>
          </a:p>
        </p:txBody>
      </p:sp>
      <p:sp>
        <p:nvSpPr>
          <p:cNvPr id="1594" name="Google Shape;1594;gb08052c3c1_0_15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2"/>
        <p:cNvGrpSpPr/>
        <p:nvPr/>
      </p:nvGrpSpPr>
      <p:grpSpPr>
        <a:xfrm>
          <a:off x="0" y="0"/>
          <a:ext cx="0" cy="0"/>
          <a:chOff x="0" y="0"/>
          <a:chExt cx="0" cy="0"/>
        </a:xfrm>
      </p:grpSpPr>
      <p:sp>
        <p:nvSpPr>
          <p:cNvPr id="1603" name="Google Shape;1603;gb08052c3c1_0_1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Observe that our network outputs an action based on the state. So we’ll consider this to be the policy function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604" name="Google Shape;1604;gb08052c3c1_0_18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2"/>
        <p:cNvGrpSpPr/>
        <p:nvPr/>
      </p:nvGrpSpPr>
      <p:grpSpPr>
        <a:xfrm>
          <a:off x="0" y="0"/>
          <a:ext cx="0" cy="0"/>
          <a:chOff x="0" y="0"/>
          <a:chExt cx="0" cy="0"/>
        </a:xfrm>
      </p:grpSpPr>
      <p:sp>
        <p:nvSpPr>
          <p:cNvPr id="1623" name="Google Shape;1623;gb08052c3c1_0_2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Where i is an arbitrary starting point in the trajectory,</a:t>
            </a:r>
            <a:br>
              <a:rPr lang="en-US"/>
            </a:br>
            <a:r>
              <a:rPr lang="en-US"/>
              <a:t>P(st, at) is the probability of encounting st and at along th </a:t>
            </a:r>
            <a:endParaRPr/>
          </a:p>
          <a:p>
            <a:pPr marL="0" lvl="0" indent="0" algn="l" rtl="0">
              <a:spcBef>
                <a:spcPts val="0"/>
              </a:spcBef>
              <a:spcAft>
                <a:spcPts val="0"/>
              </a:spcAft>
              <a:buNone/>
            </a:pPr>
            <a:endParaRPr/>
          </a:p>
          <a:p>
            <a:pPr marL="0" lvl="0" indent="0" algn="l" rtl="0">
              <a:spcBef>
                <a:spcPts val="0"/>
              </a:spcBef>
              <a:spcAft>
                <a:spcPts val="0"/>
              </a:spcAft>
              <a:buNone/>
            </a:pPr>
            <a:r>
              <a:rPr lang="en-US"/>
              <a:t>We need to remember this reward since we’ll be using it to obtain the discounted reward</a:t>
            </a:r>
            <a:br>
              <a:rPr lang="en-US"/>
            </a:br>
            <a:endParaRPr/>
          </a:p>
        </p:txBody>
      </p:sp>
      <p:sp>
        <p:nvSpPr>
          <p:cNvPr id="1624" name="Google Shape;1624;gb08052c3c1_0_20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gb08052c3c1_0_2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Where i is an arbitrary starting point in the trajectory,</a:t>
            </a:r>
            <a:br>
              <a:rPr lang="en-US"/>
            </a:br>
            <a:r>
              <a:rPr lang="en-US"/>
              <a:t>P(st, at) is the probability of encounting st and at along th </a:t>
            </a:r>
            <a:endParaRPr/>
          </a:p>
          <a:p>
            <a:pPr marL="0" lvl="0" indent="0" algn="l" rtl="0">
              <a:spcBef>
                <a:spcPts val="0"/>
              </a:spcBef>
              <a:spcAft>
                <a:spcPts val="0"/>
              </a:spcAft>
              <a:buNone/>
            </a:pPr>
            <a:endParaRPr/>
          </a:p>
          <a:p>
            <a:pPr marL="0" lvl="0" indent="0" algn="l" rtl="0">
              <a:spcBef>
                <a:spcPts val="0"/>
              </a:spcBef>
              <a:spcAft>
                <a:spcPts val="0"/>
              </a:spcAft>
              <a:buNone/>
            </a:pPr>
            <a:r>
              <a:rPr lang="en-US"/>
              <a:t>We need to remember this reward since we’ll be using it to obtain the discounted reward</a:t>
            </a:r>
            <a:br>
              <a:rPr lang="en-US"/>
            </a:br>
            <a:endParaRPr/>
          </a:p>
        </p:txBody>
      </p:sp>
      <p:sp>
        <p:nvSpPr>
          <p:cNvPr id="1630" name="Google Shape;1630;gb08052c3c1_0_21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p:cNvGrpSpPr/>
        <p:nvPr/>
      </p:nvGrpSpPr>
      <p:grpSpPr>
        <a:xfrm>
          <a:off x="0" y="0"/>
          <a:ext cx="0" cy="0"/>
          <a:chOff x="0" y="0"/>
          <a:chExt cx="0" cy="0"/>
        </a:xfrm>
      </p:grpSpPr>
      <p:sp>
        <p:nvSpPr>
          <p:cNvPr id="1636" name="Google Shape;1636;gb08052c3c1_0_2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Where i is an arbitrary starting point in the trajectory,</a:t>
            </a:r>
            <a:br>
              <a:rPr lang="en-US"/>
            </a:br>
            <a:r>
              <a:rPr lang="en-US"/>
              <a:t>P(st, at) is the probability of encounting st and at along th </a:t>
            </a:r>
            <a:endParaRPr/>
          </a:p>
          <a:p>
            <a:pPr marL="0" lvl="0" indent="0" algn="l" rtl="0">
              <a:spcBef>
                <a:spcPts val="0"/>
              </a:spcBef>
              <a:spcAft>
                <a:spcPts val="0"/>
              </a:spcAft>
              <a:buNone/>
            </a:pPr>
            <a:endParaRPr/>
          </a:p>
          <a:p>
            <a:pPr marL="0" lvl="0" indent="0" algn="l" rtl="0">
              <a:spcBef>
                <a:spcPts val="0"/>
              </a:spcBef>
              <a:spcAft>
                <a:spcPts val="0"/>
              </a:spcAft>
              <a:buNone/>
            </a:pPr>
            <a:r>
              <a:rPr lang="en-US"/>
              <a:t>We need to remember this reward since we’ll be using it to obtain the discounted reward</a:t>
            </a:r>
            <a:br>
              <a:rPr lang="en-US"/>
            </a:br>
            <a:endParaRPr/>
          </a:p>
        </p:txBody>
      </p:sp>
      <p:sp>
        <p:nvSpPr>
          <p:cNvPr id="1637" name="Google Shape;1637;gb08052c3c1_0_22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3"/>
        <p:cNvGrpSpPr/>
        <p:nvPr/>
      </p:nvGrpSpPr>
      <p:grpSpPr>
        <a:xfrm>
          <a:off x="0" y="0"/>
          <a:ext cx="0" cy="0"/>
          <a:chOff x="0" y="0"/>
          <a:chExt cx="0" cy="0"/>
        </a:xfrm>
      </p:grpSpPr>
      <p:sp>
        <p:nvSpPr>
          <p:cNvPr id="1644" name="Google Shape;1644;gb08052c3c1_0_2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Where i is an arbitrary starting point in the trajectory,</a:t>
            </a:r>
            <a:br>
              <a:rPr lang="en-US"/>
            </a:br>
            <a:r>
              <a:rPr lang="en-US"/>
              <a:t>P(st, at) is the probability of encounting st and at along th </a:t>
            </a:r>
            <a:endParaRPr/>
          </a:p>
          <a:p>
            <a:pPr marL="0" lvl="0" indent="0" algn="l" rtl="0">
              <a:spcBef>
                <a:spcPts val="0"/>
              </a:spcBef>
              <a:spcAft>
                <a:spcPts val="0"/>
              </a:spcAft>
              <a:buNone/>
            </a:pPr>
            <a:endParaRPr/>
          </a:p>
          <a:p>
            <a:pPr marL="0" lvl="0" indent="0" algn="l" rtl="0">
              <a:spcBef>
                <a:spcPts val="0"/>
              </a:spcBef>
              <a:spcAft>
                <a:spcPts val="0"/>
              </a:spcAft>
              <a:buNone/>
            </a:pPr>
            <a:r>
              <a:rPr lang="en-US"/>
              <a:t>We need to remember this reward since we’ll be using it to obtain the discounted reward</a:t>
            </a:r>
            <a:br>
              <a:rPr lang="en-US"/>
            </a:br>
            <a:endParaRPr/>
          </a:p>
        </p:txBody>
      </p:sp>
      <p:sp>
        <p:nvSpPr>
          <p:cNvPr id="1645" name="Google Shape;1645;gb08052c3c1_0_23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0"/>
        <p:cNvGrpSpPr/>
        <p:nvPr/>
      </p:nvGrpSpPr>
      <p:grpSpPr>
        <a:xfrm>
          <a:off x="0" y="0"/>
          <a:ext cx="0" cy="0"/>
          <a:chOff x="0" y="0"/>
          <a:chExt cx="0" cy="0"/>
        </a:xfrm>
      </p:grpSpPr>
      <p:sp>
        <p:nvSpPr>
          <p:cNvPr id="1651" name="Google Shape;1651;gb08052c3c1_0_2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Where i is an arbitrary starting point in the trajectory,</a:t>
            </a:r>
            <a:br>
              <a:rPr lang="en-US"/>
            </a:br>
            <a:r>
              <a:rPr lang="en-US"/>
              <a:t>P(st, at) is the probability of encounting st and at along th </a:t>
            </a:r>
            <a:endParaRPr/>
          </a:p>
          <a:p>
            <a:pPr marL="0" lvl="0" indent="0" algn="l" rtl="0">
              <a:spcBef>
                <a:spcPts val="0"/>
              </a:spcBef>
              <a:spcAft>
                <a:spcPts val="0"/>
              </a:spcAft>
              <a:buNone/>
            </a:pPr>
            <a:endParaRPr/>
          </a:p>
          <a:p>
            <a:pPr marL="0" lvl="0" indent="0" algn="l" rtl="0">
              <a:spcBef>
                <a:spcPts val="0"/>
              </a:spcBef>
              <a:spcAft>
                <a:spcPts val="0"/>
              </a:spcAft>
              <a:buNone/>
            </a:pPr>
            <a:r>
              <a:rPr lang="en-US"/>
              <a:t>We need to remember this reward since we’ll be using it to obtain the discounted reward</a:t>
            </a:r>
            <a:br>
              <a:rPr lang="en-US"/>
            </a:br>
            <a:endParaRPr/>
          </a:p>
        </p:txBody>
      </p:sp>
      <p:sp>
        <p:nvSpPr>
          <p:cNvPr id="1652" name="Google Shape;1652;gb08052c3c1_0_23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
        <p:cNvGrpSpPr/>
        <p:nvPr/>
      </p:nvGrpSpPr>
      <p:grpSpPr>
        <a:xfrm>
          <a:off x="0" y="0"/>
          <a:ext cx="0" cy="0"/>
          <a:chOff x="0" y="0"/>
          <a:chExt cx="0" cy="0"/>
        </a:xfrm>
      </p:grpSpPr>
      <p:sp>
        <p:nvSpPr>
          <p:cNvPr id="1658" name="Google Shape;1658;gb08052c3c1_0_2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Precizeaza aici ca e cu - pentru ca e functie de loss, dar a face loss</a:t>
            </a:r>
            <a:endParaRPr/>
          </a:p>
          <a:p>
            <a:pPr marL="0" lvl="0" indent="0" algn="l" rtl="0">
              <a:spcBef>
                <a:spcPts val="0"/>
              </a:spcBef>
              <a:spcAft>
                <a:spcPts val="0"/>
              </a:spcAft>
              <a:buNone/>
            </a:pPr>
            <a:endParaRPr/>
          </a:p>
          <a:p>
            <a:pPr marL="0" lvl="0" indent="0" algn="l" rtl="0">
              <a:spcBef>
                <a:spcPts val="0"/>
              </a:spcBef>
              <a:spcAft>
                <a:spcPts val="0"/>
              </a:spcAft>
              <a:buNone/>
            </a:pPr>
            <a:r>
              <a:rPr lang="en-US"/>
              <a:t>So we;re training like supervised training but with a chaning dataset.</a:t>
            </a:r>
            <a:endParaRPr/>
          </a:p>
        </p:txBody>
      </p:sp>
      <p:sp>
        <p:nvSpPr>
          <p:cNvPr id="1659" name="Google Shape;1659;gb08052c3c1_0_24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5"/>
        <p:cNvGrpSpPr/>
        <p:nvPr/>
      </p:nvGrpSpPr>
      <p:grpSpPr>
        <a:xfrm>
          <a:off x="0" y="0"/>
          <a:ext cx="0" cy="0"/>
          <a:chOff x="0" y="0"/>
          <a:chExt cx="0" cy="0"/>
        </a:xfrm>
      </p:grpSpPr>
      <p:sp>
        <p:nvSpPr>
          <p:cNvPr id="1666" name="Google Shape;1666;gb08052c3c1_0_2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Precizeaza aici ca e cu - pentru ca e functie de loss, dar a face loss</a:t>
            </a:r>
            <a:endParaRPr/>
          </a:p>
        </p:txBody>
      </p:sp>
      <p:sp>
        <p:nvSpPr>
          <p:cNvPr id="1667" name="Google Shape;1667;gb08052c3c1_0_25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2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8"/>
        <p:cNvGrpSpPr/>
        <p:nvPr/>
      </p:nvGrpSpPr>
      <p:grpSpPr>
        <a:xfrm>
          <a:off x="0" y="0"/>
          <a:ext cx="0" cy="0"/>
          <a:chOff x="0" y="0"/>
          <a:chExt cx="0" cy="0"/>
        </a:xfrm>
      </p:grpSpPr>
      <p:sp>
        <p:nvSpPr>
          <p:cNvPr id="1679" name="Google Shape;1679;gb08052c3c1_0_2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0" name="Google Shape;1680;gb08052c3c1_0_27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ga83278e112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It would be usefull if these could be labeled separatly</a:t>
            </a:r>
            <a:endParaRPr/>
          </a:p>
          <a:p>
            <a:pPr marL="0" lvl="0" indent="0" algn="l" rtl="0">
              <a:spcBef>
                <a:spcPts val="0"/>
              </a:spcBef>
              <a:spcAft>
                <a:spcPts val="0"/>
              </a:spcAft>
              <a:buNone/>
            </a:pPr>
            <a:endParaRPr/>
          </a:p>
        </p:txBody>
      </p:sp>
      <p:sp>
        <p:nvSpPr>
          <p:cNvPr id="1686" name="Google Shape;1686;ga83278e112_0_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4"/>
        <p:cNvGrpSpPr/>
        <p:nvPr/>
      </p:nvGrpSpPr>
      <p:grpSpPr>
        <a:xfrm>
          <a:off x="0" y="0"/>
          <a:ext cx="0" cy="0"/>
          <a:chOff x="0" y="0"/>
          <a:chExt cx="0" cy="0"/>
        </a:xfrm>
      </p:grpSpPr>
      <p:sp>
        <p:nvSpPr>
          <p:cNvPr id="1725" name="Google Shape;1725;ga83278e112_0_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It would be usefull if these could be labeled separatly,</a:t>
            </a:r>
            <a:endParaRPr/>
          </a:p>
          <a:p>
            <a:pPr marL="0" lvl="0" indent="0" algn="l" rtl="0">
              <a:spcBef>
                <a:spcPts val="0"/>
              </a:spcBef>
              <a:spcAft>
                <a:spcPts val="0"/>
              </a:spcAft>
              <a:buNone/>
            </a:pPr>
            <a:endParaRPr/>
          </a:p>
        </p:txBody>
      </p:sp>
      <p:sp>
        <p:nvSpPr>
          <p:cNvPr id="1726" name="Google Shape;1726;ga83278e112_0_5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0"/>
        <p:cNvGrpSpPr/>
        <p:nvPr/>
      </p:nvGrpSpPr>
      <p:grpSpPr>
        <a:xfrm>
          <a:off x="0" y="0"/>
          <a:ext cx="0" cy="0"/>
          <a:chOff x="0" y="0"/>
          <a:chExt cx="0" cy="0"/>
        </a:xfrm>
      </p:grpSpPr>
      <p:sp>
        <p:nvSpPr>
          <p:cNvPr id="1731" name="Google Shape;1731;ga83278e112_0_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2" name="Google Shape;1732;ga83278e112_0_9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ga83278e112_0_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Aici w este folosit pentru a arata ca Q_w este aproximat</a:t>
            </a:r>
            <a:endParaRPr/>
          </a:p>
        </p:txBody>
      </p:sp>
      <p:sp>
        <p:nvSpPr>
          <p:cNvPr id="1745" name="Google Shape;1745;ga83278e112_0_10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0"/>
        <p:cNvGrpSpPr/>
        <p:nvPr/>
      </p:nvGrpSpPr>
      <p:grpSpPr>
        <a:xfrm>
          <a:off x="0" y="0"/>
          <a:ext cx="0" cy="0"/>
          <a:chOff x="0" y="0"/>
          <a:chExt cx="0" cy="0"/>
        </a:xfrm>
      </p:grpSpPr>
      <p:sp>
        <p:nvSpPr>
          <p:cNvPr id="1751" name="Google Shape;1751;ga83278e112_0_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Aici</a:t>
            </a:r>
            <a:r>
              <a:rPr lang="en-US" dirty="0"/>
              <a:t> w </a:t>
            </a:r>
            <a:r>
              <a:rPr lang="en-US" dirty="0" err="1"/>
              <a:t>este</a:t>
            </a:r>
            <a:r>
              <a:rPr lang="en-US" dirty="0"/>
              <a:t> </a:t>
            </a:r>
            <a:r>
              <a:rPr lang="en-US" dirty="0" err="1"/>
              <a:t>folosit</a:t>
            </a:r>
            <a:r>
              <a:rPr lang="en-US" dirty="0"/>
              <a:t> </a:t>
            </a:r>
            <a:r>
              <a:rPr lang="en-US" dirty="0" err="1"/>
              <a:t>pentru</a:t>
            </a:r>
            <a:r>
              <a:rPr lang="en-US" dirty="0"/>
              <a:t> a </a:t>
            </a:r>
            <a:r>
              <a:rPr lang="en-US" dirty="0" err="1"/>
              <a:t>arata</a:t>
            </a:r>
            <a:r>
              <a:rPr lang="en-US" dirty="0"/>
              <a:t> ca </a:t>
            </a:r>
            <a:r>
              <a:rPr lang="en-US" dirty="0" err="1"/>
              <a:t>Q_w</a:t>
            </a:r>
            <a:r>
              <a:rPr lang="en-US" dirty="0"/>
              <a:t> </a:t>
            </a:r>
            <a:r>
              <a:rPr lang="en-US" dirty="0" err="1"/>
              <a:t>este</a:t>
            </a:r>
            <a:r>
              <a:rPr lang="en-US" dirty="0"/>
              <a:t> </a:t>
            </a:r>
            <a:r>
              <a:rPr lang="en-US" dirty="0" err="1"/>
              <a:t>aproximat</a:t>
            </a:r>
            <a:endParaRPr dirty="0"/>
          </a:p>
        </p:txBody>
      </p:sp>
      <p:sp>
        <p:nvSpPr>
          <p:cNvPr id="1752" name="Google Shape;1752;ga83278e112_0_12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0"/>
        <p:cNvGrpSpPr/>
        <p:nvPr/>
      </p:nvGrpSpPr>
      <p:grpSpPr>
        <a:xfrm>
          <a:off x="0" y="0"/>
          <a:ext cx="0" cy="0"/>
          <a:chOff x="0" y="0"/>
          <a:chExt cx="0" cy="0"/>
        </a:xfrm>
      </p:grpSpPr>
      <p:sp>
        <p:nvSpPr>
          <p:cNvPr id="1761" name="Google Shape;1761;ga83278e112_0_1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2" name="Google Shape;1762;ga83278e112_0_13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a83278e112_0_1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0" name="Google Shape;1770;ga83278e112_0_15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5"/>
        <p:cNvGrpSpPr/>
        <p:nvPr/>
      </p:nvGrpSpPr>
      <p:grpSpPr>
        <a:xfrm>
          <a:off x="0" y="0"/>
          <a:ext cx="0" cy="0"/>
          <a:chOff x="0" y="0"/>
          <a:chExt cx="0" cy="0"/>
        </a:xfrm>
      </p:grpSpPr>
      <p:sp>
        <p:nvSpPr>
          <p:cNvPr id="1776" name="Google Shape;1776;ga83278e112_0_1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7" name="Google Shape;1777;ga83278e112_0_14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4"/>
        <p:cNvGrpSpPr/>
        <p:nvPr/>
      </p:nvGrpSpPr>
      <p:grpSpPr>
        <a:xfrm>
          <a:off x="0" y="0"/>
          <a:ext cx="0" cy="0"/>
          <a:chOff x="0" y="0"/>
          <a:chExt cx="0" cy="0"/>
        </a:xfrm>
      </p:grpSpPr>
      <p:sp>
        <p:nvSpPr>
          <p:cNvPr id="1785" name="Google Shape;1785;ga83278e112_0_2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6" name="Google Shape;1786;ga83278e112_0_20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2"/>
        <p:cNvGrpSpPr/>
        <p:nvPr/>
      </p:nvGrpSpPr>
      <p:grpSpPr>
        <a:xfrm>
          <a:off x="0" y="0"/>
          <a:ext cx="0" cy="0"/>
          <a:chOff x="0" y="0"/>
          <a:chExt cx="0" cy="0"/>
        </a:xfrm>
      </p:grpSpPr>
      <p:sp>
        <p:nvSpPr>
          <p:cNvPr id="1793" name="Google Shape;1793;ga83278e112_0_1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100"/>
              <a:buFont typeface="Arial"/>
              <a:buNone/>
            </a:pPr>
            <a:r>
              <a:rPr lang="en-US" sz="1800">
                <a:solidFill>
                  <a:srgbClr val="000000"/>
                </a:solidFill>
              </a:rPr>
              <a:t>No matter the variation, we still need the prediction of the value function</a:t>
            </a:r>
            <a:endParaRPr>
              <a:solidFill>
                <a:srgbClr val="000000"/>
              </a:solidFill>
            </a:endParaRPr>
          </a:p>
        </p:txBody>
      </p:sp>
      <p:sp>
        <p:nvSpPr>
          <p:cNvPr id="1794" name="Google Shape;1794;ga83278e112_0_18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a83278e112_0_2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1800">
                <a:solidFill>
                  <a:srgbClr val="000000"/>
                </a:solidFill>
              </a:rPr>
              <a:t>Similar to how we train the q(s,a) network</a:t>
            </a:r>
            <a:endParaRPr>
              <a:solidFill>
                <a:srgbClr val="000000"/>
              </a:solidFill>
            </a:endParaRPr>
          </a:p>
        </p:txBody>
      </p:sp>
      <p:sp>
        <p:nvSpPr>
          <p:cNvPr id="1810" name="Google Shape;1810;ga83278e112_0_2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7"/>
        <p:cNvGrpSpPr/>
        <p:nvPr/>
      </p:nvGrpSpPr>
      <p:grpSpPr>
        <a:xfrm>
          <a:off x="0" y="0"/>
          <a:ext cx="0" cy="0"/>
          <a:chOff x="0" y="0"/>
          <a:chExt cx="0" cy="0"/>
        </a:xfrm>
      </p:grpSpPr>
      <p:sp>
        <p:nvSpPr>
          <p:cNvPr id="1828" name="Google Shape;1828;ga83278e112_0_2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1800">
                <a:solidFill>
                  <a:srgbClr val="000000"/>
                </a:solidFill>
              </a:rPr>
              <a:t>V(st) will actually be used to compute the advantage</a:t>
            </a:r>
            <a:endParaRPr sz="1800">
              <a:solidFill>
                <a:srgbClr val="000000"/>
              </a:solidFill>
            </a:endParaRPr>
          </a:p>
        </p:txBody>
      </p:sp>
      <p:sp>
        <p:nvSpPr>
          <p:cNvPr id="1829" name="Google Shape;1829;ga83278e112_0_23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a:extLst>
            <a:ext uri="{FF2B5EF4-FFF2-40B4-BE49-F238E27FC236}">
              <a16:creationId xmlns:a16="http://schemas.microsoft.com/office/drawing/2014/main" id="{55A4A0DC-A824-56D2-4753-08AF10A53496}"/>
            </a:ext>
          </a:extLst>
        </p:cNvPr>
        <p:cNvGrpSpPr/>
        <p:nvPr/>
      </p:nvGrpSpPr>
      <p:grpSpPr>
        <a:xfrm>
          <a:off x="0" y="0"/>
          <a:ext cx="0" cy="0"/>
          <a:chOff x="0" y="0"/>
          <a:chExt cx="0" cy="0"/>
        </a:xfrm>
      </p:grpSpPr>
      <p:sp>
        <p:nvSpPr>
          <p:cNvPr id="1673" name="Google Shape;1673;p27:notes">
            <a:extLst>
              <a:ext uri="{FF2B5EF4-FFF2-40B4-BE49-F238E27FC236}">
                <a16:creationId xmlns:a16="http://schemas.microsoft.com/office/drawing/2014/main" id="{8906E1CF-B8E7-1257-7B87-F3CB1704F9C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27:notes">
            <a:extLst>
              <a:ext uri="{FF2B5EF4-FFF2-40B4-BE49-F238E27FC236}">
                <a16:creationId xmlns:a16="http://schemas.microsoft.com/office/drawing/2014/main" id="{EB28F0BB-7BB0-6F1A-25EE-36ED5ED3D39D}"/>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1985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52</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8064766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F3593-78E2-1390-3DFB-E743CB863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B76EC-3C75-CC63-5846-DDAB3B752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078EF-1EDF-A43B-4706-5AB41084BC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AFF4DF-A036-488F-BA47-95B94B68C63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entury Gothic"/>
                <a:ea typeface="Century Gothic"/>
                <a:cs typeface="Century Gothic"/>
                <a:sym typeface="Century Gothic"/>
              </a:rPr>
              <a:t>53</a:t>
            </a:fld>
            <a:endParaRPr lang="en-US" sz="1200" b="0" i="0" u="none" strike="noStrike" cap="none">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4726440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6"/>
        <p:cNvGrpSpPr/>
        <p:nvPr/>
      </p:nvGrpSpPr>
      <p:grpSpPr>
        <a:xfrm>
          <a:off x="0" y="0"/>
          <a:ext cx="0" cy="0"/>
          <a:chOff x="0" y="0"/>
          <a:chExt cx="0" cy="0"/>
        </a:xfrm>
      </p:grpSpPr>
      <p:sp>
        <p:nvSpPr>
          <p:cNvPr id="1847" name="Google Shape;1847;gb08052c3c1_0_2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8" name="Google Shape;1848;gb08052c3c1_0_26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4" name="Google Shape;1854;p2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grpSp>
        <p:nvGrpSpPr>
          <p:cNvPr id="16" name="Google Shape;16;p2"/>
          <p:cNvGrpSpPr/>
          <p:nvPr/>
        </p:nvGrpSpPr>
        <p:grpSpPr>
          <a:xfrm>
            <a:off x="1584896" y="4724400"/>
            <a:ext cx="8631936" cy="64008"/>
            <a:chOff x="-4110038" y="2703513"/>
            <a:chExt cx="17394239" cy="160336"/>
          </a:xfrm>
        </p:grpSpPr>
        <p:sp>
          <p:nvSpPr>
            <p:cNvPr id="17" name="Google Shape;17;p2"/>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 name="Google Shape;18;p2"/>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 name="Google Shape;19;p2"/>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 name="Google Shape;20;p2"/>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 name="Google Shape;21;p2"/>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 name="Google Shape;22;p2"/>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 name="Google Shape;23;p2"/>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 name="Google Shape;24;p2"/>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 name="Google Shape;26;p2"/>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 name="Google Shape;27;p2"/>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 name="Google Shape;28;p2"/>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 name="Google Shape;29;p2"/>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 name="Google Shape;30;p2"/>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 name="Google Shape;31;p2"/>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 name="Google Shape;32;p2"/>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 name="Google Shape;33;p2"/>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 name="Google Shape;34;p2"/>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 name="Google Shape;35;p2"/>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 name="Google Shape;36;p2"/>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 name="Google Shape;37;p2"/>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 name="Google Shape;38;p2"/>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 name="Google Shape;39;p2"/>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 name="Google Shape;40;p2"/>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 name="Google Shape;41;p2"/>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 name="Google Shape;42;p2"/>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3" name="Google Shape;43;p2"/>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 name="Google Shape;44;p2"/>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 name="Google Shape;45;p2"/>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 name="Google Shape;46;p2"/>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 name="Google Shape;47;p2"/>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 name="Google Shape;48;p2"/>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 name="Google Shape;49;p2"/>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 name="Google Shape;50;p2"/>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 name="Google Shape;51;p2"/>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 name="Google Shape;52;p2"/>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 name="Google Shape;53;p2"/>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 name="Google Shape;54;p2"/>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 name="Google Shape;55;p2"/>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 name="Google Shape;56;p2"/>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 name="Google Shape;57;p2"/>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 name="Google Shape;58;p2"/>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 name="Google Shape;59;p2"/>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 name="Google Shape;60;p2"/>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 name="Google Shape;61;p2"/>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 name="Google Shape;62;p2"/>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 name="Google Shape;63;p2"/>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 name="Google Shape;64;p2"/>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 name="Google Shape;65;p2"/>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 name="Google Shape;66;p2"/>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 name="Google Shape;67;p2"/>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 name="Google Shape;68;p2"/>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 name="Google Shape;69;p2"/>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 name="Google Shape;70;p2"/>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 name="Google Shape;71;p2"/>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 name="Google Shape;72;p2"/>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 name="Google Shape;73;p2"/>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 name="Google Shape;74;p2"/>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 name="Google Shape;75;p2"/>
            <p:cNvSpPr/>
            <p:nvPr/>
          </p:nvSpPr>
          <p:spPr>
            <a:xfrm>
              <a:off x="-4110038" y="2703513"/>
              <a:ext cx="16486189"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 name="Google Shape;76;p2"/>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 name="Google Shape;77;p2"/>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 name="Google Shape;78;p2"/>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 name="Google Shape;79;p2"/>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 name="Google Shape;80;p2"/>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 name="Google Shape;81;p2"/>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 name="Google Shape;82;p2"/>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 name="Google Shape;83;p2"/>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 name="Google Shape;84;p2"/>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 name="Google Shape;85;p2"/>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 name="Google Shape;86;p2"/>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 name="Google Shape;87;p2"/>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 name="Google Shape;88;p2"/>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 name="Google Shape;89;p2"/>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 name="Google Shape;90;p2"/>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 name="Google Shape;91;p2"/>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 name="Google Shape;92;p2"/>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 name="Google Shape;93;p2"/>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 name="Google Shape;94;p2"/>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 name="Google Shape;95;p2"/>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 name="Google Shape;96;p2"/>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 name="Google Shape;97;p2"/>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 name="Google Shape;98;p2"/>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 name="Google Shape;99;p2"/>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 name="Google Shape;100;p2"/>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 name="Google Shape;101;p2"/>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 name="Google Shape;102;p2"/>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 name="Google Shape;103;p2"/>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 name="Google Shape;104;p2"/>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 name="Google Shape;105;p2"/>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 name="Google Shape;106;p2"/>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 name="Google Shape;107;p2"/>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 name="Google Shape;108;p2"/>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 name="Google Shape;109;p2"/>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 name="Google Shape;110;p2"/>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 name="Google Shape;111;p2"/>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 name="Google Shape;112;p2"/>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 name="Google Shape;113;p2"/>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 name="Google Shape;114;p2"/>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 name="Google Shape;115;p2"/>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 name="Google Shape;116;p2"/>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 name="Google Shape;117;p2"/>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 name="Google Shape;118;p2"/>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 name="Google Shape;119;p2"/>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 name="Google Shape;120;p2"/>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 name="Google Shape;121;p2"/>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 name="Google Shape;122;p2"/>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 name="Google Shape;123;p2"/>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 name="Google Shape;124;p2"/>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 name="Google Shape;125;p2"/>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 name="Google Shape;126;p2"/>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 name="Google Shape;127;p2"/>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 name="Google Shape;128;p2"/>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 name="Google Shape;129;p2"/>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 name="Google Shape;130;p2"/>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 name="Google Shape;131;p2"/>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 name="Google Shape;132;p2"/>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 name="Google Shape;133;p2"/>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 name="Google Shape;134;p2"/>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 name="Google Shape;135;p2"/>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 name="Google Shape;136;p2"/>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 name="Google Shape;137;p2"/>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8" name="Google Shape;138;p2"/>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9" name="Google Shape;139;p2"/>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40" name="Google Shape;140;p2"/>
          <p:cNvSpPr txBox="1">
            <a:spLocks noGrp="1"/>
          </p:cNvSpPr>
          <p:nvPr>
            <p:ph type="subTitle" idx="1"/>
          </p:nvPr>
        </p:nvSpPr>
        <p:spPr>
          <a:xfrm>
            <a:off x="1522413" y="5105400"/>
            <a:ext cx="9143999" cy="1066800"/>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SzPts val="1920"/>
              <a:buNone/>
              <a:defRPr>
                <a:solidFill>
                  <a:schemeClr val="lt1"/>
                </a:solidFill>
              </a:defRPr>
            </a:lvl1pPr>
            <a:lvl2pPr lvl="1" algn="ctr">
              <a:lnSpc>
                <a:spcPct val="90000"/>
              </a:lnSpc>
              <a:spcBef>
                <a:spcPts val="600"/>
              </a:spcBef>
              <a:spcAft>
                <a:spcPts val="0"/>
              </a:spcAft>
              <a:buSzPts val="2000"/>
              <a:buNone/>
              <a:defRPr>
                <a:solidFill>
                  <a:srgbClr val="888888"/>
                </a:solidFill>
              </a:defRPr>
            </a:lvl2pPr>
            <a:lvl3pPr lvl="2" algn="ctr">
              <a:lnSpc>
                <a:spcPct val="90000"/>
              </a:lnSpc>
              <a:spcBef>
                <a:spcPts val="600"/>
              </a:spcBef>
              <a:spcAft>
                <a:spcPts val="0"/>
              </a:spcAft>
              <a:buSzPts val="1440"/>
              <a:buNone/>
              <a:defRPr>
                <a:solidFill>
                  <a:srgbClr val="888888"/>
                </a:solidFill>
              </a:defRPr>
            </a:lvl3pPr>
            <a:lvl4pPr lvl="3" algn="ctr">
              <a:lnSpc>
                <a:spcPct val="90000"/>
              </a:lnSpc>
              <a:spcBef>
                <a:spcPts val="600"/>
              </a:spcBef>
              <a:spcAft>
                <a:spcPts val="0"/>
              </a:spcAft>
              <a:buSzPts val="1600"/>
              <a:buNone/>
              <a:defRPr>
                <a:solidFill>
                  <a:srgbClr val="888888"/>
                </a:solidFill>
              </a:defRPr>
            </a:lvl4pPr>
            <a:lvl5pPr lvl="4" algn="ctr">
              <a:lnSpc>
                <a:spcPct val="90000"/>
              </a:lnSpc>
              <a:spcBef>
                <a:spcPts val="600"/>
              </a:spcBef>
              <a:spcAft>
                <a:spcPts val="0"/>
              </a:spcAft>
              <a:buSzPts val="1600"/>
              <a:buNone/>
              <a:defRPr>
                <a:solidFill>
                  <a:srgbClr val="888888"/>
                </a:solidFill>
              </a:defRPr>
            </a:lvl5pPr>
            <a:lvl6pPr lvl="5" algn="ctr">
              <a:lnSpc>
                <a:spcPct val="90000"/>
              </a:lnSpc>
              <a:spcBef>
                <a:spcPts val="600"/>
              </a:spcBef>
              <a:spcAft>
                <a:spcPts val="0"/>
              </a:spcAft>
              <a:buSzPts val="1600"/>
              <a:buNone/>
              <a:defRPr>
                <a:solidFill>
                  <a:srgbClr val="888888"/>
                </a:solidFill>
              </a:defRPr>
            </a:lvl6pPr>
            <a:lvl7pPr lvl="6" algn="ctr">
              <a:lnSpc>
                <a:spcPct val="90000"/>
              </a:lnSpc>
              <a:spcBef>
                <a:spcPts val="600"/>
              </a:spcBef>
              <a:spcAft>
                <a:spcPts val="0"/>
              </a:spcAft>
              <a:buSzPts val="1280"/>
              <a:buNone/>
              <a:defRPr>
                <a:solidFill>
                  <a:srgbClr val="888888"/>
                </a:solidFill>
              </a:defRPr>
            </a:lvl7pPr>
            <a:lvl8pPr lvl="7" algn="ctr">
              <a:lnSpc>
                <a:spcPct val="90000"/>
              </a:lnSpc>
              <a:spcBef>
                <a:spcPts val="600"/>
              </a:spcBef>
              <a:spcAft>
                <a:spcPts val="0"/>
              </a:spcAft>
              <a:buSzPts val="1600"/>
              <a:buNone/>
              <a:defRPr>
                <a:solidFill>
                  <a:srgbClr val="888888"/>
                </a:solidFill>
              </a:defRPr>
            </a:lvl8pPr>
            <a:lvl9pPr lvl="8" algn="ctr">
              <a:lnSpc>
                <a:spcPct val="90000"/>
              </a:lnSpc>
              <a:spcBef>
                <a:spcPts val="600"/>
              </a:spcBef>
              <a:spcAft>
                <a:spcPts val="0"/>
              </a:spcAft>
              <a:buSzPts val="1280"/>
              <a:buNone/>
              <a:defRPr>
                <a:solidFill>
                  <a:srgbClr val="888888"/>
                </a:solidFill>
              </a:defRPr>
            </a:lvl9pPr>
          </a:lstStyle>
          <a:p>
            <a:endParaRPr/>
          </a:p>
        </p:txBody>
      </p:sp>
      <p:sp>
        <p:nvSpPr>
          <p:cNvPr id="141" name="Google Shape;141;p2"/>
          <p:cNvSpPr txBox="1">
            <a:spLocks noGrp="1"/>
          </p:cNvSpPr>
          <p:nvPr>
            <p:ph type="ctr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entury Gothic"/>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2"/>
        <p:cNvGrpSpPr/>
        <p:nvPr/>
      </p:nvGrpSpPr>
      <p:grpSpPr>
        <a:xfrm>
          <a:off x="0" y="0"/>
          <a:ext cx="0" cy="0"/>
          <a:chOff x="0" y="0"/>
          <a:chExt cx="0" cy="0"/>
        </a:xfrm>
      </p:grpSpPr>
      <p:grpSp>
        <p:nvGrpSpPr>
          <p:cNvPr id="143" name="Google Shape;143;p3"/>
          <p:cNvGrpSpPr/>
          <p:nvPr/>
        </p:nvGrpSpPr>
        <p:grpSpPr>
          <a:xfrm>
            <a:off x="1522413" y="1514475"/>
            <a:ext cx="10569575" cy="64008"/>
            <a:chOff x="1522413" y="1514475"/>
            <a:chExt cx="10569575" cy="64008"/>
          </a:xfrm>
        </p:grpSpPr>
        <p:sp>
          <p:nvSpPr>
            <p:cNvPr id="144" name="Google Shape;144;p3"/>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5" name="Google Shape;145;p3"/>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6" name="Google Shape;146;p3"/>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7" name="Google Shape;147;p3"/>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8" name="Google Shape;148;p3"/>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9" name="Google Shape;149;p3"/>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0" name="Google Shape;150;p3"/>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1" name="Google Shape;151;p3"/>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2" name="Google Shape;152;p3"/>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3" name="Google Shape;153;p3"/>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4" name="Google Shape;154;p3"/>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5" name="Google Shape;155;p3"/>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6" name="Google Shape;156;p3"/>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7" name="Google Shape;157;p3"/>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8" name="Google Shape;158;p3"/>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9" name="Google Shape;159;p3"/>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0" name="Google Shape;160;p3"/>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1" name="Google Shape;161;p3"/>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2" name="Google Shape;162;p3"/>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3" name="Google Shape;163;p3"/>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4" name="Google Shape;164;p3"/>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5" name="Google Shape;165;p3"/>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6" name="Google Shape;166;p3"/>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7" name="Google Shape;167;p3"/>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8" name="Google Shape;168;p3"/>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9" name="Google Shape;169;p3"/>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0" name="Google Shape;170;p3"/>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1" name="Google Shape;171;p3"/>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2" name="Google Shape;172;p3"/>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3" name="Google Shape;173;p3"/>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4" name="Google Shape;174;p3"/>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5" name="Google Shape;175;p3"/>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6" name="Google Shape;176;p3"/>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7" name="Google Shape;177;p3"/>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8" name="Google Shape;178;p3"/>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9" name="Google Shape;179;p3"/>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0" name="Google Shape;180;p3"/>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1" name="Google Shape;181;p3"/>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2" name="Google Shape;182;p3"/>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3" name="Google Shape;183;p3"/>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4" name="Google Shape;184;p3"/>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5" name="Google Shape;185;p3"/>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6" name="Google Shape;186;p3"/>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7" name="Google Shape;187;p3"/>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8" name="Google Shape;188;p3"/>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9" name="Google Shape;189;p3"/>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0" name="Google Shape;190;p3"/>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1" name="Google Shape;191;p3"/>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2" name="Google Shape;192;p3"/>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3" name="Google Shape;193;p3"/>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4" name="Google Shape;194;p3"/>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5" name="Google Shape;195;p3"/>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6" name="Google Shape;196;p3"/>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7" name="Google Shape;197;p3"/>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8" name="Google Shape;198;p3"/>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99" name="Google Shape;199;p3"/>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0" name="Google Shape;200;p3"/>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1" name="Google Shape;201;p3"/>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2" name="Google Shape;202;p3"/>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3" name="Google Shape;203;p3"/>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4" name="Google Shape;204;p3"/>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5" name="Google Shape;205;p3"/>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6" name="Google Shape;206;p3"/>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7" name="Google Shape;207;p3"/>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8" name="Google Shape;208;p3"/>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09" name="Google Shape;209;p3"/>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0" name="Google Shape;210;p3"/>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1" name="Google Shape;211;p3"/>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2" name="Google Shape;212;p3"/>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3" name="Google Shape;213;p3"/>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4" name="Google Shape;214;p3"/>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5" name="Google Shape;215;p3"/>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6" name="Google Shape;216;p3"/>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7" name="Google Shape;217;p3"/>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218" name="Google Shape;218;p3"/>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3"/>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3"/>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1" name="Google Shape;221;p3"/>
          <p:cNvSpPr txBox="1">
            <a:spLocks noGrp="1"/>
          </p:cNvSpPr>
          <p:nvPr>
            <p:ph type="body" idx="1"/>
          </p:nvPr>
        </p:nvSpPr>
        <p:spPr>
          <a:xfrm>
            <a:off x="6246815" y="1905000"/>
            <a:ext cx="4419598" cy="4267200"/>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222" name="Google Shape;222;p3"/>
          <p:cNvSpPr txBox="1">
            <a:spLocks noGrp="1"/>
          </p:cNvSpPr>
          <p:nvPr>
            <p:ph type="body" idx="2"/>
          </p:nvPr>
        </p:nvSpPr>
        <p:spPr>
          <a:xfrm>
            <a:off x="1522413" y="1905000"/>
            <a:ext cx="4419599" cy="4267200"/>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223" name="Google Shape;223;p3"/>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4"/>
        <p:cNvGrpSpPr/>
        <p:nvPr/>
      </p:nvGrpSpPr>
      <p:grpSpPr>
        <a:xfrm>
          <a:off x="0" y="0"/>
          <a:ext cx="0" cy="0"/>
          <a:chOff x="0" y="0"/>
          <a:chExt cx="0" cy="0"/>
        </a:xfrm>
      </p:grpSpPr>
      <p:grpSp>
        <p:nvGrpSpPr>
          <p:cNvPr id="225" name="Google Shape;225;p4"/>
          <p:cNvGrpSpPr/>
          <p:nvPr/>
        </p:nvGrpSpPr>
        <p:grpSpPr>
          <a:xfrm>
            <a:off x="1584896" y="4724400"/>
            <a:ext cx="8631936" cy="64008"/>
            <a:chOff x="-4110038" y="2703513"/>
            <a:chExt cx="17394239" cy="160336"/>
          </a:xfrm>
        </p:grpSpPr>
        <p:sp>
          <p:nvSpPr>
            <p:cNvPr id="226" name="Google Shape;226;p4"/>
            <p:cNvSpPr/>
            <p:nvPr/>
          </p:nvSpPr>
          <p:spPr>
            <a:xfrm>
              <a:off x="12815888" y="2768600"/>
              <a:ext cx="468313" cy="19050"/>
            </a:xfrm>
            <a:custGeom>
              <a:avLst/>
              <a:gdLst/>
              <a:ahLst/>
              <a:cxnLst/>
              <a:rect l="l" t="t" r="r" b="b"/>
              <a:pathLst>
                <a:path w="244" h="8" extrusionOk="0">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7" name="Google Shape;227;p4"/>
            <p:cNvSpPr/>
            <p:nvPr/>
          </p:nvSpPr>
          <p:spPr>
            <a:xfrm>
              <a:off x="12380913" y="2755900"/>
              <a:ext cx="461963" cy="26987"/>
            </a:xfrm>
            <a:custGeom>
              <a:avLst/>
              <a:gdLst/>
              <a:ahLst/>
              <a:cxnLst/>
              <a:rect l="l" t="t" r="r" b="b"/>
              <a:pathLst>
                <a:path w="241" h="12" extrusionOk="0">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8" name="Google Shape;228;p4"/>
            <p:cNvSpPr/>
            <p:nvPr/>
          </p:nvSpPr>
          <p:spPr>
            <a:xfrm>
              <a:off x="12814300" y="2779713"/>
              <a:ext cx="1588" cy="0"/>
            </a:xfrm>
            <a:custGeom>
              <a:avLst/>
              <a:gdLst/>
              <a:ahLst/>
              <a:cxnLst/>
              <a:rect l="l" t="t" r="r" b="b"/>
              <a:pathLst>
                <a:path w="1" h="120000" extrusionOk="0">
                  <a:moveTo>
                    <a:pt x="0" y="0"/>
                  </a:moveTo>
                  <a:lnTo>
                    <a:pt x="0" y="0"/>
                  </a:lnTo>
                  <a:lnTo>
                    <a:pt x="1"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9" name="Google Shape;229;p4"/>
            <p:cNvSpPr/>
            <p:nvPr/>
          </p:nvSpPr>
          <p:spPr>
            <a:xfrm>
              <a:off x="2738437" y="2795588"/>
              <a:ext cx="425450" cy="15875"/>
            </a:xfrm>
            <a:custGeom>
              <a:avLst/>
              <a:gdLst/>
              <a:ahLst/>
              <a:cxnLst/>
              <a:rect l="l" t="t" r="r" b="b"/>
              <a:pathLst>
                <a:path w="222" h="7" extrusionOk="0">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0" name="Google Shape;230;p4"/>
            <p:cNvSpPr/>
            <p:nvPr/>
          </p:nvSpPr>
          <p:spPr>
            <a:xfrm>
              <a:off x="-3646488" y="2800350"/>
              <a:ext cx="46038" cy="3175"/>
            </a:xfrm>
            <a:custGeom>
              <a:avLst/>
              <a:gdLst/>
              <a:ahLst/>
              <a:cxnLst/>
              <a:rect l="l" t="t" r="r" b="b"/>
              <a:pathLst>
                <a:path w="24" h="1" extrusionOk="0">
                  <a:moveTo>
                    <a:pt x="0" y="1"/>
                  </a:moveTo>
                  <a:lnTo>
                    <a:pt x="0" y="1"/>
                  </a:lnTo>
                  <a:cubicBezTo>
                    <a:pt x="21" y="0"/>
                    <a:pt x="24" y="0"/>
                    <a:pt x="21" y="0"/>
                  </a:cubicBez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1" name="Google Shape;231;p4"/>
            <p:cNvSpPr/>
            <p:nvPr/>
          </p:nvSpPr>
          <p:spPr>
            <a:xfrm>
              <a:off x="2627312" y="2816225"/>
              <a:ext cx="63500" cy="4762"/>
            </a:xfrm>
            <a:custGeom>
              <a:avLst/>
              <a:gdLst/>
              <a:ahLst/>
              <a:cxnLst/>
              <a:rect l="l" t="t" r="r" b="b"/>
              <a:pathLst>
                <a:path w="33" h="2" extrusionOk="0">
                  <a:moveTo>
                    <a:pt x="33" y="0"/>
                  </a:moveTo>
                  <a:lnTo>
                    <a:pt x="33" y="0"/>
                  </a:lnTo>
                  <a:lnTo>
                    <a:pt x="0" y="2"/>
                  </a:lnTo>
                  <a:cubicBezTo>
                    <a:pt x="14" y="1"/>
                    <a:pt x="25" y="1"/>
                    <a:pt x="3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2" name="Google Shape;232;p4"/>
            <p:cNvSpPr/>
            <p:nvPr/>
          </p:nvSpPr>
          <p:spPr>
            <a:xfrm>
              <a:off x="3103562" y="2741613"/>
              <a:ext cx="28575" cy="3175"/>
            </a:xfrm>
            <a:custGeom>
              <a:avLst/>
              <a:gdLst/>
              <a:ahLst/>
              <a:cxnLst/>
              <a:rect l="l" t="t" r="r" b="b"/>
              <a:pathLst>
                <a:path w="15" h="1" extrusionOk="0">
                  <a:moveTo>
                    <a:pt x="15" y="0"/>
                  </a:moveTo>
                  <a:lnTo>
                    <a:pt x="15" y="0"/>
                  </a:lnTo>
                  <a:cubicBezTo>
                    <a:pt x="15" y="0"/>
                    <a:pt x="15" y="0"/>
                    <a:pt x="15" y="0"/>
                  </a:cubicBezTo>
                  <a:lnTo>
                    <a:pt x="0" y="1"/>
                  </a:lnTo>
                  <a:lnTo>
                    <a:pt x="0" y="1"/>
                  </a:lnTo>
                  <a:lnTo>
                    <a:pt x="1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3" name="Google Shape;233;p4"/>
            <p:cNvSpPr/>
            <p:nvPr/>
          </p:nvSpPr>
          <p:spPr>
            <a:xfrm>
              <a:off x="1227137" y="2836863"/>
              <a:ext cx="20638" cy="0"/>
            </a:xfrm>
            <a:custGeom>
              <a:avLst/>
              <a:gdLst/>
              <a:ahLst/>
              <a:cxnLst/>
              <a:rect l="l" t="t" r="r" b="b"/>
              <a:pathLst>
                <a:path w="11" h="120000" extrusionOk="0">
                  <a:moveTo>
                    <a:pt x="11" y="0"/>
                  </a:moveTo>
                  <a:lnTo>
                    <a:pt x="11" y="0"/>
                  </a:ln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4" name="Google Shape;234;p4"/>
            <p:cNvSpPr/>
            <p:nvPr/>
          </p:nvSpPr>
          <p:spPr>
            <a:xfrm>
              <a:off x="3660775" y="2713038"/>
              <a:ext cx="331788" cy="20637"/>
            </a:xfrm>
            <a:custGeom>
              <a:avLst/>
              <a:gdLst/>
              <a:ahLst/>
              <a:cxnLst/>
              <a:rect l="l" t="t" r="r" b="b"/>
              <a:pathLst>
                <a:path w="173" h="9" extrusionOk="0">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5" name="Google Shape;235;p4"/>
            <p:cNvSpPr/>
            <p:nvPr/>
          </p:nvSpPr>
          <p:spPr>
            <a:xfrm>
              <a:off x="-1674813" y="2768600"/>
              <a:ext cx="1588" cy="0"/>
            </a:xfrm>
            <a:custGeom>
              <a:avLst/>
              <a:gdLst/>
              <a:ahLst/>
              <a:cxnLst/>
              <a:rect l="l" t="t" r="r" b="b"/>
              <a:pathLst>
                <a:path w="1" h="120000" extrusionOk="0">
                  <a:moveTo>
                    <a:pt x="0" y="0"/>
                  </a:moveTo>
                  <a:lnTo>
                    <a:pt x="0" y="0"/>
                  </a:lnTo>
                  <a:lnTo>
                    <a:pt x="1"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6" name="Google Shape;236;p4"/>
            <p:cNvSpPr/>
            <p:nvPr/>
          </p:nvSpPr>
          <p:spPr>
            <a:xfrm>
              <a:off x="-1673225" y="2767013"/>
              <a:ext cx="36513" cy="1587"/>
            </a:xfrm>
            <a:custGeom>
              <a:avLst/>
              <a:gdLst/>
              <a:ahLst/>
              <a:cxnLst/>
              <a:rect l="l" t="t" r="r" b="b"/>
              <a:pathLst>
                <a:path w="19" h="1" extrusionOk="0">
                  <a:moveTo>
                    <a:pt x="3" y="0"/>
                  </a:moveTo>
                  <a:lnTo>
                    <a:pt x="3" y="0"/>
                  </a:lnTo>
                  <a:lnTo>
                    <a:pt x="0" y="1"/>
                  </a:lnTo>
                  <a:cubicBezTo>
                    <a:pt x="4" y="0"/>
                    <a:pt x="19"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7" name="Google Shape;237;p4"/>
            <p:cNvSpPr/>
            <p:nvPr/>
          </p:nvSpPr>
          <p:spPr>
            <a:xfrm>
              <a:off x="2690812" y="2811463"/>
              <a:ext cx="47625" cy="4762"/>
            </a:xfrm>
            <a:custGeom>
              <a:avLst/>
              <a:gdLst/>
              <a:ahLst/>
              <a:cxnLst/>
              <a:rect l="l" t="t" r="r" b="b"/>
              <a:pathLst>
                <a:path w="25" h="2" extrusionOk="0">
                  <a:moveTo>
                    <a:pt x="13" y="0"/>
                  </a:moveTo>
                  <a:lnTo>
                    <a:pt x="13" y="0"/>
                  </a:lnTo>
                  <a:cubicBezTo>
                    <a:pt x="12" y="0"/>
                    <a:pt x="7" y="1"/>
                    <a:pt x="0" y="2"/>
                  </a:cubicBezTo>
                  <a:lnTo>
                    <a:pt x="25"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8" name="Google Shape;238;p4"/>
            <p:cNvSpPr/>
            <p:nvPr/>
          </p:nvSpPr>
          <p:spPr>
            <a:xfrm>
              <a:off x="2822575" y="2794000"/>
              <a:ext cx="163513" cy="4762"/>
            </a:xfrm>
            <a:custGeom>
              <a:avLst/>
              <a:gdLst/>
              <a:ahLst/>
              <a:cxnLst/>
              <a:rect l="l" t="t" r="r" b="b"/>
              <a:pathLst>
                <a:path w="85" h="2" extrusionOk="0">
                  <a:moveTo>
                    <a:pt x="0" y="2"/>
                  </a:moveTo>
                  <a:lnTo>
                    <a:pt x="0" y="2"/>
                  </a:lnTo>
                  <a:lnTo>
                    <a:pt x="62" y="1"/>
                  </a:lnTo>
                  <a:lnTo>
                    <a:pt x="8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9" name="Google Shape;239;p4"/>
            <p:cNvSpPr/>
            <p:nvPr/>
          </p:nvSpPr>
          <p:spPr>
            <a:xfrm>
              <a:off x="715962" y="2809875"/>
              <a:ext cx="1911350" cy="50800"/>
            </a:xfrm>
            <a:custGeom>
              <a:avLst/>
              <a:gdLst/>
              <a:ahLst/>
              <a:cxnLst/>
              <a:rect l="l" t="t" r="r" b="b"/>
              <a:pathLst>
                <a:path w="996" h="23" extrusionOk="0">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0" name="Google Shape;240;p4"/>
            <p:cNvSpPr/>
            <p:nvPr/>
          </p:nvSpPr>
          <p:spPr>
            <a:xfrm>
              <a:off x="1995487" y="2822575"/>
              <a:ext cx="20638" cy="0"/>
            </a:xfrm>
            <a:custGeom>
              <a:avLst/>
              <a:gdLst/>
              <a:ahLst/>
              <a:cxnLst/>
              <a:rect l="l" t="t" r="r" b="b"/>
              <a:pathLst>
                <a:path w="10" h="120000" extrusionOk="0">
                  <a:moveTo>
                    <a:pt x="10" y="0"/>
                  </a:moveTo>
                  <a:lnTo>
                    <a:pt x="10" y="0"/>
                  </a:lnTo>
                  <a:lnTo>
                    <a:pt x="0" y="0"/>
                  </a:lnTo>
                  <a:cubicBezTo>
                    <a:pt x="1" y="0"/>
                    <a:pt x="4" y="0"/>
                    <a:pt x="1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1" name="Google Shape;241;p4"/>
            <p:cNvSpPr/>
            <p:nvPr/>
          </p:nvSpPr>
          <p:spPr>
            <a:xfrm>
              <a:off x="1630362" y="2830513"/>
              <a:ext cx="22225" cy="0"/>
            </a:xfrm>
            <a:custGeom>
              <a:avLst/>
              <a:gdLst/>
              <a:ahLst/>
              <a:cxnLst/>
              <a:rect l="l" t="t" r="r" b="b"/>
              <a:pathLst>
                <a:path w="12" h="120000" extrusionOk="0">
                  <a:moveTo>
                    <a:pt x="11" y="0"/>
                  </a:moveTo>
                  <a:lnTo>
                    <a:pt x="11" y="0"/>
                  </a:lnTo>
                  <a:cubicBezTo>
                    <a:pt x="12" y="0"/>
                    <a:pt x="11" y="0"/>
                    <a:pt x="12" y="0"/>
                  </a:cubicBezTo>
                  <a:lnTo>
                    <a:pt x="0" y="0"/>
                  </a:lnTo>
                  <a:lnTo>
                    <a:pt x="1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2" name="Google Shape;242;p4"/>
            <p:cNvSpPr/>
            <p:nvPr/>
          </p:nvSpPr>
          <p:spPr>
            <a:xfrm>
              <a:off x="2651125" y="2798763"/>
              <a:ext cx="46038" cy="1587"/>
            </a:xfrm>
            <a:custGeom>
              <a:avLst/>
              <a:gdLst/>
              <a:ahLst/>
              <a:cxnLst/>
              <a:rect l="l" t="t" r="r" b="b"/>
              <a:pathLst>
                <a:path w="24" h="1" extrusionOk="0">
                  <a:moveTo>
                    <a:pt x="3" y="1"/>
                  </a:moveTo>
                  <a:lnTo>
                    <a:pt x="3" y="1"/>
                  </a:lnTo>
                  <a:lnTo>
                    <a:pt x="24" y="0"/>
                  </a:lnTo>
                  <a:lnTo>
                    <a:pt x="8" y="1"/>
                  </a:lnTo>
                  <a:cubicBezTo>
                    <a:pt x="2" y="1"/>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3" name="Google Shape;243;p4"/>
            <p:cNvSpPr/>
            <p:nvPr/>
          </p:nvSpPr>
          <p:spPr>
            <a:xfrm>
              <a:off x="2698750" y="2809875"/>
              <a:ext cx="19050" cy="1587"/>
            </a:xfrm>
            <a:custGeom>
              <a:avLst/>
              <a:gdLst/>
              <a:ahLst/>
              <a:cxnLst/>
              <a:rect l="l" t="t" r="r" b="b"/>
              <a:pathLst>
                <a:path w="10" h="1" extrusionOk="0">
                  <a:moveTo>
                    <a:pt x="4" y="0"/>
                  </a:moveTo>
                  <a:lnTo>
                    <a:pt x="4" y="0"/>
                  </a:lnTo>
                  <a:lnTo>
                    <a:pt x="0" y="1"/>
                  </a:lnTo>
                  <a:lnTo>
                    <a:pt x="9" y="1"/>
                  </a:lnTo>
                  <a:cubicBezTo>
                    <a:pt x="10" y="0"/>
                    <a:pt x="9" y="0"/>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4" name="Google Shape;244;p4"/>
            <p:cNvSpPr/>
            <p:nvPr/>
          </p:nvSpPr>
          <p:spPr>
            <a:xfrm>
              <a:off x="469900" y="2800350"/>
              <a:ext cx="23813" cy="3175"/>
            </a:xfrm>
            <a:custGeom>
              <a:avLst/>
              <a:gdLst/>
              <a:ahLst/>
              <a:cxnLst/>
              <a:rect l="l" t="t" r="r" b="b"/>
              <a:pathLst>
                <a:path w="13" h="1" extrusionOk="0">
                  <a:moveTo>
                    <a:pt x="13" y="0"/>
                  </a:moveTo>
                  <a:lnTo>
                    <a:pt x="13" y="0"/>
                  </a:lnTo>
                  <a:lnTo>
                    <a:pt x="0" y="1"/>
                  </a:lnTo>
                  <a:cubicBezTo>
                    <a:pt x="8" y="1"/>
                    <a:pt x="11" y="1"/>
                    <a:pt x="1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5" name="Google Shape;245;p4"/>
            <p:cNvSpPr/>
            <p:nvPr/>
          </p:nvSpPr>
          <p:spPr>
            <a:xfrm>
              <a:off x="998537" y="2811463"/>
              <a:ext cx="1076325" cy="20637"/>
            </a:xfrm>
            <a:custGeom>
              <a:avLst/>
              <a:gdLst/>
              <a:ahLst/>
              <a:cxnLst/>
              <a:rect l="l" t="t" r="r" b="b"/>
              <a:pathLst>
                <a:path w="561" h="9" extrusionOk="0">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6" name="Google Shape;246;p4"/>
            <p:cNvSpPr/>
            <p:nvPr/>
          </p:nvSpPr>
          <p:spPr>
            <a:xfrm>
              <a:off x="2495550" y="2803525"/>
              <a:ext cx="17463" cy="0"/>
            </a:xfrm>
            <a:custGeom>
              <a:avLst/>
              <a:gdLst/>
              <a:ahLst/>
              <a:cxnLst/>
              <a:rect l="l" t="t" r="r" b="b"/>
              <a:pathLst>
                <a:path w="9" h="120000" extrusionOk="0">
                  <a:moveTo>
                    <a:pt x="9" y="0"/>
                  </a:moveTo>
                  <a:lnTo>
                    <a:pt x="9" y="0"/>
                  </a:lnTo>
                  <a:lnTo>
                    <a:pt x="0" y="0"/>
                  </a:lnTo>
                  <a:lnTo>
                    <a:pt x="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7" name="Google Shape;247;p4"/>
            <p:cNvSpPr/>
            <p:nvPr/>
          </p:nvSpPr>
          <p:spPr>
            <a:xfrm>
              <a:off x="2538412" y="2816225"/>
              <a:ext cx="1057275" cy="31750"/>
            </a:xfrm>
            <a:custGeom>
              <a:avLst/>
              <a:gdLst/>
              <a:ahLst/>
              <a:cxnLst/>
              <a:rect l="l" t="t" r="r" b="b"/>
              <a:pathLst>
                <a:path w="551" h="14" extrusionOk="0">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8" name="Google Shape;248;p4"/>
            <p:cNvSpPr/>
            <p:nvPr/>
          </p:nvSpPr>
          <p:spPr>
            <a:xfrm>
              <a:off x="11777663" y="2757488"/>
              <a:ext cx="19050" cy="3175"/>
            </a:xfrm>
            <a:custGeom>
              <a:avLst/>
              <a:gdLst/>
              <a:ahLst/>
              <a:cxnLst/>
              <a:rect l="l" t="t" r="r" b="b"/>
              <a:pathLst>
                <a:path w="10" h="1" extrusionOk="0">
                  <a:moveTo>
                    <a:pt x="0" y="0"/>
                  </a:moveTo>
                  <a:lnTo>
                    <a:pt x="0" y="0"/>
                  </a:lnTo>
                  <a:lnTo>
                    <a:pt x="10" y="1"/>
                  </a:lnTo>
                  <a:cubicBezTo>
                    <a:pt x="8" y="1"/>
                    <a:pt x="4"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9" name="Google Shape;249;p4"/>
            <p:cNvSpPr/>
            <p:nvPr/>
          </p:nvSpPr>
          <p:spPr>
            <a:xfrm>
              <a:off x="5983288" y="2741613"/>
              <a:ext cx="38100" cy="0"/>
            </a:xfrm>
            <a:custGeom>
              <a:avLst/>
              <a:gdLst/>
              <a:ahLst/>
              <a:cxnLst/>
              <a:rect l="l" t="t" r="r" b="b"/>
              <a:pathLst>
                <a:path w="20" h="120000" extrusionOk="0">
                  <a:moveTo>
                    <a:pt x="0" y="0"/>
                  </a:moveTo>
                  <a:lnTo>
                    <a:pt x="0" y="0"/>
                  </a:lnTo>
                  <a:lnTo>
                    <a:pt x="20"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0" name="Google Shape;250;p4"/>
            <p:cNvSpPr/>
            <p:nvPr/>
          </p:nvSpPr>
          <p:spPr>
            <a:xfrm>
              <a:off x="6832600" y="2713038"/>
              <a:ext cx="53975" cy="1587"/>
            </a:xfrm>
            <a:custGeom>
              <a:avLst/>
              <a:gdLst/>
              <a:ahLst/>
              <a:cxnLst/>
              <a:rect l="l" t="t" r="r" b="b"/>
              <a:pathLst>
                <a:path w="28" h="1" extrusionOk="0">
                  <a:moveTo>
                    <a:pt x="0" y="1"/>
                  </a:moveTo>
                  <a:lnTo>
                    <a:pt x="0" y="1"/>
                  </a:lnTo>
                  <a:lnTo>
                    <a:pt x="28" y="0"/>
                  </a:lnTo>
                  <a:cubicBezTo>
                    <a:pt x="17" y="0"/>
                    <a:pt x="8"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1" name="Google Shape;251;p4"/>
            <p:cNvSpPr/>
            <p:nvPr/>
          </p:nvSpPr>
          <p:spPr>
            <a:xfrm>
              <a:off x="11317288" y="2755900"/>
              <a:ext cx="9525" cy="0"/>
            </a:xfrm>
            <a:custGeom>
              <a:avLst/>
              <a:gdLst/>
              <a:ahLst/>
              <a:cxnLst/>
              <a:rect l="l" t="t" r="r" b="b"/>
              <a:pathLst>
                <a:path w="5" h="120000" extrusionOk="0">
                  <a:moveTo>
                    <a:pt x="5" y="0"/>
                  </a:moveTo>
                  <a:lnTo>
                    <a:pt x="5" y="0"/>
                  </a:lnTo>
                  <a:lnTo>
                    <a:pt x="4" y="0"/>
                  </a:lnTo>
                  <a:lnTo>
                    <a:pt x="0" y="0"/>
                  </a:lnTo>
                  <a:lnTo>
                    <a:pt x="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2" name="Google Shape;252;p4"/>
            <p:cNvSpPr/>
            <p:nvPr/>
          </p:nvSpPr>
          <p:spPr>
            <a:xfrm>
              <a:off x="8534400" y="2735263"/>
              <a:ext cx="30163" cy="0"/>
            </a:xfrm>
            <a:custGeom>
              <a:avLst/>
              <a:gdLst/>
              <a:ahLst/>
              <a:cxnLst/>
              <a:rect l="l" t="t" r="r" b="b"/>
              <a:pathLst>
                <a:path w="16" h="120000" extrusionOk="0">
                  <a:moveTo>
                    <a:pt x="0" y="0"/>
                  </a:moveTo>
                  <a:lnTo>
                    <a:pt x="0" y="0"/>
                  </a:lnTo>
                  <a:cubicBezTo>
                    <a:pt x="4" y="0"/>
                    <a:pt x="9" y="0"/>
                    <a:pt x="16" y="0"/>
                  </a:cubicBezTo>
                  <a:cubicBezTo>
                    <a:pt x="15" y="0"/>
                    <a:pt x="9"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3" name="Google Shape;253;p4"/>
            <p:cNvSpPr/>
            <p:nvPr/>
          </p:nvSpPr>
          <p:spPr>
            <a:xfrm>
              <a:off x="6821488" y="2714625"/>
              <a:ext cx="9525" cy="0"/>
            </a:xfrm>
            <a:custGeom>
              <a:avLst/>
              <a:gdLst/>
              <a:ahLst/>
              <a:cxnLst/>
              <a:rect l="l" t="t" r="r" b="b"/>
              <a:pathLst>
                <a:path w="5" h="120000" extrusionOk="0">
                  <a:moveTo>
                    <a:pt x="0" y="0"/>
                  </a:moveTo>
                  <a:lnTo>
                    <a:pt x="0" y="0"/>
                  </a:lnTo>
                  <a:lnTo>
                    <a:pt x="2"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4" name="Google Shape;254;p4"/>
            <p:cNvSpPr/>
            <p:nvPr/>
          </p:nvSpPr>
          <p:spPr>
            <a:xfrm>
              <a:off x="5583238" y="2719388"/>
              <a:ext cx="25400" cy="0"/>
            </a:xfrm>
            <a:custGeom>
              <a:avLst/>
              <a:gdLst/>
              <a:ahLst/>
              <a:cxnLst/>
              <a:rect l="l" t="t" r="r" b="b"/>
              <a:pathLst>
                <a:path w="13" h="120000" extrusionOk="0">
                  <a:moveTo>
                    <a:pt x="13" y="0"/>
                  </a:moveTo>
                  <a:lnTo>
                    <a:pt x="13" y="0"/>
                  </a:lnTo>
                  <a:lnTo>
                    <a:pt x="0" y="0"/>
                  </a:lnTo>
                  <a:lnTo>
                    <a:pt x="1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5" name="Google Shape;255;p4"/>
            <p:cNvSpPr/>
            <p:nvPr/>
          </p:nvSpPr>
          <p:spPr>
            <a:xfrm>
              <a:off x="5638800" y="2740025"/>
              <a:ext cx="23813" cy="1587"/>
            </a:xfrm>
            <a:custGeom>
              <a:avLst/>
              <a:gdLst/>
              <a:ahLst/>
              <a:cxnLst/>
              <a:rect l="l" t="t" r="r" b="b"/>
              <a:pathLst>
                <a:path w="12" h="1" extrusionOk="0">
                  <a:moveTo>
                    <a:pt x="12" y="0"/>
                  </a:moveTo>
                  <a:lnTo>
                    <a:pt x="12" y="0"/>
                  </a:lnTo>
                  <a:lnTo>
                    <a:pt x="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6" name="Google Shape;256;p4"/>
            <p:cNvSpPr/>
            <p:nvPr/>
          </p:nvSpPr>
          <p:spPr>
            <a:xfrm>
              <a:off x="4303712" y="2728913"/>
              <a:ext cx="50800" cy="0"/>
            </a:xfrm>
            <a:custGeom>
              <a:avLst/>
              <a:gdLst/>
              <a:ahLst/>
              <a:cxnLst/>
              <a:rect l="l" t="t" r="r" b="b"/>
              <a:pathLst>
                <a:path w="26" h="120000" extrusionOk="0">
                  <a:moveTo>
                    <a:pt x="26" y="0"/>
                  </a:moveTo>
                  <a:lnTo>
                    <a:pt x="26" y="0"/>
                  </a:lnTo>
                  <a:lnTo>
                    <a:pt x="0" y="0"/>
                  </a:lnTo>
                  <a:cubicBezTo>
                    <a:pt x="13" y="0"/>
                    <a:pt x="20" y="0"/>
                    <a:pt x="2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7" name="Google Shape;257;p4"/>
            <p:cNvSpPr/>
            <p:nvPr/>
          </p:nvSpPr>
          <p:spPr>
            <a:xfrm>
              <a:off x="5519738" y="2735263"/>
              <a:ext cx="9525" cy="3175"/>
            </a:xfrm>
            <a:custGeom>
              <a:avLst/>
              <a:gdLst/>
              <a:ahLst/>
              <a:cxnLst/>
              <a:rect l="l" t="t" r="r" b="b"/>
              <a:pathLst>
                <a:path w="5" h="1" extrusionOk="0">
                  <a:moveTo>
                    <a:pt x="4" y="0"/>
                  </a:moveTo>
                  <a:lnTo>
                    <a:pt x="4" y="0"/>
                  </a:lnTo>
                  <a:lnTo>
                    <a:pt x="0" y="1"/>
                  </a:lnTo>
                  <a:cubicBezTo>
                    <a:pt x="3" y="1"/>
                    <a:pt x="5"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8" name="Google Shape;258;p4"/>
            <p:cNvSpPr/>
            <p:nvPr/>
          </p:nvSpPr>
          <p:spPr>
            <a:xfrm>
              <a:off x="12096750" y="2784475"/>
              <a:ext cx="6350" cy="0"/>
            </a:xfrm>
            <a:custGeom>
              <a:avLst/>
              <a:gdLst/>
              <a:ahLst/>
              <a:cxnLst/>
              <a:rect l="l" t="t" r="r" b="b"/>
              <a:pathLst>
                <a:path w="3" h="120000" extrusionOk="0">
                  <a:moveTo>
                    <a:pt x="3" y="0"/>
                  </a:moveTo>
                  <a:lnTo>
                    <a:pt x="3" y="0"/>
                  </a:lnTo>
                  <a:lnTo>
                    <a:pt x="1"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9" name="Google Shape;259;p4"/>
            <p:cNvSpPr/>
            <p:nvPr/>
          </p:nvSpPr>
          <p:spPr>
            <a:xfrm>
              <a:off x="12225338" y="2773363"/>
              <a:ext cx="46038" cy="0"/>
            </a:xfrm>
            <a:custGeom>
              <a:avLst/>
              <a:gdLst/>
              <a:ahLst/>
              <a:cxnLst/>
              <a:rect l="l" t="t" r="r" b="b"/>
              <a:pathLst>
                <a:path w="24" h="120000" extrusionOk="0">
                  <a:moveTo>
                    <a:pt x="0" y="0"/>
                  </a:moveTo>
                  <a:lnTo>
                    <a:pt x="0" y="0"/>
                  </a:lnTo>
                  <a:lnTo>
                    <a:pt x="24" y="0"/>
                  </a:lnTo>
                  <a:cubicBezTo>
                    <a:pt x="15" y="0"/>
                    <a:pt x="6"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0" name="Google Shape;260;p4"/>
            <p:cNvSpPr/>
            <p:nvPr/>
          </p:nvSpPr>
          <p:spPr>
            <a:xfrm>
              <a:off x="9274175" y="2746375"/>
              <a:ext cx="55563" cy="4762"/>
            </a:xfrm>
            <a:custGeom>
              <a:avLst/>
              <a:gdLst/>
              <a:ahLst/>
              <a:cxnLst/>
              <a:rect l="l" t="t" r="r" b="b"/>
              <a:pathLst>
                <a:path w="29" h="2" extrusionOk="0">
                  <a:moveTo>
                    <a:pt x="0" y="1"/>
                  </a:moveTo>
                  <a:lnTo>
                    <a:pt x="0" y="1"/>
                  </a:lnTo>
                  <a:cubicBezTo>
                    <a:pt x="7" y="1"/>
                    <a:pt x="23" y="2"/>
                    <a:pt x="15" y="2"/>
                  </a:cubicBezTo>
                  <a:cubicBezTo>
                    <a:pt x="29" y="2"/>
                    <a:pt x="2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1" name="Google Shape;261;p4"/>
            <p:cNvSpPr/>
            <p:nvPr/>
          </p:nvSpPr>
          <p:spPr>
            <a:xfrm>
              <a:off x="11847513" y="2827338"/>
              <a:ext cx="34925" cy="3175"/>
            </a:xfrm>
            <a:custGeom>
              <a:avLst/>
              <a:gdLst/>
              <a:ahLst/>
              <a:cxnLst/>
              <a:rect l="l" t="t" r="r" b="b"/>
              <a:pathLst>
                <a:path w="18" h="1" extrusionOk="0">
                  <a:moveTo>
                    <a:pt x="3" y="1"/>
                  </a:moveTo>
                  <a:lnTo>
                    <a:pt x="3" y="1"/>
                  </a:lnTo>
                  <a:cubicBezTo>
                    <a:pt x="7" y="1"/>
                    <a:pt x="13" y="0"/>
                    <a:pt x="18" y="0"/>
                  </a:cubicBezTo>
                  <a:cubicBezTo>
                    <a:pt x="8" y="0"/>
                    <a:pt x="0" y="1"/>
                    <a:pt x="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2" name="Google Shape;262;p4"/>
            <p:cNvSpPr/>
            <p:nvPr/>
          </p:nvSpPr>
          <p:spPr>
            <a:xfrm>
              <a:off x="11882438" y="2825750"/>
              <a:ext cx="25400" cy="1587"/>
            </a:xfrm>
            <a:custGeom>
              <a:avLst/>
              <a:gdLst/>
              <a:ahLst/>
              <a:cxnLst/>
              <a:rect l="l" t="t" r="r" b="b"/>
              <a:pathLst>
                <a:path w="14" h="1" extrusionOk="0">
                  <a:moveTo>
                    <a:pt x="0" y="1"/>
                  </a:moveTo>
                  <a:lnTo>
                    <a:pt x="0" y="1"/>
                  </a:lnTo>
                  <a:lnTo>
                    <a:pt x="14"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3" name="Google Shape;263;p4"/>
            <p:cNvSpPr/>
            <p:nvPr/>
          </p:nvSpPr>
          <p:spPr>
            <a:xfrm>
              <a:off x="8915400" y="2809875"/>
              <a:ext cx="15875" cy="1587"/>
            </a:xfrm>
            <a:custGeom>
              <a:avLst/>
              <a:gdLst/>
              <a:ahLst/>
              <a:cxnLst/>
              <a:rect l="l" t="t" r="r" b="b"/>
              <a:pathLst>
                <a:path w="8" h="1" extrusionOk="0">
                  <a:moveTo>
                    <a:pt x="8" y="1"/>
                  </a:moveTo>
                  <a:lnTo>
                    <a:pt x="8" y="1"/>
                  </a:lnTo>
                  <a:cubicBezTo>
                    <a:pt x="6" y="0"/>
                    <a:pt x="3" y="0"/>
                    <a:pt x="0" y="0"/>
                  </a:cubicBezTo>
                  <a:cubicBezTo>
                    <a:pt x="1" y="0"/>
                    <a:pt x="4"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4" name="Google Shape;264;p4"/>
            <p:cNvSpPr/>
            <p:nvPr/>
          </p:nvSpPr>
          <p:spPr>
            <a:xfrm>
              <a:off x="12109450" y="2752725"/>
              <a:ext cx="454025" cy="23812"/>
            </a:xfrm>
            <a:custGeom>
              <a:avLst/>
              <a:gdLst/>
              <a:ahLst/>
              <a:cxnLst/>
              <a:rect l="l" t="t" r="r" b="b"/>
              <a:pathLst>
                <a:path w="236" h="10" extrusionOk="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5" name="Google Shape;265;p4"/>
            <p:cNvSpPr/>
            <p:nvPr/>
          </p:nvSpPr>
          <p:spPr>
            <a:xfrm>
              <a:off x="12182475" y="2816225"/>
              <a:ext cx="9525" cy="0"/>
            </a:xfrm>
            <a:custGeom>
              <a:avLst/>
              <a:gdLst/>
              <a:ahLst/>
              <a:cxnLst/>
              <a:rect l="l" t="t" r="r" b="b"/>
              <a:pathLst>
                <a:path w="5" h="120000" extrusionOk="0">
                  <a:moveTo>
                    <a:pt x="0" y="0"/>
                  </a:moveTo>
                  <a:lnTo>
                    <a:pt x="0" y="0"/>
                  </a:lnTo>
                  <a:lnTo>
                    <a:pt x="1" y="0"/>
                  </a:lnTo>
                  <a:lnTo>
                    <a:pt x="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6" name="Google Shape;266;p4"/>
            <p:cNvSpPr/>
            <p:nvPr/>
          </p:nvSpPr>
          <p:spPr>
            <a:xfrm>
              <a:off x="4348162" y="2827338"/>
              <a:ext cx="17463" cy="3175"/>
            </a:xfrm>
            <a:custGeom>
              <a:avLst/>
              <a:gdLst/>
              <a:ahLst/>
              <a:cxnLst/>
              <a:rect l="l" t="t" r="r" b="b"/>
              <a:pathLst>
                <a:path w="9" h="1" extrusionOk="0">
                  <a:moveTo>
                    <a:pt x="8" y="0"/>
                  </a:moveTo>
                  <a:lnTo>
                    <a:pt x="8" y="0"/>
                  </a:lnTo>
                  <a:lnTo>
                    <a:pt x="0" y="1"/>
                  </a:lnTo>
                  <a:cubicBezTo>
                    <a:pt x="7" y="0"/>
                    <a:pt x="9" y="0"/>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7" name="Google Shape;267;p4"/>
            <p:cNvSpPr/>
            <p:nvPr/>
          </p:nvSpPr>
          <p:spPr>
            <a:xfrm>
              <a:off x="12071350" y="2790825"/>
              <a:ext cx="0" cy="0"/>
            </a:xfrm>
            <a:custGeom>
              <a:avLst/>
              <a:gdLst/>
              <a:ahLst/>
              <a:cxnLst/>
              <a:rect l="l" t="t" r="r" b="b"/>
              <a:pathLst>
                <a:path w="120000" h="120000" extrusionOk="0">
                  <a:moveTo>
                    <a:pt x="0" y="0"/>
                  </a:moveTo>
                  <a:lnTo>
                    <a:pt x="0" y="0"/>
                  </a:lnTo>
                  <a:lnTo>
                    <a:pt x="0" y="0"/>
                  </a:ln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8" name="Google Shape;268;p4"/>
            <p:cNvSpPr/>
            <p:nvPr/>
          </p:nvSpPr>
          <p:spPr>
            <a:xfrm>
              <a:off x="4754563" y="2827338"/>
              <a:ext cx="4763" cy="0"/>
            </a:xfrm>
            <a:custGeom>
              <a:avLst/>
              <a:gdLst/>
              <a:ahLst/>
              <a:cxnLst/>
              <a:rect l="l" t="t" r="r" b="b"/>
              <a:pathLst>
                <a:path w="2" h="120000" extrusionOk="0">
                  <a:moveTo>
                    <a:pt x="2" y="0"/>
                  </a:moveTo>
                  <a:lnTo>
                    <a:pt x="2" y="0"/>
                  </a:lnTo>
                  <a:lnTo>
                    <a:pt x="0" y="0"/>
                  </a:lnTo>
                  <a:cubicBezTo>
                    <a:pt x="1" y="0"/>
                    <a:pt x="1" y="0"/>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9" name="Google Shape;269;p4"/>
            <p:cNvSpPr/>
            <p:nvPr/>
          </p:nvSpPr>
          <p:spPr>
            <a:xfrm>
              <a:off x="4852988" y="2719388"/>
              <a:ext cx="9525" cy="3175"/>
            </a:xfrm>
            <a:custGeom>
              <a:avLst/>
              <a:gdLst/>
              <a:ahLst/>
              <a:cxnLst/>
              <a:rect l="l" t="t" r="r" b="b"/>
              <a:pathLst>
                <a:path w="5" h="1" extrusionOk="0">
                  <a:moveTo>
                    <a:pt x="5" y="1"/>
                  </a:moveTo>
                  <a:lnTo>
                    <a:pt x="5" y="1"/>
                  </a:lnTo>
                  <a:cubicBezTo>
                    <a:pt x="5" y="1"/>
                    <a:pt x="5" y="1"/>
                    <a:pt x="4" y="0"/>
                  </a:cubicBezTo>
                  <a:cubicBezTo>
                    <a:pt x="0" y="1"/>
                    <a:pt x="2" y="1"/>
                    <a:pt x="5"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0" name="Google Shape;270;p4"/>
            <p:cNvSpPr/>
            <p:nvPr/>
          </p:nvSpPr>
          <p:spPr>
            <a:xfrm>
              <a:off x="4759325" y="2827338"/>
              <a:ext cx="0" cy="0"/>
            </a:xfrm>
            <a:custGeom>
              <a:avLst/>
              <a:gdLst/>
              <a:ahLst/>
              <a:cxnLst/>
              <a:rect l="l" t="t" r="r" b="b"/>
              <a:pathLst>
                <a:path w="120000" h="120000" extrusionOk="0">
                  <a:moveTo>
                    <a:pt x="0" y="0"/>
                  </a:moveTo>
                  <a:lnTo>
                    <a:pt x="0" y="0"/>
                  </a:lnTo>
                  <a:cubicBezTo>
                    <a:pt x="0" y="0"/>
                    <a:pt x="0" y="0"/>
                    <a:pt x="0" y="0"/>
                  </a:cubicBezTo>
                  <a:cubicBezTo>
                    <a:pt x="0" y="0"/>
                    <a:pt x="0"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1" name="Google Shape;271;p4"/>
            <p:cNvSpPr/>
            <p:nvPr/>
          </p:nvSpPr>
          <p:spPr>
            <a:xfrm>
              <a:off x="6654800" y="2805113"/>
              <a:ext cx="19050" cy="1587"/>
            </a:xfrm>
            <a:custGeom>
              <a:avLst/>
              <a:gdLst/>
              <a:ahLst/>
              <a:cxnLst/>
              <a:rect l="l" t="t" r="r" b="b"/>
              <a:pathLst>
                <a:path w="10" h="1" extrusionOk="0">
                  <a:moveTo>
                    <a:pt x="10" y="1"/>
                  </a:moveTo>
                  <a:lnTo>
                    <a:pt x="10" y="1"/>
                  </a:lnTo>
                  <a:lnTo>
                    <a:pt x="2" y="0"/>
                  </a:lnTo>
                  <a:cubicBezTo>
                    <a:pt x="0" y="0"/>
                    <a:pt x="2" y="0"/>
                    <a:pt x="1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2" name="Google Shape;272;p4"/>
            <p:cNvSpPr/>
            <p:nvPr/>
          </p:nvSpPr>
          <p:spPr>
            <a:xfrm>
              <a:off x="6289675" y="2798763"/>
              <a:ext cx="6350" cy="0"/>
            </a:xfrm>
            <a:custGeom>
              <a:avLst/>
              <a:gdLst/>
              <a:ahLst/>
              <a:cxnLst/>
              <a:rect l="l" t="t" r="r" b="b"/>
              <a:pathLst>
                <a:path w="3" h="120000" extrusionOk="0">
                  <a:moveTo>
                    <a:pt x="3" y="0"/>
                  </a:moveTo>
                  <a:lnTo>
                    <a:pt x="3" y="0"/>
                  </a:lnTo>
                  <a:lnTo>
                    <a:pt x="0" y="0"/>
                  </a:lnTo>
                  <a:lnTo>
                    <a:pt x="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3" name="Google Shape;273;p4"/>
            <p:cNvSpPr/>
            <p:nvPr/>
          </p:nvSpPr>
          <p:spPr>
            <a:xfrm>
              <a:off x="9140825" y="2725738"/>
              <a:ext cx="44450" cy="0"/>
            </a:xfrm>
            <a:custGeom>
              <a:avLst/>
              <a:gdLst/>
              <a:ahLst/>
              <a:cxnLst/>
              <a:rect l="l" t="t" r="r" b="b"/>
              <a:pathLst>
                <a:path w="23" h="120000" extrusionOk="0">
                  <a:moveTo>
                    <a:pt x="23" y="0"/>
                  </a:moveTo>
                  <a:lnTo>
                    <a:pt x="23" y="0"/>
                  </a:lnTo>
                  <a:lnTo>
                    <a:pt x="0" y="0"/>
                  </a:lnTo>
                  <a:lnTo>
                    <a:pt x="23"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4" name="Google Shape;274;p4"/>
            <p:cNvSpPr/>
            <p:nvPr/>
          </p:nvSpPr>
          <p:spPr>
            <a:xfrm>
              <a:off x="4737100" y="2827338"/>
              <a:ext cx="17463" cy="3175"/>
            </a:xfrm>
            <a:custGeom>
              <a:avLst/>
              <a:gdLst/>
              <a:ahLst/>
              <a:cxnLst/>
              <a:rect l="l" t="t" r="r" b="b"/>
              <a:pathLst>
                <a:path w="9" h="1" extrusionOk="0">
                  <a:moveTo>
                    <a:pt x="9" y="0"/>
                  </a:moveTo>
                  <a:lnTo>
                    <a:pt x="9" y="0"/>
                  </a:lnTo>
                  <a:lnTo>
                    <a:pt x="0" y="1"/>
                  </a:lnTo>
                  <a:cubicBezTo>
                    <a:pt x="5" y="0"/>
                    <a:pt x="8" y="0"/>
                    <a:pt x="9"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5" name="Google Shape;275;p4"/>
            <p:cNvSpPr/>
            <p:nvPr/>
          </p:nvSpPr>
          <p:spPr>
            <a:xfrm>
              <a:off x="7239000" y="2779713"/>
              <a:ext cx="11113" cy="3175"/>
            </a:xfrm>
            <a:custGeom>
              <a:avLst/>
              <a:gdLst/>
              <a:ahLst/>
              <a:cxnLst/>
              <a:rect l="l" t="t" r="r" b="b"/>
              <a:pathLst>
                <a:path w="6" h="1" extrusionOk="0">
                  <a:moveTo>
                    <a:pt x="6" y="0"/>
                  </a:moveTo>
                  <a:lnTo>
                    <a:pt x="6" y="0"/>
                  </a:lnTo>
                  <a:lnTo>
                    <a:pt x="0" y="1"/>
                  </a:lnTo>
                  <a:lnTo>
                    <a:pt x="4" y="1"/>
                  </a:lnTo>
                  <a:lnTo>
                    <a:pt x="6"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6" name="Google Shape;276;p4"/>
            <p:cNvSpPr/>
            <p:nvPr/>
          </p:nvSpPr>
          <p:spPr>
            <a:xfrm>
              <a:off x="7181850" y="2773363"/>
              <a:ext cx="468313" cy="15875"/>
            </a:xfrm>
            <a:custGeom>
              <a:avLst/>
              <a:gdLst/>
              <a:ahLst/>
              <a:cxnLst/>
              <a:rect l="l" t="t" r="r" b="b"/>
              <a:pathLst>
                <a:path w="244" h="7" extrusionOk="0">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7" name="Google Shape;277;p4"/>
            <p:cNvSpPr/>
            <p:nvPr/>
          </p:nvSpPr>
          <p:spPr>
            <a:xfrm>
              <a:off x="7407275" y="2787650"/>
              <a:ext cx="26988" cy="0"/>
            </a:xfrm>
            <a:custGeom>
              <a:avLst/>
              <a:gdLst/>
              <a:ahLst/>
              <a:cxnLst/>
              <a:rect l="l" t="t" r="r" b="b"/>
              <a:pathLst>
                <a:path w="14" h="120000" extrusionOk="0">
                  <a:moveTo>
                    <a:pt x="14" y="0"/>
                  </a:moveTo>
                  <a:lnTo>
                    <a:pt x="14" y="0"/>
                  </a:lnTo>
                  <a:lnTo>
                    <a:pt x="0" y="0"/>
                  </a:lnTo>
                  <a:cubicBezTo>
                    <a:pt x="8" y="0"/>
                    <a:pt x="11" y="0"/>
                    <a:pt x="1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8" name="Google Shape;278;p4"/>
            <p:cNvSpPr/>
            <p:nvPr/>
          </p:nvSpPr>
          <p:spPr>
            <a:xfrm>
              <a:off x="8123238" y="2794000"/>
              <a:ext cx="31750" cy="1587"/>
            </a:xfrm>
            <a:custGeom>
              <a:avLst/>
              <a:gdLst/>
              <a:ahLst/>
              <a:cxnLst/>
              <a:rect l="l" t="t" r="r" b="b"/>
              <a:pathLst>
                <a:path w="16" h="1" extrusionOk="0">
                  <a:moveTo>
                    <a:pt x="0" y="1"/>
                  </a:moveTo>
                  <a:lnTo>
                    <a:pt x="0" y="1"/>
                  </a:lnTo>
                  <a:lnTo>
                    <a:pt x="16"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9" name="Google Shape;279;p4"/>
            <p:cNvSpPr/>
            <p:nvPr/>
          </p:nvSpPr>
          <p:spPr>
            <a:xfrm>
              <a:off x="3070225" y="2794000"/>
              <a:ext cx="101600" cy="4762"/>
            </a:xfrm>
            <a:custGeom>
              <a:avLst/>
              <a:gdLst/>
              <a:ahLst/>
              <a:cxnLst/>
              <a:rect l="l" t="t" r="r" b="b"/>
              <a:pathLst>
                <a:path w="53" h="2" extrusionOk="0">
                  <a:moveTo>
                    <a:pt x="0" y="0"/>
                  </a:moveTo>
                  <a:lnTo>
                    <a:pt x="0" y="0"/>
                  </a:lnTo>
                  <a:cubicBezTo>
                    <a:pt x="2" y="1"/>
                    <a:pt x="53" y="2"/>
                    <a:pt x="52" y="0"/>
                  </a:cubicBez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0" name="Google Shape;280;p4"/>
            <p:cNvSpPr/>
            <p:nvPr/>
          </p:nvSpPr>
          <p:spPr>
            <a:xfrm>
              <a:off x="9963150" y="2778125"/>
              <a:ext cx="41275" cy="0"/>
            </a:xfrm>
            <a:custGeom>
              <a:avLst/>
              <a:gdLst/>
              <a:ahLst/>
              <a:cxnLst/>
              <a:rect l="l" t="t" r="r" b="b"/>
              <a:pathLst>
                <a:path w="21" h="120000" extrusionOk="0">
                  <a:moveTo>
                    <a:pt x="21" y="0"/>
                  </a:moveTo>
                  <a:lnTo>
                    <a:pt x="21" y="0"/>
                  </a:lnTo>
                  <a:lnTo>
                    <a:pt x="3" y="0"/>
                  </a:lnTo>
                  <a:lnTo>
                    <a:pt x="0" y="0"/>
                  </a:lnTo>
                  <a:cubicBezTo>
                    <a:pt x="4" y="0"/>
                    <a:pt x="15"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1" name="Google Shape;281;p4"/>
            <p:cNvSpPr/>
            <p:nvPr/>
          </p:nvSpPr>
          <p:spPr>
            <a:xfrm>
              <a:off x="7523163" y="2773363"/>
              <a:ext cx="30163" cy="3175"/>
            </a:xfrm>
            <a:custGeom>
              <a:avLst/>
              <a:gdLst/>
              <a:ahLst/>
              <a:cxnLst/>
              <a:rect l="l" t="t" r="r" b="b"/>
              <a:pathLst>
                <a:path w="16" h="1" extrusionOk="0">
                  <a:moveTo>
                    <a:pt x="16" y="0"/>
                  </a:moveTo>
                  <a:lnTo>
                    <a:pt x="16" y="0"/>
                  </a:lnTo>
                  <a:cubicBezTo>
                    <a:pt x="6" y="0"/>
                    <a:pt x="2" y="1"/>
                    <a:pt x="0" y="1"/>
                  </a:cubicBezTo>
                  <a:cubicBezTo>
                    <a:pt x="6" y="1"/>
                    <a:pt x="12" y="1"/>
                    <a:pt x="1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2" name="Google Shape;282;p4"/>
            <p:cNvSpPr/>
            <p:nvPr/>
          </p:nvSpPr>
          <p:spPr>
            <a:xfrm>
              <a:off x="10009188" y="2787650"/>
              <a:ext cx="115888" cy="3175"/>
            </a:xfrm>
            <a:custGeom>
              <a:avLst/>
              <a:gdLst/>
              <a:ahLst/>
              <a:cxnLst/>
              <a:rect l="l" t="t" r="r" b="b"/>
              <a:pathLst>
                <a:path w="60" h="2" extrusionOk="0">
                  <a:moveTo>
                    <a:pt x="0" y="0"/>
                  </a:moveTo>
                  <a:lnTo>
                    <a:pt x="0" y="0"/>
                  </a:lnTo>
                  <a:cubicBezTo>
                    <a:pt x="7" y="0"/>
                    <a:pt x="18" y="1"/>
                    <a:pt x="19" y="2"/>
                  </a:cubicBezTo>
                  <a:cubicBezTo>
                    <a:pt x="34" y="2"/>
                    <a:pt x="45" y="1"/>
                    <a:pt x="60" y="1"/>
                  </a:cubicBezTo>
                  <a:cubicBezTo>
                    <a:pt x="43" y="1"/>
                    <a:pt x="23" y="1"/>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3" name="Google Shape;283;p4"/>
            <p:cNvSpPr/>
            <p:nvPr/>
          </p:nvSpPr>
          <p:spPr>
            <a:xfrm>
              <a:off x="10125075" y="2789238"/>
              <a:ext cx="1588" cy="0"/>
            </a:xfrm>
            <a:custGeom>
              <a:avLst/>
              <a:gdLst/>
              <a:ahLst/>
              <a:cxnLst/>
              <a:rect l="l" t="t" r="r" b="b"/>
              <a:pathLst>
                <a:path w="1" h="120000" extrusionOk="0">
                  <a:moveTo>
                    <a:pt x="1" y="0"/>
                  </a:moveTo>
                  <a:lnTo>
                    <a:pt x="1" y="0"/>
                  </a:lnTo>
                  <a:lnTo>
                    <a:pt x="0" y="0"/>
                  </a:lnTo>
                  <a:lnTo>
                    <a:pt x="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4" name="Google Shape;284;p4"/>
            <p:cNvSpPr/>
            <p:nvPr/>
          </p:nvSpPr>
          <p:spPr>
            <a:xfrm>
              <a:off x="-4110038" y="2703513"/>
              <a:ext cx="16486189" cy="134937"/>
            </a:xfrm>
            <a:custGeom>
              <a:avLst/>
              <a:gdLst/>
              <a:ahLst/>
              <a:cxnLst/>
              <a:rect l="l" t="t" r="r" b="b"/>
              <a:pathLst>
                <a:path w="8594" h="60" extrusionOk="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5" name="Google Shape;285;p4"/>
            <p:cNvSpPr/>
            <p:nvPr/>
          </p:nvSpPr>
          <p:spPr>
            <a:xfrm>
              <a:off x="12117388" y="2779713"/>
              <a:ext cx="127000" cy="4762"/>
            </a:xfrm>
            <a:custGeom>
              <a:avLst/>
              <a:gdLst/>
              <a:ahLst/>
              <a:cxnLst/>
              <a:rect l="l" t="t" r="r" b="b"/>
              <a:pathLst>
                <a:path w="66" h="2" extrusionOk="0">
                  <a:moveTo>
                    <a:pt x="19" y="2"/>
                  </a:moveTo>
                  <a:lnTo>
                    <a:pt x="19" y="2"/>
                  </a:lnTo>
                  <a:cubicBezTo>
                    <a:pt x="33" y="2"/>
                    <a:pt x="66" y="2"/>
                    <a:pt x="60" y="0"/>
                  </a:cubicBezTo>
                  <a:cubicBezTo>
                    <a:pt x="60" y="2"/>
                    <a:pt x="0" y="0"/>
                    <a:pt x="19"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6" name="Google Shape;286;p4"/>
            <p:cNvSpPr/>
            <p:nvPr/>
          </p:nvSpPr>
          <p:spPr>
            <a:xfrm>
              <a:off x="12182475" y="2787650"/>
              <a:ext cx="79375" cy="1587"/>
            </a:xfrm>
            <a:custGeom>
              <a:avLst/>
              <a:gdLst/>
              <a:ahLst/>
              <a:cxnLst/>
              <a:rect l="l" t="t" r="r" b="b"/>
              <a:pathLst>
                <a:path w="41" h="1" extrusionOk="0">
                  <a:moveTo>
                    <a:pt x="25" y="1"/>
                  </a:moveTo>
                  <a:lnTo>
                    <a:pt x="25" y="1"/>
                  </a:lnTo>
                  <a:cubicBezTo>
                    <a:pt x="27" y="1"/>
                    <a:pt x="26" y="0"/>
                    <a:pt x="41" y="0"/>
                  </a:cubicBezTo>
                  <a:lnTo>
                    <a:pt x="0" y="0"/>
                  </a:lnTo>
                  <a:lnTo>
                    <a:pt x="2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7" name="Google Shape;287;p4"/>
            <p:cNvSpPr/>
            <p:nvPr/>
          </p:nvSpPr>
          <p:spPr>
            <a:xfrm>
              <a:off x="12307888" y="2809875"/>
              <a:ext cx="249238" cy="15875"/>
            </a:xfrm>
            <a:custGeom>
              <a:avLst/>
              <a:gdLst/>
              <a:ahLst/>
              <a:cxnLst/>
              <a:rect l="l" t="t" r="r" b="b"/>
              <a:pathLst>
                <a:path w="130" h="7" extrusionOk="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8" name="Google Shape;288;p4"/>
            <p:cNvSpPr/>
            <p:nvPr/>
          </p:nvSpPr>
          <p:spPr>
            <a:xfrm>
              <a:off x="12252325" y="2825750"/>
              <a:ext cx="73025" cy="1587"/>
            </a:xfrm>
            <a:custGeom>
              <a:avLst/>
              <a:gdLst/>
              <a:ahLst/>
              <a:cxnLst/>
              <a:rect l="l" t="t" r="r" b="b"/>
              <a:pathLst>
                <a:path w="38" h="1" extrusionOk="0">
                  <a:moveTo>
                    <a:pt x="4" y="1"/>
                  </a:moveTo>
                  <a:lnTo>
                    <a:pt x="4" y="1"/>
                  </a:lnTo>
                  <a:lnTo>
                    <a:pt x="38" y="0"/>
                  </a:lnTo>
                  <a:lnTo>
                    <a:pt x="34" y="0"/>
                  </a:lnTo>
                  <a:lnTo>
                    <a:pt x="0" y="1"/>
                  </a:lnTo>
                  <a:lnTo>
                    <a:pt x="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9" name="Google Shape;289;p4"/>
            <p:cNvSpPr/>
            <p:nvPr/>
          </p:nvSpPr>
          <p:spPr>
            <a:xfrm>
              <a:off x="10779125" y="2733675"/>
              <a:ext cx="66675" cy="4762"/>
            </a:xfrm>
            <a:custGeom>
              <a:avLst/>
              <a:gdLst/>
              <a:ahLst/>
              <a:cxnLst/>
              <a:rect l="l" t="t" r="r" b="b"/>
              <a:pathLst>
                <a:path w="35" h="2" extrusionOk="0">
                  <a:moveTo>
                    <a:pt x="35" y="2"/>
                  </a:moveTo>
                  <a:lnTo>
                    <a:pt x="35" y="2"/>
                  </a:lnTo>
                  <a:cubicBezTo>
                    <a:pt x="32" y="0"/>
                    <a:pt x="11" y="1"/>
                    <a:pt x="0" y="2"/>
                  </a:cubicBezTo>
                  <a:cubicBezTo>
                    <a:pt x="9" y="2"/>
                    <a:pt x="22" y="2"/>
                    <a:pt x="3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0" name="Google Shape;290;p4"/>
            <p:cNvSpPr/>
            <p:nvPr/>
          </p:nvSpPr>
          <p:spPr>
            <a:xfrm>
              <a:off x="-2471738" y="2738438"/>
              <a:ext cx="496888" cy="1587"/>
            </a:xfrm>
            <a:custGeom>
              <a:avLst/>
              <a:gdLst/>
              <a:ahLst/>
              <a:cxnLst/>
              <a:rect l="l" t="t" r="r" b="b"/>
              <a:pathLst>
                <a:path w="259" h="1" extrusionOk="0">
                  <a:moveTo>
                    <a:pt x="259" y="0"/>
                  </a:moveTo>
                  <a:lnTo>
                    <a:pt x="259" y="0"/>
                  </a:lnTo>
                  <a:lnTo>
                    <a:pt x="0" y="1"/>
                  </a:lnTo>
                  <a:lnTo>
                    <a:pt x="25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1" name="Google Shape;291;p4"/>
            <p:cNvSpPr/>
            <p:nvPr/>
          </p:nvSpPr>
          <p:spPr>
            <a:xfrm>
              <a:off x="9136063" y="2735263"/>
              <a:ext cx="387350" cy="14287"/>
            </a:xfrm>
            <a:custGeom>
              <a:avLst/>
              <a:gdLst/>
              <a:ahLst/>
              <a:cxnLst/>
              <a:rect l="l" t="t" r="r" b="b"/>
              <a:pathLst>
                <a:path w="202" h="6" extrusionOk="0">
                  <a:moveTo>
                    <a:pt x="30" y="6"/>
                  </a:moveTo>
                  <a:lnTo>
                    <a:pt x="30" y="6"/>
                  </a:lnTo>
                  <a:cubicBezTo>
                    <a:pt x="100" y="5"/>
                    <a:pt x="131" y="3"/>
                    <a:pt x="202" y="3"/>
                  </a:cubicBezTo>
                  <a:cubicBezTo>
                    <a:pt x="109" y="0"/>
                    <a:pt x="79" y="6"/>
                    <a:pt x="0" y="3"/>
                  </a:cubicBezTo>
                  <a:lnTo>
                    <a:pt x="30"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2" name="Google Shape;292;p4"/>
            <p:cNvSpPr/>
            <p:nvPr/>
          </p:nvSpPr>
          <p:spPr>
            <a:xfrm>
              <a:off x="9139238" y="2725738"/>
              <a:ext cx="142875" cy="9525"/>
            </a:xfrm>
            <a:custGeom>
              <a:avLst/>
              <a:gdLst/>
              <a:ahLst/>
              <a:cxnLst/>
              <a:rect l="l" t="t" r="r" b="b"/>
              <a:pathLst>
                <a:path w="75" h="4" extrusionOk="0">
                  <a:moveTo>
                    <a:pt x="54" y="0"/>
                  </a:moveTo>
                  <a:lnTo>
                    <a:pt x="54" y="0"/>
                  </a:lnTo>
                  <a:cubicBezTo>
                    <a:pt x="65" y="2"/>
                    <a:pt x="0" y="3"/>
                    <a:pt x="10" y="4"/>
                  </a:cubicBezTo>
                  <a:cubicBezTo>
                    <a:pt x="57" y="4"/>
                    <a:pt x="32" y="2"/>
                    <a:pt x="75" y="2"/>
                  </a:cubicBezTo>
                  <a:lnTo>
                    <a:pt x="5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3" name="Google Shape;293;p4"/>
            <p:cNvSpPr/>
            <p:nvPr/>
          </p:nvSpPr>
          <p:spPr>
            <a:xfrm>
              <a:off x="9805988" y="2817813"/>
              <a:ext cx="39688" cy="3175"/>
            </a:xfrm>
            <a:custGeom>
              <a:avLst/>
              <a:gdLst/>
              <a:ahLst/>
              <a:cxnLst/>
              <a:rect l="l" t="t" r="r" b="b"/>
              <a:pathLst>
                <a:path w="21" h="1" extrusionOk="0">
                  <a:moveTo>
                    <a:pt x="21" y="0"/>
                  </a:moveTo>
                  <a:lnTo>
                    <a:pt x="21" y="0"/>
                  </a:lnTo>
                  <a:lnTo>
                    <a:pt x="0" y="1"/>
                  </a:lnTo>
                  <a:lnTo>
                    <a:pt x="17" y="1"/>
                  </a:lnTo>
                  <a:lnTo>
                    <a:pt x="2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4" name="Google Shape;294;p4"/>
            <p:cNvSpPr/>
            <p:nvPr/>
          </p:nvSpPr>
          <p:spPr>
            <a:xfrm>
              <a:off x="8580438" y="2725738"/>
              <a:ext cx="66675" cy="3175"/>
            </a:xfrm>
            <a:custGeom>
              <a:avLst/>
              <a:gdLst/>
              <a:ahLst/>
              <a:cxnLst/>
              <a:rect l="l" t="t" r="r" b="b"/>
              <a:pathLst>
                <a:path w="35" h="1" extrusionOk="0">
                  <a:moveTo>
                    <a:pt x="27" y="1"/>
                  </a:moveTo>
                  <a:lnTo>
                    <a:pt x="27" y="1"/>
                  </a:lnTo>
                  <a:lnTo>
                    <a:pt x="35" y="1"/>
                  </a:lnTo>
                  <a:lnTo>
                    <a:pt x="0" y="0"/>
                  </a:lnTo>
                  <a:lnTo>
                    <a:pt x="27"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5" name="Google Shape;295;p4"/>
            <p:cNvSpPr/>
            <p:nvPr/>
          </p:nvSpPr>
          <p:spPr>
            <a:xfrm>
              <a:off x="8647113" y="2725738"/>
              <a:ext cx="15875" cy="3175"/>
            </a:xfrm>
            <a:custGeom>
              <a:avLst/>
              <a:gdLst/>
              <a:ahLst/>
              <a:cxnLst/>
              <a:rect l="l" t="t" r="r" b="b"/>
              <a:pathLst>
                <a:path w="8" h="1" extrusionOk="0">
                  <a:moveTo>
                    <a:pt x="8" y="0"/>
                  </a:moveTo>
                  <a:lnTo>
                    <a:pt x="8" y="0"/>
                  </a:lnTo>
                  <a:lnTo>
                    <a:pt x="0" y="1"/>
                  </a:lnTo>
                  <a:lnTo>
                    <a:pt x="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6" name="Google Shape;296;p4"/>
            <p:cNvSpPr/>
            <p:nvPr/>
          </p:nvSpPr>
          <p:spPr>
            <a:xfrm>
              <a:off x="9794875" y="2830513"/>
              <a:ext cx="90488" cy="1587"/>
            </a:xfrm>
            <a:custGeom>
              <a:avLst/>
              <a:gdLst/>
              <a:ahLst/>
              <a:cxnLst/>
              <a:rect l="l" t="t" r="r" b="b"/>
              <a:pathLst>
                <a:path w="47" h="1" extrusionOk="0">
                  <a:moveTo>
                    <a:pt x="0" y="0"/>
                  </a:moveTo>
                  <a:lnTo>
                    <a:pt x="0" y="0"/>
                  </a:lnTo>
                  <a:lnTo>
                    <a:pt x="32" y="1"/>
                  </a:lnTo>
                  <a:lnTo>
                    <a:pt x="47"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7" name="Google Shape;297;p4"/>
            <p:cNvSpPr/>
            <p:nvPr/>
          </p:nvSpPr>
          <p:spPr>
            <a:xfrm>
              <a:off x="9232900" y="2795588"/>
              <a:ext cx="84138" cy="3175"/>
            </a:xfrm>
            <a:custGeom>
              <a:avLst/>
              <a:gdLst/>
              <a:ahLst/>
              <a:cxnLst/>
              <a:rect l="l" t="t" r="r" b="b"/>
              <a:pathLst>
                <a:path w="44" h="1" extrusionOk="0">
                  <a:moveTo>
                    <a:pt x="16" y="1"/>
                  </a:moveTo>
                  <a:lnTo>
                    <a:pt x="16" y="1"/>
                  </a:lnTo>
                  <a:lnTo>
                    <a:pt x="44" y="1"/>
                  </a:lnTo>
                  <a:cubicBezTo>
                    <a:pt x="39" y="1"/>
                    <a:pt x="0" y="0"/>
                    <a:pt x="16"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8" name="Google Shape;298;p4"/>
            <p:cNvSpPr/>
            <p:nvPr/>
          </p:nvSpPr>
          <p:spPr>
            <a:xfrm>
              <a:off x="8158163" y="2725738"/>
              <a:ext cx="71438" cy="3175"/>
            </a:xfrm>
            <a:custGeom>
              <a:avLst/>
              <a:gdLst/>
              <a:ahLst/>
              <a:cxnLst/>
              <a:rect l="l" t="t" r="r" b="b"/>
              <a:pathLst>
                <a:path w="37" h="1" extrusionOk="0">
                  <a:moveTo>
                    <a:pt x="34" y="0"/>
                  </a:moveTo>
                  <a:lnTo>
                    <a:pt x="34" y="0"/>
                  </a:lnTo>
                  <a:lnTo>
                    <a:pt x="0" y="1"/>
                  </a:lnTo>
                  <a:lnTo>
                    <a:pt x="3" y="1"/>
                  </a:lnTo>
                  <a:lnTo>
                    <a:pt x="37" y="0"/>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9" name="Google Shape;299;p4"/>
            <p:cNvSpPr/>
            <p:nvPr/>
          </p:nvSpPr>
          <p:spPr>
            <a:xfrm>
              <a:off x="8734425" y="2814638"/>
              <a:ext cx="144463" cy="3175"/>
            </a:xfrm>
            <a:custGeom>
              <a:avLst/>
              <a:gdLst/>
              <a:ahLst/>
              <a:cxnLst/>
              <a:rect l="l" t="t" r="r" b="b"/>
              <a:pathLst>
                <a:path w="76" h="2" extrusionOk="0">
                  <a:moveTo>
                    <a:pt x="56" y="0"/>
                  </a:moveTo>
                  <a:lnTo>
                    <a:pt x="56" y="0"/>
                  </a:lnTo>
                  <a:cubicBezTo>
                    <a:pt x="76" y="2"/>
                    <a:pt x="0" y="0"/>
                    <a:pt x="40" y="2"/>
                  </a:cubicBezTo>
                  <a:cubicBezTo>
                    <a:pt x="76" y="2"/>
                    <a:pt x="61" y="1"/>
                    <a:pt x="56"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0" name="Google Shape;300;p4"/>
            <p:cNvSpPr/>
            <p:nvPr/>
          </p:nvSpPr>
          <p:spPr>
            <a:xfrm>
              <a:off x="8023225" y="2782888"/>
              <a:ext cx="26988" cy="1587"/>
            </a:xfrm>
            <a:custGeom>
              <a:avLst/>
              <a:gdLst/>
              <a:ahLst/>
              <a:cxnLst/>
              <a:rect l="l" t="t" r="r" b="b"/>
              <a:pathLst>
                <a:path w="14" h="1" extrusionOk="0">
                  <a:moveTo>
                    <a:pt x="14" y="0"/>
                  </a:moveTo>
                  <a:lnTo>
                    <a:pt x="14" y="0"/>
                  </a:lnTo>
                  <a:cubicBezTo>
                    <a:pt x="9" y="0"/>
                    <a:pt x="5" y="0"/>
                    <a:pt x="0" y="1"/>
                  </a:cubicBezTo>
                  <a:lnTo>
                    <a:pt x="1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1" name="Google Shape;301;p4"/>
            <p:cNvSpPr/>
            <p:nvPr/>
          </p:nvSpPr>
          <p:spPr>
            <a:xfrm>
              <a:off x="8050213" y="2782888"/>
              <a:ext cx="77788" cy="1587"/>
            </a:xfrm>
            <a:custGeom>
              <a:avLst/>
              <a:gdLst/>
              <a:ahLst/>
              <a:cxnLst/>
              <a:rect l="l" t="t" r="r" b="b"/>
              <a:pathLst>
                <a:path w="40" h="1" extrusionOk="0">
                  <a:moveTo>
                    <a:pt x="0" y="0"/>
                  </a:moveTo>
                  <a:lnTo>
                    <a:pt x="0" y="0"/>
                  </a:lnTo>
                  <a:cubicBezTo>
                    <a:pt x="15" y="0"/>
                    <a:pt x="30" y="1"/>
                    <a:pt x="40" y="1"/>
                  </a:cubicBezTo>
                  <a:cubicBezTo>
                    <a:pt x="21" y="0"/>
                    <a:pt x="15"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2" name="Google Shape;302;p4"/>
            <p:cNvSpPr/>
            <p:nvPr/>
          </p:nvSpPr>
          <p:spPr>
            <a:xfrm>
              <a:off x="7715250" y="2779713"/>
              <a:ext cx="90488" cy="7937"/>
            </a:xfrm>
            <a:custGeom>
              <a:avLst/>
              <a:gdLst/>
              <a:ahLst/>
              <a:cxnLst/>
              <a:rect l="l" t="t" r="r" b="b"/>
              <a:pathLst>
                <a:path w="47" h="3" extrusionOk="0">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3" name="Google Shape;303;p4"/>
            <p:cNvSpPr/>
            <p:nvPr/>
          </p:nvSpPr>
          <p:spPr>
            <a:xfrm>
              <a:off x="6508750" y="2713038"/>
              <a:ext cx="247650" cy="6350"/>
            </a:xfrm>
            <a:custGeom>
              <a:avLst/>
              <a:gdLst/>
              <a:ahLst/>
              <a:cxnLst/>
              <a:rect l="l" t="t" r="r" b="b"/>
              <a:pathLst>
                <a:path w="129" h="3" extrusionOk="0">
                  <a:moveTo>
                    <a:pt x="0" y="0"/>
                  </a:moveTo>
                  <a:lnTo>
                    <a:pt x="0" y="0"/>
                  </a:lnTo>
                  <a:cubicBezTo>
                    <a:pt x="50" y="1"/>
                    <a:pt x="63" y="1"/>
                    <a:pt x="60" y="2"/>
                  </a:cubicBezTo>
                  <a:cubicBezTo>
                    <a:pt x="108" y="3"/>
                    <a:pt x="100" y="0"/>
                    <a:pt x="129"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4" name="Google Shape;304;p4"/>
            <p:cNvSpPr/>
            <p:nvPr/>
          </p:nvSpPr>
          <p:spPr>
            <a:xfrm>
              <a:off x="6756400" y="2713038"/>
              <a:ext cx="33338" cy="0"/>
            </a:xfrm>
            <a:custGeom>
              <a:avLst/>
              <a:gdLst/>
              <a:ahLst/>
              <a:cxnLst/>
              <a:rect l="l" t="t" r="r" b="b"/>
              <a:pathLst>
                <a:path w="18" h="120000" extrusionOk="0">
                  <a:moveTo>
                    <a:pt x="0" y="0"/>
                  </a:moveTo>
                  <a:lnTo>
                    <a:pt x="0" y="0"/>
                  </a:lnTo>
                  <a:lnTo>
                    <a:pt x="18"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5" name="Google Shape;305;p4"/>
            <p:cNvSpPr/>
            <p:nvPr/>
          </p:nvSpPr>
          <p:spPr>
            <a:xfrm>
              <a:off x="8047038" y="2820988"/>
              <a:ext cx="58738" cy="4762"/>
            </a:xfrm>
            <a:custGeom>
              <a:avLst/>
              <a:gdLst/>
              <a:ahLst/>
              <a:cxnLst/>
              <a:rect l="l" t="t" r="r" b="b"/>
              <a:pathLst>
                <a:path w="31" h="2" extrusionOk="0">
                  <a:moveTo>
                    <a:pt x="31" y="0"/>
                  </a:moveTo>
                  <a:lnTo>
                    <a:pt x="31" y="0"/>
                  </a:lnTo>
                  <a:lnTo>
                    <a:pt x="0" y="2"/>
                  </a:lnTo>
                  <a:lnTo>
                    <a:pt x="11" y="2"/>
                  </a:lnTo>
                  <a:lnTo>
                    <a:pt x="31"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6" name="Google Shape;306;p4"/>
            <p:cNvSpPr/>
            <p:nvPr/>
          </p:nvSpPr>
          <p:spPr>
            <a:xfrm>
              <a:off x="6348413" y="2711451"/>
              <a:ext cx="82550" cy="1587"/>
            </a:xfrm>
            <a:custGeom>
              <a:avLst/>
              <a:gdLst/>
              <a:ahLst/>
              <a:cxnLst/>
              <a:rect l="l" t="t" r="r" b="b"/>
              <a:pathLst>
                <a:path w="43" h="1" extrusionOk="0">
                  <a:moveTo>
                    <a:pt x="9" y="1"/>
                  </a:moveTo>
                  <a:lnTo>
                    <a:pt x="9" y="1"/>
                  </a:lnTo>
                  <a:cubicBezTo>
                    <a:pt x="18" y="1"/>
                    <a:pt x="33" y="1"/>
                    <a:pt x="41" y="1"/>
                  </a:cubicBezTo>
                  <a:cubicBezTo>
                    <a:pt x="43" y="0"/>
                    <a:pt x="0" y="1"/>
                    <a:pt x="9"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7" name="Google Shape;307;p4"/>
            <p:cNvSpPr/>
            <p:nvPr/>
          </p:nvSpPr>
          <p:spPr>
            <a:xfrm>
              <a:off x="6734175" y="2771775"/>
              <a:ext cx="96838" cy="6350"/>
            </a:xfrm>
            <a:custGeom>
              <a:avLst/>
              <a:gdLst/>
              <a:ahLst/>
              <a:cxnLst/>
              <a:rect l="l" t="t" r="r" b="b"/>
              <a:pathLst>
                <a:path w="50" h="3" extrusionOk="0">
                  <a:moveTo>
                    <a:pt x="0" y="2"/>
                  </a:moveTo>
                  <a:lnTo>
                    <a:pt x="0" y="2"/>
                  </a:lnTo>
                  <a:cubicBezTo>
                    <a:pt x="6" y="3"/>
                    <a:pt x="37" y="2"/>
                    <a:pt x="50" y="3"/>
                  </a:cubicBezTo>
                  <a:cubicBezTo>
                    <a:pt x="32" y="2"/>
                    <a:pt x="17"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8" name="Google Shape;308;p4"/>
            <p:cNvSpPr/>
            <p:nvPr/>
          </p:nvSpPr>
          <p:spPr>
            <a:xfrm>
              <a:off x="6091238" y="2722563"/>
              <a:ext cx="95250" cy="7937"/>
            </a:xfrm>
            <a:custGeom>
              <a:avLst/>
              <a:gdLst/>
              <a:ahLst/>
              <a:cxnLst/>
              <a:rect l="l" t="t" r="r" b="b"/>
              <a:pathLst>
                <a:path w="49" h="4" extrusionOk="0">
                  <a:moveTo>
                    <a:pt x="0" y="1"/>
                  </a:moveTo>
                  <a:lnTo>
                    <a:pt x="0" y="1"/>
                  </a:lnTo>
                  <a:cubicBezTo>
                    <a:pt x="10" y="2"/>
                    <a:pt x="24" y="2"/>
                    <a:pt x="18" y="4"/>
                  </a:cubicBezTo>
                  <a:cubicBezTo>
                    <a:pt x="31" y="3"/>
                    <a:pt x="4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9" name="Google Shape;309;p4"/>
            <p:cNvSpPr/>
            <p:nvPr/>
          </p:nvSpPr>
          <p:spPr>
            <a:xfrm>
              <a:off x="6559550" y="2773363"/>
              <a:ext cx="80963" cy="3175"/>
            </a:xfrm>
            <a:custGeom>
              <a:avLst/>
              <a:gdLst/>
              <a:ahLst/>
              <a:cxnLst/>
              <a:rect l="l" t="t" r="r" b="b"/>
              <a:pathLst>
                <a:path w="42" h="1" extrusionOk="0">
                  <a:moveTo>
                    <a:pt x="0" y="1"/>
                  </a:moveTo>
                  <a:lnTo>
                    <a:pt x="0" y="1"/>
                  </a:lnTo>
                  <a:lnTo>
                    <a:pt x="8" y="1"/>
                  </a:lnTo>
                  <a:lnTo>
                    <a:pt x="42"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0" name="Google Shape;310;p4"/>
            <p:cNvSpPr/>
            <p:nvPr/>
          </p:nvSpPr>
          <p:spPr>
            <a:xfrm>
              <a:off x="6640513" y="2806700"/>
              <a:ext cx="227013" cy="15875"/>
            </a:xfrm>
            <a:custGeom>
              <a:avLst/>
              <a:gdLst/>
              <a:ahLst/>
              <a:cxnLst/>
              <a:rect l="l" t="t" r="r" b="b"/>
              <a:pathLst>
                <a:path w="118" h="7" extrusionOk="0">
                  <a:moveTo>
                    <a:pt x="80" y="7"/>
                  </a:moveTo>
                  <a:lnTo>
                    <a:pt x="80" y="7"/>
                  </a:lnTo>
                  <a:cubicBezTo>
                    <a:pt x="118" y="5"/>
                    <a:pt x="19" y="3"/>
                    <a:pt x="85" y="1"/>
                  </a:cubicBezTo>
                  <a:cubicBezTo>
                    <a:pt x="0" y="0"/>
                    <a:pt x="92" y="4"/>
                    <a:pt x="29" y="4"/>
                  </a:cubicBezTo>
                  <a:cubicBezTo>
                    <a:pt x="66" y="4"/>
                    <a:pt x="84" y="6"/>
                    <a:pt x="80"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1" name="Google Shape;311;p4"/>
            <p:cNvSpPr/>
            <p:nvPr/>
          </p:nvSpPr>
          <p:spPr>
            <a:xfrm>
              <a:off x="6661150" y="2814638"/>
              <a:ext cx="34925" cy="1587"/>
            </a:xfrm>
            <a:custGeom>
              <a:avLst/>
              <a:gdLst/>
              <a:ahLst/>
              <a:cxnLst/>
              <a:rect l="l" t="t" r="r" b="b"/>
              <a:pathLst>
                <a:path w="18" h="1" extrusionOk="0">
                  <a:moveTo>
                    <a:pt x="18" y="1"/>
                  </a:moveTo>
                  <a:lnTo>
                    <a:pt x="18" y="1"/>
                  </a:lnTo>
                  <a:lnTo>
                    <a:pt x="0" y="0"/>
                  </a:lnTo>
                  <a:lnTo>
                    <a:pt x="18"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2" name="Google Shape;312;p4"/>
            <p:cNvSpPr/>
            <p:nvPr/>
          </p:nvSpPr>
          <p:spPr>
            <a:xfrm>
              <a:off x="5661025" y="2789238"/>
              <a:ext cx="23813" cy="1587"/>
            </a:xfrm>
            <a:custGeom>
              <a:avLst/>
              <a:gdLst/>
              <a:ahLst/>
              <a:cxnLst/>
              <a:rect l="l" t="t" r="r" b="b"/>
              <a:pathLst>
                <a:path w="13" h="1" extrusionOk="0">
                  <a:moveTo>
                    <a:pt x="0" y="1"/>
                  </a:moveTo>
                  <a:lnTo>
                    <a:pt x="0" y="1"/>
                  </a:lnTo>
                  <a:lnTo>
                    <a:pt x="13" y="0"/>
                  </a:lnTo>
                  <a:lnTo>
                    <a:pt x="0"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3" name="Google Shape;313;p4"/>
            <p:cNvSpPr/>
            <p:nvPr/>
          </p:nvSpPr>
          <p:spPr>
            <a:xfrm>
              <a:off x="6162675" y="2814638"/>
              <a:ext cx="258763" cy="7937"/>
            </a:xfrm>
            <a:custGeom>
              <a:avLst/>
              <a:gdLst/>
              <a:ahLst/>
              <a:cxnLst/>
              <a:rect l="l" t="t" r="r" b="b"/>
              <a:pathLst>
                <a:path w="135" h="4" extrusionOk="0">
                  <a:moveTo>
                    <a:pt x="77" y="2"/>
                  </a:moveTo>
                  <a:lnTo>
                    <a:pt x="77" y="2"/>
                  </a:lnTo>
                  <a:lnTo>
                    <a:pt x="135" y="0"/>
                  </a:lnTo>
                  <a:cubicBezTo>
                    <a:pt x="96" y="1"/>
                    <a:pt x="0" y="1"/>
                    <a:pt x="6" y="4"/>
                  </a:cubicBezTo>
                  <a:cubicBezTo>
                    <a:pt x="37" y="4"/>
                    <a:pt x="75" y="4"/>
                    <a:pt x="90" y="3"/>
                  </a:cubicBezTo>
                  <a:lnTo>
                    <a:pt x="77"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4" name="Google Shape;314;p4"/>
            <p:cNvSpPr/>
            <p:nvPr/>
          </p:nvSpPr>
          <p:spPr>
            <a:xfrm>
              <a:off x="5019675" y="2713038"/>
              <a:ext cx="73025" cy="4762"/>
            </a:xfrm>
            <a:custGeom>
              <a:avLst/>
              <a:gdLst/>
              <a:ahLst/>
              <a:cxnLst/>
              <a:rect l="l" t="t" r="r" b="b"/>
              <a:pathLst>
                <a:path w="38" h="2" extrusionOk="0">
                  <a:moveTo>
                    <a:pt x="13" y="1"/>
                  </a:moveTo>
                  <a:lnTo>
                    <a:pt x="13" y="1"/>
                  </a:lnTo>
                  <a:lnTo>
                    <a:pt x="38" y="0"/>
                  </a:lnTo>
                  <a:lnTo>
                    <a:pt x="7" y="0"/>
                  </a:lnTo>
                  <a:cubicBezTo>
                    <a:pt x="16" y="0"/>
                    <a:pt x="0" y="2"/>
                    <a:pt x="1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5" name="Google Shape;315;p4"/>
            <p:cNvSpPr/>
            <p:nvPr/>
          </p:nvSpPr>
          <p:spPr>
            <a:xfrm>
              <a:off x="5021263" y="2713038"/>
              <a:ext cx="11113" cy="0"/>
            </a:xfrm>
            <a:custGeom>
              <a:avLst/>
              <a:gdLst/>
              <a:ahLst/>
              <a:cxnLst/>
              <a:rect l="l" t="t" r="r" b="b"/>
              <a:pathLst>
                <a:path w="6" h="120000" extrusionOk="0">
                  <a:moveTo>
                    <a:pt x="0" y="0"/>
                  </a:moveTo>
                  <a:lnTo>
                    <a:pt x="0" y="0"/>
                  </a:lnTo>
                  <a:lnTo>
                    <a:pt x="6"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6" name="Google Shape;316;p4"/>
            <p:cNvSpPr/>
            <p:nvPr/>
          </p:nvSpPr>
          <p:spPr>
            <a:xfrm>
              <a:off x="5864225" y="2784475"/>
              <a:ext cx="101600" cy="4762"/>
            </a:xfrm>
            <a:custGeom>
              <a:avLst/>
              <a:gdLst/>
              <a:ahLst/>
              <a:cxnLst/>
              <a:rect l="l" t="t" r="r" b="b"/>
              <a:pathLst>
                <a:path w="53" h="2" extrusionOk="0">
                  <a:moveTo>
                    <a:pt x="3" y="2"/>
                  </a:moveTo>
                  <a:lnTo>
                    <a:pt x="3" y="2"/>
                  </a:lnTo>
                  <a:cubicBezTo>
                    <a:pt x="21" y="2"/>
                    <a:pt x="36" y="2"/>
                    <a:pt x="53" y="1"/>
                  </a:cubicBezTo>
                  <a:cubicBezTo>
                    <a:pt x="46" y="1"/>
                    <a:pt x="0" y="0"/>
                    <a:pt x="3"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7" name="Google Shape;317;p4"/>
            <p:cNvSpPr/>
            <p:nvPr/>
          </p:nvSpPr>
          <p:spPr>
            <a:xfrm>
              <a:off x="4703763" y="2722563"/>
              <a:ext cx="84138" cy="1587"/>
            </a:xfrm>
            <a:custGeom>
              <a:avLst/>
              <a:gdLst/>
              <a:ahLst/>
              <a:cxnLst/>
              <a:rect l="l" t="t" r="r" b="b"/>
              <a:pathLst>
                <a:path w="44" h="1" extrusionOk="0">
                  <a:moveTo>
                    <a:pt x="3" y="1"/>
                  </a:moveTo>
                  <a:lnTo>
                    <a:pt x="3" y="1"/>
                  </a:lnTo>
                  <a:lnTo>
                    <a:pt x="44" y="0"/>
                  </a:lnTo>
                  <a:lnTo>
                    <a:pt x="0" y="0"/>
                  </a:lnTo>
                  <a:lnTo>
                    <a:pt x="3"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8" name="Google Shape;318;p4"/>
            <p:cNvSpPr/>
            <p:nvPr/>
          </p:nvSpPr>
          <p:spPr>
            <a:xfrm>
              <a:off x="4264025" y="2713038"/>
              <a:ext cx="77788" cy="4762"/>
            </a:xfrm>
            <a:custGeom>
              <a:avLst/>
              <a:gdLst/>
              <a:ahLst/>
              <a:cxnLst/>
              <a:rect l="l" t="t" r="r" b="b"/>
              <a:pathLst>
                <a:path w="41" h="2" extrusionOk="0">
                  <a:moveTo>
                    <a:pt x="41" y="1"/>
                  </a:moveTo>
                  <a:lnTo>
                    <a:pt x="41" y="1"/>
                  </a:lnTo>
                  <a:lnTo>
                    <a:pt x="34" y="0"/>
                  </a:lnTo>
                  <a:lnTo>
                    <a:pt x="0" y="1"/>
                  </a:lnTo>
                  <a:lnTo>
                    <a:pt x="7" y="2"/>
                  </a:lnTo>
                  <a:lnTo>
                    <a:pt x="4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9" name="Google Shape;319;p4"/>
            <p:cNvSpPr/>
            <p:nvPr/>
          </p:nvSpPr>
          <p:spPr>
            <a:xfrm>
              <a:off x="4800600" y="2822575"/>
              <a:ext cx="117475" cy="7937"/>
            </a:xfrm>
            <a:custGeom>
              <a:avLst/>
              <a:gdLst/>
              <a:ahLst/>
              <a:cxnLst/>
              <a:rect l="l" t="t" r="r" b="b"/>
              <a:pathLst>
                <a:path w="61" h="3" extrusionOk="0">
                  <a:moveTo>
                    <a:pt x="11" y="2"/>
                  </a:moveTo>
                  <a:lnTo>
                    <a:pt x="11" y="2"/>
                  </a:lnTo>
                  <a:cubicBezTo>
                    <a:pt x="39" y="3"/>
                    <a:pt x="61" y="0"/>
                    <a:pt x="54" y="0"/>
                  </a:cubicBezTo>
                  <a:lnTo>
                    <a:pt x="0" y="0"/>
                  </a:lnTo>
                  <a:cubicBezTo>
                    <a:pt x="13" y="2"/>
                    <a:pt x="15" y="0"/>
                    <a:pt x="46" y="0"/>
                  </a:cubicBezTo>
                  <a:lnTo>
                    <a:pt x="11"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0" name="Google Shape;320;p4"/>
            <p:cNvSpPr/>
            <p:nvPr/>
          </p:nvSpPr>
          <p:spPr>
            <a:xfrm>
              <a:off x="187325" y="2714625"/>
              <a:ext cx="1925638" cy="31750"/>
            </a:xfrm>
            <a:custGeom>
              <a:avLst/>
              <a:gdLst/>
              <a:ahLst/>
              <a:cxnLst/>
              <a:rect l="l" t="t" r="r" b="b"/>
              <a:pathLst>
                <a:path w="1004" h="14" extrusionOk="0">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1" name="Google Shape;321;p4"/>
            <p:cNvSpPr/>
            <p:nvPr/>
          </p:nvSpPr>
          <p:spPr>
            <a:xfrm>
              <a:off x="1947862" y="2735263"/>
              <a:ext cx="47625" cy="0"/>
            </a:xfrm>
            <a:custGeom>
              <a:avLst/>
              <a:gdLst/>
              <a:ahLst/>
              <a:cxnLst/>
              <a:rect l="l" t="t" r="r" b="b"/>
              <a:pathLst>
                <a:path w="25" h="120000" extrusionOk="0">
                  <a:moveTo>
                    <a:pt x="0" y="0"/>
                  </a:moveTo>
                  <a:lnTo>
                    <a:pt x="0" y="0"/>
                  </a:lnTo>
                  <a:lnTo>
                    <a:pt x="25" y="0"/>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2" name="Google Shape;322;p4"/>
            <p:cNvSpPr/>
            <p:nvPr/>
          </p:nvSpPr>
          <p:spPr>
            <a:xfrm>
              <a:off x="112712" y="2724150"/>
              <a:ext cx="74613" cy="0"/>
            </a:xfrm>
            <a:custGeom>
              <a:avLst/>
              <a:gdLst/>
              <a:ahLst/>
              <a:cxnLst/>
              <a:rect l="l" t="t" r="r" b="b"/>
              <a:pathLst>
                <a:path w="39" h="120000" extrusionOk="0">
                  <a:moveTo>
                    <a:pt x="0" y="0"/>
                  </a:moveTo>
                  <a:lnTo>
                    <a:pt x="0" y="0"/>
                  </a:lnTo>
                  <a:lnTo>
                    <a:pt x="39" y="0"/>
                  </a:lnTo>
                  <a:cubicBezTo>
                    <a:pt x="27" y="0"/>
                    <a:pt x="14"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3" name="Google Shape;323;p4"/>
            <p:cNvSpPr/>
            <p:nvPr/>
          </p:nvSpPr>
          <p:spPr>
            <a:xfrm>
              <a:off x="2187575" y="2717800"/>
              <a:ext cx="176213" cy="6350"/>
            </a:xfrm>
            <a:custGeom>
              <a:avLst/>
              <a:gdLst/>
              <a:ahLst/>
              <a:cxnLst/>
              <a:rect l="l" t="t" r="r" b="b"/>
              <a:pathLst>
                <a:path w="92" h="3" extrusionOk="0">
                  <a:moveTo>
                    <a:pt x="71" y="3"/>
                  </a:moveTo>
                  <a:lnTo>
                    <a:pt x="71" y="3"/>
                  </a:lnTo>
                  <a:cubicBezTo>
                    <a:pt x="47" y="2"/>
                    <a:pt x="88" y="1"/>
                    <a:pt x="92" y="0"/>
                  </a:cubicBezTo>
                  <a:lnTo>
                    <a:pt x="8" y="1"/>
                  </a:lnTo>
                  <a:cubicBezTo>
                    <a:pt x="8" y="1"/>
                    <a:pt x="0" y="2"/>
                    <a:pt x="2" y="3"/>
                  </a:cubicBezTo>
                  <a:lnTo>
                    <a:pt x="71"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4" name="Google Shape;324;p4"/>
            <p:cNvSpPr/>
            <p:nvPr/>
          </p:nvSpPr>
          <p:spPr>
            <a:xfrm>
              <a:off x="2112962" y="2714625"/>
              <a:ext cx="90488" cy="4762"/>
            </a:xfrm>
            <a:custGeom>
              <a:avLst/>
              <a:gdLst/>
              <a:ahLst/>
              <a:cxnLst/>
              <a:rect l="l" t="t" r="r" b="b"/>
              <a:pathLst>
                <a:path w="47" h="2" extrusionOk="0">
                  <a:moveTo>
                    <a:pt x="22" y="0"/>
                  </a:moveTo>
                  <a:lnTo>
                    <a:pt x="22" y="0"/>
                  </a:lnTo>
                  <a:cubicBezTo>
                    <a:pt x="19" y="1"/>
                    <a:pt x="11" y="1"/>
                    <a:pt x="0" y="2"/>
                  </a:cubicBezTo>
                  <a:lnTo>
                    <a:pt x="47" y="2"/>
                  </a:lnTo>
                  <a:cubicBezTo>
                    <a:pt x="47" y="1"/>
                    <a:pt x="41" y="0"/>
                    <a:pt x="2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5" name="Google Shape;325;p4"/>
            <p:cNvSpPr/>
            <p:nvPr/>
          </p:nvSpPr>
          <p:spPr>
            <a:xfrm>
              <a:off x="2101850" y="2811463"/>
              <a:ext cx="71438" cy="3175"/>
            </a:xfrm>
            <a:custGeom>
              <a:avLst/>
              <a:gdLst/>
              <a:ahLst/>
              <a:cxnLst/>
              <a:rect l="l" t="t" r="r" b="b"/>
              <a:pathLst>
                <a:path w="37" h="1" extrusionOk="0">
                  <a:moveTo>
                    <a:pt x="37" y="0"/>
                  </a:moveTo>
                  <a:lnTo>
                    <a:pt x="37" y="0"/>
                  </a:lnTo>
                  <a:lnTo>
                    <a:pt x="22" y="1"/>
                  </a:lnTo>
                  <a:lnTo>
                    <a:pt x="0" y="1"/>
                  </a:lnTo>
                  <a:lnTo>
                    <a:pt x="3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6" name="Google Shape;326;p4"/>
            <p:cNvSpPr/>
            <p:nvPr/>
          </p:nvSpPr>
          <p:spPr>
            <a:xfrm>
              <a:off x="1724025" y="2805113"/>
              <a:ext cx="120650" cy="4762"/>
            </a:xfrm>
            <a:custGeom>
              <a:avLst/>
              <a:gdLst/>
              <a:ahLst/>
              <a:cxnLst/>
              <a:rect l="l" t="t" r="r" b="b"/>
              <a:pathLst>
                <a:path w="63" h="2" extrusionOk="0">
                  <a:moveTo>
                    <a:pt x="0" y="0"/>
                  </a:moveTo>
                  <a:lnTo>
                    <a:pt x="0" y="0"/>
                  </a:lnTo>
                  <a:cubicBezTo>
                    <a:pt x="18" y="2"/>
                    <a:pt x="52" y="1"/>
                    <a:pt x="63" y="0"/>
                  </a:cubicBezTo>
                  <a:cubicBezTo>
                    <a:pt x="24" y="0"/>
                    <a:pt x="41"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7" name="Google Shape;327;p4"/>
            <p:cNvSpPr/>
            <p:nvPr/>
          </p:nvSpPr>
          <p:spPr>
            <a:xfrm>
              <a:off x="1744662" y="2833688"/>
              <a:ext cx="73025" cy="3175"/>
            </a:xfrm>
            <a:custGeom>
              <a:avLst/>
              <a:gdLst/>
              <a:ahLst/>
              <a:cxnLst/>
              <a:rect l="l" t="t" r="r" b="b"/>
              <a:pathLst>
                <a:path w="38" h="1" extrusionOk="0">
                  <a:moveTo>
                    <a:pt x="38" y="0"/>
                  </a:moveTo>
                  <a:lnTo>
                    <a:pt x="38" y="0"/>
                  </a:lnTo>
                  <a:lnTo>
                    <a:pt x="0" y="1"/>
                  </a:lnTo>
                  <a:lnTo>
                    <a:pt x="3" y="1"/>
                  </a:lnTo>
                  <a:lnTo>
                    <a:pt x="3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8" name="Google Shape;328;p4"/>
            <p:cNvSpPr/>
            <p:nvPr/>
          </p:nvSpPr>
          <p:spPr>
            <a:xfrm>
              <a:off x="-474663" y="2741613"/>
              <a:ext cx="34925" cy="0"/>
            </a:xfrm>
            <a:custGeom>
              <a:avLst/>
              <a:gdLst/>
              <a:ahLst/>
              <a:cxnLst/>
              <a:rect l="l" t="t" r="r" b="b"/>
              <a:pathLst>
                <a:path w="18" h="120000" extrusionOk="0">
                  <a:moveTo>
                    <a:pt x="18" y="0"/>
                  </a:moveTo>
                  <a:lnTo>
                    <a:pt x="18" y="0"/>
                  </a:lnTo>
                  <a:lnTo>
                    <a:pt x="0" y="0"/>
                  </a:lnTo>
                  <a:lnTo>
                    <a:pt x="1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29" name="Google Shape;329;p4"/>
            <p:cNvSpPr/>
            <p:nvPr/>
          </p:nvSpPr>
          <p:spPr>
            <a:xfrm>
              <a:off x="-947738" y="2725738"/>
              <a:ext cx="1239838" cy="19050"/>
            </a:xfrm>
            <a:custGeom>
              <a:avLst/>
              <a:gdLst/>
              <a:ahLst/>
              <a:cxnLst/>
              <a:rect l="l" t="t" r="r" b="b"/>
              <a:pathLst>
                <a:path w="647" h="8" extrusionOk="0">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0" name="Google Shape;330;p4"/>
            <p:cNvSpPr/>
            <p:nvPr/>
          </p:nvSpPr>
          <p:spPr>
            <a:xfrm>
              <a:off x="-1944688" y="2741613"/>
              <a:ext cx="4763" cy="0"/>
            </a:xfrm>
            <a:custGeom>
              <a:avLst/>
              <a:gdLst/>
              <a:ahLst/>
              <a:cxnLst/>
              <a:rect l="l" t="t" r="r" b="b"/>
              <a:pathLst>
                <a:path w="2" h="120000" extrusionOk="0">
                  <a:moveTo>
                    <a:pt x="1" y="0"/>
                  </a:moveTo>
                  <a:lnTo>
                    <a:pt x="1" y="0"/>
                  </a:lnTo>
                  <a:lnTo>
                    <a:pt x="2" y="0"/>
                  </a:lnTo>
                  <a:cubicBezTo>
                    <a:pt x="0" y="0"/>
                    <a:pt x="0"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1" name="Google Shape;331;p4"/>
            <p:cNvSpPr/>
            <p:nvPr/>
          </p:nvSpPr>
          <p:spPr>
            <a:xfrm>
              <a:off x="-1939925" y="2735263"/>
              <a:ext cx="173038" cy="6350"/>
            </a:xfrm>
            <a:custGeom>
              <a:avLst/>
              <a:gdLst/>
              <a:ahLst/>
              <a:cxnLst/>
              <a:rect l="l" t="t" r="r" b="b"/>
              <a:pathLst>
                <a:path w="90" h="3" extrusionOk="0">
                  <a:moveTo>
                    <a:pt x="36" y="3"/>
                  </a:moveTo>
                  <a:lnTo>
                    <a:pt x="36" y="3"/>
                  </a:lnTo>
                  <a:lnTo>
                    <a:pt x="90" y="0"/>
                  </a:lnTo>
                  <a:lnTo>
                    <a:pt x="6" y="1"/>
                  </a:lnTo>
                  <a:lnTo>
                    <a:pt x="0" y="3"/>
                  </a:lnTo>
                  <a:cubicBezTo>
                    <a:pt x="8" y="2"/>
                    <a:pt x="37" y="1"/>
                    <a:pt x="48" y="2"/>
                  </a:cubicBezTo>
                  <a:lnTo>
                    <a:pt x="36"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2" name="Google Shape;332;p4"/>
            <p:cNvSpPr/>
            <p:nvPr/>
          </p:nvSpPr>
          <p:spPr>
            <a:xfrm>
              <a:off x="-1773238" y="2733675"/>
              <a:ext cx="123825" cy="12700"/>
            </a:xfrm>
            <a:custGeom>
              <a:avLst/>
              <a:gdLst/>
              <a:ahLst/>
              <a:cxnLst/>
              <a:rect l="l" t="t" r="r" b="b"/>
              <a:pathLst>
                <a:path w="65" h="6" extrusionOk="0">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3" name="Google Shape;333;p4"/>
            <p:cNvSpPr/>
            <p:nvPr/>
          </p:nvSpPr>
          <p:spPr>
            <a:xfrm>
              <a:off x="-1057275" y="2735263"/>
              <a:ext cx="57150" cy="3175"/>
            </a:xfrm>
            <a:custGeom>
              <a:avLst/>
              <a:gdLst/>
              <a:ahLst/>
              <a:cxnLst/>
              <a:rect l="l" t="t" r="r" b="b"/>
              <a:pathLst>
                <a:path w="30" h="1" extrusionOk="0">
                  <a:moveTo>
                    <a:pt x="12" y="0"/>
                  </a:moveTo>
                  <a:lnTo>
                    <a:pt x="12" y="0"/>
                  </a:lnTo>
                  <a:lnTo>
                    <a:pt x="0" y="1"/>
                  </a:lnTo>
                  <a:lnTo>
                    <a:pt x="30" y="1"/>
                  </a:lnTo>
                  <a:lnTo>
                    <a:pt x="1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4" name="Google Shape;334;p4"/>
            <p:cNvSpPr/>
            <p:nvPr/>
          </p:nvSpPr>
          <p:spPr>
            <a:xfrm>
              <a:off x="-1116013" y="2738438"/>
              <a:ext cx="58738" cy="3175"/>
            </a:xfrm>
            <a:custGeom>
              <a:avLst/>
              <a:gdLst/>
              <a:ahLst/>
              <a:cxnLst/>
              <a:rect l="l" t="t" r="r" b="b"/>
              <a:pathLst>
                <a:path w="30" h="2" extrusionOk="0">
                  <a:moveTo>
                    <a:pt x="30" y="0"/>
                  </a:moveTo>
                  <a:lnTo>
                    <a:pt x="30" y="0"/>
                  </a:lnTo>
                  <a:lnTo>
                    <a:pt x="0" y="0"/>
                  </a:lnTo>
                  <a:cubicBezTo>
                    <a:pt x="2" y="0"/>
                    <a:pt x="4" y="1"/>
                    <a:pt x="9" y="2"/>
                  </a:cubicBezTo>
                  <a:lnTo>
                    <a:pt x="3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5" name="Google Shape;335;p4"/>
            <p:cNvSpPr/>
            <p:nvPr/>
          </p:nvSpPr>
          <p:spPr>
            <a:xfrm>
              <a:off x="-1349375" y="2735263"/>
              <a:ext cx="84138" cy="0"/>
            </a:xfrm>
            <a:custGeom>
              <a:avLst/>
              <a:gdLst/>
              <a:ahLst/>
              <a:cxnLst/>
              <a:rect l="l" t="t" r="r" b="b"/>
              <a:pathLst>
                <a:path w="44" h="120000" extrusionOk="0">
                  <a:moveTo>
                    <a:pt x="44" y="0"/>
                  </a:moveTo>
                  <a:lnTo>
                    <a:pt x="44" y="0"/>
                  </a:lnTo>
                  <a:lnTo>
                    <a:pt x="0" y="0"/>
                  </a:lnTo>
                  <a:lnTo>
                    <a:pt x="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6" name="Google Shape;336;p4"/>
            <p:cNvSpPr/>
            <p:nvPr/>
          </p:nvSpPr>
          <p:spPr>
            <a:xfrm>
              <a:off x="-1265238" y="2735263"/>
              <a:ext cx="65088" cy="3175"/>
            </a:xfrm>
            <a:custGeom>
              <a:avLst/>
              <a:gdLst/>
              <a:ahLst/>
              <a:cxnLst/>
              <a:rect l="l" t="t" r="r" b="b"/>
              <a:pathLst>
                <a:path w="34" h="1" extrusionOk="0">
                  <a:moveTo>
                    <a:pt x="34" y="1"/>
                  </a:moveTo>
                  <a:lnTo>
                    <a:pt x="34" y="1"/>
                  </a:lnTo>
                  <a:lnTo>
                    <a:pt x="33" y="0"/>
                  </a:lnTo>
                  <a:lnTo>
                    <a:pt x="0" y="0"/>
                  </a:lnTo>
                  <a:lnTo>
                    <a:pt x="34"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7" name="Google Shape;337;p4"/>
            <p:cNvSpPr/>
            <p:nvPr/>
          </p:nvSpPr>
          <p:spPr>
            <a:xfrm>
              <a:off x="-1219200" y="2728913"/>
              <a:ext cx="103188" cy="9525"/>
            </a:xfrm>
            <a:custGeom>
              <a:avLst/>
              <a:gdLst/>
              <a:ahLst/>
              <a:cxnLst/>
              <a:rect l="l" t="t" r="r" b="b"/>
              <a:pathLst>
                <a:path w="54" h="4" extrusionOk="0">
                  <a:moveTo>
                    <a:pt x="54" y="4"/>
                  </a:moveTo>
                  <a:lnTo>
                    <a:pt x="54" y="4"/>
                  </a:lnTo>
                  <a:cubicBezTo>
                    <a:pt x="49" y="2"/>
                    <a:pt x="43" y="0"/>
                    <a:pt x="0" y="1"/>
                  </a:cubicBezTo>
                  <a:lnTo>
                    <a:pt x="9" y="3"/>
                  </a:lnTo>
                  <a:lnTo>
                    <a:pt x="54"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8" name="Google Shape;338;p4"/>
            <p:cNvSpPr/>
            <p:nvPr/>
          </p:nvSpPr>
          <p:spPr>
            <a:xfrm>
              <a:off x="1225550" y="2830513"/>
              <a:ext cx="73025" cy="3175"/>
            </a:xfrm>
            <a:custGeom>
              <a:avLst/>
              <a:gdLst/>
              <a:ahLst/>
              <a:cxnLst/>
              <a:rect l="l" t="t" r="r" b="b"/>
              <a:pathLst>
                <a:path w="38" h="2" extrusionOk="0">
                  <a:moveTo>
                    <a:pt x="34" y="0"/>
                  </a:moveTo>
                  <a:lnTo>
                    <a:pt x="34" y="0"/>
                  </a:lnTo>
                  <a:lnTo>
                    <a:pt x="0" y="1"/>
                  </a:lnTo>
                  <a:lnTo>
                    <a:pt x="4" y="2"/>
                  </a:lnTo>
                  <a:lnTo>
                    <a:pt x="38" y="1"/>
                  </a:lnTo>
                  <a:lnTo>
                    <a:pt x="3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39" name="Google Shape;339;p4"/>
            <p:cNvSpPr/>
            <p:nvPr/>
          </p:nvSpPr>
          <p:spPr>
            <a:xfrm>
              <a:off x="874712" y="2827338"/>
              <a:ext cx="39688" cy="3175"/>
            </a:xfrm>
            <a:custGeom>
              <a:avLst/>
              <a:gdLst/>
              <a:ahLst/>
              <a:cxnLst/>
              <a:rect l="l" t="t" r="r" b="b"/>
              <a:pathLst>
                <a:path w="21" h="1" extrusionOk="0">
                  <a:moveTo>
                    <a:pt x="21" y="0"/>
                  </a:moveTo>
                  <a:lnTo>
                    <a:pt x="21" y="0"/>
                  </a:lnTo>
                  <a:lnTo>
                    <a:pt x="0" y="1"/>
                  </a:lnTo>
                  <a:cubicBezTo>
                    <a:pt x="9" y="1"/>
                    <a:pt x="16" y="1"/>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0" name="Google Shape;340;p4"/>
            <p:cNvSpPr/>
            <p:nvPr/>
          </p:nvSpPr>
          <p:spPr>
            <a:xfrm>
              <a:off x="417512" y="2827338"/>
              <a:ext cx="457200" cy="31750"/>
            </a:xfrm>
            <a:custGeom>
              <a:avLst/>
              <a:gdLst/>
              <a:ahLst/>
              <a:cxnLst/>
              <a:rect l="l" t="t" r="r" b="b"/>
              <a:pathLst>
                <a:path w="238" h="14" extrusionOk="0">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1" name="Google Shape;341;p4"/>
            <p:cNvSpPr/>
            <p:nvPr/>
          </p:nvSpPr>
          <p:spPr>
            <a:xfrm>
              <a:off x="755650" y="2859087"/>
              <a:ext cx="68263" cy="4762"/>
            </a:xfrm>
            <a:custGeom>
              <a:avLst/>
              <a:gdLst/>
              <a:ahLst/>
              <a:cxnLst/>
              <a:rect l="l" t="t" r="r" b="b"/>
              <a:pathLst>
                <a:path w="36" h="2" extrusionOk="0">
                  <a:moveTo>
                    <a:pt x="0" y="1"/>
                  </a:moveTo>
                  <a:lnTo>
                    <a:pt x="0" y="1"/>
                  </a:lnTo>
                  <a:cubicBezTo>
                    <a:pt x="19" y="2"/>
                    <a:pt x="24" y="1"/>
                    <a:pt x="36" y="1"/>
                  </a:cubicBezTo>
                  <a:cubicBezTo>
                    <a:pt x="33" y="0"/>
                    <a:pt x="15" y="1"/>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2" name="Google Shape;342;p4"/>
            <p:cNvSpPr/>
            <p:nvPr/>
          </p:nvSpPr>
          <p:spPr>
            <a:xfrm>
              <a:off x="-133350" y="2798763"/>
              <a:ext cx="111125" cy="4762"/>
            </a:xfrm>
            <a:custGeom>
              <a:avLst/>
              <a:gdLst/>
              <a:ahLst/>
              <a:cxnLst/>
              <a:rect l="l" t="t" r="r" b="b"/>
              <a:pathLst>
                <a:path w="58" h="2" extrusionOk="0">
                  <a:moveTo>
                    <a:pt x="37" y="0"/>
                  </a:moveTo>
                  <a:lnTo>
                    <a:pt x="37" y="0"/>
                  </a:lnTo>
                  <a:cubicBezTo>
                    <a:pt x="34" y="1"/>
                    <a:pt x="0" y="1"/>
                    <a:pt x="7" y="2"/>
                  </a:cubicBezTo>
                  <a:lnTo>
                    <a:pt x="58" y="2"/>
                  </a:lnTo>
                  <a:cubicBezTo>
                    <a:pt x="46" y="2"/>
                    <a:pt x="42" y="1"/>
                    <a:pt x="3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3" name="Google Shape;343;p4"/>
            <p:cNvSpPr/>
            <p:nvPr/>
          </p:nvSpPr>
          <p:spPr>
            <a:xfrm>
              <a:off x="-22225" y="2800350"/>
              <a:ext cx="44450" cy="3175"/>
            </a:xfrm>
            <a:custGeom>
              <a:avLst/>
              <a:gdLst/>
              <a:ahLst/>
              <a:cxnLst/>
              <a:rect l="l" t="t" r="r" b="b"/>
              <a:pathLst>
                <a:path w="23" h="1" extrusionOk="0">
                  <a:moveTo>
                    <a:pt x="23" y="0"/>
                  </a:moveTo>
                  <a:lnTo>
                    <a:pt x="23" y="0"/>
                  </a:lnTo>
                  <a:lnTo>
                    <a:pt x="0" y="1"/>
                  </a:lnTo>
                  <a:cubicBezTo>
                    <a:pt x="6" y="1"/>
                    <a:pt x="13"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4" name="Google Shape;344;p4"/>
            <p:cNvSpPr/>
            <p:nvPr/>
          </p:nvSpPr>
          <p:spPr>
            <a:xfrm>
              <a:off x="-66675" y="2798763"/>
              <a:ext cx="6350" cy="0"/>
            </a:xfrm>
            <a:custGeom>
              <a:avLst/>
              <a:gdLst/>
              <a:ahLst/>
              <a:cxnLst/>
              <a:rect l="l" t="t" r="r" b="b"/>
              <a:pathLst>
                <a:path w="3" h="120000" extrusionOk="0">
                  <a:moveTo>
                    <a:pt x="0" y="0"/>
                  </a:moveTo>
                  <a:lnTo>
                    <a:pt x="0" y="0"/>
                  </a:lnTo>
                  <a:lnTo>
                    <a:pt x="2" y="0"/>
                  </a:lnTo>
                  <a:cubicBezTo>
                    <a:pt x="3" y="0"/>
                    <a:pt x="3" y="0"/>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5" name="Google Shape;345;p4"/>
            <p:cNvSpPr/>
            <p:nvPr/>
          </p:nvSpPr>
          <p:spPr>
            <a:xfrm>
              <a:off x="-1566863" y="2730500"/>
              <a:ext cx="65088" cy="3175"/>
            </a:xfrm>
            <a:custGeom>
              <a:avLst/>
              <a:gdLst/>
              <a:ahLst/>
              <a:cxnLst/>
              <a:rect l="l" t="t" r="r" b="b"/>
              <a:pathLst>
                <a:path w="34" h="1" extrusionOk="0">
                  <a:moveTo>
                    <a:pt x="33" y="1"/>
                  </a:moveTo>
                  <a:lnTo>
                    <a:pt x="33" y="1"/>
                  </a:lnTo>
                  <a:cubicBezTo>
                    <a:pt x="34" y="0"/>
                    <a:pt x="12" y="1"/>
                    <a:pt x="0" y="1"/>
                  </a:cubicBezTo>
                  <a:cubicBezTo>
                    <a:pt x="9" y="1"/>
                    <a:pt x="22" y="1"/>
                    <a:pt x="33"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6" name="Google Shape;346;p4"/>
            <p:cNvSpPr/>
            <p:nvPr/>
          </p:nvSpPr>
          <p:spPr>
            <a:xfrm>
              <a:off x="-3175000" y="2740025"/>
              <a:ext cx="38100" cy="0"/>
            </a:xfrm>
            <a:custGeom>
              <a:avLst/>
              <a:gdLst/>
              <a:ahLst/>
              <a:cxnLst/>
              <a:rect l="l" t="t" r="r" b="b"/>
              <a:pathLst>
                <a:path w="20" h="120000" extrusionOk="0">
                  <a:moveTo>
                    <a:pt x="20" y="0"/>
                  </a:moveTo>
                  <a:lnTo>
                    <a:pt x="20" y="0"/>
                  </a:lnTo>
                  <a:lnTo>
                    <a:pt x="0" y="0"/>
                  </a:lnTo>
                  <a:cubicBezTo>
                    <a:pt x="7" y="0"/>
                    <a:pt x="11" y="0"/>
                    <a:pt x="2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7" name="Google Shape;347;p4"/>
            <p:cNvSpPr/>
            <p:nvPr/>
          </p:nvSpPr>
          <p:spPr>
            <a:xfrm>
              <a:off x="-3735388" y="2803525"/>
              <a:ext cx="6350" cy="1587"/>
            </a:xfrm>
            <a:custGeom>
              <a:avLst/>
              <a:gdLst/>
              <a:ahLst/>
              <a:cxnLst/>
              <a:rect l="l" t="t" r="r" b="b"/>
              <a:pathLst>
                <a:path w="4" h="1" extrusionOk="0">
                  <a:moveTo>
                    <a:pt x="4" y="0"/>
                  </a:moveTo>
                  <a:lnTo>
                    <a:pt x="4" y="0"/>
                  </a:lnTo>
                  <a:cubicBezTo>
                    <a:pt x="3" y="0"/>
                    <a:pt x="2" y="1"/>
                    <a:pt x="0" y="1"/>
                  </a:cubicBezTo>
                  <a:cubicBezTo>
                    <a:pt x="2" y="1"/>
                    <a:pt x="3" y="1"/>
                    <a:pt x="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48" name="Google Shape;348;p4"/>
            <p:cNvSpPr/>
            <p:nvPr/>
          </p:nvSpPr>
          <p:spPr>
            <a:xfrm>
              <a:off x="-3924300" y="2803525"/>
              <a:ext cx="188913" cy="3175"/>
            </a:xfrm>
            <a:custGeom>
              <a:avLst/>
              <a:gdLst/>
              <a:ahLst/>
              <a:cxnLst/>
              <a:rect l="l" t="t" r="r" b="b"/>
              <a:pathLst>
                <a:path w="98" h="2" extrusionOk="0">
                  <a:moveTo>
                    <a:pt x="98" y="1"/>
                  </a:moveTo>
                  <a:lnTo>
                    <a:pt x="98" y="1"/>
                  </a:lnTo>
                  <a:cubicBezTo>
                    <a:pt x="84" y="2"/>
                    <a:pt x="42" y="0"/>
                    <a:pt x="26" y="1"/>
                  </a:cubicBezTo>
                  <a:lnTo>
                    <a:pt x="28" y="1"/>
                  </a:lnTo>
                  <a:lnTo>
                    <a:pt x="0" y="2"/>
                  </a:lnTo>
                  <a:cubicBezTo>
                    <a:pt x="27" y="2"/>
                    <a:pt x="82" y="2"/>
                    <a:pt x="9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349" name="Google Shape;349;p4"/>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4"/>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1" name="Google Shape;351;p4"/>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52" name="Google Shape;352;p4"/>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0"/>
              </a:spcBef>
              <a:spcAft>
                <a:spcPts val="0"/>
              </a:spcAft>
              <a:buSzPts val="1920"/>
              <a:buNone/>
              <a:defRPr sz="2400">
                <a:solidFill>
                  <a:schemeClr val="lt1"/>
                </a:solidFill>
              </a:defRPr>
            </a:lvl1pPr>
            <a:lvl2pPr marL="914400" lvl="1" indent="-228600" algn="l">
              <a:lnSpc>
                <a:spcPct val="90000"/>
              </a:lnSpc>
              <a:spcBef>
                <a:spcPts val="600"/>
              </a:spcBef>
              <a:spcAft>
                <a:spcPts val="0"/>
              </a:spcAft>
              <a:buSzPts val="1800"/>
              <a:buNone/>
              <a:defRPr sz="1800">
                <a:solidFill>
                  <a:srgbClr val="888888"/>
                </a:solidFill>
              </a:defRPr>
            </a:lvl2pPr>
            <a:lvl3pPr marL="1371600" lvl="2" indent="-228600" algn="l">
              <a:lnSpc>
                <a:spcPct val="90000"/>
              </a:lnSpc>
              <a:spcBef>
                <a:spcPts val="600"/>
              </a:spcBef>
              <a:spcAft>
                <a:spcPts val="0"/>
              </a:spcAft>
              <a:buSzPts val="1280"/>
              <a:buNone/>
              <a:defRPr sz="1600">
                <a:solidFill>
                  <a:srgbClr val="888888"/>
                </a:solidFill>
              </a:defRPr>
            </a:lvl3pPr>
            <a:lvl4pPr marL="1828800" lvl="3" indent="-228600" algn="l">
              <a:lnSpc>
                <a:spcPct val="90000"/>
              </a:lnSpc>
              <a:spcBef>
                <a:spcPts val="600"/>
              </a:spcBef>
              <a:spcAft>
                <a:spcPts val="0"/>
              </a:spcAft>
              <a:buSzPts val="1400"/>
              <a:buNone/>
              <a:defRPr sz="1400">
                <a:solidFill>
                  <a:srgbClr val="888888"/>
                </a:solidFill>
              </a:defRPr>
            </a:lvl4pPr>
            <a:lvl5pPr marL="2286000" lvl="4" indent="-228600" algn="l">
              <a:lnSpc>
                <a:spcPct val="90000"/>
              </a:lnSpc>
              <a:spcBef>
                <a:spcPts val="600"/>
              </a:spcBef>
              <a:spcAft>
                <a:spcPts val="0"/>
              </a:spcAft>
              <a:buSzPts val="1400"/>
              <a:buNone/>
              <a:defRPr sz="1400">
                <a:solidFill>
                  <a:srgbClr val="888888"/>
                </a:solidFill>
              </a:defRPr>
            </a:lvl5pPr>
            <a:lvl6pPr marL="2743200" lvl="5" indent="-228600" algn="l">
              <a:lnSpc>
                <a:spcPct val="90000"/>
              </a:lnSpc>
              <a:spcBef>
                <a:spcPts val="600"/>
              </a:spcBef>
              <a:spcAft>
                <a:spcPts val="0"/>
              </a:spcAft>
              <a:buSzPts val="1400"/>
              <a:buNone/>
              <a:defRPr sz="1400">
                <a:solidFill>
                  <a:srgbClr val="888888"/>
                </a:solidFill>
              </a:defRPr>
            </a:lvl6pPr>
            <a:lvl7pPr marL="3200400" lvl="6" indent="-228600" algn="l">
              <a:lnSpc>
                <a:spcPct val="90000"/>
              </a:lnSpc>
              <a:spcBef>
                <a:spcPts val="600"/>
              </a:spcBef>
              <a:spcAft>
                <a:spcPts val="0"/>
              </a:spcAft>
              <a:buSzPts val="1120"/>
              <a:buNone/>
              <a:defRPr sz="1400">
                <a:solidFill>
                  <a:srgbClr val="888888"/>
                </a:solidFill>
              </a:defRPr>
            </a:lvl7pPr>
            <a:lvl8pPr marL="3657600" lvl="7" indent="-228600" algn="l">
              <a:lnSpc>
                <a:spcPct val="90000"/>
              </a:lnSpc>
              <a:spcBef>
                <a:spcPts val="600"/>
              </a:spcBef>
              <a:spcAft>
                <a:spcPts val="0"/>
              </a:spcAft>
              <a:buSzPts val="1400"/>
              <a:buNone/>
              <a:defRPr sz="1400">
                <a:solidFill>
                  <a:srgbClr val="888888"/>
                </a:solidFill>
              </a:defRPr>
            </a:lvl8pPr>
            <a:lvl9pPr marL="4114800" lvl="8" indent="-228600" algn="l">
              <a:lnSpc>
                <a:spcPct val="90000"/>
              </a:lnSpc>
              <a:spcBef>
                <a:spcPts val="600"/>
              </a:spcBef>
              <a:spcAft>
                <a:spcPts val="0"/>
              </a:spcAft>
              <a:buSzPts val="1120"/>
              <a:buNone/>
              <a:defRPr sz="1400">
                <a:solidFill>
                  <a:srgbClr val="888888"/>
                </a:solidFill>
              </a:defRPr>
            </a:lvl9pPr>
          </a:lstStyle>
          <a:p>
            <a:endParaRPr/>
          </a:p>
        </p:txBody>
      </p:sp>
      <p:sp>
        <p:nvSpPr>
          <p:cNvPr id="353" name="Google Shape;353;p4"/>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400"/>
              <a:buFont typeface="Century Gothic"/>
              <a:buNone/>
              <a:defRPr sz="44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54"/>
        <p:cNvGrpSpPr/>
        <p:nvPr/>
      </p:nvGrpSpPr>
      <p:grpSpPr>
        <a:xfrm>
          <a:off x="0" y="0"/>
          <a:ext cx="0" cy="0"/>
          <a:chOff x="0" y="0"/>
          <a:chExt cx="0" cy="0"/>
        </a:xfrm>
      </p:grpSpPr>
      <p:grpSp>
        <p:nvGrpSpPr>
          <p:cNvPr id="355" name="Google Shape;355;p5"/>
          <p:cNvGrpSpPr/>
          <p:nvPr/>
        </p:nvGrpSpPr>
        <p:grpSpPr>
          <a:xfrm>
            <a:off x="1522413" y="1514475"/>
            <a:ext cx="10569575" cy="64008"/>
            <a:chOff x="1522413" y="1514475"/>
            <a:chExt cx="10569575" cy="64008"/>
          </a:xfrm>
        </p:grpSpPr>
        <p:sp>
          <p:nvSpPr>
            <p:cNvPr id="356" name="Google Shape;356;p5"/>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7" name="Google Shape;357;p5"/>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8" name="Google Shape;358;p5"/>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59" name="Google Shape;359;p5"/>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0" name="Google Shape;360;p5"/>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1" name="Google Shape;361;p5"/>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2" name="Google Shape;362;p5"/>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3" name="Google Shape;363;p5"/>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4" name="Google Shape;364;p5"/>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5" name="Google Shape;365;p5"/>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6" name="Google Shape;366;p5"/>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7" name="Google Shape;367;p5"/>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8" name="Google Shape;368;p5"/>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69" name="Google Shape;369;p5"/>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0" name="Google Shape;370;p5"/>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1" name="Google Shape;371;p5"/>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2" name="Google Shape;372;p5"/>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3" name="Google Shape;373;p5"/>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4" name="Google Shape;374;p5"/>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5" name="Google Shape;375;p5"/>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6" name="Google Shape;376;p5"/>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7" name="Google Shape;377;p5"/>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8" name="Google Shape;378;p5"/>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79" name="Google Shape;379;p5"/>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0" name="Google Shape;380;p5"/>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1" name="Google Shape;381;p5"/>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2" name="Google Shape;382;p5"/>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3" name="Google Shape;383;p5"/>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4" name="Google Shape;384;p5"/>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5" name="Google Shape;385;p5"/>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6" name="Google Shape;386;p5"/>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7" name="Google Shape;387;p5"/>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8" name="Google Shape;388;p5"/>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89" name="Google Shape;389;p5"/>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0" name="Google Shape;390;p5"/>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1" name="Google Shape;391;p5"/>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2" name="Google Shape;392;p5"/>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3" name="Google Shape;393;p5"/>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4" name="Google Shape;394;p5"/>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5" name="Google Shape;395;p5"/>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6" name="Google Shape;396;p5"/>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7" name="Google Shape;397;p5"/>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8" name="Google Shape;398;p5"/>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99" name="Google Shape;399;p5"/>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0" name="Google Shape;400;p5"/>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1" name="Google Shape;401;p5"/>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2" name="Google Shape;402;p5"/>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3" name="Google Shape;403;p5"/>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4" name="Google Shape;404;p5"/>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5" name="Google Shape;405;p5"/>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6" name="Google Shape;406;p5"/>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7" name="Google Shape;407;p5"/>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8" name="Google Shape;408;p5"/>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09" name="Google Shape;409;p5"/>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0" name="Google Shape;410;p5"/>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1" name="Google Shape;411;p5"/>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2" name="Google Shape;412;p5"/>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3" name="Google Shape;413;p5"/>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4" name="Google Shape;414;p5"/>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5" name="Google Shape;415;p5"/>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6" name="Google Shape;416;p5"/>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7" name="Google Shape;417;p5"/>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8" name="Google Shape;418;p5"/>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19" name="Google Shape;419;p5"/>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0" name="Google Shape;420;p5"/>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1" name="Google Shape;421;p5"/>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2" name="Google Shape;422;p5"/>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3" name="Google Shape;423;p5"/>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4" name="Google Shape;424;p5"/>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5" name="Google Shape;425;p5"/>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6" name="Google Shape;426;p5"/>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7" name="Google Shape;427;p5"/>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8" name="Google Shape;428;p5"/>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29" name="Google Shape;429;p5"/>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430" name="Google Shape;430;p5"/>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1" name="Google Shape;431;p5"/>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2" name="Google Shape;432;p5"/>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33" name="Google Shape;433;p5"/>
          <p:cNvSpPr txBox="1">
            <a:spLocks noGrp="1"/>
          </p:cNvSpPr>
          <p:nvPr>
            <p:ph type="body" idx="1"/>
          </p:nvPr>
        </p:nvSpPr>
        <p:spPr>
          <a:xfrm>
            <a:off x="6249860" y="2819399"/>
            <a:ext cx="4416552" cy="3352801"/>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434" name="Google Shape;434;p5"/>
          <p:cNvSpPr txBox="1">
            <a:spLocks noGrp="1"/>
          </p:cNvSpPr>
          <p:nvPr>
            <p:ph type="body" idx="2"/>
          </p:nvPr>
        </p:nvSpPr>
        <p:spPr>
          <a:xfrm>
            <a:off x="6249860" y="1905000"/>
            <a:ext cx="4416552" cy="762000"/>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0"/>
              </a:spcBef>
              <a:spcAft>
                <a:spcPts val="0"/>
              </a:spcAft>
              <a:buSzPts val="1920"/>
              <a:buNone/>
              <a:defRPr sz="2400" b="0"/>
            </a:lvl1pPr>
            <a:lvl2pPr marL="914400" lvl="1" indent="-228600" algn="l">
              <a:lnSpc>
                <a:spcPct val="90000"/>
              </a:lnSpc>
              <a:spcBef>
                <a:spcPts val="600"/>
              </a:spcBef>
              <a:spcAft>
                <a:spcPts val="0"/>
              </a:spcAft>
              <a:buSzPts val="2000"/>
              <a:buNone/>
              <a:defRPr sz="2000" b="1"/>
            </a:lvl2pPr>
            <a:lvl3pPr marL="1371600" lvl="2" indent="-228600" algn="l">
              <a:lnSpc>
                <a:spcPct val="90000"/>
              </a:lnSpc>
              <a:spcBef>
                <a:spcPts val="600"/>
              </a:spcBef>
              <a:spcAft>
                <a:spcPts val="0"/>
              </a:spcAft>
              <a:buSzPts val="1440"/>
              <a:buNone/>
              <a:defRPr sz="1800" b="1"/>
            </a:lvl3pPr>
            <a:lvl4pPr marL="1828800" lvl="3" indent="-228600" algn="l">
              <a:lnSpc>
                <a:spcPct val="90000"/>
              </a:lnSpc>
              <a:spcBef>
                <a:spcPts val="600"/>
              </a:spcBef>
              <a:spcAft>
                <a:spcPts val="0"/>
              </a:spcAft>
              <a:buSzPts val="1600"/>
              <a:buNone/>
              <a:defRPr sz="1600" b="1"/>
            </a:lvl4pPr>
            <a:lvl5pPr marL="2286000" lvl="4" indent="-228600" algn="l">
              <a:lnSpc>
                <a:spcPct val="90000"/>
              </a:lnSpc>
              <a:spcBef>
                <a:spcPts val="600"/>
              </a:spcBef>
              <a:spcAft>
                <a:spcPts val="0"/>
              </a:spcAft>
              <a:buSzPts val="1600"/>
              <a:buNone/>
              <a:defRPr sz="1600" b="1"/>
            </a:lvl5pPr>
            <a:lvl6pPr marL="2743200" lvl="5" indent="-228600" algn="l">
              <a:lnSpc>
                <a:spcPct val="90000"/>
              </a:lnSpc>
              <a:spcBef>
                <a:spcPts val="600"/>
              </a:spcBef>
              <a:spcAft>
                <a:spcPts val="0"/>
              </a:spcAft>
              <a:buSzPts val="1600"/>
              <a:buNone/>
              <a:defRPr sz="1600" b="1"/>
            </a:lvl6pPr>
            <a:lvl7pPr marL="3200400" lvl="6" indent="-228600" algn="l">
              <a:lnSpc>
                <a:spcPct val="90000"/>
              </a:lnSpc>
              <a:spcBef>
                <a:spcPts val="600"/>
              </a:spcBef>
              <a:spcAft>
                <a:spcPts val="0"/>
              </a:spcAft>
              <a:buSzPts val="1280"/>
              <a:buNone/>
              <a:defRPr sz="1600" b="1"/>
            </a:lvl7pPr>
            <a:lvl8pPr marL="3657600" lvl="7" indent="-228600" algn="l">
              <a:lnSpc>
                <a:spcPct val="90000"/>
              </a:lnSpc>
              <a:spcBef>
                <a:spcPts val="600"/>
              </a:spcBef>
              <a:spcAft>
                <a:spcPts val="0"/>
              </a:spcAft>
              <a:buSzPts val="1600"/>
              <a:buNone/>
              <a:defRPr sz="1600" b="1"/>
            </a:lvl8pPr>
            <a:lvl9pPr marL="4114800" lvl="8" indent="-228600" algn="l">
              <a:lnSpc>
                <a:spcPct val="90000"/>
              </a:lnSpc>
              <a:spcBef>
                <a:spcPts val="600"/>
              </a:spcBef>
              <a:spcAft>
                <a:spcPts val="0"/>
              </a:spcAft>
              <a:buSzPts val="1280"/>
              <a:buNone/>
              <a:defRPr sz="1600" b="1"/>
            </a:lvl9pPr>
          </a:lstStyle>
          <a:p>
            <a:endParaRPr/>
          </a:p>
        </p:txBody>
      </p:sp>
      <p:sp>
        <p:nvSpPr>
          <p:cNvPr id="435" name="Google Shape;435;p5"/>
          <p:cNvSpPr txBox="1">
            <a:spLocks noGrp="1"/>
          </p:cNvSpPr>
          <p:nvPr>
            <p:ph type="body" idx="3"/>
          </p:nvPr>
        </p:nvSpPr>
        <p:spPr>
          <a:xfrm>
            <a:off x="1522413" y="2819399"/>
            <a:ext cx="4416552" cy="3352801"/>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436" name="Google Shape;436;p5"/>
          <p:cNvSpPr txBox="1">
            <a:spLocks noGrp="1"/>
          </p:cNvSpPr>
          <p:nvPr>
            <p:ph type="body" idx="4"/>
          </p:nvPr>
        </p:nvSpPr>
        <p:spPr>
          <a:xfrm>
            <a:off x="1522413" y="1905000"/>
            <a:ext cx="4416552" cy="762000"/>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0"/>
              </a:spcBef>
              <a:spcAft>
                <a:spcPts val="0"/>
              </a:spcAft>
              <a:buSzPts val="1920"/>
              <a:buNone/>
              <a:defRPr sz="2400" b="0"/>
            </a:lvl1pPr>
            <a:lvl2pPr marL="914400" lvl="1" indent="-228600" algn="l">
              <a:lnSpc>
                <a:spcPct val="90000"/>
              </a:lnSpc>
              <a:spcBef>
                <a:spcPts val="600"/>
              </a:spcBef>
              <a:spcAft>
                <a:spcPts val="0"/>
              </a:spcAft>
              <a:buSzPts val="2000"/>
              <a:buNone/>
              <a:defRPr sz="2000" b="1"/>
            </a:lvl2pPr>
            <a:lvl3pPr marL="1371600" lvl="2" indent="-228600" algn="l">
              <a:lnSpc>
                <a:spcPct val="90000"/>
              </a:lnSpc>
              <a:spcBef>
                <a:spcPts val="600"/>
              </a:spcBef>
              <a:spcAft>
                <a:spcPts val="0"/>
              </a:spcAft>
              <a:buSzPts val="1440"/>
              <a:buNone/>
              <a:defRPr sz="1800" b="1"/>
            </a:lvl3pPr>
            <a:lvl4pPr marL="1828800" lvl="3" indent="-228600" algn="l">
              <a:lnSpc>
                <a:spcPct val="90000"/>
              </a:lnSpc>
              <a:spcBef>
                <a:spcPts val="600"/>
              </a:spcBef>
              <a:spcAft>
                <a:spcPts val="0"/>
              </a:spcAft>
              <a:buSzPts val="1600"/>
              <a:buNone/>
              <a:defRPr sz="1600" b="1"/>
            </a:lvl4pPr>
            <a:lvl5pPr marL="2286000" lvl="4" indent="-228600" algn="l">
              <a:lnSpc>
                <a:spcPct val="90000"/>
              </a:lnSpc>
              <a:spcBef>
                <a:spcPts val="600"/>
              </a:spcBef>
              <a:spcAft>
                <a:spcPts val="0"/>
              </a:spcAft>
              <a:buSzPts val="1600"/>
              <a:buNone/>
              <a:defRPr sz="1600" b="1"/>
            </a:lvl5pPr>
            <a:lvl6pPr marL="2743200" lvl="5" indent="-228600" algn="l">
              <a:lnSpc>
                <a:spcPct val="90000"/>
              </a:lnSpc>
              <a:spcBef>
                <a:spcPts val="600"/>
              </a:spcBef>
              <a:spcAft>
                <a:spcPts val="0"/>
              </a:spcAft>
              <a:buSzPts val="1600"/>
              <a:buNone/>
              <a:defRPr sz="1600" b="1"/>
            </a:lvl6pPr>
            <a:lvl7pPr marL="3200400" lvl="6" indent="-228600" algn="l">
              <a:lnSpc>
                <a:spcPct val="90000"/>
              </a:lnSpc>
              <a:spcBef>
                <a:spcPts val="600"/>
              </a:spcBef>
              <a:spcAft>
                <a:spcPts val="0"/>
              </a:spcAft>
              <a:buSzPts val="1280"/>
              <a:buNone/>
              <a:defRPr sz="1600" b="1"/>
            </a:lvl7pPr>
            <a:lvl8pPr marL="3657600" lvl="7" indent="-228600" algn="l">
              <a:lnSpc>
                <a:spcPct val="90000"/>
              </a:lnSpc>
              <a:spcBef>
                <a:spcPts val="600"/>
              </a:spcBef>
              <a:spcAft>
                <a:spcPts val="0"/>
              </a:spcAft>
              <a:buSzPts val="1600"/>
              <a:buNone/>
              <a:defRPr sz="1600" b="1"/>
            </a:lvl8pPr>
            <a:lvl9pPr marL="4114800" lvl="8" indent="-228600" algn="l">
              <a:lnSpc>
                <a:spcPct val="90000"/>
              </a:lnSpc>
              <a:spcBef>
                <a:spcPts val="600"/>
              </a:spcBef>
              <a:spcAft>
                <a:spcPts val="0"/>
              </a:spcAft>
              <a:buSzPts val="1280"/>
              <a:buNone/>
              <a:defRPr sz="1600" b="1"/>
            </a:lvl9pPr>
          </a:lstStyle>
          <a:p>
            <a:endParaRPr/>
          </a:p>
        </p:txBody>
      </p:sp>
      <p:sp>
        <p:nvSpPr>
          <p:cNvPr id="437" name="Google Shape;437;p5"/>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8"/>
        <p:cNvGrpSpPr/>
        <p:nvPr/>
      </p:nvGrpSpPr>
      <p:grpSpPr>
        <a:xfrm>
          <a:off x="0" y="0"/>
          <a:ext cx="0" cy="0"/>
          <a:chOff x="0" y="0"/>
          <a:chExt cx="0" cy="0"/>
        </a:xfrm>
      </p:grpSpPr>
      <p:grpSp>
        <p:nvGrpSpPr>
          <p:cNvPr id="439" name="Google Shape;439;p6"/>
          <p:cNvGrpSpPr/>
          <p:nvPr/>
        </p:nvGrpSpPr>
        <p:grpSpPr>
          <a:xfrm>
            <a:off x="1522413" y="1514475"/>
            <a:ext cx="10569575" cy="64008"/>
            <a:chOff x="1522413" y="1514475"/>
            <a:chExt cx="10569575" cy="64008"/>
          </a:xfrm>
        </p:grpSpPr>
        <p:sp>
          <p:nvSpPr>
            <p:cNvPr id="440" name="Google Shape;440;p6"/>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1" name="Google Shape;441;p6"/>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2" name="Google Shape;442;p6"/>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3" name="Google Shape;443;p6"/>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4" name="Google Shape;444;p6"/>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5" name="Google Shape;445;p6"/>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6" name="Google Shape;446;p6"/>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7" name="Google Shape;447;p6"/>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8" name="Google Shape;448;p6"/>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9" name="Google Shape;449;p6"/>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0" name="Google Shape;450;p6"/>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1" name="Google Shape;451;p6"/>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2" name="Google Shape;452;p6"/>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3" name="Google Shape;453;p6"/>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4" name="Google Shape;454;p6"/>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5" name="Google Shape;455;p6"/>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6" name="Google Shape;456;p6"/>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7" name="Google Shape;457;p6"/>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8" name="Google Shape;458;p6"/>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59" name="Google Shape;459;p6"/>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0" name="Google Shape;460;p6"/>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1" name="Google Shape;461;p6"/>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2" name="Google Shape;462;p6"/>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3" name="Google Shape;463;p6"/>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4" name="Google Shape;464;p6"/>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5" name="Google Shape;465;p6"/>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6" name="Google Shape;466;p6"/>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7" name="Google Shape;467;p6"/>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8" name="Google Shape;468;p6"/>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69" name="Google Shape;469;p6"/>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0" name="Google Shape;470;p6"/>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1" name="Google Shape;471;p6"/>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2" name="Google Shape;472;p6"/>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3" name="Google Shape;473;p6"/>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4" name="Google Shape;474;p6"/>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5" name="Google Shape;475;p6"/>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6" name="Google Shape;476;p6"/>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7" name="Google Shape;477;p6"/>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8" name="Google Shape;478;p6"/>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79" name="Google Shape;479;p6"/>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0" name="Google Shape;480;p6"/>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1" name="Google Shape;481;p6"/>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2" name="Google Shape;482;p6"/>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3" name="Google Shape;483;p6"/>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4" name="Google Shape;484;p6"/>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5" name="Google Shape;485;p6"/>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6" name="Google Shape;486;p6"/>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7" name="Google Shape;487;p6"/>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8" name="Google Shape;488;p6"/>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89" name="Google Shape;489;p6"/>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0" name="Google Shape;490;p6"/>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1" name="Google Shape;491;p6"/>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2" name="Google Shape;492;p6"/>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3" name="Google Shape;493;p6"/>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4" name="Google Shape;494;p6"/>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5" name="Google Shape;495;p6"/>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6" name="Google Shape;496;p6"/>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7" name="Google Shape;497;p6"/>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8" name="Google Shape;498;p6"/>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99" name="Google Shape;499;p6"/>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0" name="Google Shape;500;p6"/>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1" name="Google Shape;501;p6"/>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2" name="Google Shape;502;p6"/>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3" name="Google Shape;503;p6"/>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4" name="Google Shape;504;p6"/>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5" name="Google Shape;505;p6"/>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6" name="Google Shape;506;p6"/>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7" name="Google Shape;507;p6"/>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8" name="Google Shape;508;p6"/>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09" name="Google Shape;509;p6"/>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0" name="Google Shape;510;p6"/>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1" name="Google Shape;511;p6"/>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2" name="Google Shape;512;p6"/>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13" name="Google Shape;513;p6"/>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514" name="Google Shape;514;p6"/>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5" name="Google Shape;515;p6"/>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6" name="Google Shape;516;p6"/>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17" name="Google Shape;517;p6"/>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55600" algn="l">
              <a:lnSpc>
                <a:spcPct val="90000"/>
              </a:lnSpc>
              <a:spcBef>
                <a:spcPts val="600"/>
              </a:spcBef>
              <a:spcAft>
                <a:spcPts val="0"/>
              </a:spcAft>
              <a:buSzPts val="2000"/>
              <a:buChar char="►"/>
              <a:defRPr/>
            </a:lvl2pPr>
            <a:lvl3pPr marL="1371600" lvl="2" indent="-320039" algn="l">
              <a:lnSpc>
                <a:spcPct val="90000"/>
              </a:lnSpc>
              <a:spcBef>
                <a:spcPts val="600"/>
              </a:spcBef>
              <a:spcAft>
                <a:spcPts val="0"/>
              </a:spcAft>
              <a:buSzPts val="1440"/>
              <a:buChar char="►"/>
              <a:defRPr/>
            </a:lvl3pPr>
            <a:lvl4pPr marL="1828800" lvl="3" indent="-330200" algn="l">
              <a:lnSpc>
                <a:spcPct val="90000"/>
              </a:lnSpc>
              <a:spcBef>
                <a:spcPts val="600"/>
              </a:spcBef>
              <a:spcAft>
                <a:spcPts val="0"/>
              </a:spcAft>
              <a:buSzPts val="16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518" name="Google Shape;518;p6"/>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19"/>
        <p:cNvGrpSpPr/>
        <p:nvPr/>
      </p:nvGrpSpPr>
      <p:grpSpPr>
        <a:xfrm>
          <a:off x="0" y="0"/>
          <a:ext cx="0" cy="0"/>
          <a:chOff x="0" y="0"/>
          <a:chExt cx="0" cy="0"/>
        </a:xfrm>
      </p:grpSpPr>
      <p:grpSp>
        <p:nvGrpSpPr>
          <p:cNvPr id="520" name="Google Shape;520;p7"/>
          <p:cNvGrpSpPr/>
          <p:nvPr/>
        </p:nvGrpSpPr>
        <p:grpSpPr>
          <a:xfrm>
            <a:off x="4417839" y="1630821"/>
            <a:ext cx="6291028" cy="4575885"/>
            <a:chOff x="4417839" y="1630821"/>
            <a:chExt cx="6291028" cy="4575885"/>
          </a:xfrm>
        </p:grpSpPr>
        <p:grpSp>
          <p:nvGrpSpPr>
            <p:cNvPr id="521" name="Google Shape;521;p7"/>
            <p:cNvGrpSpPr/>
            <p:nvPr/>
          </p:nvGrpSpPr>
          <p:grpSpPr>
            <a:xfrm>
              <a:off x="5414491" y="1630821"/>
              <a:ext cx="5294376" cy="4114800"/>
              <a:chOff x="3310555" y="716546"/>
              <a:chExt cx="5294376" cy="4114800"/>
            </a:xfrm>
          </p:grpSpPr>
          <p:grpSp>
            <p:nvGrpSpPr>
              <p:cNvPr id="522" name="Google Shape;522;p7"/>
              <p:cNvGrpSpPr/>
              <p:nvPr/>
            </p:nvGrpSpPr>
            <p:grpSpPr>
              <a:xfrm flipH="1">
                <a:off x="3310555" y="737968"/>
                <a:ext cx="5294376" cy="54864"/>
                <a:chOff x="1522413" y="1514475"/>
                <a:chExt cx="10569575" cy="64008"/>
              </a:xfrm>
            </p:grpSpPr>
            <p:sp>
              <p:nvSpPr>
                <p:cNvPr id="523" name="Google Shape;523;p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4" name="Google Shape;524;p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5" name="Google Shape;525;p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6" name="Google Shape;526;p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7" name="Google Shape;527;p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8" name="Google Shape;528;p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29" name="Google Shape;529;p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0" name="Google Shape;530;p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1" name="Google Shape;531;p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2" name="Google Shape;532;p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3" name="Google Shape;533;p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4" name="Google Shape;534;p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5" name="Google Shape;535;p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6" name="Google Shape;536;p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7" name="Google Shape;537;p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8" name="Google Shape;538;p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39" name="Google Shape;539;p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0" name="Google Shape;540;p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1" name="Google Shape;541;p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2" name="Google Shape;542;p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3" name="Google Shape;543;p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4" name="Google Shape;544;p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5" name="Google Shape;545;p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6" name="Google Shape;546;p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7" name="Google Shape;547;p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8" name="Google Shape;548;p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49" name="Google Shape;549;p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0" name="Google Shape;550;p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1" name="Google Shape;551;p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2" name="Google Shape;552;p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3" name="Google Shape;553;p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4" name="Google Shape;554;p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5" name="Google Shape;555;p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6" name="Google Shape;556;p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7" name="Google Shape;557;p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8" name="Google Shape;558;p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59" name="Google Shape;559;p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0" name="Google Shape;560;p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1" name="Google Shape;561;p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2" name="Google Shape;562;p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3" name="Google Shape;563;p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4" name="Google Shape;564;p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5" name="Google Shape;565;p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6" name="Google Shape;566;p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7" name="Google Shape;567;p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8" name="Google Shape;568;p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69" name="Google Shape;569;p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0" name="Google Shape;570;p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1" name="Google Shape;571;p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2" name="Google Shape;572;p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3" name="Google Shape;573;p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4" name="Google Shape;574;p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5" name="Google Shape;575;p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6" name="Google Shape;576;p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7" name="Google Shape;577;p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8" name="Google Shape;578;p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79" name="Google Shape;579;p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0" name="Google Shape;580;p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1" name="Google Shape;581;p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2" name="Google Shape;582;p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3" name="Google Shape;583;p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4" name="Google Shape;584;p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5" name="Google Shape;585;p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6" name="Google Shape;586;p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7" name="Google Shape;587;p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8" name="Google Shape;588;p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89" name="Google Shape;589;p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0" name="Google Shape;590;p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1" name="Google Shape;591;p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2" name="Google Shape;592;p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3" name="Google Shape;593;p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4" name="Google Shape;594;p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5" name="Google Shape;595;p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6" name="Google Shape;596;p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597" name="Google Shape;597;p7"/>
              <p:cNvGrpSpPr/>
              <p:nvPr/>
            </p:nvGrpSpPr>
            <p:grpSpPr>
              <a:xfrm rot="-5400000" flipH="1">
                <a:off x="6492229" y="2755658"/>
                <a:ext cx="4114800" cy="36576"/>
                <a:chOff x="1522413" y="1514475"/>
                <a:chExt cx="10569575" cy="64008"/>
              </a:xfrm>
            </p:grpSpPr>
            <p:sp>
              <p:nvSpPr>
                <p:cNvPr id="598" name="Google Shape;598;p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599" name="Google Shape;599;p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0" name="Google Shape;600;p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1" name="Google Shape;601;p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2" name="Google Shape;602;p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3" name="Google Shape;603;p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4" name="Google Shape;604;p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5" name="Google Shape;605;p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6" name="Google Shape;606;p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7" name="Google Shape;607;p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8" name="Google Shape;608;p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09" name="Google Shape;609;p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0" name="Google Shape;610;p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1" name="Google Shape;611;p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2" name="Google Shape;612;p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3" name="Google Shape;613;p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4" name="Google Shape;614;p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5" name="Google Shape;615;p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6" name="Google Shape;616;p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7" name="Google Shape;617;p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8" name="Google Shape;618;p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19" name="Google Shape;619;p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0" name="Google Shape;620;p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1" name="Google Shape;621;p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2" name="Google Shape;622;p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3" name="Google Shape;623;p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4" name="Google Shape;624;p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5" name="Google Shape;625;p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6" name="Google Shape;626;p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7" name="Google Shape;627;p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8" name="Google Shape;628;p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29" name="Google Shape;629;p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0" name="Google Shape;630;p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1" name="Google Shape;631;p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2" name="Google Shape;632;p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3" name="Google Shape;633;p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4" name="Google Shape;634;p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5" name="Google Shape;635;p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6" name="Google Shape;636;p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7" name="Google Shape;637;p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8" name="Google Shape;638;p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39" name="Google Shape;639;p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0" name="Google Shape;640;p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1" name="Google Shape;641;p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2" name="Google Shape;642;p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3" name="Google Shape;643;p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4" name="Google Shape;644;p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5" name="Google Shape;645;p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6" name="Google Shape;646;p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7" name="Google Shape;647;p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8" name="Google Shape;648;p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49" name="Google Shape;649;p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0" name="Google Shape;650;p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1" name="Google Shape;651;p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2" name="Google Shape;652;p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3" name="Google Shape;653;p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4" name="Google Shape;654;p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5" name="Google Shape;655;p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6" name="Google Shape;656;p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7" name="Google Shape;657;p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8" name="Google Shape;658;p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59" name="Google Shape;659;p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0" name="Google Shape;660;p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1" name="Google Shape;661;p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2" name="Google Shape;662;p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3" name="Google Shape;663;p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4" name="Google Shape;664;p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5" name="Google Shape;665;p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6" name="Google Shape;666;p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7" name="Google Shape;667;p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8" name="Google Shape;668;p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69" name="Google Shape;669;p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0" name="Google Shape;670;p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1" name="Google Shape;671;p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nvGrpSpPr>
            <p:cNvPr id="672" name="Google Shape;672;p7"/>
            <p:cNvGrpSpPr/>
            <p:nvPr/>
          </p:nvGrpSpPr>
          <p:grpSpPr>
            <a:xfrm rot="10800000">
              <a:off x="4417839" y="2091906"/>
              <a:ext cx="5294376" cy="4114800"/>
              <a:chOff x="3310555" y="716546"/>
              <a:chExt cx="5294376" cy="4114800"/>
            </a:xfrm>
          </p:grpSpPr>
          <p:grpSp>
            <p:nvGrpSpPr>
              <p:cNvPr id="673" name="Google Shape;673;p7"/>
              <p:cNvGrpSpPr/>
              <p:nvPr/>
            </p:nvGrpSpPr>
            <p:grpSpPr>
              <a:xfrm flipH="1">
                <a:off x="3310555" y="737968"/>
                <a:ext cx="5294376" cy="54864"/>
                <a:chOff x="1522413" y="1514475"/>
                <a:chExt cx="10569575" cy="64008"/>
              </a:xfrm>
            </p:grpSpPr>
            <p:sp>
              <p:nvSpPr>
                <p:cNvPr id="674" name="Google Shape;674;p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5" name="Google Shape;675;p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6" name="Google Shape;676;p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7" name="Google Shape;677;p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8" name="Google Shape;678;p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79" name="Google Shape;679;p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0" name="Google Shape;680;p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1" name="Google Shape;681;p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2" name="Google Shape;682;p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3" name="Google Shape;683;p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4" name="Google Shape;684;p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5" name="Google Shape;685;p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6" name="Google Shape;686;p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7" name="Google Shape;687;p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8" name="Google Shape;688;p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89" name="Google Shape;689;p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0" name="Google Shape;690;p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1" name="Google Shape;691;p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2" name="Google Shape;692;p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3" name="Google Shape;693;p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4" name="Google Shape;694;p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5" name="Google Shape;695;p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6" name="Google Shape;696;p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7" name="Google Shape;697;p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8" name="Google Shape;698;p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699" name="Google Shape;699;p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0" name="Google Shape;700;p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1" name="Google Shape;701;p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2" name="Google Shape;702;p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3" name="Google Shape;703;p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4" name="Google Shape;704;p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5" name="Google Shape;705;p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6" name="Google Shape;706;p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7" name="Google Shape;707;p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8" name="Google Shape;708;p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09" name="Google Shape;709;p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0" name="Google Shape;710;p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1" name="Google Shape;711;p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2" name="Google Shape;712;p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3" name="Google Shape;713;p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4" name="Google Shape;714;p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5" name="Google Shape;715;p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6" name="Google Shape;716;p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7" name="Google Shape;717;p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8" name="Google Shape;718;p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19" name="Google Shape;719;p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0" name="Google Shape;720;p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1" name="Google Shape;721;p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2" name="Google Shape;722;p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3" name="Google Shape;723;p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4" name="Google Shape;724;p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5" name="Google Shape;725;p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6" name="Google Shape;726;p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7" name="Google Shape;727;p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8" name="Google Shape;728;p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29" name="Google Shape;729;p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0" name="Google Shape;730;p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1" name="Google Shape;731;p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2" name="Google Shape;732;p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3" name="Google Shape;733;p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4" name="Google Shape;734;p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5" name="Google Shape;735;p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6" name="Google Shape;736;p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7" name="Google Shape;737;p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8" name="Google Shape;738;p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39" name="Google Shape;739;p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0" name="Google Shape;740;p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1" name="Google Shape;741;p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2" name="Google Shape;742;p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3" name="Google Shape;743;p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4" name="Google Shape;744;p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5" name="Google Shape;745;p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6" name="Google Shape;746;p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47" name="Google Shape;747;p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748" name="Google Shape;748;p7"/>
              <p:cNvGrpSpPr/>
              <p:nvPr/>
            </p:nvGrpSpPr>
            <p:grpSpPr>
              <a:xfrm rot="-5400000" flipH="1">
                <a:off x="6492229" y="2755658"/>
                <a:ext cx="4114800" cy="36576"/>
                <a:chOff x="1522413" y="1514475"/>
                <a:chExt cx="10569575" cy="64008"/>
              </a:xfrm>
            </p:grpSpPr>
            <p:sp>
              <p:nvSpPr>
                <p:cNvPr id="749" name="Google Shape;749;p7"/>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0" name="Google Shape;750;p7"/>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1" name="Google Shape;751;p7"/>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2" name="Google Shape;752;p7"/>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3" name="Google Shape;753;p7"/>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4" name="Google Shape;754;p7"/>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5" name="Google Shape;755;p7"/>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6" name="Google Shape;756;p7"/>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7" name="Google Shape;757;p7"/>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8" name="Google Shape;758;p7"/>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59" name="Google Shape;759;p7"/>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0" name="Google Shape;760;p7"/>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1" name="Google Shape;761;p7"/>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2" name="Google Shape;762;p7"/>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3" name="Google Shape;763;p7"/>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4" name="Google Shape;764;p7"/>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5" name="Google Shape;765;p7"/>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6" name="Google Shape;766;p7"/>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7" name="Google Shape;767;p7"/>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8" name="Google Shape;768;p7"/>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69" name="Google Shape;769;p7"/>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0" name="Google Shape;770;p7"/>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1" name="Google Shape;771;p7"/>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2" name="Google Shape;772;p7"/>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3" name="Google Shape;773;p7"/>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4" name="Google Shape;774;p7"/>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5" name="Google Shape;775;p7"/>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6" name="Google Shape;776;p7"/>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7" name="Google Shape;777;p7"/>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8" name="Google Shape;778;p7"/>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79" name="Google Shape;779;p7"/>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0" name="Google Shape;780;p7"/>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1" name="Google Shape;781;p7"/>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2" name="Google Shape;782;p7"/>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3" name="Google Shape;783;p7"/>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4" name="Google Shape;784;p7"/>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5" name="Google Shape;785;p7"/>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6" name="Google Shape;786;p7"/>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7" name="Google Shape;787;p7"/>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8" name="Google Shape;788;p7"/>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89" name="Google Shape;789;p7"/>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0" name="Google Shape;790;p7"/>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1" name="Google Shape;791;p7"/>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2" name="Google Shape;792;p7"/>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3" name="Google Shape;793;p7"/>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4" name="Google Shape;794;p7"/>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5" name="Google Shape;795;p7"/>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6" name="Google Shape;796;p7"/>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7" name="Google Shape;797;p7"/>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8" name="Google Shape;798;p7"/>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799" name="Google Shape;799;p7"/>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0" name="Google Shape;800;p7"/>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1" name="Google Shape;801;p7"/>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2" name="Google Shape;802;p7"/>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3" name="Google Shape;803;p7"/>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4" name="Google Shape;804;p7"/>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5" name="Google Shape;805;p7"/>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6" name="Google Shape;806;p7"/>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7" name="Google Shape;807;p7"/>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8" name="Google Shape;808;p7"/>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09" name="Google Shape;809;p7"/>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0" name="Google Shape;810;p7"/>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1" name="Google Shape;811;p7"/>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2" name="Google Shape;812;p7"/>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3" name="Google Shape;813;p7"/>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4" name="Google Shape;814;p7"/>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5" name="Google Shape;815;p7"/>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6" name="Google Shape;816;p7"/>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7" name="Google Shape;817;p7"/>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8" name="Google Shape;818;p7"/>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19" name="Google Shape;819;p7"/>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0" name="Google Shape;820;p7"/>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1" name="Google Shape;821;p7"/>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22" name="Google Shape;822;p7"/>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sp>
        <p:nvSpPr>
          <p:cNvPr id="823" name="Google Shape;823;p7"/>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4" name="Google Shape;824;p7"/>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5" name="Google Shape;825;p7"/>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26" name="Google Shape;826;p7"/>
          <p:cNvSpPr txBox="1">
            <a:spLocks noGrp="1"/>
          </p:cNvSpPr>
          <p:nvPr>
            <p:ph type="body" idx="1"/>
          </p:nvPr>
        </p:nvSpPr>
        <p:spPr>
          <a:xfrm>
            <a:off x="4710022" y="1905000"/>
            <a:ext cx="5669280" cy="4038600"/>
          </a:xfrm>
          <a:prstGeom prst="rect">
            <a:avLst/>
          </a:prstGeom>
          <a:noFill/>
          <a:ln>
            <a:noFill/>
          </a:ln>
        </p:spPr>
        <p:txBody>
          <a:bodyPr spcFirstLastPara="1" wrap="square" lIns="91425" tIns="45700" rIns="91425" bIns="45700" anchor="t" anchorCtr="0">
            <a:noAutofit/>
          </a:bodyPr>
          <a:lstStyle>
            <a:lvl1pPr marL="457200" lvl="0" indent="-350520" algn="l">
              <a:lnSpc>
                <a:spcPct val="90000"/>
              </a:lnSpc>
              <a:spcBef>
                <a:spcPts val="1800"/>
              </a:spcBef>
              <a:spcAft>
                <a:spcPts val="0"/>
              </a:spcAft>
              <a:buSzPts val="1920"/>
              <a:buChar char="►"/>
              <a:defRPr sz="2400"/>
            </a:lvl1pPr>
            <a:lvl2pPr marL="914400" lvl="1" indent="-355600" algn="l">
              <a:lnSpc>
                <a:spcPct val="90000"/>
              </a:lnSpc>
              <a:spcBef>
                <a:spcPts val="600"/>
              </a:spcBef>
              <a:spcAft>
                <a:spcPts val="0"/>
              </a:spcAft>
              <a:buSzPts val="2000"/>
              <a:buChar char="►"/>
              <a:defRPr sz="2000"/>
            </a:lvl2pPr>
            <a:lvl3pPr marL="1371600" lvl="2" indent="-320039" algn="l">
              <a:lnSpc>
                <a:spcPct val="90000"/>
              </a:lnSpc>
              <a:spcBef>
                <a:spcPts val="600"/>
              </a:spcBef>
              <a:spcAft>
                <a:spcPts val="0"/>
              </a:spcAft>
              <a:buSzPts val="1440"/>
              <a:buChar char="►"/>
              <a:defRPr sz="1800"/>
            </a:lvl3pPr>
            <a:lvl4pPr marL="1828800" lvl="3" indent="-330200" algn="l">
              <a:lnSpc>
                <a:spcPct val="90000"/>
              </a:lnSpc>
              <a:spcBef>
                <a:spcPts val="600"/>
              </a:spcBef>
              <a:spcAft>
                <a:spcPts val="0"/>
              </a:spcAft>
              <a:buSzPts val="1600"/>
              <a:buChar char="►"/>
              <a:defRPr sz="1600"/>
            </a:lvl4pPr>
            <a:lvl5pPr marL="2286000" lvl="4" indent="-330200" algn="l">
              <a:lnSpc>
                <a:spcPct val="90000"/>
              </a:lnSpc>
              <a:spcBef>
                <a:spcPts val="600"/>
              </a:spcBef>
              <a:spcAft>
                <a:spcPts val="0"/>
              </a:spcAft>
              <a:buSzPts val="1600"/>
              <a:buChar char="►"/>
              <a:defRPr sz="1600"/>
            </a:lvl5pPr>
            <a:lvl6pPr marL="2743200" lvl="5" indent="-330200" algn="l">
              <a:lnSpc>
                <a:spcPct val="90000"/>
              </a:lnSpc>
              <a:spcBef>
                <a:spcPts val="600"/>
              </a:spcBef>
              <a:spcAft>
                <a:spcPts val="0"/>
              </a:spcAft>
              <a:buSzPts val="1600"/>
              <a:buChar char="►"/>
              <a:defRPr sz="1600"/>
            </a:lvl6pPr>
            <a:lvl7pPr marL="3200400" lvl="6" indent="-309879" algn="l">
              <a:lnSpc>
                <a:spcPct val="90000"/>
              </a:lnSpc>
              <a:spcBef>
                <a:spcPts val="600"/>
              </a:spcBef>
              <a:spcAft>
                <a:spcPts val="0"/>
              </a:spcAft>
              <a:buSzPts val="1280"/>
              <a:buChar char="►"/>
              <a:defRPr sz="1600"/>
            </a:lvl7pPr>
            <a:lvl8pPr marL="3657600" lvl="7" indent="-330200" algn="l">
              <a:lnSpc>
                <a:spcPct val="90000"/>
              </a:lnSpc>
              <a:spcBef>
                <a:spcPts val="600"/>
              </a:spcBef>
              <a:spcAft>
                <a:spcPts val="0"/>
              </a:spcAft>
              <a:buSzPts val="1600"/>
              <a:buChar char="►"/>
              <a:defRPr sz="1600"/>
            </a:lvl8pPr>
            <a:lvl9pPr marL="4114800" lvl="8" indent="-309879" algn="l">
              <a:lnSpc>
                <a:spcPct val="90000"/>
              </a:lnSpc>
              <a:spcBef>
                <a:spcPts val="600"/>
              </a:spcBef>
              <a:spcAft>
                <a:spcPts val="0"/>
              </a:spcAft>
              <a:buSzPts val="1280"/>
              <a:buChar char="►"/>
              <a:defRPr sz="1600"/>
            </a:lvl9pPr>
          </a:lstStyle>
          <a:p>
            <a:endParaRPr/>
          </a:p>
        </p:txBody>
      </p:sp>
      <p:sp>
        <p:nvSpPr>
          <p:cNvPr id="827" name="Google Shape;827;p7"/>
          <p:cNvSpPr txBox="1">
            <a:spLocks noGrp="1"/>
          </p:cNvSpPr>
          <p:nvPr>
            <p:ph type="body" idx="2"/>
          </p:nvPr>
        </p:nvSpPr>
        <p:spPr>
          <a:xfrm>
            <a:off x="1522413" y="3429000"/>
            <a:ext cx="2743200" cy="27432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200"/>
              </a:spcBef>
              <a:spcAft>
                <a:spcPts val="0"/>
              </a:spcAft>
              <a:buSzPts val="1280"/>
              <a:buNone/>
              <a:defRPr sz="1600"/>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600"/>
              </a:spcBef>
              <a:spcAft>
                <a:spcPts val="0"/>
              </a:spcAft>
              <a:buSzPts val="800"/>
              <a:buNone/>
              <a:defRPr sz="1000"/>
            </a:lvl3pPr>
            <a:lvl4pPr marL="1828800" lvl="3" indent="-228600" algn="l">
              <a:lnSpc>
                <a:spcPct val="90000"/>
              </a:lnSpc>
              <a:spcBef>
                <a:spcPts val="600"/>
              </a:spcBef>
              <a:spcAft>
                <a:spcPts val="0"/>
              </a:spcAft>
              <a:buSzPts val="900"/>
              <a:buNone/>
              <a:defRPr sz="900"/>
            </a:lvl4pPr>
            <a:lvl5pPr marL="2286000" lvl="4" indent="-228600" algn="l">
              <a:lnSpc>
                <a:spcPct val="90000"/>
              </a:lnSpc>
              <a:spcBef>
                <a:spcPts val="600"/>
              </a:spcBef>
              <a:spcAft>
                <a:spcPts val="0"/>
              </a:spcAft>
              <a:buSzPts val="900"/>
              <a:buNone/>
              <a:defRPr sz="900"/>
            </a:lvl5pPr>
            <a:lvl6pPr marL="2743200" lvl="5" indent="-228600" algn="l">
              <a:lnSpc>
                <a:spcPct val="90000"/>
              </a:lnSpc>
              <a:spcBef>
                <a:spcPts val="600"/>
              </a:spcBef>
              <a:spcAft>
                <a:spcPts val="0"/>
              </a:spcAft>
              <a:buSzPts val="900"/>
              <a:buNone/>
              <a:defRPr sz="900"/>
            </a:lvl6pPr>
            <a:lvl7pPr marL="3200400" lvl="6" indent="-228600" algn="l">
              <a:lnSpc>
                <a:spcPct val="90000"/>
              </a:lnSpc>
              <a:spcBef>
                <a:spcPts val="600"/>
              </a:spcBef>
              <a:spcAft>
                <a:spcPts val="0"/>
              </a:spcAft>
              <a:buSzPts val="720"/>
              <a:buNone/>
              <a:defRPr sz="900"/>
            </a:lvl7pPr>
            <a:lvl8pPr marL="3657600" lvl="7" indent="-228600" algn="l">
              <a:lnSpc>
                <a:spcPct val="90000"/>
              </a:lnSpc>
              <a:spcBef>
                <a:spcPts val="600"/>
              </a:spcBef>
              <a:spcAft>
                <a:spcPts val="0"/>
              </a:spcAft>
              <a:buSzPts val="900"/>
              <a:buNone/>
              <a:defRPr sz="900"/>
            </a:lvl8pPr>
            <a:lvl9pPr marL="4114800" lvl="8" indent="-228600" algn="l">
              <a:lnSpc>
                <a:spcPct val="90000"/>
              </a:lnSpc>
              <a:spcBef>
                <a:spcPts val="600"/>
              </a:spcBef>
              <a:spcAft>
                <a:spcPts val="0"/>
              </a:spcAft>
              <a:buSzPts val="720"/>
              <a:buNone/>
              <a:defRPr sz="900"/>
            </a:lvl9pPr>
          </a:lstStyle>
          <a:p>
            <a:endParaRPr/>
          </a:p>
        </p:txBody>
      </p:sp>
      <p:sp>
        <p:nvSpPr>
          <p:cNvPr id="828" name="Google Shape;828;p7"/>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entury Gothic"/>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9"/>
        <p:cNvGrpSpPr/>
        <p:nvPr/>
      </p:nvGrpSpPr>
      <p:grpSpPr>
        <a:xfrm>
          <a:off x="0" y="0"/>
          <a:ext cx="0" cy="0"/>
          <a:chOff x="0" y="0"/>
          <a:chExt cx="0" cy="0"/>
        </a:xfrm>
      </p:grpSpPr>
      <p:grpSp>
        <p:nvGrpSpPr>
          <p:cNvPr id="830" name="Google Shape;830;p8"/>
          <p:cNvGrpSpPr/>
          <p:nvPr/>
        </p:nvGrpSpPr>
        <p:grpSpPr>
          <a:xfrm>
            <a:off x="1522413" y="1514475"/>
            <a:ext cx="10569575" cy="64008"/>
            <a:chOff x="1522413" y="1514475"/>
            <a:chExt cx="10569575" cy="64008"/>
          </a:xfrm>
        </p:grpSpPr>
        <p:sp>
          <p:nvSpPr>
            <p:cNvPr id="831" name="Google Shape;831;p8"/>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2" name="Google Shape;832;p8"/>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3" name="Google Shape;833;p8"/>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4" name="Google Shape;834;p8"/>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5" name="Google Shape;835;p8"/>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6" name="Google Shape;836;p8"/>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7" name="Google Shape;837;p8"/>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8" name="Google Shape;838;p8"/>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39" name="Google Shape;839;p8"/>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0" name="Google Shape;840;p8"/>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1" name="Google Shape;841;p8"/>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2" name="Google Shape;842;p8"/>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3" name="Google Shape;843;p8"/>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4" name="Google Shape;844;p8"/>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5" name="Google Shape;845;p8"/>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6" name="Google Shape;846;p8"/>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7" name="Google Shape;847;p8"/>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8" name="Google Shape;848;p8"/>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49" name="Google Shape;849;p8"/>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0" name="Google Shape;850;p8"/>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1" name="Google Shape;851;p8"/>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2" name="Google Shape;852;p8"/>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3" name="Google Shape;853;p8"/>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4" name="Google Shape;854;p8"/>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5" name="Google Shape;855;p8"/>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6" name="Google Shape;856;p8"/>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7" name="Google Shape;857;p8"/>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8" name="Google Shape;858;p8"/>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59" name="Google Shape;859;p8"/>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0" name="Google Shape;860;p8"/>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1" name="Google Shape;861;p8"/>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2" name="Google Shape;862;p8"/>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3" name="Google Shape;863;p8"/>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4" name="Google Shape;864;p8"/>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5" name="Google Shape;865;p8"/>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6" name="Google Shape;866;p8"/>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7" name="Google Shape;867;p8"/>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8" name="Google Shape;868;p8"/>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69" name="Google Shape;869;p8"/>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0" name="Google Shape;870;p8"/>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1" name="Google Shape;871;p8"/>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2" name="Google Shape;872;p8"/>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3" name="Google Shape;873;p8"/>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4" name="Google Shape;874;p8"/>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5" name="Google Shape;875;p8"/>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6" name="Google Shape;876;p8"/>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7" name="Google Shape;877;p8"/>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8" name="Google Shape;878;p8"/>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79" name="Google Shape;879;p8"/>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0" name="Google Shape;880;p8"/>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1" name="Google Shape;881;p8"/>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2" name="Google Shape;882;p8"/>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3" name="Google Shape;883;p8"/>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4" name="Google Shape;884;p8"/>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5" name="Google Shape;885;p8"/>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6" name="Google Shape;886;p8"/>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7" name="Google Shape;887;p8"/>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8" name="Google Shape;888;p8"/>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89" name="Google Shape;889;p8"/>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0" name="Google Shape;890;p8"/>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1" name="Google Shape;891;p8"/>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2" name="Google Shape;892;p8"/>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3" name="Google Shape;893;p8"/>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4" name="Google Shape;894;p8"/>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5" name="Google Shape;895;p8"/>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6" name="Google Shape;896;p8"/>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7" name="Google Shape;897;p8"/>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8" name="Google Shape;898;p8"/>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99" name="Google Shape;899;p8"/>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0" name="Google Shape;900;p8"/>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1" name="Google Shape;901;p8"/>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2" name="Google Shape;902;p8"/>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3" name="Google Shape;903;p8"/>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04" name="Google Shape;904;p8"/>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905" name="Google Shape;905;p8"/>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6" name="Google Shape;906;p8"/>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7" name="Google Shape;907;p8"/>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08" name="Google Shape;908;p8"/>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9"/>
        <p:cNvGrpSpPr/>
        <p:nvPr/>
      </p:nvGrpSpPr>
      <p:grpSpPr>
        <a:xfrm>
          <a:off x="0" y="0"/>
          <a:ext cx="0" cy="0"/>
          <a:chOff x="0" y="0"/>
          <a:chExt cx="0" cy="0"/>
        </a:xfrm>
      </p:grpSpPr>
      <p:sp>
        <p:nvSpPr>
          <p:cNvPr id="910" name="Google Shape;910;p9"/>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1" name="Google Shape;911;p9"/>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2" name="Google Shape;912;p9"/>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13"/>
        <p:cNvGrpSpPr/>
        <p:nvPr/>
      </p:nvGrpSpPr>
      <p:grpSpPr>
        <a:xfrm>
          <a:off x="0" y="0"/>
          <a:ext cx="0" cy="0"/>
          <a:chOff x="0" y="0"/>
          <a:chExt cx="0" cy="0"/>
        </a:xfrm>
      </p:grpSpPr>
      <p:grpSp>
        <p:nvGrpSpPr>
          <p:cNvPr id="914" name="Google Shape;914;p10"/>
          <p:cNvGrpSpPr/>
          <p:nvPr/>
        </p:nvGrpSpPr>
        <p:grpSpPr>
          <a:xfrm flipH="1">
            <a:off x="1447500" y="1630821"/>
            <a:ext cx="6291028" cy="4575885"/>
            <a:chOff x="4417839" y="1630821"/>
            <a:chExt cx="6291028" cy="4575885"/>
          </a:xfrm>
        </p:grpSpPr>
        <p:grpSp>
          <p:nvGrpSpPr>
            <p:cNvPr id="915" name="Google Shape;915;p10"/>
            <p:cNvGrpSpPr/>
            <p:nvPr/>
          </p:nvGrpSpPr>
          <p:grpSpPr>
            <a:xfrm>
              <a:off x="5414491" y="1630821"/>
              <a:ext cx="5294376" cy="4114800"/>
              <a:chOff x="3310555" y="716546"/>
              <a:chExt cx="5294376" cy="4114800"/>
            </a:xfrm>
          </p:grpSpPr>
          <p:grpSp>
            <p:nvGrpSpPr>
              <p:cNvPr id="916" name="Google Shape;916;p10"/>
              <p:cNvGrpSpPr/>
              <p:nvPr/>
            </p:nvGrpSpPr>
            <p:grpSpPr>
              <a:xfrm flipH="1">
                <a:off x="3310555" y="737968"/>
                <a:ext cx="5294376" cy="54864"/>
                <a:chOff x="1522413" y="1514475"/>
                <a:chExt cx="10569575" cy="64008"/>
              </a:xfrm>
            </p:grpSpPr>
            <p:sp>
              <p:nvSpPr>
                <p:cNvPr id="917" name="Google Shape;917;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8" name="Google Shape;918;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19" name="Google Shape;919;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0" name="Google Shape;920;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1" name="Google Shape;921;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2" name="Google Shape;922;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3" name="Google Shape;923;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4" name="Google Shape;924;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5" name="Google Shape;925;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6" name="Google Shape;926;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7" name="Google Shape;927;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8" name="Google Shape;928;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29" name="Google Shape;929;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0" name="Google Shape;930;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1" name="Google Shape;931;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2" name="Google Shape;932;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3" name="Google Shape;933;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4" name="Google Shape;934;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5" name="Google Shape;935;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6" name="Google Shape;936;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7" name="Google Shape;937;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8" name="Google Shape;938;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39" name="Google Shape;939;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0" name="Google Shape;940;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1" name="Google Shape;941;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2" name="Google Shape;942;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3" name="Google Shape;943;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4" name="Google Shape;944;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5" name="Google Shape;945;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6" name="Google Shape;946;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7" name="Google Shape;947;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8" name="Google Shape;948;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49" name="Google Shape;949;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0" name="Google Shape;950;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1" name="Google Shape;951;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2" name="Google Shape;952;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3" name="Google Shape;953;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4" name="Google Shape;954;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5" name="Google Shape;955;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6" name="Google Shape;956;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7" name="Google Shape;957;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8" name="Google Shape;958;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59" name="Google Shape;959;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0" name="Google Shape;960;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1" name="Google Shape;961;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2" name="Google Shape;962;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3" name="Google Shape;963;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4" name="Google Shape;964;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5" name="Google Shape;965;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6" name="Google Shape;966;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7" name="Google Shape;967;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8" name="Google Shape;968;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69" name="Google Shape;969;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0" name="Google Shape;970;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1" name="Google Shape;971;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2" name="Google Shape;972;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3" name="Google Shape;973;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4" name="Google Shape;974;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5" name="Google Shape;975;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6" name="Google Shape;976;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7" name="Google Shape;977;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8" name="Google Shape;978;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79" name="Google Shape;979;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0" name="Google Shape;980;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1" name="Google Shape;981;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2" name="Google Shape;982;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3" name="Google Shape;983;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4" name="Google Shape;984;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5" name="Google Shape;985;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6" name="Google Shape;986;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7" name="Google Shape;987;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8" name="Google Shape;988;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89" name="Google Shape;989;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0" name="Google Shape;990;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991" name="Google Shape;991;p10"/>
              <p:cNvGrpSpPr/>
              <p:nvPr/>
            </p:nvGrpSpPr>
            <p:grpSpPr>
              <a:xfrm rot="-5400000" flipH="1">
                <a:off x="6492229" y="2755658"/>
                <a:ext cx="4114800" cy="36576"/>
                <a:chOff x="1522413" y="1514475"/>
                <a:chExt cx="10569575" cy="64008"/>
              </a:xfrm>
            </p:grpSpPr>
            <p:sp>
              <p:nvSpPr>
                <p:cNvPr id="992" name="Google Shape;992;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3" name="Google Shape;993;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4" name="Google Shape;994;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5" name="Google Shape;995;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6" name="Google Shape;996;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7" name="Google Shape;997;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8" name="Google Shape;998;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99" name="Google Shape;999;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0" name="Google Shape;1000;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1" name="Google Shape;1001;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2" name="Google Shape;1002;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3" name="Google Shape;1003;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4" name="Google Shape;1004;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5" name="Google Shape;1005;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6" name="Google Shape;1006;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7" name="Google Shape;1007;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8" name="Google Shape;1008;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09" name="Google Shape;1009;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0" name="Google Shape;1010;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1" name="Google Shape;1011;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2" name="Google Shape;1012;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3" name="Google Shape;1013;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4" name="Google Shape;1014;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5" name="Google Shape;1015;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6" name="Google Shape;1016;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7" name="Google Shape;1017;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8" name="Google Shape;1018;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19" name="Google Shape;1019;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0" name="Google Shape;1020;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1" name="Google Shape;1021;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2" name="Google Shape;1022;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3" name="Google Shape;1023;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4" name="Google Shape;1024;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5" name="Google Shape;1025;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6" name="Google Shape;1026;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7" name="Google Shape;1027;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8" name="Google Shape;1028;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29" name="Google Shape;1029;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0" name="Google Shape;1030;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1" name="Google Shape;1031;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2" name="Google Shape;1032;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3" name="Google Shape;1033;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4" name="Google Shape;1034;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5" name="Google Shape;1035;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6" name="Google Shape;1036;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7" name="Google Shape;1037;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8" name="Google Shape;1038;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39" name="Google Shape;1039;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0" name="Google Shape;1040;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1" name="Google Shape;1041;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2" name="Google Shape;1042;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3" name="Google Shape;1043;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4" name="Google Shape;1044;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5" name="Google Shape;1045;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6" name="Google Shape;1046;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7" name="Google Shape;1047;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8" name="Google Shape;1048;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49" name="Google Shape;1049;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0" name="Google Shape;1050;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1" name="Google Shape;1051;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2" name="Google Shape;1052;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3" name="Google Shape;1053;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4" name="Google Shape;1054;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5" name="Google Shape;1055;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6" name="Google Shape;1056;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7" name="Google Shape;1057;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8" name="Google Shape;1058;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59" name="Google Shape;1059;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0" name="Google Shape;1060;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1" name="Google Shape;1061;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2" name="Google Shape;1062;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3" name="Google Shape;1063;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4" name="Google Shape;1064;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5" name="Google Shape;1065;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nvGrpSpPr>
            <p:cNvPr id="1066" name="Google Shape;1066;p10"/>
            <p:cNvGrpSpPr/>
            <p:nvPr/>
          </p:nvGrpSpPr>
          <p:grpSpPr>
            <a:xfrm rot="10800000">
              <a:off x="4417839" y="2091906"/>
              <a:ext cx="5294376" cy="4114800"/>
              <a:chOff x="3310555" y="716546"/>
              <a:chExt cx="5294376" cy="4114800"/>
            </a:xfrm>
          </p:grpSpPr>
          <p:grpSp>
            <p:nvGrpSpPr>
              <p:cNvPr id="1067" name="Google Shape;1067;p10"/>
              <p:cNvGrpSpPr/>
              <p:nvPr/>
            </p:nvGrpSpPr>
            <p:grpSpPr>
              <a:xfrm flipH="1">
                <a:off x="3310555" y="737968"/>
                <a:ext cx="5294376" cy="54864"/>
                <a:chOff x="1522413" y="1514475"/>
                <a:chExt cx="10569575" cy="64008"/>
              </a:xfrm>
            </p:grpSpPr>
            <p:sp>
              <p:nvSpPr>
                <p:cNvPr id="1068" name="Google Shape;1068;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69" name="Google Shape;1069;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0" name="Google Shape;1070;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1" name="Google Shape;1071;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2" name="Google Shape;1072;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3" name="Google Shape;1073;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4" name="Google Shape;1074;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5" name="Google Shape;1075;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6" name="Google Shape;1076;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7" name="Google Shape;1077;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8" name="Google Shape;1078;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79" name="Google Shape;1079;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0" name="Google Shape;1080;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1" name="Google Shape;1081;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2" name="Google Shape;1082;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3" name="Google Shape;1083;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4" name="Google Shape;1084;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5" name="Google Shape;1085;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6" name="Google Shape;1086;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7" name="Google Shape;1087;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8" name="Google Shape;1088;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89" name="Google Shape;1089;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0" name="Google Shape;1090;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1" name="Google Shape;1091;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2" name="Google Shape;1092;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3" name="Google Shape;1093;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4" name="Google Shape;1094;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5" name="Google Shape;1095;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6" name="Google Shape;1096;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7" name="Google Shape;1097;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8" name="Google Shape;1098;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99" name="Google Shape;1099;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0" name="Google Shape;1100;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1" name="Google Shape;1101;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2" name="Google Shape;1102;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3" name="Google Shape;1103;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4" name="Google Shape;1104;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5" name="Google Shape;1105;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6" name="Google Shape;1106;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7" name="Google Shape;1107;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8" name="Google Shape;1108;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09" name="Google Shape;1109;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0" name="Google Shape;1110;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1" name="Google Shape;1111;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2" name="Google Shape;1112;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3" name="Google Shape;1113;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4" name="Google Shape;1114;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5" name="Google Shape;1115;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6" name="Google Shape;1116;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7" name="Google Shape;1117;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8" name="Google Shape;1118;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19" name="Google Shape;1119;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0" name="Google Shape;1120;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1" name="Google Shape;1121;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2" name="Google Shape;1122;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3" name="Google Shape;1123;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4" name="Google Shape;1124;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5" name="Google Shape;1125;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6" name="Google Shape;1126;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7" name="Google Shape;1127;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8" name="Google Shape;1128;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29" name="Google Shape;1129;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0" name="Google Shape;1130;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1" name="Google Shape;1131;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2" name="Google Shape;1132;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3" name="Google Shape;1133;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4" name="Google Shape;1134;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5" name="Google Shape;1135;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6" name="Google Shape;1136;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7" name="Google Shape;1137;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8" name="Google Shape;1138;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39" name="Google Shape;1139;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0" name="Google Shape;1140;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1" name="Google Shape;1141;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1142" name="Google Shape;1142;p10"/>
              <p:cNvGrpSpPr/>
              <p:nvPr/>
            </p:nvGrpSpPr>
            <p:grpSpPr>
              <a:xfrm rot="-5400000" flipH="1">
                <a:off x="6492229" y="2755658"/>
                <a:ext cx="4114800" cy="36576"/>
                <a:chOff x="1522413" y="1514475"/>
                <a:chExt cx="10569575" cy="64008"/>
              </a:xfrm>
            </p:grpSpPr>
            <p:sp>
              <p:nvSpPr>
                <p:cNvPr id="1143" name="Google Shape;1143;p10"/>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4" name="Google Shape;1144;p10"/>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5" name="Google Shape;1145;p10"/>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6" name="Google Shape;1146;p10"/>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7" name="Google Shape;1147;p10"/>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8" name="Google Shape;1148;p10"/>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49" name="Google Shape;1149;p10"/>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0" name="Google Shape;1150;p10"/>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1" name="Google Shape;1151;p10"/>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2" name="Google Shape;1152;p10"/>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3" name="Google Shape;1153;p10"/>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4" name="Google Shape;1154;p10"/>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5" name="Google Shape;1155;p10"/>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6" name="Google Shape;1156;p10"/>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7" name="Google Shape;1157;p10"/>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8" name="Google Shape;1158;p10"/>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59" name="Google Shape;1159;p10"/>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0" name="Google Shape;1160;p10"/>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1" name="Google Shape;1161;p10"/>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2" name="Google Shape;1162;p10"/>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3" name="Google Shape;1163;p10"/>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4" name="Google Shape;1164;p10"/>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5" name="Google Shape;1165;p10"/>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6" name="Google Shape;1166;p10"/>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7" name="Google Shape;1167;p10"/>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8" name="Google Shape;1168;p10"/>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69" name="Google Shape;1169;p10"/>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0" name="Google Shape;1170;p10"/>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1" name="Google Shape;1171;p10"/>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2" name="Google Shape;1172;p10"/>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3" name="Google Shape;1173;p10"/>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4" name="Google Shape;1174;p10"/>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5" name="Google Shape;1175;p10"/>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6" name="Google Shape;1176;p10"/>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7" name="Google Shape;1177;p10"/>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8" name="Google Shape;1178;p10"/>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79" name="Google Shape;1179;p10"/>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0" name="Google Shape;1180;p10"/>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1" name="Google Shape;1181;p10"/>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2" name="Google Shape;1182;p10"/>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3" name="Google Shape;1183;p10"/>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4" name="Google Shape;1184;p10"/>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5" name="Google Shape;1185;p10"/>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6" name="Google Shape;1186;p10"/>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7" name="Google Shape;1187;p10"/>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8" name="Google Shape;1188;p10"/>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89" name="Google Shape;1189;p10"/>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0" name="Google Shape;1190;p10"/>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1" name="Google Shape;1191;p10"/>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2" name="Google Shape;1192;p10"/>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3" name="Google Shape;1193;p10"/>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4" name="Google Shape;1194;p10"/>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5" name="Google Shape;1195;p10"/>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6" name="Google Shape;1196;p10"/>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7" name="Google Shape;1197;p10"/>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8" name="Google Shape;1198;p10"/>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99" name="Google Shape;1199;p10"/>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0" name="Google Shape;1200;p10"/>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1" name="Google Shape;1201;p10"/>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2" name="Google Shape;1202;p10"/>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3" name="Google Shape;1203;p10"/>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4" name="Google Shape;1204;p10"/>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5" name="Google Shape;1205;p10"/>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6" name="Google Shape;1206;p10"/>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7" name="Google Shape;1207;p10"/>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8" name="Google Shape;1208;p10"/>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09" name="Google Shape;1209;p10"/>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0" name="Google Shape;1210;p10"/>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1" name="Google Shape;1211;p10"/>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2" name="Google Shape;1212;p10"/>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3" name="Google Shape;1213;p10"/>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4" name="Google Shape;1214;p10"/>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5" name="Google Shape;1215;p10"/>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16" name="Google Shape;1216;p10"/>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grpSp>
      <p:sp>
        <p:nvSpPr>
          <p:cNvPr id="1217" name="Google Shape;1217;p10"/>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8" name="Google Shape;1218;p10"/>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9" name="Google Shape;1219;p10"/>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0" name="Google Shape;1220;p10"/>
          <p:cNvSpPr>
            <a:spLocks noGrp="1"/>
          </p:cNvSpPr>
          <p:nvPr>
            <p:ph type="pic" idx="2"/>
          </p:nvPr>
        </p:nvSpPr>
        <p:spPr>
          <a:xfrm>
            <a:off x="1745838" y="1884311"/>
            <a:ext cx="5669280" cy="4041648"/>
          </a:xfrm>
          <a:prstGeom prst="rect">
            <a:avLst/>
          </a:prstGeom>
          <a:solidFill>
            <a:schemeClr val="lt1"/>
          </a:solidFill>
          <a:ln>
            <a:noFill/>
          </a:ln>
        </p:spPr>
        <p:txBody>
          <a:bodyPr spcFirstLastPara="1" wrap="square" lIns="91425" tIns="914400" rIns="91425" bIns="45700" anchor="t" anchorCtr="0">
            <a:noAutofit/>
          </a:bodyPr>
          <a:lstStyle>
            <a:lvl1pPr marR="0" lvl="0" algn="ctr" rtl="0">
              <a:lnSpc>
                <a:spcPct val="90000"/>
              </a:lnSpc>
              <a:spcBef>
                <a:spcPts val="1800"/>
              </a:spcBef>
              <a:spcAft>
                <a:spcPts val="0"/>
              </a:spcAft>
              <a:buClr>
                <a:schemeClr val="dk2"/>
              </a:buClr>
              <a:buSzPts val="1920"/>
              <a:buFont typeface="Noto Sans Symbols"/>
              <a:buNone/>
              <a:defRPr sz="24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600"/>
              </a:spcBef>
              <a:spcAft>
                <a:spcPts val="0"/>
              </a:spcAft>
              <a:buClr>
                <a:schemeClr val="dk2"/>
              </a:buClr>
              <a:buSzPts val="2800"/>
              <a:buFont typeface="Noto Sans Symbols"/>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600"/>
              </a:spcBef>
              <a:spcAft>
                <a:spcPts val="0"/>
              </a:spcAft>
              <a:buClr>
                <a:schemeClr val="dk2"/>
              </a:buClr>
              <a:buSzPts val="1920"/>
              <a:buFont typeface="Noto Sans Symbols"/>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600"/>
              </a:spcBef>
              <a:spcAft>
                <a:spcPts val="0"/>
              </a:spcAft>
              <a:buClr>
                <a:schemeClr val="dk2"/>
              </a:buClr>
              <a:buSzPts val="1600"/>
              <a:buFont typeface="Noto Sans Symbols"/>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600"/>
              </a:spcBef>
              <a:spcAft>
                <a:spcPts val="0"/>
              </a:spcAft>
              <a:buClr>
                <a:schemeClr val="dk2"/>
              </a:buClr>
              <a:buSzPts val="2000"/>
              <a:buFont typeface="Noto Sans Symbols"/>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600"/>
              </a:spcBef>
              <a:spcAft>
                <a:spcPts val="0"/>
              </a:spcAft>
              <a:buClr>
                <a:schemeClr val="dk2"/>
              </a:buClr>
              <a:buSzPts val="1600"/>
              <a:buFont typeface="Noto Sans Symbols"/>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1221" name="Google Shape;1221;p10"/>
          <p:cNvSpPr txBox="1">
            <a:spLocks noGrp="1"/>
          </p:cNvSpPr>
          <p:nvPr>
            <p:ph type="body" idx="1"/>
          </p:nvPr>
        </p:nvSpPr>
        <p:spPr>
          <a:xfrm>
            <a:off x="7905959" y="3411748"/>
            <a:ext cx="2743200" cy="27432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200"/>
              </a:spcBef>
              <a:spcAft>
                <a:spcPts val="0"/>
              </a:spcAft>
              <a:buSzPts val="1280"/>
              <a:buNone/>
              <a:defRPr sz="1600"/>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600"/>
              </a:spcBef>
              <a:spcAft>
                <a:spcPts val="0"/>
              </a:spcAft>
              <a:buSzPts val="800"/>
              <a:buNone/>
              <a:defRPr sz="1000"/>
            </a:lvl3pPr>
            <a:lvl4pPr marL="1828800" lvl="3" indent="-228600" algn="l">
              <a:lnSpc>
                <a:spcPct val="90000"/>
              </a:lnSpc>
              <a:spcBef>
                <a:spcPts val="600"/>
              </a:spcBef>
              <a:spcAft>
                <a:spcPts val="0"/>
              </a:spcAft>
              <a:buSzPts val="900"/>
              <a:buNone/>
              <a:defRPr sz="900"/>
            </a:lvl4pPr>
            <a:lvl5pPr marL="2286000" lvl="4" indent="-228600" algn="l">
              <a:lnSpc>
                <a:spcPct val="90000"/>
              </a:lnSpc>
              <a:spcBef>
                <a:spcPts val="600"/>
              </a:spcBef>
              <a:spcAft>
                <a:spcPts val="0"/>
              </a:spcAft>
              <a:buSzPts val="900"/>
              <a:buNone/>
              <a:defRPr sz="900"/>
            </a:lvl5pPr>
            <a:lvl6pPr marL="2743200" lvl="5" indent="-228600" algn="l">
              <a:lnSpc>
                <a:spcPct val="90000"/>
              </a:lnSpc>
              <a:spcBef>
                <a:spcPts val="600"/>
              </a:spcBef>
              <a:spcAft>
                <a:spcPts val="0"/>
              </a:spcAft>
              <a:buSzPts val="900"/>
              <a:buNone/>
              <a:defRPr sz="900"/>
            </a:lvl6pPr>
            <a:lvl7pPr marL="3200400" lvl="6" indent="-228600" algn="l">
              <a:lnSpc>
                <a:spcPct val="90000"/>
              </a:lnSpc>
              <a:spcBef>
                <a:spcPts val="600"/>
              </a:spcBef>
              <a:spcAft>
                <a:spcPts val="0"/>
              </a:spcAft>
              <a:buSzPts val="720"/>
              <a:buNone/>
              <a:defRPr sz="900"/>
            </a:lvl7pPr>
            <a:lvl8pPr marL="3657600" lvl="7" indent="-228600" algn="l">
              <a:lnSpc>
                <a:spcPct val="90000"/>
              </a:lnSpc>
              <a:spcBef>
                <a:spcPts val="600"/>
              </a:spcBef>
              <a:spcAft>
                <a:spcPts val="0"/>
              </a:spcAft>
              <a:buSzPts val="900"/>
              <a:buNone/>
              <a:defRPr sz="900"/>
            </a:lvl8pPr>
            <a:lvl9pPr marL="4114800" lvl="8" indent="-228600" algn="l">
              <a:lnSpc>
                <a:spcPct val="90000"/>
              </a:lnSpc>
              <a:spcBef>
                <a:spcPts val="600"/>
              </a:spcBef>
              <a:spcAft>
                <a:spcPts val="0"/>
              </a:spcAft>
              <a:buSzPts val="720"/>
              <a:buNone/>
              <a:defRPr sz="900"/>
            </a:lvl9pPr>
          </a:lstStyle>
          <a:p>
            <a:endParaRPr/>
          </a:p>
        </p:txBody>
      </p:sp>
      <p:sp>
        <p:nvSpPr>
          <p:cNvPr id="1222" name="Google Shape;1222;p10"/>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Century Gothic"/>
              <a:buNone/>
              <a:defRPr sz="32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23"/>
        <p:cNvGrpSpPr/>
        <p:nvPr/>
      </p:nvGrpSpPr>
      <p:grpSpPr>
        <a:xfrm>
          <a:off x="0" y="0"/>
          <a:ext cx="0" cy="0"/>
          <a:chOff x="0" y="0"/>
          <a:chExt cx="0" cy="0"/>
        </a:xfrm>
      </p:grpSpPr>
      <p:grpSp>
        <p:nvGrpSpPr>
          <p:cNvPr id="1224" name="Google Shape;1224;p11"/>
          <p:cNvGrpSpPr/>
          <p:nvPr/>
        </p:nvGrpSpPr>
        <p:grpSpPr>
          <a:xfrm>
            <a:off x="1522413" y="1514475"/>
            <a:ext cx="10569575" cy="64008"/>
            <a:chOff x="1522413" y="1514475"/>
            <a:chExt cx="10569575" cy="64008"/>
          </a:xfrm>
        </p:grpSpPr>
        <p:sp>
          <p:nvSpPr>
            <p:cNvPr id="1225" name="Google Shape;1225;p11"/>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6" name="Google Shape;1226;p11"/>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7" name="Google Shape;1227;p11"/>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8" name="Google Shape;1228;p11"/>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29" name="Google Shape;1229;p11"/>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0" name="Google Shape;1230;p11"/>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1" name="Google Shape;1231;p11"/>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2" name="Google Shape;1232;p11"/>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3" name="Google Shape;1233;p11"/>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4" name="Google Shape;1234;p11"/>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5" name="Google Shape;1235;p11"/>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6" name="Google Shape;1236;p11"/>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7" name="Google Shape;1237;p11"/>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8" name="Google Shape;1238;p11"/>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39" name="Google Shape;1239;p11"/>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0" name="Google Shape;1240;p11"/>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1" name="Google Shape;1241;p11"/>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2" name="Google Shape;1242;p11"/>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3" name="Google Shape;1243;p11"/>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4" name="Google Shape;1244;p11"/>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5" name="Google Shape;1245;p11"/>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6" name="Google Shape;1246;p11"/>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7" name="Google Shape;1247;p11"/>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8" name="Google Shape;1248;p11"/>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49" name="Google Shape;1249;p11"/>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0" name="Google Shape;1250;p11"/>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1" name="Google Shape;1251;p11"/>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2" name="Google Shape;1252;p11"/>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3" name="Google Shape;1253;p11"/>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4" name="Google Shape;1254;p11"/>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5" name="Google Shape;1255;p11"/>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6" name="Google Shape;1256;p11"/>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7" name="Google Shape;1257;p11"/>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8" name="Google Shape;1258;p11"/>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59" name="Google Shape;1259;p11"/>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0" name="Google Shape;1260;p11"/>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1" name="Google Shape;1261;p11"/>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2" name="Google Shape;1262;p11"/>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3" name="Google Shape;1263;p11"/>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4" name="Google Shape;1264;p11"/>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5" name="Google Shape;1265;p11"/>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6" name="Google Shape;1266;p11"/>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7" name="Google Shape;1267;p11"/>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8" name="Google Shape;1268;p11"/>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69" name="Google Shape;1269;p11"/>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0" name="Google Shape;1270;p11"/>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1" name="Google Shape;1271;p11"/>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2" name="Google Shape;1272;p11"/>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3" name="Google Shape;1273;p11"/>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4" name="Google Shape;1274;p11"/>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5" name="Google Shape;1275;p11"/>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6" name="Google Shape;1276;p11"/>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7" name="Google Shape;1277;p11"/>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8" name="Google Shape;1278;p11"/>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79" name="Google Shape;1279;p11"/>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0" name="Google Shape;1280;p11"/>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1" name="Google Shape;1281;p11"/>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2" name="Google Shape;1282;p11"/>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3" name="Google Shape;1283;p11"/>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4" name="Google Shape;1284;p11"/>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5" name="Google Shape;1285;p11"/>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6" name="Google Shape;1286;p11"/>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7" name="Google Shape;1287;p11"/>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8" name="Google Shape;1288;p11"/>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89" name="Google Shape;1289;p11"/>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0" name="Google Shape;1290;p11"/>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1" name="Google Shape;1291;p11"/>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2" name="Google Shape;1292;p11"/>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3" name="Google Shape;1293;p11"/>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4" name="Google Shape;1294;p11"/>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5" name="Google Shape;1295;p11"/>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6" name="Google Shape;1296;p11"/>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7" name="Google Shape;1297;p11"/>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98" name="Google Shape;1298;p11"/>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299" name="Google Shape;1299;p11"/>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0" name="Google Shape;1300;p11"/>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1" name="Google Shape;1301;p11"/>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02" name="Google Shape;1302;p11"/>
          <p:cNvSpPr txBox="1">
            <a:spLocks noGrp="1"/>
          </p:cNvSpPr>
          <p:nvPr>
            <p:ph type="body" idx="1"/>
          </p:nvPr>
        </p:nvSpPr>
        <p:spPr>
          <a:xfrm rot="5400000">
            <a:off x="3960814" y="-533400"/>
            <a:ext cx="4267200" cy="9144000"/>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42900" algn="l">
              <a:lnSpc>
                <a:spcPct val="90000"/>
              </a:lnSpc>
              <a:spcBef>
                <a:spcPts val="600"/>
              </a:spcBef>
              <a:spcAft>
                <a:spcPts val="0"/>
              </a:spcAft>
              <a:buSzPts val="1800"/>
              <a:buChar char="►"/>
              <a:defRPr/>
            </a:lvl2pPr>
            <a:lvl3pPr marL="1371600" lvl="2" indent="-320039" algn="l">
              <a:lnSpc>
                <a:spcPct val="90000"/>
              </a:lnSpc>
              <a:spcBef>
                <a:spcPts val="600"/>
              </a:spcBef>
              <a:spcAft>
                <a:spcPts val="0"/>
              </a:spcAft>
              <a:buSzPts val="1440"/>
              <a:buChar char="►"/>
              <a:defRPr/>
            </a:lvl3pPr>
            <a:lvl4pPr marL="1828800" lvl="3" indent="-342900" algn="l">
              <a:lnSpc>
                <a:spcPct val="90000"/>
              </a:lnSpc>
              <a:spcBef>
                <a:spcPts val="600"/>
              </a:spcBef>
              <a:spcAft>
                <a:spcPts val="0"/>
              </a:spcAft>
              <a:buSzPts val="18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1303" name="Google Shape;1303;p1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04"/>
        <p:cNvGrpSpPr/>
        <p:nvPr/>
      </p:nvGrpSpPr>
      <p:grpSpPr>
        <a:xfrm>
          <a:off x="0" y="0"/>
          <a:ext cx="0" cy="0"/>
          <a:chOff x="0" y="0"/>
          <a:chExt cx="0" cy="0"/>
        </a:xfrm>
      </p:grpSpPr>
      <p:grpSp>
        <p:nvGrpSpPr>
          <p:cNvPr id="1305" name="Google Shape;1305;p12"/>
          <p:cNvGrpSpPr/>
          <p:nvPr/>
        </p:nvGrpSpPr>
        <p:grpSpPr>
          <a:xfrm rot="5400000">
            <a:off x="6864412" y="3472598"/>
            <a:ext cx="6492240" cy="64008"/>
            <a:chOff x="1522413" y="1514475"/>
            <a:chExt cx="10569575" cy="64008"/>
          </a:xfrm>
        </p:grpSpPr>
        <p:sp>
          <p:nvSpPr>
            <p:cNvPr id="1306" name="Google Shape;1306;p12"/>
            <p:cNvSpPr/>
            <p:nvPr/>
          </p:nvSpPr>
          <p:spPr>
            <a:xfrm>
              <a:off x="12028488" y="1525554"/>
              <a:ext cx="63500" cy="4924"/>
            </a:xfrm>
            <a:custGeom>
              <a:avLst/>
              <a:gdLst/>
              <a:ahLst/>
              <a:cxnLst/>
              <a:rect l="l" t="t" r="r" b="b"/>
              <a:pathLst>
                <a:path w="67" h="6" extrusionOk="0">
                  <a:moveTo>
                    <a:pt x="30" y="6"/>
                  </a:moveTo>
                  <a:lnTo>
                    <a:pt x="30" y="6"/>
                  </a:lnTo>
                  <a:lnTo>
                    <a:pt x="67" y="3"/>
                  </a:lnTo>
                  <a:cubicBezTo>
                    <a:pt x="60" y="2"/>
                    <a:pt x="26" y="1"/>
                    <a:pt x="39" y="0"/>
                  </a:cubicBezTo>
                  <a:cubicBezTo>
                    <a:pt x="0" y="1"/>
                    <a:pt x="8" y="3"/>
                    <a:pt x="30"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7" name="Google Shape;1307;p12"/>
            <p:cNvSpPr/>
            <p:nvPr/>
          </p:nvSpPr>
          <p:spPr>
            <a:xfrm>
              <a:off x="12022138" y="1532939"/>
              <a:ext cx="19050" cy="1231"/>
            </a:xfrm>
            <a:custGeom>
              <a:avLst/>
              <a:gdLst/>
              <a:ahLst/>
              <a:cxnLst/>
              <a:rect l="l" t="t" r="r" b="b"/>
              <a:pathLst>
                <a:path w="20" h="2" extrusionOk="0">
                  <a:moveTo>
                    <a:pt x="0" y="2"/>
                  </a:moveTo>
                  <a:lnTo>
                    <a:pt x="0" y="2"/>
                  </a:lnTo>
                  <a:lnTo>
                    <a:pt x="20" y="1"/>
                  </a:lnTo>
                  <a:cubicBezTo>
                    <a:pt x="16" y="0"/>
                    <a:pt x="11" y="0"/>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8" name="Google Shape;1308;p12"/>
            <p:cNvSpPr/>
            <p:nvPr/>
          </p:nvSpPr>
          <p:spPr>
            <a:xfrm>
              <a:off x="12041188" y="1531708"/>
              <a:ext cx="39687" cy="6155"/>
            </a:xfrm>
            <a:custGeom>
              <a:avLst/>
              <a:gdLst/>
              <a:ahLst/>
              <a:cxnLst/>
              <a:rect l="l" t="t" r="r" b="b"/>
              <a:pathLst>
                <a:path w="41" h="6" extrusionOk="0">
                  <a:moveTo>
                    <a:pt x="41" y="0"/>
                  </a:moveTo>
                  <a:lnTo>
                    <a:pt x="41" y="0"/>
                  </a:lnTo>
                  <a:lnTo>
                    <a:pt x="0" y="2"/>
                  </a:lnTo>
                  <a:cubicBezTo>
                    <a:pt x="5" y="3"/>
                    <a:pt x="6" y="6"/>
                    <a:pt x="19" y="1"/>
                  </a:cubicBezTo>
                  <a:cubicBezTo>
                    <a:pt x="15" y="3"/>
                    <a:pt x="23" y="1"/>
                    <a:pt x="4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09" name="Google Shape;1309;p12"/>
            <p:cNvSpPr/>
            <p:nvPr/>
          </p:nvSpPr>
          <p:spPr>
            <a:xfrm>
              <a:off x="11831638" y="1526784"/>
              <a:ext cx="42862" cy="4924"/>
            </a:xfrm>
            <a:custGeom>
              <a:avLst/>
              <a:gdLst/>
              <a:ahLst/>
              <a:cxnLst/>
              <a:rect l="l" t="t" r="r" b="b"/>
              <a:pathLst>
                <a:path w="45" h="6" extrusionOk="0">
                  <a:moveTo>
                    <a:pt x="2" y="0"/>
                  </a:moveTo>
                  <a:lnTo>
                    <a:pt x="2" y="0"/>
                  </a:lnTo>
                  <a:cubicBezTo>
                    <a:pt x="0" y="1"/>
                    <a:pt x="15" y="4"/>
                    <a:pt x="18" y="6"/>
                  </a:cubicBezTo>
                  <a:lnTo>
                    <a:pt x="45" y="4"/>
                  </a:lnTo>
                  <a:cubicBezTo>
                    <a:pt x="31" y="3"/>
                    <a:pt x="4" y="2"/>
                    <a:pt x="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0" name="Google Shape;1310;p12"/>
            <p:cNvSpPr/>
            <p:nvPr/>
          </p:nvSpPr>
          <p:spPr>
            <a:xfrm>
              <a:off x="11809413" y="1531708"/>
              <a:ext cx="41275" cy="2462"/>
            </a:xfrm>
            <a:custGeom>
              <a:avLst/>
              <a:gdLst/>
              <a:ahLst/>
              <a:cxnLst/>
              <a:rect l="l" t="t" r="r" b="b"/>
              <a:pathLst>
                <a:path w="44" h="3" extrusionOk="0">
                  <a:moveTo>
                    <a:pt x="42" y="0"/>
                  </a:moveTo>
                  <a:lnTo>
                    <a:pt x="42" y="0"/>
                  </a:lnTo>
                  <a:lnTo>
                    <a:pt x="0" y="3"/>
                  </a:lnTo>
                  <a:cubicBezTo>
                    <a:pt x="37" y="3"/>
                    <a:pt x="44" y="2"/>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1" name="Google Shape;1311;p12"/>
            <p:cNvSpPr/>
            <p:nvPr/>
          </p:nvSpPr>
          <p:spPr>
            <a:xfrm>
              <a:off x="12003088" y="1537863"/>
              <a:ext cx="77787" cy="3693"/>
            </a:xfrm>
            <a:custGeom>
              <a:avLst/>
              <a:gdLst/>
              <a:ahLst/>
              <a:cxnLst/>
              <a:rect l="l" t="t" r="r" b="b"/>
              <a:pathLst>
                <a:path w="82" h="5" extrusionOk="0">
                  <a:moveTo>
                    <a:pt x="14" y="5"/>
                  </a:moveTo>
                  <a:lnTo>
                    <a:pt x="14" y="5"/>
                  </a:lnTo>
                  <a:lnTo>
                    <a:pt x="82" y="0"/>
                  </a:lnTo>
                  <a:lnTo>
                    <a:pt x="0" y="5"/>
                  </a:lnTo>
                  <a:lnTo>
                    <a:pt x="14"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2" name="Google Shape;1312;p12"/>
            <p:cNvSpPr/>
            <p:nvPr/>
          </p:nvSpPr>
          <p:spPr>
            <a:xfrm>
              <a:off x="11664950" y="1523092"/>
              <a:ext cx="39687" cy="4924"/>
            </a:xfrm>
            <a:custGeom>
              <a:avLst/>
              <a:gdLst/>
              <a:ahLst/>
              <a:cxnLst/>
              <a:rect l="l" t="t" r="r" b="b"/>
              <a:pathLst>
                <a:path w="42" h="5" extrusionOk="0">
                  <a:moveTo>
                    <a:pt x="19" y="4"/>
                  </a:moveTo>
                  <a:lnTo>
                    <a:pt x="19" y="4"/>
                  </a:lnTo>
                  <a:lnTo>
                    <a:pt x="42" y="0"/>
                  </a:lnTo>
                  <a:lnTo>
                    <a:pt x="0" y="5"/>
                  </a:lnTo>
                  <a:lnTo>
                    <a:pt x="19"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3" name="Google Shape;1313;p12"/>
            <p:cNvSpPr/>
            <p:nvPr/>
          </p:nvSpPr>
          <p:spPr>
            <a:xfrm>
              <a:off x="11506200" y="1521861"/>
              <a:ext cx="92075" cy="4924"/>
            </a:xfrm>
            <a:custGeom>
              <a:avLst/>
              <a:gdLst/>
              <a:ahLst/>
              <a:cxnLst/>
              <a:rect l="l" t="t" r="r" b="b"/>
              <a:pathLst>
                <a:path w="98" h="6" extrusionOk="0">
                  <a:moveTo>
                    <a:pt x="81" y="6"/>
                  </a:moveTo>
                  <a:lnTo>
                    <a:pt x="81" y="6"/>
                  </a:lnTo>
                  <a:cubicBezTo>
                    <a:pt x="98" y="3"/>
                    <a:pt x="57" y="1"/>
                    <a:pt x="75" y="0"/>
                  </a:cubicBezTo>
                  <a:cubicBezTo>
                    <a:pt x="47" y="0"/>
                    <a:pt x="22" y="2"/>
                    <a:pt x="0" y="5"/>
                  </a:cubicBezTo>
                  <a:cubicBezTo>
                    <a:pt x="24" y="3"/>
                    <a:pt x="49" y="4"/>
                    <a:pt x="81"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4" name="Google Shape;1314;p12"/>
            <p:cNvSpPr/>
            <p:nvPr/>
          </p:nvSpPr>
          <p:spPr>
            <a:xfrm>
              <a:off x="11471275" y="1525554"/>
              <a:ext cx="34925" cy="3693"/>
            </a:xfrm>
            <a:custGeom>
              <a:avLst/>
              <a:gdLst/>
              <a:ahLst/>
              <a:cxnLst/>
              <a:rect l="l" t="t" r="r" b="b"/>
              <a:pathLst>
                <a:path w="36" h="3" extrusionOk="0">
                  <a:moveTo>
                    <a:pt x="0" y="3"/>
                  </a:moveTo>
                  <a:lnTo>
                    <a:pt x="0" y="3"/>
                  </a:lnTo>
                  <a:cubicBezTo>
                    <a:pt x="11" y="2"/>
                    <a:pt x="23" y="1"/>
                    <a:pt x="36" y="0"/>
                  </a:cubicBezTo>
                  <a:cubicBezTo>
                    <a:pt x="24" y="0"/>
                    <a:pt x="12"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5" name="Google Shape;1315;p12"/>
            <p:cNvSpPr/>
            <p:nvPr/>
          </p:nvSpPr>
          <p:spPr>
            <a:xfrm>
              <a:off x="11710988" y="1529246"/>
              <a:ext cx="30162" cy="4924"/>
            </a:xfrm>
            <a:custGeom>
              <a:avLst/>
              <a:gdLst/>
              <a:ahLst/>
              <a:cxnLst/>
              <a:rect l="l" t="t" r="r" b="b"/>
              <a:pathLst>
                <a:path w="32" h="5" extrusionOk="0">
                  <a:moveTo>
                    <a:pt x="32" y="5"/>
                  </a:moveTo>
                  <a:lnTo>
                    <a:pt x="32" y="5"/>
                  </a:lnTo>
                  <a:cubicBezTo>
                    <a:pt x="29" y="4"/>
                    <a:pt x="23" y="1"/>
                    <a:pt x="0" y="0"/>
                  </a:cubicBezTo>
                  <a:lnTo>
                    <a:pt x="16" y="5"/>
                  </a:lnTo>
                  <a:lnTo>
                    <a:pt x="32"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6" name="Google Shape;1316;p12"/>
            <p:cNvSpPr/>
            <p:nvPr/>
          </p:nvSpPr>
          <p:spPr>
            <a:xfrm>
              <a:off x="11691938" y="1532939"/>
              <a:ext cx="34925" cy="1231"/>
            </a:xfrm>
            <a:custGeom>
              <a:avLst/>
              <a:gdLst/>
              <a:ahLst/>
              <a:cxnLst/>
              <a:rect l="l" t="t" r="r" b="b"/>
              <a:pathLst>
                <a:path w="36" h="1" extrusionOk="0">
                  <a:moveTo>
                    <a:pt x="36" y="1"/>
                  </a:moveTo>
                  <a:lnTo>
                    <a:pt x="36" y="1"/>
                  </a:lnTo>
                  <a:lnTo>
                    <a:pt x="35" y="1"/>
                  </a:lnTo>
                  <a:lnTo>
                    <a:pt x="0" y="0"/>
                  </a:lnTo>
                  <a:lnTo>
                    <a:pt x="36"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7" name="Google Shape;1317;p12"/>
            <p:cNvSpPr/>
            <p:nvPr/>
          </p:nvSpPr>
          <p:spPr>
            <a:xfrm>
              <a:off x="11741150" y="1534170"/>
              <a:ext cx="4762" cy="0"/>
            </a:xfrm>
            <a:custGeom>
              <a:avLst/>
              <a:gdLst/>
              <a:ahLst/>
              <a:cxnLst/>
              <a:rect l="l" t="t" r="r" b="b"/>
              <a:pathLst>
                <a:path w="5" h="120000" extrusionOk="0">
                  <a:moveTo>
                    <a:pt x="5" y="0"/>
                  </a:moveTo>
                  <a:lnTo>
                    <a:pt x="5" y="0"/>
                  </a:lnTo>
                  <a:lnTo>
                    <a:pt x="0" y="0"/>
                  </a:lnTo>
                  <a:cubicBezTo>
                    <a:pt x="2" y="0"/>
                    <a:pt x="3" y="0"/>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8" name="Google Shape;1318;p12"/>
            <p:cNvSpPr/>
            <p:nvPr/>
          </p:nvSpPr>
          <p:spPr>
            <a:xfrm>
              <a:off x="11841163" y="1537863"/>
              <a:ext cx="71437" cy="8617"/>
            </a:xfrm>
            <a:custGeom>
              <a:avLst/>
              <a:gdLst/>
              <a:ahLst/>
              <a:cxnLst/>
              <a:rect l="l" t="t" r="r" b="b"/>
              <a:pathLst>
                <a:path w="75" h="9" extrusionOk="0">
                  <a:moveTo>
                    <a:pt x="75" y="0"/>
                  </a:moveTo>
                  <a:lnTo>
                    <a:pt x="75" y="0"/>
                  </a:lnTo>
                  <a:cubicBezTo>
                    <a:pt x="51" y="3"/>
                    <a:pt x="0" y="5"/>
                    <a:pt x="49" y="9"/>
                  </a:cubicBezTo>
                  <a:cubicBezTo>
                    <a:pt x="66" y="6"/>
                    <a:pt x="38" y="4"/>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19" name="Google Shape;1319;p12"/>
            <p:cNvSpPr/>
            <p:nvPr/>
          </p:nvSpPr>
          <p:spPr>
            <a:xfrm>
              <a:off x="11764963" y="1535401"/>
              <a:ext cx="44450" cy="3693"/>
            </a:xfrm>
            <a:custGeom>
              <a:avLst/>
              <a:gdLst/>
              <a:ahLst/>
              <a:cxnLst/>
              <a:rect l="l" t="t" r="r" b="b"/>
              <a:pathLst>
                <a:path w="47" h="4" extrusionOk="0">
                  <a:moveTo>
                    <a:pt x="0" y="3"/>
                  </a:moveTo>
                  <a:lnTo>
                    <a:pt x="0" y="3"/>
                  </a:lnTo>
                  <a:lnTo>
                    <a:pt x="44" y="4"/>
                  </a:lnTo>
                  <a:cubicBezTo>
                    <a:pt x="43" y="3"/>
                    <a:pt x="35" y="1"/>
                    <a:pt x="47" y="0"/>
                  </a:cubicBez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0" name="Google Shape;1320;p12"/>
            <p:cNvSpPr/>
            <p:nvPr/>
          </p:nvSpPr>
          <p:spPr>
            <a:xfrm>
              <a:off x="11744325" y="1537863"/>
              <a:ext cx="20637" cy="2462"/>
            </a:xfrm>
            <a:custGeom>
              <a:avLst/>
              <a:gdLst/>
              <a:ahLst/>
              <a:cxnLst/>
              <a:rect l="l" t="t" r="r" b="b"/>
              <a:pathLst>
                <a:path w="22" h="2" extrusionOk="0">
                  <a:moveTo>
                    <a:pt x="0" y="2"/>
                  </a:moveTo>
                  <a:lnTo>
                    <a:pt x="0" y="2"/>
                  </a:lnTo>
                  <a:lnTo>
                    <a:pt x="22" y="0"/>
                  </a:lnTo>
                  <a:lnTo>
                    <a:pt x="5" y="0"/>
                  </a:lnTo>
                  <a:lnTo>
                    <a:pt x="0"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1" name="Google Shape;1321;p12"/>
            <p:cNvSpPr/>
            <p:nvPr/>
          </p:nvSpPr>
          <p:spPr>
            <a:xfrm>
              <a:off x="11482388" y="1531708"/>
              <a:ext cx="85725" cy="3693"/>
            </a:xfrm>
            <a:custGeom>
              <a:avLst/>
              <a:gdLst/>
              <a:ahLst/>
              <a:cxnLst/>
              <a:rect l="l" t="t" r="r" b="b"/>
              <a:pathLst>
                <a:path w="90" h="4" extrusionOk="0">
                  <a:moveTo>
                    <a:pt x="63" y="0"/>
                  </a:moveTo>
                  <a:lnTo>
                    <a:pt x="63" y="0"/>
                  </a:lnTo>
                  <a:cubicBezTo>
                    <a:pt x="44" y="2"/>
                    <a:pt x="23" y="2"/>
                    <a:pt x="0" y="2"/>
                  </a:cubicBezTo>
                  <a:cubicBezTo>
                    <a:pt x="25" y="3"/>
                    <a:pt x="51" y="4"/>
                    <a:pt x="76" y="4"/>
                  </a:cubicBezTo>
                  <a:cubicBezTo>
                    <a:pt x="79" y="2"/>
                    <a:pt x="90" y="0"/>
                    <a:pt x="6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2" name="Google Shape;1322;p12"/>
            <p:cNvSpPr/>
            <p:nvPr/>
          </p:nvSpPr>
          <p:spPr>
            <a:xfrm>
              <a:off x="11626850" y="1532939"/>
              <a:ext cx="4762" cy="1231"/>
            </a:xfrm>
            <a:custGeom>
              <a:avLst/>
              <a:gdLst/>
              <a:ahLst/>
              <a:cxnLst/>
              <a:rect l="l" t="t" r="r" b="b"/>
              <a:pathLst>
                <a:path w="5" h="1" extrusionOk="0">
                  <a:moveTo>
                    <a:pt x="5" y="0"/>
                  </a:moveTo>
                  <a:lnTo>
                    <a:pt x="5" y="0"/>
                  </a:lnTo>
                  <a:lnTo>
                    <a:pt x="0" y="1"/>
                  </a:lnTo>
                  <a:cubicBezTo>
                    <a:pt x="3" y="1"/>
                    <a:pt x="5" y="1"/>
                    <a:pt x="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3" name="Google Shape;1323;p12"/>
            <p:cNvSpPr/>
            <p:nvPr/>
          </p:nvSpPr>
          <p:spPr>
            <a:xfrm>
              <a:off x="11261725" y="1534170"/>
              <a:ext cx="4762" cy="0"/>
            </a:xfrm>
            <a:custGeom>
              <a:avLst/>
              <a:gdLst/>
              <a:ahLst/>
              <a:cxnLst/>
              <a:rect l="l" t="t" r="r" b="b"/>
              <a:pathLst>
                <a:path w="5" h="1" extrusionOk="0">
                  <a:moveTo>
                    <a:pt x="0" y="0"/>
                  </a:moveTo>
                  <a:lnTo>
                    <a:pt x="0" y="0"/>
                  </a:lnTo>
                  <a:lnTo>
                    <a:pt x="4" y="0"/>
                  </a:lnTo>
                  <a:cubicBezTo>
                    <a:pt x="4" y="0"/>
                    <a:pt x="4" y="0"/>
                    <a:pt x="5"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4" name="Google Shape;1324;p12"/>
            <p:cNvSpPr/>
            <p:nvPr/>
          </p:nvSpPr>
          <p:spPr>
            <a:xfrm>
              <a:off x="11553825" y="1534170"/>
              <a:ext cx="44450" cy="2462"/>
            </a:xfrm>
            <a:custGeom>
              <a:avLst/>
              <a:gdLst/>
              <a:ahLst/>
              <a:cxnLst/>
              <a:rect l="l" t="t" r="r" b="b"/>
              <a:pathLst>
                <a:path w="47" h="2" extrusionOk="0">
                  <a:moveTo>
                    <a:pt x="6" y="2"/>
                  </a:moveTo>
                  <a:lnTo>
                    <a:pt x="6" y="2"/>
                  </a:lnTo>
                  <a:cubicBezTo>
                    <a:pt x="25" y="2"/>
                    <a:pt x="36" y="1"/>
                    <a:pt x="47" y="0"/>
                  </a:cubicBezTo>
                  <a:cubicBezTo>
                    <a:pt x="33" y="0"/>
                    <a:pt x="18" y="1"/>
                    <a:pt x="2" y="1"/>
                  </a:cubicBezTo>
                  <a:cubicBezTo>
                    <a:pt x="0"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5" name="Google Shape;1325;p12"/>
            <p:cNvSpPr/>
            <p:nvPr/>
          </p:nvSpPr>
          <p:spPr>
            <a:xfrm>
              <a:off x="11409363" y="1529246"/>
              <a:ext cx="31750" cy="2462"/>
            </a:xfrm>
            <a:custGeom>
              <a:avLst/>
              <a:gdLst/>
              <a:ahLst/>
              <a:cxnLst/>
              <a:rect l="l" t="t" r="r" b="b"/>
              <a:pathLst>
                <a:path w="33" h="3" extrusionOk="0">
                  <a:moveTo>
                    <a:pt x="0" y="1"/>
                  </a:moveTo>
                  <a:lnTo>
                    <a:pt x="0" y="1"/>
                  </a:lnTo>
                  <a:cubicBezTo>
                    <a:pt x="10" y="2"/>
                    <a:pt x="21" y="3"/>
                    <a:pt x="33" y="3"/>
                  </a:cubicBezTo>
                  <a:cubicBezTo>
                    <a:pt x="23" y="2"/>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6" name="Google Shape;1326;p12"/>
            <p:cNvSpPr/>
            <p:nvPr/>
          </p:nvSpPr>
          <p:spPr>
            <a:xfrm>
              <a:off x="11618913" y="1531708"/>
              <a:ext cx="6350" cy="0"/>
            </a:xfrm>
            <a:custGeom>
              <a:avLst/>
              <a:gdLst/>
              <a:ahLst/>
              <a:cxnLst/>
              <a:rect l="l" t="t" r="r" b="b"/>
              <a:pathLst>
                <a:path w="6" h="1" extrusionOk="0">
                  <a:moveTo>
                    <a:pt x="3" y="0"/>
                  </a:moveTo>
                  <a:lnTo>
                    <a:pt x="3" y="0"/>
                  </a:lnTo>
                  <a:lnTo>
                    <a:pt x="6" y="0"/>
                  </a:lnTo>
                  <a:cubicBezTo>
                    <a:pt x="0" y="0"/>
                    <a:pt x="0" y="0"/>
                    <a:pt x="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7" name="Google Shape;1327;p12"/>
            <p:cNvSpPr/>
            <p:nvPr/>
          </p:nvSpPr>
          <p:spPr>
            <a:xfrm>
              <a:off x="11598275" y="1531708"/>
              <a:ext cx="28575" cy="2462"/>
            </a:xfrm>
            <a:custGeom>
              <a:avLst/>
              <a:gdLst/>
              <a:ahLst/>
              <a:cxnLst/>
              <a:rect l="l" t="t" r="r" b="b"/>
              <a:pathLst>
                <a:path w="31" h="3" extrusionOk="0">
                  <a:moveTo>
                    <a:pt x="25" y="0"/>
                  </a:moveTo>
                  <a:lnTo>
                    <a:pt x="25" y="0"/>
                  </a:lnTo>
                  <a:cubicBezTo>
                    <a:pt x="15" y="1"/>
                    <a:pt x="8" y="2"/>
                    <a:pt x="0" y="3"/>
                  </a:cubicBezTo>
                  <a:cubicBezTo>
                    <a:pt x="11" y="3"/>
                    <a:pt x="22" y="2"/>
                    <a:pt x="31" y="2"/>
                  </a:cubicBezTo>
                  <a:cubicBezTo>
                    <a:pt x="29" y="1"/>
                    <a:pt x="27" y="1"/>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8" name="Google Shape;1328;p12"/>
            <p:cNvSpPr/>
            <p:nvPr/>
          </p:nvSpPr>
          <p:spPr>
            <a:xfrm>
              <a:off x="11137900" y="1534170"/>
              <a:ext cx="188912" cy="23388"/>
            </a:xfrm>
            <a:custGeom>
              <a:avLst/>
              <a:gdLst/>
              <a:ahLst/>
              <a:cxnLst/>
              <a:rect l="l" t="t" r="r" b="b"/>
              <a:pathLst>
                <a:path w="198" h="27" extrusionOk="0">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29" name="Google Shape;1329;p12"/>
            <p:cNvSpPr/>
            <p:nvPr/>
          </p:nvSpPr>
          <p:spPr>
            <a:xfrm>
              <a:off x="11266488" y="1529246"/>
              <a:ext cx="95250" cy="4924"/>
            </a:xfrm>
            <a:custGeom>
              <a:avLst/>
              <a:gdLst/>
              <a:ahLst/>
              <a:cxnLst/>
              <a:rect l="l" t="t" r="r" b="b"/>
              <a:pathLst>
                <a:path w="100" h="6" extrusionOk="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0" name="Google Shape;1330;p12"/>
            <p:cNvSpPr/>
            <p:nvPr/>
          </p:nvSpPr>
          <p:spPr>
            <a:xfrm>
              <a:off x="11361738" y="1531708"/>
              <a:ext cx="134937" cy="12309"/>
            </a:xfrm>
            <a:custGeom>
              <a:avLst/>
              <a:gdLst/>
              <a:ahLst/>
              <a:cxnLst/>
              <a:rect l="l" t="t" r="r" b="b"/>
              <a:pathLst>
                <a:path w="142" h="14" extrusionOk="0">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1" name="Google Shape;1331;p12"/>
            <p:cNvSpPr/>
            <p:nvPr/>
          </p:nvSpPr>
          <p:spPr>
            <a:xfrm>
              <a:off x="11834813" y="1552634"/>
              <a:ext cx="9525" cy="1231"/>
            </a:xfrm>
            <a:custGeom>
              <a:avLst/>
              <a:gdLst/>
              <a:ahLst/>
              <a:cxnLst/>
              <a:rect l="l" t="t" r="r" b="b"/>
              <a:pathLst>
                <a:path w="11" h="1" extrusionOk="0">
                  <a:moveTo>
                    <a:pt x="11" y="1"/>
                  </a:moveTo>
                  <a:lnTo>
                    <a:pt x="11" y="1"/>
                  </a:lnTo>
                  <a:cubicBezTo>
                    <a:pt x="8" y="1"/>
                    <a:pt x="8" y="1"/>
                    <a:pt x="8" y="0"/>
                  </a:cubicBezTo>
                  <a:cubicBezTo>
                    <a:pt x="2" y="1"/>
                    <a:pt x="0" y="1"/>
                    <a:pt x="11"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2" name="Google Shape;1332;p12"/>
            <p:cNvSpPr/>
            <p:nvPr/>
          </p:nvSpPr>
          <p:spPr>
            <a:xfrm>
              <a:off x="11764963" y="1542787"/>
              <a:ext cx="117475" cy="9847"/>
            </a:xfrm>
            <a:custGeom>
              <a:avLst/>
              <a:gdLst/>
              <a:ahLst/>
              <a:cxnLst/>
              <a:rect l="l" t="t" r="r" b="b"/>
              <a:pathLst>
                <a:path w="122" h="12" extrusionOk="0">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3" name="Google Shape;1333;p12"/>
            <p:cNvSpPr/>
            <p:nvPr/>
          </p:nvSpPr>
          <p:spPr>
            <a:xfrm>
              <a:off x="11555413" y="1544017"/>
              <a:ext cx="69850" cy="4924"/>
            </a:xfrm>
            <a:custGeom>
              <a:avLst/>
              <a:gdLst/>
              <a:ahLst/>
              <a:cxnLst/>
              <a:rect l="l" t="t" r="r" b="b"/>
              <a:pathLst>
                <a:path w="74" h="6" extrusionOk="0">
                  <a:moveTo>
                    <a:pt x="70" y="0"/>
                  </a:moveTo>
                  <a:lnTo>
                    <a:pt x="70" y="0"/>
                  </a:lnTo>
                  <a:lnTo>
                    <a:pt x="0" y="2"/>
                  </a:lnTo>
                  <a:lnTo>
                    <a:pt x="36" y="6"/>
                  </a:lnTo>
                  <a:lnTo>
                    <a:pt x="34" y="4"/>
                  </a:lnTo>
                  <a:cubicBezTo>
                    <a:pt x="74" y="4"/>
                    <a:pt x="65" y="2"/>
                    <a:pt x="7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4" name="Google Shape;1334;p12"/>
            <p:cNvSpPr/>
            <p:nvPr/>
          </p:nvSpPr>
          <p:spPr>
            <a:xfrm>
              <a:off x="11223625" y="1528016"/>
              <a:ext cx="38100" cy="6155"/>
            </a:xfrm>
            <a:custGeom>
              <a:avLst/>
              <a:gdLst/>
              <a:ahLst/>
              <a:cxnLst/>
              <a:rect l="l" t="t" r="r" b="b"/>
              <a:pathLst>
                <a:path w="40" h="7" extrusionOk="0">
                  <a:moveTo>
                    <a:pt x="31" y="5"/>
                  </a:moveTo>
                  <a:lnTo>
                    <a:pt x="31" y="5"/>
                  </a:lnTo>
                  <a:lnTo>
                    <a:pt x="40" y="0"/>
                  </a:lnTo>
                  <a:lnTo>
                    <a:pt x="0" y="7"/>
                  </a:lnTo>
                  <a:lnTo>
                    <a:pt x="31"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5" name="Google Shape;1335;p12"/>
            <p:cNvSpPr/>
            <p:nvPr/>
          </p:nvSpPr>
          <p:spPr>
            <a:xfrm>
              <a:off x="11145838" y="1529246"/>
              <a:ext cx="22225" cy="2462"/>
            </a:xfrm>
            <a:custGeom>
              <a:avLst/>
              <a:gdLst/>
              <a:ahLst/>
              <a:cxnLst/>
              <a:rect l="l" t="t" r="r" b="b"/>
              <a:pathLst>
                <a:path w="24" h="4" extrusionOk="0">
                  <a:moveTo>
                    <a:pt x="21" y="4"/>
                  </a:moveTo>
                  <a:lnTo>
                    <a:pt x="21" y="4"/>
                  </a:lnTo>
                  <a:lnTo>
                    <a:pt x="24" y="0"/>
                  </a:lnTo>
                  <a:lnTo>
                    <a:pt x="0" y="3"/>
                  </a:lnTo>
                  <a:lnTo>
                    <a:pt x="2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6" name="Google Shape;1336;p12"/>
            <p:cNvSpPr/>
            <p:nvPr/>
          </p:nvSpPr>
          <p:spPr>
            <a:xfrm>
              <a:off x="6197600" y="1566174"/>
              <a:ext cx="20637" cy="1231"/>
            </a:xfrm>
            <a:custGeom>
              <a:avLst/>
              <a:gdLst/>
              <a:ahLst/>
              <a:cxnLst/>
              <a:rect l="l" t="t" r="r" b="b"/>
              <a:pathLst>
                <a:path w="21" h="1" extrusionOk="0">
                  <a:moveTo>
                    <a:pt x="21" y="0"/>
                  </a:moveTo>
                  <a:lnTo>
                    <a:pt x="21" y="0"/>
                  </a:lnTo>
                  <a:lnTo>
                    <a:pt x="0" y="1"/>
                  </a:lnTo>
                  <a:cubicBezTo>
                    <a:pt x="10" y="0"/>
                    <a:pt x="16" y="0"/>
                    <a:pt x="2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7" name="Google Shape;1337;p12"/>
            <p:cNvSpPr/>
            <p:nvPr/>
          </p:nvSpPr>
          <p:spPr>
            <a:xfrm>
              <a:off x="6356350" y="1564943"/>
              <a:ext cx="9525" cy="1231"/>
            </a:xfrm>
            <a:custGeom>
              <a:avLst/>
              <a:gdLst/>
              <a:ahLst/>
              <a:cxnLst/>
              <a:rect l="l" t="t" r="r" b="b"/>
              <a:pathLst>
                <a:path w="10" h="2" extrusionOk="0">
                  <a:moveTo>
                    <a:pt x="6" y="2"/>
                  </a:moveTo>
                  <a:lnTo>
                    <a:pt x="6" y="2"/>
                  </a:lnTo>
                  <a:lnTo>
                    <a:pt x="10" y="0"/>
                  </a:lnTo>
                  <a:cubicBezTo>
                    <a:pt x="3" y="1"/>
                    <a:pt x="0" y="2"/>
                    <a:pt x="6"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8" name="Google Shape;1338;p12"/>
            <p:cNvSpPr/>
            <p:nvPr/>
          </p:nvSpPr>
          <p:spPr>
            <a:xfrm>
              <a:off x="8950325" y="1521861"/>
              <a:ext cx="61912" cy="7386"/>
            </a:xfrm>
            <a:custGeom>
              <a:avLst/>
              <a:gdLst/>
              <a:ahLst/>
              <a:cxnLst/>
              <a:rect l="l" t="t" r="r" b="b"/>
              <a:pathLst>
                <a:path w="65" h="9" extrusionOk="0">
                  <a:moveTo>
                    <a:pt x="65" y="9"/>
                  </a:moveTo>
                  <a:lnTo>
                    <a:pt x="65" y="9"/>
                  </a:lnTo>
                  <a:cubicBezTo>
                    <a:pt x="34" y="5"/>
                    <a:pt x="0" y="0"/>
                    <a:pt x="4" y="4"/>
                  </a:cubicBezTo>
                  <a:lnTo>
                    <a:pt x="13" y="8"/>
                  </a:lnTo>
                  <a:cubicBezTo>
                    <a:pt x="35" y="7"/>
                    <a:pt x="51" y="8"/>
                    <a:pt x="65"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39" name="Google Shape;1339;p12"/>
            <p:cNvSpPr/>
            <p:nvPr/>
          </p:nvSpPr>
          <p:spPr>
            <a:xfrm>
              <a:off x="7537450" y="1546479"/>
              <a:ext cx="28575" cy="3693"/>
            </a:xfrm>
            <a:custGeom>
              <a:avLst/>
              <a:gdLst/>
              <a:ahLst/>
              <a:cxnLst/>
              <a:rect l="l" t="t" r="r" b="b"/>
              <a:pathLst>
                <a:path w="29" h="4" extrusionOk="0">
                  <a:moveTo>
                    <a:pt x="0" y="3"/>
                  </a:moveTo>
                  <a:lnTo>
                    <a:pt x="0" y="3"/>
                  </a:lnTo>
                  <a:lnTo>
                    <a:pt x="9" y="4"/>
                  </a:lnTo>
                  <a:lnTo>
                    <a:pt x="29" y="0"/>
                  </a:lnTo>
                  <a:lnTo>
                    <a:pt x="0" y="3"/>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0" name="Google Shape;1340;p12"/>
            <p:cNvSpPr/>
            <p:nvPr/>
          </p:nvSpPr>
          <p:spPr>
            <a:xfrm>
              <a:off x="7478713" y="1562481"/>
              <a:ext cx="38100" cy="2462"/>
            </a:xfrm>
            <a:custGeom>
              <a:avLst/>
              <a:gdLst/>
              <a:ahLst/>
              <a:cxnLst/>
              <a:rect l="l" t="t" r="r" b="b"/>
              <a:pathLst>
                <a:path w="40" h="3" extrusionOk="0">
                  <a:moveTo>
                    <a:pt x="40" y="3"/>
                  </a:moveTo>
                  <a:lnTo>
                    <a:pt x="40" y="3"/>
                  </a:lnTo>
                  <a:lnTo>
                    <a:pt x="0" y="0"/>
                  </a:lnTo>
                  <a:cubicBezTo>
                    <a:pt x="9" y="1"/>
                    <a:pt x="22" y="2"/>
                    <a:pt x="4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1" name="Google Shape;1341;p12"/>
            <p:cNvSpPr/>
            <p:nvPr/>
          </p:nvSpPr>
          <p:spPr>
            <a:xfrm>
              <a:off x="5410200" y="1568636"/>
              <a:ext cx="36512" cy="3693"/>
            </a:xfrm>
            <a:custGeom>
              <a:avLst/>
              <a:gdLst/>
              <a:ahLst/>
              <a:cxnLst/>
              <a:rect l="l" t="t" r="r" b="b"/>
              <a:pathLst>
                <a:path w="38" h="5" extrusionOk="0">
                  <a:moveTo>
                    <a:pt x="24" y="0"/>
                  </a:moveTo>
                  <a:lnTo>
                    <a:pt x="24" y="0"/>
                  </a:lnTo>
                  <a:lnTo>
                    <a:pt x="0" y="5"/>
                  </a:lnTo>
                  <a:cubicBezTo>
                    <a:pt x="38" y="5"/>
                    <a:pt x="21" y="3"/>
                    <a:pt x="24"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2" name="Google Shape;1342;p12"/>
            <p:cNvSpPr/>
            <p:nvPr/>
          </p:nvSpPr>
          <p:spPr>
            <a:xfrm>
              <a:off x="10206038" y="1530477"/>
              <a:ext cx="61912" cy="4924"/>
            </a:xfrm>
            <a:custGeom>
              <a:avLst/>
              <a:gdLst/>
              <a:ahLst/>
              <a:cxnLst/>
              <a:rect l="l" t="t" r="r" b="b"/>
              <a:pathLst>
                <a:path w="65" h="6" extrusionOk="0">
                  <a:moveTo>
                    <a:pt x="65" y="3"/>
                  </a:moveTo>
                  <a:lnTo>
                    <a:pt x="65" y="3"/>
                  </a:lnTo>
                  <a:cubicBezTo>
                    <a:pt x="39" y="1"/>
                    <a:pt x="18" y="0"/>
                    <a:pt x="0" y="0"/>
                  </a:cubicBezTo>
                  <a:cubicBezTo>
                    <a:pt x="32" y="2"/>
                    <a:pt x="57" y="6"/>
                    <a:pt x="65"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3" name="Google Shape;1343;p12"/>
            <p:cNvSpPr/>
            <p:nvPr/>
          </p:nvSpPr>
          <p:spPr>
            <a:xfrm>
              <a:off x="6257925" y="1525554"/>
              <a:ext cx="19050" cy="2462"/>
            </a:xfrm>
            <a:custGeom>
              <a:avLst/>
              <a:gdLst/>
              <a:ahLst/>
              <a:cxnLst/>
              <a:rect l="l" t="t" r="r" b="b"/>
              <a:pathLst>
                <a:path w="21" h="2" extrusionOk="0">
                  <a:moveTo>
                    <a:pt x="18" y="0"/>
                  </a:moveTo>
                  <a:lnTo>
                    <a:pt x="18" y="0"/>
                  </a:lnTo>
                  <a:cubicBezTo>
                    <a:pt x="5" y="1"/>
                    <a:pt x="0" y="2"/>
                    <a:pt x="0" y="2"/>
                  </a:cubicBezTo>
                  <a:cubicBezTo>
                    <a:pt x="13" y="2"/>
                    <a:pt x="21" y="1"/>
                    <a:pt x="1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4" name="Google Shape;1344;p12"/>
            <p:cNvSpPr/>
            <p:nvPr/>
          </p:nvSpPr>
          <p:spPr>
            <a:xfrm>
              <a:off x="10134600" y="1528016"/>
              <a:ext cx="71437" cy="3693"/>
            </a:xfrm>
            <a:custGeom>
              <a:avLst/>
              <a:gdLst/>
              <a:ahLst/>
              <a:cxnLst/>
              <a:rect l="l" t="t" r="r" b="b"/>
              <a:pathLst>
                <a:path w="75" h="4" extrusionOk="0">
                  <a:moveTo>
                    <a:pt x="0" y="3"/>
                  </a:moveTo>
                  <a:lnTo>
                    <a:pt x="0" y="3"/>
                  </a:lnTo>
                  <a:lnTo>
                    <a:pt x="13" y="4"/>
                  </a:lnTo>
                  <a:cubicBezTo>
                    <a:pt x="32" y="3"/>
                    <a:pt x="52" y="2"/>
                    <a:pt x="75" y="3"/>
                  </a:cubicBezTo>
                  <a:cubicBezTo>
                    <a:pt x="52" y="1"/>
                    <a:pt x="25" y="0"/>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5" name="Google Shape;1345;p12"/>
            <p:cNvSpPr/>
            <p:nvPr/>
          </p:nvSpPr>
          <p:spPr>
            <a:xfrm>
              <a:off x="2582863" y="1560020"/>
              <a:ext cx="7937" cy="1231"/>
            </a:xfrm>
            <a:custGeom>
              <a:avLst/>
              <a:gdLst/>
              <a:ahLst/>
              <a:cxnLst/>
              <a:rect l="l" t="t" r="r" b="b"/>
              <a:pathLst>
                <a:path w="8" h="1" extrusionOk="0">
                  <a:moveTo>
                    <a:pt x="8" y="1"/>
                  </a:moveTo>
                  <a:lnTo>
                    <a:pt x="8" y="1"/>
                  </a:lnTo>
                  <a:lnTo>
                    <a:pt x="1" y="0"/>
                  </a:lnTo>
                  <a:cubicBezTo>
                    <a:pt x="0" y="1"/>
                    <a:pt x="3" y="1"/>
                    <a:pt x="8"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6" name="Google Shape;1346;p12"/>
            <p:cNvSpPr/>
            <p:nvPr/>
          </p:nvSpPr>
          <p:spPr>
            <a:xfrm>
              <a:off x="1762125" y="1521861"/>
              <a:ext cx="34925" cy="1231"/>
            </a:xfrm>
            <a:custGeom>
              <a:avLst/>
              <a:gdLst/>
              <a:ahLst/>
              <a:cxnLst/>
              <a:rect l="l" t="t" r="r" b="b"/>
              <a:pathLst>
                <a:path w="36" h="1" extrusionOk="0">
                  <a:moveTo>
                    <a:pt x="0" y="1"/>
                  </a:moveTo>
                  <a:lnTo>
                    <a:pt x="0" y="1"/>
                  </a:lnTo>
                  <a:cubicBezTo>
                    <a:pt x="9" y="1"/>
                    <a:pt x="23" y="1"/>
                    <a:pt x="36" y="1"/>
                  </a:cubicBezTo>
                  <a:cubicBezTo>
                    <a:pt x="29" y="0"/>
                    <a:pt x="19"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7" name="Google Shape;1347;p12"/>
            <p:cNvSpPr/>
            <p:nvPr/>
          </p:nvSpPr>
          <p:spPr>
            <a:xfrm>
              <a:off x="10812463" y="1529246"/>
              <a:ext cx="19050" cy="1231"/>
            </a:xfrm>
            <a:custGeom>
              <a:avLst/>
              <a:gdLst/>
              <a:ahLst/>
              <a:cxnLst/>
              <a:rect l="l" t="t" r="r" b="b"/>
              <a:pathLst>
                <a:path w="20" h="1" extrusionOk="0">
                  <a:moveTo>
                    <a:pt x="0" y="1"/>
                  </a:moveTo>
                  <a:lnTo>
                    <a:pt x="0" y="1"/>
                  </a:lnTo>
                  <a:cubicBezTo>
                    <a:pt x="20" y="1"/>
                    <a:pt x="3"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8" name="Google Shape;1348;p12"/>
            <p:cNvSpPr/>
            <p:nvPr/>
          </p:nvSpPr>
          <p:spPr>
            <a:xfrm>
              <a:off x="10896600" y="1545248"/>
              <a:ext cx="7937" cy="2462"/>
            </a:xfrm>
            <a:custGeom>
              <a:avLst/>
              <a:gdLst/>
              <a:ahLst/>
              <a:cxnLst/>
              <a:rect l="l" t="t" r="r" b="b"/>
              <a:pathLst>
                <a:path w="8" h="3" extrusionOk="0">
                  <a:moveTo>
                    <a:pt x="8" y="0"/>
                  </a:moveTo>
                  <a:lnTo>
                    <a:pt x="8" y="0"/>
                  </a:lnTo>
                  <a:cubicBezTo>
                    <a:pt x="4" y="1"/>
                    <a:pt x="1" y="2"/>
                    <a:pt x="0" y="3"/>
                  </a:cubicBezTo>
                  <a:cubicBezTo>
                    <a:pt x="2" y="2"/>
                    <a:pt x="4" y="1"/>
                    <a:pt x="8"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49" name="Google Shape;1349;p12"/>
            <p:cNvSpPr/>
            <p:nvPr/>
          </p:nvSpPr>
          <p:spPr>
            <a:xfrm>
              <a:off x="9947275" y="1553865"/>
              <a:ext cx="4762" cy="1231"/>
            </a:xfrm>
            <a:custGeom>
              <a:avLst/>
              <a:gdLst/>
              <a:ahLst/>
              <a:cxnLst/>
              <a:rect l="l" t="t" r="r" b="b"/>
              <a:pathLst>
                <a:path w="5" h="1" extrusionOk="0">
                  <a:moveTo>
                    <a:pt x="1" y="0"/>
                  </a:moveTo>
                  <a:lnTo>
                    <a:pt x="1" y="0"/>
                  </a:lnTo>
                  <a:lnTo>
                    <a:pt x="0" y="0"/>
                  </a:lnTo>
                  <a:cubicBezTo>
                    <a:pt x="5" y="1"/>
                    <a:pt x="4" y="0"/>
                    <a:pt x="1"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0" name="Google Shape;1350;p12"/>
            <p:cNvSpPr/>
            <p:nvPr/>
          </p:nvSpPr>
          <p:spPr>
            <a:xfrm>
              <a:off x="10817225" y="1531708"/>
              <a:ext cx="23812" cy="0"/>
            </a:xfrm>
            <a:custGeom>
              <a:avLst/>
              <a:gdLst/>
              <a:ahLst/>
              <a:cxnLst/>
              <a:rect l="l" t="t" r="r" b="b"/>
              <a:pathLst>
                <a:path w="25" h="1" extrusionOk="0">
                  <a:moveTo>
                    <a:pt x="25" y="0"/>
                  </a:moveTo>
                  <a:lnTo>
                    <a:pt x="25" y="0"/>
                  </a:lnTo>
                  <a:cubicBezTo>
                    <a:pt x="18" y="0"/>
                    <a:pt x="10" y="0"/>
                    <a:pt x="0" y="0"/>
                  </a:cubicBezTo>
                  <a:cubicBezTo>
                    <a:pt x="5" y="0"/>
                    <a:pt x="12" y="0"/>
                    <a:pt x="2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1" name="Google Shape;1351;p12"/>
            <p:cNvSpPr/>
            <p:nvPr/>
          </p:nvSpPr>
          <p:spPr>
            <a:xfrm>
              <a:off x="10836275" y="1529246"/>
              <a:ext cx="19050" cy="1231"/>
            </a:xfrm>
            <a:custGeom>
              <a:avLst/>
              <a:gdLst/>
              <a:ahLst/>
              <a:cxnLst/>
              <a:rect l="l" t="t" r="r" b="b"/>
              <a:pathLst>
                <a:path w="20" h="1" extrusionOk="0">
                  <a:moveTo>
                    <a:pt x="0" y="1"/>
                  </a:moveTo>
                  <a:lnTo>
                    <a:pt x="0" y="1"/>
                  </a:lnTo>
                  <a:lnTo>
                    <a:pt x="18" y="1"/>
                  </a:lnTo>
                  <a:cubicBezTo>
                    <a:pt x="20" y="1"/>
                    <a:pt x="18"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2" name="Google Shape;1352;p12"/>
            <p:cNvSpPr/>
            <p:nvPr/>
          </p:nvSpPr>
          <p:spPr>
            <a:xfrm>
              <a:off x="10787063" y="1530477"/>
              <a:ext cx="30162" cy="1231"/>
            </a:xfrm>
            <a:custGeom>
              <a:avLst/>
              <a:gdLst/>
              <a:ahLst/>
              <a:cxnLst/>
              <a:rect l="l" t="t" r="r" b="b"/>
              <a:pathLst>
                <a:path w="31" h="1" extrusionOk="0">
                  <a:moveTo>
                    <a:pt x="0" y="0"/>
                  </a:moveTo>
                  <a:lnTo>
                    <a:pt x="0" y="0"/>
                  </a:lnTo>
                  <a:cubicBezTo>
                    <a:pt x="11" y="0"/>
                    <a:pt x="21" y="0"/>
                    <a:pt x="31" y="1"/>
                  </a:cubicBezTo>
                  <a:cubicBezTo>
                    <a:pt x="28" y="0"/>
                    <a:pt x="26" y="0"/>
                    <a:pt x="27" y="0"/>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3" name="Google Shape;1353;p12"/>
            <p:cNvSpPr/>
            <p:nvPr/>
          </p:nvSpPr>
          <p:spPr>
            <a:xfrm>
              <a:off x="4092575" y="1552634"/>
              <a:ext cx="20637" cy="2462"/>
            </a:xfrm>
            <a:custGeom>
              <a:avLst/>
              <a:gdLst/>
              <a:ahLst/>
              <a:cxnLst/>
              <a:rect l="l" t="t" r="r" b="b"/>
              <a:pathLst>
                <a:path w="23" h="2" extrusionOk="0">
                  <a:moveTo>
                    <a:pt x="23" y="0"/>
                  </a:moveTo>
                  <a:lnTo>
                    <a:pt x="23" y="0"/>
                  </a:lnTo>
                  <a:lnTo>
                    <a:pt x="19" y="0"/>
                  </a:lnTo>
                  <a:cubicBezTo>
                    <a:pt x="0" y="2"/>
                    <a:pt x="8" y="1"/>
                    <a:pt x="23"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4" name="Google Shape;1354;p12"/>
            <p:cNvSpPr/>
            <p:nvPr/>
          </p:nvSpPr>
          <p:spPr>
            <a:xfrm>
              <a:off x="8528050" y="1567405"/>
              <a:ext cx="3175" cy="1231"/>
            </a:xfrm>
            <a:custGeom>
              <a:avLst/>
              <a:gdLst/>
              <a:ahLst/>
              <a:cxnLst/>
              <a:rect l="l" t="t" r="r" b="b"/>
              <a:pathLst>
                <a:path w="3" h="1" extrusionOk="0">
                  <a:moveTo>
                    <a:pt x="1" y="1"/>
                  </a:moveTo>
                  <a:lnTo>
                    <a:pt x="1" y="1"/>
                  </a:lnTo>
                  <a:lnTo>
                    <a:pt x="3" y="0"/>
                  </a:lnTo>
                  <a:lnTo>
                    <a:pt x="0" y="0"/>
                  </a:lnTo>
                  <a:lnTo>
                    <a:pt x="1"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5" name="Google Shape;1355;p12"/>
            <p:cNvSpPr/>
            <p:nvPr/>
          </p:nvSpPr>
          <p:spPr>
            <a:xfrm>
              <a:off x="8461375" y="1556326"/>
              <a:ext cx="66675" cy="14771"/>
            </a:xfrm>
            <a:custGeom>
              <a:avLst/>
              <a:gdLst/>
              <a:ahLst/>
              <a:cxnLst/>
              <a:rect l="l" t="t" r="r" b="b"/>
              <a:pathLst>
                <a:path w="69" h="17" extrusionOk="0">
                  <a:moveTo>
                    <a:pt x="0" y="17"/>
                  </a:moveTo>
                  <a:lnTo>
                    <a:pt x="0" y="17"/>
                  </a:lnTo>
                  <a:cubicBezTo>
                    <a:pt x="30" y="11"/>
                    <a:pt x="47" y="12"/>
                    <a:pt x="69" y="13"/>
                  </a:cubicBezTo>
                  <a:lnTo>
                    <a:pt x="46" y="0"/>
                  </a:lnTo>
                  <a:lnTo>
                    <a:pt x="0" y="1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6" name="Google Shape;1356;p12"/>
            <p:cNvSpPr/>
            <p:nvPr/>
          </p:nvSpPr>
          <p:spPr>
            <a:xfrm>
              <a:off x="1562100" y="1514475"/>
              <a:ext cx="9563100" cy="64008"/>
            </a:xfrm>
            <a:custGeom>
              <a:avLst/>
              <a:gdLst/>
              <a:ahLst/>
              <a:cxnLst/>
              <a:rect l="l" t="t" r="r" b="b"/>
              <a:pathLst>
                <a:path w="10030" h="75" extrusionOk="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7" name="Google Shape;1357;p12"/>
            <p:cNvSpPr/>
            <p:nvPr/>
          </p:nvSpPr>
          <p:spPr>
            <a:xfrm>
              <a:off x="7508875" y="1560020"/>
              <a:ext cx="11112" cy="3693"/>
            </a:xfrm>
            <a:custGeom>
              <a:avLst/>
              <a:gdLst/>
              <a:ahLst/>
              <a:cxnLst/>
              <a:rect l="l" t="t" r="r" b="b"/>
              <a:pathLst>
                <a:path w="12" h="3" extrusionOk="0">
                  <a:moveTo>
                    <a:pt x="12" y="3"/>
                  </a:moveTo>
                  <a:lnTo>
                    <a:pt x="12" y="3"/>
                  </a:lnTo>
                  <a:cubicBezTo>
                    <a:pt x="8" y="2"/>
                    <a:pt x="7" y="1"/>
                    <a:pt x="6" y="0"/>
                  </a:cubicBezTo>
                  <a:cubicBezTo>
                    <a:pt x="1" y="1"/>
                    <a:pt x="0" y="2"/>
                    <a:pt x="12"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8" name="Google Shape;1358;p12"/>
            <p:cNvSpPr/>
            <p:nvPr/>
          </p:nvSpPr>
          <p:spPr>
            <a:xfrm>
              <a:off x="5434013" y="1567405"/>
              <a:ext cx="4762" cy="1231"/>
            </a:xfrm>
            <a:custGeom>
              <a:avLst/>
              <a:gdLst/>
              <a:ahLst/>
              <a:cxnLst/>
              <a:rect l="l" t="t" r="r" b="b"/>
              <a:pathLst>
                <a:path w="5" h="1" extrusionOk="0">
                  <a:moveTo>
                    <a:pt x="5" y="1"/>
                  </a:moveTo>
                  <a:lnTo>
                    <a:pt x="5" y="1"/>
                  </a:lnTo>
                  <a:lnTo>
                    <a:pt x="3" y="0"/>
                  </a:lnTo>
                  <a:cubicBezTo>
                    <a:pt x="1" y="1"/>
                    <a:pt x="1" y="1"/>
                    <a:pt x="0" y="1"/>
                  </a:cubicBezTo>
                  <a:lnTo>
                    <a:pt x="5" y="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59" name="Google Shape;1359;p12"/>
            <p:cNvSpPr/>
            <p:nvPr/>
          </p:nvSpPr>
          <p:spPr>
            <a:xfrm>
              <a:off x="9672638" y="1567405"/>
              <a:ext cx="25400" cy="2462"/>
            </a:xfrm>
            <a:custGeom>
              <a:avLst/>
              <a:gdLst/>
              <a:ahLst/>
              <a:cxnLst/>
              <a:rect l="l" t="t" r="r" b="b"/>
              <a:pathLst>
                <a:path w="27" h="3" extrusionOk="0">
                  <a:moveTo>
                    <a:pt x="27" y="3"/>
                  </a:moveTo>
                  <a:lnTo>
                    <a:pt x="27" y="3"/>
                  </a:lnTo>
                  <a:cubicBezTo>
                    <a:pt x="13" y="2"/>
                    <a:pt x="6" y="1"/>
                    <a:pt x="1" y="0"/>
                  </a:cubicBezTo>
                  <a:cubicBezTo>
                    <a:pt x="0" y="1"/>
                    <a:pt x="6"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0" name="Google Shape;1360;p12"/>
            <p:cNvSpPr/>
            <p:nvPr/>
          </p:nvSpPr>
          <p:spPr>
            <a:xfrm>
              <a:off x="10966450" y="1529246"/>
              <a:ext cx="39687" cy="2462"/>
            </a:xfrm>
            <a:custGeom>
              <a:avLst/>
              <a:gdLst/>
              <a:ahLst/>
              <a:cxnLst/>
              <a:rect l="l" t="t" r="r" b="b"/>
              <a:pathLst>
                <a:path w="42" h="3" extrusionOk="0">
                  <a:moveTo>
                    <a:pt x="42" y="0"/>
                  </a:moveTo>
                  <a:lnTo>
                    <a:pt x="42" y="0"/>
                  </a:lnTo>
                  <a:lnTo>
                    <a:pt x="0" y="1"/>
                  </a:lnTo>
                  <a:cubicBezTo>
                    <a:pt x="20" y="1"/>
                    <a:pt x="27" y="2"/>
                    <a:pt x="38" y="3"/>
                  </a:cubicBezTo>
                  <a:cubicBezTo>
                    <a:pt x="37" y="2"/>
                    <a:pt x="29" y="0"/>
                    <a:pt x="42"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1" name="Google Shape;1361;p12"/>
            <p:cNvSpPr/>
            <p:nvPr/>
          </p:nvSpPr>
          <p:spPr>
            <a:xfrm>
              <a:off x="11329988" y="1552634"/>
              <a:ext cx="44450" cy="2462"/>
            </a:xfrm>
            <a:custGeom>
              <a:avLst/>
              <a:gdLst/>
              <a:ahLst/>
              <a:cxnLst/>
              <a:rect l="l" t="t" r="r" b="b"/>
              <a:pathLst>
                <a:path w="46" h="3" extrusionOk="0">
                  <a:moveTo>
                    <a:pt x="27" y="3"/>
                  </a:moveTo>
                  <a:lnTo>
                    <a:pt x="27" y="3"/>
                  </a:lnTo>
                  <a:cubicBezTo>
                    <a:pt x="33" y="2"/>
                    <a:pt x="40" y="3"/>
                    <a:pt x="46" y="2"/>
                  </a:cubicBezTo>
                  <a:lnTo>
                    <a:pt x="44" y="0"/>
                  </a:lnTo>
                  <a:cubicBezTo>
                    <a:pt x="18" y="0"/>
                    <a:pt x="0" y="2"/>
                    <a:pt x="27"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2" name="Google Shape;1362;p12"/>
            <p:cNvSpPr/>
            <p:nvPr/>
          </p:nvSpPr>
          <p:spPr>
            <a:xfrm>
              <a:off x="11042650" y="1540325"/>
              <a:ext cx="60325" cy="6155"/>
            </a:xfrm>
            <a:custGeom>
              <a:avLst/>
              <a:gdLst/>
              <a:ahLst/>
              <a:cxnLst/>
              <a:rect l="l" t="t" r="r" b="b"/>
              <a:pathLst>
                <a:path w="63" h="7" extrusionOk="0">
                  <a:moveTo>
                    <a:pt x="0" y="3"/>
                  </a:moveTo>
                  <a:lnTo>
                    <a:pt x="0" y="3"/>
                  </a:lnTo>
                  <a:cubicBezTo>
                    <a:pt x="3" y="7"/>
                    <a:pt x="30" y="6"/>
                    <a:pt x="60" y="5"/>
                  </a:cubicBezTo>
                  <a:lnTo>
                    <a:pt x="54" y="5"/>
                  </a:lnTo>
                  <a:cubicBezTo>
                    <a:pt x="63" y="0"/>
                    <a:pt x="31" y="1"/>
                    <a:pt x="0" y="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3" name="Google Shape;1363;p12"/>
            <p:cNvSpPr/>
            <p:nvPr/>
          </p:nvSpPr>
          <p:spPr>
            <a:xfrm>
              <a:off x="11106150" y="1542787"/>
              <a:ext cx="28575" cy="1231"/>
            </a:xfrm>
            <a:custGeom>
              <a:avLst/>
              <a:gdLst/>
              <a:ahLst/>
              <a:cxnLst/>
              <a:rect l="l" t="t" r="r" b="b"/>
              <a:pathLst>
                <a:path w="31" h="2" extrusionOk="0">
                  <a:moveTo>
                    <a:pt x="0" y="2"/>
                  </a:moveTo>
                  <a:lnTo>
                    <a:pt x="0" y="2"/>
                  </a:lnTo>
                  <a:cubicBezTo>
                    <a:pt x="10" y="2"/>
                    <a:pt x="19" y="2"/>
                    <a:pt x="28" y="2"/>
                  </a:cubicBezTo>
                  <a:cubicBezTo>
                    <a:pt x="31" y="0"/>
                    <a:pt x="17" y="2"/>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4" name="Google Shape;1364;p12"/>
            <p:cNvSpPr/>
            <p:nvPr/>
          </p:nvSpPr>
          <p:spPr>
            <a:xfrm>
              <a:off x="10679113" y="1525554"/>
              <a:ext cx="103187" cy="9847"/>
            </a:xfrm>
            <a:custGeom>
              <a:avLst/>
              <a:gdLst/>
              <a:ahLst/>
              <a:cxnLst/>
              <a:rect l="l" t="t" r="r" b="b"/>
              <a:pathLst>
                <a:path w="109" h="12" extrusionOk="0">
                  <a:moveTo>
                    <a:pt x="77" y="9"/>
                  </a:moveTo>
                  <a:lnTo>
                    <a:pt x="77" y="9"/>
                  </a:lnTo>
                  <a:cubicBezTo>
                    <a:pt x="91" y="10"/>
                    <a:pt x="86" y="4"/>
                    <a:pt x="94" y="6"/>
                  </a:cubicBezTo>
                  <a:cubicBezTo>
                    <a:pt x="109" y="0"/>
                    <a:pt x="0" y="12"/>
                    <a:pt x="77" y="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5" name="Google Shape;1365;p12"/>
            <p:cNvSpPr/>
            <p:nvPr/>
          </p:nvSpPr>
          <p:spPr>
            <a:xfrm>
              <a:off x="11039475" y="1550172"/>
              <a:ext cx="26987" cy="4924"/>
            </a:xfrm>
            <a:custGeom>
              <a:avLst/>
              <a:gdLst/>
              <a:ahLst/>
              <a:cxnLst/>
              <a:rect l="l" t="t" r="r" b="b"/>
              <a:pathLst>
                <a:path w="27" h="5" extrusionOk="0">
                  <a:moveTo>
                    <a:pt x="27" y="5"/>
                  </a:moveTo>
                  <a:lnTo>
                    <a:pt x="27" y="5"/>
                  </a:lnTo>
                  <a:lnTo>
                    <a:pt x="16" y="0"/>
                  </a:lnTo>
                  <a:lnTo>
                    <a:pt x="0" y="4"/>
                  </a:lnTo>
                  <a:lnTo>
                    <a:pt x="27" y="5"/>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6" name="Google Shape;1366;p12"/>
            <p:cNvSpPr/>
            <p:nvPr/>
          </p:nvSpPr>
          <p:spPr>
            <a:xfrm>
              <a:off x="10841038" y="1548941"/>
              <a:ext cx="58737" cy="2462"/>
            </a:xfrm>
            <a:custGeom>
              <a:avLst/>
              <a:gdLst/>
              <a:ahLst/>
              <a:cxnLst/>
              <a:rect l="l" t="t" r="r" b="b"/>
              <a:pathLst>
                <a:path w="61" h="3" extrusionOk="0">
                  <a:moveTo>
                    <a:pt x="1" y="2"/>
                  </a:moveTo>
                  <a:lnTo>
                    <a:pt x="1" y="2"/>
                  </a:lnTo>
                  <a:lnTo>
                    <a:pt x="49" y="3"/>
                  </a:lnTo>
                  <a:cubicBezTo>
                    <a:pt x="48" y="2"/>
                    <a:pt x="54" y="2"/>
                    <a:pt x="61" y="2"/>
                  </a:cubicBezTo>
                  <a:cubicBezTo>
                    <a:pt x="32" y="1"/>
                    <a:pt x="0" y="0"/>
                    <a:pt x="1"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7" name="Google Shape;1367;p12"/>
            <p:cNvSpPr/>
            <p:nvPr/>
          </p:nvSpPr>
          <p:spPr>
            <a:xfrm>
              <a:off x="10899775" y="1550172"/>
              <a:ext cx="36512" cy="1231"/>
            </a:xfrm>
            <a:custGeom>
              <a:avLst/>
              <a:gdLst/>
              <a:ahLst/>
              <a:cxnLst/>
              <a:rect l="l" t="t" r="r" b="b"/>
              <a:pathLst>
                <a:path w="38" h="1" extrusionOk="0">
                  <a:moveTo>
                    <a:pt x="0" y="1"/>
                  </a:moveTo>
                  <a:lnTo>
                    <a:pt x="0" y="1"/>
                  </a:lnTo>
                  <a:cubicBezTo>
                    <a:pt x="15" y="1"/>
                    <a:pt x="30" y="1"/>
                    <a:pt x="38" y="0"/>
                  </a:cubicBezTo>
                  <a:cubicBezTo>
                    <a:pt x="30" y="0"/>
                    <a:pt x="12" y="0"/>
                    <a:pt x="0" y="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8" name="Google Shape;1368;p12"/>
            <p:cNvSpPr/>
            <p:nvPr/>
          </p:nvSpPr>
          <p:spPr>
            <a:xfrm>
              <a:off x="10958513" y="1555096"/>
              <a:ext cx="46037" cy="0"/>
            </a:xfrm>
            <a:custGeom>
              <a:avLst/>
              <a:gdLst/>
              <a:ahLst/>
              <a:cxnLst/>
              <a:rect l="l" t="t" r="r" b="b"/>
              <a:pathLst>
                <a:path w="47" h="1" extrusionOk="0">
                  <a:moveTo>
                    <a:pt x="47" y="0"/>
                  </a:moveTo>
                  <a:lnTo>
                    <a:pt x="47" y="0"/>
                  </a:lnTo>
                  <a:lnTo>
                    <a:pt x="33" y="0"/>
                  </a:lnTo>
                  <a:lnTo>
                    <a:pt x="0" y="0"/>
                  </a:lnTo>
                  <a:lnTo>
                    <a:pt x="4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69" name="Google Shape;1369;p12"/>
            <p:cNvSpPr/>
            <p:nvPr/>
          </p:nvSpPr>
          <p:spPr>
            <a:xfrm>
              <a:off x="10304463" y="1548941"/>
              <a:ext cx="61912" cy="3693"/>
            </a:xfrm>
            <a:custGeom>
              <a:avLst/>
              <a:gdLst/>
              <a:ahLst/>
              <a:cxnLst/>
              <a:rect l="l" t="t" r="r" b="b"/>
              <a:pathLst>
                <a:path w="65" h="4" extrusionOk="0">
                  <a:moveTo>
                    <a:pt x="57" y="0"/>
                  </a:moveTo>
                  <a:lnTo>
                    <a:pt x="57" y="0"/>
                  </a:lnTo>
                  <a:lnTo>
                    <a:pt x="5" y="1"/>
                  </a:lnTo>
                  <a:cubicBezTo>
                    <a:pt x="0" y="3"/>
                    <a:pt x="14" y="4"/>
                    <a:pt x="33" y="4"/>
                  </a:cubicBezTo>
                  <a:cubicBezTo>
                    <a:pt x="45" y="2"/>
                    <a:pt x="65" y="2"/>
                    <a:pt x="57"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0" name="Google Shape;1370;p12"/>
            <p:cNvSpPr/>
            <p:nvPr/>
          </p:nvSpPr>
          <p:spPr>
            <a:xfrm>
              <a:off x="10483850" y="1557558"/>
              <a:ext cx="23812" cy="6155"/>
            </a:xfrm>
            <a:custGeom>
              <a:avLst/>
              <a:gdLst/>
              <a:ahLst/>
              <a:cxnLst/>
              <a:rect l="l" t="t" r="r" b="b"/>
              <a:pathLst>
                <a:path w="25" h="7" extrusionOk="0">
                  <a:moveTo>
                    <a:pt x="25" y="4"/>
                  </a:moveTo>
                  <a:lnTo>
                    <a:pt x="25" y="4"/>
                  </a:lnTo>
                  <a:cubicBezTo>
                    <a:pt x="11" y="3"/>
                    <a:pt x="10" y="2"/>
                    <a:pt x="2" y="0"/>
                  </a:cubicBezTo>
                  <a:lnTo>
                    <a:pt x="0" y="7"/>
                  </a:lnTo>
                  <a:lnTo>
                    <a:pt x="25"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1" name="Google Shape;1371;p12"/>
            <p:cNvSpPr/>
            <p:nvPr/>
          </p:nvSpPr>
          <p:spPr>
            <a:xfrm>
              <a:off x="10291763" y="1563712"/>
              <a:ext cx="117475" cy="2462"/>
            </a:xfrm>
            <a:custGeom>
              <a:avLst/>
              <a:gdLst/>
              <a:ahLst/>
              <a:cxnLst/>
              <a:rect l="l" t="t" r="r" b="b"/>
              <a:pathLst>
                <a:path w="123" h="4" extrusionOk="0">
                  <a:moveTo>
                    <a:pt x="75" y="0"/>
                  </a:moveTo>
                  <a:lnTo>
                    <a:pt x="75" y="0"/>
                  </a:lnTo>
                  <a:cubicBezTo>
                    <a:pt x="70" y="1"/>
                    <a:pt x="0" y="4"/>
                    <a:pt x="66" y="4"/>
                  </a:cubicBezTo>
                  <a:cubicBezTo>
                    <a:pt x="71" y="2"/>
                    <a:pt x="123" y="1"/>
                    <a:pt x="75"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2" name="Google Shape;1372;p12"/>
            <p:cNvSpPr/>
            <p:nvPr/>
          </p:nvSpPr>
          <p:spPr>
            <a:xfrm>
              <a:off x="9621838" y="1546479"/>
              <a:ext cx="11112" cy="8617"/>
            </a:xfrm>
            <a:custGeom>
              <a:avLst/>
              <a:gdLst/>
              <a:ahLst/>
              <a:cxnLst/>
              <a:rect l="l" t="t" r="r" b="b"/>
              <a:pathLst>
                <a:path w="13" h="10" extrusionOk="0">
                  <a:moveTo>
                    <a:pt x="0" y="10"/>
                  </a:moveTo>
                  <a:lnTo>
                    <a:pt x="0" y="10"/>
                  </a:lnTo>
                  <a:lnTo>
                    <a:pt x="13" y="10"/>
                  </a:lnTo>
                  <a:lnTo>
                    <a:pt x="12" y="0"/>
                  </a:lnTo>
                  <a:lnTo>
                    <a:pt x="0" y="1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3" name="Google Shape;1373;p12"/>
            <p:cNvSpPr/>
            <p:nvPr/>
          </p:nvSpPr>
          <p:spPr>
            <a:xfrm>
              <a:off x="8951913" y="1568636"/>
              <a:ext cx="96837" cy="8617"/>
            </a:xfrm>
            <a:custGeom>
              <a:avLst/>
              <a:gdLst/>
              <a:ahLst/>
              <a:cxnLst/>
              <a:rect l="l" t="t" r="r" b="b"/>
              <a:pathLst>
                <a:path w="101" h="10" extrusionOk="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4" name="Google Shape;1374;p12"/>
            <p:cNvSpPr/>
            <p:nvPr/>
          </p:nvSpPr>
          <p:spPr>
            <a:xfrm>
              <a:off x="9005888" y="1566174"/>
              <a:ext cx="17462" cy="2462"/>
            </a:xfrm>
            <a:custGeom>
              <a:avLst/>
              <a:gdLst/>
              <a:ahLst/>
              <a:cxnLst/>
              <a:rect l="l" t="t" r="r" b="b"/>
              <a:pathLst>
                <a:path w="19" h="2" extrusionOk="0">
                  <a:moveTo>
                    <a:pt x="0" y="2"/>
                  </a:moveTo>
                  <a:lnTo>
                    <a:pt x="0" y="2"/>
                  </a:lnTo>
                  <a:lnTo>
                    <a:pt x="19" y="0"/>
                  </a:lnTo>
                  <a:cubicBezTo>
                    <a:pt x="8" y="1"/>
                    <a:pt x="3" y="1"/>
                    <a:pt x="0" y="2"/>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5" name="Google Shape;1375;p12"/>
            <p:cNvSpPr/>
            <p:nvPr/>
          </p:nvSpPr>
          <p:spPr>
            <a:xfrm>
              <a:off x="1587500" y="1516937"/>
              <a:ext cx="38100" cy="3693"/>
            </a:xfrm>
            <a:custGeom>
              <a:avLst/>
              <a:gdLst/>
              <a:ahLst/>
              <a:cxnLst/>
              <a:rect l="l" t="t" r="r" b="b"/>
              <a:pathLst>
                <a:path w="39" h="4" extrusionOk="0">
                  <a:moveTo>
                    <a:pt x="39" y="2"/>
                  </a:moveTo>
                  <a:lnTo>
                    <a:pt x="39" y="2"/>
                  </a:lnTo>
                  <a:lnTo>
                    <a:pt x="0" y="0"/>
                  </a:lnTo>
                  <a:lnTo>
                    <a:pt x="25" y="4"/>
                  </a:lnTo>
                  <a:lnTo>
                    <a:pt x="39" y="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6" name="Google Shape;1376;p12"/>
            <p:cNvSpPr/>
            <p:nvPr/>
          </p:nvSpPr>
          <p:spPr>
            <a:xfrm>
              <a:off x="1522413" y="1519399"/>
              <a:ext cx="30162" cy="4924"/>
            </a:xfrm>
            <a:custGeom>
              <a:avLst/>
              <a:gdLst/>
              <a:ahLst/>
              <a:cxnLst/>
              <a:rect l="l" t="t" r="r" b="b"/>
              <a:pathLst>
                <a:path w="32" h="6" extrusionOk="0">
                  <a:moveTo>
                    <a:pt x="32" y="6"/>
                  </a:moveTo>
                  <a:lnTo>
                    <a:pt x="32" y="6"/>
                  </a:lnTo>
                  <a:lnTo>
                    <a:pt x="23" y="0"/>
                  </a:lnTo>
                  <a:lnTo>
                    <a:pt x="0" y="5"/>
                  </a:lnTo>
                  <a:cubicBezTo>
                    <a:pt x="8" y="5"/>
                    <a:pt x="26" y="5"/>
                    <a:pt x="32" y="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7" name="Google Shape;1377;p12"/>
            <p:cNvSpPr/>
            <p:nvPr/>
          </p:nvSpPr>
          <p:spPr>
            <a:xfrm>
              <a:off x="6650038" y="1573559"/>
              <a:ext cx="33337" cy="3693"/>
            </a:xfrm>
            <a:custGeom>
              <a:avLst/>
              <a:gdLst/>
              <a:ahLst/>
              <a:cxnLst/>
              <a:rect l="l" t="t" r="r" b="b"/>
              <a:pathLst>
                <a:path w="34" h="4" extrusionOk="0">
                  <a:moveTo>
                    <a:pt x="31" y="4"/>
                  </a:moveTo>
                  <a:lnTo>
                    <a:pt x="31" y="4"/>
                  </a:lnTo>
                  <a:lnTo>
                    <a:pt x="34" y="2"/>
                  </a:lnTo>
                  <a:cubicBezTo>
                    <a:pt x="28" y="1"/>
                    <a:pt x="18" y="1"/>
                    <a:pt x="0" y="0"/>
                  </a:cubicBezTo>
                  <a:lnTo>
                    <a:pt x="31" y="4"/>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8" name="Google Shape;1378;p12"/>
            <p:cNvSpPr/>
            <p:nvPr/>
          </p:nvSpPr>
          <p:spPr>
            <a:xfrm>
              <a:off x="6162675" y="1566174"/>
              <a:ext cx="15875" cy="4924"/>
            </a:xfrm>
            <a:custGeom>
              <a:avLst/>
              <a:gdLst/>
              <a:ahLst/>
              <a:cxnLst/>
              <a:rect l="l" t="t" r="r" b="b"/>
              <a:pathLst>
                <a:path w="17" h="6" extrusionOk="0">
                  <a:moveTo>
                    <a:pt x="8" y="6"/>
                  </a:moveTo>
                  <a:lnTo>
                    <a:pt x="8" y="6"/>
                  </a:lnTo>
                  <a:lnTo>
                    <a:pt x="17" y="6"/>
                  </a:lnTo>
                  <a:lnTo>
                    <a:pt x="0" y="0"/>
                  </a:lnTo>
                  <a:lnTo>
                    <a:pt x="8" y="6"/>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79" name="Google Shape;1379;p12"/>
            <p:cNvSpPr/>
            <p:nvPr/>
          </p:nvSpPr>
          <p:spPr>
            <a:xfrm>
              <a:off x="5738813" y="1571097"/>
              <a:ext cx="60325" cy="6155"/>
            </a:xfrm>
            <a:custGeom>
              <a:avLst/>
              <a:gdLst/>
              <a:ahLst/>
              <a:cxnLst/>
              <a:rect l="l" t="t" r="r" b="b"/>
              <a:pathLst>
                <a:path w="63" h="8" extrusionOk="0">
                  <a:moveTo>
                    <a:pt x="5" y="7"/>
                  </a:moveTo>
                  <a:lnTo>
                    <a:pt x="5" y="7"/>
                  </a:lnTo>
                  <a:cubicBezTo>
                    <a:pt x="23" y="8"/>
                    <a:pt x="45" y="6"/>
                    <a:pt x="63" y="7"/>
                  </a:cubicBezTo>
                  <a:cubicBezTo>
                    <a:pt x="23" y="8"/>
                    <a:pt x="0" y="0"/>
                    <a:pt x="5" y="7"/>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380" name="Google Shape;1380;p12"/>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1" name="Google Shape;1381;p12"/>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2" name="Google Shape;1382;p12"/>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83" name="Google Shape;1383;p12"/>
          <p:cNvSpPr txBox="1">
            <a:spLocks noGrp="1"/>
          </p:cNvSpPr>
          <p:nvPr>
            <p:ph type="body" idx="1"/>
          </p:nvPr>
        </p:nvSpPr>
        <p:spPr>
          <a:xfrm rot="5400000">
            <a:off x="2230726" y="-1344901"/>
            <a:ext cx="5898573" cy="9144001"/>
          </a:xfrm>
          <a:prstGeom prst="rect">
            <a:avLst/>
          </a:prstGeom>
          <a:noFill/>
          <a:ln>
            <a:noFill/>
          </a:ln>
        </p:spPr>
        <p:txBody>
          <a:bodyPr spcFirstLastPara="1" wrap="square" lIns="91425" tIns="45700" rIns="91425" bIns="45700" anchor="t" anchorCtr="0">
            <a:noAutofit/>
          </a:bodyPr>
          <a:lstStyle>
            <a:lvl1pPr marL="457200" lvl="0" indent="-320040" algn="l">
              <a:lnSpc>
                <a:spcPct val="90000"/>
              </a:lnSpc>
              <a:spcBef>
                <a:spcPts val="1800"/>
              </a:spcBef>
              <a:spcAft>
                <a:spcPts val="0"/>
              </a:spcAft>
              <a:buSzPts val="1440"/>
              <a:buChar char="►"/>
              <a:defRPr/>
            </a:lvl1pPr>
            <a:lvl2pPr marL="914400" lvl="1" indent="-342900" algn="l">
              <a:lnSpc>
                <a:spcPct val="90000"/>
              </a:lnSpc>
              <a:spcBef>
                <a:spcPts val="600"/>
              </a:spcBef>
              <a:spcAft>
                <a:spcPts val="0"/>
              </a:spcAft>
              <a:buSzPts val="1800"/>
              <a:buChar char="►"/>
              <a:defRPr/>
            </a:lvl2pPr>
            <a:lvl3pPr marL="1371600" lvl="2" indent="-320039" algn="l">
              <a:lnSpc>
                <a:spcPct val="90000"/>
              </a:lnSpc>
              <a:spcBef>
                <a:spcPts val="600"/>
              </a:spcBef>
              <a:spcAft>
                <a:spcPts val="0"/>
              </a:spcAft>
              <a:buSzPts val="1440"/>
              <a:buChar char="►"/>
              <a:defRPr/>
            </a:lvl3pPr>
            <a:lvl4pPr marL="1828800" lvl="3" indent="-342900" algn="l">
              <a:lnSpc>
                <a:spcPct val="90000"/>
              </a:lnSpc>
              <a:spcBef>
                <a:spcPts val="600"/>
              </a:spcBef>
              <a:spcAft>
                <a:spcPts val="0"/>
              </a:spcAft>
              <a:buSzPts val="1800"/>
              <a:buChar char="►"/>
              <a:defRPr/>
            </a:lvl4pPr>
            <a:lvl5pPr marL="2286000" lvl="4" indent="-330200" algn="l">
              <a:lnSpc>
                <a:spcPct val="90000"/>
              </a:lnSpc>
              <a:spcBef>
                <a:spcPts val="600"/>
              </a:spcBef>
              <a:spcAft>
                <a:spcPts val="0"/>
              </a:spcAft>
              <a:buSzPts val="1600"/>
              <a:buChar char="►"/>
              <a:defRPr/>
            </a:lvl5pPr>
            <a:lvl6pPr marL="2743200" lvl="5" indent="-330200" algn="l">
              <a:lnSpc>
                <a:spcPct val="90000"/>
              </a:lnSpc>
              <a:spcBef>
                <a:spcPts val="600"/>
              </a:spcBef>
              <a:spcAft>
                <a:spcPts val="0"/>
              </a:spcAft>
              <a:buSzPts val="1600"/>
              <a:buChar char="►"/>
              <a:defRPr/>
            </a:lvl6pPr>
            <a:lvl7pPr marL="3200400" lvl="6" indent="-309879" algn="l">
              <a:lnSpc>
                <a:spcPct val="90000"/>
              </a:lnSpc>
              <a:spcBef>
                <a:spcPts val="600"/>
              </a:spcBef>
              <a:spcAft>
                <a:spcPts val="0"/>
              </a:spcAft>
              <a:buSzPts val="1280"/>
              <a:buChar char="►"/>
              <a:defRPr/>
            </a:lvl7pPr>
            <a:lvl8pPr marL="3657600" lvl="7" indent="-330200" algn="l">
              <a:lnSpc>
                <a:spcPct val="90000"/>
              </a:lnSpc>
              <a:spcBef>
                <a:spcPts val="600"/>
              </a:spcBef>
              <a:spcAft>
                <a:spcPts val="0"/>
              </a:spcAft>
              <a:buSzPts val="1600"/>
              <a:buChar char="►"/>
              <a:defRPr/>
            </a:lvl8pPr>
            <a:lvl9pPr marL="4114800" lvl="8" indent="-309879" algn="l">
              <a:lnSpc>
                <a:spcPct val="90000"/>
              </a:lnSpc>
              <a:spcBef>
                <a:spcPts val="600"/>
              </a:spcBef>
              <a:spcAft>
                <a:spcPts val="0"/>
              </a:spcAft>
              <a:buSzPts val="1280"/>
              <a:buChar char="►"/>
              <a:defRPr/>
            </a:lvl9pPr>
          </a:lstStyle>
          <a:p>
            <a:endParaRPr/>
          </a:p>
        </p:txBody>
      </p:sp>
      <p:sp>
        <p:nvSpPr>
          <p:cNvPr id="1384" name="Google Shape;1384;p12"/>
          <p:cNvSpPr txBox="1">
            <a:spLocks noGrp="1"/>
          </p:cNvSpPr>
          <p:nvPr>
            <p:ph type="title"/>
          </p:nvPr>
        </p:nvSpPr>
        <p:spPr>
          <a:xfrm rot="5400000">
            <a:off x="8096538" y="2539713"/>
            <a:ext cx="5901747" cy="1371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dt" idx="10"/>
          </p:nvPr>
        </p:nvSpPr>
        <p:spPr>
          <a:xfrm>
            <a:off x="8075612" y="6400801"/>
            <a:ext cx="1243859" cy="27622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1" name="Google Shape;11;p1"/>
          <p:cNvSpPr txBox="1">
            <a:spLocks noGrp="1"/>
          </p:cNvSpPr>
          <p:nvPr>
            <p:ph type="ftr" idx="11"/>
          </p:nvPr>
        </p:nvSpPr>
        <p:spPr>
          <a:xfrm>
            <a:off x="1522413" y="6400801"/>
            <a:ext cx="6324599" cy="27622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1"/>
          <p:cNvSpPr txBox="1">
            <a:spLocks noGrp="1"/>
          </p:cNvSpPr>
          <p:nvPr>
            <p:ph type="sldNum" idx="12"/>
          </p:nvPr>
        </p:nvSpPr>
        <p:spPr>
          <a:xfrm>
            <a:off x="9523412" y="6400801"/>
            <a:ext cx="1143002" cy="27622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lt1"/>
                </a:solidFill>
                <a:latin typeface="Century Gothic"/>
                <a:ea typeface="Century Gothic"/>
                <a:cs typeface="Century Gothic"/>
                <a:sym typeface="Century Gothic"/>
              </a:defRPr>
            </a:lvl1pPr>
            <a:lvl2pPr marL="0" marR="0" lvl="1" indent="0" algn="r" rtl="0">
              <a:spcBef>
                <a:spcPts val="0"/>
              </a:spcBef>
              <a:buNone/>
              <a:defRPr sz="1000" b="0" i="0" u="none" strike="noStrike" cap="none">
                <a:solidFill>
                  <a:schemeClr val="lt1"/>
                </a:solidFill>
                <a:latin typeface="Century Gothic"/>
                <a:ea typeface="Century Gothic"/>
                <a:cs typeface="Century Gothic"/>
                <a:sym typeface="Century Gothic"/>
              </a:defRPr>
            </a:lvl2pPr>
            <a:lvl3pPr marL="0" marR="0" lvl="2" indent="0" algn="r" rtl="0">
              <a:spcBef>
                <a:spcPts val="0"/>
              </a:spcBef>
              <a:buNone/>
              <a:defRPr sz="1000" b="0" i="0" u="none" strike="noStrike" cap="none">
                <a:solidFill>
                  <a:schemeClr val="lt1"/>
                </a:solidFill>
                <a:latin typeface="Century Gothic"/>
                <a:ea typeface="Century Gothic"/>
                <a:cs typeface="Century Gothic"/>
                <a:sym typeface="Century Gothic"/>
              </a:defRPr>
            </a:lvl3pPr>
            <a:lvl4pPr marL="0" marR="0" lvl="3" indent="0" algn="r" rtl="0">
              <a:spcBef>
                <a:spcPts val="0"/>
              </a:spcBef>
              <a:buNone/>
              <a:defRPr sz="1000" b="0" i="0" u="none" strike="noStrike" cap="none">
                <a:solidFill>
                  <a:schemeClr val="lt1"/>
                </a:solidFill>
                <a:latin typeface="Century Gothic"/>
                <a:ea typeface="Century Gothic"/>
                <a:cs typeface="Century Gothic"/>
                <a:sym typeface="Century Gothic"/>
              </a:defRPr>
            </a:lvl4pPr>
            <a:lvl5pPr marL="0" marR="0" lvl="4" indent="0" algn="r" rtl="0">
              <a:spcBef>
                <a:spcPts val="0"/>
              </a:spcBef>
              <a:buNone/>
              <a:defRPr sz="1000" b="0" i="0" u="none" strike="noStrike" cap="none">
                <a:solidFill>
                  <a:schemeClr val="lt1"/>
                </a:solidFill>
                <a:latin typeface="Century Gothic"/>
                <a:ea typeface="Century Gothic"/>
                <a:cs typeface="Century Gothic"/>
                <a:sym typeface="Century Gothic"/>
              </a:defRPr>
            </a:lvl5pPr>
            <a:lvl6pPr marL="0" marR="0" lvl="5" indent="0" algn="r" rtl="0">
              <a:spcBef>
                <a:spcPts val="0"/>
              </a:spcBef>
              <a:buNone/>
              <a:defRPr sz="1000" b="0" i="0" u="none" strike="noStrike" cap="none">
                <a:solidFill>
                  <a:schemeClr val="lt1"/>
                </a:solidFill>
                <a:latin typeface="Century Gothic"/>
                <a:ea typeface="Century Gothic"/>
                <a:cs typeface="Century Gothic"/>
                <a:sym typeface="Century Gothic"/>
              </a:defRPr>
            </a:lvl6pPr>
            <a:lvl7pPr marL="0" marR="0" lvl="6" indent="0" algn="r" rtl="0">
              <a:spcBef>
                <a:spcPts val="0"/>
              </a:spcBef>
              <a:buNone/>
              <a:defRPr sz="1000" b="0" i="0" u="none" strike="noStrike" cap="none">
                <a:solidFill>
                  <a:schemeClr val="lt1"/>
                </a:solidFill>
                <a:latin typeface="Century Gothic"/>
                <a:ea typeface="Century Gothic"/>
                <a:cs typeface="Century Gothic"/>
                <a:sym typeface="Century Gothic"/>
              </a:defRPr>
            </a:lvl7pPr>
            <a:lvl8pPr marL="0" marR="0" lvl="7" indent="0" algn="r" rtl="0">
              <a:spcBef>
                <a:spcPts val="0"/>
              </a:spcBef>
              <a:buNone/>
              <a:defRPr sz="1000" b="0" i="0" u="none" strike="noStrike" cap="none">
                <a:solidFill>
                  <a:schemeClr val="lt1"/>
                </a:solidFill>
                <a:latin typeface="Century Gothic"/>
                <a:ea typeface="Century Gothic"/>
                <a:cs typeface="Century Gothic"/>
                <a:sym typeface="Century Gothic"/>
              </a:defRPr>
            </a:lvl8pPr>
            <a:lvl9pPr marL="0" marR="0" lvl="8" indent="0" algn="r" rtl="0">
              <a:spcBef>
                <a:spcPts val="0"/>
              </a:spcBef>
              <a:buNone/>
              <a:defRPr sz="100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1"/>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Autofit/>
          </a:bodyPr>
          <a:lstStyle>
            <a:lvl1pPr marL="457200" marR="0" lvl="0" indent="-350520" algn="l" rtl="0">
              <a:lnSpc>
                <a:spcPct val="90000"/>
              </a:lnSpc>
              <a:spcBef>
                <a:spcPts val="1800"/>
              </a:spcBef>
              <a:spcAft>
                <a:spcPts val="0"/>
              </a:spcAft>
              <a:buClr>
                <a:schemeClr val="dk2"/>
              </a:buClr>
              <a:buSzPts val="1920"/>
              <a:buFont typeface="Noto Sans Symbols"/>
              <a:buChar char="►"/>
              <a:defRPr sz="24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600"/>
              </a:spcBef>
              <a:spcAft>
                <a:spcPts val="0"/>
              </a:spcAft>
              <a:buClr>
                <a:schemeClr val="dk2"/>
              </a:buClr>
              <a:buSzPts val="2000"/>
              <a:buFont typeface="Noto Sans Symbols"/>
              <a:buChar char="►"/>
              <a:defRPr sz="2000" b="0" i="0" u="none" strike="noStrike" cap="none">
                <a:solidFill>
                  <a:schemeClr val="lt1"/>
                </a:solidFill>
                <a:latin typeface="Century Gothic"/>
                <a:ea typeface="Century Gothic"/>
                <a:cs typeface="Century Gothic"/>
                <a:sym typeface="Century Gothic"/>
              </a:defRPr>
            </a:lvl2pPr>
            <a:lvl3pPr marL="1371600" marR="0" lvl="2" indent="-320039" algn="l" rtl="0">
              <a:lnSpc>
                <a:spcPct val="90000"/>
              </a:lnSpc>
              <a:spcBef>
                <a:spcPts val="600"/>
              </a:spcBef>
              <a:spcAft>
                <a:spcPts val="0"/>
              </a:spcAft>
              <a:buClr>
                <a:schemeClr val="dk2"/>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6pPr>
            <a:lvl7pPr marL="3200400" marR="0" lvl="6"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600"/>
              </a:spcBef>
              <a:spcAft>
                <a:spcPts val="0"/>
              </a:spcAft>
              <a:buClr>
                <a:schemeClr val="dk2"/>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8pPr>
            <a:lvl9pPr marL="4114800" marR="0" lvl="8" indent="-309879" algn="l" rtl="0">
              <a:lnSpc>
                <a:spcPct val="90000"/>
              </a:lnSpc>
              <a:spcBef>
                <a:spcPts val="600"/>
              </a:spcBef>
              <a:spcAft>
                <a:spcPts val="0"/>
              </a:spcAft>
              <a:buClr>
                <a:schemeClr val="dk2"/>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200"/>
              <a:buFont typeface="Century Gothic"/>
              <a:buNone/>
              <a:defRPr sz="3200" b="0" i="0" u="none" strike="noStrike" cap="non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 name="TextBox 2">
            <a:extLst>
              <a:ext uri="{FF2B5EF4-FFF2-40B4-BE49-F238E27FC236}">
                <a16:creationId xmlns:a16="http://schemas.microsoft.com/office/drawing/2014/main" id="{0BF54F6E-1293-BB95-4634-2119270A1C03}"/>
              </a:ext>
            </a:extLst>
          </p:cNvPr>
          <p:cNvSpPr txBox="1"/>
          <p:nvPr userDrawn="1">
            <p:extLst>
              <p:ext uri="{1162E1C5-73C7-4A58-AE30-91384D911F3F}">
                <p184:classification xmlns:p184="http://schemas.microsoft.com/office/powerpoint/2018/4/main" val="hdr"/>
              </p:ext>
            </p:extLst>
          </p:nvPr>
        </p:nvSpPr>
        <p:spPr>
          <a:xfrm>
            <a:off x="11233150" y="63500"/>
            <a:ext cx="92075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5.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6.xml"/><Relationship Id="rId1" Type="http://schemas.openxmlformats.org/officeDocument/2006/relationships/slideLayout" Target="../slideLayouts/slideLayout5.xml"/><Relationship Id="rId5" Type="http://schemas.openxmlformats.org/officeDocument/2006/relationships/image" Target="../media/image58.png"/><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8" Type="http://schemas.openxmlformats.org/officeDocument/2006/relationships/hyperlink" Target="https://towardsdatascience.com/policy-gradient-methods-104c783251e0" TargetMode="External"/><Relationship Id="rId3" Type="http://schemas.openxmlformats.org/officeDocument/2006/relationships/hyperlink" Target="http://www2.econ.iastate.edu/tesfatsi/RLUsersGuide.ICAC2005.pdf" TargetMode="External"/><Relationship Id="rId7" Type="http://schemas.openxmlformats.org/officeDocument/2006/relationships/hyperlink" Target="https://towardsdatascience.com/understanding-actor-critic-methods-931b97b6df3f" TargetMode="External"/><Relationship Id="rId2" Type="http://schemas.openxmlformats.org/officeDocument/2006/relationships/notesSlide" Target="../notesSlides/notesSlide55.xml"/><Relationship Id="rId1" Type="http://schemas.openxmlformats.org/officeDocument/2006/relationships/slideLayout" Target="../slideLayouts/slideLayout5.xml"/><Relationship Id="rId6" Type="http://schemas.openxmlformats.org/officeDocument/2006/relationships/hyperlink" Target="http://karpathy.github.io/2016/05/31/rl/" TargetMode="External"/><Relationship Id="rId5" Type="http://schemas.openxmlformats.org/officeDocument/2006/relationships/hyperlink" Target="https://gym.openai.com/" TargetMode="External"/><Relationship Id="rId4" Type="http://schemas.openxmlformats.org/officeDocument/2006/relationships/hyperlink" Target="https://www.nervanasys.com/demystifying-deep-reinforcement-learning/" TargetMode="External"/><Relationship Id="rId9" Type="http://schemas.openxmlformats.org/officeDocument/2006/relationships/hyperlink" Target="https://www.freecodecamp.org/news/an-intro-to-advantage-actor-critic-methods-lets-play-sonic-the-hedgehog-86d6240171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89" name="Google Shape;1389;p13"/>
          <p:cNvSpPr txBox="1">
            <a:spLocks noGrp="1"/>
          </p:cNvSpPr>
          <p:nvPr>
            <p:ph type="subTitle" idx="1"/>
          </p:nvPr>
        </p:nvSpPr>
        <p:spPr>
          <a:xfrm>
            <a:off x="1522413" y="5105400"/>
            <a:ext cx="9143999" cy="1066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r>
              <a:rPr lang="en-US"/>
              <a:t>Course 10: </a:t>
            </a:r>
            <a:r>
              <a:rPr lang="en-US" dirty="0"/>
              <a:t>Reinforcement Learning. On-policy </a:t>
            </a:r>
            <a:endParaRPr dirty="0"/>
          </a:p>
        </p:txBody>
      </p:sp>
      <p:sp>
        <p:nvSpPr>
          <p:cNvPr id="1390" name="Google Shape;1390;p13"/>
          <p:cNvSpPr txBox="1">
            <a:spLocks noGrp="1"/>
          </p:cNvSpPr>
          <p:nvPr>
            <p:ph type="ctr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400"/>
              <a:buFont typeface="Century Gothic"/>
              <a:buNone/>
            </a:pPr>
            <a:r>
              <a:rPr lang="en-US"/>
              <a:t>Neural Networks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14"/>
          <p:cNvSpPr txBox="1">
            <a:spLocks noGrp="1"/>
          </p:cNvSpPr>
          <p:nvPr>
            <p:ph type="body" idx="2"/>
          </p:nvPr>
        </p:nvSpPr>
        <p:spPr>
          <a:xfrm>
            <a:off x="1522413" y="1905000"/>
            <a:ext cx="9905999" cy="4038600"/>
          </a:xfrm>
          <a:prstGeom prst="rect">
            <a:avLst/>
          </a:prstGeom>
          <a:noFill/>
          <a:ln>
            <a:noFill/>
          </a:ln>
        </p:spPr>
        <p:txBody>
          <a:bodyPr spcFirstLastPara="1" wrap="square" lIns="91425" tIns="45700" rIns="91425" bIns="45700" anchor="t" anchorCtr="0">
            <a:noAutofit/>
          </a:bodyPr>
          <a:lstStyle/>
          <a:p>
            <a:pPr marL="274320" lvl="0" indent="-274320" algn="l" rtl="0">
              <a:lnSpc>
                <a:spcPct val="90000"/>
              </a:lnSpc>
              <a:spcBef>
                <a:spcPts val="0"/>
              </a:spcBef>
              <a:spcAft>
                <a:spcPts val="0"/>
              </a:spcAft>
              <a:buSzPts val="1920"/>
              <a:buChar char="►"/>
            </a:pPr>
            <a:r>
              <a:rPr lang="en-US"/>
              <a:t>Reinforcement Learning</a:t>
            </a:r>
            <a:endParaRPr/>
          </a:p>
          <a:p>
            <a:pPr marL="274320" lvl="0" indent="-274320" algn="l" rtl="0">
              <a:lnSpc>
                <a:spcPct val="90000"/>
              </a:lnSpc>
              <a:spcBef>
                <a:spcPts val="1800"/>
              </a:spcBef>
              <a:spcAft>
                <a:spcPts val="0"/>
              </a:spcAft>
              <a:buSzPts val="1920"/>
              <a:buChar char="►"/>
            </a:pPr>
            <a:r>
              <a:rPr lang="en-US"/>
              <a:t>Off Policy vs On Policy</a:t>
            </a:r>
            <a:endParaRPr/>
          </a:p>
          <a:p>
            <a:pPr marL="274320" lvl="0" indent="-274320" algn="l" rtl="0">
              <a:lnSpc>
                <a:spcPct val="90000"/>
              </a:lnSpc>
              <a:spcBef>
                <a:spcPts val="1800"/>
              </a:spcBef>
              <a:spcAft>
                <a:spcPts val="0"/>
              </a:spcAft>
              <a:buSzPts val="1920"/>
              <a:buChar char="►"/>
            </a:pPr>
            <a:r>
              <a:rPr lang="en-US"/>
              <a:t>Gradient Policy Algorithm</a:t>
            </a:r>
            <a:endParaRPr/>
          </a:p>
          <a:p>
            <a:pPr marL="274320" lvl="0" indent="-274320" algn="l" rtl="0">
              <a:lnSpc>
                <a:spcPct val="90000"/>
              </a:lnSpc>
              <a:spcBef>
                <a:spcPts val="1800"/>
              </a:spcBef>
              <a:spcAft>
                <a:spcPts val="0"/>
              </a:spcAft>
              <a:buSzPts val="1920"/>
              <a:buChar char="►"/>
            </a:pPr>
            <a:r>
              <a:rPr lang="en-US"/>
              <a:t>Actor Critic</a:t>
            </a:r>
            <a:endParaRPr/>
          </a:p>
          <a:p>
            <a:pPr marL="274320" lvl="0" indent="-274320" algn="l" rtl="0">
              <a:lnSpc>
                <a:spcPct val="90000"/>
              </a:lnSpc>
              <a:spcBef>
                <a:spcPts val="1800"/>
              </a:spcBef>
              <a:spcAft>
                <a:spcPts val="0"/>
              </a:spcAft>
              <a:buSzPts val="1920"/>
              <a:buChar char="►"/>
            </a:pPr>
            <a:r>
              <a:rPr lang="en-US"/>
              <a:t>Questions</a:t>
            </a:r>
            <a:endParaRPr/>
          </a:p>
          <a:p>
            <a:pPr marL="274320" lvl="0" indent="-152400" algn="l" rtl="0">
              <a:lnSpc>
                <a:spcPct val="90000"/>
              </a:lnSpc>
              <a:spcBef>
                <a:spcPts val="1800"/>
              </a:spcBef>
              <a:spcAft>
                <a:spcPts val="0"/>
              </a:spcAft>
              <a:buSzPts val="1920"/>
              <a:buNone/>
            </a:pPr>
            <a:endParaRPr/>
          </a:p>
        </p:txBody>
      </p:sp>
      <p:sp>
        <p:nvSpPr>
          <p:cNvPr id="1396" name="Google Shape;1396;p14"/>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Overview</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15"/>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a:t>Reinforcement Learning</a:t>
            </a:r>
            <a:endParaRPr/>
          </a:p>
        </p:txBody>
      </p:sp>
      <p:sp>
        <p:nvSpPr>
          <p:cNvPr id="1402" name="Google Shape;1402;p15"/>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6"/>
        <p:cNvGrpSpPr/>
        <p:nvPr/>
      </p:nvGrpSpPr>
      <p:grpSpPr>
        <a:xfrm>
          <a:off x="0" y="0"/>
          <a:ext cx="0" cy="0"/>
          <a:chOff x="0" y="0"/>
          <a:chExt cx="0" cy="0"/>
        </a:xfrm>
      </p:grpSpPr>
      <p:sp>
        <p:nvSpPr>
          <p:cNvPr id="1407" name="Google Shape;1407;p16"/>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Reinforcement Learning: concepts</a:t>
            </a:r>
            <a:endParaRPr/>
          </a:p>
        </p:txBody>
      </p:sp>
      <p:sp>
        <p:nvSpPr>
          <p:cNvPr id="1408" name="Google Shape;1408;p16"/>
          <p:cNvSpPr txBox="1">
            <a:spLocks noGrp="1"/>
          </p:cNvSpPr>
          <p:nvPr>
            <p:ph type="body" idx="3"/>
          </p:nvPr>
        </p:nvSpPr>
        <p:spPr>
          <a:xfrm>
            <a:off x="1473298" y="1762863"/>
            <a:ext cx="10107514" cy="4485537"/>
          </a:xfrm>
          <a:prstGeom prst="rect">
            <a:avLst/>
          </a:prstGeom>
          <a:noFill/>
          <a:ln>
            <a:noFill/>
          </a:ln>
        </p:spPr>
        <p:txBody>
          <a:bodyPr spcFirstLastPara="1" wrap="square" lIns="91425" tIns="45700" rIns="91425" bIns="45700" anchor="t" anchorCtr="0">
            <a:noAutofit/>
          </a:bodyPr>
          <a:lstStyle/>
          <a:p>
            <a:pPr marL="576072" lvl="1" indent="-274319" algn="l" rtl="0">
              <a:lnSpc>
                <a:spcPct val="90000"/>
              </a:lnSpc>
              <a:spcBef>
                <a:spcPts val="0"/>
              </a:spcBef>
              <a:spcAft>
                <a:spcPts val="0"/>
              </a:spcAft>
              <a:buSzPts val="2000"/>
              <a:buChar char="►"/>
            </a:pPr>
            <a:r>
              <a:rPr lang="en-US"/>
              <a:t>Reinforcement learning is learning what to do--how to map situations to actions--so as to maximize a numerical reward signal</a:t>
            </a:r>
            <a:endParaRPr/>
          </a:p>
          <a:p>
            <a:pPr marL="576072" lvl="1" indent="-147319" algn="l" rtl="0">
              <a:lnSpc>
                <a:spcPct val="90000"/>
              </a:lnSpc>
              <a:spcBef>
                <a:spcPts val="600"/>
              </a:spcBef>
              <a:spcAft>
                <a:spcPts val="0"/>
              </a:spcAft>
              <a:buSzPts val="2000"/>
              <a:buNone/>
            </a:pPr>
            <a:endParaRPr/>
          </a:p>
          <a:p>
            <a:pPr marL="576072" lvl="1" indent="-274319" algn="l" rtl="0">
              <a:lnSpc>
                <a:spcPct val="90000"/>
              </a:lnSpc>
              <a:spcBef>
                <a:spcPts val="600"/>
              </a:spcBef>
              <a:spcAft>
                <a:spcPts val="0"/>
              </a:spcAft>
              <a:buSzPts val="2000"/>
              <a:buChar char="►"/>
            </a:pPr>
            <a:r>
              <a:rPr lang="en-US"/>
              <a:t>Reinforcement learning has 3 basic components:</a:t>
            </a:r>
            <a:endParaRPr/>
          </a:p>
          <a:p>
            <a:pPr marL="804672" lvl="2" indent="-228600" algn="l" rtl="0">
              <a:lnSpc>
                <a:spcPct val="90000"/>
              </a:lnSpc>
              <a:spcBef>
                <a:spcPts val="600"/>
              </a:spcBef>
              <a:spcAft>
                <a:spcPts val="0"/>
              </a:spcAft>
              <a:buSzPts val="1440"/>
              <a:buChar char="►"/>
            </a:pPr>
            <a:r>
              <a:rPr lang="en-US"/>
              <a:t>Agent </a:t>
            </a:r>
            <a:endParaRPr/>
          </a:p>
          <a:p>
            <a:pPr marL="804672" lvl="2" indent="-228600" algn="l" rtl="0">
              <a:lnSpc>
                <a:spcPct val="90000"/>
              </a:lnSpc>
              <a:spcBef>
                <a:spcPts val="600"/>
              </a:spcBef>
              <a:spcAft>
                <a:spcPts val="0"/>
              </a:spcAft>
              <a:buSzPts val="1440"/>
              <a:buChar char="►"/>
            </a:pPr>
            <a:r>
              <a:rPr lang="en-US"/>
              <a:t>Environment</a:t>
            </a:r>
            <a:endParaRPr/>
          </a:p>
          <a:p>
            <a:pPr marL="804672" lvl="2" indent="-228600" algn="l" rtl="0">
              <a:lnSpc>
                <a:spcPct val="90000"/>
              </a:lnSpc>
              <a:spcBef>
                <a:spcPts val="600"/>
              </a:spcBef>
              <a:spcAft>
                <a:spcPts val="0"/>
              </a:spcAft>
              <a:buSzPts val="1440"/>
              <a:buChar char="►"/>
            </a:pPr>
            <a:r>
              <a:rPr lang="en-US"/>
              <a:t>Actions</a:t>
            </a:r>
            <a:endParaRPr/>
          </a:p>
          <a:p>
            <a:pPr marL="804672" lvl="2" indent="-137159" algn="l" rtl="0">
              <a:lnSpc>
                <a:spcPct val="90000"/>
              </a:lnSpc>
              <a:spcBef>
                <a:spcPts val="600"/>
              </a:spcBef>
              <a:spcAft>
                <a:spcPts val="0"/>
              </a:spcAft>
              <a:buSzPts val="1440"/>
              <a:buNone/>
            </a:pPr>
            <a:endParaRPr/>
          </a:p>
          <a:p>
            <a:pPr marL="576072" lvl="1" indent="-147319" algn="l" rtl="0">
              <a:lnSpc>
                <a:spcPct val="90000"/>
              </a:lnSpc>
              <a:spcBef>
                <a:spcPts val="600"/>
              </a:spcBef>
              <a:spcAft>
                <a:spcPts val="0"/>
              </a:spcAft>
              <a:buSzPts val="2000"/>
              <a:buNone/>
            </a:pPr>
            <a:endParaRPr/>
          </a:p>
          <a:p>
            <a:pPr marL="576072" lvl="1" indent="-147319" algn="l" rtl="0">
              <a:lnSpc>
                <a:spcPct val="90000"/>
              </a:lnSpc>
              <a:spcBef>
                <a:spcPts val="600"/>
              </a:spcBef>
              <a:spcAft>
                <a:spcPts val="0"/>
              </a:spcAft>
              <a:buSzPts val="2000"/>
              <a:buNone/>
            </a:pPr>
            <a:endParaRPr/>
          </a:p>
          <a:p>
            <a:pPr marL="576072" lvl="1" indent="-147319" algn="l" rtl="0">
              <a:lnSpc>
                <a:spcPct val="90000"/>
              </a:lnSpc>
              <a:spcBef>
                <a:spcPts val="600"/>
              </a:spcBef>
              <a:spcAft>
                <a:spcPts val="0"/>
              </a:spcAft>
              <a:buSzPts val="200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3" name="Google Shape;1413;p17"/>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Reinforcement Learning: concepts</a:t>
            </a:r>
            <a:endParaRPr/>
          </a:p>
        </p:txBody>
      </p:sp>
      <p:sp>
        <p:nvSpPr>
          <p:cNvPr id="1414" name="Google Shape;1414;p17"/>
          <p:cNvSpPr txBox="1">
            <a:spLocks noGrp="1"/>
          </p:cNvSpPr>
          <p:nvPr>
            <p:ph type="body" idx="3"/>
          </p:nvPr>
        </p:nvSpPr>
        <p:spPr>
          <a:xfrm>
            <a:off x="1473298" y="1762863"/>
            <a:ext cx="10107514" cy="4485537"/>
          </a:xfrm>
          <a:prstGeom prst="rect">
            <a:avLst/>
          </a:prstGeom>
          <a:noFill/>
          <a:ln>
            <a:noFill/>
          </a:ln>
        </p:spPr>
        <p:txBody>
          <a:bodyPr spcFirstLastPara="1" wrap="square" lIns="91425" tIns="45700" rIns="91425" bIns="45700" anchor="t" anchorCtr="0">
            <a:noAutofit/>
          </a:bodyPr>
          <a:lstStyle/>
          <a:p>
            <a:pPr marL="576072" lvl="1" indent="-274319" algn="l" rtl="0">
              <a:lnSpc>
                <a:spcPct val="90000"/>
              </a:lnSpc>
              <a:spcBef>
                <a:spcPts val="0"/>
              </a:spcBef>
              <a:spcAft>
                <a:spcPts val="0"/>
              </a:spcAft>
              <a:buSzPts val="2000"/>
              <a:buChar char="►"/>
            </a:pPr>
            <a:r>
              <a:rPr lang="en-US" dirty="0"/>
              <a:t>An agent has 4 basic components:</a:t>
            </a:r>
            <a:endParaRPr dirty="0"/>
          </a:p>
          <a:p>
            <a:pPr marL="804672" lvl="2" indent="-228600" algn="l" rtl="0">
              <a:lnSpc>
                <a:spcPct val="90000"/>
              </a:lnSpc>
              <a:spcBef>
                <a:spcPts val="600"/>
              </a:spcBef>
              <a:spcAft>
                <a:spcPts val="0"/>
              </a:spcAft>
              <a:buSzPts val="1440"/>
              <a:buChar char="►"/>
            </a:pPr>
            <a:r>
              <a:rPr lang="en-US" dirty="0"/>
              <a:t>A policy</a:t>
            </a:r>
            <a:endParaRPr dirty="0"/>
          </a:p>
          <a:p>
            <a:pPr marL="804672" lvl="3" indent="0" algn="l" rtl="0">
              <a:lnSpc>
                <a:spcPct val="90000"/>
              </a:lnSpc>
              <a:spcBef>
                <a:spcPts val="600"/>
              </a:spcBef>
              <a:spcAft>
                <a:spcPts val="0"/>
              </a:spcAft>
              <a:buSzPts val="1600"/>
              <a:buNone/>
            </a:pPr>
            <a:r>
              <a:rPr lang="en-US" dirty="0"/>
              <a:t>	The most important. Is the decision making function. Defines what should the agent do in 	any of the situations it encounters</a:t>
            </a:r>
            <a:endParaRPr dirty="0"/>
          </a:p>
          <a:p>
            <a:pPr marL="804672" lvl="2" indent="-228600" algn="l" rtl="0">
              <a:lnSpc>
                <a:spcPct val="90000"/>
              </a:lnSpc>
              <a:spcBef>
                <a:spcPts val="600"/>
              </a:spcBef>
              <a:spcAft>
                <a:spcPts val="0"/>
              </a:spcAft>
              <a:buSzPts val="1440"/>
              <a:buChar char="►"/>
            </a:pPr>
            <a:r>
              <a:rPr lang="en-US" dirty="0"/>
              <a:t>A reward function</a:t>
            </a:r>
            <a:endParaRPr dirty="0"/>
          </a:p>
          <a:p>
            <a:pPr marL="804672" lvl="3" indent="0" algn="l" rtl="0">
              <a:lnSpc>
                <a:spcPct val="90000"/>
              </a:lnSpc>
              <a:spcBef>
                <a:spcPts val="600"/>
              </a:spcBef>
              <a:spcAft>
                <a:spcPts val="0"/>
              </a:spcAft>
              <a:buSzPts val="1600"/>
              <a:buNone/>
            </a:pPr>
            <a:r>
              <a:rPr lang="en-US" dirty="0"/>
              <a:t>	Defines the goal of the RL agent. It maps the state of the environment to a single number, a 	reward, indicating the intrinsic desirability of the state</a:t>
            </a:r>
            <a:endParaRPr dirty="0"/>
          </a:p>
          <a:p>
            <a:pPr marL="804672" lvl="2" indent="-228600" algn="l" rtl="0">
              <a:lnSpc>
                <a:spcPct val="90000"/>
              </a:lnSpc>
              <a:spcBef>
                <a:spcPts val="600"/>
              </a:spcBef>
              <a:spcAft>
                <a:spcPts val="0"/>
              </a:spcAft>
              <a:buSzPts val="1440"/>
              <a:buChar char="►"/>
            </a:pPr>
            <a:r>
              <a:rPr lang="en-US" dirty="0"/>
              <a:t>A value function</a:t>
            </a:r>
            <a:endParaRPr dirty="0"/>
          </a:p>
          <a:p>
            <a:pPr marL="576072" lvl="2" indent="0" algn="l" rtl="0">
              <a:lnSpc>
                <a:spcPct val="90000"/>
              </a:lnSpc>
              <a:spcBef>
                <a:spcPts val="600"/>
              </a:spcBef>
              <a:spcAft>
                <a:spcPts val="0"/>
              </a:spcAft>
              <a:buSzPts val="1440"/>
              <a:buNone/>
            </a:pPr>
            <a:r>
              <a:rPr lang="en-US" dirty="0"/>
              <a:t>	Defines what is good in the long run. More exactly, the total amount of reward 	the agent can expect starting from that state</a:t>
            </a:r>
            <a:endParaRPr dirty="0"/>
          </a:p>
          <a:p>
            <a:pPr marL="804672" lvl="2" indent="-228600" algn="l" rtl="0">
              <a:lnSpc>
                <a:spcPct val="90000"/>
              </a:lnSpc>
              <a:spcBef>
                <a:spcPts val="600"/>
              </a:spcBef>
              <a:spcAft>
                <a:spcPts val="0"/>
              </a:spcAft>
              <a:buSzPts val="1440"/>
              <a:buChar char="►"/>
            </a:pPr>
            <a:r>
              <a:rPr lang="en-US" dirty="0"/>
              <a:t>A model of the environment</a:t>
            </a:r>
            <a:endParaRPr dirty="0"/>
          </a:p>
          <a:p>
            <a:pPr marL="804672" lvl="3" indent="0" algn="l" rtl="0">
              <a:lnSpc>
                <a:spcPct val="90000"/>
              </a:lnSpc>
              <a:spcBef>
                <a:spcPts val="600"/>
              </a:spcBef>
              <a:spcAft>
                <a:spcPts val="0"/>
              </a:spcAft>
              <a:buSzPts val="1600"/>
              <a:buNone/>
            </a:pPr>
            <a:r>
              <a:rPr lang="en-US" dirty="0"/>
              <a:t>	Defines the states as well as the way to transition from one state to another (through actions)</a:t>
            </a:r>
            <a:endParaRPr dirty="0"/>
          </a:p>
          <a:p>
            <a:pPr marL="804672" lvl="2" indent="-137159" algn="l" rtl="0">
              <a:lnSpc>
                <a:spcPct val="90000"/>
              </a:lnSpc>
              <a:spcBef>
                <a:spcPts val="600"/>
              </a:spcBef>
              <a:spcAft>
                <a:spcPts val="0"/>
              </a:spcAft>
              <a:buSzPts val="1440"/>
              <a:buNone/>
            </a:pPr>
            <a:endParaRPr dirty="0"/>
          </a:p>
          <a:p>
            <a:pPr marL="576072" lvl="1" indent="-147319" algn="l" rtl="0">
              <a:lnSpc>
                <a:spcPct val="90000"/>
              </a:lnSpc>
              <a:spcBef>
                <a:spcPts val="600"/>
              </a:spcBef>
              <a:spcAft>
                <a:spcPts val="0"/>
              </a:spcAft>
              <a:buSzPts val="2000"/>
              <a:buNone/>
            </a:pPr>
            <a:endParaRPr dirty="0"/>
          </a:p>
          <a:p>
            <a:pPr marL="576072" lvl="1" indent="-147319" algn="l" rtl="0">
              <a:lnSpc>
                <a:spcPct val="90000"/>
              </a:lnSpc>
              <a:spcBef>
                <a:spcPts val="600"/>
              </a:spcBef>
              <a:spcAft>
                <a:spcPts val="0"/>
              </a:spcAft>
              <a:buSzPts val="2000"/>
              <a:buNone/>
            </a:pPr>
            <a:endParaRPr dirty="0"/>
          </a:p>
          <a:p>
            <a:pPr marL="576072" lvl="1" indent="-147319" algn="l" rtl="0">
              <a:lnSpc>
                <a:spcPct val="90000"/>
              </a:lnSpc>
              <a:spcBef>
                <a:spcPts val="600"/>
              </a:spcBef>
              <a:spcAft>
                <a:spcPts val="0"/>
              </a:spcAft>
              <a:buSzPts val="2000"/>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18"/>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Reinforcement Learning: concepts</a:t>
            </a:r>
            <a:endParaRPr/>
          </a:p>
        </p:txBody>
      </p:sp>
      <p:sp>
        <p:nvSpPr>
          <p:cNvPr id="1420" name="Google Shape;1420;p18"/>
          <p:cNvSpPr txBox="1">
            <a:spLocks noGrp="1"/>
          </p:cNvSpPr>
          <p:nvPr>
            <p:ph type="body" idx="3"/>
          </p:nvPr>
        </p:nvSpPr>
        <p:spPr>
          <a:xfrm>
            <a:off x="1473298" y="1762863"/>
            <a:ext cx="10107514" cy="4485537"/>
          </a:xfrm>
          <a:prstGeom prst="rect">
            <a:avLst/>
          </a:prstGeom>
          <a:blipFill rotWithShape="1">
            <a:blip r:embed="rId3">
              <a:alphaModFix/>
            </a:blip>
            <a:stretch>
              <a:fillRect t="-1358"/>
            </a:stretch>
          </a:blip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r>
              <a:rPr lang="en-US" dirty="0"/>
              <a:t> </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4"/>
        <p:cNvGrpSpPr/>
        <p:nvPr/>
      </p:nvGrpSpPr>
      <p:grpSpPr>
        <a:xfrm>
          <a:off x="0" y="0"/>
          <a:ext cx="0" cy="0"/>
          <a:chOff x="0" y="0"/>
          <a:chExt cx="0" cy="0"/>
        </a:xfrm>
      </p:grpSpPr>
      <p:sp>
        <p:nvSpPr>
          <p:cNvPr id="1425" name="Google Shape;1425;p19"/>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a:t>Off Policy vs On Policy</a:t>
            </a:r>
            <a:endParaRPr/>
          </a:p>
        </p:txBody>
      </p:sp>
      <p:sp>
        <p:nvSpPr>
          <p:cNvPr id="1426" name="Google Shape;1426;p19"/>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sp>
        <p:nvSpPr>
          <p:cNvPr id="1431" name="Google Shape;1431;p20"/>
          <p:cNvSpPr txBox="1">
            <a:spLocks noGrp="1"/>
          </p:cNvSpPr>
          <p:nvPr>
            <p:ph type="body" idx="1"/>
          </p:nvPr>
        </p:nvSpPr>
        <p:spPr>
          <a:xfrm>
            <a:off x="1674812" y="1905000"/>
            <a:ext cx="9144000" cy="4267200"/>
          </a:xfrm>
          <a:prstGeom prst="rect">
            <a:avLst/>
          </a:prstGeom>
          <a:blipFill rotWithShape="1">
            <a:blip r:embed="rId3">
              <a:alphaModFix/>
            </a:blip>
            <a:stretch>
              <a:fillRect t="-1570"/>
            </a:stretch>
          </a:blipFill>
          <a:ln>
            <a:noFill/>
          </a:ln>
        </p:spPr>
        <p:txBody>
          <a:bodyPr spcFirstLastPara="1" wrap="square" lIns="91425" tIns="45700" rIns="91425" bIns="45700" anchor="t" anchorCtr="0">
            <a:noAutofit/>
          </a:bodyPr>
          <a:lstStyle/>
          <a:p>
            <a:pPr marL="274320" lvl="0" indent="0" algn="l" rtl="0">
              <a:lnSpc>
                <a:spcPct val="90000"/>
              </a:lnSpc>
              <a:spcBef>
                <a:spcPts val="0"/>
              </a:spcBef>
              <a:spcAft>
                <a:spcPts val="0"/>
              </a:spcAft>
              <a:buNone/>
            </a:pPr>
            <a:r>
              <a:rPr lang="en-US" dirty="0"/>
              <a:t> </a:t>
            </a:r>
            <a:endParaRPr dirty="0"/>
          </a:p>
        </p:txBody>
      </p:sp>
      <p:sp>
        <p:nvSpPr>
          <p:cNvPr id="1432" name="Google Shape;1432;p20"/>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Off Policy vs On Policy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sp>
        <p:nvSpPr>
          <p:cNvPr id="1437" name="Google Shape;1437;p21"/>
          <p:cNvSpPr txBox="1">
            <a:spLocks noGrp="1"/>
          </p:cNvSpPr>
          <p:nvPr>
            <p:ph type="body" idx="1"/>
          </p:nvPr>
        </p:nvSpPr>
        <p:spPr>
          <a:xfrm>
            <a:off x="1674812" y="1905000"/>
            <a:ext cx="9144000" cy="4267200"/>
          </a:xfrm>
          <a:prstGeom prst="rect">
            <a:avLst/>
          </a:prstGeom>
          <a:blipFill rotWithShape="1">
            <a:blip r:embed="rId3">
              <a:alphaModFix/>
            </a:blip>
            <a:stretch>
              <a:fillRect t="-1570"/>
            </a:stretch>
          </a:blipFill>
          <a:ln>
            <a:noFill/>
          </a:ln>
        </p:spPr>
        <p:txBody>
          <a:bodyPr spcFirstLastPara="1" wrap="square" lIns="91425" tIns="45700" rIns="91425" bIns="45700" anchor="t" anchorCtr="0">
            <a:noAutofit/>
          </a:bodyPr>
          <a:lstStyle/>
          <a:p>
            <a:pPr marL="274320" lvl="0" indent="0" algn="l" rtl="0">
              <a:lnSpc>
                <a:spcPct val="90000"/>
              </a:lnSpc>
              <a:spcBef>
                <a:spcPts val="0"/>
              </a:spcBef>
              <a:spcAft>
                <a:spcPts val="0"/>
              </a:spcAft>
              <a:buNone/>
            </a:pPr>
            <a:r>
              <a:rPr lang="en-US" dirty="0"/>
              <a:t> </a:t>
            </a:r>
            <a:endParaRPr dirty="0"/>
          </a:p>
        </p:txBody>
      </p:sp>
      <p:sp>
        <p:nvSpPr>
          <p:cNvPr id="1438" name="Google Shape;1438;p2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Off Policy vs On Policy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3"/>
        <p:cNvGrpSpPr/>
        <p:nvPr/>
      </p:nvGrpSpPr>
      <p:grpSpPr>
        <a:xfrm>
          <a:off x="0" y="0"/>
          <a:ext cx="0" cy="0"/>
          <a:chOff x="0" y="0"/>
          <a:chExt cx="0" cy="0"/>
        </a:xfrm>
      </p:grpSpPr>
      <p:sp>
        <p:nvSpPr>
          <p:cNvPr id="1444" name="Google Shape;1444;p22"/>
          <p:cNvSpPr txBox="1">
            <a:spLocks noGrp="1"/>
          </p:cNvSpPr>
          <p:nvPr>
            <p:ph type="body" idx="1"/>
          </p:nvPr>
        </p:nvSpPr>
        <p:spPr>
          <a:xfrm>
            <a:off x="1674812" y="1905000"/>
            <a:ext cx="9144000" cy="4267200"/>
          </a:xfrm>
          <a:prstGeom prst="rect">
            <a:avLst/>
          </a:prstGeom>
          <a:blipFill rotWithShape="1">
            <a:blip r:embed="rId3">
              <a:alphaModFix/>
            </a:blip>
            <a:stretch>
              <a:fillRect t="-1570"/>
            </a:stretch>
          </a:blipFill>
          <a:ln>
            <a:noFill/>
          </a:ln>
        </p:spPr>
        <p:txBody>
          <a:bodyPr spcFirstLastPara="1" wrap="square" lIns="91425" tIns="45700" rIns="91425" bIns="45700" anchor="t" anchorCtr="0">
            <a:noAutofit/>
          </a:bodyPr>
          <a:lstStyle/>
          <a:p>
            <a:pPr marL="274320" lvl="0" indent="0" algn="l" rtl="0">
              <a:lnSpc>
                <a:spcPct val="90000"/>
              </a:lnSpc>
              <a:spcBef>
                <a:spcPts val="0"/>
              </a:spcBef>
              <a:spcAft>
                <a:spcPts val="0"/>
              </a:spcAft>
              <a:buNone/>
            </a:pPr>
            <a:r>
              <a:rPr lang="en-US" dirty="0"/>
              <a:t> </a:t>
            </a:r>
            <a:endParaRPr dirty="0"/>
          </a:p>
        </p:txBody>
      </p:sp>
      <p:sp>
        <p:nvSpPr>
          <p:cNvPr id="1445" name="Google Shape;1445;p22"/>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Off Policy vs On Policy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9"/>
        <p:cNvGrpSpPr/>
        <p:nvPr/>
      </p:nvGrpSpPr>
      <p:grpSpPr>
        <a:xfrm>
          <a:off x="0" y="0"/>
          <a:ext cx="0" cy="0"/>
          <a:chOff x="0" y="0"/>
          <a:chExt cx="0" cy="0"/>
        </a:xfrm>
      </p:grpSpPr>
      <p:sp>
        <p:nvSpPr>
          <p:cNvPr id="1450" name="Google Shape;1450;p23"/>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861822" lvl="2" indent="-285750" algn="l" rtl="0">
              <a:lnSpc>
                <a:spcPct val="90000"/>
              </a:lnSpc>
              <a:spcBef>
                <a:spcPts val="0"/>
              </a:spcBef>
              <a:spcAft>
                <a:spcPts val="0"/>
              </a:spcAft>
              <a:buSzPts val="1440"/>
              <a:buChar char="►"/>
            </a:pPr>
            <a:r>
              <a:rPr lang="en-US" dirty="0"/>
              <a:t>On policy vs Off policy</a:t>
            </a:r>
            <a:endParaRPr dirty="0"/>
          </a:p>
          <a:p>
            <a:pPr marL="1090422" lvl="3" indent="-285750" algn="l" rtl="0">
              <a:lnSpc>
                <a:spcPct val="90000"/>
              </a:lnSpc>
              <a:spcBef>
                <a:spcPts val="600"/>
              </a:spcBef>
              <a:spcAft>
                <a:spcPts val="0"/>
              </a:spcAft>
              <a:buSzPts val="1600"/>
              <a:buChar char="►"/>
            </a:pPr>
            <a:r>
              <a:rPr lang="en-US" b="0" dirty="0"/>
              <a:t>Off policy algorithms can update the estimated value functions using hypothetical actions, those which have not actually been tried</a:t>
            </a:r>
            <a:endParaRPr dirty="0"/>
          </a:p>
          <a:p>
            <a:pPr marL="1090422" lvl="3" indent="-285750" algn="l" rtl="0">
              <a:lnSpc>
                <a:spcPct val="90000"/>
              </a:lnSpc>
              <a:spcBef>
                <a:spcPts val="600"/>
              </a:spcBef>
              <a:spcAft>
                <a:spcPts val="0"/>
              </a:spcAft>
              <a:buSzPts val="1600"/>
              <a:buChar char="►"/>
            </a:pPr>
            <a:r>
              <a:rPr lang="en-US" dirty="0"/>
              <a:t>On policy algorithms update the value function strictly based on experience</a:t>
            </a:r>
            <a:endParaRPr dirty="0"/>
          </a:p>
          <a:p>
            <a:pPr marL="1090422" lvl="3" indent="-184150" algn="l" rtl="0">
              <a:lnSpc>
                <a:spcPct val="90000"/>
              </a:lnSpc>
              <a:spcBef>
                <a:spcPts val="600"/>
              </a:spcBef>
              <a:spcAft>
                <a:spcPts val="0"/>
              </a:spcAft>
              <a:buSzPts val="1600"/>
              <a:buNone/>
            </a:pPr>
            <a:endParaRPr dirty="0"/>
          </a:p>
          <a:p>
            <a:pPr marL="1090422" lvl="3" indent="-184150" algn="l" rtl="0">
              <a:lnSpc>
                <a:spcPct val="90000"/>
              </a:lnSpc>
              <a:spcBef>
                <a:spcPts val="600"/>
              </a:spcBef>
              <a:spcAft>
                <a:spcPts val="0"/>
              </a:spcAft>
              <a:buSzPts val="1600"/>
              <a:buNone/>
            </a:pPr>
            <a:endParaRPr dirty="0"/>
          </a:p>
          <a:p>
            <a:pPr marL="1090422" lvl="3" indent="-285750" algn="l" rtl="0">
              <a:lnSpc>
                <a:spcPct val="90000"/>
              </a:lnSpc>
              <a:spcBef>
                <a:spcPts val="600"/>
              </a:spcBef>
              <a:spcAft>
                <a:spcPts val="0"/>
              </a:spcAft>
              <a:buSzPts val="1600"/>
              <a:buChar char="►"/>
            </a:pPr>
            <a:r>
              <a:rPr lang="en-US" dirty="0"/>
              <a:t>The on-policy methods can take into account actions that might bring a very high penalty and adapt accordingly</a:t>
            </a:r>
            <a:endParaRPr dirty="0"/>
          </a:p>
          <a:p>
            <a:pPr marL="1090422" lvl="3" indent="-285750" algn="l" rtl="0">
              <a:lnSpc>
                <a:spcPct val="90000"/>
              </a:lnSpc>
              <a:spcBef>
                <a:spcPts val="600"/>
              </a:spcBef>
              <a:spcAft>
                <a:spcPts val="0"/>
              </a:spcAft>
              <a:buSzPts val="1600"/>
              <a:buChar char="►"/>
            </a:pPr>
            <a:r>
              <a:rPr lang="en-US" dirty="0"/>
              <a:t>The on-policy methods can get stuck in local minimum </a:t>
            </a: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p:txBody>
      </p:sp>
      <p:sp>
        <p:nvSpPr>
          <p:cNvPr id="1451" name="Google Shape;1451;p23"/>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Off Policy vs On Policy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sp>
        <p:nvSpPr>
          <p:cNvPr id="1456" name="Google Shape;1456;p24"/>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861822" lvl="2" indent="-285750" algn="l" rtl="0">
              <a:lnSpc>
                <a:spcPct val="90000"/>
              </a:lnSpc>
              <a:spcBef>
                <a:spcPts val="0"/>
              </a:spcBef>
              <a:spcAft>
                <a:spcPts val="0"/>
              </a:spcAft>
              <a:buSzPts val="1440"/>
              <a:buChar char="►"/>
            </a:pPr>
            <a:r>
              <a:rPr lang="en-US"/>
              <a:t>A classic example:</a:t>
            </a:r>
            <a:endParaRPr/>
          </a:p>
          <a:p>
            <a:pPr marL="804672" lvl="3" indent="0" algn="l" rtl="0">
              <a:lnSpc>
                <a:spcPct val="90000"/>
              </a:lnSpc>
              <a:spcBef>
                <a:spcPts val="600"/>
              </a:spcBef>
              <a:spcAft>
                <a:spcPts val="0"/>
              </a:spcAft>
              <a:buSzPts val="1600"/>
              <a:buNone/>
            </a:pPr>
            <a:r>
              <a:rPr lang="en-US"/>
              <a:t>A mouse has to find the path to its house. It can move N, W, S, E</a:t>
            </a:r>
            <a:endParaRPr/>
          </a:p>
          <a:p>
            <a:pPr marL="804672" lvl="3" indent="0" algn="l" rtl="0">
              <a:lnSpc>
                <a:spcPct val="90000"/>
              </a:lnSpc>
              <a:spcBef>
                <a:spcPts val="600"/>
              </a:spcBef>
              <a:spcAft>
                <a:spcPts val="0"/>
              </a:spcAft>
              <a:buSzPts val="1600"/>
              <a:buNone/>
            </a:pPr>
            <a:r>
              <a:rPr lang="en-US"/>
              <a:t>Between the mouse and its house there is a cliff.</a:t>
            </a: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r>
              <a:rPr lang="en-US"/>
              <a:t>If the mouse gets to the cliff, a big reward(penalty) will be received: -100</a:t>
            </a:r>
            <a:endParaRPr/>
          </a:p>
          <a:p>
            <a:pPr marL="804672" lvl="3" indent="0" algn="l" rtl="0">
              <a:lnSpc>
                <a:spcPct val="90000"/>
              </a:lnSpc>
              <a:spcBef>
                <a:spcPts val="600"/>
              </a:spcBef>
              <a:spcAft>
                <a:spcPts val="0"/>
              </a:spcAft>
              <a:buSzPts val="1600"/>
              <a:buNone/>
            </a:pPr>
            <a:r>
              <a:rPr lang="en-US"/>
              <a:t>For every move he makes he gets a reward (penalty) of -1</a:t>
            </a: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r>
              <a:rPr lang="en-US"/>
              <a:t>With a probability of 0.1, the mouse makes a random move  (in order to explore the environment)</a:t>
            </a: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p:txBody>
      </p:sp>
      <p:sp>
        <p:nvSpPr>
          <p:cNvPr id="1457" name="Google Shape;1457;p24"/>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Off Policy vs On Policy</a:t>
            </a:r>
            <a:endParaRPr/>
          </a:p>
        </p:txBody>
      </p:sp>
      <p:pic>
        <p:nvPicPr>
          <p:cNvPr id="1458" name="Google Shape;1458;p24"/>
          <p:cNvPicPr preferRelativeResize="0"/>
          <p:nvPr/>
        </p:nvPicPr>
        <p:blipFill rotWithShape="1">
          <a:blip r:embed="rId3">
            <a:alphaModFix/>
          </a:blip>
          <a:srcRect/>
          <a:stretch/>
        </p:blipFill>
        <p:spPr>
          <a:xfrm>
            <a:off x="4494212" y="4648200"/>
            <a:ext cx="4036102" cy="1371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2"/>
        <p:cNvGrpSpPr/>
        <p:nvPr/>
      </p:nvGrpSpPr>
      <p:grpSpPr>
        <a:xfrm>
          <a:off x="0" y="0"/>
          <a:ext cx="0" cy="0"/>
          <a:chOff x="0" y="0"/>
          <a:chExt cx="0" cy="0"/>
        </a:xfrm>
      </p:grpSpPr>
      <p:sp>
        <p:nvSpPr>
          <p:cNvPr id="1463" name="Google Shape;1463;p25"/>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861822" lvl="2" indent="-285750" algn="l" rtl="0">
              <a:lnSpc>
                <a:spcPct val="90000"/>
              </a:lnSpc>
              <a:spcBef>
                <a:spcPts val="0"/>
              </a:spcBef>
              <a:spcAft>
                <a:spcPts val="0"/>
              </a:spcAft>
              <a:buSzPts val="1440"/>
              <a:buChar char="►"/>
            </a:pPr>
            <a:r>
              <a:rPr lang="en-US"/>
              <a:t>A classic example:</a:t>
            </a:r>
            <a:endParaRPr/>
          </a:p>
          <a:p>
            <a:pPr marL="1090422" lvl="3" indent="-285750" algn="l" rtl="0">
              <a:lnSpc>
                <a:spcPct val="90000"/>
              </a:lnSpc>
              <a:spcBef>
                <a:spcPts val="600"/>
              </a:spcBef>
              <a:spcAft>
                <a:spcPts val="0"/>
              </a:spcAft>
              <a:buSzPts val="1600"/>
              <a:buChar char="►"/>
            </a:pPr>
            <a:r>
              <a:rPr lang="en-US"/>
              <a:t>The agent using Q-learning finds the optimal policy: it moves along the cliff and gets to the reward.</a:t>
            </a:r>
            <a:endParaRPr/>
          </a:p>
          <a:p>
            <a:pPr marL="804672" lvl="3" indent="0" algn="l" rtl="0">
              <a:lnSpc>
                <a:spcPct val="90000"/>
              </a:lnSpc>
              <a:spcBef>
                <a:spcPts val="600"/>
              </a:spcBef>
              <a:spcAft>
                <a:spcPts val="0"/>
              </a:spcAft>
              <a:buSzPts val="1600"/>
              <a:buNone/>
            </a:pPr>
            <a:r>
              <a:rPr lang="en-US"/>
              <a:t>	</a:t>
            </a:r>
            <a:endParaRPr/>
          </a:p>
          <a:p>
            <a:pPr marL="804672" lvl="3" indent="0" algn="l" rtl="0">
              <a:lnSpc>
                <a:spcPct val="90000"/>
              </a:lnSpc>
              <a:spcBef>
                <a:spcPts val="600"/>
              </a:spcBef>
              <a:spcAft>
                <a:spcPts val="0"/>
              </a:spcAft>
              <a:buSzPts val="1600"/>
              <a:buNone/>
            </a:pPr>
            <a:r>
              <a:rPr lang="en-US"/>
              <a:t>	    However, from time to time (due to exploration ) the mouse falls into the cliff</a:t>
            </a:r>
            <a:endParaRPr/>
          </a:p>
          <a:p>
            <a:pPr marL="804672" lvl="3" indent="0" algn="l" rtl="0">
              <a:lnSpc>
                <a:spcPct val="90000"/>
              </a:lnSpc>
              <a:spcBef>
                <a:spcPts val="600"/>
              </a:spcBef>
              <a:spcAft>
                <a:spcPts val="0"/>
              </a:spcAft>
              <a:buSzPts val="1600"/>
              <a:buNone/>
            </a:pPr>
            <a:endParaRPr/>
          </a:p>
          <a:p>
            <a:pPr marL="1090422" lvl="3" indent="-285750" algn="l" rtl="0">
              <a:lnSpc>
                <a:spcPct val="90000"/>
              </a:lnSpc>
              <a:spcBef>
                <a:spcPts val="600"/>
              </a:spcBef>
              <a:spcAft>
                <a:spcPts val="0"/>
              </a:spcAft>
              <a:buSzPts val="1600"/>
              <a:buChar char="►"/>
            </a:pPr>
            <a:r>
              <a:rPr lang="en-US"/>
              <a:t>The agent using SARSA learning understands that from time to time it performs some random actions and tries to adapt accordingly.</a:t>
            </a:r>
            <a:endParaRPr/>
          </a:p>
          <a:p>
            <a:pPr marL="804672" lvl="3" indent="0" algn="l" rtl="0">
              <a:lnSpc>
                <a:spcPct val="90000"/>
              </a:lnSpc>
              <a:spcBef>
                <a:spcPts val="600"/>
              </a:spcBef>
              <a:spcAft>
                <a:spcPts val="0"/>
              </a:spcAft>
              <a:buSzPts val="1600"/>
              <a:buNone/>
            </a:pPr>
            <a:r>
              <a:rPr lang="en-US"/>
              <a:t>	</a:t>
            </a:r>
            <a:endParaRPr/>
          </a:p>
          <a:p>
            <a:pPr marL="804672" lvl="3" indent="0" algn="l" rtl="0">
              <a:lnSpc>
                <a:spcPct val="90000"/>
              </a:lnSpc>
              <a:spcBef>
                <a:spcPts val="600"/>
              </a:spcBef>
              <a:spcAft>
                <a:spcPts val="0"/>
              </a:spcAft>
              <a:buSzPts val="1600"/>
              <a:buNone/>
            </a:pPr>
            <a:r>
              <a:rPr lang="en-US"/>
              <a:t>	    For this reason, the agent goes several steps away from the cliff and then starts 	orienting to the target</a:t>
            </a: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p:txBody>
      </p:sp>
      <p:sp>
        <p:nvSpPr>
          <p:cNvPr id="1464" name="Google Shape;1464;p25"/>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Off Policy vs On Policy</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8"/>
        <p:cNvGrpSpPr/>
        <p:nvPr/>
      </p:nvGrpSpPr>
      <p:grpSpPr>
        <a:xfrm>
          <a:off x="0" y="0"/>
          <a:ext cx="0" cy="0"/>
          <a:chOff x="0" y="0"/>
          <a:chExt cx="0" cy="0"/>
        </a:xfrm>
      </p:grpSpPr>
      <p:sp>
        <p:nvSpPr>
          <p:cNvPr id="1469" name="Google Shape;1469;p26"/>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a:t>Gradient Policy Algorithm</a:t>
            </a:r>
            <a:endParaRPr/>
          </a:p>
        </p:txBody>
      </p:sp>
      <p:sp>
        <p:nvSpPr>
          <p:cNvPr id="1470" name="Google Shape;1470;p26"/>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474"/>
        <p:cNvGrpSpPr/>
        <p:nvPr/>
      </p:nvGrpSpPr>
      <p:grpSpPr>
        <a:xfrm>
          <a:off x="0" y="0"/>
          <a:ext cx="0" cy="0"/>
          <a:chOff x="0" y="0"/>
          <a:chExt cx="0" cy="0"/>
        </a:xfrm>
      </p:grpSpPr>
      <p:sp>
        <p:nvSpPr>
          <p:cNvPr id="1475" name="Google Shape;1475;p27"/>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861822" lvl="2" indent="-285750" algn="l" rtl="0">
              <a:lnSpc>
                <a:spcPct val="90000"/>
              </a:lnSpc>
              <a:spcBef>
                <a:spcPts val="0"/>
              </a:spcBef>
              <a:spcAft>
                <a:spcPts val="0"/>
              </a:spcAft>
              <a:buSzPts val="1440"/>
              <a:buChar char="►"/>
            </a:pPr>
            <a:r>
              <a:rPr lang="en-US"/>
              <a:t>Until now, we’ve been using an algorithm (Q-learning or SARSA) to decide what are actions will be</a:t>
            </a:r>
            <a:endParaRPr/>
          </a:p>
          <a:p>
            <a:pPr marL="861822" lvl="2" indent="-194309" algn="l" rtl="0">
              <a:lnSpc>
                <a:spcPct val="90000"/>
              </a:lnSpc>
              <a:spcBef>
                <a:spcPts val="600"/>
              </a:spcBef>
              <a:spcAft>
                <a:spcPts val="0"/>
              </a:spcAft>
              <a:buSzPts val="1440"/>
              <a:buNone/>
            </a:pPr>
            <a:endParaRPr/>
          </a:p>
          <a:p>
            <a:pPr marL="861822" lvl="2" indent="-285750" algn="l" rtl="0">
              <a:lnSpc>
                <a:spcPct val="90000"/>
              </a:lnSpc>
              <a:spcBef>
                <a:spcPts val="600"/>
              </a:spcBef>
              <a:spcAft>
                <a:spcPts val="0"/>
              </a:spcAft>
              <a:buSzPts val="1440"/>
              <a:buChar char="►"/>
            </a:pPr>
            <a:r>
              <a:rPr lang="en-US"/>
              <a:t>We’ve used neuronal networks to approximate the value function</a:t>
            </a:r>
            <a:endParaRPr/>
          </a:p>
          <a:p>
            <a:pPr marL="861822" lvl="2" indent="-194309" algn="l" rtl="0">
              <a:lnSpc>
                <a:spcPct val="90000"/>
              </a:lnSpc>
              <a:spcBef>
                <a:spcPts val="600"/>
              </a:spcBef>
              <a:spcAft>
                <a:spcPts val="0"/>
              </a:spcAft>
              <a:buSzPts val="1440"/>
              <a:buNone/>
            </a:pPr>
            <a:endParaRPr/>
          </a:p>
          <a:p>
            <a:pPr marL="576072" lvl="2" indent="0" algn="l" rtl="0">
              <a:lnSpc>
                <a:spcPct val="90000"/>
              </a:lnSpc>
              <a:spcBef>
                <a:spcPts val="600"/>
              </a:spcBef>
              <a:spcAft>
                <a:spcPts val="0"/>
              </a:spcAft>
              <a:buSzPts val="1440"/>
              <a:buNone/>
            </a:pPr>
            <a:r>
              <a:rPr lang="en-US"/>
              <a:t>However, we can use neural networks to directly learn the right actions the agent needs to take in order to increase the total reward</a:t>
            </a:r>
            <a:endParaRPr/>
          </a:p>
          <a:p>
            <a:pPr marL="576072" lvl="2" indent="0" algn="l" rtl="0">
              <a:lnSpc>
                <a:spcPct val="90000"/>
              </a:lnSpc>
              <a:spcBef>
                <a:spcPts val="600"/>
              </a:spcBef>
              <a:spcAft>
                <a:spcPts val="0"/>
              </a:spcAft>
              <a:buSzPts val="1440"/>
              <a:buNone/>
            </a:pPr>
            <a:endParaRPr/>
          </a:p>
          <a:p>
            <a:pPr marL="576072" lvl="2" indent="0" algn="l" rtl="0">
              <a:lnSpc>
                <a:spcPct val="90000"/>
              </a:lnSpc>
              <a:spcBef>
                <a:spcPts val="600"/>
              </a:spcBef>
              <a:spcAft>
                <a:spcPts val="0"/>
              </a:spcAft>
              <a:buSzPts val="1440"/>
              <a:buNone/>
            </a:pPr>
            <a:r>
              <a:rPr lang="en-US"/>
              <a:t>We’ll use the car example from the previous class</a:t>
            </a: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p:txBody>
      </p:sp>
      <p:sp>
        <p:nvSpPr>
          <p:cNvPr id="1476" name="Google Shape;1476;p27"/>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480"/>
        <p:cNvGrpSpPr/>
        <p:nvPr/>
      </p:nvGrpSpPr>
      <p:grpSpPr>
        <a:xfrm>
          <a:off x="0" y="0"/>
          <a:ext cx="0" cy="0"/>
          <a:chOff x="0" y="0"/>
          <a:chExt cx="0" cy="0"/>
        </a:xfrm>
      </p:grpSpPr>
      <p:sp>
        <p:nvSpPr>
          <p:cNvPr id="1481" name="Google Shape;1481;p28"/>
          <p:cNvSpPr txBox="1">
            <a:spLocks noGrp="1"/>
          </p:cNvSpPr>
          <p:nvPr>
            <p:ph type="body" idx="1"/>
          </p:nvPr>
        </p:nvSpPr>
        <p:spPr>
          <a:xfrm>
            <a:off x="4710022" y="1905000"/>
            <a:ext cx="5669280" cy="4038600"/>
          </a:xfrm>
          <a:prstGeom prst="rect">
            <a:avLst/>
          </a:prstGeom>
          <a:noFill/>
          <a:ln>
            <a:noFill/>
          </a:ln>
        </p:spPr>
        <p:txBody>
          <a:bodyPr spcFirstLastPara="1" wrap="square" lIns="91425" tIns="45700" rIns="91425" bIns="45700" anchor="t" anchorCtr="0">
            <a:noAutofit/>
          </a:bodyPr>
          <a:lstStyle/>
          <a:p>
            <a:pPr marL="274320" lvl="0" indent="-152400" algn="l" rtl="0">
              <a:lnSpc>
                <a:spcPct val="90000"/>
              </a:lnSpc>
              <a:spcBef>
                <a:spcPts val="0"/>
              </a:spcBef>
              <a:spcAft>
                <a:spcPts val="0"/>
              </a:spcAft>
              <a:buSzPts val="1920"/>
              <a:buNone/>
            </a:pPr>
            <a:endParaRPr/>
          </a:p>
        </p:txBody>
      </p:sp>
      <p:sp>
        <p:nvSpPr>
          <p:cNvPr id="1482" name="Google Shape;1482;p28"/>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Example</a:t>
            </a:r>
            <a:endParaRPr/>
          </a:p>
        </p:txBody>
      </p:sp>
      <p:pic>
        <p:nvPicPr>
          <p:cNvPr id="1483" name="Google Shape;1483;p28"/>
          <p:cNvPicPr preferRelativeResize="0"/>
          <p:nvPr/>
        </p:nvPicPr>
        <p:blipFill rotWithShape="1">
          <a:blip r:embed="rId3">
            <a:alphaModFix/>
          </a:blip>
          <a:srcRect/>
          <a:stretch/>
        </p:blipFill>
        <p:spPr>
          <a:xfrm>
            <a:off x="5332412" y="1980427"/>
            <a:ext cx="4143728" cy="3887745"/>
          </a:xfrm>
          <a:prstGeom prst="rect">
            <a:avLst/>
          </a:prstGeom>
          <a:noFill/>
          <a:ln>
            <a:noFill/>
          </a:ln>
        </p:spPr>
      </p:pic>
      <p:sp>
        <p:nvSpPr>
          <p:cNvPr id="1484" name="Google Shape;1484;p28"/>
          <p:cNvSpPr txBox="1">
            <a:spLocks noGrp="1"/>
          </p:cNvSpPr>
          <p:nvPr>
            <p:ph type="body" idx="2"/>
          </p:nvPr>
        </p:nvSpPr>
        <p:spPr>
          <a:xfrm>
            <a:off x="1217612" y="1676400"/>
            <a:ext cx="2895600" cy="441960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SzPts val="1280"/>
              <a:buNone/>
            </a:pPr>
            <a:r>
              <a:rPr lang="en-US"/>
              <a:t>Example: Train a car to avoid obstacles and reach to the gas station</a:t>
            </a:r>
            <a:endParaRPr/>
          </a:p>
          <a:p>
            <a:pPr marL="0" lvl="0" indent="0" algn="l" rtl="0">
              <a:lnSpc>
                <a:spcPct val="80000"/>
              </a:lnSpc>
              <a:spcBef>
                <a:spcPts val="1200"/>
              </a:spcBef>
              <a:spcAft>
                <a:spcPts val="0"/>
              </a:spcAft>
              <a:buSzPts val="1280"/>
              <a:buNone/>
            </a:pPr>
            <a:endParaRPr/>
          </a:p>
          <a:p>
            <a:pPr marL="0" lvl="0" indent="0" algn="l" rtl="0">
              <a:lnSpc>
                <a:spcPct val="80000"/>
              </a:lnSpc>
              <a:spcBef>
                <a:spcPts val="1200"/>
              </a:spcBef>
              <a:spcAft>
                <a:spcPts val="0"/>
              </a:spcAft>
              <a:buSzPts val="1280"/>
              <a:buNone/>
            </a:pPr>
            <a:r>
              <a:rPr lang="en-US"/>
              <a:t>States: the car only knows what is in front and on its side. </a:t>
            </a:r>
            <a:endParaRPr/>
          </a:p>
          <a:p>
            <a:pPr marL="0" lvl="0" indent="0" algn="l" rtl="0">
              <a:lnSpc>
                <a:spcPct val="80000"/>
              </a:lnSpc>
              <a:spcBef>
                <a:spcPts val="1200"/>
              </a:spcBef>
              <a:spcAft>
                <a:spcPts val="0"/>
              </a:spcAft>
              <a:buSzPts val="1280"/>
              <a:buNone/>
            </a:pPr>
            <a:r>
              <a:rPr lang="en-US"/>
              <a:t>It does that through 20 sensors that each can detect an object that is at most 10 units away</a:t>
            </a:r>
            <a:endParaRPr/>
          </a:p>
          <a:p>
            <a:pPr marL="0" lvl="0" indent="0" algn="l" rtl="0">
              <a:lnSpc>
                <a:spcPct val="80000"/>
              </a:lnSpc>
              <a:spcBef>
                <a:spcPts val="1200"/>
              </a:spcBef>
              <a:spcAft>
                <a:spcPts val="0"/>
              </a:spcAft>
              <a:buSzPts val="1280"/>
              <a:buNone/>
            </a:pPr>
            <a:r>
              <a:rPr lang="en-US"/>
              <a:t>(it does not know where the gas station is) or how the map looks like</a:t>
            </a:r>
            <a:endParaRPr/>
          </a:p>
          <a:p>
            <a:pPr marL="0" lvl="0" indent="0" algn="l" rtl="0">
              <a:lnSpc>
                <a:spcPct val="80000"/>
              </a:lnSpc>
              <a:spcBef>
                <a:spcPts val="1200"/>
              </a:spcBef>
              <a:spcAft>
                <a:spcPts val="0"/>
              </a:spcAft>
              <a:buSzPts val="1280"/>
              <a:buNone/>
            </a:pPr>
            <a:endParaRPr/>
          </a:p>
          <a:p>
            <a:pPr marL="0" lvl="0" indent="0" algn="l" rtl="0">
              <a:lnSpc>
                <a:spcPct val="80000"/>
              </a:lnSpc>
              <a:spcBef>
                <a:spcPts val="1200"/>
              </a:spcBef>
              <a:spcAft>
                <a:spcPts val="0"/>
              </a:spcAft>
              <a:buSzPts val="1280"/>
              <a:buNone/>
            </a:pPr>
            <a:r>
              <a:rPr lang="en-US"/>
              <a:t>(This is more realistic)</a:t>
            </a:r>
            <a:endParaRPr/>
          </a:p>
          <a:p>
            <a:pPr marL="0" lvl="0" indent="0" algn="l" rtl="0">
              <a:lnSpc>
                <a:spcPct val="80000"/>
              </a:lnSpc>
              <a:spcBef>
                <a:spcPts val="1200"/>
              </a:spcBef>
              <a:spcAft>
                <a:spcPts val="0"/>
              </a:spcAft>
              <a:buSzPts val="128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488"/>
        <p:cNvGrpSpPr/>
        <p:nvPr/>
      </p:nvGrpSpPr>
      <p:grpSpPr>
        <a:xfrm>
          <a:off x="0" y="0"/>
          <a:ext cx="0" cy="0"/>
          <a:chOff x="0" y="0"/>
          <a:chExt cx="0" cy="0"/>
        </a:xfrm>
      </p:grpSpPr>
      <p:sp>
        <p:nvSpPr>
          <p:cNvPr id="1489" name="Google Shape;1489;p29"/>
          <p:cNvSpPr txBox="1">
            <a:spLocks noGrp="1"/>
          </p:cNvSpPr>
          <p:nvPr>
            <p:ph type="body" idx="1"/>
          </p:nvPr>
        </p:nvSpPr>
        <p:spPr>
          <a:xfrm>
            <a:off x="4710022" y="1905000"/>
            <a:ext cx="5669280" cy="4038600"/>
          </a:xfrm>
          <a:prstGeom prst="rect">
            <a:avLst/>
          </a:prstGeom>
          <a:noFill/>
          <a:ln>
            <a:noFill/>
          </a:ln>
        </p:spPr>
        <p:txBody>
          <a:bodyPr spcFirstLastPara="1" wrap="square" lIns="91425" tIns="45700" rIns="91425" bIns="45700" anchor="t" anchorCtr="0">
            <a:noAutofit/>
          </a:bodyPr>
          <a:lstStyle/>
          <a:p>
            <a:pPr marL="274320" lvl="0" indent="-152400" algn="l" rtl="0">
              <a:lnSpc>
                <a:spcPct val="90000"/>
              </a:lnSpc>
              <a:spcBef>
                <a:spcPts val="0"/>
              </a:spcBef>
              <a:spcAft>
                <a:spcPts val="0"/>
              </a:spcAft>
              <a:buSzPts val="1920"/>
              <a:buNone/>
            </a:pPr>
            <a:endParaRPr/>
          </a:p>
        </p:txBody>
      </p:sp>
      <p:sp>
        <p:nvSpPr>
          <p:cNvPr id="1490" name="Google Shape;1490;p29"/>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Example</a:t>
            </a:r>
            <a:endParaRPr/>
          </a:p>
        </p:txBody>
      </p:sp>
      <p:pic>
        <p:nvPicPr>
          <p:cNvPr id="1491" name="Google Shape;1491;p29"/>
          <p:cNvPicPr preferRelativeResize="0"/>
          <p:nvPr/>
        </p:nvPicPr>
        <p:blipFill rotWithShape="1">
          <a:blip r:embed="rId3">
            <a:alphaModFix/>
          </a:blip>
          <a:srcRect/>
          <a:stretch/>
        </p:blipFill>
        <p:spPr>
          <a:xfrm>
            <a:off x="5332412" y="1980427"/>
            <a:ext cx="4143728" cy="3887745"/>
          </a:xfrm>
          <a:prstGeom prst="rect">
            <a:avLst/>
          </a:prstGeom>
          <a:noFill/>
          <a:ln>
            <a:noFill/>
          </a:ln>
        </p:spPr>
      </p:pic>
      <p:sp>
        <p:nvSpPr>
          <p:cNvPr id="1492" name="Google Shape;1492;p29"/>
          <p:cNvSpPr txBox="1">
            <a:spLocks noGrp="1"/>
          </p:cNvSpPr>
          <p:nvPr>
            <p:ph type="body" idx="2"/>
          </p:nvPr>
        </p:nvSpPr>
        <p:spPr>
          <a:xfrm>
            <a:off x="1217612" y="1676400"/>
            <a:ext cx="2895600" cy="4419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280"/>
              <a:buNone/>
            </a:pPr>
            <a:r>
              <a:rPr lang="en-US"/>
              <a:t>Actions:</a:t>
            </a:r>
            <a:endParaRPr/>
          </a:p>
          <a:p>
            <a:pPr marL="0" lvl="0" indent="0" algn="l" rtl="0">
              <a:lnSpc>
                <a:spcPct val="90000"/>
              </a:lnSpc>
              <a:spcBef>
                <a:spcPts val="1200"/>
              </a:spcBef>
              <a:spcAft>
                <a:spcPts val="0"/>
              </a:spcAft>
              <a:buSzPts val="1280"/>
              <a:buNone/>
            </a:pPr>
            <a:r>
              <a:rPr lang="en-US"/>
              <a:t>The car always moves. It can, however, decide to move left , right or do nothing (move forward)</a:t>
            </a:r>
            <a:endParaRPr/>
          </a:p>
          <a:p>
            <a:pPr marL="0" lvl="0" indent="0" algn="l" rtl="0">
              <a:lnSpc>
                <a:spcPct val="90000"/>
              </a:lnSpc>
              <a:spcBef>
                <a:spcPts val="1200"/>
              </a:spcBef>
              <a:spcAft>
                <a:spcPts val="0"/>
              </a:spcAft>
              <a:buSzPts val="1280"/>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30"/>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861822" lvl="2" indent="-285750" algn="l" rtl="0">
              <a:lnSpc>
                <a:spcPct val="90000"/>
              </a:lnSpc>
              <a:spcBef>
                <a:spcPts val="0"/>
              </a:spcBef>
              <a:spcAft>
                <a:spcPts val="0"/>
              </a:spcAft>
              <a:buSzPts val="1440"/>
              <a:buChar char="►"/>
            </a:pPr>
            <a:r>
              <a:rPr lang="en-US"/>
              <a:t>Until now, we’ve been using an algorithm (Q-learning or SARSA) to decide what are actions will be</a:t>
            </a:r>
            <a:endParaRPr/>
          </a:p>
          <a:p>
            <a:pPr marL="861822" lvl="2" indent="-194309" algn="l" rtl="0">
              <a:lnSpc>
                <a:spcPct val="90000"/>
              </a:lnSpc>
              <a:spcBef>
                <a:spcPts val="600"/>
              </a:spcBef>
              <a:spcAft>
                <a:spcPts val="0"/>
              </a:spcAft>
              <a:buSzPts val="1440"/>
              <a:buNone/>
            </a:pPr>
            <a:endParaRPr/>
          </a:p>
          <a:p>
            <a:pPr marL="861822" lvl="2" indent="-285750" algn="l" rtl="0">
              <a:lnSpc>
                <a:spcPct val="90000"/>
              </a:lnSpc>
              <a:spcBef>
                <a:spcPts val="600"/>
              </a:spcBef>
              <a:spcAft>
                <a:spcPts val="0"/>
              </a:spcAft>
              <a:buSzPts val="1440"/>
              <a:buChar char="►"/>
            </a:pPr>
            <a:r>
              <a:rPr lang="en-US"/>
              <a:t>We’ve used neuronal networks to approximate the value function</a:t>
            </a:r>
            <a:endParaRPr/>
          </a:p>
          <a:p>
            <a:pPr marL="861822" lvl="2" indent="-194309" algn="l" rtl="0">
              <a:lnSpc>
                <a:spcPct val="90000"/>
              </a:lnSpc>
              <a:spcBef>
                <a:spcPts val="600"/>
              </a:spcBef>
              <a:spcAft>
                <a:spcPts val="0"/>
              </a:spcAft>
              <a:buSzPts val="1440"/>
              <a:buNone/>
            </a:pPr>
            <a:endParaRPr/>
          </a:p>
          <a:p>
            <a:pPr marL="576072" lvl="2" indent="0" algn="l" rtl="0">
              <a:lnSpc>
                <a:spcPct val="90000"/>
              </a:lnSpc>
              <a:spcBef>
                <a:spcPts val="600"/>
              </a:spcBef>
              <a:spcAft>
                <a:spcPts val="0"/>
              </a:spcAft>
              <a:buSzPts val="1440"/>
              <a:buNone/>
            </a:pPr>
            <a:r>
              <a:rPr lang="en-US"/>
              <a:t>However, we can use neural networks to directly learn the right actions the agent needs to take in order to increase the total reward</a:t>
            </a:r>
            <a:endParaRPr/>
          </a:p>
          <a:p>
            <a:pPr marL="576072" lvl="2" indent="0" algn="l" rtl="0">
              <a:lnSpc>
                <a:spcPct val="90000"/>
              </a:lnSpc>
              <a:spcBef>
                <a:spcPts val="600"/>
              </a:spcBef>
              <a:spcAft>
                <a:spcPts val="0"/>
              </a:spcAft>
              <a:buSzPts val="1440"/>
              <a:buNone/>
            </a:pPr>
            <a:endParaRPr/>
          </a:p>
          <a:p>
            <a:pPr marL="576072" lvl="2" indent="0" algn="l" rtl="0">
              <a:lnSpc>
                <a:spcPct val="90000"/>
              </a:lnSpc>
              <a:spcBef>
                <a:spcPts val="600"/>
              </a:spcBef>
              <a:spcAft>
                <a:spcPts val="0"/>
              </a:spcAft>
              <a:buSzPts val="1440"/>
              <a:buNone/>
            </a:pPr>
            <a:r>
              <a:rPr lang="en-US"/>
              <a:t>For this, we’ll use the Policy Gradient Algorithm</a:t>
            </a: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p:txBody>
      </p:sp>
      <p:sp>
        <p:nvSpPr>
          <p:cNvPr id="1498" name="Google Shape;1498;p30"/>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31"/>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04" name="Google Shape;1504;p31"/>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0" lvl="2" indent="0" algn="l" rtl="0">
              <a:lnSpc>
                <a:spcPct val="90000"/>
              </a:lnSpc>
              <a:spcBef>
                <a:spcPts val="600"/>
              </a:spcBef>
              <a:spcAft>
                <a:spcPts val="0"/>
              </a:spcAft>
              <a:buSzPts val="1440"/>
              <a:buNone/>
            </a:pPr>
            <a:r>
              <a:rPr lang="en-US" dirty="0"/>
              <a:t>Gradient Policy Advantages:</a:t>
            </a:r>
            <a:endParaRPr dirty="0"/>
          </a:p>
          <a:p>
            <a:pPr marL="457200" lvl="0" indent="-320040" algn="l" rtl="0">
              <a:lnSpc>
                <a:spcPct val="90000"/>
              </a:lnSpc>
              <a:spcBef>
                <a:spcPts val="600"/>
              </a:spcBef>
              <a:spcAft>
                <a:spcPts val="0"/>
              </a:spcAft>
              <a:buSzPts val="1440"/>
              <a:buChar char="●"/>
            </a:pPr>
            <a:r>
              <a:rPr lang="en-US" sz="1800" dirty="0"/>
              <a:t>Policy Based Methods have better convergence. We’re just computing the gradient to say how we can can increase the score. We don’t have to explore that much</a:t>
            </a:r>
            <a:endParaRPr sz="1800" dirty="0"/>
          </a:p>
          <a:p>
            <a:pPr marL="457200" lvl="0" indent="0" algn="l" rtl="0">
              <a:lnSpc>
                <a:spcPct val="90000"/>
              </a:lnSpc>
              <a:spcBef>
                <a:spcPts val="600"/>
              </a:spcBef>
              <a:spcAft>
                <a:spcPts val="0"/>
              </a:spcAft>
              <a:buNone/>
            </a:pPr>
            <a:endParaRPr sz="1800" dirty="0"/>
          </a:p>
          <a:p>
            <a:pPr marL="457200" lvl="0" indent="-320040" algn="l" rtl="0">
              <a:lnSpc>
                <a:spcPct val="90000"/>
              </a:lnSpc>
              <a:spcBef>
                <a:spcPts val="600"/>
              </a:spcBef>
              <a:spcAft>
                <a:spcPts val="0"/>
              </a:spcAft>
              <a:buSzPts val="1440"/>
              <a:buChar char="●"/>
            </a:pPr>
            <a:r>
              <a:rPr lang="en-US" sz="1800" dirty="0"/>
              <a:t>Works better in high dimensional action spaces. For example when you don’t have a fixed set of actions, but a value that you have to output</a:t>
            </a:r>
            <a:br>
              <a:rPr lang="en-US" sz="1800" dirty="0"/>
            </a:br>
            <a:endParaRPr sz="1800" dirty="0"/>
          </a:p>
          <a:p>
            <a:pPr marL="457200" lvl="0" indent="-342900" algn="l" rtl="0">
              <a:lnSpc>
                <a:spcPct val="90000"/>
              </a:lnSpc>
              <a:spcBef>
                <a:spcPts val="0"/>
              </a:spcBef>
              <a:spcAft>
                <a:spcPts val="0"/>
              </a:spcAft>
              <a:buSzPts val="1800"/>
              <a:buChar char="●"/>
            </a:pPr>
            <a:r>
              <a:rPr lang="en-US" sz="1800" dirty="0"/>
              <a:t>Can learn Stochastic policies:</a:t>
            </a:r>
            <a:endParaRPr sz="1800" dirty="0"/>
          </a:p>
          <a:p>
            <a:pPr marL="914400" lvl="1" indent="-342900" algn="l" rtl="0">
              <a:lnSpc>
                <a:spcPct val="90000"/>
              </a:lnSpc>
              <a:spcBef>
                <a:spcPts val="0"/>
              </a:spcBef>
              <a:spcAft>
                <a:spcPts val="0"/>
              </a:spcAft>
              <a:buSzPts val="1800"/>
              <a:buChar char="○"/>
            </a:pPr>
            <a:r>
              <a:rPr lang="en-US" sz="1800" dirty="0"/>
              <a:t>We don’t need to implement an exploration vs exploitation strategy (i.e. </a:t>
            </a:r>
            <a:r>
              <a:rPr lang="en-US" dirty="0"/>
              <a:t>𝜺- greedy strategy)</a:t>
            </a:r>
            <a:endParaRPr dirty="0"/>
          </a:p>
          <a:p>
            <a:pPr marL="0" lvl="0" indent="0" algn="l" rtl="0">
              <a:lnSpc>
                <a:spcPct val="90000"/>
              </a:lnSpc>
              <a:spcBef>
                <a:spcPts val="600"/>
              </a:spcBef>
              <a:spcAft>
                <a:spcPts val="0"/>
              </a:spcAft>
              <a:buNone/>
            </a:pPr>
            <a:r>
              <a:rPr lang="en-US" sz="1800" dirty="0"/>
              <a:t>Disadvantages:</a:t>
            </a:r>
            <a:endParaRPr sz="1800" dirty="0"/>
          </a:p>
          <a:p>
            <a:pPr marL="457200" lvl="0" indent="-342900" algn="l" rtl="0">
              <a:lnSpc>
                <a:spcPct val="90000"/>
              </a:lnSpc>
              <a:spcBef>
                <a:spcPts val="600"/>
              </a:spcBef>
              <a:spcAft>
                <a:spcPts val="0"/>
              </a:spcAft>
              <a:buSzPts val="1800"/>
              <a:buChar char="●"/>
            </a:pPr>
            <a:r>
              <a:rPr lang="en-US" sz="1800" dirty="0"/>
              <a:t>It finds the local maximum instead of the global one</a:t>
            </a:r>
            <a:endParaRPr sz="1800" dirty="0"/>
          </a:p>
          <a:p>
            <a:pPr marL="914400" lvl="0" indent="0" algn="l" rtl="0">
              <a:lnSpc>
                <a:spcPct val="90000"/>
              </a:lnSpc>
              <a:spcBef>
                <a:spcPts val="600"/>
              </a:spcBef>
              <a:spcAft>
                <a:spcPts val="0"/>
              </a:spcAft>
              <a:buNone/>
            </a:pPr>
            <a:endParaRPr dirty="0"/>
          </a:p>
          <a:p>
            <a:pPr marL="0" lvl="0" indent="0" algn="l" rtl="0">
              <a:lnSpc>
                <a:spcPct val="90000"/>
              </a:lnSpc>
              <a:spcBef>
                <a:spcPts val="600"/>
              </a:spcBef>
              <a:spcAft>
                <a:spcPts val="0"/>
              </a:spcAft>
              <a:buNone/>
            </a:pPr>
            <a:endParaRPr sz="1800" dirty="0"/>
          </a:p>
          <a:p>
            <a:pPr marL="804672" lvl="3" indent="0" algn="l" rtl="0">
              <a:lnSpc>
                <a:spcPct val="90000"/>
              </a:lnSpc>
              <a:spcBef>
                <a:spcPts val="600"/>
              </a:spcBef>
              <a:spcAft>
                <a:spcPts val="0"/>
              </a:spcAft>
              <a:buSzPts val="1600"/>
              <a:buNone/>
            </a:pPr>
            <a:endParaRPr dirty="0"/>
          </a:p>
          <a:p>
            <a:pPr marL="804672" lvl="3" indent="0" algn="l" rtl="0">
              <a:lnSpc>
                <a:spcPct val="90000"/>
              </a:lnSpc>
              <a:spcBef>
                <a:spcPts val="600"/>
              </a:spcBef>
              <a:spcAft>
                <a:spcPts val="0"/>
              </a:spcAft>
              <a:buSzPts val="1600"/>
              <a:buNone/>
            </a:pPr>
            <a:endParaRPr dirty="0"/>
          </a:p>
          <a:p>
            <a:pPr marL="804672" lvl="3" indent="0" algn="l" rtl="0">
              <a:lnSpc>
                <a:spcPct val="90000"/>
              </a:lnSpc>
              <a:spcBef>
                <a:spcPts val="600"/>
              </a:spcBef>
              <a:spcAft>
                <a:spcPts val="0"/>
              </a:spcAft>
              <a:buSzPts val="1600"/>
              <a:buNone/>
            </a:pP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08"/>
        <p:cNvGrpSpPr/>
        <p:nvPr/>
      </p:nvGrpSpPr>
      <p:grpSpPr>
        <a:xfrm>
          <a:off x="0" y="0"/>
          <a:ext cx="0" cy="0"/>
          <a:chOff x="0" y="0"/>
          <a:chExt cx="0" cy="0"/>
        </a:xfrm>
      </p:grpSpPr>
      <p:sp>
        <p:nvSpPr>
          <p:cNvPr id="1509" name="Google Shape;1509;p32"/>
          <p:cNvSpPr txBox="1">
            <a:spLocks noGrp="1"/>
          </p:cNvSpPr>
          <p:nvPr>
            <p:ph type="body" idx="1"/>
          </p:nvPr>
        </p:nvSpPr>
        <p:spPr>
          <a:xfrm>
            <a:off x="1674811" y="1905000"/>
            <a:ext cx="4776065" cy="4267200"/>
          </a:xfrm>
          <a:prstGeom prst="rect">
            <a:avLst/>
          </a:prstGeom>
          <a:noFill/>
          <a:ln>
            <a:noFill/>
          </a:ln>
        </p:spPr>
        <p:txBody>
          <a:bodyPr spcFirstLastPara="1" wrap="square" lIns="91425" tIns="45700" rIns="91425" bIns="45700" anchor="t" anchorCtr="0">
            <a:noAutofit/>
          </a:bodyPr>
          <a:lstStyle/>
          <a:p>
            <a:pPr marL="576072" lvl="2" indent="0" algn="l" rtl="0">
              <a:lnSpc>
                <a:spcPct val="90000"/>
              </a:lnSpc>
              <a:spcBef>
                <a:spcPts val="0"/>
              </a:spcBef>
              <a:spcAft>
                <a:spcPts val="0"/>
              </a:spcAft>
              <a:buSzPts val="1440"/>
              <a:buNone/>
            </a:pPr>
            <a:r>
              <a:rPr lang="en-US"/>
              <a:t>We’ll define a policy network that defines the agent (i.e. car)</a:t>
            </a:r>
            <a:endParaRPr/>
          </a:p>
          <a:p>
            <a:pPr marL="861822" lvl="2" indent="-194309" algn="l" rtl="0">
              <a:lnSpc>
                <a:spcPct val="90000"/>
              </a:lnSpc>
              <a:spcBef>
                <a:spcPts val="600"/>
              </a:spcBef>
              <a:spcAft>
                <a:spcPts val="0"/>
              </a:spcAft>
              <a:buSzPts val="1440"/>
              <a:buNone/>
            </a:pPr>
            <a:endParaRPr/>
          </a:p>
          <a:p>
            <a:pPr marL="576072" lvl="2" indent="0" algn="l" rtl="0">
              <a:lnSpc>
                <a:spcPct val="90000"/>
              </a:lnSpc>
              <a:spcBef>
                <a:spcPts val="600"/>
              </a:spcBef>
              <a:spcAft>
                <a:spcPts val="0"/>
              </a:spcAft>
              <a:buSzPts val="1440"/>
              <a:buNone/>
            </a:pPr>
            <a:r>
              <a:rPr lang="en-US"/>
              <a:t>The network will take the state of the agent (i.e. 10 sensors) and will output which state is the most probable one.</a:t>
            </a:r>
            <a:endParaRPr/>
          </a:p>
          <a:p>
            <a:pPr marL="576072" lvl="2" indent="0" algn="l" rtl="0">
              <a:lnSpc>
                <a:spcPct val="90000"/>
              </a:lnSpc>
              <a:spcBef>
                <a:spcPts val="600"/>
              </a:spcBef>
              <a:spcAft>
                <a:spcPts val="0"/>
              </a:spcAft>
              <a:buSzPts val="1440"/>
              <a:buNone/>
            </a:pPr>
            <a:endParaRPr/>
          </a:p>
          <a:p>
            <a:pPr marL="576072" lvl="2" indent="0" algn="l" rtl="0">
              <a:lnSpc>
                <a:spcPct val="90000"/>
              </a:lnSpc>
              <a:spcBef>
                <a:spcPts val="600"/>
              </a:spcBef>
              <a:spcAft>
                <a:spcPts val="0"/>
              </a:spcAft>
              <a:buSzPts val="1440"/>
              <a:buNone/>
            </a:pPr>
            <a:r>
              <a:rPr lang="en-US"/>
              <a:t>We will train the network using gradient descent in order to </a:t>
            </a:r>
            <a:r>
              <a:rPr lang="en-US" b="1"/>
              <a:t>maximize </a:t>
            </a:r>
            <a:r>
              <a:rPr lang="en-US"/>
              <a:t>the reward</a:t>
            </a:r>
            <a:endParaRPr/>
          </a:p>
          <a:p>
            <a:pPr marL="576072" lvl="2" indent="0" algn="l" rtl="0">
              <a:lnSpc>
                <a:spcPct val="90000"/>
              </a:lnSpc>
              <a:spcBef>
                <a:spcPts val="600"/>
              </a:spcBef>
              <a:spcAft>
                <a:spcPts val="0"/>
              </a:spcAft>
              <a:buSzPts val="1440"/>
              <a:buNone/>
            </a:pPr>
            <a:endParaRPr/>
          </a:p>
          <a:p>
            <a:pPr marL="576072" lvl="2" indent="0" algn="l" rtl="0">
              <a:lnSpc>
                <a:spcPct val="90000"/>
              </a:lnSpc>
              <a:spcBef>
                <a:spcPts val="600"/>
              </a:spcBef>
              <a:spcAft>
                <a:spcPts val="0"/>
              </a:spcAft>
              <a:buSzPts val="1440"/>
              <a:buNone/>
            </a:pPr>
            <a:r>
              <a:rPr lang="en-US"/>
              <a:t>So the reward function will act similar to our cost function</a:t>
            </a:r>
            <a:endParaRPr/>
          </a:p>
          <a:p>
            <a:pPr marL="576072" lvl="2" indent="0" algn="l" rtl="0">
              <a:lnSpc>
                <a:spcPct val="90000"/>
              </a:lnSpc>
              <a:spcBef>
                <a:spcPts val="600"/>
              </a:spcBef>
              <a:spcAft>
                <a:spcPts val="0"/>
              </a:spcAft>
              <a:buSzPts val="1440"/>
              <a:buNone/>
            </a:pPr>
            <a:endParaRPr/>
          </a:p>
          <a:p>
            <a:pPr marL="0" lvl="2" indent="0" algn="l" rtl="0">
              <a:lnSpc>
                <a:spcPct val="90000"/>
              </a:lnSpc>
              <a:spcBef>
                <a:spcPts val="600"/>
              </a:spcBef>
              <a:spcAft>
                <a:spcPts val="0"/>
              </a:spcAft>
              <a:buSzPts val="1440"/>
              <a:buNone/>
            </a:pP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p:txBody>
      </p:sp>
      <p:sp>
        <p:nvSpPr>
          <p:cNvPr id="1510" name="Google Shape;1510;p32"/>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11" name="Google Shape;1511;p32"/>
          <p:cNvSpPr/>
          <p:nvPr/>
        </p:nvSpPr>
        <p:spPr>
          <a:xfrm>
            <a:off x="8218454" y="4176654"/>
            <a:ext cx="1230917" cy="677004"/>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512" name="Google Shape;1512;p32"/>
          <p:cNvSpPr/>
          <p:nvPr/>
        </p:nvSpPr>
        <p:spPr>
          <a:xfrm>
            <a:off x="8294655" y="4252854"/>
            <a:ext cx="1230917" cy="677004"/>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513" name="Google Shape;1513;p32"/>
          <p:cNvSpPr/>
          <p:nvPr/>
        </p:nvSpPr>
        <p:spPr>
          <a:xfrm>
            <a:off x="8370856" y="4329054"/>
            <a:ext cx="1230917" cy="677004"/>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514" name="Google Shape;1514;p32"/>
          <p:cNvSpPr/>
          <p:nvPr/>
        </p:nvSpPr>
        <p:spPr>
          <a:xfrm>
            <a:off x="8466107" y="4393824"/>
            <a:ext cx="1230917" cy="677004"/>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entury Gothic"/>
                <a:ea typeface="Century Gothic"/>
                <a:cs typeface="Century Gothic"/>
                <a:sym typeface="Century Gothic"/>
              </a:rPr>
              <a:t>state</a:t>
            </a:r>
            <a:endParaRPr sz="1800">
              <a:solidFill>
                <a:schemeClr val="dk1"/>
              </a:solidFill>
              <a:latin typeface="Century Gothic"/>
              <a:ea typeface="Century Gothic"/>
              <a:cs typeface="Century Gothic"/>
              <a:sym typeface="Century Gothic"/>
            </a:endParaRPr>
          </a:p>
        </p:txBody>
      </p:sp>
      <p:cxnSp>
        <p:nvCxnSpPr>
          <p:cNvPr id="1515" name="Google Shape;1515;p32"/>
          <p:cNvCxnSpPr>
            <a:stCxn id="1511" idx="0"/>
            <a:endCxn id="1516" idx="2"/>
          </p:cNvCxnSpPr>
          <p:nvPr/>
        </p:nvCxnSpPr>
        <p:spPr>
          <a:xfrm rot="10800000">
            <a:off x="8833912" y="3666954"/>
            <a:ext cx="0" cy="509700"/>
          </a:xfrm>
          <a:prstGeom prst="straightConnector1">
            <a:avLst/>
          </a:prstGeom>
          <a:noFill/>
          <a:ln w="25400" cap="flat" cmpd="sng">
            <a:solidFill>
              <a:schemeClr val="dk1"/>
            </a:solidFill>
            <a:prstDash val="solid"/>
            <a:miter lim="800000"/>
            <a:headEnd type="none" w="sm" len="sm"/>
            <a:tailEnd type="triangle" w="med" len="med"/>
          </a:ln>
        </p:spPr>
      </p:cxnSp>
      <p:cxnSp>
        <p:nvCxnSpPr>
          <p:cNvPr id="1517" name="Google Shape;1517;p32"/>
          <p:cNvCxnSpPr>
            <a:stCxn id="1516" idx="0"/>
          </p:cNvCxnSpPr>
          <p:nvPr/>
        </p:nvCxnSpPr>
        <p:spPr>
          <a:xfrm rot="10800000">
            <a:off x="7381612" y="2820289"/>
            <a:ext cx="1452300" cy="457500"/>
          </a:xfrm>
          <a:prstGeom prst="straightConnector1">
            <a:avLst/>
          </a:prstGeom>
          <a:noFill/>
          <a:ln w="25400" cap="flat" cmpd="sng">
            <a:solidFill>
              <a:schemeClr val="dk1"/>
            </a:solidFill>
            <a:prstDash val="solid"/>
            <a:miter lim="800000"/>
            <a:headEnd type="none" w="sm" len="sm"/>
            <a:tailEnd type="triangle" w="med" len="med"/>
          </a:ln>
        </p:spPr>
      </p:cxnSp>
      <p:cxnSp>
        <p:nvCxnSpPr>
          <p:cNvPr id="1518" name="Google Shape;1518;p32"/>
          <p:cNvCxnSpPr>
            <a:stCxn id="1516" idx="0"/>
            <a:endCxn id="1519" idx="2"/>
          </p:cNvCxnSpPr>
          <p:nvPr/>
        </p:nvCxnSpPr>
        <p:spPr>
          <a:xfrm rot="10800000">
            <a:off x="8833912" y="2811889"/>
            <a:ext cx="0" cy="465900"/>
          </a:xfrm>
          <a:prstGeom prst="straightConnector1">
            <a:avLst/>
          </a:prstGeom>
          <a:noFill/>
          <a:ln w="25400" cap="flat" cmpd="sng">
            <a:solidFill>
              <a:schemeClr val="dk1"/>
            </a:solidFill>
            <a:prstDash val="solid"/>
            <a:miter lim="800000"/>
            <a:headEnd type="none" w="sm" len="sm"/>
            <a:tailEnd type="triangle" w="med" len="med"/>
          </a:ln>
        </p:spPr>
      </p:cxnSp>
      <p:sp>
        <p:nvSpPr>
          <p:cNvPr id="1520" name="Google Shape;1520;p32"/>
          <p:cNvSpPr/>
          <p:nvPr/>
        </p:nvSpPr>
        <p:spPr>
          <a:xfrm>
            <a:off x="9852746" y="2269670"/>
            <a:ext cx="1364200" cy="525957"/>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entury Gothic"/>
                <a:ea typeface="Century Gothic"/>
                <a:cs typeface="Century Gothic"/>
                <a:sym typeface="Century Gothic"/>
              </a:rPr>
              <a:t> </a:t>
            </a:r>
            <a:endParaRPr/>
          </a:p>
        </p:txBody>
      </p:sp>
      <p:cxnSp>
        <p:nvCxnSpPr>
          <p:cNvPr id="1521" name="Google Shape;1521;p32"/>
          <p:cNvCxnSpPr>
            <a:stCxn id="1516" idx="0"/>
            <a:endCxn id="1520" idx="2"/>
          </p:cNvCxnSpPr>
          <p:nvPr/>
        </p:nvCxnSpPr>
        <p:spPr>
          <a:xfrm rot="10800000" flipH="1">
            <a:off x="8833912" y="2795689"/>
            <a:ext cx="1701000" cy="482100"/>
          </a:xfrm>
          <a:prstGeom prst="straightConnector1">
            <a:avLst/>
          </a:prstGeom>
          <a:noFill/>
          <a:ln w="25400" cap="flat" cmpd="sng">
            <a:solidFill>
              <a:schemeClr val="dk1"/>
            </a:solidFill>
            <a:prstDash val="solid"/>
            <a:miter lim="800000"/>
            <a:headEnd type="none" w="sm" len="sm"/>
            <a:tailEnd type="triangle" w="med" len="med"/>
          </a:ln>
        </p:spPr>
      </p:cxnSp>
      <p:sp>
        <p:nvSpPr>
          <p:cNvPr id="1516" name="Google Shape;1516;p32"/>
          <p:cNvSpPr/>
          <p:nvPr/>
        </p:nvSpPr>
        <p:spPr>
          <a:xfrm>
            <a:off x="7805212" y="3277789"/>
            <a:ext cx="2057400" cy="389238"/>
          </a:xfrm>
          <a:prstGeom prst="rect">
            <a:avLst/>
          </a:prstGeom>
          <a:solidFill>
            <a:srgbClr val="BFBFBF"/>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Century Gothic"/>
                <a:ea typeface="Century Gothic"/>
                <a:cs typeface="Century Gothic"/>
                <a:sym typeface="Century Gothic"/>
              </a:rPr>
              <a:t>Network – hidden layers</a:t>
            </a:r>
            <a:endParaRPr sz="1200">
              <a:solidFill>
                <a:schemeClr val="dk1"/>
              </a:solidFill>
              <a:latin typeface="Century Gothic"/>
              <a:ea typeface="Century Gothic"/>
              <a:cs typeface="Century Gothic"/>
              <a:sym typeface="Century Gothic"/>
            </a:endParaRPr>
          </a:p>
        </p:txBody>
      </p:sp>
      <p:sp>
        <p:nvSpPr>
          <p:cNvPr id="1519" name="Google Shape;1519;p32"/>
          <p:cNvSpPr/>
          <p:nvPr/>
        </p:nvSpPr>
        <p:spPr>
          <a:xfrm>
            <a:off x="8151812" y="2286000"/>
            <a:ext cx="1364200" cy="525957"/>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entury Gothic"/>
                <a:ea typeface="Century Gothic"/>
                <a:cs typeface="Century Gothic"/>
                <a:sym typeface="Century Gothic"/>
              </a:rPr>
              <a:t> </a:t>
            </a:r>
            <a:endParaRPr/>
          </a:p>
        </p:txBody>
      </p:sp>
      <p:sp>
        <p:nvSpPr>
          <p:cNvPr id="1522" name="Google Shape;1522;p32"/>
          <p:cNvSpPr/>
          <p:nvPr/>
        </p:nvSpPr>
        <p:spPr>
          <a:xfrm>
            <a:off x="6450878" y="2286646"/>
            <a:ext cx="1364200" cy="525957"/>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entury Gothic"/>
                <a:ea typeface="Century Gothic"/>
                <a:cs typeface="Century Gothic"/>
                <a:sym typeface="Century Gothic"/>
              </a:rPr>
              <a:t> </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6"/>
        <p:cNvGrpSpPr/>
        <p:nvPr/>
      </p:nvGrpSpPr>
      <p:grpSpPr>
        <a:xfrm>
          <a:off x="0" y="0"/>
          <a:ext cx="0" cy="0"/>
          <a:chOff x="0" y="0"/>
          <a:chExt cx="0" cy="0"/>
        </a:xfrm>
      </p:grpSpPr>
      <p:sp>
        <p:nvSpPr>
          <p:cNvPr id="1527" name="Google Shape;1527;p33"/>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28" name="Google Shape;1528;p33"/>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dirty="0"/>
              <a:t>We need to define our Reward function based on the policy. Such that an update on the neural network (policy) will result in an increase of the reward.</a:t>
            </a:r>
            <a:endParaRPr sz="1800" dirty="0"/>
          </a:p>
          <a:p>
            <a:pPr marL="457200" lvl="0" indent="0" algn="l" rtl="0">
              <a:lnSpc>
                <a:spcPct val="90000"/>
              </a:lnSpc>
              <a:spcBef>
                <a:spcPts val="600"/>
              </a:spcBef>
              <a:spcAft>
                <a:spcPts val="0"/>
              </a:spcAft>
              <a:buNone/>
            </a:pPr>
            <a:br>
              <a:rPr lang="en-US" sz="1800" dirty="0"/>
            </a:br>
            <a:r>
              <a:rPr lang="en-US" sz="1800" dirty="0"/>
              <a:t>Our policy (based on the neural network(𝜃) is defined as below</a:t>
            </a:r>
            <a:endParaRPr sz="1800" dirty="0"/>
          </a:p>
          <a:p>
            <a:pPr marL="0" lvl="0" indent="0" algn="l" rtl="0">
              <a:lnSpc>
                <a:spcPct val="90000"/>
              </a:lnSpc>
              <a:spcBef>
                <a:spcPts val="600"/>
              </a:spcBef>
              <a:spcAft>
                <a:spcPts val="0"/>
              </a:spcAft>
              <a:buNone/>
            </a:pPr>
            <a:r>
              <a:rPr lang="en-US" sz="1800" dirty="0"/>
              <a:t>	</a:t>
            </a:r>
            <a:endParaRPr sz="1800" dirty="0"/>
          </a:p>
          <a:p>
            <a:pPr marL="0" lvl="0" indent="0" algn="l" rtl="0">
              <a:lnSpc>
                <a:spcPct val="90000"/>
              </a:lnSpc>
              <a:spcBef>
                <a:spcPts val="600"/>
              </a:spcBef>
              <a:spcAft>
                <a:spcPts val="0"/>
              </a:spcAft>
              <a:buNone/>
            </a:pPr>
            <a:r>
              <a:rPr lang="en-US" sz="1800" dirty="0"/>
              <a:t>	</a:t>
            </a:r>
            <a:endParaRPr sz="1800" dirty="0"/>
          </a:p>
          <a:p>
            <a:pPr marL="0" lvl="0" indent="0" algn="l" rtl="0">
              <a:lnSpc>
                <a:spcPct val="90000"/>
              </a:lnSpc>
              <a:spcBef>
                <a:spcPts val="600"/>
              </a:spcBef>
              <a:spcAft>
                <a:spcPts val="0"/>
              </a:spcAft>
              <a:buNone/>
            </a:pPr>
            <a:r>
              <a:rPr lang="en-US" sz="1800" dirty="0"/>
              <a:t>	</a:t>
            </a:r>
            <a:endParaRPr sz="1800" dirty="0"/>
          </a:p>
          <a:p>
            <a:pPr marL="457200" lvl="0" indent="0" algn="l" rtl="0">
              <a:spcBef>
                <a:spcPts val="600"/>
              </a:spcBef>
              <a:spcAft>
                <a:spcPts val="0"/>
              </a:spcAft>
              <a:buNone/>
            </a:pPr>
            <a:r>
              <a:rPr lang="en-US" sz="1800" dirty="0"/>
              <a:t>Based on the policy, we can define our value function, that we want to maximize</a:t>
            </a:r>
            <a:endParaRPr sz="1800" dirty="0"/>
          </a:p>
          <a:p>
            <a:pPr marL="457200" lvl="0" indent="0" algn="l" rtl="0">
              <a:spcBef>
                <a:spcPts val="600"/>
              </a:spcBef>
              <a:spcAft>
                <a:spcPts val="0"/>
              </a:spcAft>
              <a:buClr>
                <a:schemeClr val="dk1"/>
              </a:buClr>
              <a:buSzPts val="1100"/>
              <a:buFont typeface="Arial"/>
              <a:buNone/>
            </a:pPr>
            <a:endParaRPr sz="1800" dirty="0"/>
          </a:p>
          <a:p>
            <a:pPr marL="0" lvl="0" indent="0" algn="l" rtl="0">
              <a:lnSpc>
                <a:spcPct val="90000"/>
              </a:lnSpc>
              <a:spcBef>
                <a:spcPts val="600"/>
              </a:spcBef>
              <a:spcAft>
                <a:spcPts val="0"/>
              </a:spcAft>
              <a:buNone/>
            </a:pPr>
            <a:endParaRPr sz="1800" dirty="0"/>
          </a:p>
          <a:p>
            <a:pPr marL="0" lvl="0" indent="0" algn="l" rtl="0">
              <a:lnSpc>
                <a:spcPct val="90000"/>
              </a:lnSpc>
              <a:spcBef>
                <a:spcPts val="600"/>
              </a:spcBef>
              <a:spcAft>
                <a:spcPts val="0"/>
              </a:spcAft>
              <a:buNone/>
            </a:pPr>
            <a:r>
              <a:rPr lang="en-US" sz="1800" dirty="0"/>
              <a:t>	</a:t>
            </a:r>
            <a:endParaRPr sz="1800" dirty="0"/>
          </a:p>
          <a:p>
            <a:pPr marL="914400" lvl="0" indent="0" algn="l" rtl="0">
              <a:lnSpc>
                <a:spcPct val="90000"/>
              </a:lnSpc>
              <a:spcBef>
                <a:spcPts val="600"/>
              </a:spcBef>
              <a:spcAft>
                <a:spcPts val="0"/>
              </a:spcAft>
              <a:buNone/>
            </a:pPr>
            <a:endParaRPr dirty="0"/>
          </a:p>
          <a:p>
            <a:pPr marL="0" lvl="0" indent="0" algn="l" rtl="0">
              <a:lnSpc>
                <a:spcPct val="90000"/>
              </a:lnSpc>
              <a:spcBef>
                <a:spcPts val="600"/>
              </a:spcBef>
              <a:spcAft>
                <a:spcPts val="0"/>
              </a:spcAft>
              <a:buNone/>
            </a:pPr>
            <a:endParaRPr sz="1800" dirty="0"/>
          </a:p>
          <a:p>
            <a:pPr marL="804672" lvl="3" indent="0" algn="l" rtl="0">
              <a:lnSpc>
                <a:spcPct val="90000"/>
              </a:lnSpc>
              <a:spcBef>
                <a:spcPts val="600"/>
              </a:spcBef>
              <a:spcAft>
                <a:spcPts val="0"/>
              </a:spcAft>
              <a:buSzPts val="1600"/>
              <a:buNone/>
            </a:pPr>
            <a:endParaRPr dirty="0"/>
          </a:p>
          <a:p>
            <a:pPr marL="804672" lvl="3" indent="0" algn="l" rtl="0">
              <a:lnSpc>
                <a:spcPct val="90000"/>
              </a:lnSpc>
              <a:spcBef>
                <a:spcPts val="600"/>
              </a:spcBef>
              <a:spcAft>
                <a:spcPts val="0"/>
              </a:spcAft>
              <a:buSzPts val="1600"/>
              <a:buNone/>
            </a:pPr>
            <a:endParaRPr dirty="0"/>
          </a:p>
          <a:p>
            <a:pPr marL="804672" lvl="3" indent="0" algn="l" rtl="0">
              <a:lnSpc>
                <a:spcPct val="90000"/>
              </a:lnSpc>
              <a:spcBef>
                <a:spcPts val="600"/>
              </a:spcBef>
              <a:spcAft>
                <a:spcPts val="0"/>
              </a:spcAft>
              <a:buSzPts val="1600"/>
              <a:buNone/>
            </a:pP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p:txBody>
      </p:sp>
      <p:pic>
        <p:nvPicPr>
          <p:cNvPr id="1529" name="Google Shape;1529;p33"/>
          <p:cNvPicPr preferRelativeResize="0"/>
          <p:nvPr/>
        </p:nvPicPr>
        <p:blipFill>
          <a:blip r:embed="rId3">
            <a:alphaModFix/>
          </a:blip>
          <a:stretch>
            <a:fillRect/>
          </a:stretch>
        </p:blipFill>
        <p:spPr>
          <a:xfrm>
            <a:off x="2651974" y="3257275"/>
            <a:ext cx="2559626" cy="383950"/>
          </a:xfrm>
          <a:prstGeom prst="rect">
            <a:avLst/>
          </a:prstGeom>
          <a:noFill/>
          <a:ln>
            <a:noFill/>
          </a:ln>
        </p:spPr>
      </p:pic>
      <p:pic>
        <p:nvPicPr>
          <p:cNvPr id="1530" name="Google Shape;1530;p33" descr="&lt;math xmlns=&quot;http://www.w3.org/1998/Math/MathML&quot;&gt;&lt;mi&gt;J&lt;/mi&gt;&lt;mfenced&gt;&lt;mi&gt;&amp;#x3B8;&lt;/mi&gt;&lt;/mfenced&gt;&lt;mo&gt;=&lt;/mo&gt;&lt;mi mathvariant=&quot;double-struck&quot;&gt;E&lt;/mi&gt;&lt;mo&gt;&amp;#xA0;&lt;/mo&gt;&lt;mfenced open=&quot;[&quot; close=&quot;]&quot;&gt;&lt;mrow&gt;&lt;mstyle displaystyle=&quot;false&quot;&gt;&lt;munderover&gt;&lt;mo&gt;&amp;#x2211;&lt;/mo&gt;&lt;mrow&gt;&lt;mi&gt;t&lt;/mi&gt;&lt;mo&gt;=&lt;/mo&gt;&lt;mn&gt;0&lt;/mn&gt;&lt;/mrow&gt;&lt;mrow&gt;&lt;mi&gt;t&lt;/mi&gt;&lt;mo&gt;=&lt;/mo&gt;&lt;mi&gt;T&lt;/mi&gt;&lt;mo&gt;-&lt;/mo&gt;&lt;mn&gt;1&lt;/mn&gt;&lt;/mrow&gt;&lt;/munderover&gt;&lt;/mstyle&gt;&lt;mo&gt;&amp;#xA0;&lt;/mo&gt;&lt;msub&gt;&lt;mi&gt;r&lt;/mi&gt;&lt;mrow&gt;&lt;mi&gt;t&lt;/mi&gt;&lt;mo&gt;+&lt;/mo&gt;&lt;mn&gt;1&lt;/mn&gt;&lt;/mrow&gt;&lt;/msub&gt;&lt;mo&gt;&amp;#xA0;&lt;/mo&gt;&lt;menclose notation=&quot;left&quot;/&gt;&lt;msub&gt;&lt;mi mathvariant=&quot;normal&quot;&gt;&amp;#x3C0;&lt;/mi&gt;&lt;mi mathvariant=&quot;normal&quot;&gt;&amp;#x3B8;&lt;/mi&gt;&lt;/msub&gt;&lt;/mrow&gt;&lt;/mfenced&gt;&lt;/math&gt;" title="J open parentheses theta close parentheses equals double-struck E space open square brackets begin inline style sum from t equals 0 to t equals T minus 1 of end style space r subscript t plus 1 end subscript space left enclose blank end enclose straight pi subscript straight theta close square brackets"/>
          <p:cNvPicPr preferRelativeResize="0"/>
          <p:nvPr/>
        </p:nvPicPr>
        <p:blipFill>
          <a:blip r:embed="rId4">
            <a:alphaModFix/>
          </a:blip>
          <a:stretch>
            <a:fillRect/>
          </a:stretch>
        </p:blipFill>
        <p:spPr>
          <a:xfrm>
            <a:off x="2476475" y="4815250"/>
            <a:ext cx="4708649" cy="7149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4"/>
        <p:cNvGrpSpPr/>
        <p:nvPr/>
      </p:nvGrpSpPr>
      <p:grpSpPr>
        <a:xfrm>
          <a:off x="0" y="0"/>
          <a:ext cx="0" cy="0"/>
          <a:chOff x="0" y="0"/>
          <a:chExt cx="0" cy="0"/>
        </a:xfrm>
      </p:grpSpPr>
      <p:sp>
        <p:nvSpPr>
          <p:cNvPr id="1535" name="Google Shape;1535;p34"/>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36" name="Google Shape;1536;p34"/>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Having a full episode starting from the first state, and following our policy </a:t>
            </a:r>
            <a:br>
              <a:rPr lang="en-US" sz="1800" i="1">
                <a:latin typeface="Times New Roman"/>
                <a:ea typeface="Times New Roman"/>
                <a:cs typeface="Times New Roman"/>
                <a:sym typeface="Times New Roman"/>
              </a:rPr>
            </a:br>
            <a:br>
              <a:rPr lang="en-US" sz="1800" i="1">
                <a:latin typeface="Times New Roman"/>
                <a:ea typeface="Times New Roman"/>
                <a:cs typeface="Times New Roman"/>
                <a:sym typeface="Times New Roman"/>
              </a:rPr>
            </a:br>
            <a:br>
              <a:rPr lang="en-US" sz="1800" i="1">
                <a:latin typeface="Times New Roman"/>
                <a:ea typeface="Times New Roman"/>
                <a:cs typeface="Times New Roman"/>
                <a:sym typeface="Times New Roman"/>
              </a:rPr>
            </a:br>
            <a:endParaRPr sz="1800" i="1">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t>We compute the objective function</a:t>
            </a:r>
            <a:br>
              <a:rPr lang="en-US" sz="1800"/>
            </a:br>
            <a:br>
              <a:rPr lang="en-US" sz="1800"/>
            </a:br>
            <a:br>
              <a:rPr lang="en-US" sz="1800"/>
            </a:br>
            <a:endParaRPr sz="1800"/>
          </a:p>
          <a:p>
            <a:pPr marL="457200" lvl="0" indent="-342900" algn="l" rtl="0">
              <a:spcBef>
                <a:spcPts val="0"/>
              </a:spcBef>
              <a:spcAft>
                <a:spcPts val="0"/>
              </a:spcAft>
              <a:buSzPts val="1800"/>
              <a:buChar char="●"/>
            </a:pPr>
            <a:r>
              <a:rPr lang="en-US" sz="1800"/>
              <a:t>We compute the gradient of the Objective function w.r.t. 𝜃</a:t>
            </a:r>
            <a:br>
              <a:rPr lang="en-US" sz="1800"/>
            </a:br>
            <a:br>
              <a:rPr lang="en-US" sz="1800"/>
            </a:br>
            <a:br>
              <a:rPr lang="en-US" sz="1800"/>
            </a:br>
            <a:endParaRPr sz="1800"/>
          </a:p>
          <a:p>
            <a:pPr marL="457200" lvl="0" indent="-342900" algn="l" rtl="0">
              <a:spcBef>
                <a:spcPts val="0"/>
              </a:spcBef>
              <a:spcAft>
                <a:spcPts val="0"/>
              </a:spcAft>
              <a:buSzPts val="1800"/>
              <a:buChar char="●"/>
            </a:pPr>
            <a:r>
              <a:rPr lang="en-US" sz="1800"/>
              <a:t>We update the network weights, to increase the value of the Objective function:</a:t>
            </a:r>
            <a:br>
              <a:rPr lang="en-US" sz="1800"/>
            </a:br>
            <a:endParaRPr sz="1800"/>
          </a:p>
          <a:p>
            <a:pPr marL="0" lvl="0" indent="0" algn="l" rtl="0">
              <a:lnSpc>
                <a:spcPct val="90000"/>
              </a:lnSpc>
              <a:spcBef>
                <a:spcPts val="600"/>
              </a:spcBef>
              <a:spcAft>
                <a:spcPts val="0"/>
              </a:spcAft>
              <a:buNone/>
            </a:pPr>
            <a:endParaRPr sz="1800"/>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804672" lvl="3" indent="0" algn="l" rtl="0">
              <a:lnSpc>
                <a:spcPct val="90000"/>
              </a:lnSpc>
              <a:spcBef>
                <a:spcPts val="600"/>
              </a:spcBef>
              <a:spcAft>
                <a:spcPts val="0"/>
              </a:spcAft>
              <a:buSzPts val="16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p:txBody>
      </p:sp>
      <p:pic>
        <p:nvPicPr>
          <p:cNvPr id="1537" name="Google Shape;1537;p34" descr="&lt;math xmlns=&quot;http://www.w3.org/1998/Math/MathML&quot;&gt;&lt;mstyle mathsize=&quot;18px&quot;&gt;&lt;mi&gt;P&lt;/mi&gt;&lt;mi&gt;o&lt;/mi&gt;&lt;mi&gt;l&lt;/mi&gt;&lt;mi&gt;i&lt;/mi&gt;&lt;mi&gt;c&lt;/mi&gt;&lt;mi&gt;y&lt;/mi&gt;&lt;mo&gt;:&lt;/mo&gt;&lt;mo&gt;&amp;#xA0;&lt;/mo&gt;&lt;msub&gt;&lt;mi mathvariant=&quot;normal&quot;&gt;&amp;#x3C0;&lt;/mi&gt;&lt;mi&gt;&amp;#x3B8;&lt;/mi&gt;&lt;/msub&gt;&lt;/mstyle&gt;&lt;/math&gt;" title="begin mathsize 18px style P o l i c y colon space straight pi subscript theta end style"/>
          <p:cNvPicPr preferRelativeResize="0"/>
          <p:nvPr/>
        </p:nvPicPr>
        <p:blipFill>
          <a:blip r:embed="rId3">
            <a:alphaModFix/>
          </a:blip>
          <a:stretch>
            <a:fillRect/>
          </a:stretch>
        </p:blipFill>
        <p:spPr>
          <a:xfrm>
            <a:off x="3271025" y="2423400"/>
            <a:ext cx="1403793" cy="383950"/>
          </a:xfrm>
          <a:prstGeom prst="rect">
            <a:avLst/>
          </a:prstGeom>
          <a:noFill/>
          <a:ln>
            <a:noFill/>
          </a:ln>
        </p:spPr>
      </p:pic>
      <p:pic>
        <p:nvPicPr>
          <p:cNvPr id="1538" name="Google Shape;1538;p34" descr="&lt;math xmlns=&quot;http://www.w3.org/1998/Math/MathML&quot;&gt;&lt;mi&gt;O&lt;/mi&gt;&lt;mi&gt;b&lt;/mi&gt;&lt;mi&gt;j&lt;/mi&gt;&lt;mi&gt;e&lt;/mi&gt;&lt;mi&gt;c&lt;/mi&gt;&lt;mi&gt;t&lt;/mi&gt;&lt;mi&gt;i&lt;/mi&gt;&lt;mi&gt;v&lt;/mi&gt;&lt;mi&gt;e&lt;/mi&gt;&lt;mo&gt;&amp;#xA0;&lt;/mo&gt;&lt;mi&gt;F&lt;/mi&gt;&lt;mi&gt;u&lt;/mi&gt;&lt;mi&gt;n&lt;/mi&gt;&lt;mi&gt;c&lt;/mi&gt;&lt;mi&gt;t&lt;/mi&gt;&lt;mi&gt;i&lt;/mi&gt;&lt;mi&gt;o&lt;/mi&gt;&lt;mi&gt;n&lt;/mi&gt;&lt;mo&gt;:&lt;/mo&gt;&lt;mo&gt;&amp;#xA0;&lt;/mo&gt;&lt;mi&gt;J&lt;/mi&gt;&lt;mfenced&gt;&lt;mi&gt;&amp;#x3B8;&lt;/mi&gt;&lt;/mfenced&gt;&lt;/math&gt;" title="O b j e c t i v e space F u n c t i o n colon space J open parentheses theta close parentheses"/>
          <p:cNvPicPr preferRelativeResize="0"/>
          <p:nvPr/>
        </p:nvPicPr>
        <p:blipFill>
          <a:blip r:embed="rId4">
            <a:alphaModFix/>
          </a:blip>
          <a:stretch>
            <a:fillRect/>
          </a:stretch>
        </p:blipFill>
        <p:spPr>
          <a:xfrm>
            <a:off x="3271025" y="3444850"/>
            <a:ext cx="3548475" cy="297900"/>
          </a:xfrm>
          <a:prstGeom prst="rect">
            <a:avLst/>
          </a:prstGeom>
          <a:noFill/>
          <a:ln>
            <a:noFill/>
          </a:ln>
        </p:spPr>
      </p:pic>
      <p:pic>
        <p:nvPicPr>
          <p:cNvPr id="1539" name="Google Shape;1539;p34" descr="&lt;math xmlns=&quot;http://www.w3.org/1998/Math/MathML&quot;&gt;&lt;msub&gt;&lt;mo&gt;&amp;#x2207;&lt;/mo&gt;&lt;mi&gt;&amp;#x3B8;&lt;/mi&gt;&lt;/msub&gt;&lt;mfenced&gt;&lt;msub&gt;&lt;mi&gt;J&lt;/mi&gt;&lt;mi&gt;&amp;#x3B8;&lt;/mi&gt;&lt;/msub&gt;&lt;/mfenced&gt;&lt;/math&gt;" title="nabla subscript theta open parentheses J subscript theta close parentheses"/>
          <p:cNvPicPr preferRelativeResize="0"/>
          <p:nvPr/>
        </p:nvPicPr>
        <p:blipFill>
          <a:blip r:embed="rId5">
            <a:alphaModFix/>
          </a:blip>
          <a:stretch>
            <a:fillRect/>
          </a:stretch>
        </p:blipFill>
        <p:spPr>
          <a:xfrm>
            <a:off x="3271025" y="4437300"/>
            <a:ext cx="1102698" cy="383950"/>
          </a:xfrm>
          <a:prstGeom prst="rect">
            <a:avLst/>
          </a:prstGeom>
          <a:noFill/>
          <a:ln>
            <a:noFill/>
          </a:ln>
        </p:spPr>
      </p:pic>
      <p:pic>
        <p:nvPicPr>
          <p:cNvPr id="1540" name="Google Shape;1540;p34" descr="&lt;math xmlns=&quot;http://www.w3.org/1998/Math/MathML&quot;&gt;&lt;mi&gt;&amp;#x3B8;&lt;/mi&gt;&lt;mo&gt;=&lt;/mo&gt;&lt;mi&gt;&amp;#x3B8;&lt;/mi&gt;&lt;mo&gt;+&lt;/mo&gt;&lt;mi&gt;&amp;#x3B1;&lt;/mi&gt;&lt;msub&gt;&lt;mo&gt;&amp;#x2207;&lt;/mo&gt;&lt;mi&gt;&amp;#x3B8;&lt;/mi&gt;&lt;/msub&gt;&lt;mi&gt;J&lt;/mi&gt;&lt;mfenced&gt;&lt;mi&gt;&amp;#x3B8;&lt;/mi&gt;&lt;/mfenced&gt;&lt;/math&gt;" title="theta equals theta plus alpha nabla subscript theta J open parentheses theta close parentheses"/>
          <p:cNvPicPr preferRelativeResize="0"/>
          <p:nvPr/>
        </p:nvPicPr>
        <p:blipFill>
          <a:blip r:embed="rId6">
            <a:alphaModFix/>
          </a:blip>
          <a:stretch>
            <a:fillRect/>
          </a:stretch>
        </p:blipFill>
        <p:spPr>
          <a:xfrm>
            <a:off x="3237037" y="5692225"/>
            <a:ext cx="2514376" cy="3839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5"/>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46" name="Google Shape;1546;p35"/>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The hardest part is to understand how we obtain the gradient: </a:t>
            </a:r>
            <a:br>
              <a:rPr lang="en-US" sz="1800"/>
            </a:br>
            <a:br>
              <a:rPr lang="en-US" sz="1800"/>
            </a:br>
            <a:r>
              <a:rPr lang="en-US" sz="1800"/>
              <a:t>We first expand the expectation:</a:t>
            </a:r>
            <a:br>
              <a:rPr lang="en-US" sz="1800"/>
            </a:br>
            <a:endParaRPr sz="1800"/>
          </a:p>
          <a:p>
            <a:pPr marL="914400" lvl="1" indent="-342900" algn="l" rtl="0">
              <a:lnSpc>
                <a:spcPct val="90000"/>
              </a:lnSpc>
              <a:spcBef>
                <a:spcPts val="0"/>
              </a:spcBef>
              <a:spcAft>
                <a:spcPts val="0"/>
              </a:spcAft>
              <a:buSzPts val="1800"/>
              <a:buChar char="○"/>
            </a:pPr>
            <a:endParaRPr/>
          </a:p>
          <a:p>
            <a:pPr marL="0" lvl="0" indent="0" algn="l" rtl="0">
              <a:lnSpc>
                <a:spcPct val="90000"/>
              </a:lnSpc>
              <a:spcBef>
                <a:spcPts val="600"/>
              </a:spcBef>
              <a:spcAft>
                <a:spcPts val="0"/>
              </a:spcAft>
              <a:buNone/>
            </a:pPr>
            <a:r>
              <a:rPr lang="en-US"/>
              <a:t>	</a:t>
            </a:r>
            <a:endParaRPr/>
          </a:p>
          <a:p>
            <a:pPr marL="0" lvl="0" indent="457200" algn="l" rtl="0">
              <a:lnSpc>
                <a:spcPct val="90000"/>
              </a:lnSpc>
              <a:spcBef>
                <a:spcPts val="600"/>
              </a:spcBef>
              <a:spcAft>
                <a:spcPts val="0"/>
              </a:spcAft>
              <a:buNone/>
            </a:pPr>
            <a:r>
              <a:rPr lang="en-US" sz="1800"/>
              <a:t>We differentiate w.r.t 𝜃</a:t>
            </a:r>
            <a:endParaRPr sz="1800"/>
          </a:p>
          <a:p>
            <a:pPr marL="914400" lvl="0" indent="-342900" algn="l" rtl="0">
              <a:lnSpc>
                <a:spcPct val="90000"/>
              </a:lnSpc>
              <a:spcBef>
                <a:spcPts val="600"/>
              </a:spcBef>
              <a:spcAft>
                <a:spcPts val="0"/>
              </a:spcAft>
              <a:buSzPts val="1800"/>
              <a:buChar char="●"/>
            </a:pPr>
            <a:endParaRPr sz="1800"/>
          </a:p>
          <a:p>
            <a:pPr marL="0" lvl="0" indent="0" algn="l" rtl="0">
              <a:lnSpc>
                <a:spcPct val="90000"/>
              </a:lnSpc>
              <a:spcBef>
                <a:spcPts val="600"/>
              </a:spcBef>
              <a:spcAft>
                <a:spcPts val="0"/>
              </a:spcAft>
              <a:buNone/>
            </a:pPr>
            <a:endParaRPr sz="1800"/>
          </a:p>
          <a:p>
            <a:pPr marL="0" lvl="3" indent="0" algn="l" rtl="0">
              <a:lnSpc>
                <a:spcPct val="90000"/>
              </a:lnSpc>
              <a:spcBef>
                <a:spcPts val="600"/>
              </a:spcBef>
              <a:spcAft>
                <a:spcPts val="0"/>
              </a:spcAft>
              <a:buSzPts val="1600"/>
              <a:buNone/>
            </a:pPr>
            <a:r>
              <a:rPr lang="en-US"/>
              <a:t>	We use the following observation: </a:t>
            </a:r>
            <a:endParaRPr/>
          </a:p>
          <a:p>
            <a:pPr marL="0" lvl="3" indent="0" algn="l" rtl="0">
              <a:lnSpc>
                <a:spcPct val="90000"/>
              </a:lnSpc>
              <a:spcBef>
                <a:spcPts val="600"/>
              </a:spcBef>
              <a:spcAft>
                <a:spcPts val="0"/>
              </a:spcAft>
              <a:buSzPts val="1600"/>
              <a:buNone/>
            </a:pPr>
            <a:r>
              <a:rPr lang="en-US"/>
              <a:t>		</a:t>
            </a:r>
            <a:endParaRPr/>
          </a:p>
          <a:p>
            <a:pPr marL="804672" lvl="3" indent="0" algn="l" rtl="0">
              <a:lnSpc>
                <a:spcPct val="90000"/>
              </a:lnSpc>
              <a:spcBef>
                <a:spcPts val="600"/>
              </a:spcBef>
              <a:spcAft>
                <a:spcPts val="0"/>
              </a:spcAft>
              <a:buSzPts val="16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a:p>
            <a:pPr marL="548640" lvl="1" indent="-147320" algn="l" rtl="0">
              <a:lnSpc>
                <a:spcPct val="90000"/>
              </a:lnSpc>
              <a:spcBef>
                <a:spcPts val="600"/>
              </a:spcBef>
              <a:spcAft>
                <a:spcPts val="0"/>
              </a:spcAft>
              <a:buSzPts val="2000"/>
              <a:buNone/>
            </a:pPr>
            <a:endParaRPr/>
          </a:p>
        </p:txBody>
      </p:sp>
      <p:pic>
        <p:nvPicPr>
          <p:cNvPr id="1547" name="Google Shape;1547;p35" descr="&lt;math xmlns=&quot;http://www.w3.org/1998/Math/MathML&quot;&gt;&lt;msub&gt;&lt;mo&gt;&amp;#x2207;&lt;/mo&gt;&lt;mi&gt;&amp;#x3B8;&lt;/mi&gt;&lt;/msub&gt;&lt;mfenced&gt;&lt;msub&gt;&lt;mi&gt;J&lt;/mi&gt;&lt;mi&gt;&amp;#x3B8;&lt;/mi&gt;&lt;/msub&gt;&lt;/mfenced&gt;&lt;/math&gt;" title="nabla subscript theta open parentheses J subscript theta close parentheses"/>
          <p:cNvPicPr preferRelativeResize="0"/>
          <p:nvPr/>
        </p:nvPicPr>
        <p:blipFill>
          <a:blip r:embed="rId3">
            <a:alphaModFix/>
          </a:blip>
          <a:stretch>
            <a:fillRect/>
          </a:stretch>
        </p:blipFill>
        <p:spPr>
          <a:xfrm>
            <a:off x="9200675" y="1994875"/>
            <a:ext cx="1102698" cy="383950"/>
          </a:xfrm>
          <a:prstGeom prst="rect">
            <a:avLst/>
          </a:prstGeom>
          <a:noFill/>
          <a:ln>
            <a:noFill/>
          </a:ln>
        </p:spPr>
      </p:pic>
      <p:pic>
        <p:nvPicPr>
          <p:cNvPr id="1548" name="Google Shape;1548;p35" descr="&lt;math xmlns=&quot;http://www.w3.org/1998/Math/MathML&quot;&gt;&lt;mi&gt;J&lt;/mi&gt;&lt;mfenced&gt;&lt;mi&gt;&amp;#x3B8;&lt;/mi&gt;&lt;/mfenced&gt;&lt;mo&gt;=&lt;/mo&gt;&lt;mi mathvariant=&quot;double-struck&quot;&gt;E&lt;/mi&gt;&lt;mo&gt;&amp;#xA0;&lt;/mo&gt;&lt;mfenced open=&quot;[&quot; close=&quot;]&quot;&gt;&lt;mrow&gt;&lt;mstyle displaystyle=&quot;false&quot;&gt;&lt;munderover&gt;&lt;mo&gt;&amp;#x2211;&lt;/mo&gt;&lt;mrow&gt;&lt;mi&gt;t&lt;/mi&gt;&lt;mo&gt;=&lt;/mo&gt;&lt;mn&gt;0&lt;/mn&gt;&lt;/mrow&gt;&lt;mrow&gt;&lt;mi&gt;t&lt;/mi&gt;&lt;mo&gt;=&lt;/mo&gt;&lt;mi&gt;T&lt;/mi&gt;&lt;mo&gt;-&lt;/mo&gt;&lt;mn&gt;1&lt;/mn&gt;&lt;/mrow&gt;&lt;/munderover&gt;&lt;/mstyle&gt;&lt;mo&gt;&amp;#xA0;&lt;/mo&gt;&lt;msub&gt;&lt;mi&gt;r&lt;/mi&gt;&lt;mrow&gt;&lt;mi&gt;t&lt;/mi&gt;&lt;mo&gt;+&lt;/mo&gt;&lt;mn&gt;1&lt;/mn&gt;&lt;/mrow&gt;&lt;/msub&gt;&lt;mo&gt;&amp;#xA0;&lt;/mo&gt;&lt;mo&gt;|&lt;/mo&gt;&lt;mo&gt;&amp;#xA0;&lt;/mo&gt;&lt;msub&gt;&lt;mi mathvariant=&quot;normal&quot;&gt;&amp;#x3C0;&lt;/mi&gt;&lt;mi mathvariant=&quot;normal&quot;&gt;&amp;#x3B8;&lt;/mi&gt;&lt;/msub&gt;&lt;/mrow&gt;&lt;/mfenced&gt;&lt;mo&gt;&amp;#xA0;&lt;/mo&gt;&lt;mo&gt;=&lt;/mo&gt;&lt;mo&gt;&amp;#xA0;&lt;/mo&gt;&lt;mstyle displaystyle=&quot;false&quot;&gt;&lt;munderover&gt;&lt;mo&gt;&amp;#x2211;&lt;/mo&gt;&lt;mrow&gt;&lt;mi&gt;t&lt;/mi&gt;&lt;mo&gt;=&lt;/mo&gt;&lt;mi&gt;i&lt;/mi&gt;&lt;/mrow&gt;&lt;mrow&gt;&lt;mi&gt;t&lt;/mi&gt;&lt;mo&gt;=&lt;/mo&gt;&lt;mi&gt;T&lt;/mi&gt;&lt;mo&gt;-&lt;/mo&gt;&lt;mn&gt;1&lt;/mn&gt;&lt;/mrow&gt;&lt;/munderover&gt;&lt;/mstyle&gt;&lt;mi&gt;P&lt;/mi&gt;&lt;mfenced&gt;&lt;mrow&gt;&lt;msub&gt;&lt;mi&gt;s&lt;/mi&gt;&lt;mi&gt;t&lt;/mi&gt;&lt;/msub&gt;&lt;mo&gt;,&lt;/mo&gt;&lt;msub&gt;&lt;mi&gt;a&lt;/mi&gt;&lt;mi&gt;t&lt;/mi&gt;&lt;/msub&gt;&lt;mo&gt;|&lt;/mo&gt;&lt;mo&gt;&amp;#xA0;&lt;/mo&gt;&lt;mi&gt;&amp;#x3C4;&lt;/mi&gt;&lt;/mrow&gt;&lt;/mfenced&gt;&lt;msub&gt;&lt;mi&gt;r&lt;/mi&gt;&lt;mrow&gt;&lt;mi&gt;t&lt;/mi&gt;&lt;mo&gt;+&lt;/mo&gt;&lt;mn&gt;1&lt;/mn&gt;&lt;/mrow&gt;&lt;/msub&gt;&lt;/math&gt;" title="J open parentheses theta close parentheses equals double-struck E space open square brackets begin inline style sum from t equals 0 to t equals T minus 1 of end style space r subscript t plus 1 end subscript space vertical line space straight pi subscript straight theta close square brackets space equals space begin inline style sum from t equals i to t equals T minus 1 of end style P open parentheses s subscript t comma a subscript t vertical line space tau close parentheses r subscript t plus 1 end subscript"/>
          <p:cNvPicPr preferRelativeResize="0"/>
          <p:nvPr/>
        </p:nvPicPr>
        <p:blipFill>
          <a:blip r:embed="rId4">
            <a:alphaModFix/>
          </a:blip>
          <a:stretch>
            <a:fillRect/>
          </a:stretch>
        </p:blipFill>
        <p:spPr>
          <a:xfrm>
            <a:off x="2689700" y="2991775"/>
            <a:ext cx="6934725" cy="541775"/>
          </a:xfrm>
          <a:prstGeom prst="rect">
            <a:avLst/>
          </a:prstGeom>
          <a:noFill/>
          <a:ln>
            <a:noFill/>
          </a:ln>
        </p:spPr>
      </p:pic>
      <p:pic>
        <p:nvPicPr>
          <p:cNvPr id="1549" name="Google Shape;1549;p35" descr="&lt;math xmlns=&quot;http://www.w3.org/1998/Math/MathML&quot;&gt;&lt;msub&gt;&lt;mo&gt;&amp;#x2207;&lt;/mo&gt;&lt;mi&gt;&amp;#x3B8;&lt;/mi&gt;&lt;/msub&gt;&lt;mi&gt;J&lt;/mi&gt;&lt;mfenced&gt;&lt;mi&gt;&amp;#x3B8;&lt;/mi&gt;&lt;/mfenced&gt;&lt;mo&gt;=&lt;/mo&gt;&lt;mo&gt;&amp;#xA0;&lt;/mo&gt;&lt;mstyle displaystyle=&quot;false&quot;&gt;&lt;munderover&gt;&lt;mo&gt;&amp;#x2211;&lt;/mo&gt;&lt;mrow&gt;&lt;mi&gt;t&lt;/mi&gt;&lt;mo&gt;=&lt;/mo&gt;&lt;mi&gt;i&lt;/mi&gt;&lt;/mrow&gt;&lt;mrow&gt;&lt;mi&gt;t&lt;/mi&gt;&lt;mo&gt;=&lt;/mo&gt;&lt;mi&gt;T&lt;/mi&gt;&lt;mo&gt;-&lt;/mo&gt;&lt;mn&gt;1&lt;/mn&gt;&lt;/mrow&gt;&lt;/munderover&gt;&lt;/mstyle&gt;&lt;msub&gt;&lt;mo&gt;&amp;#x2207;&lt;/mo&gt;&lt;mi&gt;&amp;#x3B8;&lt;/mi&gt;&lt;/msub&gt;&lt;mi&gt;P&lt;/mi&gt;&lt;mfenced&gt;&lt;mrow&gt;&lt;msub&gt;&lt;mi&gt;s&lt;/mi&gt;&lt;mi&gt;t&lt;/mi&gt;&lt;/msub&gt;&lt;mo&gt;,&lt;/mo&gt;&lt;msub&gt;&lt;mi&gt;a&lt;/mi&gt;&lt;mi&gt;t&lt;/mi&gt;&lt;/msub&gt;&lt;mo&gt;|&lt;/mo&gt;&lt;mo&gt;&amp;#xA0;&lt;/mo&gt;&lt;mi&gt;&amp;#x3C4;&lt;/mi&gt;&lt;/mrow&gt;&lt;/mfenced&gt;&lt;msub&gt;&lt;mi&gt;r&lt;/mi&gt;&lt;mrow&gt;&lt;mi&gt;t&lt;/mi&gt;&lt;mo&gt;+&lt;/mo&gt;&lt;mn&gt;1&lt;/mn&gt;&lt;/mrow&gt;&lt;/msub&gt;&lt;/math&gt;" title="nabla subscript theta J open parentheses theta close parentheses equals space begin inline style sum from t equals i to t equals T minus 1 of end style nabla subscript theta P open parentheses s subscript t comma a subscript t vertical line space tau close parentheses r subscript t plus 1 end subscript"/>
          <p:cNvPicPr preferRelativeResize="0"/>
          <p:nvPr/>
        </p:nvPicPr>
        <p:blipFill>
          <a:blip r:embed="rId5">
            <a:alphaModFix/>
          </a:blip>
          <a:stretch>
            <a:fillRect/>
          </a:stretch>
        </p:blipFill>
        <p:spPr>
          <a:xfrm>
            <a:off x="2645300" y="4039000"/>
            <a:ext cx="5789691" cy="590081"/>
          </a:xfrm>
          <a:prstGeom prst="rect">
            <a:avLst/>
          </a:prstGeom>
          <a:noFill/>
          <a:ln>
            <a:noFill/>
          </a:ln>
        </p:spPr>
      </p:pic>
      <p:pic>
        <p:nvPicPr>
          <p:cNvPr id="1550" name="Google Shape;1550;p35" descr="&lt;math xmlns=&quot;http://www.w3.org/1998/Math/MathML&quot;&gt;&lt;mi&gt;log&lt;/mi&gt;&lt;mo&gt;'&lt;/mo&gt;&lt;mi&gt;f&lt;/mi&gt;&lt;mfenced&gt;&lt;mi&gt;x&lt;/mi&gt;&lt;/mfenced&gt;&lt;mo&gt;=&lt;/mo&gt;&lt;mfrac&gt;&lt;mrow&gt;&lt;mi&gt;f&lt;/mi&gt;&lt;mo&gt;'&lt;/mo&gt;&lt;mfenced&gt;&lt;mi&gt;x&lt;/mi&gt;&lt;/mfenced&gt;&lt;/mrow&gt;&lt;mrow&gt;&lt;mi&gt;f&lt;/mi&gt;&lt;mfenced&gt;&lt;mi&gt;x&lt;/mi&gt;&lt;/mfenced&gt;&lt;/mrow&gt;&lt;/mfrac&gt;&lt;/math&gt;" title="log apostrophe f open parentheses x close parentheses equals fraction numerator f apostrophe open parentheses x close parentheses over denominator f open parentheses x close parentheses end fraction"/>
          <p:cNvPicPr preferRelativeResize="0"/>
          <p:nvPr/>
        </p:nvPicPr>
        <p:blipFill>
          <a:blip r:embed="rId6">
            <a:alphaModFix/>
          </a:blip>
          <a:stretch>
            <a:fillRect/>
          </a:stretch>
        </p:blipFill>
        <p:spPr>
          <a:xfrm>
            <a:off x="4222550" y="5176475"/>
            <a:ext cx="2055196" cy="5900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sp>
        <p:nvSpPr>
          <p:cNvPr id="1555" name="Google Shape;1555;p36"/>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56" name="Google Shape;1556;p36"/>
          <p:cNvSpPr txBox="1">
            <a:spLocks noGrp="1"/>
          </p:cNvSpPr>
          <p:nvPr>
            <p:ph type="body" idx="1"/>
          </p:nvPr>
        </p:nvSpPr>
        <p:spPr>
          <a:xfrm>
            <a:off x="1692562" y="165625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dirty="0"/>
              <a:t>we multiply and divide by </a:t>
            </a:r>
            <a:br>
              <a:rPr lang="en-US" sz="1800" dirty="0"/>
            </a:br>
            <a:endParaRPr sz="1800" dirty="0"/>
          </a:p>
          <a:p>
            <a:pPr marL="914400" lvl="1" indent="-342900" algn="l" rtl="0">
              <a:lnSpc>
                <a:spcPct val="90000"/>
              </a:lnSpc>
              <a:spcBef>
                <a:spcPts val="0"/>
              </a:spcBef>
              <a:spcAft>
                <a:spcPts val="0"/>
              </a:spcAft>
              <a:buSzPts val="1800"/>
              <a:buChar char="○"/>
            </a:pPr>
            <a:endParaRPr dirty="0"/>
          </a:p>
          <a:p>
            <a:pPr marL="0" lvl="0" indent="0" algn="l" rtl="0">
              <a:lnSpc>
                <a:spcPct val="90000"/>
              </a:lnSpc>
              <a:spcBef>
                <a:spcPts val="600"/>
              </a:spcBef>
              <a:spcAft>
                <a:spcPts val="0"/>
              </a:spcAft>
              <a:buNone/>
            </a:pPr>
            <a:r>
              <a:rPr lang="en-US" dirty="0"/>
              <a:t>	</a:t>
            </a:r>
            <a:endParaRPr dirty="0"/>
          </a:p>
          <a:p>
            <a:pPr marL="0" lvl="0" indent="457200" algn="l" rtl="0">
              <a:lnSpc>
                <a:spcPct val="90000"/>
              </a:lnSpc>
              <a:spcBef>
                <a:spcPts val="600"/>
              </a:spcBef>
              <a:spcAft>
                <a:spcPts val="0"/>
              </a:spcAft>
              <a:buNone/>
            </a:pPr>
            <a:r>
              <a:rPr lang="en-US" sz="1800" dirty="0"/>
              <a:t>We replace with the logarithm based on the previous observation</a:t>
            </a:r>
            <a:endParaRPr sz="1800" dirty="0"/>
          </a:p>
          <a:p>
            <a:pPr marL="914400" lvl="0" indent="0" algn="l" rtl="0">
              <a:lnSpc>
                <a:spcPct val="90000"/>
              </a:lnSpc>
              <a:spcBef>
                <a:spcPts val="600"/>
              </a:spcBef>
              <a:spcAft>
                <a:spcPts val="0"/>
              </a:spcAft>
              <a:buNone/>
            </a:pPr>
            <a:endParaRPr sz="1800" dirty="0"/>
          </a:p>
          <a:p>
            <a:pPr marL="0" lvl="0" indent="0" algn="l" rtl="0">
              <a:lnSpc>
                <a:spcPct val="90000"/>
              </a:lnSpc>
              <a:spcBef>
                <a:spcPts val="600"/>
              </a:spcBef>
              <a:spcAft>
                <a:spcPts val="0"/>
              </a:spcAft>
              <a:buNone/>
            </a:pPr>
            <a:endParaRPr sz="1800" dirty="0"/>
          </a:p>
          <a:p>
            <a:pPr marL="0" lvl="3" indent="0" algn="l" rtl="0">
              <a:lnSpc>
                <a:spcPct val="90000"/>
              </a:lnSpc>
              <a:spcBef>
                <a:spcPts val="600"/>
              </a:spcBef>
              <a:spcAft>
                <a:spcPts val="0"/>
              </a:spcAft>
              <a:buSzPts val="1600"/>
              <a:buNone/>
            </a:pPr>
            <a:r>
              <a:rPr lang="en-US" dirty="0"/>
              <a:t>	We transform it to expectation</a:t>
            </a:r>
            <a:endParaRPr dirty="0"/>
          </a:p>
          <a:p>
            <a:pPr marL="0" lvl="3" indent="0" algn="l" rtl="0">
              <a:lnSpc>
                <a:spcPct val="90000"/>
              </a:lnSpc>
              <a:spcBef>
                <a:spcPts val="600"/>
              </a:spcBef>
              <a:spcAft>
                <a:spcPts val="0"/>
              </a:spcAft>
              <a:buSzPts val="1600"/>
              <a:buNone/>
            </a:pPr>
            <a:r>
              <a:rPr lang="en-US" dirty="0"/>
              <a:t>		</a:t>
            </a:r>
            <a:endParaRPr dirty="0"/>
          </a:p>
          <a:p>
            <a:pPr marL="0" lvl="1" indent="0" algn="l" rtl="0">
              <a:lnSpc>
                <a:spcPct val="90000"/>
              </a:lnSpc>
              <a:spcBef>
                <a:spcPts val="600"/>
              </a:spcBef>
              <a:spcAft>
                <a:spcPts val="0"/>
              </a:spcAft>
              <a:buSzPts val="2000"/>
              <a:buNone/>
            </a:pPr>
            <a:endParaRPr dirty="0"/>
          </a:p>
          <a:p>
            <a:pPr marL="0" lvl="1" indent="0" algn="l" rtl="0">
              <a:lnSpc>
                <a:spcPct val="90000"/>
              </a:lnSpc>
              <a:spcBef>
                <a:spcPts val="600"/>
              </a:spcBef>
              <a:spcAft>
                <a:spcPts val="0"/>
              </a:spcAft>
              <a:buSzPts val="2000"/>
              <a:buNone/>
            </a:pPr>
            <a:r>
              <a:rPr lang="en-US" dirty="0"/>
              <a:t>	During training, we’ll take samples of episodes, so we’ll just approximate the gradient by the sum.</a:t>
            </a:r>
            <a:endParaRPr dirty="0"/>
          </a:p>
          <a:p>
            <a:pPr marL="0" lvl="1" indent="0" algn="l" rtl="0">
              <a:lnSpc>
                <a:spcPct val="90000"/>
              </a:lnSpc>
              <a:spcBef>
                <a:spcPts val="600"/>
              </a:spcBef>
              <a:spcAft>
                <a:spcPts val="0"/>
              </a:spcAft>
              <a:buSzPts val="2000"/>
              <a:buNone/>
            </a:pPr>
            <a:r>
              <a:rPr lang="en-US" dirty="0"/>
              <a:t>	</a:t>
            </a:r>
            <a:endParaRPr dirty="0"/>
          </a:p>
        </p:txBody>
      </p:sp>
      <p:pic>
        <p:nvPicPr>
          <p:cNvPr id="1557" name="Google Shape;1557;p36" descr="&lt;math xmlns=&quot;http://www.w3.org/1998/Math/MathML&quot;&gt;&lt;mi&gt;P&lt;/mi&gt;&lt;mfenced&gt;&lt;mrow&gt;&lt;msub&gt;&lt;mi&gt;s&lt;/mi&gt;&lt;mi&gt;t&lt;/mi&gt;&lt;/msub&gt;&lt;mo&gt;,&lt;/mo&gt;&lt;msub&gt;&lt;mi&gt;a&lt;/mi&gt;&lt;mi&gt;t&lt;/mi&gt;&lt;/msub&gt;&lt;mo&gt;|&lt;/mo&gt;&lt;mo&gt;&amp;#xA0;&lt;/mo&gt;&lt;mi&gt;&amp;#x3C4;&lt;/mi&gt;&lt;/mrow&gt;&lt;/mfenced&gt;&lt;/math&gt;" title="P open parentheses s subscript t comma a subscript t vertical line space tau close parentheses"/>
          <p:cNvPicPr preferRelativeResize="0"/>
          <p:nvPr/>
        </p:nvPicPr>
        <p:blipFill>
          <a:blip r:embed="rId3">
            <a:alphaModFix/>
          </a:blip>
          <a:stretch>
            <a:fillRect/>
          </a:stretch>
        </p:blipFill>
        <p:spPr>
          <a:xfrm>
            <a:off x="5325825" y="1764313"/>
            <a:ext cx="1043879" cy="313788"/>
          </a:xfrm>
          <a:prstGeom prst="rect">
            <a:avLst/>
          </a:prstGeom>
          <a:noFill/>
          <a:ln>
            <a:noFill/>
          </a:ln>
        </p:spPr>
      </p:pic>
      <p:pic>
        <p:nvPicPr>
          <p:cNvPr id="1558" name="Google Shape;1558;p36" descr="&lt;math xmlns=&quot;http://www.w3.org/1998/Math/MathML&quot;&gt;&lt;msub&gt;&lt;mo&gt;&amp;#x2207;&lt;/mo&gt;&lt;mi&gt;&amp;#x3B8;&lt;/mi&gt;&lt;/msub&gt;&lt;mi&gt;J&lt;/mi&gt;&lt;mfenced&gt;&lt;mi&gt;&amp;#x3B8;&lt;/mi&gt;&lt;/mfenced&gt;&lt;mo&gt;=&lt;/mo&gt;&lt;mo&gt;&amp;#xA0;&lt;/mo&gt;&lt;mstyle displaystyle=&quot;false&quot;&gt;&lt;munderover&gt;&lt;mo&gt;&amp;#x2211;&lt;/mo&gt;&lt;mrow&gt;&lt;mi&gt;t&lt;/mi&gt;&lt;mo&gt;=&lt;/mo&gt;&lt;mi&gt;i&lt;/mi&gt;&lt;/mrow&gt;&lt;mrow&gt;&lt;mi&gt;t&lt;/mi&gt;&lt;mo&gt;=&lt;/mo&gt;&lt;mi&gt;T&lt;/mi&gt;&lt;mo&gt;-&lt;/mo&gt;&lt;mn&gt;1&lt;/mn&gt;&lt;/mrow&gt;&lt;/munderover&gt;&lt;/mstyle&gt;&lt;mi&gt;P&lt;/mi&gt;&lt;mfenced&gt;&lt;mrow&gt;&lt;msub&gt;&lt;mi&gt;s&lt;/mi&gt;&lt;mi&gt;t&lt;/mi&gt;&lt;/msub&gt;&lt;mo&gt;,&lt;/mo&gt;&lt;msub&gt;&lt;mi&gt;a&lt;/mi&gt;&lt;mi&gt;t&lt;/mi&gt;&lt;/msub&gt;&lt;mo&gt;|&lt;/mo&gt;&lt;mo&gt;&amp;#xA0;&lt;/mo&gt;&lt;mi&gt;&amp;#x3C4;&lt;/mi&gt;&lt;/mrow&gt;&lt;/mfenced&gt;&lt;mfrac&gt;&lt;mrow&gt;&lt;msub&gt;&lt;mo&gt;&amp;#x2207;&lt;/mo&gt;&lt;mi&gt;&amp;#x3B8;&lt;/mi&gt;&lt;/msub&gt;&lt;mi&gt;P&lt;/mi&gt;&lt;mfenced&gt;&lt;mrow&gt;&lt;msub&gt;&lt;mi&gt;s&lt;/mi&gt;&lt;mi&gt;t&lt;/mi&gt;&lt;/msub&gt;&lt;mo&gt;,&lt;/mo&gt;&lt;msub&gt;&lt;mi&gt;a&lt;/mi&gt;&lt;mi&gt;t&lt;/mi&gt;&lt;/msub&gt;&lt;mo&gt;|&lt;/mo&gt;&lt;mo&gt;&amp;#xA0;&lt;/mo&gt;&lt;mi&gt;&amp;#x3C4;&lt;/mi&gt;&lt;/mrow&gt;&lt;/mfenced&gt;&lt;msub&gt;&lt;mi&gt;r&lt;/mi&gt;&lt;mrow&gt;&lt;mi&gt;t&lt;/mi&gt;&lt;mo&gt;+&lt;/mo&gt;&lt;mn&gt;1&lt;/mn&gt;&lt;/mrow&gt;&lt;/msub&gt;&lt;/mrow&gt;&lt;mrow&gt;&lt;mi&gt;P&lt;/mi&gt;&lt;mfenced&gt;&lt;mrow&gt;&lt;msub&gt;&lt;mi&gt;s&lt;/mi&gt;&lt;mi&gt;t&lt;/mi&gt;&lt;/msub&gt;&lt;mo&gt;,&lt;/mo&gt;&lt;msub&gt;&lt;mi&gt;a&lt;/mi&gt;&lt;mi&gt;t&lt;/mi&gt;&lt;/msub&gt;&lt;mo&gt;|&lt;/mo&gt;&lt;mo&gt;&amp;#xA0;&lt;/mo&gt;&lt;mi&gt;&amp;#x3C4;&lt;/mi&gt;&lt;/mrow&gt;&lt;/mfenced&gt;&lt;/mrow&gt;&lt;/mfrac&gt;&lt;/math&gt;" title="nabla subscript theta J open parentheses theta close parentheses equals space begin inline style sum from t equals i to t equals T minus 1 of end style P open parentheses s subscript t comma a subscript t vertical line space tau close parentheses fraction numerator nabla subscript theta P open parentheses s subscript t comma a subscript t vertical line space tau close parentheses r subscript t plus 1 end subscript over denominator P open parentheses s subscript t comma a subscript t vertical line space tau close parentheses end fraction"/>
          <p:cNvPicPr preferRelativeResize="0"/>
          <p:nvPr/>
        </p:nvPicPr>
        <p:blipFill>
          <a:blip r:embed="rId4">
            <a:alphaModFix/>
          </a:blip>
          <a:stretch>
            <a:fillRect/>
          </a:stretch>
        </p:blipFill>
        <p:spPr>
          <a:xfrm>
            <a:off x="2702787" y="2078106"/>
            <a:ext cx="5789691" cy="882129"/>
          </a:xfrm>
          <a:prstGeom prst="rect">
            <a:avLst/>
          </a:prstGeom>
          <a:noFill/>
          <a:ln>
            <a:noFill/>
          </a:ln>
        </p:spPr>
      </p:pic>
      <p:pic>
        <p:nvPicPr>
          <p:cNvPr id="1559" name="Google Shape;1559;p36" descr="&lt;math xmlns=&quot;http://www.w3.org/1998/Math/MathML&quot;&gt;&lt;msub&gt;&lt;mo&gt;&amp;#x2207;&lt;/mo&gt;&lt;mi&gt;&amp;#x3B8;&lt;/mi&gt;&lt;/msub&gt;&lt;mi&gt;J&lt;/mi&gt;&lt;mfenced&gt;&lt;mi&gt;&amp;#x3B8;&lt;/mi&gt;&lt;/mfenced&gt;&lt;mo&gt;=&lt;/mo&gt;&lt;mo&gt;&amp;#xA0;&lt;/mo&gt;&lt;mstyle displaystyle=&quot;false&quot;&gt;&lt;munderover&gt;&lt;mo&gt;&amp;#x2211;&lt;/mo&gt;&lt;mrow&gt;&lt;mi&gt;t&lt;/mi&gt;&lt;mo&gt;=&lt;/mo&gt;&lt;mi&gt;i&lt;/mi&gt;&lt;/mrow&gt;&lt;mrow&gt;&lt;mi&gt;t&lt;/mi&gt;&lt;mo&gt;=&lt;/mo&gt;&lt;mi&gt;T&lt;/mi&gt;&lt;mo&gt;-&lt;/mo&gt;&lt;mn&gt;1&lt;/mn&gt;&lt;/mrow&gt;&lt;/munderover&gt;&lt;/mstyle&gt;&lt;mi&gt;P&lt;/mi&gt;&lt;mfenced&gt;&lt;mrow&gt;&lt;msub&gt;&lt;mi&gt;s&lt;/mi&gt;&lt;mi&gt;t&lt;/mi&gt;&lt;/msub&gt;&lt;mo&gt;,&lt;/mo&gt;&lt;msub&gt;&lt;mi&gt;a&lt;/mi&gt;&lt;mi&gt;t&lt;/mi&gt;&lt;/msub&gt;&lt;mo&gt;|&lt;/mo&gt;&lt;mo&gt;&amp;#xA0;&lt;/mo&gt;&lt;mi&gt;&amp;#x3C4;&lt;/mi&gt;&lt;/mrow&gt;&lt;/mfenced&gt;&lt;msub&gt;&lt;mo&gt;&amp;#x2207;&lt;/mo&gt;&lt;mi&gt;&amp;#x3B8;&lt;/mi&gt;&lt;/msub&gt;&lt;mo&gt;&amp;#xA0;&lt;/mo&gt;&lt;mi&gt;log&lt;/mi&gt;&lt;mi&gt;P&lt;/mi&gt;&lt;mfenced&gt;&lt;mrow&gt;&lt;msub&gt;&lt;mi&gt;s&lt;/mi&gt;&lt;mi&gt;t&lt;/mi&gt;&lt;/msub&gt;&lt;mo&gt;,&lt;/mo&gt;&lt;msub&gt;&lt;mi&gt;a&lt;/mi&gt;&lt;mi&gt;t&lt;/mi&gt;&lt;/msub&gt;&lt;mo&gt;|&lt;/mo&gt;&lt;mo&gt;&amp;#xA0;&lt;/mo&gt;&lt;mi&gt;&amp;#x3C4;&lt;/mi&gt;&lt;/mrow&gt;&lt;/mfenced&gt;&lt;mo&gt;&amp;#xA0;&lt;/mo&gt;&lt;msub&gt;&lt;mi&gt;r&lt;/mi&gt;&lt;mrow&gt;&lt;mi&gt;t&lt;/mi&gt;&lt;mo&gt;+&lt;/mo&gt;&lt;mn&gt;1&lt;/mn&gt;&lt;/mrow&gt;&lt;/msub&gt;&lt;/math&gt;" title="nabla subscript theta J open parentheses theta close parentheses equals space begin inline style sum from t equals i to t equals T minus 1 of end style P open parentheses s subscript t comma a subscript t vertical line space tau close parentheses nabla subscript theta space log P open parentheses s subscript t comma a subscript t vertical line space tau close parentheses space r subscript t plus 1 end subscript"/>
          <p:cNvPicPr preferRelativeResize="0"/>
          <p:nvPr/>
        </p:nvPicPr>
        <p:blipFill>
          <a:blip r:embed="rId5">
            <a:alphaModFix/>
          </a:blip>
          <a:stretch>
            <a:fillRect/>
          </a:stretch>
        </p:blipFill>
        <p:spPr>
          <a:xfrm>
            <a:off x="2764149" y="3373981"/>
            <a:ext cx="5789693" cy="420998"/>
          </a:xfrm>
          <a:prstGeom prst="rect">
            <a:avLst/>
          </a:prstGeom>
          <a:noFill/>
          <a:ln>
            <a:noFill/>
          </a:ln>
        </p:spPr>
      </p:pic>
      <p:pic>
        <p:nvPicPr>
          <p:cNvPr id="1560" name="Google Shape;1560;p36" descr="&lt;math xmlns=&quot;http://www.w3.org/1998/Math/MathML&quot;&gt;&lt;msub&gt;&lt;mo&gt;&amp;#x2207;&lt;/mo&gt;&lt;mi&gt;&amp;#x3B8;&lt;/mi&gt;&lt;/msub&gt;&lt;mi&gt;J&lt;/mi&gt;&lt;mfenced&gt;&lt;mi&gt;&amp;#x3B8;&lt;/mi&gt;&lt;/mfenced&gt;&lt;mo&gt;&amp;#xA0;&lt;/mo&gt;&lt;mo&gt;&amp;#xA0;&lt;/mo&gt;&lt;mo&gt;=&lt;/mo&gt;&lt;mo&gt;&amp;#xA0;&lt;/mo&gt;&lt;mi mathvariant=&quot;double-struck&quot;&gt;E&lt;/mi&gt;&lt;mfenced open=&quot;[&quot; close=&quot;]&quot;&gt;&lt;mrow&gt;&lt;mstyle displaystyle=&quot;false&quot;&gt;&lt;munderover&gt;&lt;mo&gt;&amp;#x2211;&lt;/mo&gt;&lt;mrow&gt;&lt;mi&gt;t&lt;/mi&gt;&lt;mo&gt;=&lt;/mo&gt;&lt;mi&gt;i&lt;/mi&gt;&lt;/mrow&gt;&lt;mrow&gt;&lt;mi&gt;r&lt;/mi&gt;&lt;mo&gt;=&lt;/mo&gt;&lt;mi&gt;T&lt;/mi&gt;&lt;mo&gt;-&lt;/mo&gt;&lt;mn&gt;1&lt;/mn&gt;&lt;/mrow&gt;&lt;/munderover&gt;&lt;/mstyle&gt;&lt;msub&gt;&lt;mo&gt;&amp;#x2207;&lt;/mo&gt;&lt;mi&gt;&amp;#x3B8;&lt;/mi&gt;&lt;/msub&gt;&lt;mo&gt;&amp;#xA0;&lt;/mo&gt;&lt;mi&gt;log&lt;/mi&gt;&lt;mi&gt;P&lt;/mi&gt;&lt;mfenced&gt;&lt;mrow&gt;&lt;msub&gt;&lt;mi&gt;s&lt;/mi&gt;&lt;mi&gt;t&lt;/mi&gt;&lt;/msub&gt;&lt;mo&gt;,&lt;/mo&gt;&lt;msub&gt;&lt;mi&gt;a&lt;/mi&gt;&lt;mi&gt;t&lt;/mi&gt;&lt;/msub&gt;&lt;mo&gt;|&lt;/mo&gt;&lt;mo&gt;&amp;#xA0;&lt;/mo&gt;&lt;mi&gt;&amp;#x3C4;&lt;/mi&gt;&lt;/mrow&gt;&lt;/mfenced&gt;&lt;mo&gt;&amp;#xA0;&lt;/mo&gt;&lt;msub&gt;&lt;mi&gt;r&lt;/mi&gt;&lt;mrow&gt;&lt;mi&gt;t&lt;/mi&gt;&lt;mo&gt;+&lt;/mo&gt;&lt;mn&gt;1&lt;/mn&gt;&lt;/mrow&gt;&lt;/msub&gt;&lt;/mrow&gt;&lt;/mfenced&gt;&lt;/math&gt;" title="nabla subscript theta J open parentheses theta close parentheses space space equals space double-struck E open square brackets begin inline style sum from t equals i to r equals T minus 1 of end style nabla subscript theta space log P open parentheses s subscript t comma a subscript t vertical line space tau close parentheses space r subscript t plus 1 end subscript close square brackets"/>
          <p:cNvPicPr preferRelativeResize="0"/>
          <p:nvPr/>
        </p:nvPicPr>
        <p:blipFill>
          <a:blip r:embed="rId6">
            <a:alphaModFix/>
          </a:blip>
          <a:stretch>
            <a:fillRect/>
          </a:stretch>
        </p:blipFill>
        <p:spPr>
          <a:xfrm>
            <a:off x="2752337" y="4351581"/>
            <a:ext cx="5789693" cy="552496"/>
          </a:xfrm>
          <a:prstGeom prst="rect">
            <a:avLst/>
          </a:prstGeom>
          <a:noFill/>
          <a:ln>
            <a:noFill/>
          </a:ln>
        </p:spPr>
      </p:pic>
      <p:pic>
        <p:nvPicPr>
          <p:cNvPr id="1561" name="Google Shape;1561;p36" descr="&lt;math xmlns=&quot;http://www.w3.org/1998/Math/MathML&quot;&gt;&lt;msub&gt;&lt;mo&gt;&amp;#x2207;&lt;/mo&gt;&lt;mi&gt;&amp;#x3B8;&lt;/mi&gt;&lt;/msub&gt;&lt;mi&gt;J&lt;/mi&gt;&lt;mfenced&gt;&lt;mi&gt;&amp;#x3B8;&lt;/mi&gt;&lt;/mfenced&gt;&lt;mo&gt;&amp;#xA0;&lt;/mo&gt;&lt;mo&gt;&amp;#xA0;&lt;/mo&gt;&lt;mo&gt;~&lt;/mo&gt;&lt;mo&gt;&amp;#xA0;&lt;/mo&gt;&lt;mstyle displaystyle=&quot;false&quot;&gt;&lt;munderover&gt;&lt;mo&gt;&amp;#x2211;&lt;/mo&gt;&lt;mrow&gt;&lt;mi&gt;t&lt;/mi&gt;&lt;mo&gt;=&lt;/mo&gt;&lt;mi&gt;i&lt;/mi&gt;&lt;/mrow&gt;&lt;mrow&gt;&lt;mi&gt;r&lt;/mi&gt;&lt;mo&gt;=&lt;/mo&gt;&lt;mi&gt;T&lt;/mi&gt;&lt;mo&gt;-&lt;/mo&gt;&lt;mn&gt;1&lt;/mn&gt;&lt;/mrow&gt;&lt;/munderover&gt;&lt;/mstyle&gt;&lt;msub&gt;&lt;mo&gt;&amp;#x2207;&lt;/mo&gt;&lt;mi&gt;&amp;#x3B8;&lt;/mi&gt;&lt;/msub&gt;&lt;mo&gt;&amp;#xA0;&lt;/mo&gt;&lt;mi&gt;log&lt;/mi&gt;&lt;mi&gt;P&lt;/mi&gt;&lt;mfenced&gt;&lt;mrow&gt;&lt;msub&gt;&lt;mi&gt;s&lt;/mi&gt;&lt;mi&gt;t&lt;/mi&gt;&lt;/msub&gt;&lt;mo&gt;,&lt;/mo&gt;&lt;msub&gt;&lt;mi&gt;a&lt;/mi&gt;&lt;mi&gt;t&lt;/mi&gt;&lt;/msub&gt;&lt;mo&gt;|&lt;/mo&gt;&lt;mo&gt;&amp;#xA0;&lt;/mo&gt;&lt;mi&gt;&amp;#x3C4;&lt;/mi&gt;&lt;/mrow&gt;&lt;/mfenced&gt;&lt;mo&gt;&amp;#xA0;&lt;/mo&gt;&lt;msub&gt;&lt;mi&gt;r&lt;/mi&gt;&lt;mrow&gt;&lt;mi&gt;t&lt;/mi&gt;&lt;mo&gt;+&lt;/mo&gt;&lt;mn&gt;1&lt;/mn&gt;&lt;/mrow&gt;&lt;/msub&gt;&lt;/math&gt;" title="nabla subscript theta J open parentheses theta close parentheses space space tilde space begin inline style sum from t equals i to r equals T minus 1 of end style nabla subscript theta space log P open parentheses s subscript t comma a subscript t vertical line space tau close parentheses space r subscript t plus 1 end subscript"/>
          <p:cNvPicPr preferRelativeResize="0"/>
          <p:nvPr/>
        </p:nvPicPr>
        <p:blipFill>
          <a:blip r:embed="rId7">
            <a:alphaModFix/>
          </a:blip>
          <a:stretch>
            <a:fillRect/>
          </a:stretch>
        </p:blipFill>
        <p:spPr>
          <a:xfrm>
            <a:off x="2752337" y="5651156"/>
            <a:ext cx="5789690" cy="52103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5"/>
        <p:cNvGrpSpPr/>
        <p:nvPr/>
      </p:nvGrpSpPr>
      <p:grpSpPr>
        <a:xfrm>
          <a:off x="0" y="0"/>
          <a:ext cx="0" cy="0"/>
          <a:chOff x="0" y="0"/>
          <a:chExt cx="0" cy="0"/>
        </a:xfrm>
      </p:grpSpPr>
      <p:sp>
        <p:nvSpPr>
          <p:cNvPr id="1566" name="Google Shape;1566;p37"/>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67" name="Google Shape;1567;p37"/>
          <p:cNvSpPr txBox="1">
            <a:spLocks noGrp="1"/>
          </p:cNvSpPr>
          <p:nvPr>
            <p:ph type="body" idx="1"/>
          </p:nvPr>
        </p:nvSpPr>
        <p:spPr>
          <a:xfrm>
            <a:off x="1692562" y="165625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We’ll analyze                              in more detail  </a:t>
            </a:r>
            <a:endParaRPr sz="1800"/>
          </a:p>
          <a:p>
            <a:pPr marL="457200" lvl="0" indent="0" algn="l" rtl="0">
              <a:lnSpc>
                <a:spcPct val="90000"/>
              </a:lnSpc>
              <a:spcBef>
                <a:spcPts val="600"/>
              </a:spcBef>
              <a:spcAft>
                <a:spcPts val="0"/>
              </a:spcAft>
              <a:buNone/>
            </a:pPr>
            <a:br>
              <a:rPr lang="en-US" sz="1800"/>
            </a:br>
            <a:endParaRPr sz="1800"/>
          </a:p>
          <a:p>
            <a:pPr marL="457200" lvl="0" indent="-342900" algn="l" rtl="0">
              <a:spcBef>
                <a:spcPts val="600"/>
              </a:spcBef>
              <a:spcAft>
                <a:spcPts val="0"/>
              </a:spcAft>
              <a:buSzPts val="1800"/>
              <a:buChar char="●"/>
            </a:pPr>
            <a:r>
              <a:rPr lang="en-US" sz="1800"/>
              <a:t>Transform it into a sum  </a:t>
            </a:r>
            <a:br>
              <a:rPr lang="en-US" sz="1800"/>
            </a:br>
            <a:br>
              <a:rPr lang="en-US" sz="1800"/>
            </a:br>
            <a:br>
              <a:rPr lang="en-US" sz="1800"/>
            </a:br>
            <a:endParaRPr sz="1800"/>
          </a:p>
          <a:p>
            <a:pPr marL="457200" lvl="0" indent="-342900" algn="l" rtl="0">
              <a:spcBef>
                <a:spcPts val="0"/>
              </a:spcBef>
              <a:spcAft>
                <a:spcPts val="0"/>
              </a:spcAft>
              <a:buSzPts val="1800"/>
              <a:buChar char="●"/>
            </a:pPr>
            <a:r>
              <a:rPr lang="en-US" sz="1800"/>
              <a:t>Differentiate wrt to 𝜃</a:t>
            </a:r>
            <a:br>
              <a:rPr lang="en-US" sz="1800"/>
            </a:br>
            <a:br>
              <a:rPr lang="en-US" sz="1800"/>
            </a:br>
            <a:br>
              <a:rPr lang="en-US" sz="1800"/>
            </a:br>
            <a:endParaRPr sz="1800"/>
          </a:p>
          <a:p>
            <a:pPr marL="457200" lvl="0" indent="-342900" algn="l" rtl="0">
              <a:spcBef>
                <a:spcPts val="0"/>
              </a:spcBef>
              <a:spcAft>
                <a:spcPts val="0"/>
              </a:spcAft>
              <a:buSzPts val="1800"/>
              <a:buChar char="●"/>
            </a:pPr>
            <a:r>
              <a:rPr lang="en-US" sz="1800"/>
              <a:t>This first sum is dependent on the environment, not on the agent. So we get:</a:t>
            </a:r>
            <a:endParaRPr sz="1800"/>
          </a:p>
          <a:p>
            <a:pPr marL="457200" lvl="0" indent="0" algn="l" rtl="0">
              <a:spcBef>
                <a:spcPts val="600"/>
              </a:spcBef>
              <a:spcAft>
                <a:spcPts val="0"/>
              </a:spcAft>
              <a:buNone/>
            </a:pPr>
            <a:endParaRPr sz="1800"/>
          </a:p>
          <a:p>
            <a:pPr marL="0" lvl="1" indent="0" algn="l" rtl="0">
              <a:lnSpc>
                <a:spcPct val="90000"/>
              </a:lnSpc>
              <a:spcBef>
                <a:spcPts val="600"/>
              </a:spcBef>
              <a:spcAft>
                <a:spcPts val="0"/>
              </a:spcAft>
              <a:buSzPts val="2000"/>
              <a:buNone/>
            </a:pPr>
            <a:r>
              <a:rPr lang="en-US"/>
              <a:t>	</a:t>
            </a:r>
            <a:endParaRPr/>
          </a:p>
        </p:txBody>
      </p:sp>
      <p:pic>
        <p:nvPicPr>
          <p:cNvPr id="1568" name="Google Shape;1568;p37" descr="&lt;math xmlns=&quot;http://www.w3.org/1998/Math/MathML&quot;&gt;&lt;mi&gt;log&lt;/mi&gt;&lt;mi&gt;P&lt;/mi&gt;&lt;mfenced&gt;&lt;mrow&gt;&lt;msub&gt;&lt;mi&gt;s&lt;/mi&gt;&lt;mi&gt;t&lt;/mi&gt;&lt;/msub&gt;&lt;mo&gt;,&lt;/mo&gt;&lt;msub&gt;&lt;mi&gt;a&lt;/mi&gt;&lt;mi&gt;t&lt;/mi&gt;&lt;/msub&gt;&lt;mo&gt;|&lt;/mo&gt;&lt;mo&gt;&amp;#xA0;&lt;/mo&gt;&lt;mi&gt;&amp;#x3C4;&lt;/mi&gt;&lt;/mrow&gt;&lt;/mfenced&gt;&lt;/math&gt;" title="log P open parentheses s subscript t comma a subscript t vertical line space tau close parentheses"/>
          <p:cNvPicPr preferRelativeResize="0"/>
          <p:nvPr/>
        </p:nvPicPr>
        <p:blipFill>
          <a:blip r:embed="rId3">
            <a:alphaModFix/>
          </a:blip>
          <a:stretch>
            <a:fillRect/>
          </a:stretch>
        </p:blipFill>
        <p:spPr>
          <a:xfrm>
            <a:off x="3809450" y="1703275"/>
            <a:ext cx="1686425" cy="403450"/>
          </a:xfrm>
          <a:prstGeom prst="rect">
            <a:avLst/>
          </a:prstGeom>
          <a:noFill/>
          <a:ln>
            <a:noFill/>
          </a:ln>
        </p:spPr>
      </p:pic>
      <p:pic>
        <p:nvPicPr>
          <p:cNvPr id="1569" name="Google Shape;1569;p37" descr="&lt;math xmlns=&quot;http://www.w3.org/1998/Math/MathML&quot;&gt;&lt;mi&gt;log&lt;/mi&gt;&lt;mi&gt;P&lt;/mi&gt;&lt;mfenced&gt;&lt;mrow&gt;&lt;msub&gt;&lt;mi&gt;s&lt;/mi&gt;&lt;mi&gt;t&lt;/mi&gt;&lt;/msub&gt;&lt;mo&gt;,&lt;/mo&gt;&lt;msub&gt;&lt;mi&gt;a&lt;/mi&gt;&lt;mi&gt;t&lt;/mi&gt;&lt;/msub&gt;&lt;menclose notation=&quot;left&quot;&gt;&lt;mi&gt;&amp;#x3C4;&lt;/mi&gt;&lt;/menclose&gt;&lt;/mrow&gt;&lt;/mfenced&gt;&lt;mo&gt;&amp;#xA0;&lt;/mo&gt;&lt;mo&gt;=&lt;/mo&gt;&lt;mo&gt;&amp;#xA0;&lt;/mo&gt;&lt;mi&gt;log&lt;/mi&gt;&lt;mo&gt;&amp;#xA0;&lt;/mo&gt;&lt;mstyle displaystyle=&quot;false&quot;&gt;&lt;munderover&gt;&lt;mo&gt;&amp;#x220F;&lt;/mo&gt;&lt;mrow&gt;&lt;mi&gt;t&lt;/mi&gt;&lt;mo&gt;'&lt;/mo&gt;&lt;mo&gt;=&lt;/mo&gt;&lt;mn&gt;0&lt;/mn&gt;&lt;/mrow&gt;&lt;mi&gt;t&lt;/mi&gt;&lt;/munderover&gt;&lt;/mstyle&gt;&lt;mi&gt;P&lt;/mi&gt;&lt;mfenced&gt;&lt;mrow&gt;&lt;msub&gt;&lt;mi&gt;s&lt;/mi&gt;&lt;mrow&gt;&lt;mi&gt;t&lt;/mi&gt;&lt;mo&gt;+&lt;/mo&gt;&lt;mn&gt;1&lt;/mn&gt;&lt;mo&gt;'&lt;/mo&gt;&lt;/mrow&gt;&lt;/msub&gt;&lt;mo&gt;&amp;#xA0;&lt;/mo&gt;&lt;menclose notation=&quot;left&quot;&gt;&lt;mo&gt;&amp;#xA0;&lt;/mo&gt;&lt;msub&gt;&lt;mi&gt;s&lt;/mi&gt;&lt;mrow&gt;&lt;mi&gt;t&lt;/mi&gt;&lt;mo&gt;'&lt;/mo&gt;&lt;/mrow&gt;&lt;/msub&gt;&lt;mo&gt;,&lt;/mo&gt;&lt;msub&gt;&lt;mi&gt;a&lt;/mi&gt;&lt;mrow&gt;&lt;mi&gt;t&lt;/mi&gt;&lt;mo&gt;'&lt;/mo&gt;&lt;/mrow&gt;&lt;/msub&gt;&lt;mo&gt;&amp;#xA0;&lt;/mo&gt;&lt;/menclose&gt;&lt;/mrow&gt;&lt;/mfenced&gt;&lt;msub&gt;&lt;mi&gt;&amp;#x3C0;&lt;/mi&gt;&lt;mi&gt;&amp;#x3B8;&lt;/mi&gt;&lt;/msub&gt;&lt;mfenced&gt;&lt;mrow&gt;&lt;msub&gt;&lt;mi&gt;a&lt;/mi&gt;&lt;mrow&gt;&lt;mi&gt;t&lt;/mi&gt;&lt;mo&gt;'&lt;/mo&gt;&lt;/mrow&gt;&lt;/msub&gt;&lt;mo&gt;&amp;#xA0;&lt;/mo&gt;&lt;menclose notation=&quot;left&quot;&gt;&lt;mo&gt;&amp;#xA0;&lt;/mo&gt;&lt;msub&gt;&lt;mi&gt;s&lt;/mi&gt;&lt;mrow&gt;&lt;mi&gt;t&lt;/mi&gt;&lt;mo&gt;'&lt;/mo&gt;&lt;/mrow&gt;&lt;/msub&gt;&lt;/menclose&gt;&lt;/mrow&gt;&lt;/mfenced&gt;&lt;/math&gt;" title="log P open parentheses s subscript t comma a subscript t left enclose tau close parentheses space equals space log space begin inline style product from t apostrophe equals 0 to t of end style P open parentheses s subscript t plus 1 apostrophe end subscript space left enclose space s subscript t apostrophe end subscript comma a subscript t apostrophe end subscript space end enclose close parentheses pi subscript theta open parentheses a subscript t apostrophe end subscript space left enclose space s subscript t apostrophe end subscript end enclose close parentheses"/>
          <p:cNvPicPr preferRelativeResize="0"/>
          <p:nvPr/>
        </p:nvPicPr>
        <p:blipFill>
          <a:blip r:embed="rId4">
            <a:alphaModFix/>
          </a:blip>
          <a:stretch>
            <a:fillRect/>
          </a:stretch>
        </p:blipFill>
        <p:spPr>
          <a:xfrm>
            <a:off x="2211825" y="2182925"/>
            <a:ext cx="5789690" cy="419163"/>
          </a:xfrm>
          <a:prstGeom prst="rect">
            <a:avLst/>
          </a:prstGeom>
          <a:noFill/>
          <a:ln>
            <a:noFill/>
          </a:ln>
        </p:spPr>
      </p:pic>
      <p:pic>
        <p:nvPicPr>
          <p:cNvPr id="1570" name="Google Shape;1570;p37" descr="&lt;math xmlns=&quot;http://www.w3.org/1998/Math/MathML&quot;&gt;&lt;msub&gt;&lt;mo&gt;&amp;#x2207;&lt;/mo&gt;&lt;mi&gt;&amp;#x3B8;&lt;/mi&gt;&lt;/msub&gt;&lt;mi&gt;log&lt;/mi&gt;&lt;mi&gt;P&lt;/mi&gt;&lt;mfenced&gt;&lt;mrow&gt;&lt;msub&gt;&lt;mi&gt;s&lt;/mi&gt;&lt;mi&gt;t&lt;/mi&gt;&lt;/msub&gt;&lt;mo&gt;,&lt;/mo&gt;&lt;msub&gt;&lt;mi&gt;a&lt;/mi&gt;&lt;mi&gt;t&lt;/mi&gt;&lt;/msub&gt;&lt;menclose notation=&quot;left&quot;&gt;&lt;mi&gt;&amp;#x3C4;&lt;/mi&gt;&lt;/menclose&gt;&lt;/mrow&gt;&lt;/mfenced&gt;&lt;mo&gt;&amp;#xA0;&lt;/mo&gt;&lt;mo&gt;=&lt;/mo&gt;&lt;mo&gt;&amp;#xA0;&lt;/mo&gt;&lt;msub&gt;&lt;mo&gt;&amp;#x2207;&lt;/mo&gt;&lt;mi&gt;&amp;#x3B8;&lt;/mi&gt;&lt;/msub&gt;&lt;mstyle displaystyle=&quot;false&quot;&gt;&lt;munderover&gt;&lt;mrow&gt;&lt;munderover&gt;&lt;mo&gt;&amp;#x2211;&lt;/mo&gt;&lt;mrow&gt;&lt;mi&gt;t&lt;/mi&gt;&lt;mo&gt;'&lt;/mo&gt;&lt;mo&gt;=&lt;/mo&gt;&lt;mn&gt;0&lt;/mn&gt;&lt;/mrow&gt;&lt;mrow&gt;&lt;mi&gt;t&lt;/mi&gt;&lt;mo&gt;'&lt;/mo&gt;&lt;mo&gt;=&lt;/mo&gt;&lt;mi&gt;t&lt;/mi&gt;&lt;/mrow&gt;&lt;/munderover&gt;&lt;mo&gt;&amp;#xA0;&lt;/mo&gt;&lt;mi&gt;P&lt;/mi&gt;&lt;mfenced&gt;&lt;mrow&gt;&lt;msub&gt;&lt;mi&gt;s&lt;/mi&gt;&lt;mrow&gt;&lt;mi&gt;t&lt;/mi&gt;&lt;mo&gt;+&lt;/mo&gt;&lt;mn&gt;1&lt;/mn&gt;&lt;mo&gt;'&lt;/mo&gt;&lt;/mrow&gt;&lt;/msub&gt;&lt;mo&gt;&amp;#xA0;&lt;/mo&gt;&lt;menclose notation=&quot;left&quot;&gt;&lt;mo&gt;&amp;#xA0;&lt;/mo&gt;&lt;msub&gt;&lt;mi&gt;s&lt;/mi&gt;&lt;mrow&gt;&lt;mi&gt;t&lt;/mi&gt;&lt;mo&gt;'&lt;/mo&gt;&lt;/mrow&gt;&lt;/msub&gt;&lt;mo&gt;&amp;#xA0;&lt;/mo&gt;&lt;mo&gt;,&lt;/mo&gt;&lt;mo&gt;&amp;#xA0;&lt;/mo&gt;&lt;msub&gt;&lt;mi&gt;a&lt;/mi&gt;&lt;mrow&gt;&lt;mi&gt;t&lt;/mi&gt;&lt;mo&gt;'&lt;/mo&gt;&lt;/mrow&gt;&lt;/msub&gt;&lt;mo&gt;&amp;#xA0;&lt;/mo&gt;&lt;/menclose&gt;&lt;/mrow&gt;&lt;/mfenced&gt;&lt;mo&gt;&amp;#xA0;&lt;/mo&gt;&lt;/mrow&gt;&lt;mrow/&gt;&lt;mrow/&gt;&lt;/munderover&gt;&lt;mo&gt;+&lt;/mo&gt;&lt;/mstyle&gt;&lt;msub&gt;&lt;mo&gt;&amp;#x2207;&lt;/mo&gt;&lt;mi&gt;&amp;#x3B8;&lt;/mi&gt;&lt;/msub&gt;&lt;mo&gt;&amp;#xA0;&lt;/mo&gt;&lt;mstyle displaystyle=&quot;false&quot;&gt;&lt;munderover&gt;&lt;mo&gt;&amp;#x2211;&lt;/mo&gt;&lt;mrow&gt;&lt;mi&gt;t&lt;/mi&gt;&lt;mo&gt;'&lt;/mo&gt;&lt;mo&gt;=&lt;/mo&gt;&lt;mn&gt;0&lt;/mn&gt;&lt;/mrow&gt;&lt;mrow&gt;&lt;mi&gt;t&lt;/mi&gt;&lt;mo&gt;'&lt;/mo&gt;&lt;mo&gt;=&lt;/mo&gt;&lt;mi&gt;t&lt;/mi&gt;&lt;/mrow&gt;&lt;/munderover&gt;&lt;/mstyle&gt;&lt;mi&gt;log&lt;/mi&gt;&lt;mo&gt;&amp;#xA0;&lt;/mo&gt;&lt;mstyle displaystyle=&quot;false&quot;&gt;&lt;msub&gt;&lt;mi&gt;&amp;#x3C0;&lt;/mi&gt;&lt;mi&gt;&amp;#x3B8;&lt;/mi&gt;&lt;/msub&gt;&lt;/mstyle&gt;&lt;mstyle displaystyle=&quot;false&quot;&gt;&lt;mfenced&gt;&lt;mrow&gt;&lt;msub&gt;&lt;mi&gt;a&lt;/mi&gt;&lt;mrow&gt;&lt;mi&gt;t&lt;/mi&gt;&lt;mo&gt;'&lt;/mo&gt;&lt;/mrow&gt;&lt;/msub&gt;&lt;mo&gt;&amp;#xA0;&lt;/mo&gt;&lt;menclose notation=&quot;left&quot;&gt;&lt;mo&gt;&amp;#xA0;&lt;/mo&gt;&lt;msub&gt;&lt;mi&gt;s&lt;/mi&gt;&lt;mrow&gt;&lt;mi&gt;t&lt;/mi&gt;&lt;mo&gt;'&lt;/mo&gt;&lt;/mrow&gt;&lt;/msub&gt;&lt;/menclose&gt;&lt;/mrow&gt;&lt;/mfenced&gt;&lt;/mstyle&gt;&lt;mstyle displaystyle=&quot;false&quot;&gt;&lt;mspace linebreak=&quot;newline&quot;/&gt;&lt;/mstyle&gt;&lt;/math&gt;" title="nabla subscript theta log P open parentheses s subscript t comma a subscript t left enclose tau close parentheses space equals space nabla subscript theta begin inline style stack sum from t apostrophe equals 0 to t apostrophe equals t of space P open parentheses s subscript t plus 1 apostrophe end subscript space left enclose space s subscript t apostrophe end subscript space comma space a subscript t apostrophe end subscript space end enclose close parentheses space with blank below and blank on top plus end style nabla subscript theta space begin inline style sum from t apostrophe equals 0 to t apostrophe equals t of end style log space begin inline style pi subscript theta end style begin inline style open parentheses a subscript t apostrophe end subscript space left enclose space s subscript t apostrophe end subscript end enclose close parentheses end style begin inline style&#10;end style"/>
          <p:cNvPicPr preferRelativeResize="0"/>
          <p:nvPr/>
        </p:nvPicPr>
        <p:blipFill>
          <a:blip r:embed="rId5">
            <a:alphaModFix/>
          </a:blip>
          <a:stretch>
            <a:fillRect/>
          </a:stretch>
        </p:blipFill>
        <p:spPr>
          <a:xfrm>
            <a:off x="2225951" y="4046090"/>
            <a:ext cx="6230399" cy="328135"/>
          </a:xfrm>
          <a:prstGeom prst="rect">
            <a:avLst/>
          </a:prstGeom>
          <a:noFill/>
          <a:ln>
            <a:noFill/>
          </a:ln>
        </p:spPr>
      </p:pic>
      <p:pic>
        <p:nvPicPr>
          <p:cNvPr id="1571" name="Google Shape;1571;p37" descr="&lt;math xmlns=&quot;http://www.w3.org/1998/Math/MathML&quot;&gt;&lt;mi&gt;log&lt;/mi&gt;&lt;mi&gt;P&lt;/mi&gt;&lt;mfenced&gt;&lt;mrow&gt;&lt;msub&gt;&lt;mi&gt;s&lt;/mi&gt;&lt;mi&gt;t&lt;/mi&gt;&lt;/msub&gt;&lt;mo&gt;,&lt;/mo&gt;&lt;msub&gt;&lt;mi&gt;a&lt;/mi&gt;&lt;mi&gt;t&lt;/mi&gt;&lt;/msub&gt;&lt;menclose notation=&quot;left&quot;&gt;&lt;mi&gt;&amp;#x3C4;&lt;/mi&gt;&lt;/menclose&gt;&lt;/mrow&gt;&lt;/mfenced&gt;&lt;mo&gt;&amp;#xA0;&lt;/mo&gt;&lt;mo&gt;=&lt;/mo&gt;&lt;mo&gt;&amp;#xA0;&lt;/mo&gt;&lt;mstyle displaystyle=&quot;false&quot;&gt;&lt;munderover&gt;&lt;mrow&gt;&lt;munderover&gt;&lt;mo&gt;&amp;#x2211;&lt;/mo&gt;&lt;mrow&gt;&lt;mi&gt;t&lt;/mi&gt;&lt;mo&gt;'&lt;/mo&gt;&lt;mo&gt;=&lt;/mo&gt;&lt;mn&gt;0&lt;/mn&gt;&lt;/mrow&gt;&lt;mrow&gt;&lt;mi&gt;t&lt;/mi&gt;&lt;mo&gt;'&lt;/mo&gt;&lt;mo&gt;=&lt;/mo&gt;&lt;mi&gt;t&lt;/mi&gt;&lt;/mrow&gt;&lt;/munderover&gt;&lt;mo&gt;&amp;#xA0;&lt;/mo&gt;&lt;mfenced open=&quot;[&quot; close=&quot;]&quot;&gt;&lt;mrow&gt;&lt;mi&gt;log&lt;/mi&gt;&lt;mo&gt;&amp;#xA0;&lt;/mo&gt;&lt;mi&gt;P&lt;/mi&gt;&lt;mfenced&gt;&lt;mrow&gt;&lt;msub&gt;&lt;mi&gt;s&lt;/mi&gt;&lt;mrow&gt;&lt;mi&gt;t&lt;/mi&gt;&lt;mo&gt;+&lt;/mo&gt;&lt;mn&gt;1&lt;/mn&gt;&lt;mo&gt;'&lt;/mo&gt;&lt;/mrow&gt;&lt;/msub&gt;&lt;mo&gt;&amp;#xA0;&lt;/mo&gt;&lt;menclose notation=&quot;left&quot;&gt;&lt;mo&gt;&amp;#xA0;&lt;/mo&gt;&lt;msub&gt;&lt;mi&gt;s&lt;/mi&gt;&lt;mrow&gt;&lt;mi&gt;t&lt;/mi&gt;&lt;mo&gt;'&lt;/mo&gt;&lt;/mrow&gt;&lt;/msub&gt;&lt;mo&gt;,&lt;/mo&gt;&lt;msub&gt;&lt;mi&gt;a&lt;/mi&gt;&lt;mrow&gt;&lt;mi&gt;t&lt;/mi&gt;&lt;mo&gt;'&lt;/mo&gt;&lt;/mrow&gt;&lt;/msub&gt;&lt;mo&gt;&amp;#xA0;&lt;/mo&gt;&lt;/menclose&gt;&lt;/mrow&gt;&lt;/mfenced&gt;&lt;mo&gt;&amp;#xA0;&lt;/mo&gt;&lt;mo&gt;+&lt;/mo&gt;&lt;mo&gt;&amp;#xA0;&lt;/mo&gt;&lt;mi&gt;log&lt;/mi&gt;&lt;mo&gt;&amp;#xA0;&lt;/mo&gt;&lt;msub&gt;&lt;mi&gt;&amp;#x3C0;&lt;/mi&gt;&lt;mi&gt;&amp;#x3B8;&lt;/mi&gt;&lt;/msub&gt;&lt;mfenced&gt;&lt;mrow&gt;&lt;msub&gt;&lt;mi&gt;a&lt;/mi&gt;&lt;mrow&gt;&lt;mi&gt;t&lt;/mi&gt;&lt;mo&gt;'&lt;/mo&gt;&lt;/mrow&gt;&lt;/msub&gt;&lt;mo&gt;&amp;#xA0;&lt;/mo&gt;&lt;menclose notation=&quot;left&quot;&gt;&lt;mo&gt;&amp;#xA0;&lt;/mo&gt;&lt;msub&gt;&lt;mi&gt;s&lt;/mi&gt;&lt;mrow&gt;&lt;mi&gt;t&lt;/mi&gt;&lt;mo&gt;'&lt;/mo&gt;&lt;/mrow&gt;&lt;/msub&gt;&lt;/menclose&gt;&lt;/mrow&gt;&lt;/mfenced&gt;&lt;/mrow&gt;&lt;/mfenced&gt;&lt;/mrow&gt;&lt;mrow/&gt;&lt;mrow/&gt;&lt;/munderover&gt;&lt;/mstyle&gt;&lt;/math&gt;" title="log P open parentheses s subscript t comma a subscript t left enclose tau close parentheses space equals space begin inline style stack sum from t apostrophe equals 0 to t apostrophe equals t of space open square brackets log space P open parentheses s subscript t plus 1 apostrophe end subscript space left enclose space s subscript t apostrophe end subscript comma a subscript t apostrophe end subscript space end enclose close parentheses space plus space log space pi subscript theta open parentheses a subscript t apostrophe end subscript space left enclose space s subscript t apostrophe end subscript end enclose close parentheses close square brackets with blank below and blank on top end style"/>
          <p:cNvPicPr preferRelativeResize="0"/>
          <p:nvPr/>
        </p:nvPicPr>
        <p:blipFill>
          <a:blip r:embed="rId6">
            <a:alphaModFix/>
          </a:blip>
          <a:stretch>
            <a:fillRect/>
          </a:stretch>
        </p:blipFill>
        <p:spPr>
          <a:xfrm>
            <a:off x="2209450" y="2994150"/>
            <a:ext cx="5789690" cy="369635"/>
          </a:xfrm>
          <a:prstGeom prst="rect">
            <a:avLst/>
          </a:prstGeom>
          <a:noFill/>
          <a:ln>
            <a:noFill/>
          </a:ln>
        </p:spPr>
      </p:pic>
      <p:pic>
        <p:nvPicPr>
          <p:cNvPr id="1572" name="Google Shape;1572;p37" descr="&lt;math xmlns=&quot;http://www.w3.org/1998/Math/MathML&quot;&gt;&lt;msub&gt;&lt;mo&gt;&amp;#x2207;&lt;/mo&gt;&lt;mi&gt;&amp;#x3B8;&lt;/mi&gt;&lt;/msub&gt;&lt;mi&gt;log&lt;/mi&gt;&lt;mi&gt;P&lt;/mi&gt;&lt;mfenced&gt;&lt;mrow&gt;&lt;msub&gt;&lt;mi&gt;s&lt;/mi&gt;&lt;mi&gt;t&lt;/mi&gt;&lt;/msub&gt;&lt;mo&gt;,&lt;/mo&gt;&lt;msub&gt;&lt;mi&gt;a&lt;/mi&gt;&lt;mi&gt;t&lt;/mi&gt;&lt;/msub&gt;&lt;menclose notation=&quot;left&quot;&gt;&lt;mi&gt;&amp;#x3C4;&lt;/mi&gt;&lt;/menclose&gt;&lt;/mrow&gt;&lt;/mfenced&gt;&lt;mo&gt;&amp;#xA0;&lt;/mo&gt;&lt;mo&gt;=&lt;/mo&gt;&lt;msub&gt;&lt;mo&gt;&amp;#x2207;&lt;/mo&gt;&lt;mi&gt;&amp;#x3B8;&lt;/mi&gt;&lt;/msub&gt;&lt;mo&gt;&amp;#xA0;&lt;/mo&gt;&lt;mstyle displaystyle=&quot;false&quot;&gt;&lt;munderover&gt;&lt;mo&gt;&amp;#x2211;&lt;/mo&gt;&lt;mrow&gt;&lt;mi&gt;t&lt;/mi&gt;&lt;mo&gt;'&lt;/mo&gt;&lt;mo&gt;=&lt;/mo&gt;&lt;mn&gt;0&lt;/mn&gt;&lt;/mrow&gt;&lt;mrow&gt;&lt;mi&gt;t&lt;/mi&gt;&lt;mo&gt;'&lt;/mo&gt;&lt;mo&gt;=&lt;/mo&gt;&lt;mi&gt;t&lt;/mi&gt;&lt;/mrow&gt;&lt;/munderover&gt;&lt;/mstyle&gt;&lt;mi&gt;log&lt;/mi&gt;&lt;mo&gt;&amp;#xA0;&lt;/mo&gt;&lt;mstyle displaystyle=&quot;false&quot;&gt;&lt;msub&gt;&lt;mi&gt;&amp;#x3C0;&lt;/mi&gt;&lt;mi&gt;&amp;#x3B8;&lt;/mi&gt;&lt;/msub&gt;&lt;/mstyle&gt;&lt;mstyle displaystyle=&quot;false&quot;&gt;&lt;mfenced&gt;&lt;mrow&gt;&lt;msub&gt;&lt;mi&gt;a&lt;/mi&gt;&lt;mrow&gt;&lt;mi&gt;t&lt;/mi&gt;&lt;mo&gt;'&lt;/mo&gt;&lt;/mrow&gt;&lt;/msub&gt;&lt;mo&gt;&amp;#xA0;&lt;/mo&gt;&lt;menclose notation=&quot;left&quot;&gt;&lt;mo&gt;&amp;#xA0;&lt;/mo&gt;&lt;msub&gt;&lt;mi&gt;s&lt;/mi&gt;&lt;mrow&gt;&lt;mi&gt;t&lt;/mi&gt;&lt;mo&gt;'&lt;/mo&gt;&lt;/mrow&gt;&lt;/msub&gt;&lt;/menclose&gt;&lt;/mrow&gt;&lt;/mfenced&gt;&lt;/mstyle&gt;&lt;mstyle displaystyle=&quot;false&quot;&gt;&lt;mspace linebreak=&quot;newline&quot;/&gt;&lt;/mstyle&gt;&lt;/math&gt;" title="nabla subscript theta log P open parentheses s subscript t comma a subscript t left enclose tau close parentheses space equals nabla subscript theta space begin inline style sum from t apostrophe equals 0 to t apostrophe equals t of end style log space begin inline style pi subscript theta end style begin inline style open parentheses a subscript t apostrophe end subscript space left enclose space s subscript t apostrophe end subscript end enclose close parentheses end style begin inline style&#10;end style"/>
          <p:cNvPicPr preferRelativeResize="0"/>
          <p:nvPr/>
        </p:nvPicPr>
        <p:blipFill>
          <a:blip r:embed="rId7">
            <a:alphaModFix/>
          </a:blip>
          <a:stretch>
            <a:fillRect/>
          </a:stretch>
        </p:blipFill>
        <p:spPr>
          <a:xfrm>
            <a:off x="2169413" y="5078050"/>
            <a:ext cx="5789694" cy="53225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76"/>
        <p:cNvGrpSpPr/>
        <p:nvPr/>
      </p:nvGrpSpPr>
      <p:grpSpPr>
        <a:xfrm>
          <a:off x="0" y="0"/>
          <a:ext cx="0" cy="0"/>
          <a:chOff x="0" y="0"/>
          <a:chExt cx="0" cy="0"/>
        </a:xfrm>
      </p:grpSpPr>
      <p:sp>
        <p:nvSpPr>
          <p:cNvPr id="1577" name="Google Shape;1577;p38"/>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78" name="Google Shape;1578;p38"/>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Replacing this in our Reward function</a:t>
            </a:r>
            <a:endParaRPr sz="1800"/>
          </a:p>
          <a:p>
            <a:pPr marL="457200" lvl="0" indent="0" algn="l" rtl="0">
              <a:lnSpc>
                <a:spcPct val="90000"/>
              </a:lnSpc>
              <a:spcBef>
                <a:spcPts val="600"/>
              </a:spcBef>
              <a:spcAft>
                <a:spcPts val="0"/>
              </a:spcAft>
              <a:buNone/>
            </a:pPr>
            <a:br>
              <a:rPr lang="en-US" sz="1800"/>
            </a:br>
            <a:endParaRPr sz="1800"/>
          </a:p>
          <a:p>
            <a:pPr marL="457200" lvl="0" indent="-342900" algn="l" rtl="0">
              <a:spcBef>
                <a:spcPts val="600"/>
              </a:spcBef>
              <a:spcAft>
                <a:spcPts val="0"/>
              </a:spcAft>
              <a:buSzPts val="1800"/>
              <a:buChar char="●"/>
            </a:pPr>
            <a:r>
              <a:rPr lang="en-US" sz="1800"/>
              <a:t>This can also be noted as follows: </a:t>
            </a:r>
            <a:br>
              <a:rPr lang="en-US" sz="1800"/>
            </a:br>
            <a:br>
              <a:rPr lang="en-US" sz="1800"/>
            </a:br>
            <a:br>
              <a:rPr lang="en-US" sz="1800"/>
            </a:br>
            <a:br>
              <a:rPr lang="en-US" sz="1800"/>
            </a:br>
            <a:br>
              <a:rPr lang="en-US" sz="1800"/>
            </a:br>
            <a:endParaRPr sz="1800"/>
          </a:p>
          <a:p>
            <a:pPr marL="457200" lvl="0" indent="-342900" algn="l" rtl="0">
              <a:spcBef>
                <a:spcPts val="0"/>
              </a:spcBef>
              <a:spcAft>
                <a:spcPts val="0"/>
              </a:spcAft>
              <a:buSzPts val="1800"/>
              <a:buChar char="●"/>
            </a:pPr>
            <a:r>
              <a:rPr lang="en-US" sz="1800"/>
              <a:t>In case future rewards are discounted, we can arrive at a similar formula, </a:t>
            </a:r>
            <a:endParaRPr sz="1800"/>
          </a:p>
          <a:p>
            <a:pPr marL="457200" lvl="0" indent="0" algn="l" rtl="0">
              <a:spcBef>
                <a:spcPts val="600"/>
              </a:spcBef>
              <a:spcAft>
                <a:spcPts val="0"/>
              </a:spcAft>
              <a:buNone/>
            </a:pPr>
            <a:br>
              <a:rPr lang="en-US" sz="1800"/>
            </a:br>
            <a:br>
              <a:rPr lang="en-US" sz="1800"/>
            </a:br>
            <a:br>
              <a:rPr lang="en-US" sz="1800"/>
            </a:br>
            <a:br>
              <a:rPr lang="en-US" sz="1800"/>
            </a:br>
            <a:endParaRPr sz="1800"/>
          </a:p>
          <a:p>
            <a:pPr marL="457200" lvl="0" indent="0" algn="l" rtl="0">
              <a:spcBef>
                <a:spcPts val="600"/>
              </a:spcBef>
              <a:spcAft>
                <a:spcPts val="0"/>
              </a:spcAft>
              <a:buNone/>
            </a:pPr>
            <a:br>
              <a:rPr lang="en-US" sz="1800"/>
            </a:br>
            <a:endParaRPr sz="1800"/>
          </a:p>
          <a:p>
            <a:pPr marL="0" lvl="0" indent="0" algn="l" rtl="0">
              <a:spcBef>
                <a:spcPts val="600"/>
              </a:spcBef>
              <a:spcAft>
                <a:spcPts val="0"/>
              </a:spcAft>
              <a:buNone/>
            </a:pPr>
            <a:endParaRPr/>
          </a:p>
        </p:txBody>
      </p:sp>
      <p:pic>
        <p:nvPicPr>
          <p:cNvPr id="1579" name="Google Shape;1579;p38" descr="&lt;math xmlns=&quot;http://www.w3.org/1998/Math/MathML&quot;&gt;&lt;msub&gt;&lt;mo&gt;&amp;#x2207;&lt;/mo&gt;&lt;mi&gt;&amp;#x3B8;&lt;/mi&gt;&lt;/msub&gt;&lt;mi&gt;J&lt;/mi&gt;&lt;mfenced&gt;&lt;mi&gt;&amp;#x3B8;&lt;/mi&gt;&lt;/mfenced&gt;&lt;mo&gt;&amp;#xA0;&lt;/mo&gt;&lt;mo&gt;&amp;#xA0;&lt;/mo&gt;&lt;mo&gt;~&lt;/mo&gt;&lt;mo&gt;&amp;#xA0;&lt;/mo&gt;&lt;mstyle displaystyle=&quot;false&quot;&gt;&lt;munderover&gt;&lt;mo&gt;&amp;#x2211;&lt;/mo&gt;&lt;mrow&gt;&lt;mi&gt;t&lt;/mi&gt;&lt;mo&gt;=&lt;/mo&gt;&lt;mn&gt;0&lt;/mn&gt;&lt;/mrow&gt;&lt;mrow&gt;&lt;mi&gt;t&lt;/mi&gt;&lt;mo&gt;=&lt;/mo&gt;&lt;mi&gt;T&lt;/mi&gt;&lt;mo&gt;-&lt;/mo&gt;&lt;mn&gt;1&lt;/mn&gt;&lt;/mrow&gt;&lt;/munderover&gt;&lt;/mstyle&gt;&lt;msub&gt;&lt;mo&gt;&amp;#x2207;&lt;/mo&gt;&lt;mi&gt;&amp;#x3B8;&lt;/mi&gt;&lt;/msub&gt;&lt;mi&gt;log&lt;/mi&gt;&lt;mo&gt;&amp;#xA0;&lt;/mo&gt;&lt;mstyle displaystyle=&quot;false&quot;&gt;&lt;msub&gt;&lt;mi&gt;&amp;#x3C0;&lt;/mi&gt;&lt;mi&gt;&amp;#x3B8;&lt;/mi&gt;&lt;/msub&gt;&lt;/mstyle&gt;&lt;mstyle displaystyle=&quot;false&quot;&gt;&lt;mfenced&gt;&lt;mrow&gt;&lt;msub&gt;&lt;mi&gt;a&lt;/mi&gt;&lt;mi&gt;t&lt;/mi&gt;&lt;/msub&gt;&lt;mo&gt;&amp;#xA0;&lt;/mo&gt;&lt;menclose notation=&quot;left&quot;&gt;&lt;mo&gt;&amp;#xA0;&lt;/mo&gt;&lt;msub&gt;&lt;mi&gt;s&lt;/mi&gt;&lt;mi&gt;t&lt;/mi&gt;&lt;/msub&gt;&lt;/menclose&gt;&lt;/mrow&gt;&lt;/mfenced&gt;&lt;munderover&gt;&lt;mo&gt;&amp;#x2211;&lt;/mo&gt;&lt;mrow&gt;&lt;mi&gt;t&lt;/mi&gt;&lt;mo&gt;'&lt;/mo&gt;&lt;mo&gt;=&lt;/mo&gt;&lt;mi&gt;t&lt;/mi&gt;&lt;mo&gt;+&lt;/mo&gt;&lt;mn&gt;1&lt;/mn&gt;&lt;/mrow&gt;&lt;mrow&gt;&lt;mi&gt;t&lt;/mi&gt;&lt;mo&gt;'&lt;/mo&gt;&lt;mo&gt;=&lt;/mo&gt;&lt;mi&gt;T&lt;/mi&gt;&lt;/mrow&gt;&lt;/munderover&gt;&lt;/mstyle&gt;&lt;mstyle displaystyle=&quot;false&quot;&gt;&lt;mspace linebreak=&quot;newline&quot;/&gt;&lt;/mstyle&gt;&lt;msub&gt;&lt;mi&gt;r&lt;/mi&gt;&lt;mrow&gt;&lt;mi&gt;t&lt;/mi&gt;&lt;mo&gt;'&lt;/mo&gt;&lt;/mrow&gt;&lt;/msub&gt;&lt;/math&gt;" title="nabla subscript theta J open parentheses theta close parentheses space space tilde space begin inline style sum from t equals 0 to t equals T minus 1 of end style nabla subscript theta log space begin inline style pi subscript theta end style begin inline style open parentheses a subscript t space left enclose space s subscript t end enclose close parentheses sum from t apostrophe equals t plus 1 to t apostrophe equals T of end style begin inline style&#10;end style r subscript t apostrophe end subscript"/>
          <p:cNvPicPr preferRelativeResize="0"/>
          <p:nvPr/>
        </p:nvPicPr>
        <p:blipFill>
          <a:blip r:embed="rId3">
            <a:alphaModFix/>
          </a:blip>
          <a:stretch>
            <a:fillRect/>
          </a:stretch>
        </p:blipFill>
        <p:spPr>
          <a:xfrm>
            <a:off x="2446312" y="3008907"/>
            <a:ext cx="5789694" cy="466233"/>
          </a:xfrm>
          <a:prstGeom prst="rect">
            <a:avLst/>
          </a:prstGeom>
          <a:noFill/>
          <a:ln>
            <a:noFill/>
          </a:ln>
        </p:spPr>
      </p:pic>
      <p:pic>
        <p:nvPicPr>
          <p:cNvPr id="1580" name="Google Shape;1580;p38" descr="&lt;math xmlns=&quot;http://www.w3.org/1998/Math/MathML&quot;&gt;&lt;msub&gt;&lt;mo&gt;&amp;#x2207;&lt;/mo&gt;&lt;mi&gt;&amp;#x3B8;&lt;/mi&gt;&lt;/msub&gt;&lt;mi&gt;J&lt;/mi&gt;&lt;mfenced&gt;&lt;mi&gt;&amp;#x3B8;&lt;/mi&gt;&lt;/mfenced&gt;&lt;mo&gt;&amp;#xA0;&lt;/mo&gt;&lt;mo&gt;&amp;#xA0;&lt;/mo&gt;&lt;mo&gt;~&lt;/mo&gt;&lt;mo&gt;&amp;#xA0;&lt;/mo&gt;&lt;mstyle displaystyle=&quot;false&quot;&gt;&lt;munderover&gt;&lt;mo&gt;&amp;#x2211;&lt;/mo&gt;&lt;mrow&gt;&lt;mi&gt;t&lt;/mi&gt;&lt;mo&gt;=&lt;/mo&gt;&lt;mn&gt;0&lt;/mn&gt;&lt;/mrow&gt;&lt;mrow&gt;&lt;mi&gt;r&lt;/mi&gt;&lt;mo&gt;=&lt;/mo&gt;&lt;mi&gt;T&lt;/mi&gt;&lt;mo&gt;-&lt;/mo&gt;&lt;mn&gt;1&lt;/mn&gt;&lt;/mrow&gt;&lt;/munderover&gt;&lt;/mstyle&gt;&lt;msub&gt;&lt;mi&gt;r&lt;/mi&gt;&lt;mrow&gt;&lt;mi&gt;t&lt;/mi&gt;&lt;mo&gt;+&lt;/mo&gt;&lt;mn&gt;1&lt;/mn&gt;&lt;/mrow&gt;&lt;/msub&gt;&lt;mfenced&gt;&lt;mrow&gt;&lt;mo&gt;&amp;#xA0;&lt;/mo&gt;&lt;mstyle displaystyle=&quot;false&quot;&gt;&lt;munderover&gt;&lt;mo&gt;&amp;#x2211;&lt;/mo&gt;&lt;mrow&gt;&lt;mi&gt;t&lt;/mi&gt;&lt;mo&gt;'&lt;/mo&gt;&lt;mo&gt;=&lt;/mo&gt;&lt;mn&gt;0&lt;/mn&gt;&lt;/mrow&gt;&lt;mrow&gt;&lt;mi&gt;t&lt;/mi&gt;&lt;mo&gt;'&lt;/mo&gt;&lt;mo&gt;=&lt;/mo&gt;&lt;mi&gt;t&lt;/mi&gt;&lt;/mrow&gt;&lt;/munderover&gt;&lt;msub&gt;&lt;mo&gt;&amp;#x2207;&lt;/mo&gt;&lt;mi&gt;&amp;#x3B8;&lt;/mi&gt;&lt;/msub&gt;&lt;/mstyle&gt;&lt;mi&gt;log&lt;/mi&gt;&lt;mo&gt;&amp;#xA0;&lt;/mo&gt;&lt;mstyle displaystyle=&quot;false&quot;&gt;&lt;msub&gt;&lt;mi&gt;&amp;#x3C0;&lt;/mi&gt;&lt;mi&gt;&amp;#x3B8;&lt;/mi&gt;&lt;/msub&gt;&lt;/mstyle&gt;&lt;mstyle displaystyle=&quot;false&quot;&gt;&lt;mfenced&gt;&lt;mrow&gt;&lt;msub&gt;&lt;mi&gt;a&lt;/mi&gt;&lt;mrow&gt;&lt;mi&gt;t&lt;/mi&gt;&lt;mo&gt;'&lt;/mo&gt;&lt;/mrow&gt;&lt;/msub&gt;&lt;mo&gt;&amp;#xA0;&lt;/mo&gt;&lt;menclose notation=&quot;left&quot;&gt;&lt;mo&gt;&amp;#xA0;&lt;/mo&gt;&lt;msub&gt;&lt;mi&gt;s&lt;/mi&gt;&lt;mrow&gt;&lt;mi&gt;t&lt;/mi&gt;&lt;mo&gt;'&lt;/mo&gt;&lt;/mrow&gt;&lt;/msub&gt;&lt;/menclose&gt;&lt;/mrow&gt;&lt;/mfenced&gt;&lt;/mstyle&gt;&lt;mstyle displaystyle=&quot;false&quot;&gt;&lt;mspace linebreak=&quot;newline&quot;/&gt;&lt;/mstyle&gt;&lt;/mrow&gt;&lt;/mfenced&gt;&lt;/math&gt;" title="nabla subscript theta J open parentheses theta close parentheses space space tilde space begin inline style sum from t equals 0 to r equals T minus 1 of end style r subscript t plus 1 end subscript open parentheses space begin inline style sum from t apostrophe equals 0 to t apostrophe equals t of nabla subscript theta end style log space begin inline style pi subscript theta end style begin inline style open parentheses a subscript t apostrophe end subscript space left enclose space s subscript t apostrophe end subscript end enclose close parentheses end style begin inline style&#10;end style close parentheses"/>
          <p:cNvPicPr preferRelativeResize="0"/>
          <p:nvPr/>
        </p:nvPicPr>
        <p:blipFill>
          <a:blip r:embed="rId4">
            <a:alphaModFix/>
          </a:blip>
          <a:stretch>
            <a:fillRect/>
          </a:stretch>
        </p:blipFill>
        <p:spPr>
          <a:xfrm>
            <a:off x="2379237" y="2106681"/>
            <a:ext cx="5789691" cy="583576"/>
          </a:xfrm>
          <a:prstGeom prst="rect">
            <a:avLst/>
          </a:prstGeom>
          <a:noFill/>
          <a:ln>
            <a:noFill/>
          </a:ln>
        </p:spPr>
      </p:pic>
      <p:sp>
        <p:nvSpPr>
          <p:cNvPr id="1581" name="Google Shape;1581;p38"/>
          <p:cNvSpPr/>
          <p:nvPr/>
        </p:nvSpPr>
        <p:spPr>
          <a:xfrm>
            <a:off x="6899450" y="2919675"/>
            <a:ext cx="1448100" cy="7197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2" name="Google Shape;1582;p38" descr="&lt;math xmlns=&quot;http://www.w3.org/1998/Math/MathML&quot;&gt;&lt;msub&gt;&lt;mi mathcolor=&quot;#FF0000&quot;&gt;G&lt;/mi&gt;&lt;mi mathcolor=&quot;#FF0000&quot;&gt;t&lt;/mi&gt;&lt;/msub&gt;&lt;/math&gt;" title="G subscript t"/>
          <p:cNvPicPr preferRelativeResize="0"/>
          <p:nvPr/>
        </p:nvPicPr>
        <p:blipFill>
          <a:blip r:embed="rId5">
            <a:alphaModFix/>
          </a:blip>
          <a:stretch>
            <a:fillRect/>
          </a:stretch>
        </p:blipFill>
        <p:spPr>
          <a:xfrm>
            <a:off x="7382772" y="3715450"/>
            <a:ext cx="369500" cy="362800"/>
          </a:xfrm>
          <a:prstGeom prst="rect">
            <a:avLst/>
          </a:prstGeom>
          <a:noFill/>
          <a:ln>
            <a:noFill/>
          </a:ln>
        </p:spPr>
      </p:pic>
      <p:pic>
        <p:nvPicPr>
          <p:cNvPr id="1583" name="Google Shape;1583;p38" descr="&lt;math xmlns=&quot;http://www.w3.org/1998/Math/MathML&quot;&gt;&lt;msub&gt;&lt;mi&gt;G&lt;/mi&gt;&lt;mi&gt;t&lt;/mi&gt;&lt;/msub&gt;&lt;mo&gt;&amp;#xA0;&lt;/mo&gt;&lt;mo&gt;&amp;#xA0;&lt;/mo&gt;&lt;mo&gt;=&lt;/mo&gt;&lt;mo&gt;&amp;#xA0;&lt;/mo&gt;&lt;mstyle displaystyle=&quot;false&quot;&gt;&lt;munderover&gt;&lt;mo&gt;&amp;#x2211;&lt;/mo&gt;&lt;mrow&gt;&lt;mi&gt;t&lt;/mi&gt;&lt;mo&gt;'&lt;/mo&gt;&lt;mo&gt;=&lt;/mo&gt;&lt;mi&gt;t&lt;/mi&gt;&lt;mo&gt;+&lt;/mo&gt;&lt;mn&gt;1&lt;/mn&gt;&lt;/mrow&gt;&lt;mrow&gt;&lt;mi&gt;t&lt;/mi&gt;&lt;mo&gt;'&lt;/mo&gt;&lt;mo&gt;=&lt;/mo&gt;&lt;mi&gt;T&lt;/mi&gt;&lt;/mrow&gt;&lt;/munderover&gt;&lt;/mstyle&gt;&lt;msup&gt;&lt;mi&gt;&amp;#x3B3;&lt;/mi&gt;&lt;mrow&gt;&lt;mi&gt;t&lt;/mi&gt;&lt;mo&gt;'&lt;/mo&gt;&lt;mo&gt;-&lt;/mo&gt;&lt;mi&gt;t&lt;/mi&gt;&lt;mo&gt;-&lt;/mo&gt;&lt;mn&gt;1&lt;/mn&gt;&lt;/mrow&gt;&lt;/msup&gt;&lt;msub&gt;&lt;mi&gt;r&lt;/mi&gt;&lt;mrow&gt;&lt;mi&gt;t&lt;/mi&gt;&lt;mo&gt;'&lt;/mo&gt;&lt;/mrow&gt;&lt;/msub&gt;&lt;/math&gt;" title="G subscript t space space equals space begin inline style sum from t apostrophe equals t plus 1 to t apostrophe equals T of end style gamma to the power of t apostrophe minus t minus 1 end exponent r subscript t apostrophe end subscript"/>
          <p:cNvPicPr preferRelativeResize="0"/>
          <p:nvPr/>
        </p:nvPicPr>
        <p:blipFill>
          <a:blip r:embed="rId6">
            <a:alphaModFix/>
          </a:blip>
          <a:stretch>
            <a:fillRect/>
          </a:stretch>
        </p:blipFill>
        <p:spPr>
          <a:xfrm>
            <a:off x="2674700" y="4760950"/>
            <a:ext cx="3283124" cy="523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87"/>
        <p:cNvGrpSpPr/>
        <p:nvPr/>
      </p:nvGrpSpPr>
      <p:grpSpPr>
        <a:xfrm>
          <a:off x="0" y="0"/>
          <a:ext cx="0" cy="0"/>
          <a:chOff x="0" y="0"/>
          <a:chExt cx="0" cy="0"/>
        </a:xfrm>
      </p:grpSpPr>
      <p:sp>
        <p:nvSpPr>
          <p:cNvPr id="1588" name="Google Shape;1588;p39"/>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89" name="Google Shape;1589;p39"/>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So, the formula for the gradient of the reward function wrt to the policy is:</a:t>
            </a:r>
            <a:endParaRPr sz="1800"/>
          </a:p>
          <a:p>
            <a:pPr marL="457200" lvl="0" indent="0" algn="l" rtl="0">
              <a:lnSpc>
                <a:spcPct val="90000"/>
              </a:lnSpc>
              <a:spcBef>
                <a:spcPts val="600"/>
              </a:spcBef>
              <a:spcAft>
                <a:spcPts val="0"/>
              </a:spcAft>
              <a:buNone/>
            </a:pPr>
            <a:br>
              <a:rPr lang="en-US" sz="1800"/>
            </a:br>
            <a:endParaRPr sz="1800"/>
          </a:p>
          <a:p>
            <a:pPr marL="457200" lvl="0" indent="0" algn="l" rtl="0">
              <a:spcBef>
                <a:spcPts val="600"/>
              </a:spcBef>
              <a:spcAft>
                <a:spcPts val="0"/>
              </a:spcAft>
              <a:buNone/>
            </a:pPr>
            <a:br>
              <a:rPr lang="en-US" sz="1800"/>
            </a:br>
            <a:br>
              <a:rPr lang="en-US" sz="1800"/>
            </a:br>
            <a:br>
              <a:rPr lang="en-US" sz="1800"/>
            </a:br>
            <a:br>
              <a:rPr lang="en-US" sz="1800"/>
            </a:br>
            <a:br>
              <a:rPr lang="en-US" sz="1800"/>
            </a:br>
            <a:r>
              <a:rPr lang="en-US" sz="1800"/>
              <a:t>		   where</a:t>
            </a:r>
            <a:br>
              <a:rPr lang="en-US" sz="1800"/>
            </a:br>
            <a:br>
              <a:rPr lang="en-US" sz="1800"/>
            </a:br>
            <a:br>
              <a:rPr lang="en-US" sz="1800"/>
            </a:br>
            <a:endParaRPr sz="1800"/>
          </a:p>
          <a:p>
            <a:pPr marL="457200" lvl="0" indent="0" algn="l" rtl="0">
              <a:spcBef>
                <a:spcPts val="600"/>
              </a:spcBef>
              <a:spcAft>
                <a:spcPts val="0"/>
              </a:spcAft>
              <a:buNone/>
            </a:pPr>
            <a:br>
              <a:rPr lang="en-US" sz="1800"/>
            </a:br>
            <a:endParaRPr sz="1800"/>
          </a:p>
          <a:p>
            <a:pPr marL="0" lvl="0" indent="0" algn="l" rtl="0">
              <a:spcBef>
                <a:spcPts val="600"/>
              </a:spcBef>
              <a:spcAft>
                <a:spcPts val="0"/>
              </a:spcAft>
              <a:buNone/>
            </a:pPr>
            <a:endParaRPr/>
          </a:p>
        </p:txBody>
      </p:sp>
      <p:pic>
        <p:nvPicPr>
          <p:cNvPr id="1590" name="Google Shape;1590;p39"/>
          <p:cNvPicPr preferRelativeResize="0"/>
          <p:nvPr/>
        </p:nvPicPr>
        <p:blipFill>
          <a:blip r:embed="rId3">
            <a:alphaModFix/>
          </a:blip>
          <a:stretch>
            <a:fillRect/>
          </a:stretch>
        </p:blipFill>
        <p:spPr>
          <a:xfrm>
            <a:off x="3478150" y="4290800"/>
            <a:ext cx="3526033" cy="562400"/>
          </a:xfrm>
          <a:prstGeom prst="rect">
            <a:avLst/>
          </a:prstGeom>
          <a:noFill/>
          <a:ln>
            <a:noFill/>
          </a:ln>
        </p:spPr>
      </p:pic>
      <p:pic>
        <p:nvPicPr>
          <p:cNvPr id="1591" name="Google Shape;1591;p39" descr="&lt;math xmlns=&quot;http://www.w3.org/1998/Math/MathML&quot;&gt;&lt;msub&gt;&lt;mo mathcolor=&quot;#FFFFFF&quot;&gt;&amp;#x2207;&lt;/mo&gt;&lt;mi mathcolor=&quot;#FFFFFF&quot;&gt;&amp;#x3B8;&lt;/mi&gt;&lt;/msub&gt;&lt;mi mathcolor=&quot;#FFFFFF&quot;&gt;J&lt;/mi&gt;&lt;mfenced mathcolor=&quot;#FFFFFF&quot;&gt;&lt;mi&gt;&amp;#x3B8;&lt;/mi&gt;&lt;/mfenced&gt;&lt;mo mathcolor=&quot;#FFFFFF&quot;&gt;&amp;#xA0;&lt;/mo&gt;&lt;mo mathcolor=&quot;#FFFFFF&quot;&gt;&amp;#xA0;&lt;/mo&gt;&lt;mo mathcolor=&quot;#FFFFFF&quot;&gt;=&lt;/mo&gt;&lt;mo mathcolor=&quot;#FFFFFF&quot;&gt;&amp;#xA0;&lt;/mo&gt;&lt;mstyle mathcolor=&quot;#FFFFFF&quot; displaystyle=&quot;false&quot;&gt;&lt;munderover&gt;&lt;mo&gt;&amp;#x2211;&lt;/mo&gt;&lt;mrow&gt;&lt;mi&gt;t&lt;/mi&gt;&lt;mo&gt;=&lt;/mo&gt;&lt;mn&gt;0&lt;/mn&gt;&lt;/mrow&gt;&lt;mrow&gt;&lt;mi&gt;t&lt;/mi&gt;&lt;mo&gt;=&lt;/mo&gt;&lt;mi&gt;T&lt;/mi&gt;&lt;mo&gt;-&lt;/mo&gt;&lt;mn&gt;1&lt;/mn&gt;&lt;/mrow&gt;&lt;/munderover&gt;&lt;/mstyle&gt;&lt;msub&gt;&lt;mo mathcolor=&quot;#FFFFFF&quot;&gt;&amp;#x2207;&lt;/mo&gt;&lt;mi mathcolor=&quot;#FFFFFF&quot;&gt;&amp;#x3B8;&lt;/mi&gt;&lt;/msub&gt;&lt;mi mathcolor=&quot;#FFFFFF&quot;&gt;l&lt;/mi&gt;&lt;mi mathcolor=&quot;#FFFFFF&quot;&gt;o&lt;/mi&gt;&lt;mi mathcolor=&quot;#FFFFFF&quot;&gt;g&lt;/mi&gt;&lt;mo mathcolor=&quot;#FFFFFF&quot;&gt;&amp;#xA0;&lt;/mo&gt;&lt;mstyle mathcolor=&quot;#FFFFFF&quot; displaystyle=&quot;false&quot;&gt;&lt;msub&gt;&lt;mi&gt;&amp;#x3C0;&lt;/mi&gt;&lt;mi&gt;&amp;#x3B8;&lt;/mi&gt;&lt;/msub&gt;&lt;/mstyle&gt;&lt;mstyle mathcolor=&quot;#FFFFFF&quot; displaystyle=&quot;false&quot;&gt;&lt;mfenced&gt;&lt;mrow&gt;&lt;msub&gt;&lt;mi&gt;a&lt;/mi&gt;&lt;mi&gt;t&lt;/mi&gt;&lt;/msub&gt;&lt;mo&gt;&amp;#xA0;&lt;/mo&gt;&lt;menclose notation=&quot;left&quot;&gt;&lt;mo&gt;&amp;#xA0;&lt;/mo&gt;&lt;msub&gt;&lt;mi&gt;s&lt;/mi&gt;&lt;mi&gt;t&lt;/mi&gt;&lt;/msub&gt;&lt;/menclose&gt;&lt;/mrow&gt;&lt;/mfenced&gt;&lt;msub&gt;&lt;mi&gt;G&lt;/mi&gt;&lt;mi&gt;t&lt;/mi&gt;&lt;/msub&gt;&lt;/mstyle&gt;&lt;/math&gt;" title="nabla subscript theta J open parentheses theta close parentheses space space equals space begin inline style sum from t equals 0 to t equals T minus 1 of end style nabla subscript theta l o g space begin inline style pi subscript theta end style begin inline style open parentheses a subscript t space left enclose space s subscript t end enclose close parentheses G subscript t end style"/>
          <p:cNvPicPr preferRelativeResize="0"/>
          <p:nvPr/>
        </p:nvPicPr>
        <p:blipFill>
          <a:blip r:embed="rId4">
            <a:alphaModFix/>
          </a:blip>
          <a:stretch>
            <a:fillRect/>
          </a:stretch>
        </p:blipFill>
        <p:spPr>
          <a:xfrm>
            <a:off x="3380462" y="2795131"/>
            <a:ext cx="5789691" cy="57086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95"/>
        <p:cNvGrpSpPr/>
        <p:nvPr/>
      </p:nvGrpSpPr>
      <p:grpSpPr>
        <a:xfrm>
          <a:off x="0" y="0"/>
          <a:ext cx="0" cy="0"/>
          <a:chOff x="0" y="0"/>
          <a:chExt cx="0" cy="0"/>
        </a:xfrm>
      </p:grpSpPr>
      <p:sp>
        <p:nvSpPr>
          <p:cNvPr id="1596" name="Google Shape;1596;p40"/>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a:t>
            </a:r>
            <a:endParaRPr/>
          </a:p>
        </p:txBody>
      </p:sp>
      <p:sp>
        <p:nvSpPr>
          <p:cNvPr id="1597" name="Google Shape;1597;p40"/>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dirty="0"/>
              <a:t>This tells us that, in order to train the network to choose an action that will maximize the reward we have to, at each time step</a:t>
            </a:r>
            <a:endParaRPr sz="1800" dirty="0"/>
          </a:p>
          <a:p>
            <a:pPr marL="914400" lvl="1" indent="-342900" algn="l" rtl="0">
              <a:lnSpc>
                <a:spcPct val="90000"/>
              </a:lnSpc>
              <a:spcBef>
                <a:spcPts val="0"/>
              </a:spcBef>
              <a:spcAft>
                <a:spcPts val="0"/>
              </a:spcAft>
              <a:buSzPts val="1800"/>
              <a:buChar char="○"/>
            </a:pPr>
            <a:r>
              <a:rPr lang="en-US" sz="1800" dirty="0"/>
              <a:t>Choose an action  according to our policy:</a:t>
            </a:r>
            <a:endParaRPr sz="1800" dirty="0"/>
          </a:p>
          <a:p>
            <a:pPr marL="457200" lvl="0" indent="0" algn="l" rtl="0">
              <a:lnSpc>
                <a:spcPct val="90000"/>
              </a:lnSpc>
              <a:spcBef>
                <a:spcPts val="600"/>
              </a:spcBef>
              <a:spcAft>
                <a:spcPts val="0"/>
              </a:spcAft>
              <a:buNone/>
            </a:pPr>
            <a:r>
              <a:rPr lang="en-US" sz="1800" dirty="0"/>
              <a:t>	</a:t>
            </a:r>
            <a:br>
              <a:rPr lang="en-US" sz="1800" dirty="0"/>
            </a:br>
            <a:endParaRPr sz="1800" dirty="0"/>
          </a:p>
          <a:p>
            <a:pPr marL="914400" lvl="1" indent="-342900" algn="l" rtl="0">
              <a:lnSpc>
                <a:spcPct val="90000"/>
              </a:lnSpc>
              <a:spcBef>
                <a:spcPts val="600"/>
              </a:spcBef>
              <a:spcAft>
                <a:spcPts val="0"/>
              </a:spcAft>
              <a:buSzPts val="1800"/>
              <a:buChar char="○"/>
            </a:pPr>
            <a:r>
              <a:rPr lang="en-US" sz="1800" dirty="0"/>
              <a:t>Compute the log of the probability of the action that was chosen</a:t>
            </a:r>
            <a:endParaRPr sz="1800" dirty="0"/>
          </a:p>
          <a:p>
            <a:pPr marL="457200" lvl="0" indent="0" algn="l" rtl="0">
              <a:lnSpc>
                <a:spcPct val="90000"/>
              </a:lnSpc>
              <a:spcBef>
                <a:spcPts val="600"/>
              </a:spcBef>
              <a:spcAft>
                <a:spcPts val="0"/>
              </a:spcAft>
              <a:buNone/>
            </a:pPr>
            <a:endParaRPr sz="1800" dirty="0"/>
          </a:p>
          <a:p>
            <a:pPr marL="914400" lvl="1" indent="-342900" algn="l" rtl="0">
              <a:spcBef>
                <a:spcPts val="600"/>
              </a:spcBef>
              <a:spcAft>
                <a:spcPts val="0"/>
              </a:spcAft>
              <a:buSzPts val="1800"/>
              <a:buChar char="○"/>
            </a:pPr>
            <a:r>
              <a:rPr lang="en-US" sz="1800" dirty="0"/>
              <a:t>Compute the discounted future return and multiply it by the log value.</a:t>
            </a:r>
            <a:br>
              <a:rPr lang="en-US" sz="1800" dirty="0"/>
            </a:br>
            <a:br>
              <a:rPr lang="en-US" sz="1800" dirty="0"/>
            </a:br>
            <a:br>
              <a:rPr lang="en-US" sz="1800" dirty="0"/>
            </a:br>
            <a:r>
              <a:rPr lang="en-US" sz="1800" dirty="0"/>
              <a:t>      </a:t>
            </a:r>
            <a:r>
              <a:rPr lang="en-US" sz="1600" dirty="0"/>
              <a:t>The problem here is that we only know this when the episode ends</a:t>
            </a:r>
            <a:endParaRPr sz="1600" dirty="0"/>
          </a:p>
          <a:p>
            <a:pPr marL="914400" lvl="1" indent="-330200" algn="l" rtl="0">
              <a:spcBef>
                <a:spcPts val="0"/>
              </a:spcBef>
              <a:spcAft>
                <a:spcPts val="0"/>
              </a:spcAft>
              <a:buSzPts val="1600"/>
              <a:buChar char="○"/>
            </a:pPr>
            <a:endParaRPr sz="1800" dirty="0"/>
          </a:p>
          <a:p>
            <a:pPr marL="914400" lvl="1" indent="-330200" algn="l" rtl="0">
              <a:spcBef>
                <a:spcPts val="0"/>
              </a:spcBef>
              <a:spcAft>
                <a:spcPts val="0"/>
              </a:spcAft>
              <a:buSzPts val="1600"/>
              <a:buChar char="○"/>
            </a:pPr>
            <a:r>
              <a:rPr lang="en-US" sz="1800" dirty="0"/>
              <a:t>Compute the gradient of this value </a:t>
            </a:r>
            <a:r>
              <a:rPr lang="en-US" sz="1800" dirty="0" err="1"/>
              <a:t>w.r.t</a:t>
            </a:r>
            <a:r>
              <a:rPr lang="en-US" sz="1800" dirty="0"/>
              <a:t> to each weight in the network:</a:t>
            </a:r>
            <a:br>
              <a:rPr lang="en-US" dirty="0"/>
            </a:br>
            <a:endParaRPr dirty="0"/>
          </a:p>
          <a:p>
            <a:pPr marL="0" lvl="0" indent="0" algn="l" rtl="0">
              <a:spcBef>
                <a:spcPts val="600"/>
              </a:spcBef>
              <a:spcAft>
                <a:spcPts val="0"/>
              </a:spcAft>
              <a:buNone/>
            </a:pPr>
            <a:endParaRPr sz="1800" dirty="0"/>
          </a:p>
        </p:txBody>
      </p:sp>
      <p:pic>
        <p:nvPicPr>
          <p:cNvPr id="1598" name="Google Shape;1598;p40" descr="&lt;math xmlns=&quot;http://www.w3.org/1998/Math/MathML&quot;&gt;&lt;mstyle displaystyle=&quot;false&quot;&gt;&lt;mstyle mathcolor=&quot;#191919&quot;&gt;&lt;msub&gt;&lt;mi&gt;&amp;#x3C0;&lt;/mi&gt;&lt;mi&gt;&amp;#x3B8;&lt;/mi&gt;&lt;/msub&gt;&lt;/mstyle&gt;&lt;mstyle mathcolor=&quot;#191919&quot;&gt;&lt;mfenced&gt;&lt;mrow&gt;&lt;msub&gt;&lt;mi&gt;a&lt;/mi&gt;&lt;mi&gt;t&lt;/mi&gt;&lt;/msub&gt;&lt;mo&gt;&amp;#xA0;&lt;/mo&gt;&lt;menclose notation=&quot;left&quot;&gt;&lt;mo&gt;&amp;#xA0;&lt;/mo&gt;&lt;msub&gt;&lt;mi&gt;s&lt;/mi&gt;&lt;mi&gt;t&lt;/mi&gt;&lt;/msub&gt;&lt;/menclose&gt;&lt;/mrow&gt;&lt;/mfenced&gt;&lt;/mstyle&gt;&lt;/mstyle&gt;&lt;/math&gt;" title="begin inline style pi subscript theta open parentheses a subscript t space left enclose space s subscript t end enclose close parentheses end style"/>
          <p:cNvPicPr preferRelativeResize="0"/>
          <p:nvPr/>
        </p:nvPicPr>
        <p:blipFill>
          <a:blip r:embed="rId3">
            <a:alphaModFix/>
          </a:blip>
          <a:stretch>
            <a:fillRect/>
          </a:stretch>
        </p:blipFill>
        <p:spPr>
          <a:xfrm>
            <a:off x="4775100" y="2685750"/>
            <a:ext cx="904925" cy="328875"/>
          </a:xfrm>
          <a:prstGeom prst="rect">
            <a:avLst/>
          </a:prstGeom>
          <a:noFill/>
          <a:ln>
            <a:noFill/>
          </a:ln>
        </p:spPr>
      </p:pic>
      <p:pic>
        <p:nvPicPr>
          <p:cNvPr id="1599" name="Google Shape;1599;p40" descr="&lt;math xmlns=&quot;http://www.w3.org/1998/Math/MathML&quot;&gt;&lt;mpadded mathcolor=&quot;#191919&quot; lspace=&quot;-1px&quot;&gt;&lt;mi&gt;log&lt;/mi&gt;&lt;mo&gt;&amp;#xA0;&lt;/mo&gt;&lt;mstyle displaystyle=&quot;false&quot;&gt;&lt;msub&gt;&lt;mi&gt;&amp;#x3C0;&lt;/mi&gt;&lt;mi&gt;&amp;#x3B8;&lt;/mi&gt;&lt;/msub&gt;&lt;/mstyle&gt;&lt;mstyle displaystyle=&quot;false&quot;&gt;&lt;mfenced&gt;&lt;mrow&gt;&lt;msub&gt;&lt;mi&gt;a&lt;/mi&gt;&lt;mi&gt;t&lt;/mi&gt;&lt;/msub&gt;&lt;mo&gt;&amp;#xA0;&lt;/mo&gt;&lt;menclose notation=&quot;left&quot;&gt;&lt;mo&gt;&amp;#xA0;&lt;/mo&gt;&lt;msub&gt;&lt;mi&gt;s&lt;/mi&gt;&lt;mi&gt;t&lt;/mi&gt;&lt;/msub&gt;&lt;/menclose&gt;&lt;/mrow&gt;&lt;/mfenced&gt;&lt;/mstyle&gt;&lt;/mpadded&gt;&lt;/math&gt;" title="log space begin inline style pi subscript theta end style begin inline style open parentheses a subscript t space left enclose space s subscript t end enclose close parentheses end style"/>
          <p:cNvPicPr preferRelativeResize="0"/>
          <p:nvPr/>
        </p:nvPicPr>
        <p:blipFill>
          <a:blip r:embed="rId4">
            <a:alphaModFix/>
          </a:blip>
          <a:stretch>
            <a:fillRect/>
          </a:stretch>
        </p:blipFill>
        <p:spPr>
          <a:xfrm>
            <a:off x="4725494" y="3466594"/>
            <a:ext cx="1219855" cy="328875"/>
          </a:xfrm>
          <a:prstGeom prst="rect">
            <a:avLst/>
          </a:prstGeom>
          <a:noFill/>
          <a:ln>
            <a:noFill/>
          </a:ln>
        </p:spPr>
      </p:pic>
      <p:pic>
        <p:nvPicPr>
          <p:cNvPr id="1600" name="Google Shape;1600;p40" descr="&lt;math xmlns=&quot;http://www.w3.org/1998/Math/MathML&quot;&gt;&lt;mpadded mathcolor=&quot;#191919&quot; lspace=&quot;-1px&quot;&gt;&lt;mi&gt;log&lt;/mi&gt;&lt;mo&gt;&amp;#xA0;&lt;/mo&gt;&lt;mstyle displaystyle=&quot;false&quot;&gt;&lt;msub&gt;&lt;mi&gt;&amp;#x3C0;&lt;/mi&gt;&lt;mi&gt;&amp;#x3B8;&lt;/mi&gt;&lt;/msub&gt;&lt;/mstyle&gt;&lt;mstyle displaystyle=&quot;false&quot;&gt;&lt;mfenced&gt;&lt;mrow&gt;&lt;msub&gt;&lt;mi&gt;a&lt;/mi&gt;&lt;mi&gt;t&lt;/mi&gt;&lt;/msub&gt;&lt;mo&gt;&amp;#xA0;&lt;/mo&gt;&lt;menclose notation=&quot;left&quot;&gt;&lt;mo&gt;&amp;#xA0;&lt;/mo&gt;&lt;msub&gt;&lt;mi&gt;s&lt;/mi&gt;&lt;mi&gt;t&lt;/mi&gt;&lt;/msub&gt;&lt;/menclose&gt;&lt;/mrow&gt;&lt;/mfenced&gt;&lt;/mstyle&gt;&lt;/mpadded&gt;&lt;msub&gt;&lt;mi&gt;G&lt;/mi&gt;&lt;mi&gt;t&lt;/mi&gt;&lt;/msub&gt;&lt;/math&gt;" title="log space begin inline style pi subscript theta end style begin inline style open parentheses a subscript t space left enclose space s subscript t end enclose close parentheses end style G subscript t"/>
          <p:cNvPicPr preferRelativeResize="0"/>
          <p:nvPr/>
        </p:nvPicPr>
        <p:blipFill>
          <a:blip r:embed="rId5">
            <a:alphaModFix/>
          </a:blip>
          <a:stretch>
            <a:fillRect/>
          </a:stretch>
        </p:blipFill>
        <p:spPr>
          <a:xfrm>
            <a:off x="4725496" y="4125046"/>
            <a:ext cx="1439072" cy="328875"/>
          </a:xfrm>
          <a:prstGeom prst="rect">
            <a:avLst/>
          </a:prstGeom>
          <a:noFill/>
          <a:ln>
            <a:noFill/>
          </a:ln>
        </p:spPr>
      </p:pic>
      <p:pic>
        <p:nvPicPr>
          <p:cNvPr id="1601" name="Google Shape;1601;p40" descr="&lt;math xmlns=&quot;http://www.w3.org/1998/Math/MathML&quot;&gt;&lt;msub&gt;&lt;mo mathcolor=&quot;#191919&quot;&gt;&amp;#x2207;&lt;/mo&gt;&lt;mi mathcolor=&quot;#191919&quot;&gt;&amp;#x3B8;&lt;/mi&gt;&lt;/msub&gt;&lt;mi mathcolor=&quot;#191919&quot;&gt;l&lt;/mi&gt;&lt;mi mathcolor=&quot;#191919&quot;&gt;o&lt;/mi&gt;&lt;mi mathcolor=&quot;#191919&quot;&gt;g&lt;/mi&gt;&lt;mo mathcolor=&quot;#191919&quot;&gt;&amp;#xA0;&lt;/mo&gt;&lt;mstyle mathcolor=&quot;#191919&quot; displaystyle=&quot;false&quot;&gt;&lt;msub&gt;&lt;mi&gt;&amp;#x3C0;&lt;/mi&gt;&lt;mi&gt;&amp;#x3B8;&lt;/mi&gt;&lt;/msub&gt;&lt;/mstyle&gt;&lt;mstyle mathcolor=&quot;#191919&quot; displaystyle=&quot;false&quot;&gt;&lt;mfenced&gt;&lt;mrow&gt;&lt;msub&gt;&lt;mi&gt;a&lt;/mi&gt;&lt;mi&gt;t&lt;/mi&gt;&lt;/msub&gt;&lt;mo&gt;&amp;#xA0;&lt;/mo&gt;&lt;menclose notation=&quot;left&quot;&gt;&lt;mo&gt;&amp;#xA0;&lt;/mo&gt;&lt;msub&gt;&lt;mi&gt;s&lt;/mi&gt;&lt;mi&gt;t&lt;/mi&gt;&lt;/msub&gt;&lt;/menclose&gt;&lt;/mrow&gt;&lt;/mfenced&gt;&lt;msub&gt;&lt;mi&gt;G&lt;/mi&gt;&lt;mi&gt;t&lt;/mi&gt;&lt;/msub&gt;&lt;/mstyle&gt;&lt;/math&gt;" title="nabla subscript theta l o g space begin inline style pi subscript theta end style begin inline style open parentheses a subscript t space left enclose space s subscript t end enclose close parentheses G subscript t end style"/>
          <p:cNvPicPr preferRelativeResize="0"/>
          <p:nvPr/>
        </p:nvPicPr>
        <p:blipFill>
          <a:blip r:embed="rId6">
            <a:alphaModFix/>
          </a:blip>
          <a:stretch>
            <a:fillRect/>
          </a:stretch>
        </p:blipFill>
        <p:spPr>
          <a:xfrm>
            <a:off x="4418406" y="5424653"/>
            <a:ext cx="2053249" cy="389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05"/>
        <p:cNvGrpSpPr/>
        <p:nvPr/>
      </p:nvGrpSpPr>
      <p:grpSpPr>
        <a:xfrm>
          <a:off x="0" y="0"/>
          <a:ext cx="0" cy="0"/>
          <a:chOff x="0" y="0"/>
          <a:chExt cx="0" cy="0"/>
        </a:xfrm>
      </p:grpSpPr>
      <p:sp>
        <p:nvSpPr>
          <p:cNvPr id="1606" name="Google Shape;1606;p41"/>
          <p:cNvSpPr txBox="1">
            <a:spLocks noGrp="1"/>
          </p:cNvSpPr>
          <p:nvPr>
            <p:ph type="body" idx="1"/>
          </p:nvPr>
        </p:nvSpPr>
        <p:spPr>
          <a:xfrm>
            <a:off x="1674811" y="1905000"/>
            <a:ext cx="4776000" cy="4267200"/>
          </a:xfrm>
          <a:prstGeom prst="rect">
            <a:avLst/>
          </a:prstGeom>
          <a:noFill/>
          <a:ln>
            <a:noFill/>
          </a:ln>
        </p:spPr>
        <p:txBody>
          <a:bodyPr spcFirstLastPara="1" wrap="square" lIns="91425" tIns="45700" rIns="91425" bIns="45700" anchor="t" anchorCtr="0">
            <a:noAutofit/>
          </a:bodyPr>
          <a:lstStyle/>
          <a:p>
            <a:pPr marL="457200" lvl="0" indent="-320040" algn="l" rtl="0">
              <a:spcBef>
                <a:spcPts val="0"/>
              </a:spcBef>
              <a:spcAft>
                <a:spcPts val="0"/>
              </a:spcAft>
              <a:buSzPts val="1440"/>
              <a:buChar char="●"/>
            </a:pPr>
            <a:r>
              <a:rPr lang="en-US" dirty="0"/>
              <a:t>I</a:t>
            </a:r>
            <a:r>
              <a:rPr lang="en-US" sz="1800" dirty="0"/>
              <a:t>nitialize the network</a:t>
            </a:r>
            <a:endParaRPr sz="1800" dirty="0"/>
          </a:p>
          <a:p>
            <a:pPr marL="457200" lvl="0" indent="0" algn="l" rtl="0">
              <a:spcBef>
                <a:spcPts val="0"/>
              </a:spcBef>
              <a:spcAft>
                <a:spcPts val="0"/>
              </a:spcAft>
              <a:buNone/>
            </a:pPr>
            <a:endParaRPr sz="1800" dirty="0"/>
          </a:p>
          <a:p>
            <a:pPr marL="914400" lvl="1" indent="-342900" algn="l" rtl="0">
              <a:spcBef>
                <a:spcPts val="0"/>
              </a:spcBef>
              <a:spcAft>
                <a:spcPts val="0"/>
              </a:spcAft>
              <a:buSzPts val="1800"/>
              <a:buChar char="○"/>
            </a:pPr>
            <a:r>
              <a:rPr lang="en-US" sz="1800" dirty="0"/>
              <a:t>Our network we’ll receive as input the the current environment state</a:t>
            </a:r>
            <a:endParaRPr sz="1800" dirty="0"/>
          </a:p>
          <a:p>
            <a:pPr marL="914400" lvl="0" indent="0" algn="l" rtl="0">
              <a:spcBef>
                <a:spcPts val="0"/>
              </a:spcBef>
              <a:spcAft>
                <a:spcPts val="0"/>
              </a:spcAft>
              <a:buNone/>
            </a:pPr>
            <a:endParaRPr sz="1800" dirty="0"/>
          </a:p>
          <a:p>
            <a:pPr marL="914400" lvl="1" indent="-342900" algn="l" rtl="0">
              <a:spcBef>
                <a:spcPts val="0"/>
              </a:spcBef>
              <a:spcAft>
                <a:spcPts val="0"/>
              </a:spcAft>
              <a:buSzPts val="1800"/>
              <a:buChar char="○"/>
            </a:pPr>
            <a:r>
              <a:rPr lang="en-US" sz="1800" dirty="0"/>
              <a:t>Since we want to be stochastic, we’ll use a SoftMax layer as the final layer</a:t>
            </a:r>
            <a:endParaRPr sz="1800" dirty="0"/>
          </a:p>
          <a:p>
            <a:pPr marL="914400" lvl="1" indent="-342900" algn="l" rtl="0">
              <a:spcBef>
                <a:spcPts val="0"/>
              </a:spcBef>
              <a:spcAft>
                <a:spcPts val="0"/>
              </a:spcAft>
              <a:buSzPts val="1800"/>
              <a:buChar char="○"/>
            </a:pPr>
            <a:endParaRPr sz="1800" dirty="0"/>
          </a:p>
          <a:p>
            <a:pPr marL="914400" lvl="1" indent="-342900" algn="l" rtl="0">
              <a:spcBef>
                <a:spcPts val="0"/>
              </a:spcBef>
              <a:spcAft>
                <a:spcPts val="0"/>
              </a:spcAft>
              <a:buSzPts val="1800"/>
              <a:buChar char="○"/>
            </a:pPr>
            <a:r>
              <a:rPr lang="en-US" sz="1800" dirty="0"/>
              <a:t>The weights are initialized randomly, depending on the activation function </a:t>
            </a:r>
            <a:endParaRPr sz="1800" dirty="0"/>
          </a:p>
          <a:p>
            <a:pPr marL="576072" lvl="2" indent="0" algn="l" rtl="0">
              <a:lnSpc>
                <a:spcPct val="90000"/>
              </a:lnSpc>
              <a:spcBef>
                <a:spcPts val="600"/>
              </a:spcBef>
              <a:spcAft>
                <a:spcPts val="0"/>
              </a:spcAft>
              <a:buSzPts val="1440"/>
              <a:buNone/>
            </a:pPr>
            <a:endParaRPr dirty="0"/>
          </a:p>
          <a:p>
            <a:pPr marL="0" lvl="2" indent="0" algn="l" rtl="0">
              <a:lnSpc>
                <a:spcPct val="90000"/>
              </a:lnSpc>
              <a:spcBef>
                <a:spcPts val="600"/>
              </a:spcBef>
              <a:spcAft>
                <a:spcPts val="0"/>
              </a:spcAft>
              <a:buSzPts val="1440"/>
              <a:buNone/>
            </a:pPr>
            <a:endParaRPr dirty="0"/>
          </a:p>
          <a:p>
            <a:pPr marL="804672" lvl="3" indent="0" algn="l" rtl="0">
              <a:lnSpc>
                <a:spcPct val="90000"/>
              </a:lnSpc>
              <a:spcBef>
                <a:spcPts val="600"/>
              </a:spcBef>
              <a:spcAft>
                <a:spcPts val="0"/>
              </a:spcAft>
              <a:buSzPts val="1600"/>
              <a:buNone/>
            </a:pPr>
            <a:endParaRPr dirty="0"/>
          </a:p>
          <a:p>
            <a:pPr marL="804672" lvl="3" indent="0" algn="l" rtl="0">
              <a:lnSpc>
                <a:spcPct val="90000"/>
              </a:lnSpc>
              <a:spcBef>
                <a:spcPts val="600"/>
              </a:spcBef>
              <a:spcAft>
                <a:spcPts val="0"/>
              </a:spcAft>
              <a:buSzPts val="1600"/>
              <a:buNone/>
            </a:pPr>
            <a:endParaRPr dirty="0"/>
          </a:p>
          <a:p>
            <a:pPr marL="804672" lvl="3" indent="0" algn="l" rtl="0">
              <a:lnSpc>
                <a:spcPct val="90000"/>
              </a:lnSpc>
              <a:spcBef>
                <a:spcPts val="600"/>
              </a:spcBef>
              <a:spcAft>
                <a:spcPts val="0"/>
              </a:spcAft>
              <a:buSzPts val="1600"/>
              <a:buNone/>
            </a:pP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a:p>
            <a:pPr marL="548640" lvl="1" indent="-147320" algn="l" rtl="0">
              <a:lnSpc>
                <a:spcPct val="90000"/>
              </a:lnSpc>
              <a:spcBef>
                <a:spcPts val="600"/>
              </a:spcBef>
              <a:spcAft>
                <a:spcPts val="0"/>
              </a:spcAft>
              <a:buSzPts val="2000"/>
              <a:buNone/>
            </a:pPr>
            <a:endParaRPr dirty="0"/>
          </a:p>
        </p:txBody>
      </p:sp>
      <p:sp>
        <p:nvSpPr>
          <p:cNvPr id="1607" name="Google Shape;1607;p41"/>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 detailed steps</a:t>
            </a:r>
            <a:endParaRPr/>
          </a:p>
        </p:txBody>
      </p:sp>
      <p:sp>
        <p:nvSpPr>
          <p:cNvPr id="1608" name="Google Shape;1608;p41"/>
          <p:cNvSpPr/>
          <p:nvPr/>
        </p:nvSpPr>
        <p:spPr>
          <a:xfrm>
            <a:off x="8218454" y="41766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609" name="Google Shape;1609;p41"/>
          <p:cNvSpPr/>
          <p:nvPr/>
        </p:nvSpPr>
        <p:spPr>
          <a:xfrm>
            <a:off x="8294655" y="42528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610" name="Google Shape;1610;p41"/>
          <p:cNvSpPr/>
          <p:nvPr/>
        </p:nvSpPr>
        <p:spPr>
          <a:xfrm>
            <a:off x="8370856" y="43290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611" name="Google Shape;1611;p41"/>
          <p:cNvSpPr/>
          <p:nvPr/>
        </p:nvSpPr>
        <p:spPr>
          <a:xfrm>
            <a:off x="8466107" y="439382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entury Gothic"/>
                <a:ea typeface="Century Gothic"/>
                <a:cs typeface="Century Gothic"/>
                <a:sym typeface="Century Gothic"/>
              </a:rPr>
              <a:t>state</a:t>
            </a:r>
            <a:endParaRPr sz="1800">
              <a:solidFill>
                <a:schemeClr val="dk1"/>
              </a:solidFill>
              <a:latin typeface="Century Gothic"/>
              <a:ea typeface="Century Gothic"/>
              <a:cs typeface="Century Gothic"/>
              <a:sym typeface="Century Gothic"/>
            </a:endParaRPr>
          </a:p>
        </p:txBody>
      </p:sp>
      <p:cxnSp>
        <p:nvCxnSpPr>
          <p:cNvPr id="1612" name="Google Shape;1612;p41"/>
          <p:cNvCxnSpPr>
            <a:stCxn id="1608" idx="0"/>
            <a:endCxn id="1613" idx="2"/>
          </p:cNvCxnSpPr>
          <p:nvPr/>
        </p:nvCxnSpPr>
        <p:spPr>
          <a:xfrm rot="10800000">
            <a:off x="8833904" y="3666954"/>
            <a:ext cx="0" cy="509700"/>
          </a:xfrm>
          <a:prstGeom prst="straightConnector1">
            <a:avLst/>
          </a:prstGeom>
          <a:noFill/>
          <a:ln w="25400" cap="flat" cmpd="sng">
            <a:solidFill>
              <a:schemeClr val="dk1"/>
            </a:solidFill>
            <a:prstDash val="solid"/>
            <a:miter lim="800000"/>
            <a:headEnd type="none" w="sm" len="sm"/>
            <a:tailEnd type="triangle" w="med" len="med"/>
          </a:ln>
        </p:spPr>
      </p:cxnSp>
      <p:cxnSp>
        <p:nvCxnSpPr>
          <p:cNvPr id="1614" name="Google Shape;1614;p41"/>
          <p:cNvCxnSpPr>
            <a:stCxn id="1613" idx="0"/>
          </p:cNvCxnSpPr>
          <p:nvPr/>
        </p:nvCxnSpPr>
        <p:spPr>
          <a:xfrm rot="10800000">
            <a:off x="7381612" y="2820289"/>
            <a:ext cx="1452300" cy="457500"/>
          </a:xfrm>
          <a:prstGeom prst="straightConnector1">
            <a:avLst/>
          </a:prstGeom>
          <a:noFill/>
          <a:ln w="25400" cap="flat" cmpd="sng">
            <a:solidFill>
              <a:schemeClr val="dk1"/>
            </a:solidFill>
            <a:prstDash val="solid"/>
            <a:miter lim="800000"/>
            <a:headEnd type="none" w="sm" len="sm"/>
            <a:tailEnd type="triangle" w="med" len="med"/>
          </a:ln>
        </p:spPr>
      </p:cxnSp>
      <p:cxnSp>
        <p:nvCxnSpPr>
          <p:cNvPr id="1615" name="Google Shape;1615;p41"/>
          <p:cNvCxnSpPr>
            <a:stCxn id="1613" idx="0"/>
            <a:endCxn id="1616" idx="2"/>
          </p:cNvCxnSpPr>
          <p:nvPr/>
        </p:nvCxnSpPr>
        <p:spPr>
          <a:xfrm rot="10800000">
            <a:off x="8833912" y="2811889"/>
            <a:ext cx="0" cy="465900"/>
          </a:xfrm>
          <a:prstGeom prst="straightConnector1">
            <a:avLst/>
          </a:prstGeom>
          <a:noFill/>
          <a:ln w="25400" cap="flat" cmpd="sng">
            <a:solidFill>
              <a:schemeClr val="dk1"/>
            </a:solidFill>
            <a:prstDash val="solid"/>
            <a:miter lim="800000"/>
            <a:headEnd type="none" w="sm" len="sm"/>
            <a:tailEnd type="triangle" w="med" len="med"/>
          </a:ln>
        </p:spPr>
      </p:cxnSp>
      <p:sp>
        <p:nvSpPr>
          <p:cNvPr id="1617" name="Google Shape;1617;p41"/>
          <p:cNvSpPr/>
          <p:nvPr/>
        </p:nvSpPr>
        <p:spPr>
          <a:xfrm>
            <a:off x="9852746" y="2269670"/>
            <a:ext cx="1364100" cy="525900"/>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entury Gothic"/>
                <a:ea typeface="Century Gothic"/>
                <a:cs typeface="Century Gothic"/>
                <a:sym typeface="Century Gothic"/>
              </a:rPr>
              <a:t> </a:t>
            </a:r>
            <a:endParaRPr/>
          </a:p>
        </p:txBody>
      </p:sp>
      <p:cxnSp>
        <p:nvCxnSpPr>
          <p:cNvPr id="1618" name="Google Shape;1618;p41"/>
          <p:cNvCxnSpPr>
            <a:stCxn id="1613" idx="0"/>
            <a:endCxn id="1617" idx="2"/>
          </p:cNvCxnSpPr>
          <p:nvPr/>
        </p:nvCxnSpPr>
        <p:spPr>
          <a:xfrm rot="10800000" flipH="1">
            <a:off x="8833912" y="2795689"/>
            <a:ext cx="1701000" cy="482100"/>
          </a:xfrm>
          <a:prstGeom prst="straightConnector1">
            <a:avLst/>
          </a:prstGeom>
          <a:noFill/>
          <a:ln w="25400" cap="flat" cmpd="sng">
            <a:solidFill>
              <a:schemeClr val="dk1"/>
            </a:solidFill>
            <a:prstDash val="solid"/>
            <a:miter lim="800000"/>
            <a:headEnd type="none" w="sm" len="sm"/>
            <a:tailEnd type="triangle" w="med" len="med"/>
          </a:ln>
        </p:spPr>
      </p:cxnSp>
      <p:sp>
        <p:nvSpPr>
          <p:cNvPr id="1613" name="Google Shape;1613;p41"/>
          <p:cNvSpPr/>
          <p:nvPr/>
        </p:nvSpPr>
        <p:spPr>
          <a:xfrm>
            <a:off x="7805212" y="3277789"/>
            <a:ext cx="2057400" cy="389100"/>
          </a:xfrm>
          <a:prstGeom prst="rect">
            <a:avLst/>
          </a:prstGeom>
          <a:solidFill>
            <a:srgbClr val="BFBFBF"/>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Century Gothic"/>
                <a:ea typeface="Century Gothic"/>
                <a:cs typeface="Century Gothic"/>
                <a:sym typeface="Century Gothic"/>
              </a:rPr>
              <a:t>Network – hidden layers</a:t>
            </a:r>
            <a:endParaRPr sz="1200">
              <a:solidFill>
                <a:schemeClr val="dk1"/>
              </a:solidFill>
              <a:latin typeface="Century Gothic"/>
              <a:ea typeface="Century Gothic"/>
              <a:cs typeface="Century Gothic"/>
              <a:sym typeface="Century Gothic"/>
            </a:endParaRPr>
          </a:p>
        </p:txBody>
      </p:sp>
      <p:sp>
        <p:nvSpPr>
          <p:cNvPr id="1616" name="Google Shape;1616;p41"/>
          <p:cNvSpPr/>
          <p:nvPr/>
        </p:nvSpPr>
        <p:spPr>
          <a:xfrm>
            <a:off x="8151812" y="2286000"/>
            <a:ext cx="1364100" cy="525900"/>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entury Gothic"/>
                <a:ea typeface="Century Gothic"/>
                <a:cs typeface="Century Gothic"/>
                <a:sym typeface="Century Gothic"/>
              </a:rPr>
              <a:t> </a:t>
            </a:r>
            <a:endParaRPr/>
          </a:p>
        </p:txBody>
      </p:sp>
      <p:sp>
        <p:nvSpPr>
          <p:cNvPr id="1619" name="Google Shape;1619;p41"/>
          <p:cNvSpPr/>
          <p:nvPr/>
        </p:nvSpPr>
        <p:spPr>
          <a:xfrm>
            <a:off x="6450878" y="2286646"/>
            <a:ext cx="1364100" cy="5259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entury Gothic"/>
                <a:ea typeface="Century Gothic"/>
                <a:cs typeface="Century Gothic"/>
                <a:sym typeface="Century Gothic"/>
              </a:rPr>
              <a:t> </a:t>
            </a:r>
            <a:endParaRPr/>
          </a:p>
        </p:txBody>
      </p:sp>
      <p:sp>
        <p:nvSpPr>
          <p:cNvPr id="1620" name="Google Shape;1620;p41"/>
          <p:cNvSpPr/>
          <p:nvPr/>
        </p:nvSpPr>
        <p:spPr>
          <a:xfrm>
            <a:off x="6197675" y="1889200"/>
            <a:ext cx="5170200" cy="9312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1"/>
          <p:cNvSpPr txBox="1"/>
          <p:nvPr/>
        </p:nvSpPr>
        <p:spPr>
          <a:xfrm>
            <a:off x="8285375" y="1889200"/>
            <a:ext cx="994800" cy="5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FF0000"/>
                </a:solidFill>
                <a:latin typeface="Century Gothic"/>
                <a:ea typeface="Century Gothic"/>
                <a:cs typeface="Century Gothic"/>
                <a:sym typeface="Century Gothic"/>
              </a:rPr>
              <a:t>Softmax</a:t>
            </a:r>
            <a:endParaRPr>
              <a:solidFill>
                <a:srgbClr val="FF0000"/>
              </a:solidFill>
              <a:latin typeface="Century Gothic"/>
              <a:ea typeface="Century Gothic"/>
              <a:cs typeface="Century Gothic"/>
              <a:sym typeface="Century Gothic"/>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25"/>
        <p:cNvGrpSpPr/>
        <p:nvPr/>
      </p:nvGrpSpPr>
      <p:grpSpPr>
        <a:xfrm>
          <a:off x="0" y="0"/>
          <a:ext cx="0" cy="0"/>
          <a:chOff x="0" y="0"/>
          <a:chExt cx="0" cy="0"/>
        </a:xfrm>
      </p:grpSpPr>
      <p:sp>
        <p:nvSpPr>
          <p:cNvPr id="1626" name="Google Shape;1626;p42"/>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Algorithm:detailed steps</a:t>
            </a:r>
            <a:endParaRPr/>
          </a:p>
        </p:txBody>
      </p:sp>
      <p:sp>
        <p:nvSpPr>
          <p:cNvPr id="1627" name="Google Shape;1627;p42"/>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Generate episodes</a:t>
            </a:r>
            <a:endParaRPr sz="1800"/>
          </a:p>
          <a:p>
            <a:pPr marL="457200" lvl="0" indent="0" algn="l" rtl="0">
              <a:lnSpc>
                <a:spcPct val="90000"/>
              </a:lnSpc>
              <a:spcBef>
                <a:spcPts val="600"/>
              </a:spcBef>
              <a:spcAft>
                <a:spcPts val="0"/>
              </a:spcAft>
              <a:buNone/>
            </a:pPr>
            <a:endParaRPr sz="1800"/>
          </a:p>
          <a:p>
            <a:pPr marL="914400" lvl="1" indent="-342900" algn="l" rtl="0">
              <a:lnSpc>
                <a:spcPct val="90000"/>
              </a:lnSpc>
              <a:spcBef>
                <a:spcPts val="600"/>
              </a:spcBef>
              <a:spcAft>
                <a:spcPts val="0"/>
              </a:spcAft>
              <a:buSzPts val="1800"/>
              <a:buChar char="○"/>
            </a:pPr>
            <a:r>
              <a:rPr lang="en-US" sz="1800"/>
              <a:t>For each episode:</a:t>
            </a:r>
            <a:endParaRPr sz="1800"/>
          </a:p>
          <a:p>
            <a:pPr marL="1371600" lvl="2" indent="-342900" algn="l" rtl="0">
              <a:lnSpc>
                <a:spcPct val="90000"/>
              </a:lnSpc>
              <a:spcBef>
                <a:spcPts val="0"/>
              </a:spcBef>
              <a:spcAft>
                <a:spcPts val="0"/>
              </a:spcAft>
              <a:buSzPts val="1800"/>
              <a:buChar char="■"/>
            </a:pPr>
            <a:r>
              <a:rPr lang="en-US" sz="1800"/>
              <a:t>We will feed the state of the agent to the neural network at each time - st</a:t>
            </a:r>
            <a:r>
              <a:rPr lang="en-US"/>
              <a:t>ep (just like in q-learning)</a:t>
            </a:r>
            <a:br>
              <a:rPr lang="en-US"/>
            </a:br>
            <a:endParaRPr/>
          </a:p>
          <a:p>
            <a:pPr marL="1371600" lvl="2" indent="-320039" algn="l" rtl="0">
              <a:lnSpc>
                <a:spcPct val="90000"/>
              </a:lnSpc>
              <a:spcBef>
                <a:spcPts val="0"/>
              </a:spcBef>
              <a:spcAft>
                <a:spcPts val="0"/>
              </a:spcAft>
              <a:buSzPts val="1440"/>
              <a:buChar char="■"/>
            </a:pPr>
            <a:r>
              <a:rPr lang="en-US"/>
              <a:t>After the feed-forward step we will choose an action in a stochastic way, based on the softmax layer:</a:t>
            </a:r>
            <a:endParaRPr/>
          </a:p>
          <a:p>
            <a:pPr marL="1828800" lvl="3" indent="-330200" algn="l" rtl="0">
              <a:lnSpc>
                <a:spcPct val="90000"/>
              </a:lnSpc>
              <a:spcBef>
                <a:spcPts val="0"/>
              </a:spcBef>
              <a:spcAft>
                <a:spcPts val="0"/>
              </a:spcAft>
              <a:buSzPts val="1600"/>
              <a:buChar char="●"/>
            </a:pPr>
            <a:r>
              <a:rPr lang="en-US"/>
              <a:t>I.e. if we have 3 actions with the probabilities: 0.1, 0.3, 0.6, we’ll generate a random number between 0 and 1 and choose the action based on the interval it is in</a:t>
            </a:r>
            <a:br>
              <a:rPr lang="en-US"/>
            </a:br>
            <a:endParaRPr/>
          </a:p>
          <a:p>
            <a:pPr marL="1371600" lvl="2" indent="-320039" algn="l" rtl="0">
              <a:lnSpc>
                <a:spcPct val="90000"/>
              </a:lnSpc>
              <a:spcBef>
                <a:spcPts val="0"/>
              </a:spcBef>
              <a:spcAft>
                <a:spcPts val="0"/>
              </a:spcAft>
              <a:buSzPts val="1440"/>
              <a:buChar char="■"/>
            </a:pPr>
            <a:r>
              <a:rPr lang="en-US"/>
              <a:t>Compute the action, move into a new state and get the reward. </a:t>
            </a:r>
            <a:endParaRPr/>
          </a:p>
          <a:p>
            <a:pPr marL="0" lvl="0" indent="0" algn="l" rtl="0">
              <a:spcBef>
                <a:spcPts val="600"/>
              </a:spcBef>
              <a:spcAft>
                <a:spcPts val="0"/>
              </a:spcAft>
              <a:buNone/>
            </a:pPr>
            <a:endParaRPr sz="1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31"/>
        <p:cNvGrpSpPr/>
        <p:nvPr/>
      </p:nvGrpSpPr>
      <p:grpSpPr>
        <a:xfrm>
          <a:off x="0" y="0"/>
          <a:ext cx="0" cy="0"/>
          <a:chOff x="0" y="0"/>
          <a:chExt cx="0" cy="0"/>
        </a:xfrm>
      </p:grpSpPr>
      <p:sp>
        <p:nvSpPr>
          <p:cNvPr id="1632" name="Google Shape;1632;p43"/>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3200"/>
              <a:buFont typeface="Century Gothic"/>
              <a:buNone/>
            </a:pPr>
            <a:r>
              <a:rPr lang="en-US"/>
              <a:t>Gradient Policy Algorithm:detailed steps</a:t>
            </a:r>
            <a:endParaRPr/>
          </a:p>
        </p:txBody>
      </p:sp>
      <p:sp>
        <p:nvSpPr>
          <p:cNvPr id="1633" name="Google Shape;1633;p43"/>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274320" lvl="0" indent="-266700" algn="l" rtl="0">
              <a:spcBef>
                <a:spcPts val="0"/>
              </a:spcBef>
              <a:spcAft>
                <a:spcPts val="0"/>
              </a:spcAft>
              <a:buSzPts val="1800"/>
              <a:buChar char="●"/>
            </a:pPr>
            <a:r>
              <a:rPr lang="en-US" sz="1800"/>
              <a:t>Compute the reward:</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US" sz="1800"/>
              <a:t>	In most of the cases, the reward can only be computed at the end of the episode.</a:t>
            </a: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None/>
            </a:pPr>
            <a:r>
              <a:rPr lang="en-US" sz="1800"/>
              <a:t>	When an episode finishes, we’ll compute the discounted rewards for every state (from the final state to the initial one):</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Clr>
                <a:schemeClr val="dk1"/>
              </a:buClr>
              <a:buSzPts val="1100"/>
              <a:buFont typeface="Arial"/>
              <a:buNone/>
            </a:pPr>
            <a:r>
              <a:rPr lang="en-US" sz="1800"/>
              <a:t>		</a:t>
            </a:r>
            <a:endParaRPr sz="1800"/>
          </a:p>
        </p:txBody>
      </p:sp>
      <p:pic>
        <p:nvPicPr>
          <p:cNvPr id="1634" name="Google Shape;1634;p43" descr="&lt;math xmlns=&quot;http://www.w3.org/1998/Math/MathML&quot;&gt;&lt;msub&gt;&lt;mi&gt;R&lt;/mi&gt;&lt;mrow&gt;&lt;mi&gt;i&lt;/mi&gt;&lt;mo&gt;-&lt;/mo&gt;&lt;mn&gt;1&lt;/mn&gt;&lt;/mrow&gt;&lt;/msub&gt;&lt;mo&gt;=&lt;/mo&gt;&lt;mi&gt;&amp;#x3B3;&lt;/mi&gt;&lt;msub&gt;&lt;mi&gt;R&lt;/mi&gt;&lt;mi&gt;i&lt;/mi&gt;&lt;/msub&gt;&lt;mo&gt;+&lt;/mo&gt;&lt;msub&gt;&lt;mi&gt;r&lt;/mi&gt;&lt;mrow&gt;&lt;mi&gt;i&lt;/mi&gt;&lt;mo&gt;-&lt;/mo&gt;&lt;mn&gt;1&lt;/mn&gt;&lt;/mrow&gt;&lt;/msub&gt;&lt;/math&gt;" title="R subscript i minus 1 end subscript equals gamma R subscript i plus r subscript i minus 1 end subscript"/>
          <p:cNvPicPr preferRelativeResize="0"/>
          <p:nvPr/>
        </p:nvPicPr>
        <p:blipFill>
          <a:blip r:embed="rId3">
            <a:alphaModFix/>
          </a:blip>
          <a:stretch>
            <a:fillRect/>
          </a:stretch>
        </p:blipFill>
        <p:spPr>
          <a:xfrm>
            <a:off x="5183450" y="3962925"/>
            <a:ext cx="1966925" cy="28361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38"/>
        <p:cNvGrpSpPr/>
        <p:nvPr/>
      </p:nvGrpSpPr>
      <p:grpSpPr>
        <a:xfrm>
          <a:off x="0" y="0"/>
          <a:ext cx="0" cy="0"/>
          <a:chOff x="0" y="0"/>
          <a:chExt cx="0" cy="0"/>
        </a:xfrm>
      </p:grpSpPr>
      <p:sp>
        <p:nvSpPr>
          <p:cNvPr id="1639" name="Google Shape;1639;p44"/>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3200"/>
              <a:buFont typeface="Century Gothic"/>
              <a:buNone/>
            </a:pPr>
            <a:r>
              <a:rPr lang="en-US"/>
              <a:t>Gradient Policy Algorithm:detailed steps</a:t>
            </a:r>
            <a:endParaRPr/>
          </a:p>
        </p:txBody>
      </p:sp>
      <p:sp>
        <p:nvSpPr>
          <p:cNvPr id="1640" name="Google Shape;1640;p44"/>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274320" lvl="0" indent="-266700" algn="l" rtl="0">
              <a:spcBef>
                <a:spcPts val="0"/>
              </a:spcBef>
              <a:spcAft>
                <a:spcPts val="0"/>
              </a:spcAft>
              <a:buSzPts val="1800"/>
              <a:buChar char="●"/>
            </a:pPr>
            <a:r>
              <a:rPr lang="en-US" sz="1800"/>
              <a:t>Compute the reward:</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	Since there might be very long episodes and the reward is computed at the end, it is possible to have a big variance in the rewards </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	One way to solve this is to standardize the results (i.e. z-score). This way we’ll increase the probability of better than average results and decrease the probability of the others.</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457200" algn="l" rtl="0">
              <a:spcBef>
                <a:spcPts val="0"/>
              </a:spcBef>
              <a:spcAft>
                <a:spcPts val="0"/>
              </a:spcAft>
              <a:buNone/>
            </a:pPr>
            <a:r>
              <a:rPr lang="en-US" sz="1800"/>
              <a:t> </a:t>
            </a:r>
            <a:r>
              <a:rPr lang="en-US" sz="1800" baseline="-25000"/>
              <a:t> </a:t>
            </a:r>
            <a:endParaRPr sz="1800" baseline="30000"/>
          </a:p>
          <a:p>
            <a:pPr marL="0" lvl="0" indent="0" algn="l" rtl="0">
              <a:spcBef>
                <a:spcPts val="0"/>
              </a:spcBef>
              <a:spcAft>
                <a:spcPts val="0"/>
              </a:spcAft>
              <a:buNone/>
            </a:pPr>
            <a:endParaRPr sz="1800"/>
          </a:p>
          <a:p>
            <a:pPr marL="0" lvl="0" indent="0" algn="l" rtl="0">
              <a:spcBef>
                <a:spcPts val="0"/>
              </a:spcBef>
              <a:spcAft>
                <a:spcPts val="0"/>
              </a:spcAft>
              <a:buNone/>
            </a:pPr>
            <a:r>
              <a:rPr lang="en-US" sz="1800"/>
              <a:t>		</a:t>
            </a:r>
            <a:endParaRPr sz="1800"/>
          </a:p>
        </p:txBody>
      </p:sp>
      <p:pic>
        <p:nvPicPr>
          <p:cNvPr id="1641" name="Google Shape;1641;p44" descr="&lt;math xmlns=&quot;http://www.w3.org/1998/Math/MathML&quot;&gt;&lt;msub&gt;&lt;mi&gt;R&lt;/mi&gt;&lt;mi&gt;i&lt;/mi&gt;&lt;/msub&gt;&lt;mo&gt;=&lt;/mo&gt;&lt;mfrac&gt;&lt;mrow&gt;&lt;msub&gt;&lt;mi&gt;R&lt;/mi&gt;&lt;mi&gt;i&lt;/mi&gt;&lt;/msub&gt;&lt;mo&gt;-&lt;/mo&gt;&lt;msub&gt;&lt;mi&gt;&amp;#x3BC;&lt;/mi&gt;&lt;mi&gt;R&lt;/mi&gt;&lt;/msub&gt;&lt;/mrow&gt;&lt;msub&gt;&lt;mi&gt;&amp;#x3C3;&lt;/mi&gt;&lt;mi&gt;R&lt;/mi&gt;&lt;/msub&gt;&lt;/mfrac&gt;&lt;/math&gt;" title="R subscript i equals fraction numerator R subscript i minus mu subscript R over denominator sigma subscript R end fraction"/>
          <p:cNvPicPr preferRelativeResize="0"/>
          <p:nvPr/>
        </p:nvPicPr>
        <p:blipFill>
          <a:blip r:embed="rId3">
            <a:alphaModFix/>
          </a:blip>
          <a:stretch>
            <a:fillRect/>
          </a:stretch>
        </p:blipFill>
        <p:spPr>
          <a:xfrm>
            <a:off x="5183450" y="3962925"/>
            <a:ext cx="1220286" cy="609075"/>
          </a:xfrm>
          <a:prstGeom prst="rect">
            <a:avLst/>
          </a:prstGeom>
          <a:noFill/>
          <a:ln>
            <a:noFill/>
          </a:ln>
        </p:spPr>
      </p:pic>
      <p:pic>
        <p:nvPicPr>
          <p:cNvPr id="1642" name="Google Shape;1642;p44" descr="&lt;math xmlns=&quot;http://www.w3.org/1998/Math/MathML&quot;&gt;&lt;msub&gt;&lt;mi mathcolor=&quot;#FFFFFF&quot;&gt;&amp;#x3BC;&lt;/mi&gt;&lt;mi mathcolor=&quot;#FFFFFF&quot;&gt;R&lt;/mi&gt;&lt;/msub&gt;&lt;mo mathcolor=&quot;#FFFFFF&quot;&gt;=&lt;/mo&gt;&lt;mi mathcolor=&quot;#FFFFFF&quot;&gt;a&lt;/mi&gt;&lt;mi mathcolor=&quot;#FFFFFF&quot;&gt;v&lt;/mi&gt;&lt;mi mathcolor=&quot;#FFFFFF&quot;&gt;e&lt;/mi&gt;&lt;mi mathcolor=&quot;#FFFFFF&quot;&gt;r&lt;/mi&gt;&lt;mi mathcolor=&quot;#FFFFFF&quot;&gt;a&lt;/mi&gt;&lt;mi mathcolor=&quot;#FFFFFF&quot;&gt;g&lt;/mi&gt;&lt;mi mathcolor=&quot;#FFFFFF&quot;&gt;e&lt;/mi&gt;&lt;mo mathcolor=&quot;#FFFFFF&quot;&gt;&amp;#xA0;&lt;/mo&gt;&lt;mi mathcolor=&quot;#FFFFFF&quot;&gt;o&lt;/mi&gt;&lt;mi mathcolor=&quot;#FFFFFF&quot;&gt;f&lt;/mi&gt;&lt;mo mathcolor=&quot;#FFFFFF&quot;&gt;&amp;#xA0;&lt;/mo&gt;&lt;mi mathcolor=&quot;#FFFFFF&quot;&gt;t&lt;/mi&gt;&lt;mi mathcolor=&quot;#FFFFFF&quot;&gt;h&lt;/mi&gt;&lt;mi mathcolor=&quot;#FFFFFF&quot;&gt;e&lt;/mi&gt;&lt;mo mathcolor=&quot;#FFFFFF&quot;&gt;&amp;#xA0;&lt;/mo&gt;&lt;mi mathcolor=&quot;#FFFFFF&quot;&gt;r&lt;/mi&gt;&lt;mi mathcolor=&quot;#FFFFFF&quot;&gt;e&lt;/mi&gt;&lt;mi mathcolor=&quot;#FFFFFF&quot;&gt;w&lt;/mi&gt;&lt;mi mathcolor=&quot;#FFFFFF&quot;&gt;a&lt;/mi&gt;&lt;mi mathcolor=&quot;#FFFFFF&quot;&gt;r&lt;/mi&gt;&lt;mi mathcolor=&quot;#FFFFFF&quot;&gt;d&lt;/mi&gt;&lt;mi mathcolor=&quot;#FFFFFF&quot;&gt;s&lt;/mi&gt;&lt;mo mathcolor=&quot;#FFFFFF&quot;&gt;&amp;#xA0;&lt;/mo&gt;&lt;mi mathcolor=&quot;#FFFFFF&quot;&gt;a&lt;/mi&gt;&lt;mi mathcolor=&quot;#FFFFFF&quot;&gt;l&lt;/mi&gt;&lt;mi mathcolor=&quot;#FFFFFF&quot;&gt;o&lt;/mi&gt;&lt;mi mathcolor=&quot;#FFFFFF&quot;&gt;n&lt;/mi&gt;&lt;mi mathcolor=&quot;#FFFFFF&quot;&gt;g&lt;/mi&gt;&lt;mo mathcolor=&quot;#FFFFFF&quot;&gt;&amp;#xA0;&lt;/mo&gt;&lt;mi mathcolor=&quot;#FFFFFF&quot;&gt;t&lt;/mi&gt;&lt;mi mathcolor=&quot;#FFFFFF&quot;&gt;h&lt;/mi&gt;&lt;mi mathcolor=&quot;#FFFFFF&quot;&gt;e&lt;/mi&gt;&lt;mo mathcolor=&quot;#FFFFFF&quot;&gt;&amp;#xA0;&lt;/mo&gt;&lt;mi mathcolor=&quot;#FFFFFF&quot;&gt;e&lt;/mi&gt;&lt;mi mathcolor=&quot;#FFFFFF&quot;&gt;p&lt;/mi&gt;&lt;mi mathcolor=&quot;#FFFFFF&quot;&gt;i&lt;/mi&gt;&lt;mi mathcolor=&quot;#FFFFFF&quot;&gt;s&lt;/mi&gt;&lt;mi mathcolor=&quot;#FFFFFF&quot;&gt;o&lt;/mi&gt;&lt;mi mathcolor=&quot;#FFFFFF&quot;&gt;d&lt;/mi&gt;&lt;mi mathcolor=&quot;#FFFFFF&quot;&gt;e&lt;/mi&gt;&lt;mspace linebreak=&quot;newline&quot;/&gt;&lt;msub&gt;&lt;mi mathcolor=&quot;#FFFFFF&quot;&gt;&amp;#x3C3;&lt;/mi&gt;&lt;mi mathcolor=&quot;#FFFFFF&quot;&gt;R&lt;/mi&gt;&lt;/msub&gt;&lt;mo mathcolor=&quot;#FFFFFF&quot;&gt;=&lt;/mo&gt;&lt;mi mathcolor=&quot;#FFFFFF&quot;&gt;s&lt;/mi&gt;&lt;mi mathcolor=&quot;#FFFFFF&quot;&gt;t&lt;/mi&gt;&lt;mi mathcolor=&quot;#FFFFFF&quot;&gt;a&lt;/mi&gt;&lt;mi mathcolor=&quot;#FFFFFF&quot;&gt;n&lt;/mi&gt;&lt;mi mathcolor=&quot;#FFFFFF&quot;&gt;d&lt;/mi&gt;&lt;mi mathcolor=&quot;#FFFFFF&quot;&gt;a&lt;/mi&gt;&lt;mi mathcolor=&quot;#FFFFFF&quot;&gt;r&lt;/mi&gt;&lt;mi mathcolor=&quot;#FFFFFF&quot;&gt;d&lt;/mi&gt;&lt;mo mathcolor=&quot;#FFFFFF&quot;&gt;&amp;#xA0;&lt;/mo&gt;&lt;mi mathcolor=&quot;#FFFFFF&quot;&gt;d&lt;/mi&gt;&lt;mi mathcolor=&quot;#FFFFFF&quot;&gt;e&lt;/mi&gt;&lt;mi mathcolor=&quot;#FFFFFF&quot;&gt;v&lt;/mi&gt;&lt;mi mathcolor=&quot;#FFFFFF&quot;&gt;i&lt;/mi&gt;&lt;mi mathcolor=&quot;#FFFFFF&quot;&gt;a&lt;/mi&gt;&lt;mi mathcolor=&quot;#FFFFFF&quot;&gt;t&lt;/mi&gt;&lt;mi mathcolor=&quot;#FFFFFF&quot;&gt;i&lt;/mi&gt;&lt;mi mathcolor=&quot;#FFFFFF&quot;&gt;o&lt;/mi&gt;&lt;mi mathcolor=&quot;#FFFFFF&quot;&gt;n&lt;/mi&gt;&lt;mo mathcolor=&quot;#FFFFFF&quot;&gt;&amp;#xA0;&lt;/mo&gt;&lt;mi mathcolor=&quot;#FFFFFF&quot;&gt;o&lt;/mi&gt;&lt;mi mathcolor=&quot;#FFFFFF&quot;&gt;f&lt;/mi&gt;&lt;mo mathcolor=&quot;#FFFFFF&quot;&gt;&amp;#xA0;&lt;/mo&gt;&lt;mi mathcolor=&quot;#FFFFFF&quot;&gt;t&lt;/mi&gt;&lt;mi mathcolor=&quot;#FFFFFF&quot;&gt;h&lt;/mi&gt;&lt;mi mathcolor=&quot;#FFFFFF&quot;&gt;e&lt;/mi&gt;&lt;mo mathcolor=&quot;#FFFFFF&quot;&gt;&amp;#xA0;&lt;/mo&gt;&lt;mi mathcolor=&quot;#FFFFFF&quot;&gt;r&lt;/mi&gt;&lt;mi mathcolor=&quot;#FFFFFF&quot;&gt;e&lt;/mi&gt;&lt;mi mathcolor=&quot;#FFFFFF&quot;&gt;w&lt;/mi&gt;&lt;mi mathcolor=&quot;#FFFFFF&quot;&gt;a&lt;/mi&gt;&lt;mi mathcolor=&quot;#FFFFFF&quot;&gt;r&lt;/mi&gt;&lt;mi mathcolor=&quot;#FFFFFF&quot;&gt;d&lt;/mi&gt;&lt;mi mathcolor=&quot;#FFFFFF&quot;&gt;s&lt;/mi&gt;&lt;mo mathcolor=&quot;#FFFFFF&quot;&gt;&amp;#xA0;&lt;/mo&gt;&lt;mi mathcolor=&quot;#FFFFFF&quot;&gt;a&lt;/mi&gt;&lt;mi mathcolor=&quot;#FFFFFF&quot;&gt;l&lt;/mi&gt;&lt;mi mathcolor=&quot;#FFFFFF&quot;&gt;o&lt;/mi&gt;&lt;mi mathcolor=&quot;#FFFFFF&quot;&gt;n&lt;/mi&gt;&lt;mi mathcolor=&quot;#FFFFFF&quot;&gt;g&lt;/mi&gt;&lt;mo mathcolor=&quot;#FFFFFF&quot;&gt;&amp;#xA0;&lt;/mo&gt;&lt;mi mathcolor=&quot;#FFFFFF&quot;&gt;t&lt;/mi&gt;&lt;mi mathcolor=&quot;#FFFFFF&quot;&gt;h&lt;/mi&gt;&lt;mi mathcolor=&quot;#FFFFFF&quot;&gt;e&lt;/mi&gt;&lt;mo mathcolor=&quot;#FFFFFF&quot;&gt;&amp;#xA0;&lt;/mo&gt;&lt;mi mathcolor=&quot;#FFFFFF&quot;&gt;e&lt;/mi&gt;&lt;mi mathcolor=&quot;#FFFFFF&quot;&gt;p&lt;/mi&gt;&lt;mi mathcolor=&quot;#FFFFFF&quot;&gt;i&lt;/mi&gt;&lt;mi mathcolor=&quot;#FFFFFF&quot;&gt;s&lt;/mi&gt;&lt;mi mathcolor=&quot;#FFFFFF&quot;&gt;o&lt;/mi&gt;&lt;mi mathcolor=&quot;#FFFFFF&quot;&gt;d&lt;/mi&gt;&lt;mi mathcolor=&quot;#FFFFFF&quot;&gt;e&lt;/mi&gt;&lt;/math&gt;" title="mu subscript R equals a v e r a g e space o f space t h e space r e w a r d s space a l o n g space t h e space e p i s o d e&#10;sigma subscript R equals s t a n d a r d space d e v i a t i o n space o f space t h e space r e w a r d s space a l o n g space t h e space e p i s o d e"/>
          <p:cNvPicPr preferRelativeResize="0"/>
          <p:nvPr/>
        </p:nvPicPr>
        <p:blipFill>
          <a:blip r:embed="rId4">
            <a:alphaModFix/>
          </a:blip>
          <a:stretch>
            <a:fillRect/>
          </a:stretch>
        </p:blipFill>
        <p:spPr>
          <a:xfrm>
            <a:off x="2265275" y="4942750"/>
            <a:ext cx="5789693" cy="74966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46"/>
        <p:cNvGrpSpPr/>
        <p:nvPr/>
      </p:nvGrpSpPr>
      <p:grpSpPr>
        <a:xfrm>
          <a:off x="0" y="0"/>
          <a:ext cx="0" cy="0"/>
          <a:chOff x="0" y="0"/>
          <a:chExt cx="0" cy="0"/>
        </a:xfrm>
      </p:grpSpPr>
      <p:sp>
        <p:nvSpPr>
          <p:cNvPr id="1647" name="Google Shape;1647;p45"/>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3200"/>
              <a:buFont typeface="Century Gothic"/>
              <a:buNone/>
            </a:pPr>
            <a:r>
              <a:rPr lang="en-US"/>
              <a:t>Gradient Policy Algorithm:detailed steps</a:t>
            </a:r>
            <a:endParaRPr/>
          </a:p>
        </p:txBody>
      </p:sp>
      <p:sp>
        <p:nvSpPr>
          <p:cNvPr id="1648" name="Google Shape;1648;p45"/>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274320" lvl="0" indent="-266700" algn="l" rtl="0">
              <a:spcBef>
                <a:spcPts val="0"/>
              </a:spcBef>
              <a:spcAft>
                <a:spcPts val="0"/>
              </a:spcAft>
              <a:buSzPts val="1800"/>
              <a:buChar char="●"/>
            </a:pPr>
            <a:r>
              <a:rPr lang="en-US" sz="1800" dirty="0"/>
              <a:t>Compute the gradient</a:t>
            </a:r>
            <a:endParaRPr sz="1800" dirty="0"/>
          </a:p>
          <a:p>
            <a:pPr marL="548640" lvl="0" indent="0" algn="l" rtl="0">
              <a:spcBef>
                <a:spcPts val="0"/>
              </a:spcBef>
              <a:spcAft>
                <a:spcPts val="0"/>
              </a:spcAft>
              <a:buNone/>
            </a:pPr>
            <a:endParaRPr sz="1800" dirty="0"/>
          </a:p>
          <a:p>
            <a:pPr marL="548640" lvl="1" indent="-261620" algn="l" rtl="0">
              <a:spcBef>
                <a:spcPts val="0"/>
              </a:spcBef>
              <a:spcAft>
                <a:spcPts val="0"/>
              </a:spcAft>
              <a:buSzPts val="1800"/>
              <a:buChar char="○"/>
            </a:pPr>
            <a:r>
              <a:rPr lang="en-US" sz="1800" dirty="0"/>
              <a:t>For every time-step from the completed episode:</a:t>
            </a:r>
            <a:br>
              <a:rPr lang="en-US" sz="1800" dirty="0"/>
            </a:br>
            <a:endParaRPr sz="1800" dirty="0"/>
          </a:p>
          <a:p>
            <a:pPr marL="777240" lvl="2" indent="-251459" algn="l" rtl="0">
              <a:spcBef>
                <a:spcPts val="0"/>
              </a:spcBef>
              <a:spcAft>
                <a:spcPts val="0"/>
              </a:spcAft>
              <a:buSzPts val="1800"/>
              <a:buChar char="■"/>
            </a:pPr>
            <a:r>
              <a:rPr lang="en-US" dirty="0"/>
              <a:t>We compute the log of the probability of the action we have chosen</a:t>
            </a:r>
            <a:br>
              <a:rPr lang="en-US" dirty="0"/>
            </a:br>
            <a:endParaRPr dirty="0"/>
          </a:p>
          <a:p>
            <a:pPr marL="777240" lvl="2" indent="-228600" algn="l" rtl="0">
              <a:spcBef>
                <a:spcPts val="0"/>
              </a:spcBef>
              <a:spcAft>
                <a:spcPts val="0"/>
              </a:spcAft>
              <a:buSzPts val="1440"/>
              <a:buChar char="■"/>
            </a:pPr>
            <a:r>
              <a:rPr lang="en-US" dirty="0"/>
              <a:t>Multiply the value by the previously computed future discounted  reward</a:t>
            </a:r>
            <a:br>
              <a:rPr lang="en-US" dirty="0"/>
            </a:br>
            <a:endParaRPr dirty="0"/>
          </a:p>
          <a:p>
            <a:pPr marL="777240" lvl="2" indent="-228600" algn="l" rtl="0">
              <a:spcBef>
                <a:spcPts val="0"/>
              </a:spcBef>
              <a:spcAft>
                <a:spcPts val="0"/>
              </a:spcAft>
              <a:buSzPts val="1440"/>
              <a:buChar char="■"/>
            </a:pPr>
            <a:r>
              <a:rPr lang="en-US" dirty="0"/>
              <a:t>Perform backpropagation to obtain the gradient in respect to each weight</a:t>
            </a:r>
            <a:endParaRPr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0" lvl="0" indent="457200" algn="l" rtl="0">
              <a:spcBef>
                <a:spcPts val="0"/>
              </a:spcBef>
              <a:spcAft>
                <a:spcPts val="0"/>
              </a:spcAft>
              <a:buNone/>
            </a:pPr>
            <a:r>
              <a:rPr lang="en-US" sz="1800" dirty="0"/>
              <a:t> </a:t>
            </a:r>
            <a:r>
              <a:rPr lang="en-US" sz="1800" baseline="-25000" dirty="0"/>
              <a:t> </a:t>
            </a:r>
            <a:endParaRPr sz="1800" baseline="30000" dirty="0"/>
          </a:p>
          <a:p>
            <a:pPr marL="0" lvl="0" indent="0" algn="l" rtl="0">
              <a:spcBef>
                <a:spcPts val="0"/>
              </a:spcBef>
              <a:spcAft>
                <a:spcPts val="0"/>
              </a:spcAft>
              <a:buNone/>
            </a:pPr>
            <a:endParaRPr sz="1800" dirty="0"/>
          </a:p>
          <a:p>
            <a:pPr marL="0" lvl="0" indent="0" algn="l" rtl="0">
              <a:spcBef>
                <a:spcPts val="0"/>
              </a:spcBef>
              <a:spcAft>
                <a:spcPts val="0"/>
              </a:spcAft>
              <a:buNone/>
            </a:pPr>
            <a:r>
              <a:rPr lang="en-US" sz="1800" dirty="0"/>
              <a:t>		</a:t>
            </a:r>
            <a:endParaRPr sz="1800" dirty="0"/>
          </a:p>
        </p:txBody>
      </p:sp>
      <p:pic>
        <p:nvPicPr>
          <p:cNvPr id="1649" name="Google Shape;1649;p45" descr="&lt;math xmlns=&quot;http://www.w3.org/1998/Math/MathML&quot;&gt;&lt;msub&gt;&lt;mo mathcolor=&quot;#191919&quot;&gt;&amp;#x2207;&lt;/mo&gt;&lt;mi mathcolor=&quot;#191919&quot;&gt;&amp;#x3B8;&lt;/mi&gt;&lt;/msub&gt;&lt;mi mathcolor=&quot;#191919&quot;&gt;l&lt;/mi&gt;&lt;mi mathcolor=&quot;#191919&quot;&gt;o&lt;/mi&gt;&lt;mi mathcolor=&quot;#191919&quot;&gt;g&lt;/mi&gt;&lt;mo mathcolor=&quot;#191919&quot;&gt;&amp;#xA0;&lt;/mo&gt;&lt;mstyle mathcolor=&quot;#191919&quot; displaystyle=&quot;false&quot;&gt;&lt;msub&gt;&lt;mi&gt;&amp;#x3C0;&lt;/mi&gt;&lt;mi&gt;&amp;#x3B8;&lt;/mi&gt;&lt;/msub&gt;&lt;/mstyle&gt;&lt;mstyle mathcolor=&quot;#191919&quot; displaystyle=&quot;false&quot;&gt;&lt;mfenced&gt;&lt;mrow&gt;&lt;msub&gt;&lt;mi&gt;a&lt;/mi&gt;&lt;mi&gt;t&lt;/mi&gt;&lt;/msub&gt;&lt;mo&gt;&amp;#xA0;&lt;/mo&gt;&lt;menclose notation=&quot;left&quot;&gt;&lt;mo&gt;&amp;#xA0;&lt;/mo&gt;&lt;msub&gt;&lt;mi&gt;s&lt;/mi&gt;&lt;mi&gt;t&lt;/mi&gt;&lt;/msub&gt;&lt;/menclose&gt;&lt;/mrow&gt;&lt;/mfenced&gt;&lt;msub&gt;&lt;mi&gt;G&lt;/mi&gt;&lt;mi&gt;t&lt;/mi&gt;&lt;/msub&gt;&lt;/mstyle&gt;&lt;/math&gt;" title="nabla subscript theta l o g space begin inline style pi subscript theta end style begin inline style open parentheses a subscript t space left enclose space s subscript t end enclose close parentheses G subscript t end style"/>
          <p:cNvPicPr preferRelativeResize="0"/>
          <p:nvPr/>
        </p:nvPicPr>
        <p:blipFill>
          <a:blip r:embed="rId3">
            <a:alphaModFix/>
          </a:blip>
          <a:stretch>
            <a:fillRect/>
          </a:stretch>
        </p:blipFill>
        <p:spPr>
          <a:xfrm>
            <a:off x="4995848" y="4655924"/>
            <a:ext cx="2692751" cy="5112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53"/>
        <p:cNvGrpSpPr/>
        <p:nvPr/>
      </p:nvGrpSpPr>
      <p:grpSpPr>
        <a:xfrm>
          <a:off x="0" y="0"/>
          <a:ext cx="0" cy="0"/>
          <a:chOff x="0" y="0"/>
          <a:chExt cx="0" cy="0"/>
        </a:xfrm>
      </p:grpSpPr>
      <p:sp>
        <p:nvSpPr>
          <p:cNvPr id="1654" name="Google Shape;1654;p46"/>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3200"/>
              <a:buFont typeface="Century Gothic"/>
              <a:buNone/>
            </a:pPr>
            <a:r>
              <a:rPr lang="en-US"/>
              <a:t>Gradient Policy Algorithm:detailed steps</a:t>
            </a:r>
            <a:endParaRPr/>
          </a:p>
        </p:txBody>
      </p:sp>
      <p:sp>
        <p:nvSpPr>
          <p:cNvPr id="1655" name="Google Shape;1655;p46"/>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274320" lvl="0" indent="-266700" algn="l" rtl="0">
              <a:spcBef>
                <a:spcPts val="0"/>
              </a:spcBef>
              <a:spcAft>
                <a:spcPts val="0"/>
              </a:spcAft>
              <a:buSzPts val="1800"/>
              <a:buChar char="●"/>
            </a:pPr>
            <a:r>
              <a:rPr lang="en-US" sz="1800" dirty="0"/>
              <a:t>Compute the gradient</a:t>
            </a:r>
            <a:endParaRPr sz="1800" dirty="0"/>
          </a:p>
          <a:p>
            <a:pPr marL="548640" lvl="0" indent="0" algn="l" rtl="0">
              <a:spcBef>
                <a:spcPts val="0"/>
              </a:spcBef>
              <a:spcAft>
                <a:spcPts val="0"/>
              </a:spcAft>
              <a:buNone/>
            </a:pPr>
            <a:endParaRPr sz="1800" dirty="0"/>
          </a:p>
          <a:p>
            <a:pPr marL="548640" lvl="1" indent="-261620" algn="l" rtl="0">
              <a:spcBef>
                <a:spcPts val="0"/>
              </a:spcBef>
              <a:spcAft>
                <a:spcPts val="0"/>
              </a:spcAft>
              <a:buSzPts val="1800"/>
              <a:buChar char="○"/>
            </a:pPr>
            <a:r>
              <a:rPr lang="en-US" sz="1800" dirty="0"/>
              <a:t>Some neural network frameworks allow to obtain the gradient automatically, while others expect a loss function.</a:t>
            </a:r>
            <a:br>
              <a:rPr lang="en-US" sz="1800" dirty="0"/>
            </a:br>
            <a:br>
              <a:rPr lang="en-US" sz="1800" dirty="0"/>
            </a:br>
            <a:r>
              <a:rPr lang="en-US" sz="1800" dirty="0"/>
              <a:t>Transforming the computation of the gradient into a loss function:</a:t>
            </a:r>
            <a:br>
              <a:rPr lang="en-US" sz="1800" dirty="0"/>
            </a:br>
            <a:endParaRPr sz="1800" dirty="0"/>
          </a:p>
          <a:p>
            <a:pPr marL="777240" lvl="2" indent="-251459" algn="l" rtl="0">
              <a:spcBef>
                <a:spcPts val="0"/>
              </a:spcBef>
              <a:spcAft>
                <a:spcPts val="0"/>
              </a:spcAft>
              <a:buSzPts val="1800"/>
              <a:buChar char="■"/>
            </a:pPr>
            <a:r>
              <a:rPr lang="en-US" dirty="0"/>
              <a:t>If you remember from the 4th course, the formula for cross-entropy, for a multilabel network:</a:t>
            </a:r>
            <a:br>
              <a:rPr lang="en-US" dirty="0"/>
            </a:br>
            <a:br>
              <a:rPr lang="en-US" dirty="0"/>
            </a:br>
            <a:br>
              <a:rPr lang="en-US" dirty="0"/>
            </a:br>
            <a:br>
              <a:rPr lang="en-US" dirty="0"/>
            </a:br>
            <a:endParaRPr dirty="0"/>
          </a:p>
          <a:p>
            <a:pPr marL="0" lvl="0" indent="0" algn="l" rtl="0">
              <a:spcBef>
                <a:spcPts val="0"/>
              </a:spcBef>
              <a:spcAft>
                <a:spcPts val="0"/>
              </a:spcAft>
              <a:buNone/>
            </a:pPr>
            <a:endParaRPr dirty="0"/>
          </a:p>
          <a:p>
            <a:pPr marL="777240" lvl="0" indent="0" algn="l" rtl="0">
              <a:spcBef>
                <a:spcPts val="0"/>
              </a:spcBef>
              <a:spcAft>
                <a:spcPts val="0"/>
              </a:spcAft>
              <a:buNone/>
            </a:pPr>
            <a:endParaRPr dirty="0"/>
          </a:p>
          <a:p>
            <a:pPr marL="0" lvl="0" indent="0" algn="l" rtl="0">
              <a:spcBef>
                <a:spcPts val="0"/>
              </a:spcBef>
              <a:spcAft>
                <a:spcPts val="0"/>
              </a:spcAft>
              <a:buNone/>
            </a:pPr>
            <a:r>
              <a:rPr lang="en-US" sz="1800" dirty="0"/>
              <a:t>	</a:t>
            </a:r>
            <a:endParaRPr sz="1800"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0" lvl="0" indent="457200" algn="l" rtl="0">
              <a:spcBef>
                <a:spcPts val="0"/>
              </a:spcBef>
              <a:spcAft>
                <a:spcPts val="0"/>
              </a:spcAft>
              <a:buNone/>
            </a:pPr>
            <a:r>
              <a:rPr lang="en-US" sz="1800" dirty="0"/>
              <a:t> </a:t>
            </a:r>
            <a:r>
              <a:rPr lang="en-US" sz="1800" baseline="-25000" dirty="0"/>
              <a:t> </a:t>
            </a:r>
            <a:endParaRPr sz="1800" baseline="30000" dirty="0"/>
          </a:p>
          <a:p>
            <a:pPr marL="0" lvl="0" indent="0" algn="l" rtl="0">
              <a:spcBef>
                <a:spcPts val="0"/>
              </a:spcBef>
              <a:spcAft>
                <a:spcPts val="0"/>
              </a:spcAft>
              <a:buNone/>
            </a:pPr>
            <a:endParaRPr sz="1800" dirty="0"/>
          </a:p>
          <a:p>
            <a:pPr marL="0" lvl="0" indent="0" algn="l" rtl="0">
              <a:spcBef>
                <a:spcPts val="0"/>
              </a:spcBef>
              <a:spcAft>
                <a:spcPts val="0"/>
              </a:spcAft>
              <a:buNone/>
            </a:pPr>
            <a:r>
              <a:rPr lang="en-US" sz="1800" dirty="0"/>
              <a:t>		</a:t>
            </a:r>
            <a:endParaRPr sz="1800" dirty="0"/>
          </a:p>
        </p:txBody>
      </p:sp>
      <p:pic>
        <p:nvPicPr>
          <p:cNvPr id="1656" name="Google Shape;1656;p46" descr="&lt;math xmlns=&quot;http://www.w3.org/1998/Math/MathML&quot;&gt;&lt;msub&gt;&lt;mi&gt;C&lt;/mi&gt;&lt;mi&gt;x&lt;/mi&gt;&lt;/msub&gt;&lt;mo&gt;=&lt;/mo&gt;&lt;munder&gt;&lt;mrow&gt;&lt;mo&gt;-&lt;/mo&gt;&lt;mo&gt;&amp;#x2211;&lt;/mo&gt;&lt;/mrow&gt;&lt;mi&gt;j&lt;/mi&gt;&lt;/munder&gt;&lt;msub&gt;&lt;mi&gt;t&lt;/mi&gt;&lt;mi&gt;j&lt;/mi&gt;&lt;/msub&gt;&lt;mi&gt;ln&lt;/mi&gt;&lt;mfenced&gt;&lt;msub&gt;&lt;mi&gt;y&lt;/mi&gt;&lt;mi&gt;j&lt;/mi&gt;&lt;/msub&gt;&lt;/mfenced&gt;&lt;/math&gt;" title="C subscript x equals stack negative sum with j below t subscript j ln open parentheses y subscript j close parentheses"/>
          <p:cNvPicPr preferRelativeResize="0"/>
          <p:nvPr/>
        </p:nvPicPr>
        <p:blipFill>
          <a:blip r:embed="rId3">
            <a:alphaModFix/>
          </a:blip>
          <a:stretch>
            <a:fillRect/>
          </a:stretch>
        </p:blipFill>
        <p:spPr>
          <a:xfrm>
            <a:off x="4494225" y="4083875"/>
            <a:ext cx="2566175" cy="7354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60"/>
        <p:cNvGrpSpPr/>
        <p:nvPr/>
      </p:nvGrpSpPr>
      <p:grpSpPr>
        <a:xfrm>
          <a:off x="0" y="0"/>
          <a:ext cx="0" cy="0"/>
          <a:chOff x="0" y="0"/>
          <a:chExt cx="0" cy="0"/>
        </a:xfrm>
      </p:grpSpPr>
      <p:sp>
        <p:nvSpPr>
          <p:cNvPr id="1661" name="Google Shape;1661;p47"/>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3200"/>
              <a:buFont typeface="Century Gothic"/>
              <a:buNone/>
            </a:pPr>
            <a:r>
              <a:rPr lang="en-US"/>
              <a:t>Gradient Policy Algorithm:detailed steps</a:t>
            </a:r>
            <a:endParaRPr/>
          </a:p>
        </p:txBody>
      </p:sp>
      <p:sp>
        <p:nvSpPr>
          <p:cNvPr id="1662" name="Google Shape;1662;p47"/>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274320" lvl="0" indent="-266700" algn="l" rtl="0">
              <a:spcBef>
                <a:spcPts val="0"/>
              </a:spcBef>
              <a:spcAft>
                <a:spcPts val="0"/>
              </a:spcAft>
              <a:buSzPts val="1800"/>
              <a:buChar char="●"/>
            </a:pPr>
            <a:r>
              <a:rPr lang="en-US" sz="1800"/>
              <a:t>Compute the gradient</a:t>
            </a:r>
            <a:endParaRPr sz="1800"/>
          </a:p>
          <a:p>
            <a:pPr marL="548640" lvl="0" indent="0" algn="l" rtl="0">
              <a:spcBef>
                <a:spcPts val="0"/>
              </a:spcBef>
              <a:spcAft>
                <a:spcPts val="0"/>
              </a:spcAft>
              <a:buNone/>
            </a:pPr>
            <a:endParaRPr sz="1800"/>
          </a:p>
          <a:p>
            <a:pPr marL="548640" lvl="1" indent="-261620" algn="l" rtl="0">
              <a:spcBef>
                <a:spcPts val="0"/>
              </a:spcBef>
              <a:spcAft>
                <a:spcPts val="0"/>
              </a:spcAft>
              <a:buSzPts val="1800"/>
              <a:buChar char="○"/>
            </a:pPr>
            <a:r>
              <a:rPr lang="en-US" sz="1800"/>
              <a:t>Written in term of probabilities, as our gradient, the cost gets:</a:t>
            </a:r>
            <a:br>
              <a:rPr lang="en-US"/>
            </a:br>
            <a:br>
              <a:rPr lang="en-US"/>
            </a:br>
            <a:endParaRPr/>
          </a:p>
          <a:p>
            <a:pPr marL="548640" lvl="1" indent="-261620" algn="l" rtl="0">
              <a:spcBef>
                <a:spcPts val="0"/>
              </a:spcBef>
              <a:spcAft>
                <a:spcPts val="0"/>
              </a:spcAft>
              <a:buSzPts val="1800"/>
              <a:buChar char="○"/>
            </a:pPr>
            <a:br>
              <a:rPr lang="en-US"/>
            </a:br>
            <a:endParaRPr/>
          </a:p>
          <a:p>
            <a:pPr marL="548640" lvl="1" indent="-261620" algn="l" rtl="0">
              <a:spcBef>
                <a:spcPts val="0"/>
              </a:spcBef>
              <a:spcAft>
                <a:spcPts val="0"/>
              </a:spcAft>
              <a:buSzPts val="1800"/>
              <a:buChar char="○"/>
            </a:pPr>
            <a:r>
              <a:rPr lang="en-US" sz="1800"/>
              <a:t>So, in order to compute the gradients required by the policy gradient algorithm, </a:t>
            </a:r>
            <a:br>
              <a:rPr lang="en-US" sz="1800"/>
            </a:br>
            <a:r>
              <a:rPr lang="en-US" sz="1800"/>
              <a:t>                              </a:t>
            </a:r>
            <a:endParaRPr sz="1800"/>
          </a:p>
          <a:p>
            <a:pPr marL="777240" lvl="2" indent="-251459" algn="l" rtl="0">
              <a:spcBef>
                <a:spcPts val="0"/>
              </a:spcBef>
              <a:spcAft>
                <a:spcPts val="0"/>
              </a:spcAft>
              <a:buSzPts val="1800"/>
              <a:buChar char="■"/>
            </a:pPr>
            <a:r>
              <a:rPr lang="en-US"/>
              <a:t>use the categorical cross entropy function, as the loss function</a:t>
            </a:r>
            <a:endParaRPr/>
          </a:p>
          <a:p>
            <a:pPr marL="777240" lvl="0" indent="0" algn="l" rtl="0">
              <a:spcBef>
                <a:spcPts val="0"/>
              </a:spcBef>
              <a:spcAft>
                <a:spcPts val="0"/>
              </a:spcAft>
              <a:buNone/>
            </a:pPr>
            <a:endParaRPr/>
          </a:p>
          <a:p>
            <a:pPr marL="777240" lvl="2" indent="-228600" algn="l" rtl="0">
              <a:spcBef>
                <a:spcPts val="0"/>
              </a:spcBef>
              <a:spcAft>
                <a:spcPts val="0"/>
              </a:spcAft>
              <a:buSzPts val="1440"/>
              <a:buChar char="■"/>
            </a:pPr>
            <a:r>
              <a:rPr lang="en-US"/>
              <a:t>Create a target vector of the type one-hot, and set the  </a:t>
            </a:r>
            <a:r>
              <a:rPr lang="en-US">
                <a:latin typeface="Cambria"/>
                <a:ea typeface="Cambria"/>
                <a:cs typeface="Cambria"/>
                <a:sym typeface="Cambria"/>
              </a:rPr>
              <a:t>t</a:t>
            </a:r>
            <a:r>
              <a:rPr lang="en-US" baseline="-25000">
                <a:latin typeface="Cambria"/>
                <a:ea typeface="Cambria"/>
                <a:cs typeface="Cambria"/>
                <a:sym typeface="Cambria"/>
              </a:rPr>
              <a:t>j</a:t>
            </a:r>
            <a:r>
              <a:rPr lang="en-US">
                <a:latin typeface="Cambria"/>
                <a:ea typeface="Cambria"/>
                <a:cs typeface="Cambria"/>
                <a:sym typeface="Cambria"/>
              </a:rPr>
              <a:t>=G</a:t>
            </a:r>
            <a:r>
              <a:rPr lang="en-US" baseline="-25000">
                <a:latin typeface="Cambria"/>
                <a:ea typeface="Cambria"/>
                <a:cs typeface="Cambria"/>
                <a:sym typeface="Cambria"/>
              </a:rPr>
              <a:t>t</a:t>
            </a:r>
            <a:endParaRPr baseline="-25000">
              <a:latin typeface="Cambria"/>
              <a:ea typeface="Cambria"/>
              <a:cs typeface="Cambria"/>
              <a:sym typeface="Cambria"/>
            </a:endParaRPr>
          </a:p>
          <a:p>
            <a:pPr marL="0" lvl="0" indent="0" algn="l" rtl="0">
              <a:spcBef>
                <a:spcPts val="0"/>
              </a:spcBef>
              <a:spcAft>
                <a:spcPts val="0"/>
              </a:spcAft>
              <a:buNone/>
            </a:pPr>
            <a:endParaRPr baseline="-25000">
              <a:latin typeface="Cambria"/>
              <a:ea typeface="Cambria"/>
              <a:cs typeface="Cambria"/>
              <a:sym typeface="Cambria"/>
            </a:endParaRPr>
          </a:p>
          <a:p>
            <a:pPr marL="0" lvl="0" indent="0" algn="l" rtl="0">
              <a:spcBef>
                <a:spcPts val="0"/>
              </a:spcBef>
              <a:spcAft>
                <a:spcPts val="0"/>
              </a:spcAft>
              <a:buNone/>
            </a:pPr>
            <a:endParaRPr sz="1800"/>
          </a:p>
          <a:p>
            <a:pPr marL="0" lvl="0" indent="0" algn="l" rtl="0">
              <a:spcBef>
                <a:spcPts val="0"/>
              </a:spcBef>
              <a:spcAft>
                <a:spcPts val="0"/>
              </a:spcAft>
              <a:buNone/>
            </a:pPr>
            <a:endParaRPr sz="1800"/>
          </a:p>
          <a:p>
            <a:pPr marL="777240" lvl="0" indent="0" algn="l" rtl="0">
              <a:spcBef>
                <a:spcPts val="0"/>
              </a:spcBef>
              <a:spcAft>
                <a:spcPts val="0"/>
              </a:spcAft>
              <a:buNone/>
            </a:pPr>
            <a:endParaRPr sz="1800"/>
          </a:p>
          <a:p>
            <a:pPr marL="0" lvl="0" indent="0" algn="l" rtl="0">
              <a:spcBef>
                <a:spcPts val="0"/>
              </a:spcBef>
              <a:spcAft>
                <a:spcPts val="0"/>
              </a:spcAft>
              <a:buNone/>
            </a:pPr>
            <a:r>
              <a:rPr lang="en-US" sz="1800"/>
              <a:t>	</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457200" algn="l" rtl="0">
              <a:spcBef>
                <a:spcPts val="0"/>
              </a:spcBef>
              <a:spcAft>
                <a:spcPts val="0"/>
              </a:spcAft>
              <a:buNone/>
            </a:pPr>
            <a:r>
              <a:rPr lang="en-US" sz="1800"/>
              <a:t> </a:t>
            </a:r>
            <a:r>
              <a:rPr lang="en-US" sz="1800" baseline="-25000"/>
              <a:t> </a:t>
            </a:r>
            <a:endParaRPr sz="1800" baseline="30000"/>
          </a:p>
          <a:p>
            <a:pPr marL="0" lvl="0" indent="0" algn="l" rtl="0">
              <a:spcBef>
                <a:spcPts val="0"/>
              </a:spcBef>
              <a:spcAft>
                <a:spcPts val="0"/>
              </a:spcAft>
              <a:buNone/>
            </a:pPr>
            <a:endParaRPr sz="1800"/>
          </a:p>
          <a:p>
            <a:pPr marL="0" lvl="0" indent="0" algn="l" rtl="0">
              <a:spcBef>
                <a:spcPts val="0"/>
              </a:spcBef>
              <a:spcAft>
                <a:spcPts val="0"/>
              </a:spcAft>
              <a:buNone/>
            </a:pPr>
            <a:r>
              <a:rPr lang="en-US" sz="1800"/>
              <a:t>		</a:t>
            </a:r>
            <a:endParaRPr sz="1800"/>
          </a:p>
        </p:txBody>
      </p:sp>
      <p:pic>
        <p:nvPicPr>
          <p:cNvPr id="1663" name="Google Shape;1663;p47" descr="&lt;math xmlns=&quot;http://www.w3.org/1998/Math/MathML&quot;&gt;&lt;msub&gt;&lt;mo mathcolor=&quot;#191919&quot;&gt;&amp;#x2207;&lt;/mo&gt;&lt;mi mathcolor=&quot;#191919&quot;&gt;&amp;#x3B8;&lt;/mi&gt;&lt;/msub&gt;&lt;mi mathcolor=&quot;#191919&quot;&gt;l&lt;/mi&gt;&lt;mi mathcolor=&quot;#191919&quot;&gt;o&lt;/mi&gt;&lt;mi mathcolor=&quot;#191919&quot;&gt;g&lt;/mi&gt;&lt;mo mathcolor=&quot;#191919&quot;&gt;&amp;#xA0;&lt;/mo&gt;&lt;mstyle mathcolor=&quot;#191919&quot; displaystyle=&quot;false&quot;&gt;&lt;msub&gt;&lt;mi&gt;&amp;#x3C0;&lt;/mi&gt;&lt;mi&gt;&amp;#x3B8;&lt;/mi&gt;&lt;/msub&gt;&lt;/mstyle&gt;&lt;mstyle mathcolor=&quot;#191919&quot; displaystyle=&quot;false&quot;&gt;&lt;mfenced&gt;&lt;mrow&gt;&lt;msub&gt;&lt;mi&gt;a&lt;/mi&gt;&lt;mi&gt;t&lt;/mi&gt;&lt;/msub&gt;&lt;mo&gt;&amp;#xA0;&lt;/mo&gt;&lt;menclose notation=&quot;left&quot;&gt;&lt;mo&gt;&amp;#xA0;&lt;/mo&gt;&lt;msub&gt;&lt;mi&gt;s&lt;/mi&gt;&lt;mi&gt;t&lt;/mi&gt;&lt;/msub&gt;&lt;/menclose&gt;&lt;/mrow&gt;&lt;/mfenced&gt;&lt;msub&gt;&lt;mi&gt;G&lt;/mi&gt;&lt;mi&gt;t&lt;/mi&gt;&lt;/msub&gt;&lt;/mstyle&gt;&lt;/math&gt;" title="nabla subscript theta l o g space begin inline style pi subscript theta end style begin inline style open parentheses a subscript t space left enclose space s subscript t end enclose close parentheses G subscript t end style"/>
          <p:cNvPicPr preferRelativeResize="0"/>
          <p:nvPr/>
        </p:nvPicPr>
        <p:blipFill>
          <a:blip r:embed="rId3">
            <a:alphaModFix/>
          </a:blip>
          <a:stretch>
            <a:fillRect/>
          </a:stretch>
        </p:blipFill>
        <p:spPr>
          <a:xfrm>
            <a:off x="3808500" y="3793287"/>
            <a:ext cx="1928800" cy="366225"/>
          </a:xfrm>
          <a:prstGeom prst="rect">
            <a:avLst/>
          </a:prstGeom>
          <a:noFill/>
          <a:ln>
            <a:noFill/>
          </a:ln>
        </p:spPr>
      </p:pic>
      <p:pic>
        <p:nvPicPr>
          <p:cNvPr id="1664" name="Google Shape;1664;p47" descr="&lt;math xmlns=&quot;http://www.w3.org/1998/Math/MathML&quot;&gt;&lt;msub&gt;&lt;mi&gt;C&lt;/mi&gt;&lt;msub&gt;&lt;mi&gt;s&lt;/mi&gt;&lt;mi&gt;t&lt;/mi&gt;&lt;/msub&gt;&lt;/msub&gt;&lt;mo&gt;=&lt;/mo&gt;&lt;munder&gt;&lt;mrow&gt;&lt;mo&gt;-&lt;/mo&gt;&lt;mo&gt;&amp;#x2211;&lt;/mo&gt;&lt;/mrow&gt;&lt;mi&gt;j&lt;/mi&gt;&lt;/munder&gt;&lt;msub&gt;&lt;mi&gt;t&lt;/mi&gt;&lt;mi&gt;j&lt;/mi&gt;&lt;/msub&gt;&lt;mi&gt;ln&lt;/mi&gt;&lt;mo&gt;&amp;#xA0;&lt;/mo&gt;&lt;mi&gt;&amp;#x3C0;&lt;/mi&gt;&lt;mfenced&gt;&lt;mrow&gt;&lt;msub&gt;&lt;mi mathvariant=&quot;normal&quot;&gt;a&lt;/mi&gt;&lt;mi mathvariant=&quot;normal&quot;&gt;j&lt;/mi&gt;&lt;/msub&gt;&lt;mo&gt;&amp;#xA0;&lt;/mo&gt;&lt;menclose notation=&quot;left&quot;&gt;&lt;mo&gt;&amp;#xA0;&lt;/mo&gt;&lt;msub&gt;&lt;mi mathvariant=&quot;normal&quot;&gt;s&lt;/mi&gt;&lt;mi&gt;t&lt;/mi&gt;&lt;/msub&gt;&lt;/menclose&gt;&lt;/mrow&gt;&lt;/mfenced&gt;&lt;/math&gt;" title="C subscript s subscript t end subscript equals stack negative sum with j below t subscript j ln space pi open parentheses straight a subscript straight j space left enclose space straight s subscript t end enclose close parentheses"/>
          <p:cNvPicPr preferRelativeResize="0"/>
          <p:nvPr/>
        </p:nvPicPr>
        <p:blipFill>
          <a:blip r:embed="rId4">
            <a:alphaModFix/>
          </a:blip>
          <a:stretch>
            <a:fillRect/>
          </a:stretch>
        </p:blipFill>
        <p:spPr>
          <a:xfrm>
            <a:off x="3925050" y="2556950"/>
            <a:ext cx="3054349" cy="6797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68"/>
        <p:cNvGrpSpPr/>
        <p:nvPr/>
      </p:nvGrpSpPr>
      <p:grpSpPr>
        <a:xfrm>
          <a:off x="0" y="0"/>
          <a:ext cx="0" cy="0"/>
          <a:chOff x="0" y="0"/>
          <a:chExt cx="0" cy="0"/>
        </a:xfrm>
      </p:grpSpPr>
      <p:sp>
        <p:nvSpPr>
          <p:cNvPr id="1669" name="Google Shape;1669;p48"/>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3200"/>
              <a:buFont typeface="Century Gothic"/>
              <a:buNone/>
            </a:pPr>
            <a:r>
              <a:rPr lang="en-US"/>
              <a:t>Gradient Policy Algorithm:detailed steps</a:t>
            </a:r>
            <a:endParaRPr/>
          </a:p>
        </p:txBody>
      </p:sp>
      <p:sp>
        <p:nvSpPr>
          <p:cNvPr id="1670" name="Google Shape;1670;p48"/>
          <p:cNvSpPr txBox="1">
            <a:spLocks noGrp="1"/>
          </p:cNvSpPr>
          <p:nvPr>
            <p:ph type="body" idx="1"/>
          </p:nvPr>
        </p:nvSpPr>
        <p:spPr>
          <a:xfrm>
            <a:off x="1692550" y="1656250"/>
            <a:ext cx="9053400" cy="4267200"/>
          </a:xfrm>
          <a:prstGeom prst="rect">
            <a:avLst/>
          </a:prstGeom>
          <a:noFill/>
          <a:ln>
            <a:noFill/>
          </a:ln>
        </p:spPr>
        <p:txBody>
          <a:bodyPr spcFirstLastPara="1" wrap="square" lIns="91425" tIns="45700" rIns="91425" bIns="45700" anchor="t" anchorCtr="0">
            <a:noAutofit/>
          </a:bodyPr>
          <a:lstStyle/>
          <a:p>
            <a:pPr marL="274320" lvl="0" indent="-266700" algn="l" rtl="0">
              <a:spcBef>
                <a:spcPts val="0"/>
              </a:spcBef>
              <a:spcAft>
                <a:spcPts val="0"/>
              </a:spcAft>
              <a:buSzPts val="1800"/>
              <a:buChar char="●"/>
            </a:pPr>
            <a:r>
              <a:rPr lang="en-US" sz="1800" dirty="0"/>
              <a:t>Adjust the weights</a:t>
            </a:r>
            <a:endParaRPr sz="1800" dirty="0"/>
          </a:p>
          <a:p>
            <a:pPr marL="548640" lvl="0" indent="0" algn="l" rtl="0">
              <a:spcBef>
                <a:spcPts val="0"/>
              </a:spcBef>
              <a:spcAft>
                <a:spcPts val="0"/>
              </a:spcAft>
              <a:buNone/>
            </a:pPr>
            <a:endParaRPr sz="1800" dirty="0"/>
          </a:p>
          <a:p>
            <a:pPr marL="548640" lvl="1" indent="-261620" algn="l" rtl="0">
              <a:spcBef>
                <a:spcPts val="0"/>
              </a:spcBef>
              <a:spcAft>
                <a:spcPts val="0"/>
              </a:spcAft>
              <a:buSzPts val="1800"/>
              <a:buChar char="○"/>
            </a:pPr>
            <a:r>
              <a:rPr lang="en-US" sz="1800" dirty="0"/>
              <a:t>Using a neural network framework (such as </a:t>
            </a:r>
            <a:r>
              <a:rPr lang="en-US" sz="1800" dirty="0" err="1"/>
              <a:t>pytorch</a:t>
            </a:r>
            <a:r>
              <a:rPr lang="en-US" sz="1800" dirty="0"/>
              <a:t>), this is done automatically. We just have to provide the input (</a:t>
            </a:r>
            <a:r>
              <a:rPr lang="en-US" sz="1800" dirty="0" err="1"/>
              <a:t>s</a:t>
            </a:r>
            <a:r>
              <a:rPr lang="en-US" sz="1800" baseline="-25000" dirty="0" err="1"/>
              <a:t>t</a:t>
            </a:r>
            <a:r>
              <a:rPr lang="en-US" sz="1800" dirty="0"/>
              <a:t> )the target (G</a:t>
            </a:r>
            <a:r>
              <a:rPr lang="en-US" sz="1800" baseline="-25000" dirty="0"/>
              <a:t>t</a:t>
            </a:r>
            <a:r>
              <a:rPr lang="en-US" sz="1800" dirty="0"/>
              <a:t> ).</a:t>
            </a:r>
            <a:endParaRPr sz="1800" dirty="0"/>
          </a:p>
          <a:p>
            <a:pPr marL="548640" lvl="0" indent="0" algn="l" rtl="0">
              <a:spcBef>
                <a:spcPts val="0"/>
              </a:spcBef>
              <a:spcAft>
                <a:spcPts val="0"/>
              </a:spcAft>
              <a:buNone/>
            </a:pPr>
            <a:endParaRPr dirty="0"/>
          </a:p>
          <a:p>
            <a:pPr marL="548640" lvl="1" indent="-261620" algn="l" rtl="0">
              <a:spcBef>
                <a:spcPts val="0"/>
              </a:spcBef>
              <a:spcAft>
                <a:spcPts val="0"/>
              </a:spcAft>
              <a:buSzPts val="1800"/>
              <a:buChar char="○"/>
            </a:pPr>
            <a:r>
              <a:rPr lang="en-US" dirty="0"/>
              <a:t>The update must be performed at the end of one or multiple episodes. Not during the episode. We’re performing an off-policy update of an on-policy algorithm</a:t>
            </a:r>
            <a:br>
              <a:rPr lang="en-US" dirty="0"/>
            </a:br>
            <a:br>
              <a:rPr lang="en-US" dirty="0"/>
            </a:br>
            <a:r>
              <a:rPr lang="en-US" dirty="0"/>
              <a:t>If the gradients were computed separate, not part of an automated training process, the update is:</a:t>
            </a:r>
            <a:endParaRPr dirty="0"/>
          </a:p>
          <a:p>
            <a:pPr marL="548640" lvl="1" indent="-274320" algn="l" rtl="0">
              <a:spcBef>
                <a:spcPts val="0"/>
              </a:spcBef>
              <a:spcAft>
                <a:spcPts val="0"/>
              </a:spcAft>
              <a:buSzPts val="2000"/>
              <a:buChar char="○"/>
            </a:pPr>
            <a:endParaRPr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777240" lvl="0" indent="0" algn="l" rtl="0">
              <a:spcBef>
                <a:spcPts val="0"/>
              </a:spcBef>
              <a:spcAft>
                <a:spcPts val="0"/>
              </a:spcAft>
              <a:buNone/>
            </a:pPr>
            <a:endParaRPr sz="1800" dirty="0"/>
          </a:p>
          <a:p>
            <a:pPr marL="0" lvl="0" indent="0" algn="l" rtl="0">
              <a:spcBef>
                <a:spcPts val="0"/>
              </a:spcBef>
              <a:spcAft>
                <a:spcPts val="0"/>
              </a:spcAft>
              <a:buNone/>
            </a:pPr>
            <a:r>
              <a:rPr lang="en-US" sz="1800" dirty="0"/>
              <a:t>	</a:t>
            </a:r>
            <a:endParaRPr sz="1800"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0" lvl="0" indent="0" algn="l" rtl="0">
              <a:spcBef>
                <a:spcPts val="0"/>
              </a:spcBef>
              <a:spcAft>
                <a:spcPts val="0"/>
              </a:spcAft>
              <a:buNone/>
            </a:pPr>
            <a:endParaRPr sz="1800" dirty="0"/>
          </a:p>
          <a:p>
            <a:pPr marL="0" lvl="0" indent="457200" algn="l" rtl="0">
              <a:spcBef>
                <a:spcPts val="0"/>
              </a:spcBef>
              <a:spcAft>
                <a:spcPts val="0"/>
              </a:spcAft>
              <a:buNone/>
            </a:pPr>
            <a:r>
              <a:rPr lang="en-US" sz="1800" dirty="0"/>
              <a:t> </a:t>
            </a:r>
            <a:r>
              <a:rPr lang="en-US" sz="1800" baseline="-25000" dirty="0"/>
              <a:t> </a:t>
            </a:r>
            <a:endParaRPr sz="1800" baseline="30000" dirty="0"/>
          </a:p>
          <a:p>
            <a:pPr marL="0" lvl="0" indent="0" algn="l" rtl="0">
              <a:spcBef>
                <a:spcPts val="0"/>
              </a:spcBef>
              <a:spcAft>
                <a:spcPts val="0"/>
              </a:spcAft>
              <a:buNone/>
            </a:pPr>
            <a:endParaRPr sz="1800" dirty="0"/>
          </a:p>
          <a:p>
            <a:pPr marL="0" lvl="0" indent="0" algn="l" rtl="0">
              <a:spcBef>
                <a:spcPts val="0"/>
              </a:spcBef>
              <a:spcAft>
                <a:spcPts val="0"/>
              </a:spcAft>
              <a:buNone/>
            </a:pPr>
            <a:r>
              <a:rPr lang="en-US" sz="1800" dirty="0"/>
              <a:t>		</a:t>
            </a:r>
            <a:endParaRPr sz="1800" dirty="0"/>
          </a:p>
        </p:txBody>
      </p:sp>
      <p:pic>
        <p:nvPicPr>
          <p:cNvPr id="1671" name="Google Shape;1671;p48"/>
          <p:cNvPicPr preferRelativeResize="0"/>
          <p:nvPr/>
        </p:nvPicPr>
        <p:blipFill>
          <a:blip r:embed="rId3">
            <a:alphaModFix/>
          </a:blip>
          <a:stretch>
            <a:fillRect/>
          </a:stretch>
        </p:blipFill>
        <p:spPr>
          <a:xfrm>
            <a:off x="2305025" y="4796863"/>
            <a:ext cx="4686101" cy="6170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sp>
        <p:nvSpPr>
          <p:cNvPr id="1676" name="Google Shape;1676;p49"/>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
        <p:nvSpPr>
          <p:cNvPr id="1677" name="Google Shape;1677;p49"/>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a:t>Actor Critic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81"/>
        <p:cNvGrpSpPr/>
        <p:nvPr/>
      </p:nvGrpSpPr>
      <p:grpSpPr>
        <a:xfrm>
          <a:off x="0" y="0"/>
          <a:ext cx="0" cy="0"/>
          <a:chOff x="0" y="0"/>
          <a:chExt cx="0" cy="0"/>
        </a:xfrm>
      </p:grpSpPr>
      <p:sp>
        <p:nvSpPr>
          <p:cNvPr id="1682" name="Google Shape;1682;p50"/>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548640" lvl="1" indent="-147320" algn="l" rtl="0">
              <a:lnSpc>
                <a:spcPct val="90000"/>
              </a:lnSpc>
              <a:spcBef>
                <a:spcPts val="600"/>
              </a:spcBef>
              <a:spcAft>
                <a:spcPts val="0"/>
              </a:spcAft>
              <a:buSzPts val="2000"/>
              <a:buNone/>
            </a:pPr>
            <a:r>
              <a:rPr lang="en-US" sz="1800"/>
              <a:t>Current reinforcement algorithms presented:</a:t>
            </a:r>
            <a:endParaRPr sz="1800"/>
          </a:p>
          <a:p>
            <a:pPr marL="914400" lvl="0" indent="-342900" algn="l" rtl="0">
              <a:lnSpc>
                <a:spcPct val="90000"/>
              </a:lnSpc>
              <a:spcBef>
                <a:spcPts val="600"/>
              </a:spcBef>
              <a:spcAft>
                <a:spcPts val="0"/>
              </a:spcAft>
              <a:buSzPts val="1800"/>
              <a:buChar char="●"/>
            </a:pPr>
            <a:r>
              <a:rPr lang="en-US" sz="1800"/>
              <a:t>Q-learning:</a:t>
            </a:r>
            <a:endParaRPr sz="1800"/>
          </a:p>
          <a:p>
            <a:pPr marL="1371600" lvl="1" indent="-342900" algn="l" rtl="0">
              <a:lnSpc>
                <a:spcPct val="90000"/>
              </a:lnSpc>
              <a:spcBef>
                <a:spcPts val="0"/>
              </a:spcBef>
              <a:spcAft>
                <a:spcPts val="0"/>
              </a:spcAft>
              <a:buSzPts val="1800"/>
              <a:buChar char="○"/>
            </a:pPr>
            <a:r>
              <a:rPr lang="en-US" sz="1800"/>
              <a:t>learns to predict a score for each action, value pair. Based on it we can choose the optimal policy</a:t>
            </a:r>
            <a:br>
              <a:rPr lang="en-US" sz="1800"/>
            </a:br>
            <a:endParaRPr sz="1800"/>
          </a:p>
          <a:p>
            <a:pPr marL="1828800" lvl="2" indent="-342900" algn="l" rtl="0">
              <a:lnSpc>
                <a:spcPct val="90000"/>
              </a:lnSpc>
              <a:spcBef>
                <a:spcPts val="0"/>
              </a:spcBef>
              <a:spcAft>
                <a:spcPts val="0"/>
              </a:spcAft>
              <a:buSzPts val="1800"/>
              <a:buChar char="■"/>
            </a:pPr>
            <a:r>
              <a:rPr lang="en-US"/>
              <a:t>each small improvement in the Q function translates into an improvement of the policy → training is faster</a:t>
            </a:r>
            <a:endParaRPr/>
          </a:p>
          <a:p>
            <a:pPr marL="1828800" lvl="0" indent="0" algn="l" rtl="0">
              <a:lnSpc>
                <a:spcPct val="90000"/>
              </a:lnSpc>
              <a:spcBef>
                <a:spcPts val="600"/>
              </a:spcBef>
              <a:spcAft>
                <a:spcPts val="0"/>
              </a:spcAft>
              <a:buNone/>
            </a:pPr>
            <a:endParaRPr/>
          </a:p>
          <a:p>
            <a:pPr marL="914400" lvl="0" indent="-342900" algn="l" rtl="0">
              <a:lnSpc>
                <a:spcPct val="90000"/>
              </a:lnSpc>
              <a:spcBef>
                <a:spcPts val="600"/>
              </a:spcBef>
              <a:spcAft>
                <a:spcPts val="0"/>
              </a:spcAft>
              <a:buSzPts val="1800"/>
              <a:buChar char="●"/>
            </a:pPr>
            <a:r>
              <a:rPr lang="en-US" sz="1800"/>
              <a:t>Policy Gradient:</a:t>
            </a:r>
            <a:endParaRPr sz="1800"/>
          </a:p>
          <a:p>
            <a:pPr marL="1371600" lvl="1" indent="-342900" algn="l" rtl="0">
              <a:lnSpc>
                <a:spcPct val="90000"/>
              </a:lnSpc>
              <a:spcBef>
                <a:spcPts val="0"/>
              </a:spcBef>
              <a:spcAft>
                <a:spcPts val="0"/>
              </a:spcAft>
              <a:buSzPts val="1800"/>
              <a:buChar char="○"/>
            </a:pPr>
            <a:r>
              <a:rPr lang="en-US" sz="1800"/>
              <a:t>it’s stochastic and learns what it’s the action that will most probably improve the overall reward. </a:t>
            </a:r>
            <a:endParaRPr sz="1800"/>
          </a:p>
          <a:p>
            <a:pPr marL="1828800" lvl="2" indent="-342900" algn="l" rtl="0">
              <a:lnSpc>
                <a:spcPct val="90000"/>
              </a:lnSpc>
              <a:spcBef>
                <a:spcPts val="0"/>
              </a:spcBef>
              <a:spcAft>
                <a:spcPts val="0"/>
              </a:spcAft>
              <a:buSzPts val="1800"/>
              <a:buChar char="■"/>
            </a:pPr>
            <a:r>
              <a:rPr lang="en-US"/>
              <a:t>learning the policy is usually simpler than the Q functions.</a:t>
            </a:r>
            <a:endParaRPr/>
          </a:p>
          <a:p>
            <a:pPr marL="1828800" lvl="0" indent="0" algn="l" rtl="0">
              <a:lnSpc>
                <a:spcPct val="90000"/>
              </a:lnSpc>
              <a:spcBef>
                <a:spcPts val="600"/>
              </a:spcBef>
              <a:spcAft>
                <a:spcPts val="0"/>
              </a:spcAft>
              <a:buNone/>
            </a:pPr>
            <a:r>
              <a:rPr lang="en-US"/>
              <a:t> </a:t>
            </a:r>
            <a:endParaRPr sz="1800"/>
          </a:p>
          <a:p>
            <a:pPr marL="1828800" lvl="0" indent="0" algn="l" rtl="0">
              <a:lnSpc>
                <a:spcPct val="90000"/>
              </a:lnSpc>
              <a:spcBef>
                <a:spcPts val="600"/>
              </a:spcBef>
              <a:spcAft>
                <a:spcPts val="0"/>
              </a:spcAft>
              <a:buNone/>
            </a:pPr>
            <a:endParaRPr sz="1800"/>
          </a:p>
          <a:p>
            <a:pPr marL="914400" lvl="0" indent="0" algn="l" rtl="0">
              <a:lnSpc>
                <a:spcPct val="90000"/>
              </a:lnSpc>
              <a:spcBef>
                <a:spcPts val="600"/>
              </a:spcBef>
              <a:spcAft>
                <a:spcPts val="0"/>
              </a:spcAft>
              <a:buNone/>
            </a:pPr>
            <a:endParaRPr sz="1800"/>
          </a:p>
        </p:txBody>
      </p:sp>
      <p:sp>
        <p:nvSpPr>
          <p:cNvPr id="1683" name="Google Shape;1683;p50"/>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87"/>
        <p:cNvGrpSpPr/>
        <p:nvPr/>
      </p:nvGrpSpPr>
      <p:grpSpPr>
        <a:xfrm>
          <a:off x="0" y="0"/>
          <a:ext cx="0" cy="0"/>
          <a:chOff x="0" y="0"/>
          <a:chExt cx="0" cy="0"/>
        </a:xfrm>
      </p:grpSpPr>
      <p:sp>
        <p:nvSpPr>
          <p:cNvPr id="1688" name="Google Shape;1688;p51"/>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Some disadvantages of policy gradient:</a:t>
            </a:r>
            <a:endParaRPr sz="1800"/>
          </a:p>
          <a:p>
            <a:pPr marL="0" lvl="0" indent="0" algn="l" rtl="0">
              <a:lnSpc>
                <a:spcPct val="90000"/>
              </a:lnSpc>
              <a:spcBef>
                <a:spcPts val="600"/>
              </a:spcBef>
              <a:spcAft>
                <a:spcPts val="0"/>
              </a:spcAft>
              <a:buNone/>
            </a:pPr>
            <a:endParaRPr sz="1800"/>
          </a:p>
          <a:p>
            <a:pPr marL="914400" lvl="1" indent="-342900" algn="l" rtl="0">
              <a:lnSpc>
                <a:spcPct val="90000"/>
              </a:lnSpc>
              <a:spcBef>
                <a:spcPts val="600"/>
              </a:spcBef>
              <a:spcAft>
                <a:spcPts val="0"/>
              </a:spcAft>
              <a:buSzPts val="1800"/>
              <a:buChar char="○"/>
            </a:pPr>
            <a:r>
              <a:rPr lang="en-US" sz="1800"/>
              <a:t>We need a full episode in order to get the discounted result. This slows down the learning</a:t>
            </a:r>
            <a:br>
              <a:rPr lang="en-US" sz="1800"/>
            </a:br>
            <a:endParaRPr sz="1800"/>
          </a:p>
          <a:p>
            <a:pPr marL="914400" lvl="1" indent="-342900" algn="l" rtl="0">
              <a:lnSpc>
                <a:spcPct val="90000"/>
              </a:lnSpc>
              <a:spcBef>
                <a:spcPts val="0"/>
              </a:spcBef>
              <a:spcAft>
                <a:spcPts val="0"/>
              </a:spcAft>
              <a:buSzPts val="1800"/>
              <a:buChar char="○"/>
            </a:pPr>
            <a:r>
              <a:rPr lang="en-US" sz="1800"/>
              <a:t>There are cases when the reward at the end of the episode is very big. This final big reward, discounted at each previous step, will make all the previous decisions as either bad or good</a:t>
            </a:r>
            <a:endParaRPr sz="1800"/>
          </a:p>
          <a:p>
            <a:pPr marL="1828800" lvl="0" indent="0" algn="l" rtl="0">
              <a:lnSpc>
                <a:spcPct val="90000"/>
              </a:lnSpc>
              <a:spcBef>
                <a:spcPts val="600"/>
              </a:spcBef>
              <a:spcAft>
                <a:spcPts val="0"/>
              </a:spcAft>
              <a:buNone/>
            </a:pPr>
            <a:r>
              <a:rPr lang="en-US"/>
              <a:t> </a:t>
            </a:r>
            <a:endParaRPr sz="1800"/>
          </a:p>
          <a:p>
            <a:pPr marL="1828800" lvl="0" indent="0" algn="l" rtl="0">
              <a:lnSpc>
                <a:spcPct val="90000"/>
              </a:lnSpc>
              <a:spcBef>
                <a:spcPts val="600"/>
              </a:spcBef>
              <a:spcAft>
                <a:spcPts val="0"/>
              </a:spcAft>
              <a:buNone/>
            </a:pPr>
            <a:endParaRPr sz="1800"/>
          </a:p>
          <a:p>
            <a:pPr marL="914400" lvl="0" indent="0" algn="l" rtl="0">
              <a:lnSpc>
                <a:spcPct val="90000"/>
              </a:lnSpc>
              <a:spcBef>
                <a:spcPts val="600"/>
              </a:spcBef>
              <a:spcAft>
                <a:spcPts val="0"/>
              </a:spcAft>
              <a:buNone/>
            </a:pPr>
            <a:endParaRPr sz="1800"/>
          </a:p>
        </p:txBody>
      </p:sp>
      <p:sp>
        <p:nvSpPr>
          <p:cNvPr id="1689" name="Google Shape;1689;p51"/>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grpSp>
        <p:nvGrpSpPr>
          <p:cNvPr id="1690" name="Google Shape;1690;p51"/>
          <p:cNvGrpSpPr/>
          <p:nvPr/>
        </p:nvGrpSpPr>
        <p:grpSpPr>
          <a:xfrm>
            <a:off x="2310961" y="4626075"/>
            <a:ext cx="955489" cy="479325"/>
            <a:chOff x="2310961" y="4626075"/>
            <a:chExt cx="955489" cy="479325"/>
          </a:xfrm>
        </p:grpSpPr>
        <p:cxnSp>
          <p:nvCxnSpPr>
            <p:cNvPr id="1691" name="Google Shape;1691;p51"/>
            <p:cNvCxnSpPr/>
            <p:nvPr/>
          </p:nvCxnSpPr>
          <p:spPr>
            <a:xfrm>
              <a:off x="2711450" y="5055025"/>
              <a:ext cx="555000" cy="0"/>
            </a:xfrm>
            <a:prstGeom prst="straightConnector1">
              <a:avLst/>
            </a:prstGeom>
            <a:noFill/>
            <a:ln w="28575" cap="flat" cmpd="sng">
              <a:solidFill>
                <a:srgbClr val="000000"/>
              </a:solidFill>
              <a:prstDash val="solid"/>
              <a:round/>
              <a:headEnd type="none" w="med" len="med"/>
              <a:tailEnd type="triangle" w="med" len="med"/>
            </a:ln>
          </p:spPr>
        </p:cxnSp>
        <p:sp>
          <p:nvSpPr>
            <p:cNvPr id="1692" name="Google Shape;1692;p51"/>
            <p:cNvSpPr txBox="1"/>
            <p:nvPr/>
          </p:nvSpPr>
          <p:spPr>
            <a:xfrm>
              <a:off x="2310961" y="4805100"/>
              <a:ext cx="4005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s</a:t>
              </a:r>
              <a:r>
                <a:rPr lang="en-US" sz="1800" baseline="-25000">
                  <a:solidFill>
                    <a:schemeClr val="lt1"/>
                  </a:solidFill>
                  <a:latin typeface="Century Gothic"/>
                  <a:ea typeface="Century Gothic"/>
                  <a:cs typeface="Century Gothic"/>
                  <a:sym typeface="Century Gothic"/>
                </a:rPr>
                <a:t>1</a:t>
              </a:r>
              <a:endParaRPr sz="1800" baseline="-25000">
                <a:solidFill>
                  <a:schemeClr val="lt1"/>
                </a:solidFill>
                <a:latin typeface="Century Gothic"/>
                <a:ea typeface="Century Gothic"/>
                <a:cs typeface="Century Gothic"/>
                <a:sym typeface="Century Gothic"/>
              </a:endParaRPr>
            </a:p>
          </p:txBody>
        </p:sp>
        <p:sp>
          <p:nvSpPr>
            <p:cNvPr id="1693" name="Google Shape;1693;p51"/>
            <p:cNvSpPr txBox="1"/>
            <p:nvPr/>
          </p:nvSpPr>
          <p:spPr>
            <a:xfrm>
              <a:off x="2711400" y="4626075"/>
              <a:ext cx="5550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FF00"/>
                  </a:solidFill>
                  <a:latin typeface="Century Gothic"/>
                  <a:ea typeface="Century Gothic"/>
                  <a:cs typeface="Century Gothic"/>
                  <a:sym typeface="Century Gothic"/>
                </a:rPr>
                <a:t>a</a:t>
              </a:r>
              <a:r>
                <a:rPr lang="en-US" baseline="-25000">
                  <a:solidFill>
                    <a:srgbClr val="00FF00"/>
                  </a:solidFill>
                  <a:latin typeface="Century Gothic"/>
                  <a:ea typeface="Century Gothic"/>
                  <a:cs typeface="Century Gothic"/>
                  <a:sym typeface="Century Gothic"/>
                </a:rPr>
                <a:t>1</a:t>
              </a:r>
              <a:endParaRPr baseline="-25000">
                <a:solidFill>
                  <a:srgbClr val="00FF00"/>
                </a:solidFill>
                <a:latin typeface="Century Gothic"/>
                <a:ea typeface="Century Gothic"/>
                <a:cs typeface="Century Gothic"/>
                <a:sym typeface="Century Gothic"/>
              </a:endParaRPr>
            </a:p>
          </p:txBody>
        </p:sp>
      </p:grpSp>
      <p:grpSp>
        <p:nvGrpSpPr>
          <p:cNvPr id="1694" name="Google Shape;1694;p51"/>
          <p:cNvGrpSpPr/>
          <p:nvPr/>
        </p:nvGrpSpPr>
        <p:grpSpPr>
          <a:xfrm>
            <a:off x="3388295" y="4626069"/>
            <a:ext cx="955489" cy="479325"/>
            <a:chOff x="2310961" y="4626075"/>
            <a:chExt cx="955489" cy="479325"/>
          </a:xfrm>
        </p:grpSpPr>
        <p:cxnSp>
          <p:nvCxnSpPr>
            <p:cNvPr id="1695" name="Google Shape;1695;p51"/>
            <p:cNvCxnSpPr/>
            <p:nvPr/>
          </p:nvCxnSpPr>
          <p:spPr>
            <a:xfrm>
              <a:off x="2711450" y="5055025"/>
              <a:ext cx="555000" cy="0"/>
            </a:xfrm>
            <a:prstGeom prst="straightConnector1">
              <a:avLst/>
            </a:prstGeom>
            <a:noFill/>
            <a:ln w="28575" cap="flat" cmpd="sng">
              <a:solidFill>
                <a:srgbClr val="000000"/>
              </a:solidFill>
              <a:prstDash val="solid"/>
              <a:round/>
              <a:headEnd type="none" w="med" len="med"/>
              <a:tailEnd type="triangle" w="med" len="med"/>
            </a:ln>
          </p:spPr>
        </p:cxnSp>
        <p:sp>
          <p:nvSpPr>
            <p:cNvPr id="1696" name="Google Shape;1696;p51"/>
            <p:cNvSpPr txBox="1"/>
            <p:nvPr/>
          </p:nvSpPr>
          <p:spPr>
            <a:xfrm>
              <a:off x="2310961" y="4805100"/>
              <a:ext cx="4005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s</a:t>
              </a:r>
              <a:r>
                <a:rPr lang="en-US" sz="1800" baseline="-25000">
                  <a:solidFill>
                    <a:schemeClr val="lt1"/>
                  </a:solidFill>
                  <a:latin typeface="Century Gothic"/>
                  <a:ea typeface="Century Gothic"/>
                  <a:cs typeface="Century Gothic"/>
                  <a:sym typeface="Century Gothic"/>
                </a:rPr>
                <a:t>2</a:t>
              </a:r>
              <a:endParaRPr sz="1800" baseline="-25000">
                <a:solidFill>
                  <a:schemeClr val="lt1"/>
                </a:solidFill>
                <a:latin typeface="Century Gothic"/>
                <a:ea typeface="Century Gothic"/>
                <a:cs typeface="Century Gothic"/>
                <a:sym typeface="Century Gothic"/>
              </a:endParaRPr>
            </a:p>
          </p:txBody>
        </p:sp>
        <p:sp>
          <p:nvSpPr>
            <p:cNvPr id="1697" name="Google Shape;1697;p51"/>
            <p:cNvSpPr txBox="1"/>
            <p:nvPr/>
          </p:nvSpPr>
          <p:spPr>
            <a:xfrm>
              <a:off x="2711400" y="4626075"/>
              <a:ext cx="5550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FF00"/>
                  </a:solidFill>
                  <a:latin typeface="Century Gothic"/>
                  <a:ea typeface="Century Gothic"/>
                  <a:cs typeface="Century Gothic"/>
                  <a:sym typeface="Century Gothic"/>
                </a:rPr>
                <a:t>a</a:t>
              </a:r>
              <a:r>
                <a:rPr lang="en-US" baseline="-25000">
                  <a:solidFill>
                    <a:srgbClr val="00FF00"/>
                  </a:solidFill>
                  <a:latin typeface="Century Gothic"/>
                  <a:ea typeface="Century Gothic"/>
                  <a:cs typeface="Century Gothic"/>
                  <a:sym typeface="Century Gothic"/>
                </a:rPr>
                <a:t>1</a:t>
              </a:r>
              <a:endParaRPr baseline="-25000">
                <a:solidFill>
                  <a:srgbClr val="00FF00"/>
                </a:solidFill>
                <a:latin typeface="Century Gothic"/>
                <a:ea typeface="Century Gothic"/>
                <a:cs typeface="Century Gothic"/>
                <a:sym typeface="Century Gothic"/>
              </a:endParaRPr>
            </a:p>
          </p:txBody>
        </p:sp>
      </p:grpSp>
      <p:grpSp>
        <p:nvGrpSpPr>
          <p:cNvPr id="1698" name="Google Shape;1698;p51"/>
          <p:cNvGrpSpPr/>
          <p:nvPr/>
        </p:nvGrpSpPr>
        <p:grpSpPr>
          <a:xfrm>
            <a:off x="4425870" y="4626069"/>
            <a:ext cx="955489" cy="479325"/>
            <a:chOff x="2310961" y="4626075"/>
            <a:chExt cx="955489" cy="479325"/>
          </a:xfrm>
        </p:grpSpPr>
        <p:cxnSp>
          <p:nvCxnSpPr>
            <p:cNvPr id="1699" name="Google Shape;1699;p51"/>
            <p:cNvCxnSpPr/>
            <p:nvPr/>
          </p:nvCxnSpPr>
          <p:spPr>
            <a:xfrm>
              <a:off x="2711450" y="5055025"/>
              <a:ext cx="555000" cy="0"/>
            </a:xfrm>
            <a:prstGeom prst="straightConnector1">
              <a:avLst/>
            </a:prstGeom>
            <a:noFill/>
            <a:ln w="28575" cap="flat" cmpd="sng">
              <a:solidFill>
                <a:srgbClr val="000000"/>
              </a:solidFill>
              <a:prstDash val="solid"/>
              <a:round/>
              <a:headEnd type="none" w="med" len="med"/>
              <a:tailEnd type="triangle" w="med" len="med"/>
            </a:ln>
          </p:spPr>
        </p:cxnSp>
        <p:sp>
          <p:nvSpPr>
            <p:cNvPr id="1700" name="Google Shape;1700;p51"/>
            <p:cNvSpPr txBox="1"/>
            <p:nvPr/>
          </p:nvSpPr>
          <p:spPr>
            <a:xfrm>
              <a:off x="2310961" y="4805100"/>
              <a:ext cx="4005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s</a:t>
              </a:r>
              <a:r>
                <a:rPr lang="en-US" sz="1800" baseline="-25000">
                  <a:solidFill>
                    <a:schemeClr val="lt1"/>
                  </a:solidFill>
                  <a:latin typeface="Century Gothic"/>
                  <a:ea typeface="Century Gothic"/>
                  <a:cs typeface="Century Gothic"/>
                  <a:sym typeface="Century Gothic"/>
                </a:rPr>
                <a:t>3</a:t>
              </a:r>
              <a:endParaRPr sz="1800" baseline="-25000">
                <a:solidFill>
                  <a:schemeClr val="lt1"/>
                </a:solidFill>
                <a:latin typeface="Century Gothic"/>
                <a:ea typeface="Century Gothic"/>
                <a:cs typeface="Century Gothic"/>
                <a:sym typeface="Century Gothic"/>
              </a:endParaRPr>
            </a:p>
          </p:txBody>
        </p:sp>
        <p:sp>
          <p:nvSpPr>
            <p:cNvPr id="1701" name="Google Shape;1701;p51"/>
            <p:cNvSpPr txBox="1"/>
            <p:nvPr/>
          </p:nvSpPr>
          <p:spPr>
            <a:xfrm>
              <a:off x="2711400" y="4626075"/>
              <a:ext cx="5550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FF00"/>
                  </a:solidFill>
                  <a:latin typeface="Century Gothic"/>
                  <a:ea typeface="Century Gothic"/>
                  <a:cs typeface="Century Gothic"/>
                  <a:sym typeface="Century Gothic"/>
                </a:rPr>
                <a:t>a</a:t>
              </a:r>
              <a:r>
                <a:rPr lang="en-US" baseline="-25000">
                  <a:solidFill>
                    <a:srgbClr val="00FF00"/>
                  </a:solidFill>
                  <a:latin typeface="Century Gothic"/>
                  <a:ea typeface="Century Gothic"/>
                  <a:cs typeface="Century Gothic"/>
                  <a:sym typeface="Century Gothic"/>
                </a:rPr>
                <a:t>2</a:t>
              </a:r>
              <a:endParaRPr baseline="-25000">
                <a:solidFill>
                  <a:srgbClr val="00FF00"/>
                </a:solidFill>
                <a:latin typeface="Century Gothic"/>
                <a:ea typeface="Century Gothic"/>
                <a:cs typeface="Century Gothic"/>
                <a:sym typeface="Century Gothic"/>
              </a:endParaRPr>
            </a:p>
          </p:txBody>
        </p:sp>
      </p:grpSp>
      <p:grpSp>
        <p:nvGrpSpPr>
          <p:cNvPr id="1702" name="Google Shape;1702;p51"/>
          <p:cNvGrpSpPr/>
          <p:nvPr/>
        </p:nvGrpSpPr>
        <p:grpSpPr>
          <a:xfrm>
            <a:off x="5445695" y="4626069"/>
            <a:ext cx="955489" cy="479325"/>
            <a:chOff x="2310961" y="4626075"/>
            <a:chExt cx="955489" cy="479325"/>
          </a:xfrm>
        </p:grpSpPr>
        <p:cxnSp>
          <p:nvCxnSpPr>
            <p:cNvPr id="1703" name="Google Shape;1703;p51"/>
            <p:cNvCxnSpPr/>
            <p:nvPr/>
          </p:nvCxnSpPr>
          <p:spPr>
            <a:xfrm>
              <a:off x="2711450" y="5055025"/>
              <a:ext cx="555000" cy="0"/>
            </a:xfrm>
            <a:prstGeom prst="straightConnector1">
              <a:avLst/>
            </a:prstGeom>
            <a:noFill/>
            <a:ln w="28575" cap="flat" cmpd="sng">
              <a:solidFill>
                <a:srgbClr val="000000"/>
              </a:solidFill>
              <a:prstDash val="solid"/>
              <a:round/>
              <a:headEnd type="none" w="med" len="med"/>
              <a:tailEnd type="triangle" w="med" len="med"/>
            </a:ln>
          </p:spPr>
        </p:cxnSp>
        <p:sp>
          <p:nvSpPr>
            <p:cNvPr id="1704" name="Google Shape;1704;p51"/>
            <p:cNvSpPr txBox="1"/>
            <p:nvPr/>
          </p:nvSpPr>
          <p:spPr>
            <a:xfrm>
              <a:off x="2310961" y="4805100"/>
              <a:ext cx="4005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s</a:t>
              </a:r>
              <a:r>
                <a:rPr lang="en-US" sz="1800" baseline="-25000">
                  <a:solidFill>
                    <a:schemeClr val="lt1"/>
                  </a:solidFill>
                  <a:latin typeface="Century Gothic"/>
                  <a:ea typeface="Century Gothic"/>
                  <a:cs typeface="Century Gothic"/>
                  <a:sym typeface="Century Gothic"/>
                </a:rPr>
                <a:t>3</a:t>
              </a:r>
              <a:endParaRPr sz="1800" baseline="-25000">
                <a:solidFill>
                  <a:schemeClr val="lt1"/>
                </a:solidFill>
                <a:latin typeface="Century Gothic"/>
                <a:ea typeface="Century Gothic"/>
                <a:cs typeface="Century Gothic"/>
                <a:sym typeface="Century Gothic"/>
              </a:endParaRPr>
            </a:p>
          </p:txBody>
        </p:sp>
        <p:sp>
          <p:nvSpPr>
            <p:cNvPr id="1705" name="Google Shape;1705;p51"/>
            <p:cNvSpPr txBox="1"/>
            <p:nvPr/>
          </p:nvSpPr>
          <p:spPr>
            <a:xfrm>
              <a:off x="2711400" y="4626075"/>
              <a:ext cx="5550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FF0000"/>
                  </a:solidFill>
                  <a:latin typeface="Century Gothic"/>
                  <a:ea typeface="Century Gothic"/>
                  <a:cs typeface="Century Gothic"/>
                  <a:sym typeface="Century Gothic"/>
                </a:rPr>
                <a:t>a</a:t>
              </a:r>
              <a:r>
                <a:rPr lang="en-US" baseline="-25000">
                  <a:solidFill>
                    <a:srgbClr val="FF0000"/>
                  </a:solidFill>
                  <a:latin typeface="Century Gothic"/>
                  <a:ea typeface="Century Gothic"/>
                  <a:cs typeface="Century Gothic"/>
                  <a:sym typeface="Century Gothic"/>
                </a:rPr>
                <a:t>1</a:t>
              </a:r>
              <a:endParaRPr baseline="-25000">
                <a:solidFill>
                  <a:srgbClr val="FF0000"/>
                </a:solidFill>
                <a:latin typeface="Century Gothic"/>
                <a:ea typeface="Century Gothic"/>
                <a:cs typeface="Century Gothic"/>
                <a:sym typeface="Century Gothic"/>
              </a:endParaRPr>
            </a:p>
          </p:txBody>
        </p:sp>
      </p:grpSp>
      <p:grpSp>
        <p:nvGrpSpPr>
          <p:cNvPr id="1706" name="Google Shape;1706;p51"/>
          <p:cNvGrpSpPr/>
          <p:nvPr/>
        </p:nvGrpSpPr>
        <p:grpSpPr>
          <a:xfrm>
            <a:off x="6436295" y="4626069"/>
            <a:ext cx="1031689" cy="479325"/>
            <a:chOff x="2234761" y="4626075"/>
            <a:chExt cx="1031689" cy="479325"/>
          </a:xfrm>
        </p:grpSpPr>
        <p:cxnSp>
          <p:nvCxnSpPr>
            <p:cNvPr id="1707" name="Google Shape;1707;p51"/>
            <p:cNvCxnSpPr/>
            <p:nvPr/>
          </p:nvCxnSpPr>
          <p:spPr>
            <a:xfrm>
              <a:off x="2711450" y="5055025"/>
              <a:ext cx="555000" cy="0"/>
            </a:xfrm>
            <a:prstGeom prst="straightConnector1">
              <a:avLst/>
            </a:prstGeom>
            <a:noFill/>
            <a:ln w="28575" cap="flat" cmpd="sng">
              <a:solidFill>
                <a:srgbClr val="000000"/>
              </a:solidFill>
              <a:prstDash val="solid"/>
              <a:round/>
              <a:headEnd type="none" w="med" len="med"/>
              <a:tailEnd type="triangle" w="med" len="med"/>
            </a:ln>
          </p:spPr>
        </p:cxnSp>
        <p:sp>
          <p:nvSpPr>
            <p:cNvPr id="1708" name="Google Shape;1708;p51"/>
            <p:cNvSpPr txBox="1"/>
            <p:nvPr/>
          </p:nvSpPr>
          <p:spPr>
            <a:xfrm>
              <a:off x="2234761" y="4805100"/>
              <a:ext cx="4005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s</a:t>
              </a:r>
              <a:r>
                <a:rPr lang="en-US" sz="1800" baseline="-25000">
                  <a:solidFill>
                    <a:schemeClr val="lt1"/>
                  </a:solidFill>
                  <a:latin typeface="Century Gothic"/>
                  <a:ea typeface="Century Gothic"/>
                  <a:cs typeface="Century Gothic"/>
                  <a:sym typeface="Century Gothic"/>
                </a:rPr>
                <a:t>4</a:t>
              </a:r>
              <a:endParaRPr sz="1800" baseline="-25000">
                <a:solidFill>
                  <a:schemeClr val="lt1"/>
                </a:solidFill>
                <a:latin typeface="Century Gothic"/>
                <a:ea typeface="Century Gothic"/>
                <a:cs typeface="Century Gothic"/>
                <a:sym typeface="Century Gothic"/>
              </a:endParaRPr>
            </a:p>
          </p:txBody>
        </p:sp>
        <p:sp>
          <p:nvSpPr>
            <p:cNvPr id="1709" name="Google Shape;1709;p51"/>
            <p:cNvSpPr txBox="1"/>
            <p:nvPr/>
          </p:nvSpPr>
          <p:spPr>
            <a:xfrm>
              <a:off x="2711400" y="4626075"/>
              <a:ext cx="5550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FF00"/>
                  </a:solidFill>
                  <a:latin typeface="Century Gothic"/>
                  <a:ea typeface="Century Gothic"/>
                  <a:cs typeface="Century Gothic"/>
                  <a:sym typeface="Century Gothic"/>
                </a:rPr>
                <a:t>a</a:t>
              </a:r>
              <a:r>
                <a:rPr lang="en-US" baseline="-25000">
                  <a:solidFill>
                    <a:srgbClr val="00FF00"/>
                  </a:solidFill>
                  <a:latin typeface="Century Gothic"/>
                  <a:ea typeface="Century Gothic"/>
                  <a:cs typeface="Century Gothic"/>
                  <a:sym typeface="Century Gothic"/>
                </a:rPr>
                <a:t>1</a:t>
              </a:r>
              <a:endParaRPr baseline="-25000">
                <a:solidFill>
                  <a:srgbClr val="00FF00"/>
                </a:solidFill>
                <a:latin typeface="Century Gothic"/>
                <a:ea typeface="Century Gothic"/>
                <a:cs typeface="Century Gothic"/>
                <a:sym typeface="Century Gothic"/>
              </a:endParaRPr>
            </a:p>
          </p:txBody>
        </p:sp>
      </p:grpSp>
      <p:grpSp>
        <p:nvGrpSpPr>
          <p:cNvPr id="1710" name="Google Shape;1710;p51"/>
          <p:cNvGrpSpPr/>
          <p:nvPr/>
        </p:nvGrpSpPr>
        <p:grpSpPr>
          <a:xfrm>
            <a:off x="7579295" y="4626069"/>
            <a:ext cx="955489" cy="479325"/>
            <a:chOff x="2310961" y="4626075"/>
            <a:chExt cx="955489" cy="479325"/>
          </a:xfrm>
        </p:grpSpPr>
        <p:cxnSp>
          <p:nvCxnSpPr>
            <p:cNvPr id="1711" name="Google Shape;1711;p51"/>
            <p:cNvCxnSpPr/>
            <p:nvPr/>
          </p:nvCxnSpPr>
          <p:spPr>
            <a:xfrm>
              <a:off x="2711450" y="5055025"/>
              <a:ext cx="555000" cy="0"/>
            </a:xfrm>
            <a:prstGeom prst="straightConnector1">
              <a:avLst/>
            </a:prstGeom>
            <a:noFill/>
            <a:ln w="28575" cap="flat" cmpd="sng">
              <a:solidFill>
                <a:srgbClr val="000000"/>
              </a:solidFill>
              <a:prstDash val="solid"/>
              <a:round/>
              <a:headEnd type="none" w="med" len="med"/>
              <a:tailEnd type="triangle" w="med" len="med"/>
            </a:ln>
          </p:spPr>
        </p:cxnSp>
        <p:sp>
          <p:nvSpPr>
            <p:cNvPr id="1712" name="Google Shape;1712;p51"/>
            <p:cNvSpPr txBox="1"/>
            <p:nvPr/>
          </p:nvSpPr>
          <p:spPr>
            <a:xfrm>
              <a:off x="2310961" y="4805100"/>
              <a:ext cx="4005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s</a:t>
              </a:r>
              <a:r>
                <a:rPr lang="en-US" sz="1800" baseline="-25000">
                  <a:solidFill>
                    <a:schemeClr val="lt1"/>
                  </a:solidFill>
                  <a:latin typeface="Century Gothic"/>
                  <a:ea typeface="Century Gothic"/>
                  <a:cs typeface="Century Gothic"/>
                  <a:sym typeface="Century Gothic"/>
                </a:rPr>
                <a:t>5</a:t>
              </a:r>
              <a:endParaRPr sz="1800" baseline="-25000">
                <a:solidFill>
                  <a:schemeClr val="lt1"/>
                </a:solidFill>
                <a:latin typeface="Century Gothic"/>
                <a:ea typeface="Century Gothic"/>
                <a:cs typeface="Century Gothic"/>
                <a:sym typeface="Century Gothic"/>
              </a:endParaRPr>
            </a:p>
          </p:txBody>
        </p:sp>
        <p:sp>
          <p:nvSpPr>
            <p:cNvPr id="1713" name="Google Shape;1713;p51"/>
            <p:cNvSpPr txBox="1"/>
            <p:nvPr/>
          </p:nvSpPr>
          <p:spPr>
            <a:xfrm>
              <a:off x="2711400" y="4626075"/>
              <a:ext cx="5550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00FF00"/>
                  </a:solidFill>
                  <a:latin typeface="Century Gothic"/>
                  <a:ea typeface="Century Gothic"/>
                  <a:cs typeface="Century Gothic"/>
                  <a:sym typeface="Century Gothic"/>
                </a:rPr>
                <a:t>a</a:t>
              </a:r>
              <a:r>
                <a:rPr lang="en-US" baseline="-25000">
                  <a:solidFill>
                    <a:srgbClr val="00FF00"/>
                  </a:solidFill>
                  <a:latin typeface="Century Gothic"/>
                  <a:ea typeface="Century Gothic"/>
                  <a:cs typeface="Century Gothic"/>
                  <a:sym typeface="Century Gothic"/>
                </a:rPr>
                <a:t>2</a:t>
              </a:r>
              <a:endParaRPr baseline="-25000">
                <a:solidFill>
                  <a:srgbClr val="00FF00"/>
                </a:solidFill>
                <a:latin typeface="Century Gothic"/>
                <a:ea typeface="Century Gothic"/>
                <a:cs typeface="Century Gothic"/>
                <a:sym typeface="Century Gothic"/>
              </a:endParaRPr>
            </a:p>
          </p:txBody>
        </p:sp>
      </p:grpSp>
      <p:sp>
        <p:nvSpPr>
          <p:cNvPr id="1714" name="Google Shape;1714;p51"/>
          <p:cNvSpPr txBox="1"/>
          <p:nvPr/>
        </p:nvSpPr>
        <p:spPr>
          <a:xfrm>
            <a:off x="8646095" y="4805094"/>
            <a:ext cx="400500" cy="30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lt1"/>
                </a:solidFill>
                <a:latin typeface="Century Gothic"/>
                <a:ea typeface="Century Gothic"/>
                <a:cs typeface="Century Gothic"/>
                <a:sym typeface="Century Gothic"/>
              </a:rPr>
              <a:t>s</a:t>
            </a:r>
            <a:r>
              <a:rPr lang="en-US" sz="1800" baseline="-25000">
                <a:solidFill>
                  <a:schemeClr val="lt1"/>
                </a:solidFill>
                <a:latin typeface="Century Gothic"/>
                <a:ea typeface="Century Gothic"/>
                <a:cs typeface="Century Gothic"/>
                <a:sym typeface="Century Gothic"/>
              </a:rPr>
              <a:t>1</a:t>
            </a:r>
            <a:endParaRPr sz="1800" baseline="-25000">
              <a:solidFill>
                <a:schemeClr val="lt1"/>
              </a:solidFill>
              <a:latin typeface="Century Gothic"/>
              <a:ea typeface="Century Gothic"/>
              <a:cs typeface="Century Gothic"/>
              <a:sym typeface="Century Gothic"/>
            </a:endParaRPr>
          </a:p>
        </p:txBody>
      </p:sp>
      <p:cxnSp>
        <p:nvCxnSpPr>
          <p:cNvPr id="1715" name="Google Shape;1715;p51"/>
          <p:cNvCxnSpPr/>
          <p:nvPr/>
        </p:nvCxnSpPr>
        <p:spPr>
          <a:xfrm>
            <a:off x="9046609" y="5033069"/>
            <a:ext cx="555000" cy="0"/>
          </a:xfrm>
          <a:prstGeom prst="straightConnector1">
            <a:avLst/>
          </a:prstGeom>
          <a:noFill/>
          <a:ln w="28575" cap="flat" cmpd="sng">
            <a:solidFill>
              <a:srgbClr val="000000"/>
            </a:solidFill>
            <a:prstDash val="solid"/>
            <a:round/>
            <a:headEnd type="none" w="med" len="med"/>
            <a:tailEnd type="triangle" w="med" len="med"/>
          </a:ln>
        </p:spPr>
      </p:cxnSp>
      <p:sp>
        <p:nvSpPr>
          <p:cNvPr id="1716" name="Google Shape;1716;p51"/>
          <p:cNvSpPr txBox="1"/>
          <p:nvPr/>
        </p:nvSpPr>
        <p:spPr>
          <a:xfrm>
            <a:off x="9712900" y="4755000"/>
            <a:ext cx="488100" cy="4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a:latin typeface="Century Gothic"/>
                <a:ea typeface="Century Gothic"/>
                <a:cs typeface="Century Gothic"/>
                <a:sym typeface="Century Gothic"/>
              </a:rPr>
              <a:t>R</a:t>
            </a:r>
            <a:endParaRPr sz="2200">
              <a:latin typeface="Century Gothic"/>
              <a:ea typeface="Century Gothic"/>
              <a:cs typeface="Century Gothic"/>
              <a:sym typeface="Century Gothic"/>
            </a:endParaRPr>
          </a:p>
        </p:txBody>
      </p:sp>
      <p:cxnSp>
        <p:nvCxnSpPr>
          <p:cNvPr id="1717" name="Google Shape;1717;p51"/>
          <p:cNvCxnSpPr>
            <a:stCxn id="1716" idx="0"/>
            <a:endCxn id="1713" idx="0"/>
          </p:cNvCxnSpPr>
          <p:nvPr/>
        </p:nvCxnSpPr>
        <p:spPr>
          <a:xfrm rot="5400000" flipH="1">
            <a:off x="9042550" y="3840600"/>
            <a:ext cx="129000" cy="1699800"/>
          </a:xfrm>
          <a:prstGeom prst="curvedConnector3">
            <a:avLst>
              <a:gd name="adj1" fmla="val 284540"/>
            </a:avLst>
          </a:prstGeom>
          <a:noFill/>
          <a:ln w="38100" cap="flat" cmpd="sng">
            <a:solidFill>
              <a:srgbClr val="00FF00"/>
            </a:solidFill>
            <a:prstDash val="solid"/>
            <a:round/>
            <a:headEnd type="none" w="med" len="med"/>
            <a:tailEnd type="triangle" w="med" len="med"/>
          </a:ln>
        </p:spPr>
      </p:cxnSp>
      <p:cxnSp>
        <p:nvCxnSpPr>
          <p:cNvPr id="1718" name="Google Shape;1718;p51"/>
          <p:cNvCxnSpPr>
            <a:stCxn id="1716" idx="0"/>
            <a:endCxn id="1709" idx="0"/>
          </p:cNvCxnSpPr>
          <p:nvPr/>
        </p:nvCxnSpPr>
        <p:spPr>
          <a:xfrm rot="5400000" flipH="1">
            <a:off x="8509150" y="3307200"/>
            <a:ext cx="129000" cy="2766600"/>
          </a:xfrm>
          <a:prstGeom prst="curvedConnector3">
            <a:avLst>
              <a:gd name="adj1" fmla="val 284540"/>
            </a:avLst>
          </a:prstGeom>
          <a:noFill/>
          <a:ln w="28575" cap="flat" cmpd="sng">
            <a:solidFill>
              <a:srgbClr val="00FF00"/>
            </a:solidFill>
            <a:prstDash val="solid"/>
            <a:round/>
            <a:headEnd type="none" w="med" len="med"/>
            <a:tailEnd type="triangle" w="med" len="med"/>
          </a:ln>
        </p:spPr>
      </p:cxnSp>
      <p:cxnSp>
        <p:nvCxnSpPr>
          <p:cNvPr id="1719" name="Google Shape;1719;p51"/>
          <p:cNvCxnSpPr>
            <a:stCxn id="1716" idx="0"/>
            <a:endCxn id="1705" idx="0"/>
          </p:cNvCxnSpPr>
          <p:nvPr/>
        </p:nvCxnSpPr>
        <p:spPr>
          <a:xfrm rot="5400000" flipH="1">
            <a:off x="7975750" y="2773800"/>
            <a:ext cx="129000" cy="3833400"/>
          </a:xfrm>
          <a:prstGeom prst="curvedConnector3">
            <a:avLst>
              <a:gd name="adj1" fmla="val 284540"/>
            </a:avLst>
          </a:prstGeom>
          <a:noFill/>
          <a:ln w="28575" cap="flat" cmpd="sng">
            <a:solidFill>
              <a:srgbClr val="00FF00"/>
            </a:solidFill>
            <a:prstDash val="solid"/>
            <a:round/>
            <a:headEnd type="none" w="med" len="med"/>
            <a:tailEnd type="triangle" w="med" len="med"/>
          </a:ln>
        </p:spPr>
      </p:cxnSp>
      <p:cxnSp>
        <p:nvCxnSpPr>
          <p:cNvPr id="1720" name="Google Shape;1720;p51"/>
          <p:cNvCxnSpPr>
            <a:stCxn id="1716" idx="0"/>
            <a:endCxn id="1701" idx="0"/>
          </p:cNvCxnSpPr>
          <p:nvPr/>
        </p:nvCxnSpPr>
        <p:spPr>
          <a:xfrm rot="5400000" flipH="1">
            <a:off x="7465900" y="2263950"/>
            <a:ext cx="129000" cy="4853100"/>
          </a:xfrm>
          <a:prstGeom prst="curvedConnector3">
            <a:avLst>
              <a:gd name="adj1" fmla="val 284540"/>
            </a:avLst>
          </a:prstGeom>
          <a:noFill/>
          <a:ln w="19050" cap="flat" cmpd="sng">
            <a:solidFill>
              <a:srgbClr val="00FF00"/>
            </a:solidFill>
            <a:prstDash val="solid"/>
            <a:round/>
            <a:headEnd type="none" w="med" len="med"/>
            <a:tailEnd type="triangle" w="med" len="med"/>
          </a:ln>
        </p:spPr>
      </p:cxnSp>
      <p:cxnSp>
        <p:nvCxnSpPr>
          <p:cNvPr id="1721" name="Google Shape;1721;p51"/>
          <p:cNvCxnSpPr>
            <a:stCxn id="1716" idx="2"/>
            <a:endCxn id="1697" idx="2"/>
          </p:cNvCxnSpPr>
          <p:nvPr/>
        </p:nvCxnSpPr>
        <p:spPr>
          <a:xfrm rot="5400000" flipH="1">
            <a:off x="6896950" y="2095500"/>
            <a:ext cx="229200" cy="5890800"/>
          </a:xfrm>
          <a:prstGeom prst="curvedConnector3">
            <a:avLst>
              <a:gd name="adj1" fmla="val -103894"/>
            </a:avLst>
          </a:prstGeom>
          <a:noFill/>
          <a:ln w="19050" cap="flat" cmpd="sng">
            <a:solidFill>
              <a:srgbClr val="00FF00"/>
            </a:solidFill>
            <a:prstDash val="solid"/>
            <a:round/>
            <a:headEnd type="none" w="med" len="med"/>
            <a:tailEnd type="triangle" w="med" len="med"/>
          </a:ln>
        </p:spPr>
      </p:cxnSp>
      <p:cxnSp>
        <p:nvCxnSpPr>
          <p:cNvPr id="1722" name="Google Shape;1722;p51"/>
          <p:cNvCxnSpPr>
            <a:stCxn id="1716" idx="2"/>
            <a:endCxn id="1693" idx="2"/>
          </p:cNvCxnSpPr>
          <p:nvPr/>
        </p:nvCxnSpPr>
        <p:spPr>
          <a:xfrm rot="5400000" flipH="1">
            <a:off x="6358300" y="1556850"/>
            <a:ext cx="229200" cy="6968100"/>
          </a:xfrm>
          <a:prstGeom prst="curvedConnector3">
            <a:avLst>
              <a:gd name="adj1" fmla="val -103894"/>
            </a:avLst>
          </a:prstGeom>
          <a:noFill/>
          <a:ln w="9525" cap="flat" cmpd="sng">
            <a:solidFill>
              <a:srgbClr val="00FF00"/>
            </a:solidFill>
            <a:prstDash val="solid"/>
            <a:round/>
            <a:headEnd type="none" w="med" len="med"/>
            <a:tailEnd type="triangle" w="med" len="med"/>
          </a:ln>
        </p:spPr>
      </p:cxnSp>
      <p:sp>
        <p:nvSpPr>
          <p:cNvPr id="1723" name="Google Shape;1723;p51"/>
          <p:cNvSpPr txBox="1"/>
          <p:nvPr/>
        </p:nvSpPr>
        <p:spPr>
          <a:xfrm>
            <a:off x="2861575" y="5639725"/>
            <a:ext cx="7158000" cy="47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entury Gothic"/>
                <a:ea typeface="Century Gothic"/>
                <a:cs typeface="Century Gothic"/>
                <a:sym typeface="Century Gothic"/>
              </a:rPr>
              <a:t>actian </a:t>
            </a:r>
            <a:r>
              <a:rPr lang="en-US">
                <a:solidFill>
                  <a:srgbClr val="FF0000"/>
                </a:solidFill>
                <a:latin typeface="Century Gothic"/>
                <a:ea typeface="Century Gothic"/>
                <a:cs typeface="Century Gothic"/>
                <a:sym typeface="Century Gothic"/>
              </a:rPr>
              <a:t>a</a:t>
            </a:r>
            <a:r>
              <a:rPr lang="en-US" baseline="-25000">
                <a:solidFill>
                  <a:srgbClr val="FF0000"/>
                </a:solidFill>
                <a:latin typeface="Century Gothic"/>
                <a:ea typeface="Century Gothic"/>
                <a:cs typeface="Century Gothic"/>
                <a:sym typeface="Century Gothic"/>
              </a:rPr>
              <a:t>1</a:t>
            </a:r>
            <a:r>
              <a:rPr lang="en-US" baseline="-25000">
                <a:latin typeface="Century Gothic"/>
                <a:ea typeface="Century Gothic"/>
                <a:cs typeface="Century Gothic"/>
                <a:sym typeface="Century Gothic"/>
              </a:rPr>
              <a:t> </a:t>
            </a:r>
            <a:r>
              <a:rPr lang="en-US">
                <a:solidFill>
                  <a:schemeClr val="dk1"/>
                </a:solidFill>
                <a:latin typeface="Century Gothic"/>
                <a:ea typeface="Century Gothic"/>
                <a:cs typeface="Century Gothic"/>
                <a:sym typeface="Century Gothic"/>
              </a:rPr>
              <a:t>taken at state s</a:t>
            </a:r>
            <a:r>
              <a:rPr lang="en-US" baseline="-25000">
                <a:solidFill>
                  <a:schemeClr val="dk1"/>
                </a:solidFill>
                <a:latin typeface="Century Gothic"/>
                <a:ea typeface="Century Gothic"/>
                <a:cs typeface="Century Gothic"/>
                <a:sym typeface="Century Gothic"/>
              </a:rPr>
              <a:t>3</a:t>
            </a:r>
            <a:r>
              <a:rPr lang="en-US">
                <a:solidFill>
                  <a:schemeClr val="dk1"/>
                </a:solidFill>
                <a:latin typeface="Century Gothic"/>
                <a:ea typeface="Century Gothic"/>
                <a:cs typeface="Century Gothic"/>
                <a:sym typeface="Century Gothic"/>
              </a:rPr>
              <a:t> was a bad action but was labeled as good due to a final good reward</a:t>
            </a:r>
            <a:endParaRPr baseline="-25000">
              <a:latin typeface="Century Gothic"/>
              <a:ea typeface="Century Gothic"/>
              <a:cs typeface="Century Gothic"/>
              <a:sym typeface="Century Gothic"/>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27"/>
        <p:cNvGrpSpPr/>
        <p:nvPr/>
      </p:nvGrpSpPr>
      <p:grpSpPr>
        <a:xfrm>
          <a:off x="0" y="0"/>
          <a:ext cx="0" cy="0"/>
          <a:chOff x="0" y="0"/>
          <a:chExt cx="0" cy="0"/>
        </a:xfrm>
      </p:grpSpPr>
      <p:sp>
        <p:nvSpPr>
          <p:cNvPr id="1728" name="Google Shape;1728;p52"/>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29" name="Google Shape;1729;p52"/>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Actor Critic tries to bring advantages from both worlds</a:t>
            </a:r>
            <a:endParaRPr sz="1800"/>
          </a:p>
          <a:p>
            <a:pPr marL="0" lvl="0" indent="0" algn="l" rtl="0">
              <a:lnSpc>
                <a:spcPct val="90000"/>
              </a:lnSpc>
              <a:spcBef>
                <a:spcPts val="600"/>
              </a:spcBef>
              <a:spcAft>
                <a:spcPts val="0"/>
              </a:spcAft>
              <a:buNone/>
            </a:pPr>
            <a:endParaRPr sz="1800"/>
          </a:p>
          <a:p>
            <a:pPr marL="914400" lvl="1" indent="-342900" algn="l" rtl="0">
              <a:lnSpc>
                <a:spcPct val="90000"/>
              </a:lnSpc>
              <a:spcBef>
                <a:spcPts val="600"/>
              </a:spcBef>
              <a:spcAft>
                <a:spcPts val="0"/>
              </a:spcAft>
              <a:buSzPts val="1800"/>
              <a:buChar char="○"/>
            </a:pPr>
            <a:r>
              <a:rPr lang="en-US" sz="1800"/>
              <a:t>It is made of two parts: actor + critic</a:t>
            </a:r>
            <a:br>
              <a:rPr lang="en-US" sz="1800"/>
            </a:br>
            <a:endParaRPr sz="1800"/>
          </a:p>
          <a:p>
            <a:pPr marL="914400" lvl="1" indent="-342900" algn="l" rtl="0">
              <a:lnSpc>
                <a:spcPct val="90000"/>
              </a:lnSpc>
              <a:spcBef>
                <a:spcPts val="0"/>
              </a:spcBef>
              <a:spcAft>
                <a:spcPts val="0"/>
              </a:spcAft>
              <a:buSzPts val="1800"/>
              <a:buChar char="○"/>
            </a:pPr>
            <a:r>
              <a:rPr lang="en-US" sz="1800"/>
              <a:t>Actor:</a:t>
            </a:r>
            <a:endParaRPr sz="1800"/>
          </a:p>
          <a:p>
            <a:pPr marL="1371600" lvl="2" indent="-342900" algn="l" rtl="0">
              <a:lnSpc>
                <a:spcPct val="90000"/>
              </a:lnSpc>
              <a:spcBef>
                <a:spcPts val="0"/>
              </a:spcBef>
              <a:spcAft>
                <a:spcPts val="0"/>
              </a:spcAft>
              <a:buSzPts val="1800"/>
              <a:buChar char="■"/>
            </a:pPr>
            <a:r>
              <a:rPr lang="en-US"/>
              <a:t>A policy gradient algorithm: improves its policy in order to maximize the predicted rewards</a:t>
            </a:r>
            <a:endParaRPr/>
          </a:p>
          <a:p>
            <a:pPr marL="914400" lvl="1" indent="-342900" algn="l" rtl="0">
              <a:lnSpc>
                <a:spcPct val="90000"/>
              </a:lnSpc>
              <a:spcBef>
                <a:spcPts val="0"/>
              </a:spcBef>
              <a:spcAft>
                <a:spcPts val="0"/>
              </a:spcAft>
              <a:buSzPts val="1800"/>
              <a:buChar char="○"/>
            </a:pPr>
            <a:r>
              <a:rPr lang="en-US" sz="1800"/>
              <a:t>Critic:</a:t>
            </a:r>
            <a:endParaRPr sz="1800"/>
          </a:p>
          <a:p>
            <a:pPr marL="1371600" lvl="2" indent="-342900" algn="l" rtl="0">
              <a:lnSpc>
                <a:spcPct val="90000"/>
              </a:lnSpc>
              <a:spcBef>
                <a:spcPts val="0"/>
              </a:spcBef>
              <a:spcAft>
                <a:spcPts val="0"/>
              </a:spcAft>
              <a:buSzPts val="1800"/>
              <a:buChar char="■"/>
            </a:pPr>
            <a:r>
              <a:rPr lang="en-US"/>
              <a:t>Evaluates each state and action and predicts the final reward</a:t>
            </a:r>
            <a:br>
              <a:rPr lang="en-US" sz="1800"/>
            </a:br>
            <a:endParaRPr sz="1800"/>
          </a:p>
          <a:p>
            <a:pPr marL="914400" lvl="1" indent="-342900" algn="l" rtl="0">
              <a:lnSpc>
                <a:spcPct val="90000"/>
              </a:lnSpc>
              <a:spcBef>
                <a:spcPts val="0"/>
              </a:spcBef>
              <a:spcAft>
                <a:spcPts val="0"/>
              </a:spcAft>
              <a:buSzPts val="1800"/>
              <a:buChar char="○"/>
            </a:pPr>
            <a:r>
              <a:rPr lang="en-US" sz="1800"/>
              <a:t>Both the actor and the critic are implemented using neural networks</a:t>
            </a:r>
            <a:endParaRPr sz="1800"/>
          </a:p>
          <a:p>
            <a:pPr marL="1828800" lvl="0" indent="0" algn="l" rtl="0">
              <a:lnSpc>
                <a:spcPct val="90000"/>
              </a:lnSpc>
              <a:spcBef>
                <a:spcPts val="600"/>
              </a:spcBef>
              <a:spcAft>
                <a:spcPts val="0"/>
              </a:spcAft>
              <a:buNone/>
            </a:pPr>
            <a:r>
              <a:rPr lang="en-US"/>
              <a:t> </a:t>
            </a:r>
            <a:endParaRPr sz="1800"/>
          </a:p>
          <a:p>
            <a:pPr marL="1828800" lvl="0" indent="0" algn="l" rtl="0">
              <a:lnSpc>
                <a:spcPct val="90000"/>
              </a:lnSpc>
              <a:spcBef>
                <a:spcPts val="600"/>
              </a:spcBef>
              <a:spcAft>
                <a:spcPts val="0"/>
              </a:spcAft>
              <a:buNone/>
            </a:pPr>
            <a:endParaRPr sz="1800"/>
          </a:p>
          <a:p>
            <a:pPr marL="914400" lvl="0" indent="0" algn="l" rtl="0">
              <a:lnSpc>
                <a:spcPct val="90000"/>
              </a:lnSpc>
              <a:spcBef>
                <a:spcPts val="600"/>
              </a:spcBef>
              <a:spcAft>
                <a:spcPts val="0"/>
              </a:spcAft>
              <a:buNone/>
            </a:pPr>
            <a:endParaRPr sz="1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33"/>
        <p:cNvGrpSpPr/>
        <p:nvPr/>
      </p:nvGrpSpPr>
      <p:grpSpPr>
        <a:xfrm>
          <a:off x="0" y="0"/>
          <a:ext cx="0" cy="0"/>
          <a:chOff x="0" y="0"/>
          <a:chExt cx="0" cy="0"/>
        </a:xfrm>
      </p:grpSpPr>
      <p:sp>
        <p:nvSpPr>
          <p:cNvPr id="1734" name="Google Shape;1734;p53"/>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35" name="Google Shape;1735;p53"/>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Q-Actor Critic</a:t>
            </a:r>
            <a:endParaRPr sz="1800"/>
          </a:p>
          <a:p>
            <a:pPr marL="457200" lvl="0" indent="0" algn="l" rtl="0">
              <a:lnSpc>
                <a:spcPct val="90000"/>
              </a:lnSpc>
              <a:spcBef>
                <a:spcPts val="600"/>
              </a:spcBef>
              <a:spcAft>
                <a:spcPts val="0"/>
              </a:spcAft>
              <a:buNone/>
            </a:pPr>
            <a:r>
              <a:rPr lang="en-US" sz="1800"/>
              <a:t> </a:t>
            </a:r>
            <a:endParaRPr sz="1800"/>
          </a:p>
          <a:p>
            <a:pPr marL="914400" lvl="1" indent="-342900" algn="l" rtl="0">
              <a:lnSpc>
                <a:spcPct val="90000"/>
              </a:lnSpc>
              <a:spcBef>
                <a:spcPts val="600"/>
              </a:spcBef>
              <a:spcAft>
                <a:spcPts val="0"/>
              </a:spcAft>
              <a:buSzPts val="1800"/>
              <a:buChar char="○"/>
            </a:pPr>
            <a:r>
              <a:rPr lang="en-US" sz="1800"/>
              <a:t>Formula used for policy gradient algorithm </a:t>
            </a:r>
            <a:br>
              <a:rPr lang="en-US" sz="1800"/>
            </a:br>
            <a:br>
              <a:rPr lang="en-US" sz="1800"/>
            </a:br>
            <a:br>
              <a:rPr lang="en-US" sz="1800"/>
            </a:br>
            <a:br>
              <a:rPr lang="en-US" sz="1800"/>
            </a:br>
            <a:br>
              <a:rPr lang="en-US" sz="1800"/>
            </a:br>
            <a:br>
              <a:rPr lang="en-US" sz="1800"/>
            </a:br>
            <a:br>
              <a:rPr lang="en-US" sz="1800"/>
            </a:br>
            <a:br>
              <a:rPr lang="en-US" sz="1800"/>
            </a:br>
            <a:br>
              <a:rPr lang="en-US" sz="1800"/>
            </a:br>
            <a:endParaRPr sz="1800"/>
          </a:p>
          <a:p>
            <a:pPr marL="914400" lvl="1" indent="-342900" algn="l" rtl="0">
              <a:lnSpc>
                <a:spcPct val="90000"/>
              </a:lnSpc>
              <a:spcBef>
                <a:spcPts val="0"/>
              </a:spcBef>
              <a:spcAft>
                <a:spcPts val="0"/>
              </a:spcAft>
              <a:buSzPts val="1800"/>
              <a:buChar char="○"/>
            </a:pPr>
            <a:r>
              <a:rPr lang="en-US" sz="1800" i="1">
                <a:latin typeface="Times New Roman"/>
                <a:ea typeface="Times New Roman"/>
                <a:cs typeface="Times New Roman"/>
                <a:sym typeface="Times New Roman"/>
              </a:rPr>
              <a:t>G</a:t>
            </a:r>
            <a:r>
              <a:rPr lang="en-US" sz="1800" i="1" baseline="-25000">
                <a:latin typeface="Times New Roman"/>
                <a:ea typeface="Times New Roman"/>
                <a:cs typeface="Times New Roman"/>
                <a:sym typeface="Times New Roman"/>
              </a:rPr>
              <a:t>t</a:t>
            </a:r>
            <a:r>
              <a:rPr lang="en-US" sz="1800"/>
              <a:t> is actually de Q(s,a) function.                                                </a:t>
            </a:r>
            <a:endParaRPr sz="1800"/>
          </a:p>
          <a:p>
            <a:pPr marL="914400" lvl="0" indent="0" algn="l" rtl="0">
              <a:lnSpc>
                <a:spcPct val="90000"/>
              </a:lnSpc>
              <a:spcBef>
                <a:spcPts val="600"/>
              </a:spcBef>
              <a:spcAft>
                <a:spcPts val="0"/>
              </a:spcAft>
              <a:buNone/>
            </a:pPr>
            <a:endParaRPr sz="1800"/>
          </a:p>
          <a:p>
            <a:pPr marL="1828800" lvl="0" indent="0" algn="l" rtl="0">
              <a:lnSpc>
                <a:spcPct val="90000"/>
              </a:lnSpc>
              <a:spcBef>
                <a:spcPts val="600"/>
              </a:spcBef>
              <a:spcAft>
                <a:spcPts val="0"/>
              </a:spcAft>
              <a:buNone/>
            </a:pPr>
            <a:r>
              <a:rPr lang="en-US"/>
              <a:t> </a:t>
            </a:r>
            <a:endParaRPr sz="1800" baseline="-25000"/>
          </a:p>
        </p:txBody>
      </p:sp>
      <p:pic>
        <p:nvPicPr>
          <p:cNvPr id="1736" name="Google Shape;1736;p53" descr="&lt;math xmlns=&quot;http://www.w3.org/1998/Math/MathML&quot;&gt;&lt;msub&gt;&lt;mi&gt;G&lt;/mi&gt;&lt;mi&gt;t&lt;/mi&gt;&lt;/msub&gt;&lt;mo&gt;=&lt;/mo&gt;&lt;mstyle displaystyle=&quot;false&quot;&gt;&lt;munderover&gt;&lt;mo&gt;&amp;#x2211;&lt;/mo&gt;&lt;mrow&gt;&lt;mi&gt;t&lt;/mi&gt;&lt;mo&gt;'&lt;/mo&gt;&lt;mo&gt;=&lt;/mo&gt;&lt;mi&gt;t&lt;/mi&gt;&lt;mo&gt;+&lt;/mo&gt;&lt;mn&gt;1&lt;/mn&gt;&lt;/mrow&gt;&lt;mrow&gt;&lt;mi&gt;t&lt;/mi&gt;&lt;mo&gt;'&lt;/mo&gt;&lt;mo&gt;=&lt;/mo&gt;&lt;mi&gt;T&lt;/mi&gt;&lt;/mrow&gt;&lt;/munderover&gt;&lt;/mstyle&gt;&lt;mo&gt;&amp;#xA0;&lt;/mo&gt;&lt;mo&gt;&amp;#xA0;&lt;/mo&gt;&lt;msub&gt;&lt;mi&gt;r&lt;/mi&gt;&lt;mrow&gt;&lt;mi&gt;t&lt;/mi&gt;&lt;mo&gt;'&lt;/mo&gt;&lt;/mrow&gt;&lt;/msub&gt;&lt;/math&gt;" title="G subscript t equals begin inline style sum from t apostrophe equals t plus 1 to t apostrophe equals T of end style space space r subscript t apostrophe end subscript"/>
          <p:cNvPicPr preferRelativeResize="0"/>
          <p:nvPr/>
        </p:nvPicPr>
        <p:blipFill>
          <a:blip r:embed="rId3">
            <a:alphaModFix/>
          </a:blip>
          <a:stretch>
            <a:fillRect/>
          </a:stretch>
        </p:blipFill>
        <p:spPr>
          <a:xfrm>
            <a:off x="2546430" y="4093127"/>
            <a:ext cx="2117199" cy="490075"/>
          </a:xfrm>
          <a:prstGeom prst="rect">
            <a:avLst/>
          </a:prstGeom>
          <a:noFill/>
          <a:ln>
            <a:noFill/>
          </a:ln>
        </p:spPr>
      </p:pic>
      <p:pic>
        <p:nvPicPr>
          <p:cNvPr id="1737" name="Google Shape;1737;p53" descr="&lt;math xmlns=&quot;http://www.w3.org/1998/Math/MathML&quot;&gt;&lt;msub&gt;&lt;mo mathcolor=&quot;#191919&quot;&gt;&amp;#x2207;&lt;/mo&gt;&lt;mi mathcolor=&quot;#191919&quot;&gt;&amp;#x3B8;&lt;/mi&gt;&lt;/msub&gt;&lt;mi mathcolor=&quot;#191919&quot;&gt;J&lt;/mi&gt;&lt;mfenced mathcolor=&quot;#191919&quot;&gt;&lt;mi&gt;&amp;#x3B8;&lt;/mi&gt;&lt;/mfenced&gt;&lt;mo mathcolor=&quot;#191919&quot;&gt;&amp;#xA0;&lt;/mo&gt;&lt;mo mathcolor=&quot;#191919&quot;&gt;&amp;#xA0;&lt;/mo&gt;&lt;mo mathcolor=&quot;#191919&quot;&gt;=&lt;/mo&gt;&lt;mo mathcolor=&quot;#191919&quot;&gt;&amp;#xA0;&lt;/mo&gt;&lt;mstyle mathcolor=&quot;#191919&quot; displaystyle=&quot;false&quot;&gt;&lt;munderover&gt;&lt;mo&gt;&amp;#x2211;&lt;/mo&gt;&lt;mrow&gt;&lt;mi&gt;t&lt;/mi&gt;&lt;mo&gt;=&lt;/mo&gt;&lt;mn&gt;0&lt;/mn&gt;&lt;/mrow&gt;&lt;mrow&gt;&lt;mi&gt;t&lt;/mi&gt;&lt;mo&gt;=&lt;/mo&gt;&lt;mi&gt;T&lt;/mi&gt;&lt;mo&gt;-&lt;/mo&gt;&lt;mn&gt;1&lt;/mn&gt;&lt;/mrow&gt;&lt;/munderover&gt;&lt;/mstyle&gt;&lt;msub&gt;&lt;mo mathcolor=&quot;#191919&quot;&gt;&amp;#x2207;&lt;/mo&gt;&lt;mi mathcolor=&quot;#191919&quot;&gt;&amp;#x3B8;&lt;/mi&gt;&lt;/msub&gt;&lt;mi mathcolor=&quot;#191919&quot;&gt;l&lt;/mi&gt;&lt;mi mathcolor=&quot;#191919&quot;&gt;o&lt;/mi&gt;&lt;mi mathcolor=&quot;#191919&quot;&gt;g&lt;/mi&gt;&lt;mo mathcolor=&quot;#191919&quot;&gt;&amp;#xA0;&lt;/mo&gt;&lt;mstyle mathcolor=&quot;#191919&quot; displaystyle=&quot;false&quot;&gt;&lt;msub&gt;&lt;mi&gt;&amp;#x3C0;&lt;/mi&gt;&lt;mi&gt;&amp;#x3B8;&lt;/mi&gt;&lt;/msub&gt;&lt;/mstyle&gt;&lt;mstyle mathcolor=&quot;#191919&quot; displaystyle=&quot;false&quot;&gt;&lt;mfenced&gt;&lt;mrow&gt;&lt;msub&gt;&lt;mi&gt;a&lt;/mi&gt;&lt;mi&gt;t&lt;/mi&gt;&lt;/msub&gt;&lt;mo&gt;&amp;#xA0;&lt;/mo&gt;&lt;menclose notation=&quot;left&quot;&gt;&lt;mo&gt;&amp;#xA0;&lt;/mo&gt;&lt;msub&gt;&lt;mi&gt;s&lt;/mi&gt;&lt;mi&gt;t&lt;/mi&gt;&lt;/msub&gt;&lt;/menclose&gt;&lt;/mrow&gt;&lt;/mfenced&gt;&lt;msub&gt;&lt;mi&gt;G&lt;/mi&gt;&lt;mi&gt;t&lt;/mi&gt;&lt;/msub&gt;&lt;/mstyle&gt;&lt;/math&gt;" title="nabla subscript theta J open parentheses theta close parentheses space space equals space begin inline style sum from t equals 0 to t equals T minus 1 of end style nabla subscript theta l o g space begin inline style pi subscript theta end style begin inline style open parentheses a subscript t space left enclose space s subscript t end enclose close parentheses G subscript t end style"/>
          <p:cNvPicPr preferRelativeResize="0"/>
          <p:nvPr/>
        </p:nvPicPr>
        <p:blipFill>
          <a:blip r:embed="rId4">
            <a:alphaModFix/>
          </a:blip>
          <a:stretch>
            <a:fillRect/>
          </a:stretch>
        </p:blipFill>
        <p:spPr>
          <a:xfrm>
            <a:off x="2679675" y="3143575"/>
            <a:ext cx="5789698" cy="570875"/>
          </a:xfrm>
          <a:prstGeom prst="rect">
            <a:avLst/>
          </a:prstGeom>
          <a:noFill/>
          <a:ln>
            <a:noFill/>
          </a:ln>
        </p:spPr>
      </p:pic>
      <p:pic>
        <p:nvPicPr>
          <p:cNvPr id="1738" name="Google Shape;1738;p53" descr="&lt;math xmlns=&quot;http://www.w3.org/1998/Math/MathML&quot;&gt;&lt;msub&gt;&lt;mi&gt;G&lt;/mi&gt;&lt;mi&gt;t&lt;/mi&gt;&lt;/msub&gt;&lt;mo&gt;=&lt;/mo&gt;&lt;mstyle displaystyle=&quot;false&quot;&gt;&lt;munderover&gt;&lt;mo&gt;&amp;#x2211;&lt;/mo&gt;&lt;mrow&gt;&lt;mi&gt;t&lt;/mi&gt;&lt;mo&gt;'&lt;/mo&gt;&lt;mo&gt;=&lt;/mo&gt;&lt;mi&gt;t&lt;/mi&gt;&lt;mo&gt;+&lt;/mo&gt;&lt;mn&gt;1&lt;/mn&gt;&lt;/mrow&gt;&lt;mrow&gt;&lt;mi&gt;t&lt;/mi&gt;&lt;mo&gt;'&lt;/mo&gt;&lt;mo&gt;=&lt;/mo&gt;&lt;mi&gt;T&lt;/mi&gt;&lt;/mrow&gt;&lt;/munderover&gt;&lt;/mstyle&gt;&lt;mo&gt;&amp;#xA0;&lt;/mo&gt;&lt;mo&gt;&amp;#xA0;&lt;/mo&gt;&lt;msub&gt;&lt;msup&gt;&lt;mi&gt;&amp;#x3B3;&lt;/mi&gt;&lt;mrow&gt;&lt;mi&gt;t&lt;/mi&gt;&lt;mo&gt;'&lt;/mo&gt;&lt;mo&gt;-&lt;/mo&gt;&lt;mi&gt;t&lt;/mi&gt;&lt;mo&gt;-&lt;/mo&gt;&lt;mn&gt;1&lt;/mn&gt;&lt;/mrow&gt;&lt;/msup&gt;&lt;msub&gt;&lt;mi&gt;r&lt;/mi&gt;&lt;mrow&gt;&lt;mi&gt;t&lt;/mi&gt;&lt;mo&gt;'&lt;/mo&gt;&lt;/mrow&gt;&lt;/msub&gt;&lt;/msub&gt;&lt;/math&gt;" title="G subscript t equals begin inline style sum from t apostrophe equals t plus 1 to t apostrophe equals T of end style space space gamma to the power of t apostrophe minus t minus 1 end exponent subscript r subscript t apostrophe end subscript end subscript"/>
          <p:cNvPicPr preferRelativeResize="0"/>
          <p:nvPr/>
        </p:nvPicPr>
        <p:blipFill>
          <a:blip r:embed="rId5">
            <a:alphaModFix/>
          </a:blip>
          <a:stretch>
            <a:fillRect/>
          </a:stretch>
        </p:blipFill>
        <p:spPr>
          <a:xfrm>
            <a:off x="7470164" y="4052725"/>
            <a:ext cx="3196252" cy="570875"/>
          </a:xfrm>
          <a:prstGeom prst="rect">
            <a:avLst/>
          </a:prstGeom>
          <a:noFill/>
          <a:ln>
            <a:noFill/>
          </a:ln>
        </p:spPr>
      </p:pic>
      <p:sp>
        <p:nvSpPr>
          <p:cNvPr id="1739" name="Google Shape;1739;p53"/>
          <p:cNvSpPr txBox="1"/>
          <p:nvPr/>
        </p:nvSpPr>
        <p:spPr>
          <a:xfrm>
            <a:off x="7404250" y="4623600"/>
            <a:ext cx="31962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entury Gothic"/>
                <a:ea typeface="Century Gothic"/>
                <a:cs typeface="Century Gothic"/>
                <a:sym typeface="Century Gothic"/>
              </a:rPr>
              <a:t>discounted future rewards</a:t>
            </a:r>
            <a:endParaRPr>
              <a:latin typeface="Century Gothic"/>
              <a:ea typeface="Century Gothic"/>
              <a:cs typeface="Century Gothic"/>
              <a:sym typeface="Century Gothic"/>
            </a:endParaRPr>
          </a:p>
        </p:txBody>
      </p:sp>
      <p:sp>
        <p:nvSpPr>
          <p:cNvPr id="1740" name="Google Shape;1740;p53"/>
          <p:cNvSpPr txBox="1"/>
          <p:nvPr/>
        </p:nvSpPr>
        <p:spPr>
          <a:xfrm>
            <a:off x="2468232" y="4623600"/>
            <a:ext cx="31962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entury Gothic"/>
                <a:ea typeface="Century Gothic"/>
                <a:cs typeface="Century Gothic"/>
                <a:sym typeface="Century Gothic"/>
              </a:rPr>
              <a:t>future rewards</a:t>
            </a:r>
            <a:endParaRPr>
              <a:latin typeface="Century Gothic"/>
              <a:ea typeface="Century Gothic"/>
              <a:cs typeface="Century Gothic"/>
              <a:sym typeface="Century Gothic"/>
            </a:endParaRPr>
          </a:p>
        </p:txBody>
      </p:sp>
      <p:pic>
        <p:nvPicPr>
          <p:cNvPr id="1741" name="Google Shape;1741;p53" descr="&lt;math xmlns=&quot;http://www.w3.org/1998/Math/MathML&quot;&gt;&lt;mi&gt;Q&lt;/mi&gt;&lt;mfenced&gt;&lt;mrow&gt;&lt;mi&gt;s&lt;/mi&gt;&lt;mo&gt;,&lt;/mo&gt;&lt;mi&gt;a&lt;/mi&gt;&lt;/mrow&gt;&lt;/mfenced&gt;&lt;mo&gt;=&lt;/mo&gt;&lt;mi&gt;R&lt;/mi&gt;&lt;mfenced&gt;&lt;mrow&gt;&lt;mi&gt;s&lt;/mi&gt;&lt;mo&gt;,&lt;/mo&gt;&lt;mi&gt;a&lt;/mi&gt;&lt;mo&gt;,&lt;/mo&gt;&lt;mi&gt;s&lt;/mi&gt;&lt;mo&gt;'&lt;/mo&gt;&lt;/mrow&gt;&lt;/mfenced&gt;&lt;mo&gt;+&lt;/mo&gt;&lt;mi&gt;&amp;#x3B3;&lt;/mi&gt;&lt;mi&gt;m&lt;/mi&gt;&lt;mi&gt;a&lt;/mi&gt;&lt;msub&gt;&lt;mi&gt;x&lt;/mi&gt;&lt;mi&gt;a&lt;/mi&gt;&lt;/msub&gt;&lt;mi&gt;Q&lt;/mi&gt;&lt;mfenced&gt;&lt;mrow&gt;&lt;mi&gt;s&lt;/mi&gt;&lt;mo&gt;'&lt;/mo&gt;&lt;mo&gt;,&lt;/mo&gt;&lt;mi&gt;a&lt;/mi&gt;&lt;mo&gt;'&lt;/mo&gt;&lt;/mrow&gt;&lt;/mfenced&gt;&lt;/math&gt;" title="Q open parentheses s comma a close parentheses equals R open parentheses s comma a comma s apostrophe close parentheses plus gamma m a x subscript a Q open parentheses s apostrophe comma a apostrophe close parentheses"/>
          <p:cNvPicPr preferRelativeResize="0"/>
          <p:nvPr/>
        </p:nvPicPr>
        <p:blipFill>
          <a:blip r:embed="rId6">
            <a:alphaModFix/>
          </a:blip>
          <a:stretch>
            <a:fillRect/>
          </a:stretch>
        </p:blipFill>
        <p:spPr>
          <a:xfrm>
            <a:off x="2679675" y="5788771"/>
            <a:ext cx="5789691" cy="383423"/>
          </a:xfrm>
          <a:prstGeom prst="rect">
            <a:avLst/>
          </a:prstGeom>
          <a:noFill/>
          <a:ln>
            <a:noFill/>
          </a:ln>
        </p:spPr>
      </p:pic>
      <p:sp>
        <p:nvSpPr>
          <p:cNvPr id="1742" name="Google Shape;1742;p53"/>
          <p:cNvSpPr txBox="1"/>
          <p:nvPr/>
        </p:nvSpPr>
        <p:spPr>
          <a:xfrm>
            <a:off x="5727350" y="4162963"/>
            <a:ext cx="5004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entury Gothic"/>
                <a:ea typeface="Century Gothic"/>
                <a:cs typeface="Century Gothic"/>
                <a:sym typeface="Century Gothic"/>
              </a:rPr>
              <a:t>or</a:t>
            </a:r>
            <a:endParaRPr>
              <a:latin typeface="Century Gothic"/>
              <a:ea typeface="Century Gothic"/>
              <a:cs typeface="Century Gothic"/>
              <a:sym typeface="Century Gothic"/>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46"/>
        <p:cNvGrpSpPr/>
        <p:nvPr/>
      </p:nvGrpSpPr>
      <p:grpSpPr>
        <a:xfrm>
          <a:off x="0" y="0"/>
          <a:ext cx="0" cy="0"/>
          <a:chOff x="0" y="0"/>
          <a:chExt cx="0" cy="0"/>
        </a:xfrm>
      </p:grpSpPr>
      <p:sp>
        <p:nvSpPr>
          <p:cNvPr id="1747" name="Google Shape;1747;p54"/>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48" name="Google Shape;1748;p54"/>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Q-Actor Critic</a:t>
            </a:r>
            <a:endParaRPr sz="1800"/>
          </a:p>
          <a:p>
            <a:pPr marL="457200" lvl="0" indent="0" algn="l" rtl="0">
              <a:lnSpc>
                <a:spcPct val="90000"/>
              </a:lnSpc>
              <a:spcBef>
                <a:spcPts val="600"/>
              </a:spcBef>
              <a:spcAft>
                <a:spcPts val="0"/>
              </a:spcAft>
              <a:buNone/>
            </a:pPr>
            <a:r>
              <a:rPr lang="en-US" sz="1800"/>
              <a:t> </a:t>
            </a:r>
            <a:endParaRPr sz="1800"/>
          </a:p>
          <a:p>
            <a:pPr marL="914400" lvl="1" indent="-342900" algn="l" rtl="0">
              <a:lnSpc>
                <a:spcPct val="90000"/>
              </a:lnSpc>
              <a:spcBef>
                <a:spcPts val="600"/>
              </a:spcBef>
              <a:spcAft>
                <a:spcPts val="0"/>
              </a:spcAft>
              <a:buSzPts val="1800"/>
              <a:buChar char="○"/>
            </a:pPr>
            <a:r>
              <a:rPr lang="en-US" sz="1800"/>
              <a:t>We can introduce the Q(s,a) into the policy gradient algorithm</a:t>
            </a:r>
            <a:br>
              <a:rPr lang="en-US" sz="1800"/>
            </a:br>
            <a:endParaRPr sz="1800"/>
          </a:p>
          <a:p>
            <a:pPr marL="914400" lvl="1" indent="-342900" algn="l" rtl="0">
              <a:lnSpc>
                <a:spcPct val="90000"/>
              </a:lnSpc>
              <a:spcBef>
                <a:spcPts val="0"/>
              </a:spcBef>
              <a:spcAft>
                <a:spcPts val="0"/>
              </a:spcAft>
              <a:buSzPts val="1800"/>
              <a:buChar char="○"/>
            </a:pPr>
            <a:r>
              <a:rPr lang="en-US" sz="1800"/>
              <a:t>We know we can have a neural network that can learn to approximate  the  Q(s,a) function</a:t>
            </a:r>
            <a:br>
              <a:rPr lang="en-US" sz="1800"/>
            </a:br>
            <a:endParaRPr sz="1800"/>
          </a:p>
          <a:p>
            <a:pPr marL="1828800" lvl="0" indent="0" algn="l" rtl="0">
              <a:lnSpc>
                <a:spcPct val="90000"/>
              </a:lnSpc>
              <a:spcBef>
                <a:spcPts val="600"/>
              </a:spcBef>
              <a:spcAft>
                <a:spcPts val="0"/>
              </a:spcAft>
              <a:buNone/>
            </a:pPr>
            <a:endParaRPr sz="1800" baseline="-25000"/>
          </a:p>
        </p:txBody>
      </p:sp>
      <p:pic>
        <p:nvPicPr>
          <p:cNvPr id="1749" name="Google Shape;1749;p54" descr="&lt;math xmlns=&quot;http://www.w3.org/1998/Math/MathML&quot;&gt;&lt;msub&gt;&lt;mo mathcolor=&quot;#191919&quot;&gt;&amp;#x2207;&lt;/mo&gt;&lt;mi mathcolor=&quot;#191919&quot;&gt;&amp;#x3B8;&lt;/mi&gt;&lt;/msub&gt;&lt;mi mathcolor=&quot;#191919&quot;&gt;J&lt;/mi&gt;&lt;mfenced mathcolor=&quot;#191919&quot;&gt;&lt;mi&gt;&amp;#x3B8;&lt;/mi&gt;&lt;/mfenced&gt;&lt;mo mathcolor=&quot;#191919&quot;&gt;&amp;#xA0;&lt;/mo&gt;&lt;mo mathcolor=&quot;#191919&quot;&gt;&amp;#xA0;&lt;/mo&gt;&lt;mo mathcolor=&quot;#191919&quot;&gt;=&lt;/mo&gt;&lt;mo mathcolor=&quot;#191919&quot;&gt;&amp;#xA0;&lt;/mo&gt;&lt;mstyle mathcolor=&quot;#191919&quot; displaystyle=&quot;false&quot;&gt;&lt;munderover&gt;&lt;mo&gt;&amp;#x2211;&lt;/mo&gt;&lt;mrow&gt;&lt;mi&gt;t&lt;/mi&gt;&lt;mo&gt;=&lt;/mo&gt;&lt;mn&gt;0&lt;/mn&gt;&lt;/mrow&gt;&lt;mrow&gt;&lt;mi&gt;t&lt;/mi&gt;&lt;mo&gt;=&lt;/mo&gt;&lt;mi&gt;T&lt;/mi&gt;&lt;mo&gt;-&lt;/mo&gt;&lt;mn&gt;1&lt;/mn&gt;&lt;/mrow&gt;&lt;/munderover&gt;&lt;/mstyle&gt;&lt;msub&gt;&lt;mo mathcolor=&quot;#191919&quot;&gt;&amp;#x2207;&lt;/mo&gt;&lt;mi mathcolor=&quot;#191919&quot;&gt;&amp;#x3B8;&lt;/mi&gt;&lt;/msub&gt;&lt;mi mathcolor=&quot;#191919&quot;&gt;l&lt;/mi&gt;&lt;mi mathcolor=&quot;#191919&quot;&gt;o&lt;/mi&gt;&lt;mi mathcolor=&quot;#191919&quot;&gt;g&lt;/mi&gt;&lt;mo mathcolor=&quot;#191919&quot;&gt;&amp;#xA0;&lt;/mo&gt;&lt;mstyle mathcolor=&quot;#191919&quot; displaystyle=&quot;false&quot;&gt;&lt;msub&gt;&lt;mi&gt;&amp;#x3C0;&lt;/mi&gt;&lt;mi&gt;&amp;#x3B8;&lt;/mi&gt;&lt;/msub&gt;&lt;/mstyle&gt;&lt;mstyle mathcolor=&quot;#191919&quot; displaystyle=&quot;false&quot;&gt;&lt;mfenced&gt;&lt;mrow&gt;&lt;msub&gt;&lt;mi&gt;a&lt;/mi&gt;&lt;mi&gt;t&lt;/mi&gt;&lt;/msub&gt;&lt;mo&gt;&amp;#xA0;&lt;/mo&gt;&lt;menclose notation=&quot;left&quot;&gt;&lt;mo&gt;&amp;#xA0;&lt;/mo&gt;&lt;msub&gt;&lt;mi&gt;s&lt;/mi&gt;&lt;mi&gt;t&lt;/mi&gt;&lt;/msub&gt;&lt;/menclose&gt;&lt;/mrow&gt;&lt;/mfenced&gt;&lt;msub&gt;&lt;mi&gt;Q&lt;/mi&gt;&lt;mi&gt;w&lt;/mi&gt;&lt;/msub&gt;&lt;mfenced&gt;&lt;mrow&gt;&lt;msub&gt;&lt;mi&gt;s&lt;/mi&gt;&lt;mrow&gt;&lt;mi&gt;t&lt;/mi&gt;&lt;mo&gt;,&lt;/mo&gt;&lt;mo&gt;&amp;#xA0;&lt;/mo&gt;&lt;/mrow&gt;&lt;/msub&gt;&lt;msub&gt;&lt;mi&gt;a&lt;/mi&gt;&lt;mi&gt;t&lt;/mi&gt;&lt;/msub&gt;&lt;/mrow&gt;&lt;/mfenced&gt;&lt;/mstyle&gt;&lt;/math&gt;" title="nabla subscript theta J open parentheses theta close parentheses space space equals space begin inline style sum from t equals 0 to t equals T minus 1 of end style nabla subscript theta l o g space begin inline style pi subscript theta end style begin inline style open parentheses a subscript t space left enclose space s subscript t end enclose close parentheses Q subscript w open parentheses s subscript t comma space end subscript a subscript t close parentheses end style"/>
          <p:cNvPicPr preferRelativeResize="0"/>
          <p:nvPr/>
        </p:nvPicPr>
        <p:blipFill>
          <a:blip r:embed="rId3">
            <a:alphaModFix/>
          </a:blip>
          <a:stretch>
            <a:fillRect/>
          </a:stretch>
        </p:blipFill>
        <p:spPr>
          <a:xfrm>
            <a:off x="2629600" y="3973475"/>
            <a:ext cx="7390101" cy="5985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53"/>
        <p:cNvGrpSpPr/>
        <p:nvPr/>
      </p:nvGrpSpPr>
      <p:grpSpPr>
        <a:xfrm>
          <a:off x="0" y="0"/>
          <a:ext cx="0" cy="0"/>
          <a:chOff x="0" y="0"/>
          <a:chExt cx="0" cy="0"/>
        </a:xfrm>
      </p:grpSpPr>
      <p:sp>
        <p:nvSpPr>
          <p:cNvPr id="1754" name="Google Shape;1754;p55"/>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55" name="Google Shape;1755;p55"/>
          <p:cNvSpPr txBox="1">
            <a:spLocks noGrp="1"/>
          </p:cNvSpPr>
          <p:nvPr>
            <p:ph type="body" idx="1"/>
          </p:nvPr>
        </p:nvSpPr>
        <p:spPr>
          <a:xfrm>
            <a:off x="1624762" y="157965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dirty="0"/>
              <a:t>Training pseudocode:</a:t>
            </a:r>
            <a:endParaRPr sz="1800" dirty="0"/>
          </a:p>
          <a:p>
            <a:pPr marL="914400" lvl="1" indent="-342900" algn="l" rtl="0">
              <a:lnSpc>
                <a:spcPct val="90000"/>
              </a:lnSpc>
              <a:spcBef>
                <a:spcPts val="0"/>
              </a:spcBef>
              <a:spcAft>
                <a:spcPts val="0"/>
              </a:spcAft>
              <a:buSzPts val="1800"/>
              <a:buChar char="○"/>
            </a:pPr>
            <a:r>
              <a:rPr lang="en-US" sz="1800" dirty="0"/>
              <a:t>Initialize neural network for Actor (similar to policy gradient algorithm): 𝜃</a:t>
            </a:r>
            <a:endParaRPr sz="1800" dirty="0"/>
          </a:p>
          <a:p>
            <a:pPr marL="914400" lvl="1" indent="-342900" algn="l" rtl="0">
              <a:lnSpc>
                <a:spcPct val="90000"/>
              </a:lnSpc>
              <a:spcBef>
                <a:spcPts val="0"/>
              </a:spcBef>
              <a:spcAft>
                <a:spcPts val="0"/>
              </a:spcAft>
              <a:buSzPts val="1800"/>
              <a:buChar char="○"/>
            </a:pPr>
            <a:r>
              <a:rPr lang="en-US" sz="1800" dirty="0"/>
              <a:t>Initialize neural network for Critic (similar to Q-learning algorithm): </a:t>
            </a:r>
            <a:r>
              <a:rPr lang="en-US" sz="1800" i="1" dirty="0"/>
              <a:t>w</a:t>
            </a:r>
            <a:endParaRPr sz="1800" i="1" dirty="0"/>
          </a:p>
          <a:p>
            <a:pPr marL="0" lvl="0" indent="0" algn="l" rtl="0">
              <a:lnSpc>
                <a:spcPct val="90000"/>
              </a:lnSpc>
              <a:spcBef>
                <a:spcPts val="600"/>
              </a:spcBef>
              <a:spcAft>
                <a:spcPts val="0"/>
              </a:spcAft>
              <a:buNone/>
            </a:pPr>
            <a:endParaRPr sz="1800" i="1" dirty="0"/>
          </a:p>
          <a:p>
            <a:pPr marL="914400" lvl="1" indent="-342900" algn="l" rtl="0">
              <a:lnSpc>
                <a:spcPct val="90000"/>
              </a:lnSpc>
              <a:spcBef>
                <a:spcPts val="600"/>
              </a:spcBef>
              <a:spcAft>
                <a:spcPts val="0"/>
              </a:spcAft>
              <a:buSzPts val="1800"/>
              <a:buChar char="○"/>
            </a:pPr>
            <a:r>
              <a:rPr lang="en-US" sz="1800" dirty="0"/>
              <a:t>Generate Episodes:</a:t>
            </a:r>
            <a:endParaRPr sz="1800" dirty="0"/>
          </a:p>
          <a:p>
            <a:pPr marL="0" lvl="0" indent="0" algn="l" rtl="0">
              <a:lnSpc>
                <a:spcPct val="90000"/>
              </a:lnSpc>
              <a:spcBef>
                <a:spcPts val="600"/>
              </a:spcBef>
              <a:spcAft>
                <a:spcPts val="0"/>
              </a:spcAft>
              <a:buNone/>
            </a:pPr>
            <a:r>
              <a:rPr lang="en-US" sz="1800" dirty="0"/>
              <a:t>	      Use actor to sample an action for the initial state</a:t>
            </a:r>
            <a:endParaRPr sz="1800" dirty="0"/>
          </a:p>
          <a:p>
            <a:pPr marL="0" lvl="0" indent="0" algn="l" rtl="0">
              <a:lnSpc>
                <a:spcPct val="90000"/>
              </a:lnSpc>
              <a:spcBef>
                <a:spcPts val="600"/>
              </a:spcBef>
              <a:spcAft>
                <a:spcPts val="0"/>
              </a:spcAft>
              <a:buNone/>
            </a:pPr>
            <a:endParaRPr sz="1800" dirty="0"/>
          </a:p>
          <a:p>
            <a:pPr marL="1371600" lvl="2" indent="-342900" algn="l" rtl="0">
              <a:lnSpc>
                <a:spcPct val="90000"/>
              </a:lnSpc>
              <a:spcBef>
                <a:spcPts val="600"/>
              </a:spcBef>
              <a:spcAft>
                <a:spcPts val="0"/>
              </a:spcAft>
              <a:buSzPts val="1800"/>
              <a:buChar char="■"/>
            </a:pPr>
            <a:r>
              <a:rPr lang="en-US" dirty="0"/>
              <a:t>For t = 1 .. T do:</a:t>
            </a:r>
            <a:endParaRPr dirty="0"/>
          </a:p>
          <a:p>
            <a:pPr marL="1828800" lvl="3" indent="-330200" algn="l" rtl="0">
              <a:lnSpc>
                <a:spcPct val="90000"/>
              </a:lnSpc>
              <a:spcBef>
                <a:spcPts val="0"/>
              </a:spcBef>
              <a:spcAft>
                <a:spcPts val="0"/>
              </a:spcAft>
              <a:buSzPts val="1600"/>
              <a:buChar char="●"/>
            </a:pPr>
            <a:r>
              <a:rPr lang="en-US" dirty="0"/>
              <a:t>Perform the action, get the reward </a:t>
            </a:r>
            <a:r>
              <a:rPr lang="en-US" i="1" dirty="0">
                <a:solidFill>
                  <a:srgbClr val="000000"/>
                </a:solidFill>
                <a:latin typeface="Times New Roman"/>
                <a:ea typeface="Times New Roman"/>
                <a:cs typeface="Times New Roman"/>
                <a:sym typeface="Times New Roman"/>
              </a:rPr>
              <a:t>r</a:t>
            </a:r>
            <a:r>
              <a:rPr lang="en-US" i="1" baseline="-25000" dirty="0">
                <a:solidFill>
                  <a:srgbClr val="000000"/>
                </a:solidFill>
                <a:latin typeface="Times New Roman"/>
                <a:ea typeface="Times New Roman"/>
                <a:cs typeface="Times New Roman"/>
                <a:sym typeface="Times New Roman"/>
              </a:rPr>
              <a:t>t</a:t>
            </a:r>
            <a:r>
              <a:rPr lang="en-US" dirty="0"/>
              <a:t> and the next state </a:t>
            </a:r>
            <a:r>
              <a:rPr lang="en-US" i="1" dirty="0">
                <a:solidFill>
                  <a:srgbClr val="000000"/>
                </a:solidFill>
                <a:latin typeface="Times New Roman"/>
                <a:ea typeface="Times New Roman"/>
                <a:cs typeface="Times New Roman"/>
                <a:sym typeface="Times New Roman"/>
              </a:rPr>
              <a:t>s’</a:t>
            </a:r>
            <a:endParaRPr i="1" dirty="0">
              <a:solidFill>
                <a:srgbClr val="000000"/>
              </a:solidFill>
              <a:latin typeface="Times New Roman"/>
              <a:ea typeface="Times New Roman"/>
              <a:cs typeface="Times New Roman"/>
              <a:sym typeface="Times New Roman"/>
            </a:endParaRPr>
          </a:p>
          <a:p>
            <a:pPr marL="1828800" lvl="3" indent="-330200" algn="l" rtl="0">
              <a:spcBef>
                <a:spcPts val="0"/>
              </a:spcBef>
              <a:spcAft>
                <a:spcPts val="0"/>
              </a:spcAft>
              <a:buSzPts val="1600"/>
              <a:buChar char="●"/>
            </a:pPr>
            <a:r>
              <a:rPr lang="en-US" dirty="0"/>
              <a:t>Use Actor to sample an action for the next state</a:t>
            </a:r>
            <a:br>
              <a:rPr lang="en-US" dirty="0"/>
            </a:br>
            <a:br>
              <a:rPr lang="en-US" dirty="0"/>
            </a:br>
            <a:endParaRPr i="1" dirty="0">
              <a:solidFill>
                <a:srgbClr val="000000"/>
              </a:solidFill>
              <a:latin typeface="Times New Roman"/>
              <a:ea typeface="Times New Roman"/>
              <a:cs typeface="Times New Roman"/>
              <a:sym typeface="Times New Roman"/>
            </a:endParaRPr>
          </a:p>
          <a:p>
            <a:pPr marL="1828800" lvl="3" indent="-330200" algn="l" rtl="0">
              <a:lnSpc>
                <a:spcPct val="90000"/>
              </a:lnSpc>
              <a:spcBef>
                <a:spcPts val="0"/>
              </a:spcBef>
              <a:spcAft>
                <a:spcPts val="0"/>
              </a:spcAft>
              <a:buSzPts val="1600"/>
              <a:buChar char="●"/>
            </a:pPr>
            <a:r>
              <a:rPr lang="en-US" dirty="0"/>
              <a:t>Update the actor network</a:t>
            </a:r>
            <a:br>
              <a:rPr lang="en-US" dirty="0"/>
            </a:br>
            <a:r>
              <a:rPr lang="en-US" dirty="0"/>
              <a:t> </a:t>
            </a:r>
            <a:br>
              <a:rPr lang="en-US" sz="1800" dirty="0"/>
            </a:br>
            <a:endParaRPr sz="1800" dirty="0"/>
          </a:p>
          <a:p>
            <a:pPr marL="1828800" lvl="3" indent="-330200" algn="l" rtl="0">
              <a:spcBef>
                <a:spcPts val="0"/>
              </a:spcBef>
              <a:spcAft>
                <a:spcPts val="0"/>
              </a:spcAft>
              <a:buSzPts val="1600"/>
              <a:buChar char="●"/>
            </a:pPr>
            <a:r>
              <a:rPr lang="en-US" dirty="0"/>
              <a:t>Update the critic network</a:t>
            </a:r>
            <a:br>
              <a:rPr lang="en-US" dirty="0"/>
            </a:br>
            <a:br>
              <a:rPr lang="en-US" dirty="0"/>
            </a:br>
            <a:endParaRPr dirty="0"/>
          </a:p>
          <a:p>
            <a:pPr marL="1828800" lvl="3" indent="-330200" algn="l" rtl="0">
              <a:spcBef>
                <a:spcPts val="0"/>
              </a:spcBef>
              <a:spcAft>
                <a:spcPts val="0"/>
              </a:spcAft>
              <a:buClr>
                <a:srgbClr val="000000"/>
              </a:buClr>
              <a:buSzPts val="1600"/>
              <a:buFont typeface="Times New Roman"/>
              <a:buChar char="●"/>
            </a:pPr>
            <a:r>
              <a:rPr lang="en-US" i="1" dirty="0">
                <a:solidFill>
                  <a:srgbClr val="000000"/>
                </a:solidFill>
                <a:latin typeface="Times New Roman"/>
                <a:ea typeface="Times New Roman"/>
                <a:cs typeface="Times New Roman"/>
                <a:sym typeface="Times New Roman"/>
              </a:rPr>
              <a:t> a=a’ and   s=s’</a:t>
            </a:r>
            <a:endParaRPr i="1" dirty="0">
              <a:solidFill>
                <a:srgbClr val="000000"/>
              </a:solidFill>
              <a:latin typeface="Times New Roman"/>
              <a:ea typeface="Times New Roman"/>
              <a:cs typeface="Times New Roman"/>
              <a:sym typeface="Times New Roman"/>
            </a:endParaRPr>
          </a:p>
        </p:txBody>
      </p:sp>
      <p:pic>
        <p:nvPicPr>
          <p:cNvPr id="1756" name="Google Shape;1756;p55" descr="&lt;math xmlns=&quot;http://www.w3.org/1998/Math/MathML&quot;&gt;&lt;mi&gt;a&lt;/mi&gt;&lt;mo&gt;~&lt;/mo&gt;&lt;msub&gt;&lt;mi&gt;&amp;#x3C0;&lt;/mi&gt;&lt;mi&gt;&amp;#x3B8;&lt;/mi&gt;&lt;/msub&gt;&lt;mfenced&gt;&lt;mrow&gt;&lt;mi&gt;a&lt;/mi&gt;&lt;mo&gt;&amp;#xA0;&lt;/mo&gt;&lt;menclose notation=&quot;left&quot;&gt;&lt;mo&gt;&amp;#xA0;&lt;/mo&gt;&lt;mi&gt;s&lt;/mi&gt;&lt;/menclose&gt;&lt;/mrow&gt;&lt;/mfenced&gt;&lt;/math&gt;" title="a tilde pi subscript theta open parentheses a space left enclose space s end enclose close parentheses"/>
          <p:cNvPicPr preferRelativeResize="0"/>
          <p:nvPr/>
        </p:nvPicPr>
        <p:blipFill>
          <a:blip r:embed="rId3">
            <a:alphaModFix/>
          </a:blip>
          <a:stretch>
            <a:fillRect/>
          </a:stretch>
        </p:blipFill>
        <p:spPr>
          <a:xfrm>
            <a:off x="3074175" y="3428988"/>
            <a:ext cx="1344474" cy="351775"/>
          </a:xfrm>
          <a:prstGeom prst="rect">
            <a:avLst/>
          </a:prstGeom>
          <a:noFill/>
          <a:ln>
            <a:noFill/>
          </a:ln>
        </p:spPr>
      </p:pic>
      <p:pic>
        <p:nvPicPr>
          <p:cNvPr id="1757" name="Google Shape;1757;p55" descr="&lt;math xmlns=&quot;http://www.w3.org/1998/Math/MathML&quot;&gt;&lt;mi mathcolor=&quot;#191919&quot;&gt;&amp;#x3B8;&lt;/mi&gt;&lt;mo mathcolor=&quot;#191919&quot;&gt;&amp;#xA0;&lt;/mo&gt;&lt;mo mathcolor=&quot;#191919&quot;&gt;=&lt;/mo&gt;&lt;mo mathcolor=&quot;#191919&quot;&gt;&amp;#xA0;&lt;/mo&gt;&lt;mi mathcolor=&quot;#191919&quot;&gt;&amp;#x3B8;&lt;/mi&gt;&lt;mo mathcolor=&quot;#191919&quot;&gt;&amp;#xA0;&lt;/mo&gt;&lt;mo mathcolor=&quot;#191919&quot;&gt;+&lt;/mo&gt;&lt;mo mathcolor=&quot;#191919&quot;&gt;&amp;#xA0;&lt;/mo&gt;&lt;msub&gt;&lt;mi mathcolor=&quot;#191919&quot;&gt;&amp;#x3B1;&lt;/mi&gt;&lt;mi mathcolor=&quot;#191919&quot;&gt;&amp;#x3B8;&lt;/mi&gt;&lt;/msub&gt;&lt;msub&gt;&lt;mo mathcolor=&quot;#191919&quot;&gt;&amp;#x2207;&lt;/mo&gt;&lt;mi mathcolor=&quot;#191919&quot;&gt;&amp;#x3B8;&lt;/mi&gt;&lt;/msub&gt;&lt;mi mathcolor=&quot;#191919&quot;&gt;l&lt;/mi&gt;&lt;mi mathcolor=&quot;#191919&quot;&gt;o&lt;/mi&gt;&lt;mi mathcolor=&quot;#191919&quot;&gt;g&lt;/mi&gt;&lt;mo mathcolor=&quot;#191919&quot;&gt;&amp;#xA0;&lt;/mo&gt;&lt;mstyle mathcolor=&quot;#191919&quot; displaystyle=&quot;false&quot;&gt;&lt;msub&gt;&lt;mi&gt;&amp;#x3C0;&lt;/mi&gt;&lt;mi&gt;&amp;#x3B8;&lt;/mi&gt;&lt;/msub&gt;&lt;/mstyle&gt;&lt;mstyle mathcolor=&quot;#191919&quot; displaystyle=&quot;false&quot;&gt;&lt;mfenced&gt;&lt;mrow&gt;&lt;msub&gt;&lt;mi&gt;a&lt;/mi&gt;&lt;mrow/&gt;&lt;/msub&gt;&lt;mo&gt;&amp;#xA0;&lt;/mo&gt;&lt;menclose notation=&quot;left&quot;&gt;&lt;mo&gt;&amp;#xA0;&lt;/mo&gt;&lt;msub&gt;&lt;mi&gt;s&lt;/mi&gt;&lt;mrow/&gt;&lt;/msub&gt;&lt;/menclose&gt;&lt;/mrow&gt;&lt;/mfenced&gt;&lt;msub&gt;&lt;mi&gt;Q&lt;/mi&gt;&lt;mi&gt;w&lt;/mi&gt;&lt;/msub&gt;&lt;mfenced&gt;&lt;mrow&gt;&lt;mi&gt;s&lt;/mi&gt;&lt;mo&gt;,&lt;/mo&gt;&lt;msub&gt;&lt;mi&gt;a&lt;/mi&gt;&lt;mrow/&gt;&lt;/msub&gt;&lt;/mrow&gt;&lt;/mfenced&gt;&lt;/mstyle&gt;&lt;/math&gt;" title="theta space equals space theta space plus space alpha subscript theta nabla subscript theta l o g space begin inline style pi subscript theta end style begin inline style open parentheses a subscript blank space left enclose space s subscript blank end enclose close parentheses Q subscript w open parentheses s comma a subscript blank close parentheses end style"/>
          <p:cNvPicPr preferRelativeResize="0"/>
          <p:nvPr/>
        </p:nvPicPr>
        <p:blipFill>
          <a:blip r:embed="rId4">
            <a:alphaModFix/>
          </a:blip>
          <a:stretch>
            <a:fillRect/>
          </a:stretch>
        </p:blipFill>
        <p:spPr>
          <a:xfrm>
            <a:off x="3580650" y="5282288"/>
            <a:ext cx="3599632" cy="351775"/>
          </a:xfrm>
          <a:prstGeom prst="rect">
            <a:avLst/>
          </a:prstGeom>
          <a:noFill/>
          <a:ln>
            <a:noFill/>
          </a:ln>
        </p:spPr>
      </p:pic>
      <p:pic>
        <p:nvPicPr>
          <p:cNvPr id="1758" name="Google Shape;1758;p55" descr="&lt;math xmlns=&quot;http://www.w3.org/1998/Math/MathML&quot;&gt;&lt;mi mathcolor=&quot;#191919&quot;&gt;w&lt;/mi&gt;&lt;mo mathcolor=&quot;#191919&quot;&gt;&amp;#xA0;&lt;/mo&gt;&lt;mo mathcolor=&quot;#191919&quot;&gt;=&lt;/mo&gt;&lt;mo mathcolor=&quot;#191919&quot;&gt;&amp;#xA0;&lt;/mo&gt;&lt;mi mathcolor=&quot;#191919&quot;&gt;w&lt;/mi&gt;&lt;mo mathcolor=&quot;#191919&quot;&gt;&amp;#xA0;&lt;/mo&gt;&lt;mo mathcolor=&quot;#191919&quot;&gt;+&lt;/mo&gt;&lt;mo mathcolor=&quot;#191919&quot;&gt;&amp;#xA0;&lt;/mo&gt;&lt;msub&gt;&lt;mi mathcolor=&quot;#191919&quot;&gt;&amp;#x3B1;&lt;/mi&gt;&lt;mi&gt;w&lt;/mi&gt;&lt;/msub&gt;&lt;msub&gt;&lt;mo mathcolor=&quot;#191919&quot;&gt;&amp;#x2207;&lt;/mo&gt;&lt;mi&gt;w&lt;/mi&gt;&lt;/msub&gt;&lt;msub&gt;&lt;mi mathcolor=&quot;#191919&quot;&gt;Q&lt;/mi&gt;&lt;mi mathcolor=&quot;#191919&quot;&gt;w&lt;/mi&gt;&lt;/msub&gt;&lt;mfenced mathcolor=&quot;#191919&quot;&gt;&lt;mrow&gt;&lt;mi&gt;s&lt;/mi&gt;&lt;mo&gt;,&lt;/mo&gt;&lt;msub&gt;&lt;mi&gt;a&lt;/mi&gt;&lt;mrow/&gt;&lt;/msub&gt;&lt;/mrow&gt;&lt;/mfenced&gt;&lt;mo mathcolor=&quot;#191919&quot;&gt;&amp;#xA0;&lt;/mo&gt;&lt;mfenced mathcolor=&quot;#191919&quot;&gt;&lt;mrow&gt;&lt;msub&gt;&lt;mi&gt;r&lt;/mi&gt;&lt;mi&gt;t&lt;/mi&gt;&lt;/msub&gt;&lt;mo&gt;+&lt;/mo&gt;&lt;mi&gt;&amp;#x3B3;&lt;/mi&gt;&lt;msub&gt;&lt;mi&gt;Q&lt;/mi&gt;&lt;mi&gt;w&lt;/mi&gt;&lt;/msub&gt;&lt;mfenced&gt;&lt;mrow&gt;&lt;mi&gt;s&lt;/mi&gt;&lt;mo&gt;'&lt;/mo&gt;&lt;mo&gt;,&lt;/mo&gt;&lt;mi&gt;a&lt;/mi&gt;&lt;mo&gt;'&lt;/mo&gt;&lt;/mrow&gt;&lt;/mfenced&gt;&lt;mo&gt;-&lt;/mo&gt;&lt;msub&gt;&lt;mi&gt;Q&lt;/mi&gt;&lt;mi&gt;w&lt;/mi&gt;&lt;/msub&gt;&lt;mfenced&gt;&lt;mrow&gt;&lt;mi&gt;s&lt;/mi&gt;&lt;mo&gt;,&lt;/mo&gt;&lt;mi&gt;a&lt;/mi&gt;&lt;/mrow&gt;&lt;/mfenced&gt;&lt;/mrow&gt;&lt;/mfenced&gt;&lt;/math&gt;" title="w space equals space w space plus space alpha subscript w nabla subscript w Q subscript w open parentheses s comma a subscript blank close parentheses space open parentheses r subscript t plus gamma Q subscript w open parentheses s apostrophe comma a apostrophe close parentheses minus Q subscript w open parentheses s comma a close parentheses close parentheses"/>
          <p:cNvPicPr preferRelativeResize="0"/>
          <p:nvPr/>
        </p:nvPicPr>
        <p:blipFill>
          <a:blip r:embed="rId5">
            <a:alphaModFix/>
          </a:blip>
          <a:stretch>
            <a:fillRect/>
          </a:stretch>
        </p:blipFill>
        <p:spPr>
          <a:xfrm>
            <a:off x="3580650" y="5914197"/>
            <a:ext cx="5789691" cy="346848"/>
          </a:xfrm>
          <a:prstGeom prst="rect">
            <a:avLst/>
          </a:prstGeom>
          <a:noFill/>
          <a:ln>
            <a:noFill/>
          </a:ln>
        </p:spPr>
      </p:pic>
      <p:pic>
        <p:nvPicPr>
          <p:cNvPr id="1759" name="Google Shape;1759;p55" descr="&lt;math xmlns=&quot;http://www.w3.org/1998/Math/MathML&quot;&gt;&lt;mi&gt;a&lt;/mi&gt;&lt;mo&gt;'&lt;/mo&gt;&lt;mo&gt;~&lt;/mo&gt;&lt;msub&gt;&lt;mi&gt;&amp;#x3C0;&lt;/mi&gt;&lt;mi&gt;&amp;#x3B8;&lt;/mi&gt;&lt;/msub&gt;&lt;mfenced&gt;&lt;mrow&gt;&lt;mi&gt;a&lt;/mi&gt;&lt;mo&gt;'&lt;/mo&gt;&lt;mo&gt;&amp;#xA0;&lt;/mo&gt;&lt;menclose notation=&quot;left&quot;&gt;&lt;mo&gt;&amp;#xA0;&lt;/mo&gt;&lt;mi&gt;s&lt;/mi&gt;&lt;mo&gt;'&lt;/mo&gt;&lt;/menclose&gt;&lt;/mrow&gt;&lt;/mfenced&gt;&lt;/math&gt;" title="a apostrophe tilde pi subscript theta open parentheses a apostrophe space left enclose space s apostrophe end enclose close parentheses"/>
          <p:cNvPicPr preferRelativeResize="0"/>
          <p:nvPr/>
        </p:nvPicPr>
        <p:blipFill>
          <a:blip r:embed="rId6">
            <a:alphaModFix/>
          </a:blip>
          <a:stretch>
            <a:fillRect/>
          </a:stretch>
        </p:blipFill>
        <p:spPr>
          <a:xfrm>
            <a:off x="3580650" y="4548526"/>
            <a:ext cx="1344475" cy="29876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63"/>
        <p:cNvGrpSpPr/>
        <p:nvPr/>
      </p:nvGrpSpPr>
      <p:grpSpPr>
        <a:xfrm>
          <a:off x="0" y="0"/>
          <a:ext cx="0" cy="0"/>
          <a:chOff x="0" y="0"/>
          <a:chExt cx="0" cy="0"/>
        </a:xfrm>
      </p:grpSpPr>
      <p:sp>
        <p:nvSpPr>
          <p:cNvPr id="1764" name="Google Shape;1764;p56"/>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65" name="Google Shape;1765;p56"/>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Advantage-Actor Critic</a:t>
            </a:r>
            <a:endParaRPr sz="1800"/>
          </a:p>
          <a:p>
            <a:pPr marL="457200" lvl="0" indent="0" algn="l" rtl="0">
              <a:lnSpc>
                <a:spcPct val="90000"/>
              </a:lnSpc>
              <a:spcBef>
                <a:spcPts val="600"/>
              </a:spcBef>
              <a:spcAft>
                <a:spcPts val="0"/>
              </a:spcAft>
              <a:buNone/>
            </a:pPr>
            <a:r>
              <a:rPr lang="en-US" sz="1800"/>
              <a:t> </a:t>
            </a:r>
            <a:endParaRPr sz="1800"/>
          </a:p>
          <a:p>
            <a:pPr marL="914400" lvl="1" indent="-342900" algn="l" rtl="0">
              <a:lnSpc>
                <a:spcPct val="90000"/>
              </a:lnSpc>
              <a:spcBef>
                <a:spcPts val="600"/>
              </a:spcBef>
              <a:spcAft>
                <a:spcPts val="0"/>
              </a:spcAft>
              <a:buSzPts val="1800"/>
              <a:buChar char="○"/>
            </a:pPr>
            <a:r>
              <a:rPr lang="en-US" sz="1800"/>
              <a:t>Similar to Q-critic, but instead of multiplying by </a:t>
            </a:r>
            <a:r>
              <a:rPr lang="en-US" sz="1800" i="1">
                <a:latin typeface="Times New Roman"/>
                <a:ea typeface="Times New Roman"/>
                <a:cs typeface="Times New Roman"/>
                <a:sym typeface="Times New Roman"/>
              </a:rPr>
              <a:t>Q</a:t>
            </a:r>
            <a:r>
              <a:rPr lang="en-US" sz="1800" i="1" baseline="-25000">
                <a:latin typeface="Times New Roman"/>
                <a:ea typeface="Times New Roman"/>
                <a:cs typeface="Times New Roman"/>
                <a:sym typeface="Times New Roman"/>
              </a:rPr>
              <a:t>w</a:t>
            </a:r>
            <a:r>
              <a:rPr lang="en-US" sz="1800" i="1">
                <a:latin typeface="Times New Roman"/>
                <a:ea typeface="Times New Roman"/>
                <a:cs typeface="Times New Roman"/>
                <a:sym typeface="Times New Roman"/>
              </a:rPr>
              <a:t>(s,a) </a:t>
            </a:r>
            <a:r>
              <a:rPr lang="en-US" sz="1800"/>
              <a:t>we multiply the gradient by an advantage function:</a:t>
            </a:r>
            <a:br>
              <a:rPr lang="en-US" sz="1800"/>
            </a:br>
            <a:br>
              <a:rPr lang="en-US" sz="1800"/>
            </a:br>
            <a:br>
              <a:rPr lang="en-US" sz="1800"/>
            </a:br>
            <a:br>
              <a:rPr lang="en-US" sz="1800"/>
            </a:br>
            <a:endParaRPr sz="1800"/>
          </a:p>
          <a:p>
            <a:pPr marL="914400" lvl="1" indent="-342900" algn="l" rtl="0">
              <a:lnSpc>
                <a:spcPct val="90000"/>
              </a:lnSpc>
              <a:spcBef>
                <a:spcPts val="0"/>
              </a:spcBef>
              <a:spcAft>
                <a:spcPts val="0"/>
              </a:spcAft>
              <a:buSzPts val="1800"/>
              <a:buChar char="○"/>
            </a:pPr>
            <a:r>
              <a:rPr lang="en-US" sz="1800"/>
              <a:t>So, the gradient becomes:</a:t>
            </a:r>
            <a:endParaRPr sz="1800"/>
          </a:p>
          <a:p>
            <a:pPr marL="914400" lvl="0" indent="0" algn="l" rtl="0">
              <a:lnSpc>
                <a:spcPct val="90000"/>
              </a:lnSpc>
              <a:spcBef>
                <a:spcPts val="600"/>
              </a:spcBef>
              <a:spcAft>
                <a:spcPts val="0"/>
              </a:spcAft>
              <a:buNone/>
            </a:pPr>
            <a:endParaRPr sz="1800"/>
          </a:p>
          <a:p>
            <a:pPr marL="1828800" lvl="0" indent="0" algn="l" rtl="0">
              <a:lnSpc>
                <a:spcPct val="90000"/>
              </a:lnSpc>
              <a:spcBef>
                <a:spcPts val="600"/>
              </a:spcBef>
              <a:spcAft>
                <a:spcPts val="0"/>
              </a:spcAft>
              <a:buNone/>
            </a:pPr>
            <a:r>
              <a:rPr lang="en-US"/>
              <a:t> </a:t>
            </a:r>
            <a:endParaRPr sz="1800" baseline="-25000"/>
          </a:p>
        </p:txBody>
      </p:sp>
      <p:pic>
        <p:nvPicPr>
          <p:cNvPr id="1766" name="Google Shape;1766;p56" descr="&lt;math xmlns=&quot;http://www.w3.org/1998/Math/MathML&quot;&gt;&lt;mi&gt;A&lt;/mi&gt;&lt;mfenced&gt;&lt;mrow&gt;&lt;msub&gt;&lt;mi&gt;s&lt;/mi&gt;&lt;mi&gt;t&lt;/mi&gt;&lt;/msub&gt;&lt;mo&gt;,&lt;/mo&gt;&lt;msub&gt;&lt;mi&gt;a&lt;/mi&gt;&lt;mi&gt;t&lt;/mi&gt;&lt;/msub&gt;&lt;/mrow&gt;&lt;/mfenced&gt;&lt;mo&gt;=&lt;/mo&gt;&lt;msub&gt;&lt;mi&gt;Q&lt;/mi&gt;&lt;mi&gt;w&lt;/mi&gt;&lt;/msub&gt;&lt;mfenced&gt;&lt;mrow&gt;&lt;msub&gt;&lt;mi&gt;s&lt;/mi&gt;&lt;mi&gt;t&lt;/mi&gt;&lt;/msub&gt;&lt;mo&gt;,&lt;/mo&gt;&lt;msub&gt;&lt;mi&gt;a&lt;/mi&gt;&lt;mi&gt;t&lt;/mi&gt;&lt;/msub&gt;&lt;/mrow&gt;&lt;/mfenced&gt;&lt;mo&gt;-&lt;/mo&gt;&lt;mi&gt;V&lt;/mi&gt;&lt;mfenced&gt;&lt;msub&gt;&lt;mi&gt;s&lt;/mi&gt;&lt;mi&gt;t&lt;/mi&gt;&lt;/msub&gt;&lt;/mfenced&gt;&lt;/math&gt;" title="A open parentheses s subscript t comma a subscript t close parentheses equals Q subscript w open parentheses s subscript t comma a subscript t close parentheses minus V open parentheses s subscript t close parentheses"/>
          <p:cNvPicPr preferRelativeResize="0"/>
          <p:nvPr/>
        </p:nvPicPr>
        <p:blipFill>
          <a:blip r:embed="rId3">
            <a:alphaModFix/>
          </a:blip>
          <a:stretch>
            <a:fillRect/>
          </a:stretch>
        </p:blipFill>
        <p:spPr>
          <a:xfrm>
            <a:off x="2716700" y="3368925"/>
            <a:ext cx="3787626" cy="426225"/>
          </a:xfrm>
          <a:prstGeom prst="rect">
            <a:avLst/>
          </a:prstGeom>
          <a:noFill/>
          <a:ln>
            <a:noFill/>
          </a:ln>
        </p:spPr>
      </p:pic>
      <p:pic>
        <p:nvPicPr>
          <p:cNvPr id="1767" name="Google Shape;1767;p56" descr="&lt;math xmlns=&quot;http://www.w3.org/1998/Math/MathML&quot;&gt;&lt;msub&gt;&lt;mo mathcolor=&quot;#191919&quot;&gt;&amp;#x2207;&lt;/mo&gt;&lt;mi mathcolor=&quot;#191919&quot;&gt;&amp;#x3B8;&lt;/mi&gt;&lt;/msub&gt;&lt;mi mathcolor=&quot;#191919&quot;&gt;J&lt;/mi&gt;&lt;mfenced mathcolor=&quot;#191919&quot;&gt;&lt;mi&gt;&amp;#x3B8;&lt;/mi&gt;&lt;/mfenced&gt;&lt;mo mathcolor=&quot;#191919&quot;&gt;&amp;#xA0;&lt;/mo&gt;&lt;mo mathcolor=&quot;#191919&quot;&gt;&amp;#xA0;&lt;/mo&gt;&lt;mo mathcolor=&quot;#191919&quot;&gt;=&lt;/mo&gt;&lt;mo mathcolor=&quot;#191919&quot;&gt;&amp;#xA0;&lt;/mo&gt;&lt;mstyle mathcolor=&quot;#191919&quot; displaystyle=&quot;false&quot;&gt;&lt;munderover&gt;&lt;mo&gt;&amp;#x2211;&lt;/mo&gt;&lt;mrow&gt;&lt;mi&gt;t&lt;/mi&gt;&lt;mo&gt;=&lt;/mo&gt;&lt;mn&gt;0&lt;/mn&gt;&lt;/mrow&gt;&lt;mrow&gt;&lt;mi&gt;t&lt;/mi&gt;&lt;mo&gt;=&lt;/mo&gt;&lt;mi&gt;T&lt;/mi&gt;&lt;mo&gt;-&lt;/mo&gt;&lt;mn&gt;1&lt;/mn&gt;&lt;/mrow&gt;&lt;/munderover&gt;&lt;/mstyle&gt;&lt;msub&gt;&lt;mo mathcolor=&quot;#191919&quot;&gt;&amp;#x2207;&lt;/mo&gt;&lt;mi mathcolor=&quot;#191919&quot;&gt;&amp;#x3B8;&lt;/mi&gt;&lt;/msub&gt;&lt;mi mathcolor=&quot;#191919&quot;&gt;l&lt;/mi&gt;&lt;mi mathcolor=&quot;#191919&quot;&gt;o&lt;/mi&gt;&lt;mi mathcolor=&quot;#191919&quot;&gt;g&lt;/mi&gt;&lt;mo mathcolor=&quot;#191919&quot;&gt;&amp;#xA0;&lt;/mo&gt;&lt;mstyle mathcolor=&quot;#191919&quot; displaystyle=&quot;false&quot;&gt;&lt;msub&gt;&lt;mi&gt;&amp;#x3C0;&lt;/mi&gt;&lt;mi&gt;&amp;#x3B8;&lt;/mi&gt;&lt;/msub&gt;&lt;/mstyle&gt;&lt;mstyle mathcolor=&quot;#191919&quot; displaystyle=&quot;false&quot;&gt;&lt;mfenced&gt;&lt;mrow&gt;&lt;msub&gt;&lt;mi&gt;a&lt;/mi&gt;&lt;mi&gt;t&lt;/mi&gt;&lt;/msub&gt;&lt;mo&gt;&amp;#xA0;&lt;/mo&gt;&lt;menclose notation=&quot;left&quot;&gt;&lt;mo&gt;&amp;#xA0;&lt;/mo&gt;&lt;msub&gt;&lt;mi&gt;s&lt;/mi&gt;&lt;mi&gt;t&lt;/mi&gt;&lt;/msub&gt;&lt;/menclose&gt;&lt;/mrow&gt;&lt;/mfenced&gt;&lt;mi&gt;A&lt;/mi&gt;&lt;mfenced&gt;&lt;mrow&gt;&lt;msub&gt;&lt;mi&gt;s&lt;/mi&gt;&lt;mrow&gt;&lt;mi&gt;t&lt;/mi&gt;&lt;mo&gt;,&lt;/mo&gt;&lt;mo&gt;&amp;#xA0;&lt;/mo&gt;&lt;/mrow&gt;&lt;/msub&gt;&lt;msub&gt;&lt;mi&gt;a&lt;/mi&gt;&lt;mi&gt;t&lt;/mi&gt;&lt;/msub&gt;&lt;/mrow&gt;&lt;/mfenced&gt;&lt;/mstyle&gt;&lt;/math&gt;" title="nabla subscript theta J open parentheses theta close parentheses space space equals space begin inline style sum from t equals 0 to t equals T minus 1 of end style nabla subscript theta l o g space begin inline style pi subscript theta end style begin inline style open parentheses a subscript t space left enclose space s subscript t end enclose close parentheses A open parentheses s subscript t comma space end subscript a subscript t close parentheses end style"/>
          <p:cNvPicPr preferRelativeResize="0"/>
          <p:nvPr/>
        </p:nvPicPr>
        <p:blipFill>
          <a:blip r:embed="rId4">
            <a:alphaModFix/>
          </a:blip>
          <a:stretch>
            <a:fillRect/>
          </a:stretch>
        </p:blipFill>
        <p:spPr>
          <a:xfrm>
            <a:off x="2640500" y="4583075"/>
            <a:ext cx="7036102" cy="5985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sp>
        <p:nvSpPr>
          <p:cNvPr id="1772" name="Google Shape;1772;p57"/>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73" name="Google Shape;1773;p57"/>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Advantage-Actor Critic</a:t>
            </a:r>
            <a:endParaRPr sz="1800"/>
          </a:p>
          <a:p>
            <a:pPr marL="457200" lvl="0" indent="0" algn="l" rtl="0">
              <a:lnSpc>
                <a:spcPct val="90000"/>
              </a:lnSpc>
              <a:spcBef>
                <a:spcPts val="600"/>
              </a:spcBef>
              <a:spcAft>
                <a:spcPts val="0"/>
              </a:spcAft>
              <a:buNone/>
            </a:pPr>
            <a:r>
              <a:rPr lang="en-US" sz="1800"/>
              <a:t> </a:t>
            </a:r>
            <a:endParaRPr sz="1800"/>
          </a:p>
          <a:p>
            <a:pPr marL="457200" lvl="0" indent="0" algn="l" rtl="0">
              <a:lnSpc>
                <a:spcPct val="90000"/>
              </a:lnSpc>
              <a:spcBef>
                <a:spcPts val="600"/>
              </a:spcBef>
              <a:spcAft>
                <a:spcPts val="0"/>
              </a:spcAft>
              <a:buNone/>
            </a:pPr>
            <a:endParaRPr sz="1800"/>
          </a:p>
          <a:p>
            <a:pPr marL="457200" lvl="0" indent="0" algn="l" rtl="0">
              <a:lnSpc>
                <a:spcPct val="90000"/>
              </a:lnSpc>
              <a:spcBef>
                <a:spcPts val="600"/>
              </a:spcBef>
              <a:spcAft>
                <a:spcPts val="0"/>
              </a:spcAft>
              <a:buNone/>
            </a:pPr>
            <a:endParaRPr sz="1800"/>
          </a:p>
          <a:p>
            <a:pPr marL="914400" lvl="1" indent="-342900" algn="l" rtl="0">
              <a:lnSpc>
                <a:spcPct val="90000"/>
              </a:lnSpc>
              <a:spcBef>
                <a:spcPts val="600"/>
              </a:spcBef>
              <a:spcAft>
                <a:spcPts val="0"/>
              </a:spcAft>
              <a:buSzPts val="1800"/>
              <a:buChar char="○"/>
            </a:pPr>
            <a:r>
              <a:rPr lang="en-US" sz="1800"/>
              <a:t>The idea of the advantage is to compute how much better is to take a specific action at a given state compared to the what is believed to be the best so far. </a:t>
            </a:r>
            <a:br>
              <a:rPr lang="en-US" sz="1800"/>
            </a:br>
            <a:endParaRPr sz="1800"/>
          </a:p>
          <a:p>
            <a:pPr marL="914400" lvl="1" indent="-342900" algn="l" rtl="0">
              <a:lnSpc>
                <a:spcPct val="90000"/>
              </a:lnSpc>
              <a:spcBef>
                <a:spcPts val="0"/>
              </a:spcBef>
              <a:spcAft>
                <a:spcPts val="0"/>
              </a:spcAft>
              <a:buSzPts val="1800"/>
              <a:buChar char="○"/>
            </a:pPr>
            <a:r>
              <a:rPr lang="en-US" sz="1800"/>
              <a:t>The problem with this approach is that we don’t know how to approximate </a:t>
            </a:r>
            <a:r>
              <a:rPr lang="en-US" sz="1800" i="1">
                <a:solidFill>
                  <a:srgbClr val="000000"/>
                </a:solidFill>
                <a:latin typeface="Times New Roman"/>
                <a:ea typeface="Times New Roman"/>
                <a:cs typeface="Times New Roman"/>
                <a:sym typeface="Times New Roman"/>
              </a:rPr>
              <a:t>V(s</a:t>
            </a:r>
            <a:r>
              <a:rPr lang="en-US" sz="1800" i="1" baseline="-25000">
                <a:solidFill>
                  <a:srgbClr val="000000"/>
                </a:solidFill>
                <a:latin typeface="Times New Roman"/>
                <a:ea typeface="Times New Roman"/>
                <a:cs typeface="Times New Roman"/>
                <a:sym typeface="Times New Roman"/>
              </a:rPr>
              <a:t>t</a:t>
            </a:r>
            <a:r>
              <a:rPr lang="en-US" sz="1800" i="1">
                <a:solidFill>
                  <a:srgbClr val="000000"/>
                </a:solidFill>
                <a:latin typeface="Times New Roman"/>
                <a:ea typeface="Times New Roman"/>
                <a:cs typeface="Times New Roman"/>
                <a:sym typeface="Times New Roman"/>
              </a:rPr>
              <a:t>) </a:t>
            </a:r>
            <a:r>
              <a:rPr lang="en-US" sz="1800"/>
              <a:t>. We could do it with a neural network, but that brings unnecessary overhead</a:t>
            </a:r>
            <a:br>
              <a:rPr lang="en-US" sz="1800"/>
            </a:br>
            <a:endParaRPr sz="1800"/>
          </a:p>
          <a:p>
            <a:pPr marL="1828800" lvl="0" indent="0" algn="l" rtl="0">
              <a:lnSpc>
                <a:spcPct val="90000"/>
              </a:lnSpc>
              <a:spcBef>
                <a:spcPts val="600"/>
              </a:spcBef>
              <a:spcAft>
                <a:spcPts val="0"/>
              </a:spcAft>
              <a:buNone/>
            </a:pPr>
            <a:r>
              <a:rPr lang="en-US"/>
              <a:t> </a:t>
            </a:r>
            <a:endParaRPr sz="1800" baseline="-25000"/>
          </a:p>
        </p:txBody>
      </p:sp>
      <p:pic>
        <p:nvPicPr>
          <p:cNvPr id="1774" name="Google Shape;1774;p57" descr="&lt;math xmlns=&quot;http://www.w3.org/1998/Math/MathML&quot;&gt;&lt;mi&gt;A&lt;/mi&gt;&lt;mfenced&gt;&lt;mrow&gt;&lt;msub&gt;&lt;mi&gt;s&lt;/mi&gt;&lt;mi&gt;t&lt;/mi&gt;&lt;/msub&gt;&lt;mo&gt;,&lt;/mo&gt;&lt;msub&gt;&lt;mi&gt;a&lt;/mi&gt;&lt;mi&gt;t&lt;/mi&gt;&lt;/msub&gt;&lt;/mrow&gt;&lt;/mfenced&gt;&lt;mo&gt;=&lt;/mo&gt;&lt;msub&gt;&lt;mi&gt;Q&lt;/mi&gt;&lt;mi&gt;w&lt;/mi&gt;&lt;/msub&gt;&lt;mfenced&gt;&lt;mrow&gt;&lt;msub&gt;&lt;mi&gt;s&lt;/mi&gt;&lt;mi&gt;t&lt;/mi&gt;&lt;/msub&gt;&lt;mo&gt;,&lt;/mo&gt;&lt;msub&gt;&lt;mi&gt;a&lt;/mi&gt;&lt;mi&gt;t&lt;/mi&gt;&lt;/msub&gt;&lt;/mrow&gt;&lt;/mfenced&gt;&lt;mo&gt;-&lt;/mo&gt;&lt;mi&gt;V&lt;/mi&gt;&lt;mfenced&gt;&lt;msub&gt;&lt;mi&gt;s&lt;/mi&gt;&lt;mi&gt;t&lt;/mi&gt;&lt;/msub&gt;&lt;/mfenced&gt;&lt;/math&gt;" title="A open parentheses s subscript t comma a subscript t close parentheses equals Q subscript w open parentheses s subscript t comma a subscript t close parentheses minus V open parentheses s subscript t close parentheses"/>
          <p:cNvPicPr preferRelativeResize="0"/>
          <p:nvPr/>
        </p:nvPicPr>
        <p:blipFill>
          <a:blip r:embed="rId3">
            <a:alphaModFix/>
          </a:blip>
          <a:stretch>
            <a:fillRect/>
          </a:stretch>
        </p:blipFill>
        <p:spPr>
          <a:xfrm>
            <a:off x="2700513" y="2580525"/>
            <a:ext cx="3787626" cy="4262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78"/>
        <p:cNvGrpSpPr/>
        <p:nvPr/>
      </p:nvGrpSpPr>
      <p:grpSpPr>
        <a:xfrm>
          <a:off x="0" y="0"/>
          <a:ext cx="0" cy="0"/>
          <a:chOff x="0" y="0"/>
          <a:chExt cx="0" cy="0"/>
        </a:xfrm>
      </p:grpSpPr>
      <p:sp>
        <p:nvSpPr>
          <p:cNvPr id="1779" name="Google Shape;1779;p58"/>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80" name="Google Shape;1780;p58"/>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Advantage-Actor Critic</a:t>
            </a:r>
            <a:endParaRPr sz="1800"/>
          </a:p>
          <a:p>
            <a:pPr marL="457200" lvl="0" indent="0" algn="l" rtl="0">
              <a:lnSpc>
                <a:spcPct val="90000"/>
              </a:lnSpc>
              <a:spcBef>
                <a:spcPts val="600"/>
              </a:spcBef>
              <a:spcAft>
                <a:spcPts val="0"/>
              </a:spcAft>
              <a:buNone/>
            </a:pPr>
            <a:r>
              <a:rPr lang="en-US" sz="1800"/>
              <a:t> </a:t>
            </a:r>
            <a:endParaRPr sz="1800"/>
          </a:p>
          <a:p>
            <a:pPr marL="0" lvl="0" indent="0" algn="l" rtl="0">
              <a:lnSpc>
                <a:spcPct val="90000"/>
              </a:lnSpc>
              <a:spcBef>
                <a:spcPts val="600"/>
              </a:spcBef>
              <a:spcAft>
                <a:spcPts val="0"/>
              </a:spcAft>
              <a:buNone/>
            </a:pPr>
            <a:br>
              <a:rPr lang="en-US" sz="1800"/>
            </a:br>
            <a:endParaRPr sz="1800"/>
          </a:p>
          <a:p>
            <a:pPr marL="914400" lvl="1" indent="-342900" algn="l" rtl="0">
              <a:lnSpc>
                <a:spcPct val="90000"/>
              </a:lnSpc>
              <a:spcBef>
                <a:spcPts val="600"/>
              </a:spcBef>
              <a:spcAft>
                <a:spcPts val="0"/>
              </a:spcAft>
              <a:buSzPts val="1800"/>
              <a:buChar char="○"/>
            </a:pPr>
            <a:r>
              <a:rPr lang="en-US" sz="1800"/>
              <a:t>However, we can write the Q function using the V function:</a:t>
            </a:r>
            <a:br>
              <a:rPr lang="en-US" sz="1800"/>
            </a:br>
            <a:br>
              <a:rPr lang="en-US" sz="1800"/>
            </a:br>
            <a:br>
              <a:rPr lang="en-US" sz="1800"/>
            </a:br>
            <a:br>
              <a:rPr lang="en-US" sz="1800"/>
            </a:br>
            <a:endParaRPr sz="1800"/>
          </a:p>
          <a:p>
            <a:pPr marL="914400" lvl="1" indent="-342900" algn="l" rtl="0">
              <a:lnSpc>
                <a:spcPct val="90000"/>
              </a:lnSpc>
              <a:spcBef>
                <a:spcPts val="0"/>
              </a:spcBef>
              <a:spcAft>
                <a:spcPts val="0"/>
              </a:spcAft>
              <a:buSzPts val="1800"/>
              <a:buChar char="○"/>
            </a:pPr>
            <a:r>
              <a:rPr lang="en-US" sz="1800"/>
              <a:t>So, the advantage function becomes:</a:t>
            </a:r>
            <a:br>
              <a:rPr lang="en-US" sz="1800"/>
            </a:br>
            <a:br>
              <a:rPr lang="en-US" sz="1800"/>
            </a:br>
            <a:br>
              <a:rPr lang="en-US" sz="1800"/>
            </a:br>
            <a:endParaRPr sz="1800"/>
          </a:p>
          <a:p>
            <a:pPr marL="914400" lvl="1" indent="-342900" algn="l" rtl="0">
              <a:spcBef>
                <a:spcPts val="0"/>
              </a:spcBef>
              <a:spcAft>
                <a:spcPts val="0"/>
              </a:spcAft>
              <a:buSzPts val="1800"/>
              <a:buChar char="○"/>
            </a:pPr>
            <a:r>
              <a:rPr lang="en-US" sz="1800"/>
              <a:t>So, we can use only one neural network, that will approximate V in order to compute the advantage.</a:t>
            </a:r>
            <a:endParaRPr sz="1800"/>
          </a:p>
        </p:txBody>
      </p:sp>
      <p:pic>
        <p:nvPicPr>
          <p:cNvPr id="1781" name="Google Shape;1781;p58" descr="&lt;math xmlns=&quot;http://www.w3.org/1998/Math/MathML&quot;&gt;&lt;mi&gt;A&lt;/mi&gt;&lt;mfenced&gt;&lt;mrow&gt;&lt;msub&gt;&lt;mi&gt;s&lt;/mi&gt;&lt;mi&gt;t&lt;/mi&gt;&lt;/msub&gt;&lt;mo&gt;,&lt;/mo&gt;&lt;msub&gt;&lt;mi&gt;a&lt;/mi&gt;&lt;mi&gt;t&lt;/mi&gt;&lt;/msub&gt;&lt;/mrow&gt;&lt;/mfenced&gt;&lt;mo&gt;=&lt;/mo&gt;&lt;msub&gt;&lt;mi&gt;Q&lt;/mi&gt;&lt;mi&gt;w&lt;/mi&gt;&lt;/msub&gt;&lt;mfenced&gt;&lt;mrow&gt;&lt;msub&gt;&lt;mi&gt;s&lt;/mi&gt;&lt;mi&gt;t&lt;/mi&gt;&lt;/msub&gt;&lt;mo&gt;,&lt;/mo&gt;&lt;msub&gt;&lt;mi&gt;a&lt;/mi&gt;&lt;mi&gt;t&lt;/mi&gt;&lt;/msub&gt;&lt;/mrow&gt;&lt;/mfenced&gt;&lt;mo&gt;-&lt;/mo&gt;&lt;mi&gt;V&lt;/mi&gt;&lt;mfenced&gt;&lt;msub&gt;&lt;mi&gt;s&lt;/mi&gt;&lt;mi&gt;t&lt;/mi&gt;&lt;/msub&gt;&lt;/mfenced&gt;&lt;/math&gt;" title="A open parentheses s subscript t comma a subscript t close parentheses equals Q subscript w open parentheses s subscript t comma a subscript t close parentheses minus V open parentheses s subscript t close parentheses"/>
          <p:cNvPicPr preferRelativeResize="0"/>
          <p:nvPr/>
        </p:nvPicPr>
        <p:blipFill>
          <a:blip r:embed="rId3">
            <a:alphaModFix/>
          </a:blip>
          <a:stretch>
            <a:fillRect/>
          </a:stretch>
        </p:blipFill>
        <p:spPr>
          <a:xfrm>
            <a:off x="2700513" y="2580525"/>
            <a:ext cx="3787626" cy="426225"/>
          </a:xfrm>
          <a:prstGeom prst="rect">
            <a:avLst/>
          </a:prstGeom>
          <a:noFill/>
          <a:ln>
            <a:noFill/>
          </a:ln>
        </p:spPr>
      </p:pic>
      <p:pic>
        <p:nvPicPr>
          <p:cNvPr id="1782" name="Google Shape;1782;p58" descr="&lt;math xmlns=&quot;http://www.w3.org/1998/Math/MathML&quot;&gt;&lt;mi&gt;Q&lt;/mi&gt;&lt;mfenced&gt;&lt;mrow&gt;&lt;msub&gt;&lt;mi&gt;s&lt;/mi&gt;&lt;mi&gt;t&lt;/mi&gt;&lt;/msub&gt;&lt;mo&gt;,&lt;/mo&gt;&lt;msub&gt;&lt;mi&gt;a&lt;/mi&gt;&lt;mi&gt;t&lt;/mi&gt;&lt;/msub&gt;&lt;/mrow&gt;&lt;/mfenced&gt;&lt;mo&gt;=&lt;/mo&gt;&lt;msub&gt;&lt;mi&gt;r&lt;/mi&gt;&lt;mrow&gt;&lt;mi&gt;t&lt;/mi&gt;&lt;mo&gt;+&lt;/mo&gt;&lt;mn&gt;1&lt;/mn&gt;&lt;mo&gt;&amp;#xA0;&lt;/mo&gt;&lt;/mrow&gt;&lt;/msub&gt;&lt;mo&gt;+&lt;/mo&gt;&lt;mi&gt;V&lt;/mi&gt;&lt;mfenced&gt;&lt;msub&gt;&lt;mi&gt;s&lt;/mi&gt;&lt;mrow&gt;&lt;mi&gt;t&lt;/mi&gt;&lt;mo&gt;+&lt;/mo&gt;&lt;mn&gt;1&lt;/mn&gt;&lt;/mrow&gt;&lt;/msub&gt;&lt;/mfenced&gt;&lt;/math&gt;" title="Q open parentheses s subscript t comma a subscript t close parentheses equals r subscript t plus 1 space end subscript plus V open parentheses s subscript t plus 1 end subscript close parentheses"/>
          <p:cNvPicPr preferRelativeResize="0"/>
          <p:nvPr/>
        </p:nvPicPr>
        <p:blipFill>
          <a:blip r:embed="rId4">
            <a:alphaModFix/>
          </a:blip>
          <a:stretch>
            <a:fillRect/>
          </a:stretch>
        </p:blipFill>
        <p:spPr>
          <a:xfrm>
            <a:off x="2700525" y="3825487"/>
            <a:ext cx="3392802" cy="426225"/>
          </a:xfrm>
          <a:prstGeom prst="rect">
            <a:avLst/>
          </a:prstGeom>
          <a:noFill/>
          <a:ln>
            <a:noFill/>
          </a:ln>
        </p:spPr>
      </p:pic>
      <p:pic>
        <p:nvPicPr>
          <p:cNvPr id="1783" name="Google Shape;1783;p58" descr="&lt;math xmlns=&quot;http://www.w3.org/1998/Math/MathML&quot;&gt;&lt;mi&gt;A&lt;/mi&gt;&lt;mfenced&gt;&lt;mrow&gt;&lt;msub&gt;&lt;mi&gt;s&lt;/mi&gt;&lt;mi&gt;t&lt;/mi&gt;&lt;/msub&gt;&lt;mo&gt;,&lt;/mo&gt;&lt;msub&gt;&lt;mi&gt;a&lt;/mi&gt;&lt;mi&gt;t&lt;/mi&gt;&lt;/msub&gt;&lt;/mrow&gt;&lt;/mfenced&gt;&lt;mo&gt;=&lt;/mo&gt;&lt;msub&gt;&lt;mi&gt;r&lt;/mi&gt;&lt;mrow&gt;&lt;mi&gt;t&lt;/mi&gt;&lt;mo&gt;+&lt;/mo&gt;&lt;mn&gt;1&lt;/mn&gt;&lt;/mrow&gt;&lt;/msub&gt;&lt;mo&gt;+&lt;/mo&gt;&lt;mi&gt;V&lt;/mi&gt;&lt;mfenced&gt;&lt;msub&gt;&lt;mi&gt;s&lt;/mi&gt;&lt;mrow&gt;&lt;mi&gt;t&lt;/mi&gt;&lt;mo&gt;+&lt;/mo&gt;&lt;mn&gt;1&lt;/mn&gt;&lt;/mrow&gt;&lt;/msub&gt;&lt;/mfenced&gt;&lt;mo&gt;-&lt;/mo&gt;&lt;msub&gt;&lt;mi&gt;V&lt;/mi&gt;&lt;mrow/&gt;&lt;/msub&gt;&lt;mfenced&gt;&lt;msub&gt;&lt;mi&gt;s&lt;/mi&gt;&lt;mi&gt;t&lt;/mi&gt;&lt;/msub&gt;&lt;/mfenced&gt;&lt;/math&gt;" title="A open parentheses s subscript t comma a subscript t close parentheses equals r subscript t plus 1 end subscript plus V open parentheses s subscript t plus 1 end subscript close parentheses minus V subscript blank open parentheses s subscript t close parentheses"/>
          <p:cNvPicPr preferRelativeResize="0"/>
          <p:nvPr/>
        </p:nvPicPr>
        <p:blipFill>
          <a:blip r:embed="rId5">
            <a:alphaModFix/>
          </a:blip>
          <a:stretch>
            <a:fillRect/>
          </a:stretch>
        </p:blipFill>
        <p:spPr>
          <a:xfrm>
            <a:off x="2752822" y="4892297"/>
            <a:ext cx="4422804" cy="4262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87"/>
        <p:cNvGrpSpPr/>
        <p:nvPr/>
      </p:nvGrpSpPr>
      <p:grpSpPr>
        <a:xfrm>
          <a:off x="0" y="0"/>
          <a:ext cx="0" cy="0"/>
          <a:chOff x="0" y="0"/>
          <a:chExt cx="0" cy="0"/>
        </a:xfrm>
      </p:grpSpPr>
      <p:sp>
        <p:nvSpPr>
          <p:cNvPr id="1788" name="Google Shape;1788;p59"/>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Actor Critic</a:t>
            </a:r>
            <a:endParaRPr/>
          </a:p>
        </p:txBody>
      </p:sp>
      <p:sp>
        <p:nvSpPr>
          <p:cNvPr id="1789" name="Google Shape;1789;p59"/>
          <p:cNvSpPr txBox="1">
            <a:spLocks noGrp="1"/>
          </p:cNvSpPr>
          <p:nvPr>
            <p:ph type="body" idx="1"/>
          </p:nvPr>
        </p:nvSpPr>
        <p:spPr>
          <a:xfrm>
            <a:off x="1674812" y="1905000"/>
            <a:ext cx="9144000" cy="4267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600"/>
              </a:spcBef>
              <a:spcAft>
                <a:spcPts val="0"/>
              </a:spcAft>
              <a:buSzPts val="1800"/>
              <a:buChar char="●"/>
            </a:pPr>
            <a:r>
              <a:rPr lang="en-US" sz="1800"/>
              <a:t>Depending on how we perform the updates, there can be two variations of the advantage actor critic network:</a:t>
            </a:r>
            <a:br>
              <a:rPr lang="en-US" sz="1800"/>
            </a:br>
            <a:endParaRPr sz="1800"/>
          </a:p>
          <a:p>
            <a:pPr marL="914400" lvl="1" indent="-342900" algn="l" rtl="0">
              <a:lnSpc>
                <a:spcPct val="90000"/>
              </a:lnSpc>
              <a:spcBef>
                <a:spcPts val="0"/>
              </a:spcBef>
              <a:spcAft>
                <a:spcPts val="0"/>
              </a:spcAft>
              <a:buSzPts val="1800"/>
              <a:buChar char="○"/>
            </a:pPr>
            <a:r>
              <a:rPr lang="en-US" sz="1800"/>
              <a:t>on-policy update: we perform the update after each step:</a:t>
            </a:r>
            <a:br>
              <a:rPr lang="en-US" sz="1800"/>
            </a:br>
            <a:r>
              <a:rPr lang="en-US" sz="1800"/>
              <a:t>This is similar to the Q-Actor Critic. This has the advantage of a low variance of the rewards, but is biased on the current policy:</a:t>
            </a:r>
            <a:br>
              <a:rPr lang="en-US" sz="1800"/>
            </a:br>
            <a:br>
              <a:rPr lang="en-US" sz="1800"/>
            </a:br>
            <a:br>
              <a:rPr lang="en-US" sz="1800"/>
            </a:br>
            <a:endParaRPr sz="1800"/>
          </a:p>
          <a:p>
            <a:pPr marL="914400" lvl="1" indent="-342900" algn="l" rtl="0">
              <a:lnSpc>
                <a:spcPct val="90000"/>
              </a:lnSpc>
              <a:spcBef>
                <a:spcPts val="0"/>
              </a:spcBef>
              <a:spcAft>
                <a:spcPts val="0"/>
              </a:spcAft>
              <a:buSzPts val="1800"/>
              <a:buChar char="○"/>
            </a:pPr>
            <a:r>
              <a:rPr lang="en-US" sz="1800"/>
              <a:t>off-policy update: we wait until the episode finishes and perform the update for each visited state.</a:t>
            </a:r>
            <a:br>
              <a:rPr lang="en-US" sz="1800"/>
            </a:br>
            <a:br>
              <a:rPr lang="en-US" sz="1800"/>
            </a:br>
            <a:r>
              <a:rPr lang="en-US" sz="1800"/>
              <a:t>This is similar to the policy gradient algorithm. In this case we can compute the correct values of the Q(s,a) to compute the advantage.</a:t>
            </a:r>
            <a:endParaRPr sz="1800"/>
          </a:p>
          <a:p>
            <a:pPr marL="457200" lvl="0" indent="0" algn="l" rtl="0">
              <a:lnSpc>
                <a:spcPct val="90000"/>
              </a:lnSpc>
              <a:spcBef>
                <a:spcPts val="600"/>
              </a:spcBef>
              <a:spcAft>
                <a:spcPts val="0"/>
              </a:spcAft>
              <a:buNone/>
            </a:pPr>
            <a:r>
              <a:rPr lang="en-US" sz="1800"/>
              <a:t> </a:t>
            </a:r>
            <a:endParaRPr sz="1800"/>
          </a:p>
          <a:p>
            <a:pPr marL="0" lvl="0" indent="0" algn="l" rtl="0">
              <a:lnSpc>
                <a:spcPct val="90000"/>
              </a:lnSpc>
              <a:spcBef>
                <a:spcPts val="600"/>
              </a:spcBef>
              <a:spcAft>
                <a:spcPts val="0"/>
              </a:spcAft>
              <a:buNone/>
            </a:pPr>
            <a:endParaRPr sz="1800"/>
          </a:p>
        </p:txBody>
      </p:sp>
      <p:pic>
        <p:nvPicPr>
          <p:cNvPr id="1790" name="Google Shape;1790;p59" descr="&lt;math xmlns=&quot;http://www.w3.org/1998/Math/MathML&quot;&gt;&lt;mi&gt;A&lt;/mi&gt;&lt;mfenced&gt;&lt;mrow&gt;&lt;msub&gt;&lt;mi&gt;s&lt;/mi&gt;&lt;mi&gt;t&lt;/mi&gt;&lt;/msub&gt;&lt;mo&gt;,&lt;/mo&gt;&lt;msub&gt;&lt;mi&gt;a&lt;/mi&gt;&lt;mi&gt;t&lt;/mi&gt;&lt;/msub&gt;&lt;/mrow&gt;&lt;/mfenced&gt;&lt;mo&gt;=&lt;/mo&gt;&lt;msub&gt;&lt;mi&gt;r&lt;/mi&gt;&lt;mrow&gt;&lt;mi&gt;t&lt;/mi&gt;&lt;mo&gt;+&lt;/mo&gt;&lt;mn&gt;1&lt;/mn&gt;&lt;/mrow&gt;&lt;/msub&gt;&lt;mo&gt;+&lt;/mo&gt;&lt;mi&gt;V&lt;/mi&gt;&lt;mfenced&gt;&lt;msub&gt;&lt;mi&gt;s&lt;/mi&gt;&lt;mrow&gt;&lt;mi&gt;t&lt;/mi&gt;&lt;mo&gt;+&lt;/mo&gt;&lt;mn&gt;1&lt;/mn&gt;&lt;/mrow&gt;&lt;/msub&gt;&lt;/mfenced&gt;&lt;mo&gt;-&lt;/mo&gt;&lt;msub&gt;&lt;mi&gt;V&lt;/mi&gt;&lt;mrow/&gt;&lt;/msub&gt;&lt;mfenced&gt;&lt;msub&gt;&lt;mi&gt;s&lt;/mi&gt;&lt;mi&gt;t&lt;/mi&gt;&lt;/msub&gt;&lt;/mfenced&gt;&lt;/math&gt;" title="A open parentheses s subscript t comma a subscript t close parentheses equals r subscript t plus 1 end subscript plus V open parentheses s subscript t plus 1 end subscript close parentheses minus V subscript blank open parentheses s subscript t close parentheses"/>
          <p:cNvPicPr preferRelativeResize="0"/>
          <p:nvPr/>
        </p:nvPicPr>
        <p:blipFill>
          <a:blip r:embed="rId3">
            <a:alphaModFix/>
          </a:blip>
          <a:stretch>
            <a:fillRect/>
          </a:stretch>
        </p:blipFill>
        <p:spPr>
          <a:xfrm>
            <a:off x="2752822" y="3578322"/>
            <a:ext cx="4422804" cy="426225"/>
          </a:xfrm>
          <a:prstGeom prst="rect">
            <a:avLst/>
          </a:prstGeom>
          <a:noFill/>
          <a:ln>
            <a:noFill/>
          </a:ln>
        </p:spPr>
      </p:pic>
      <p:pic>
        <p:nvPicPr>
          <p:cNvPr id="1791" name="Google Shape;1791;p59" descr="&lt;math xmlns=&quot;http://www.w3.org/1998/Math/MathML&quot;&gt;&lt;mi&gt;A&lt;/mi&gt;&lt;mfenced&gt;&lt;mrow&gt;&lt;msub&gt;&lt;mi&gt;s&lt;/mi&gt;&lt;mi&gt;t&lt;/mi&gt;&lt;/msub&gt;&lt;mo&gt;,&lt;/mo&gt;&lt;msub&gt;&lt;mi&gt;a&lt;/mi&gt;&lt;mi&gt;t&lt;/mi&gt;&lt;/msub&gt;&lt;/mrow&gt;&lt;/mfenced&gt;&lt;mo&gt;=&lt;/mo&gt;&lt;mi&gt;Q&lt;/mi&gt;&lt;mfenced&gt;&lt;mrow&gt;&lt;msub&gt;&lt;mi&gt;s&lt;/mi&gt;&lt;mi&gt;t&lt;/mi&gt;&lt;/msub&gt;&lt;mo&gt;,&lt;/mo&gt;&lt;msub&gt;&lt;mi&gt;a&lt;/mi&gt;&lt;mi&gt;t&lt;/mi&gt;&lt;/msub&gt;&lt;/mrow&gt;&lt;/mfenced&gt;&lt;mo&gt;-&lt;/mo&gt;&lt;mi&gt;V&lt;/mi&gt;&lt;mfenced&gt;&lt;msub&gt;&lt;mi&gt;s&lt;/mi&gt;&lt;mi&gt;t&lt;/mi&gt;&lt;/msub&gt;&lt;/mfenced&gt;&lt;/math&gt;" title="A open parentheses s subscript t comma a subscript t close parentheses equals Q open parentheses s subscript t comma a subscript t close parentheses minus V open parentheses s subscript t close parentheses"/>
          <p:cNvPicPr preferRelativeResize="0"/>
          <p:nvPr/>
        </p:nvPicPr>
        <p:blipFill>
          <a:blip r:embed="rId4">
            <a:alphaModFix/>
          </a:blip>
          <a:stretch>
            <a:fillRect/>
          </a:stretch>
        </p:blipFill>
        <p:spPr>
          <a:xfrm>
            <a:off x="2700522" y="5806200"/>
            <a:ext cx="4422800" cy="5211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95"/>
        <p:cNvGrpSpPr/>
        <p:nvPr/>
      </p:nvGrpSpPr>
      <p:grpSpPr>
        <a:xfrm>
          <a:off x="0" y="0"/>
          <a:ext cx="0" cy="0"/>
          <a:chOff x="0" y="0"/>
          <a:chExt cx="0" cy="0"/>
        </a:xfrm>
      </p:grpSpPr>
      <p:sp>
        <p:nvSpPr>
          <p:cNvPr id="1796" name="Google Shape;1796;p60"/>
          <p:cNvSpPr txBox="1">
            <a:spLocks noGrp="1"/>
          </p:cNvSpPr>
          <p:nvPr>
            <p:ph type="body" idx="1"/>
          </p:nvPr>
        </p:nvSpPr>
        <p:spPr>
          <a:xfrm>
            <a:off x="1674800" y="1905000"/>
            <a:ext cx="5604300" cy="4267200"/>
          </a:xfrm>
          <a:prstGeom prst="rect">
            <a:avLst/>
          </a:prstGeom>
          <a:noFill/>
          <a:ln>
            <a:noFill/>
          </a:ln>
        </p:spPr>
        <p:txBody>
          <a:bodyPr spcFirstLastPara="1" wrap="square" lIns="91425" tIns="45700" rIns="91425" bIns="45700" anchor="t" anchorCtr="0">
            <a:noAutofit/>
          </a:bodyPr>
          <a:lstStyle/>
          <a:p>
            <a:pPr marL="457200" lvl="0" indent="-342900" algn="l" rtl="0">
              <a:spcBef>
                <a:spcPts val="0"/>
              </a:spcBef>
              <a:spcAft>
                <a:spcPts val="0"/>
              </a:spcAft>
              <a:buSzPts val="1800"/>
              <a:buChar char="●"/>
            </a:pPr>
            <a:r>
              <a:rPr lang="en-US" sz="1800"/>
              <a:t>Advantage Actor Critic:</a:t>
            </a:r>
            <a:endParaRPr sz="1800"/>
          </a:p>
          <a:p>
            <a:pPr marL="457200" lvl="0" indent="0" algn="l" rtl="0">
              <a:spcBef>
                <a:spcPts val="0"/>
              </a:spcBef>
              <a:spcAft>
                <a:spcPts val="0"/>
              </a:spcAft>
              <a:buNone/>
            </a:pPr>
            <a:endParaRPr sz="1800"/>
          </a:p>
          <a:p>
            <a:pPr marL="914400" lvl="1" indent="-342900" algn="l" rtl="0">
              <a:spcBef>
                <a:spcPts val="0"/>
              </a:spcBef>
              <a:spcAft>
                <a:spcPts val="0"/>
              </a:spcAft>
              <a:buSzPts val="1800"/>
              <a:buChar char="○"/>
            </a:pPr>
            <a:r>
              <a:rPr lang="en-US" sz="1800"/>
              <a:t>Training the Network that will output the Value state</a:t>
            </a:r>
            <a:br>
              <a:rPr lang="en-US" sz="1800"/>
            </a:br>
            <a:endParaRPr sz="1800"/>
          </a:p>
          <a:p>
            <a:pPr marL="1371600" lvl="2" indent="-320039" algn="l" rtl="0">
              <a:spcBef>
                <a:spcPts val="0"/>
              </a:spcBef>
              <a:spcAft>
                <a:spcPts val="0"/>
              </a:spcAft>
              <a:buSzPts val="1440"/>
              <a:buChar char="■"/>
            </a:pPr>
            <a:r>
              <a:rPr lang="en-US"/>
              <a:t>Input layer is the state of the agent</a:t>
            </a:r>
            <a:br>
              <a:rPr lang="en-US"/>
            </a:br>
            <a:endParaRPr/>
          </a:p>
          <a:p>
            <a:pPr marL="1371600" lvl="2" indent="-320039" algn="l" rtl="0">
              <a:spcBef>
                <a:spcPts val="0"/>
              </a:spcBef>
              <a:spcAft>
                <a:spcPts val="0"/>
              </a:spcAft>
              <a:buSzPts val="1440"/>
              <a:buChar char="■"/>
            </a:pPr>
            <a:r>
              <a:rPr lang="en-US"/>
              <a:t>Output is a scalar, the V(s) function</a:t>
            </a:r>
            <a:br>
              <a:rPr lang="en-US"/>
            </a:br>
            <a:endParaRPr/>
          </a:p>
          <a:p>
            <a:pPr marL="914400" lvl="1" indent="-342900" algn="l" rtl="0">
              <a:spcBef>
                <a:spcPts val="0"/>
              </a:spcBef>
              <a:spcAft>
                <a:spcPts val="0"/>
              </a:spcAft>
              <a:buSzPts val="1800"/>
              <a:buChar char="○"/>
            </a:pPr>
            <a:r>
              <a:rPr lang="en-US" sz="1800"/>
              <a:t>Since this is a regression problem, MSE function will be used for the cost function</a:t>
            </a:r>
            <a:endParaRPr sz="1800"/>
          </a:p>
          <a:p>
            <a:pPr marL="914400" lvl="0" indent="0" algn="l" rtl="0">
              <a:spcBef>
                <a:spcPts val="0"/>
              </a:spcBef>
              <a:spcAft>
                <a:spcPts val="0"/>
              </a:spcAft>
              <a:buNone/>
            </a:pPr>
            <a:br>
              <a:rPr lang="en-US" sz="1800"/>
            </a:br>
            <a:endParaRPr sz="1800"/>
          </a:p>
          <a:p>
            <a:pPr marL="914400" lvl="0" indent="0" algn="l" rtl="0">
              <a:spcBef>
                <a:spcPts val="0"/>
              </a:spcBef>
              <a:spcAft>
                <a:spcPts val="0"/>
              </a:spcAft>
              <a:buNone/>
            </a:pPr>
            <a:endParaRPr sz="1800"/>
          </a:p>
          <a:p>
            <a:pPr marL="914400" lvl="0" indent="0" algn="l" rtl="0">
              <a:spcBef>
                <a:spcPts val="0"/>
              </a:spcBef>
              <a:spcAft>
                <a:spcPts val="0"/>
              </a:spcAft>
              <a:buNone/>
            </a:pPr>
            <a:endParaRPr sz="1800"/>
          </a:p>
          <a:p>
            <a:pPr marL="548640" lvl="1" indent="-147320" algn="l" rtl="0">
              <a:lnSpc>
                <a:spcPct val="90000"/>
              </a:lnSpc>
              <a:spcBef>
                <a:spcPts val="600"/>
              </a:spcBef>
              <a:spcAft>
                <a:spcPts val="0"/>
              </a:spcAft>
              <a:buSzPts val="2000"/>
              <a:buNone/>
            </a:pPr>
            <a:endParaRPr/>
          </a:p>
        </p:txBody>
      </p:sp>
      <p:sp>
        <p:nvSpPr>
          <p:cNvPr id="1797" name="Google Shape;1797;p60"/>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 detailed steps</a:t>
            </a:r>
            <a:endParaRPr/>
          </a:p>
        </p:txBody>
      </p:sp>
      <p:sp>
        <p:nvSpPr>
          <p:cNvPr id="1798" name="Google Shape;1798;p60"/>
          <p:cNvSpPr/>
          <p:nvPr/>
        </p:nvSpPr>
        <p:spPr>
          <a:xfrm>
            <a:off x="8218454" y="41766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799" name="Google Shape;1799;p60"/>
          <p:cNvSpPr/>
          <p:nvPr/>
        </p:nvSpPr>
        <p:spPr>
          <a:xfrm>
            <a:off x="8294655" y="42528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00" name="Google Shape;1800;p60"/>
          <p:cNvSpPr/>
          <p:nvPr/>
        </p:nvSpPr>
        <p:spPr>
          <a:xfrm>
            <a:off x="8370856" y="43290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01" name="Google Shape;1801;p60"/>
          <p:cNvSpPr/>
          <p:nvPr/>
        </p:nvSpPr>
        <p:spPr>
          <a:xfrm>
            <a:off x="8466107" y="439382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entury Gothic"/>
                <a:ea typeface="Century Gothic"/>
                <a:cs typeface="Century Gothic"/>
                <a:sym typeface="Century Gothic"/>
              </a:rPr>
              <a:t>state</a:t>
            </a:r>
            <a:endParaRPr sz="1800">
              <a:solidFill>
                <a:schemeClr val="dk1"/>
              </a:solidFill>
              <a:latin typeface="Century Gothic"/>
              <a:ea typeface="Century Gothic"/>
              <a:cs typeface="Century Gothic"/>
              <a:sym typeface="Century Gothic"/>
            </a:endParaRPr>
          </a:p>
        </p:txBody>
      </p:sp>
      <p:cxnSp>
        <p:nvCxnSpPr>
          <p:cNvPr id="1802" name="Google Shape;1802;p60"/>
          <p:cNvCxnSpPr>
            <a:stCxn id="1798" idx="0"/>
            <a:endCxn id="1803" idx="2"/>
          </p:cNvCxnSpPr>
          <p:nvPr/>
        </p:nvCxnSpPr>
        <p:spPr>
          <a:xfrm rot="10800000">
            <a:off x="8833904" y="3666954"/>
            <a:ext cx="0" cy="509700"/>
          </a:xfrm>
          <a:prstGeom prst="straightConnector1">
            <a:avLst/>
          </a:prstGeom>
          <a:noFill/>
          <a:ln w="25400" cap="flat" cmpd="sng">
            <a:solidFill>
              <a:schemeClr val="dk1"/>
            </a:solidFill>
            <a:prstDash val="solid"/>
            <a:miter lim="800000"/>
            <a:headEnd type="none" w="sm" len="sm"/>
            <a:tailEnd type="triangle" w="med" len="med"/>
          </a:ln>
        </p:spPr>
      </p:cxnSp>
      <p:cxnSp>
        <p:nvCxnSpPr>
          <p:cNvPr id="1804" name="Google Shape;1804;p60"/>
          <p:cNvCxnSpPr>
            <a:stCxn id="1803" idx="0"/>
            <a:endCxn id="1805" idx="2"/>
          </p:cNvCxnSpPr>
          <p:nvPr/>
        </p:nvCxnSpPr>
        <p:spPr>
          <a:xfrm rot="10800000">
            <a:off x="8833912" y="2811889"/>
            <a:ext cx="0" cy="465900"/>
          </a:xfrm>
          <a:prstGeom prst="straightConnector1">
            <a:avLst/>
          </a:prstGeom>
          <a:noFill/>
          <a:ln w="25400" cap="flat" cmpd="sng">
            <a:solidFill>
              <a:schemeClr val="dk1"/>
            </a:solidFill>
            <a:prstDash val="solid"/>
            <a:miter lim="800000"/>
            <a:headEnd type="none" w="sm" len="sm"/>
            <a:tailEnd type="triangle" w="med" len="med"/>
          </a:ln>
        </p:spPr>
      </p:cxnSp>
      <p:sp>
        <p:nvSpPr>
          <p:cNvPr id="1803" name="Google Shape;1803;p60"/>
          <p:cNvSpPr/>
          <p:nvPr/>
        </p:nvSpPr>
        <p:spPr>
          <a:xfrm>
            <a:off x="7805212" y="3277789"/>
            <a:ext cx="2057400" cy="389100"/>
          </a:xfrm>
          <a:prstGeom prst="rect">
            <a:avLst/>
          </a:prstGeom>
          <a:solidFill>
            <a:srgbClr val="BFBFBF"/>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Century Gothic"/>
                <a:ea typeface="Century Gothic"/>
                <a:cs typeface="Century Gothic"/>
                <a:sym typeface="Century Gothic"/>
              </a:rPr>
              <a:t>Network – hidden layers</a:t>
            </a:r>
            <a:endParaRPr sz="1200">
              <a:solidFill>
                <a:schemeClr val="dk1"/>
              </a:solidFill>
              <a:latin typeface="Century Gothic"/>
              <a:ea typeface="Century Gothic"/>
              <a:cs typeface="Century Gothic"/>
              <a:sym typeface="Century Gothic"/>
            </a:endParaRPr>
          </a:p>
        </p:txBody>
      </p:sp>
      <p:sp>
        <p:nvSpPr>
          <p:cNvPr id="1806" name="Google Shape;1806;p60"/>
          <p:cNvSpPr txBox="1"/>
          <p:nvPr/>
        </p:nvSpPr>
        <p:spPr>
          <a:xfrm>
            <a:off x="8412700" y="1905000"/>
            <a:ext cx="994800" cy="5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FF0000"/>
                </a:solidFill>
                <a:latin typeface="Century Gothic"/>
                <a:ea typeface="Century Gothic"/>
                <a:cs typeface="Century Gothic"/>
                <a:sym typeface="Century Gothic"/>
              </a:rPr>
              <a:t>linear</a:t>
            </a:r>
            <a:endParaRPr>
              <a:solidFill>
                <a:srgbClr val="FF0000"/>
              </a:solidFill>
              <a:latin typeface="Century Gothic"/>
              <a:ea typeface="Century Gothic"/>
              <a:cs typeface="Century Gothic"/>
              <a:sym typeface="Century Gothic"/>
            </a:endParaRPr>
          </a:p>
        </p:txBody>
      </p:sp>
      <p:sp>
        <p:nvSpPr>
          <p:cNvPr id="1807" name="Google Shape;1807;p60"/>
          <p:cNvSpPr/>
          <p:nvPr/>
        </p:nvSpPr>
        <p:spPr>
          <a:xfrm>
            <a:off x="8570250" y="2316000"/>
            <a:ext cx="527400" cy="465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i="1">
                <a:latin typeface="Times New Roman"/>
                <a:ea typeface="Times New Roman"/>
                <a:cs typeface="Times New Roman"/>
                <a:sym typeface="Times New Roman"/>
              </a:rPr>
              <a:t>V(s)</a:t>
            </a:r>
            <a:endParaRPr i="1">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11"/>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12" name="Google Shape;1812;p61"/>
              <p:cNvSpPr txBox="1">
                <a:spLocks noGrp="1"/>
              </p:cNvSpPr>
              <p:nvPr>
                <p:ph type="body" idx="1"/>
              </p:nvPr>
            </p:nvSpPr>
            <p:spPr>
              <a:xfrm>
                <a:off x="1674800" y="1905000"/>
                <a:ext cx="5604300" cy="4267200"/>
              </a:xfrm>
              <a:prstGeom prst="rect">
                <a:avLst/>
              </a:prstGeom>
              <a:noFill/>
              <a:ln>
                <a:noFill/>
              </a:ln>
            </p:spPr>
            <p:txBody>
              <a:bodyPr spcFirstLastPara="1" wrap="square" lIns="91425" tIns="45700" rIns="91425" bIns="45700" anchor="t" anchorCtr="0">
                <a:noAutofit/>
              </a:bodyPr>
              <a:lstStyle/>
              <a:p>
                <a:pPr marL="457200" lvl="0" indent="-342900" algn="l" rtl="0">
                  <a:spcBef>
                    <a:spcPts val="0"/>
                  </a:spcBef>
                  <a:spcAft>
                    <a:spcPts val="0"/>
                  </a:spcAft>
                  <a:buSzPts val="1800"/>
                  <a:buChar char="●"/>
                </a:pPr>
                <a:r>
                  <a:rPr lang="en-US" sz="1800" dirty="0"/>
                  <a:t>Advantage Actor Critic: on-policy update</a:t>
                </a:r>
                <a:endParaRPr sz="1800" dirty="0"/>
              </a:p>
              <a:p>
                <a:pPr marL="0" lvl="0" indent="0" algn="l" rtl="0">
                  <a:spcBef>
                    <a:spcPts val="0"/>
                  </a:spcBef>
                  <a:spcAft>
                    <a:spcPts val="0"/>
                  </a:spcAft>
                  <a:buNone/>
                </a:pPr>
                <a:endParaRPr sz="1800" dirty="0"/>
              </a:p>
              <a:p>
                <a:pPr marL="457200" lvl="1" indent="-342900" algn="l" rtl="0">
                  <a:spcBef>
                    <a:spcPts val="0"/>
                  </a:spcBef>
                  <a:spcAft>
                    <a:spcPts val="0"/>
                  </a:spcAft>
                  <a:buSzPts val="1800"/>
                  <a:buChar char="○"/>
                </a:pPr>
                <a:r>
                  <a:rPr lang="en-US" sz="1800" dirty="0"/>
                  <a:t>In this scenario, we will update the network after each time step</a:t>
                </a:r>
                <a:br>
                  <a:rPr lang="en-US" sz="1800" dirty="0"/>
                </a:br>
                <a:br>
                  <a:rPr lang="en-US" sz="1800" dirty="0"/>
                </a:br>
                <a:endParaRPr sz="1800" dirty="0"/>
              </a:p>
              <a:p>
                <a:pPr marL="457200" lvl="1" indent="-342900" algn="l" rtl="0">
                  <a:spcBef>
                    <a:spcPts val="0"/>
                  </a:spcBef>
                  <a:spcAft>
                    <a:spcPts val="0"/>
                  </a:spcAft>
                  <a:buSzPts val="1800"/>
                  <a:buChar char="○"/>
                </a:pPr>
                <a:r>
                  <a:rPr lang="en-US" sz="1800" dirty="0"/>
                  <a:t>Store the predicted  </a:t>
                </a:r>
                <a:r>
                  <a:rPr lang="en-US" sz="1800" i="1" dirty="0">
                    <a:solidFill>
                      <a:srgbClr val="000000"/>
                    </a:solidFill>
                    <a:latin typeface="Times New Roman"/>
                    <a:ea typeface="Times New Roman"/>
                    <a:cs typeface="Times New Roman"/>
                    <a:sym typeface="Times New Roman"/>
                  </a:rPr>
                  <a:t>V</a:t>
                </a:r>
                <a:r>
                  <a:rPr lang="en-US" sz="1800" dirty="0">
                    <a:solidFill>
                      <a:srgbClr val="000000"/>
                    </a:solidFill>
                    <a:latin typeface="Times New Roman"/>
                    <a:ea typeface="Times New Roman"/>
                    <a:cs typeface="Times New Roman"/>
                    <a:sym typeface="Times New Roman"/>
                  </a:rPr>
                  <a:t>(</a:t>
                </a:r>
                <a:r>
                  <a:rPr lang="en-US" sz="1800" dirty="0" err="1">
                    <a:solidFill>
                      <a:srgbClr val="000000"/>
                    </a:solidFill>
                    <a:latin typeface="Times New Roman"/>
                    <a:ea typeface="Times New Roman"/>
                    <a:cs typeface="Times New Roman"/>
                    <a:sym typeface="Times New Roman"/>
                  </a:rPr>
                  <a:t>s</a:t>
                </a:r>
                <a:r>
                  <a:rPr lang="en-US" sz="1800" baseline="-25000" dirty="0" err="1">
                    <a:solidFill>
                      <a:srgbClr val="000000"/>
                    </a:solidFill>
                    <a:latin typeface="Times New Roman"/>
                    <a:ea typeface="Times New Roman"/>
                    <a:cs typeface="Times New Roman"/>
                    <a:sym typeface="Times New Roman"/>
                  </a:rPr>
                  <a:t>t</a:t>
                </a:r>
                <a:r>
                  <a:rPr lang="en-US" sz="1800" baseline="-25000" dirty="0">
                    <a:solidFill>
                      <a:srgbClr val="000000"/>
                    </a:solidFill>
                    <a:latin typeface="Times New Roman"/>
                    <a:ea typeface="Times New Roman"/>
                    <a:cs typeface="Times New Roman"/>
                    <a:sym typeface="Times New Roman"/>
                  </a:rPr>
                  <a:t> </a:t>
                </a:r>
                <a:r>
                  <a:rPr lang="en-US" sz="1800" dirty="0">
                    <a:solidFill>
                      <a:srgbClr val="000000"/>
                    </a:solidFill>
                    <a:latin typeface="Times New Roman"/>
                    <a:ea typeface="Times New Roman"/>
                    <a:cs typeface="Times New Roman"/>
                    <a:sym typeface="Times New Roman"/>
                  </a:rPr>
                  <a:t>)</a:t>
                </a:r>
                <a:r>
                  <a:rPr lang="en-US" sz="1800" dirty="0"/>
                  <a:t> for the current state</a:t>
                </a:r>
                <a:br>
                  <a:rPr lang="en-US" sz="1800" dirty="0"/>
                </a:br>
                <a:endParaRPr sz="1800" dirty="0"/>
              </a:p>
              <a:p>
                <a:pPr marL="457200" lvl="1" indent="-342900" algn="l" rtl="0">
                  <a:spcBef>
                    <a:spcPts val="0"/>
                  </a:spcBef>
                  <a:spcAft>
                    <a:spcPts val="0"/>
                  </a:spcAft>
                  <a:buSzPts val="1800"/>
                  <a:buChar char="○"/>
                </a:pPr>
                <a:r>
                  <a:rPr lang="en-US" sz="1800" dirty="0"/>
                  <a:t>Perform a step according to the Actor Network , receive reward </a:t>
                </a:r>
                <a:r>
                  <a:rPr lang="en-US" sz="1800" i="1" dirty="0">
                    <a:solidFill>
                      <a:srgbClr val="000000"/>
                    </a:solidFill>
                    <a:latin typeface="Times New Roman"/>
                    <a:ea typeface="Times New Roman"/>
                    <a:cs typeface="Times New Roman"/>
                    <a:sym typeface="Times New Roman"/>
                  </a:rPr>
                  <a:t>r</a:t>
                </a:r>
                <a:r>
                  <a:rPr lang="en-US" sz="1800" i="1" baseline="-25000" dirty="0">
                    <a:solidFill>
                      <a:srgbClr val="000000"/>
                    </a:solidFill>
                    <a:latin typeface="Times New Roman"/>
                    <a:ea typeface="Times New Roman"/>
                    <a:cs typeface="Times New Roman"/>
                    <a:sym typeface="Times New Roman"/>
                  </a:rPr>
                  <a:t>t</a:t>
                </a:r>
                <a:r>
                  <a:rPr lang="en-US" sz="1800" dirty="0"/>
                  <a:t> and get new state: </a:t>
                </a:r>
                <a:r>
                  <a:rPr lang="en-US" sz="1800" i="1" dirty="0">
                    <a:solidFill>
                      <a:srgbClr val="000000"/>
                    </a:solidFill>
                    <a:latin typeface="Times New Roman"/>
                    <a:ea typeface="Times New Roman"/>
                    <a:cs typeface="Times New Roman"/>
                    <a:sym typeface="Times New Roman"/>
                  </a:rPr>
                  <a:t>s</a:t>
                </a:r>
                <a:r>
                  <a:rPr lang="en-US" sz="1800" i="1" baseline="-25000" dirty="0">
                    <a:solidFill>
                      <a:srgbClr val="000000"/>
                    </a:solidFill>
                    <a:latin typeface="Times New Roman"/>
                    <a:ea typeface="Times New Roman"/>
                    <a:cs typeface="Times New Roman"/>
                    <a:sym typeface="Times New Roman"/>
                  </a:rPr>
                  <a:t>t+1</a:t>
                </a:r>
                <a:br>
                  <a:rPr lang="en-US" sz="1800" i="1" baseline="-25000" dirty="0">
                    <a:solidFill>
                      <a:srgbClr val="000000"/>
                    </a:solidFill>
                    <a:latin typeface="Times New Roman"/>
                    <a:ea typeface="Times New Roman"/>
                    <a:cs typeface="Times New Roman"/>
                    <a:sym typeface="Times New Roman"/>
                  </a:rPr>
                </a:br>
                <a:endParaRPr sz="1800" i="1" baseline="-25000" dirty="0">
                  <a:solidFill>
                    <a:srgbClr val="000000"/>
                  </a:solidFill>
                  <a:latin typeface="Times New Roman"/>
                  <a:ea typeface="Times New Roman"/>
                  <a:cs typeface="Times New Roman"/>
                  <a:sym typeface="Times New Roman"/>
                </a:endParaRPr>
              </a:p>
              <a:p>
                <a:pPr marL="457200" lvl="1" indent="-342900" algn="l" rtl="0">
                  <a:spcBef>
                    <a:spcPts val="0"/>
                  </a:spcBef>
                  <a:spcAft>
                    <a:spcPts val="0"/>
                  </a:spcAft>
                  <a:buSzPts val="1800"/>
                  <a:buChar char="○"/>
                </a:pPr>
                <a:r>
                  <a:rPr lang="en-US" sz="1800" dirty="0"/>
                  <a:t>Predict </a:t>
                </a:r>
                <a:r>
                  <a:rPr lang="en-US" sz="1800" i="1" dirty="0">
                    <a:solidFill>
                      <a:srgbClr val="000000"/>
                    </a:solidFill>
                    <a:latin typeface="Times New Roman"/>
                    <a:ea typeface="Times New Roman"/>
                    <a:cs typeface="Times New Roman"/>
                    <a:sym typeface="Times New Roman"/>
                  </a:rPr>
                  <a:t>V</a:t>
                </a:r>
                <a:r>
                  <a:rPr lang="en-US" sz="1800" dirty="0">
                    <a:solidFill>
                      <a:srgbClr val="000000"/>
                    </a:solidFill>
                    <a:latin typeface="Times New Roman"/>
                    <a:ea typeface="Times New Roman"/>
                    <a:cs typeface="Times New Roman"/>
                    <a:sym typeface="Times New Roman"/>
                  </a:rPr>
                  <a:t>(s</a:t>
                </a:r>
                <a:r>
                  <a:rPr lang="en-US" sz="1800" baseline="-25000" dirty="0">
                    <a:solidFill>
                      <a:srgbClr val="000000"/>
                    </a:solidFill>
                    <a:latin typeface="Times New Roman"/>
                    <a:ea typeface="Times New Roman"/>
                    <a:cs typeface="Times New Roman"/>
                    <a:sym typeface="Times New Roman"/>
                  </a:rPr>
                  <a:t>t+1</a:t>
                </a:r>
                <a:r>
                  <a:rPr lang="en-US" sz="1800" dirty="0">
                    <a:solidFill>
                      <a:srgbClr val="000000"/>
                    </a:solidFill>
                    <a:latin typeface="Times New Roman"/>
                    <a:ea typeface="Times New Roman"/>
                    <a:cs typeface="Times New Roman"/>
                    <a:sym typeface="Times New Roman"/>
                  </a:rPr>
                  <a:t>) </a:t>
                </a:r>
                <a:br>
                  <a:rPr lang="en-US" sz="1800" dirty="0"/>
                </a:br>
                <a:endParaRPr sz="1800" dirty="0"/>
              </a:p>
              <a:p>
                <a:pPr marL="457200" lvl="1" indent="-342900" algn="l" rtl="0">
                  <a:spcBef>
                    <a:spcPts val="0"/>
                  </a:spcBef>
                  <a:spcAft>
                    <a:spcPts val="0"/>
                  </a:spcAft>
                  <a:buSzPts val="1800"/>
                  <a:buChar char="○"/>
                </a:pPr>
                <a:r>
                  <a:rPr lang="en-US" sz="1800" dirty="0"/>
                  <a:t>Update the network using input: </a:t>
                </a:r>
                <a:r>
                  <a:rPr lang="en-US" sz="1800" dirty="0" err="1">
                    <a:solidFill>
                      <a:schemeClr val="dk1"/>
                    </a:solidFill>
                    <a:latin typeface="Times New Roman"/>
                    <a:ea typeface="Times New Roman"/>
                    <a:cs typeface="Times New Roman"/>
                    <a:sym typeface="Times New Roman"/>
                  </a:rPr>
                  <a:t>s</a:t>
                </a:r>
                <a:r>
                  <a:rPr lang="en-US" sz="1800" baseline="-25000" dirty="0" err="1">
                    <a:solidFill>
                      <a:schemeClr val="dk1"/>
                    </a:solidFill>
                    <a:latin typeface="Times New Roman"/>
                    <a:ea typeface="Times New Roman"/>
                    <a:cs typeface="Times New Roman"/>
                    <a:sym typeface="Times New Roman"/>
                  </a:rPr>
                  <a:t>t</a:t>
                </a:r>
                <a:r>
                  <a:rPr lang="en-US" sz="1800" dirty="0"/>
                  <a:t> and the target</a:t>
                </a:r>
                <a:r>
                  <a:rPr lang="en-US" sz="1800" b="0" dirty="0"/>
                  <a:t> </a:t>
                </a:r>
                <a14:m>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𝑟</m:t>
                        </m:r>
                      </m:e>
                      <m:sub>
                        <m:r>
                          <a:rPr lang="en-US" sz="1800" b="0" i="1" smtClean="0">
                            <a:solidFill>
                              <a:schemeClr val="tx1"/>
                            </a:solidFill>
                            <a:latin typeface="Cambria Math" panose="02040503050406030204" pitchFamily="18" charset="0"/>
                          </a:rPr>
                          <m:t>𝑡</m:t>
                        </m:r>
                      </m:sub>
                    </m:sSub>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𝛾</m:t>
                    </m:r>
                    <m:r>
                      <a:rPr lang="en-US" sz="1800" b="0" i="1" smtClean="0">
                        <a:solidFill>
                          <a:schemeClr val="tx1"/>
                        </a:solidFill>
                        <a:latin typeface="Cambria Math" panose="02040503050406030204" pitchFamily="18" charset="0"/>
                      </a:rPr>
                      <m:t>𝑉</m:t>
                    </m:r>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𝑠</m:t>
                        </m:r>
                      </m:e>
                      <m:sub>
                        <m:r>
                          <a:rPr lang="en-US" sz="1800" b="0" i="1" smtClean="0">
                            <a:solidFill>
                              <a:schemeClr val="tx1"/>
                            </a:solidFill>
                            <a:latin typeface="Cambria Math" panose="02040503050406030204" pitchFamily="18" charset="0"/>
                          </a:rPr>
                          <m:t>𝑡</m:t>
                        </m:r>
                        <m:r>
                          <a:rPr lang="en-US" sz="1800" b="0" i="1" smtClean="0">
                            <a:solidFill>
                              <a:schemeClr val="tx1"/>
                            </a:solidFill>
                            <a:latin typeface="Cambria Math" panose="02040503050406030204" pitchFamily="18" charset="0"/>
                          </a:rPr>
                          <m:t>+1</m:t>
                        </m:r>
                      </m:sub>
                    </m:sSub>
                    <m:r>
                      <a:rPr lang="en-US" sz="1800" b="0" i="1" smtClean="0">
                        <a:solidFill>
                          <a:schemeClr val="tx1"/>
                        </a:solidFill>
                        <a:latin typeface="Cambria Math" panose="02040503050406030204" pitchFamily="18" charset="0"/>
                      </a:rPr>
                      <m:t>)</m:t>
                    </m:r>
                  </m:oMath>
                </a14:m>
                <a:br>
                  <a:rPr lang="en-US" sz="1800" dirty="0"/>
                </a:br>
                <a:endParaRPr sz="1800" dirty="0"/>
              </a:p>
              <a:p>
                <a:pPr marL="0" lvl="0" indent="0" algn="l" rtl="0">
                  <a:spcBef>
                    <a:spcPts val="0"/>
                  </a:spcBef>
                  <a:spcAft>
                    <a:spcPts val="0"/>
                  </a:spcAft>
                  <a:buNone/>
                </a:pPr>
                <a:br>
                  <a:rPr lang="en-US" sz="1800" dirty="0"/>
                </a:br>
                <a:endParaRPr sz="1800" dirty="0"/>
              </a:p>
              <a:p>
                <a:pPr marL="914400" lvl="0" indent="0" algn="l" rtl="0">
                  <a:spcBef>
                    <a:spcPts val="0"/>
                  </a:spcBef>
                  <a:spcAft>
                    <a:spcPts val="0"/>
                  </a:spcAft>
                  <a:buNone/>
                </a:pPr>
                <a:br>
                  <a:rPr lang="en-US" sz="1800" dirty="0"/>
                </a:br>
                <a:endParaRPr sz="1800" dirty="0"/>
              </a:p>
              <a:p>
                <a:pPr marL="914400" lvl="0" indent="0" algn="l" rtl="0">
                  <a:spcBef>
                    <a:spcPts val="0"/>
                  </a:spcBef>
                  <a:spcAft>
                    <a:spcPts val="0"/>
                  </a:spcAft>
                  <a:buNone/>
                </a:pPr>
                <a:endParaRPr sz="1800" dirty="0"/>
              </a:p>
              <a:p>
                <a:pPr marL="914400" lvl="0" indent="0" algn="l" rtl="0">
                  <a:spcBef>
                    <a:spcPts val="0"/>
                  </a:spcBef>
                  <a:spcAft>
                    <a:spcPts val="0"/>
                  </a:spcAft>
                  <a:buNone/>
                </a:pPr>
                <a:endParaRPr sz="1800" dirty="0"/>
              </a:p>
              <a:p>
                <a:pPr marL="548640" lvl="1" indent="-147320" algn="l" rtl="0">
                  <a:lnSpc>
                    <a:spcPct val="90000"/>
                  </a:lnSpc>
                  <a:spcBef>
                    <a:spcPts val="600"/>
                  </a:spcBef>
                  <a:spcAft>
                    <a:spcPts val="0"/>
                  </a:spcAft>
                  <a:buSzPts val="2000"/>
                  <a:buNone/>
                </a:pPr>
                <a:endParaRPr dirty="0"/>
              </a:p>
            </p:txBody>
          </p:sp>
        </mc:Choice>
        <mc:Fallback xmlns="">
          <p:sp>
            <p:nvSpPr>
              <p:cNvPr id="1812" name="Google Shape;1812;p61"/>
              <p:cNvSpPr txBox="1">
                <a:spLocks noGrp="1" noRot="1" noChangeAspect="1" noMove="1" noResize="1" noEditPoints="1" noAdjustHandles="1" noChangeArrowheads="1" noChangeShapeType="1" noTextEdit="1"/>
              </p:cNvSpPr>
              <p:nvPr>
                <p:ph type="body" idx="1"/>
              </p:nvPr>
            </p:nvSpPr>
            <p:spPr>
              <a:xfrm>
                <a:off x="1674800" y="1905000"/>
                <a:ext cx="5604300" cy="4267200"/>
              </a:xfrm>
              <a:prstGeom prst="rect">
                <a:avLst/>
              </a:prstGeom>
              <a:blipFill>
                <a:blip r:embed="rId3"/>
                <a:stretch>
                  <a:fillRect t="-1780" b="-593"/>
                </a:stretch>
              </a:blipFill>
              <a:ln>
                <a:noFill/>
              </a:ln>
            </p:spPr>
            <p:txBody>
              <a:bodyPr/>
              <a:lstStyle/>
              <a:p>
                <a:r>
                  <a:rPr lang="en-US">
                    <a:noFill/>
                  </a:rPr>
                  <a:t> </a:t>
                </a:r>
              </a:p>
            </p:txBody>
          </p:sp>
        </mc:Fallback>
      </mc:AlternateContent>
      <p:sp>
        <p:nvSpPr>
          <p:cNvPr id="1813" name="Google Shape;1813;p61"/>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 detailed steps</a:t>
            </a:r>
            <a:endParaRPr/>
          </a:p>
        </p:txBody>
      </p:sp>
      <p:sp>
        <p:nvSpPr>
          <p:cNvPr id="1814" name="Google Shape;1814;p61"/>
          <p:cNvSpPr/>
          <p:nvPr/>
        </p:nvSpPr>
        <p:spPr>
          <a:xfrm>
            <a:off x="8218454" y="41766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15" name="Google Shape;1815;p61"/>
          <p:cNvSpPr/>
          <p:nvPr/>
        </p:nvSpPr>
        <p:spPr>
          <a:xfrm>
            <a:off x="8294655" y="42528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16" name="Google Shape;1816;p61"/>
          <p:cNvSpPr/>
          <p:nvPr/>
        </p:nvSpPr>
        <p:spPr>
          <a:xfrm>
            <a:off x="8370856" y="43290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17" name="Google Shape;1817;p61"/>
          <p:cNvSpPr/>
          <p:nvPr/>
        </p:nvSpPr>
        <p:spPr>
          <a:xfrm>
            <a:off x="8466107" y="439382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cxnSp>
        <p:nvCxnSpPr>
          <p:cNvPr id="1818" name="Google Shape;1818;p61"/>
          <p:cNvCxnSpPr>
            <a:stCxn id="1814" idx="0"/>
            <a:endCxn id="1819" idx="2"/>
          </p:cNvCxnSpPr>
          <p:nvPr/>
        </p:nvCxnSpPr>
        <p:spPr>
          <a:xfrm rot="10800000">
            <a:off x="8833904" y="3666954"/>
            <a:ext cx="0" cy="509700"/>
          </a:xfrm>
          <a:prstGeom prst="straightConnector1">
            <a:avLst/>
          </a:prstGeom>
          <a:noFill/>
          <a:ln w="25400" cap="flat" cmpd="sng">
            <a:solidFill>
              <a:schemeClr val="dk1"/>
            </a:solidFill>
            <a:prstDash val="solid"/>
            <a:miter lim="800000"/>
            <a:headEnd type="none" w="sm" len="sm"/>
            <a:tailEnd type="triangle" w="med" len="med"/>
          </a:ln>
        </p:spPr>
      </p:cxnSp>
      <p:cxnSp>
        <p:nvCxnSpPr>
          <p:cNvPr id="1820" name="Google Shape;1820;p61"/>
          <p:cNvCxnSpPr>
            <a:stCxn id="1819" idx="0"/>
            <a:endCxn id="1821" idx="2"/>
          </p:cNvCxnSpPr>
          <p:nvPr/>
        </p:nvCxnSpPr>
        <p:spPr>
          <a:xfrm rot="10800000">
            <a:off x="8833912" y="2811889"/>
            <a:ext cx="0" cy="465900"/>
          </a:xfrm>
          <a:prstGeom prst="straightConnector1">
            <a:avLst/>
          </a:prstGeom>
          <a:noFill/>
          <a:ln w="25400" cap="flat" cmpd="sng">
            <a:solidFill>
              <a:schemeClr val="dk1"/>
            </a:solidFill>
            <a:prstDash val="solid"/>
            <a:miter lim="800000"/>
            <a:headEnd type="none" w="sm" len="sm"/>
            <a:tailEnd type="triangle" w="med" len="med"/>
          </a:ln>
        </p:spPr>
      </p:cxnSp>
      <p:sp>
        <p:nvSpPr>
          <p:cNvPr id="1819" name="Google Shape;1819;p61"/>
          <p:cNvSpPr/>
          <p:nvPr/>
        </p:nvSpPr>
        <p:spPr>
          <a:xfrm>
            <a:off x="7805212" y="3277789"/>
            <a:ext cx="2057400" cy="389100"/>
          </a:xfrm>
          <a:prstGeom prst="rect">
            <a:avLst/>
          </a:prstGeom>
          <a:solidFill>
            <a:srgbClr val="BFBFBF"/>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Century Gothic"/>
                <a:ea typeface="Century Gothic"/>
                <a:cs typeface="Century Gothic"/>
                <a:sym typeface="Century Gothic"/>
              </a:rPr>
              <a:t>Network – hidden layers</a:t>
            </a:r>
            <a:endParaRPr sz="1200">
              <a:solidFill>
                <a:schemeClr val="dk1"/>
              </a:solidFill>
              <a:latin typeface="Century Gothic"/>
              <a:ea typeface="Century Gothic"/>
              <a:cs typeface="Century Gothic"/>
              <a:sym typeface="Century Gothic"/>
            </a:endParaRPr>
          </a:p>
        </p:txBody>
      </p:sp>
      <p:sp>
        <p:nvSpPr>
          <p:cNvPr id="1822" name="Google Shape;1822;p61"/>
          <p:cNvSpPr txBox="1"/>
          <p:nvPr/>
        </p:nvSpPr>
        <p:spPr>
          <a:xfrm>
            <a:off x="8412700" y="1905000"/>
            <a:ext cx="994800" cy="5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FF0000"/>
                </a:solidFill>
                <a:latin typeface="Century Gothic"/>
                <a:ea typeface="Century Gothic"/>
                <a:cs typeface="Century Gothic"/>
                <a:sym typeface="Century Gothic"/>
              </a:rPr>
              <a:t>linear</a:t>
            </a:r>
            <a:endParaRPr>
              <a:solidFill>
                <a:srgbClr val="FF0000"/>
              </a:solidFill>
              <a:latin typeface="Century Gothic"/>
              <a:ea typeface="Century Gothic"/>
              <a:cs typeface="Century Gothic"/>
              <a:sym typeface="Century Gothic"/>
            </a:endParaRPr>
          </a:p>
        </p:txBody>
      </p:sp>
      <p:sp>
        <p:nvSpPr>
          <p:cNvPr id="1823" name="Google Shape;1823;p61"/>
          <p:cNvSpPr/>
          <p:nvPr/>
        </p:nvSpPr>
        <p:spPr>
          <a:xfrm>
            <a:off x="8270499" y="2302150"/>
            <a:ext cx="1331239" cy="465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i="1">
              <a:latin typeface="Times New Roman"/>
              <a:ea typeface="Times New Roman"/>
              <a:cs typeface="Times New Roman"/>
              <a:sym typeface="Times New Roman"/>
            </a:endParaRPr>
          </a:p>
        </p:txBody>
      </p:sp>
      <p:sp>
        <p:nvSpPr>
          <p:cNvPr id="1825" name="Google Shape;1825;p61"/>
          <p:cNvSpPr txBox="1"/>
          <p:nvPr/>
        </p:nvSpPr>
        <p:spPr>
          <a:xfrm>
            <a:off x="8817850" y="4442700"/>
            <a:ext cx="527400" cy="5970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US" sz="2200" dirty="0" err="1">
                <a:solidFill>
                  <a:schemeClr val="dk1"/>
                </a:solidFill>
                <a:latin typeface="Times New Roman"/>
                <a:ea typeface="Times New Roman"/>
                <a:cs typeface="Times New Roman"/>
                <a:sym typeface="Times New Roman"/>
              </a:rPr>
              <a:t>s</a:t>
            </a:r>
            <a:r>
              <a:rPr lang="en-US" sz="2200" baseline="-25000" dirty="0" err="1">
                <a:solidFill>
                  <a:schemeClr val="dk1"/>
                </a:solidFill>
                <a:latin typeface="Times New Roman"/>
                <a:ea typeface="Times New Roman"/>
                <a:cs typeface="Times New Roman"/>
                <a:sym typeface="Times New Roman"/>
              </a:rPr>
              <a:t>t</a:t>
            </a:r>
            <a:endParaRPr sz="1800" dirty="0"/>
          </a:p>
        </p:txBody>
      </p:sp>
      <p:sp>
        <p:nvSpPr>
          <p:cNvPr id="1826" name="Google Shape;1826;p61"/>
          <p:cNvSpPr txBox="1"/>
          <p:nvPr/>
        </p:nvSpPr>
        <p:spPr>
          <a:xfrm>
            <a:off x="8294655" y="2329082"/>
            <a:ext cx="1478557" cy="4659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US" sz="1800" i="1" dirty="0">
                <a:solidFill>
                  <a:schemeClr val="dk1"/>
                </a:solidFill>
                <a:latin typeface="Times New Roman"/>
                <a:ea typeface="Times New Roman"/>
                <a:cs typeface="Times New Roman"/>
                <a:sym typeface="Times New Roman"/>
              </a:rPr>
              <a:t>V</a:t>
            </a:r>
            <a:r>
              <a:rPr lang="en-US" sz="1800" dirty="0">
                <a:solidFill>
                  <a:schemeClr val="dk1"/>
                </a:solidFill>
                <a:latin typeface="Times New Roman"/>
                <a:ea typeface="Times New Roman"/>
                <a:cs typeface="Times New Roman"/>
                <a:sym typeface="Times New Roman"/>
              </a:rPr>
              <a:t>(</a:t>
            </a:r>
            <a:r>
              <a:rPr lang="en-US" sz="1800" dirty="0" err="1">
                <a:solidFill>
                  <a:schemeClr val="dk1"/>
                </a:solidFill>
                <a:latin typeface="Times New Roman"/>
                <a:ea typeface="Times New Roman"/>
                <a:cs typeface="Times New Roman"/>
                <a:sym typeface="Times New Roman"/>
              </a:rPr>
              <a:t>s</a:t>
            </a:r>
            <a:r>
              <a:rPr lang="en-US" sz="1800" baseline="-25000" dirty="0" err="1">
                <a:solidFill>
                  <a:schemeClr val="dk1"/>
                </a:solidFill>
                <a:latin typeface="Times New Roman"/>
                <a:ea typeface="Times New Roman"/>
                <a:cs typeface="Times New Roman"/>
                <a:sym typeface="Times New Roman"/>
              </a:rPr>
              <a:t>t</a:t>
            </a:r>
            <a:r>
              <a:rPr lang="en-US" sz="1800" baseline="-25000" dirty="0">
                <a:solidFill>
                  <a:schemeClr val="dk1"/>
                </a:solidFill>
                <a:latin typeface="Times New Roman"/>
                <a:ea typeface="Times New Roman"/>
                <a:cs typeface="Times New Roman"/>
                <a:sym typeface="Times New Roman"/>
              </a:rPr>
              <a:t> +1</a:t>
            </a:r>
            <a:r>
              <a:rPr lang="en-US" sz="1800" dirty="0">
                <a:solidFill>
                  <a:schemeClr val="dk1"/>
                </a:solidFill>
                <a:latin typeface="Times New Roman"/>
                <a:ea typeface="Times New Roman"/>
                <a:cs typeface="Times New Roman"/>
                <a:sym typeface="Times New Roman"/>
              </a:rPr>
              <a:t>) + </a:t>
            </a:r>
            <a:r>
              <a:rPr lang="en-US" sz="1800" dirty="0">
                <a:solidFill>
                  <a:schemeClr val="lt1"/>
                </a:solidFill>
                <a:latin typeface="Century Gothic"/>
                <a:ea typeface="Century Gothic"/>
                <a:cs typeface="Century Gothic"/>
                <a:sym typeface="Century Gothic"/>
              </a:rPr>
              <a:t> </a:t>
            </a:r>
            <a:r>
              <a:rPr lang="en-US" sz="1800" i="1" dirty="0">
                <a:solidFill>
                  <a:schemeClr val="dk1"/>
                </a:solidFill>
                <a:latin typeface="Times New Roman"/>
                <a:ea typeface="Times New Roman"/>
                <a:cs typeface="Times New Roman"/>
                <a:sym typeface="Times New Roman"/>
              </a:rPr>
              <a:t>r</a:t>
            </a:r>
            <a:r>
              <a:rPr lang="en-US" sz="1800" i="1" baseline="-25000" dirty="0">
                <a:solidFill>
                  <a:schemeClr val="dk1"/>
                </a:solidFill>
                <a:latin typeface="Times New Roman"/>
                <a:ea typeface="Times New Roman"/>
                <a:cs typeface="Times New Roman"/>
                <a:sym typeface="Times New Roman"/>
              </a:rPr>
              <a:t>t</a:t>
            </a:r>
            <a:r>
              <a:rPr lang="en-US" sz="1800" dirty="0">
                <a:solidFill>
                  <a:schemeClr val="lt1"/>
                </a:solidFill>
                <a:latin typeface="Century Gothic"/>
                <a:ea typeface="Century Gothic"/>
                <a:cs typeface="Century Gothic"/>
                <a:sym typeface="Century Gothic"/>
              </a:rPr>
              <a:t> </a:t>
            </a:r>
            <a:endParaRPr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25266F4-FFBF-8789-2DCA-E4FE0ABABB2B}"/>
                  </a:ext>
                </a:extLst>
              </p:cNvPr>
              <p:cNvSpPr txBox="1"/>
              <p:nvPr/>
            </p:nvSpPr>
            <p:spPr>
              <a:xfrm>
                <a:off x="2520367" y="3044839"/>
                <a:ext cx="246356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𝛾</m:t>
                      </m:r>
                      <m:r>
                        <a:rPr lang="en-US" sz="2000" b="0" i="1" smtClean="0">
                          <a:latin typeface="Cambria Math" panose="02040503050406030204" pitchFamily="18" charset="0"/>
                        </a:rPr>
                        <m:t>𝑉</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oMath>
                  </m:oMathPara>
                </a14:m>
                <a:endParaRPr lang="en-US" sz="2000" dirty="0"/>
              </a:p>
            </p:txBody>
          </p:sp>
        </mc:Choice>
        <mc:Fallback xmlns="">
          <p:sp>
            <p:nvSpPr>
              <p:cNvPr id="2" name="TextBox 1">
                <a:extLst>
                  <a:ext uri="{FF2B5EF4-FFF2-40B4-BE49-F238E27FC236}">
                    <a16:creationId xmlns:a16="http://schemas.microsoft.com/office/drawing/2014/main" id="{D25266F4-FFBF-8789-2DCA-E4FE0ABABB2B}"/>
                  </a:ext>
                </a:extLst>
              </p:cNvPr>
              <p:cNvSpPr txBox="1">
                <a:spLocks noRot="1" noChangeAspect="1" noMove="1" noResize="1" noEditPoints="1" noAdjustHandles="1" noChangeArrowheads="1" noChangeShapeType="1" noTextEdit="1"/>
              </p:cNvSpPr>
              <p:nvPr/>
            </p:nvSpPr>
            <p:spPr>
              <a:xfrm>
                <a:off x="2520367" y="3044839"/>
                <a:ext cx="2463560" cy="307777"/>
              </a:xfrm>
              <a:prstGeom prst="rect">
                <a:avLst/>
              </a:prstGeom>
              <a:blipFill>
                <a:blip r:embed="rId4"/>
                <a:stretch>
                  <a:fillRect l="-1538" r="-2564" b="-36000"/>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30"/>
        <p:cNvGrpSpPr/>
        <p:nvPr/>
      </p:nvGrpSpPr>
      <p:grpSpPr>
        <a:xfrm>
          <a:off x="0" y="0"/>
          <a:ext cx="0" cy="0"/>
          <a:chOff x="0" y="0"/>
          <a:chExt cx="0" cy="0"/>
        </a:xfrm>
      </p:grpSpPr>
      <p:sp>
        <p:nvSpPr>
          <p:cNvPr id="1831" name="Google Shape;1831;p62"/>
          <p:cNvSpPr txBox="1">
            <a:spLocks noGrp="1"/>
          </p:cNvSpPr>
          <p:nvPr>
            <p:ph type="body" idx="1"/>
          </p:nvPr>
        </p:nvSpPr>
        <p:spPr>
          <a:xfrm>
            <a:off x="1674800" y="1905000"/>
            <a:ext cx="5604300" cy="4267200"/>
          </a:xfrm>
          <a:prstGeom prst="rect">
            <a:avLst/>
          </a:prstGeom>
          <a:noFill/>
          <a:ln>
            <a:noFill/>
          </a:ln>
        </p:spPr>
        <p:txBody>
          <a:bodyPr spcFirstLastPara="1" wrap="square" lIns="91425" tIns="45700" rIns="91425" bIns="45700" anchor="t" anchorCtr="0">
            <a:noAutofit/>
          </a:bodyPr>
          <a:lstStyle/>
          <a:p>
            <a:pPr marL="457200" lvl="0" indent="-342900" algn="l" rtl="0">
              <a:spcBef>
                <a:spcPts val="0"/>
              </a:spcBef>
              <a:spcAft>
                <a:spcPts val="0"/>
              </a:spcAft>
              <a:buSzPts val="1800"/>
              <a:buChar char="●"/>
            </a:pPr>
            <a:r>
              <a:rPr lang="en-US" sz="1800"/>
              <a:t>Advantage Actor Critic: off-policy update</a:t>
            </a:r>
            <a:endParaRPr sz="1800"/>
          </a:p>
          <a:p>
            <a:pPr marL="0" lvl="0" indent="0" algn="l" rtl="0">
              <a:spcBef>
                <a:spcPts val="0"/>
              </a:spcBef>
              <a:spcAft>
                <a:spcPts val="0"/>
              </a:spcAft>
              <a:buNone/>
            </a:pPr>
            <a:endParaRPr sz="1800"/>
          </a:p>
          <a:p>
            <a:pPr marL="457200" lvl="1" indent="-342900" algn="l" rtl="0">
              <a:spcBef>
                <a:spcPts val="0"/>
              </a:spcBef>
              <a:spcAft>
                <a:spcPts val="0"/>
              </a:spcAft>
              <a:buSzPts val="1800"/>
              <a:buChar char="○"/>
            </a:pPr>
            <a:r>
              <a:rPr lang="en-US" sz="1800"/>
              <a:t>In this scenario, we will update the network at the end of the episode</a:t>
            </a:r>
            <a:br>
              <a:rPr lang="en-US" sz="1800"/>
            </a:br>
            <a:endParaRPr sz="1800"/>
          </a:p>
          <a:p>
            <a:pPr marL="457200" lvl="1" indent="-342900" algn="l" rtl="0">
              <a:spcBef>
                <a:spcPts val="0"/>
              </a:spcBef>
              <a:spcAft>
                <a:spcPts val="0"/>
              </a:spcAft>
              <a:buSzPts val="1800"/>
              <a:buChar char="○"/>
            </a:pPr>
            <a:r>
              <a:rPr lang="en-US" sz="1800"/>
              <a:t>For each time step , store the </a:t>
            </a:r>
            <a:r>
              <a:rPr lang="en-US" sz="1800">
                <a:solidFill>
                  <a:schemeClr val="dk1"/>
                </a:solidFill>
                <a:latin typeface="Times New Roman"/>
                <a:ea typeface="Times New Roman"/>
                <a:cs typeface="Times New Roman"/>
                <a:sym typeface="Times New Roman"/>
              </a:rPr>
              <a:t>s</a:t>
            </a:r>
            <a:r>
              <a:rPr lang="en-US" sz="1800" baseline="-25000">
                <a:solidFill>
                  <a:schemeClr val="dk1"/>
                </a:solidFill>
                <a:latin typeface="Times New Roman"/>
                <a:ea typeface="Times New Roman"/>
                <a:cs typeface="Times New Roman"/>
                <a:sym typeface="Times New Roman"/>
              </a:rPr>
              <a:t>t</a:t>
            </a:r>
            <a:r>
              <a:rPr lang="en-US" sz="1800"/>
              <a:t> , </a:t>
            </a:r>
            <a:r>
              <a:rPr lang="en-US" sz="1800" i="1">
                <a:solidFill>
                  <a:schemeClr val="dk1"/>
                </a:solidFill>
                <a:latin typeface="Times New Roman"/>
                <a:ea typeface="Times New Roman"/>
                <a:cs typeface="Times New Roman"/>
                <a:sym typeface="Times New Roman"/>
              </a:rPr>
              <a:t>r</a:t>
            </a:r>
            <a:r>
              <a:rPr lang="en-US" sz="1800" i="1" baseline="-25000">
                <a:solidFill>
                  <a:schemeClr val="dk1"/>
                </a:solidFill>
                <a:latin typeface="Times New Roman"/>
                <a:ea typeface="Times New Roman"/>
                <a:cs typeface="Times New Roman"/>
                <a:sym typeface="Times New Roman"/>
              </a:rPr>
              <a:t>t</a:t>
            </a:r>
            <a:r>
              <a:rPr lang="en-US" sz="1800"/>
              <a:t> and the predicted </a:t>
            </a:r>
            <a:r>
              <a:rPr lang="en-US" sz="1800" i="1">
                <a:solidFill>
                  <a:schemeClr val="dk1"/>
                </a:solidFill>
                <a:latin typeface="Times New Roman"/>
                <a:ea typeface="Times New Roman"/>
                <a:cs typeface="Times New Roman"/>
                <a:sym typeface="Times New Roman"/>
              </a:rPr>
              <a:t>V</a:t>
            </a:r>
            <a:r>
              <a:rPr lang="en-US" sz="1800">
                <a:solidFill>
                  <a:schemeClr val="dk1"/>
                </a:solidFill>
                <a:latin typeface="Times New Roman"/>
                <a:ea typeface="Times New Roman"/>
                <a:cs typeface="Times New Roman"/>
                <a:sym typeface="Times New Roman"/>
              </a:rPr>
              <a:t>(s</a:t>
            </a:r>
            <a:r>
              <a:rPr lang="en-US" sz="1800" baseline="-25000">
                <a:solidFill>
                  <a:schemeClr val="dk1"/>
                </a:solidFill>
                <a:latin typeface="Times New Roman"/>
                <a:ea typeface="Times New Roman"/>
                <a:cs typeface="Times New Roman"/>
                <a:sym typeface="Times New Roman"/>
              </a:rPr>
              <a:t>t </a:t>
            </a:r>
            <a:r>
              <a:rPr lang="en-US" sz="1800">
                <a:solidFill>
                  <a:schemeClr val="dk1"/>
                </a:solidFill>
                <a:latin typeface="Times New Roman"/>
                <a:ea typeface="Times New Roman"/>
                <a:cs typeface="Times New Roman"/>
                <a:sym typeface="Times New Roman"/>
              </a:rPr>
              <a:t>)</a:t>
            </a:r>
            <a:r>
              <a:rPr lang="en-US" sz="1800"/>
              <a:t>  </a:t>
            </a:r>
            <a:br>
              <a:rPr lang="en-US" sz="1800"/>
            </a:br>
            <a:endParaRPr sz="1800"/>
          </a:p>
          <a:p>
            <a:pPr marL="457200" lvl="1" indent="-342900" algn="l" rtl="0">
              <a:spcBef>
                <a:spcPts val="0"/>
              </a:spcBef>
              <a:spcAft>
                <a:spcPts val="0"/>
              </a:spcAft>
              <a:buSzPts val="1800"/>
              <a:buChar char="○"/>
            </a:pPr>
            <a:r>
              <a:rPr lang="en-US" sz="1800"/>
              <a:t>After the episode is finished, go backward and compute the discounted reward, at each timestep</a:t>
            </a:r>
            <a:br>
              <a:rPr lang="en-US" sz="1800"/>
            </a:br>
            <a:br>
              <a:rPr lang="en-US" sz="1800"/>
            </a:br>
            <a:br>
              <a:rPr lang="en-US" sz="1800"/>
            </a:br>
            <a:br>
              <a:rPr lang="en-US" sz="1800"/>
            </a:br>
            <a:r>
              <a:rPr lang="en-US" sz="1800"/>
              <a:t>Update the network using input: </a:t>
            </a:r>
            <a:r>
              <a:rPr lang="en-US" sz="1800">
                <a:solidFill>
                  <a:schemeClr val="dk1"/>
                </a:solidFill>
                <a:latin typeface="Times New Roman"/>
                <a:ea typeface="Times New Roman"/>
                <a:cs typeface="Times New Roman"/>
                <a:sym typeface="Times New Roman"/>
              </a:rPr>
              <a:t>s</a:t>
            </a:r>
            <a:r>
              <a:rPr lang="en-US" sz="1800" baseline="-25000">
                <a:solidFill>
                  <a:schemeClr val="dk1"/>
                </a:solidFill>
                <a:latin typeface="Times New Roman"/>
                <a:ea typeface="Times New Roman"/>
                <a:cs typeface="Times New Roman"/>
                <a:sym typeface="Times New Roman"/>
              </a:rPr>
              <a:t>t</a:t>
            </a:r>
            <a:r>
              <a:rPr lang="en-US" sz="1800"/>
              <a:t> and the target </a:t>
            </a:r>
            <a:r>
              <a:rPr lang="en-US" sz="1800" i="1">
                <a:solidFill>
                  <a:schemeClr val="dk1"/>
                </a:solidFill>
                <a:latin typeface="Times New Roman"/>
                <a:ea typeface="Times New Roman"/>
                <a:cs typeface="Times New Roman"/>
                <a:sym typeface="Times New Roman"/>
              </a:rPr>
              <a:t>Q(s</a:t>
            </a:r>
            <a:r>
              <a:rPr lang="en-US" sz="1800" i="1" baseline="-25000">
                <a:solidFill>
                  <a:schemeClr val="dk1"/>
                </a:solidFill>
                <a:latin typeface="Times New Roman"/>
                <a:ea typeface="Times New Roman"/>
                <a:cs typeface="Times New Roman"/>
                <a:sym typeface="Times New Roman"/>
              </a:rPr>
              <a:t>t</a:t>
            </a:r>
            <a:r>
              <a:rPr lang="en-US" sz="1800" i="1">
                <a:solidFill>
                  <a:schemeClr val="dk1"/>
                </a:solidFill>
                <a:latin typeface="Times New Roman"/>
                <a:ea typeface="Times New Roman"/>
                <a:cs typeface="Times New Roman"/>
                <a:sym typeface="Times New Roman"/>
              </a:rPr>
              <a:t>,a</a:t>
            </a:r>
            <a:r>
              <a:rPr lang="en-US" sz="1800" i="1" baseline="-25000">
                <a:solidFill>
                  <a:schemeClr val="dk1"/>
                </a:solidFill>
                <a:latin typeface="Times New Roman"/>
                <a:ea typeface="Times New Roman"/>
                <a:cs typeface="Times New Roman"/>
                <a:sym typeface="Times New Roman"/>
              </a:rPr>
              <a:t>t</a:t>
            </a:r>
            <a:r>
              <a:rPr lang="en-US" sz="1800" i="1">
                <a:solidFill>
                  <a:schemeClr val="dk1"/>
                </a:solidFill>
                <a:latin typeface="Times New Roman"/>
                <a:ea typeface="Times New Roman"/>
                <a:cs typeface="Times New Roman"/>
                <a:sym typeface="Times New Roman"/>
              </a:rPr>
              <a:t>)</a:t>
            </a:r>
            <a:r>
              <a:rPr lang="en-US" sz="1800"/>
              <a:t> </a:t>
            </a:r>
            <a:br>
              <a:rPr lang="en-US" sz="1800"/>
            </a:br>
            <a:endParaRPr sz="1800"/>
          </a:p>
          <a:p>
            <a:pPr marL="0" lvl="0" indent="0" algn="l" rtl="0">
              <a:spcBef>
                <a:spcPts val="0"/>
              </a:spcBef>
              <a:spcAft>
                <a:spcPts val="0"/>
              </a:spcAft>
              <a:buNone/>
            </a:pPr>
            <a:br>
              <a:rPr lang="en-US" sz="1800"/>
            </a:br>
            <a:endParaRPr sz="1800"/>
          </a:p>
          <a:p>
            <a:pPr marL="914400" lvl="0" indent="0" algn="l" rtl="0">
              <a:spcBef>
                <a:spcPts val="0"/>
              </a:spcBef>
              <a:spcAft>
                <a:spcPts val="0"/>
              </a:spcAft>
              <a:buNone/>
            </a:pPr>
            <a:br>
              <a:rPr lang="en-US" sz="1800"/>
            </a:br>
            <a:endParaRPr sz="1800"/>
          </a:p>
          <a:p>
            <a:pPr marL="914400" lvl="0" indent="0" algn="l" rtl="0">
              <a:spcBef>
                <a:spcPts val="0"/>
              </a:spcBef>
              <a:spcAft>
                <a:spcPts val="0"/>
              </a:spcAft>
              <a:buNone/>
            </a:pPr>
            <a:endParaRPr sz="1800"/>
          </a:p>
          <a:p>
            <a:pPr marL="914400" lvl="0" indent="0" algn="l" rtl="0">
              <a:spcBef>
                <a:spcPts val="0"/>
              </a:spcBef>
              <a:spcAft>
                <a:spcPts val="0"/>
              </a:spcAft>
              <a:buNone/>
            </a:pPr>
            <a:endParaRPr sz="1800"/>
          </a:p>
          <a:p>
            <a:pPr marL="548640" lvl="1" indent="-147320" algn="l" rtl="0">
              <a:lnSpc>
                <a:spcPct val="90000"/>
              </a:lnSpc>
              <a:spcBef>
                <a:spcPts val="600"/>
              </a:spcBef>
              <a:spcAft>
                <a:spcPts val="0"/>
              </a:spcAft>
              <a:buSzPts val="2000"/>
              <a:buNone/>
            </a:pPr>
            <a:endParaRPr/>
          </a:p>
        </p:txBody>
      </p:sp>
      <p:sp>
        <p:nvSpPr>
          <p:cNvPr id="1832" name="Google Shape;1832;p62"/>
          <p:cNvSpPr txBox="1">
            <a:spLocks noGrp="1"/>
          </p:cNvSpPr>
          <p:nvPr>
            <p:ph type="title"/>
          </p:nvPr>
        </p:nvSpPr>
        <p:spPr>
          <a:xfrm>
            <a:off x="1522414" y="274638"/>
            <a:ext cx="9144000" cy="1020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Gradient Policy Algorithm: detailed steps</a:t>
            </a:r>
            <a:endParaRPr/>
          </a:p>
        </p:txBody>
      </p:sp>
      <p:sp>
        <p:nvSpPr>
          <p:cNvPr id="1833" name="Google Shape;1833;p62"/>
          <p:cNvSpPr/>
          <p:nvPr/>
        </p:nvSpPr>
        <p:spPr>
          <a:xfrm>
            <a:off x="8218454" y="41766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34" name="Google Shape;1834;p62"/>
          <p:cNvSpPr/>
          <p:nvPr/>
        </p:nvSpPr>
        <p:spPr>
          <a:xfrm>
            <a:off x="8294655" y="42528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35" name="Google Shape;1835;p62"/>
          <p:cNvSpPr/>
          <p:nvPr/>
        </p:nvSpPr>
        <p:spPr>
          <a:xfrm>
            <a:off x="8370856" y="432905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1836" name="Google Shape;1836;p62"/>
          <p:cNvSpPr/>
          <p:nvPr/>
        </p:nvSpPr>
        <p:spPr>
          <a:xfrm>
            <a:off x="8466107" y="4393824"/>
            <a:ext cx="1230900" cy="677100"/>
          </a:xfrm>
          <a:prstGeom prst="rect">
            <a:avLst/>
          </a:prstGeom>
          <a:solidFill>
            <a:schemeClr val="lt1"/>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cxnSp>
        <p:nvCxnSpPr>
          <p:cNvPr id="1837" name="Google Shape;1837;p62"/>
          <p:cNvCxnSpPr>
            <a:stCxn id="1833" idx="0"/>
            <a:endCxn id="1838" idx="2"/>
          </p:cNvCxnSpPr>
          <p:nvPr/>
        </p:nvCxnSpPr>
        <p:spPr>
          <a:xfrm rot="10800000">
            <a:off x="8833904" y="3666954"/>
            <a:ext cx="0" cy="509700"/>
          </a:xfrm>
          <a:prstGeom prst="straightConnector1">
            <a:avLst/>
          </a:prstGeom>
          <a:noFill/>
          <a:ln w="25400" cap="flat" cmpd="sng">
            <a:solidFill>
              <a:schemeClr val="dk1"/>
            </a:solidFill>
            <a:prstDash val="solid"/>
            <a:miter lim="800000"/>
            <a:headEnd type="none" w="sm" len="sm"/>
            <a:tailEnd type="triangle" w="med" len="med"/>
          </a:ln>
        </p:spPr>
      </p:cxnSp>
      <p:cxnSp>
        <p:nvCxnSpPr>
          <p:cNvPr id="1839" name="Google Shape;1839;p62"/>
          <p:cNvCxnSpPr>
            <a:stCxn id="1838" idx="0"/>
            <a:endCxn id="1840" idx="2"/>
          </p:cNvCxnSpPr>
          <p:nvPr/>
        </p:nvCxnSpPr>
        <p:spPr>
          <a:xfrm rot="10800000">
            <a:off x="8833912" y="2811889"/>
            <a:ext cx="0" cy="465900"/>
          </a:xfrm>
          <a:prstGeom prst="straightConnector1">
            <a:avLst/>
          </a:prstGeom>
          <a:noFill/>
          <a:ln w="25400" cap="flat" cmpd="sng">
            <a:solidFill>
              <a:schemeClr val="dk1"/>
            </a:solidFill>
            <a:prstDash val="solid"/>
            <a:miter lim="800000"/>
            <a:headEnd type="none" w="sm" len="sm"/>
            <a:tailEnd type="triangle" w="med" len="med"/>
          </a:ln>
        </p:spPr>
      </p:cxnSp>
      <p:sp>
        <p:nvSpPr>
          <p:cNvPr id="1838" name="Google Shape;1838;p62"/>
          <p:cNvSpPr/>
          <p:nvPr/>
        </p:nvSpPr>
        <p:spPr>
          <a:xfrm>
            <a:off x="7805212" y="3277789"/>
            <a:ext cx="2057400" cy="389100"/>
          </a:xfrm>
          <a:prstGeom prst="rect">
            <a:avLst/>
          </a:prstGeom>
          <a:solidFill>
            <a:srgbClr val="BFBFBF"/>
          </a:solidFill>
          <a:ln w="12700" cap="flat" cmpd="sng">
            <a:solidFill>
              <a:srgbClr val="384B9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Century Gothic"/>
                <a:ea typeface="Century Gothic"/>
                <a:cs typeface="Century Gothic"/>
                <a:sym typeface="Century Gothic"/>
              </a:rPr>
              <a:t>Network – hidden layers</a:t>
            </a:r>
            <a:endParaRPr sz="1200">
              <a:solidFill>
                <a:schemeClr val="dk1"/>
              </a:solidFill>
              <a:latin typeface="Century Gothic"/>
              <a:ea typeface="Century Gothic"/>
              <a:cs typeface="Century Gothic"/>
              <a:sym typeface="Century Gothic"/>
            </a:endParaRPr>
          </a:p>
        </p:txBody>
      </p:sp>
      <p:sp>
        <p:nvSpPr>
          <p:cNvPr id="1841" name="Google Shape;1841;p62"/>
          <p:cNvSpPr txBox="1"/>
          <p:nvPr/>
        </p:nvSpPr>
        <p:spPr>
          <a:xfrm>
            <a:off x="8412700" y="1905000"/>
            <a:ext cx="994800" cy="59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FF0000"/>
                </a:solidFill>
                <a:latin typeface="Century Gothic"/>
                <a:ea typeface="Century Gothic"/>
                <a:cs typeface="Century Gothic"/>
                <a:sym typeface="Century Gothic"/>
              </a:rPr>
              <a:t>linear</a:t>
            </a:r>
            <a:endParaRPr>
              <a:solidFill>
                <a:srgbClr val="FF0000"/>
              </a:solidFill>
              <a:latin typeface="Century Gothic"/>
              <a:ea typeface="Century Gothic"/>
              <a:cs typeface="Century Gothic"/>
              <a:sym typeface="Century Gothic"/>
            </a:endParaRPr>
          </a:p>
        </p:txBody>
      </p:sp>
      <p:sp>
        <p:nvSpPr>
          <p:cNvPr id="1842" name="Google Shape;1842;p62"/>
          <p:cNvSpPr/>
          <p:nvPr/>
        </p:nvSpPr>
        <p:spPr>
          <a:xfrm>
            <a:off x="7805200" y="2302150"/>
            <a:ext cx="2264400" cy="465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i="1">
              <a:latin typeface="Times New Roman"/>
              <a:ea typeface="Times New Roman"/>
              <a:cs typeface="Times New Roman"/>
              <a:sym typeface="Times New Roman"/>
            </a:endParaRPr>
          </a:p>
        </p:txBody>
      </p:sp>
      <p:sp>
        <p:nvSpPr>
          <p:cNvPr id="1843" name="Google Shape;1843;p62"/>
          <p:cNvSpPr txBox="1"/>
          <p:nvPr/>
        </p:nvSpPr>
        <p:spPr>
          <a:xfrm>
            <a:off x="8817850" y="4442700"/>
            <a:ext cx="527400" cy="5970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US" sz="2200">
                <a:solidFill>
                  <a:schemeClr val="dk1"/>
                </a:solidFill>
                <a:latin typeface="Times New Roman"/>
                <a:ea typeface="Times New Roman"/>
                <a:cs typeface="Times New Roman"/>
                <a:sym typeface="Times New Roman"/>
              </a:rPr>
              <a:t>s</a:t>
            </a:r>
            <a:r>
              <a:rPr lang="en-US" sz="2200" baseline="-25000">
                <a:solidFill>
                  <a:schemeClr val="dk1"/>
                </a:solidFill>
                <a:latin typeface="Times New Roman"/>
                <a:ea typeface="Times New Roman"/>
                <a:cs typeface="Times New Roman"/>
                <a:sym typeface="Times New Roman"/>
              </a:rPr>
              <a:t>t</a:t>
            </a:r>
            <a:endParaRPr sz="1800"/>
          </a:p>
        </p:txBody>
      </p:sp>
      <p:sp>
        <p:nvSpPr>
          <p:cNvPr id="1844" name="Google Shape;1844;p62"/>
          <p:cNvSpPr txBox="1"/>
          <p:nvPr/>
        </p:nvSpPr>
        <p:spPr>
          <a:xfrm>
            <a:off x="7686100" y="2196550"/>
            <a:ext cx="2448000" cy="6771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US" sz="1800" i="1">
                <a:solidFill>
                  <a:schemeClr val="dk1"/>
                </a:solidFill>
                <a:latin typeface="Times New Roman"/>
                <a:ea typeface="Times New Roman"/>
                <a:cs typeface="Times New Roman"/>
                <a:sym typeface="Times New Roman"/>
              </a:rPr>
              <a:t>Q</a:t>
            </a:r>
            <a:r>
              <a:rPr lang="en-US" sz="1800">
                <a:solidFill>
                  <a:schemeClr val="dk1"/>
                </a:solidFill>
                <a:latin typeface="Times New Roman"/>
                <a:ea typeface="Times New Roman"/>
                <a:cs typeface="Times New Roman"/>
                <a:sym typeface="Times New Roman"/>
              </a:rPr>
              <a:t>(s</a:t>
            </a:r>
            <a:r>
              <a:rPr lang="en-US" sz="1800" baseline="-25000">
                <a:solidFill>
                  <a:schemeClr val="dk1"/>
                </a:solidFill>
                <a:latin typeface="Times New Roman"/>
                <a:ea typeface="Times New Roman"/>
                <a:cs typeface="Times New Roman"/>
                <a:sym typeface="Times New Roman"/>
              </a:rPr>
              <a:t>t </a:t>
            </a:r>
            <a:r>
              <a:rPr lang="en-US" sz="1800">
                <a:solidFill>
                  <a:schemeClr val="dk1"/>
                </a:solidFill>
                <a:latin typeface="Times New Roman"/>
                <a:ea typeface="Times New Roman"/>
                <a:cs typeface="Times New Roman"/>
                <a:sym typeface="Times New Roman"/>
              </a:rPr>
              <a:t>)  </a:t>
            </a:r>
            <a:br>
              <a:rPr lang="en-US" sz="1800">
                <a:solidFill>
                  <a:schemeClr val="dk1"/>
                </a:solidFill>
                <a:latin typeface="Times New Roman"/>
                <a:ea typeface="Times New Roman"/>
                <a:cs typeface="Times New Roman"/>
                <a:sym typeface="Times New Roman"/>
              </a:rPr>
            </a:br>
            <a:r>
              <a:rPr lang="en-US" sz="1800">
                <a:solidFill>
                  <a:schemeClr val="dk1"/>
                </a:solidFill>
                <a:latin typeface="Times New Roman"/>
                <a:ea typeface="Times New Roman"/>
                <a:cs typeface="Times New Roman"/>
                <a:sym typeface="Times New Roman"/>
              </a:rPr>
              <a:t>real discounted reward</a:t>
            </a:r>
            <a:endParaRPr/>
          </a:p>
        </p:txBody>
      </p:sp>
      <p:pic>
        <p:nvPicPr>
          <p:cNvPr id="1845" name="Google Shape;1845;p62" descr="&lt;math xmlns=&quot;http://www.w3.org/1998/Math/MathML&quot;&gt;&lt;mi&gt;Q&lt;/mi&gt;&lt;mfenced&gt;&lt;mrow&gt;&lt;msub&gt;&lt;mi&gt;s&lt;/mi&gt;&lt;mi&gt;t&lt;/mi&gt;&lt;/msub&gt;&lt;mo&gt;,&lt;/mo&gt;&lt;msub&gt;&lt;mi&gt;a&lt;/mi&gt;&lt;mi&gt;t&lt;/mi&gt;&lt;/msub&gt;&lt;/mrow&gt;&lt;/mfenced&gt;&lt;mo&gt;=&lt;/mo&gt;&lt;msub&gt;&lt;mi&gt;R&lt;/mi&gt;&lt;mrow&gt;&lt;mi&gt;t&lt;/mi&gt;&lt;mo&gt;-&lt;/mo&gt;&lt;mn&gt;1&lt;/mn&gt;&lt;/mrow&gt;&lt;/msub&gt;&lt;mo&gt;=&lt;/mo&gt;&lt;mi&gt;&amp;#x3B3;&lt;/mi&gt;&lt;msub&gt;&lt;mi&gt;R&lt;/mi&gt;&lt;mi&gt;t&lt;/mi&gt;&lt;/msub&gt;&lt;mo&gt;+&lt;/mo&gt;&lt;msub&gt;&lt;mi&gt;r&lt;/mi&gt;&lt;mrow&gt;&lt;mi&gt;t&lt;/mi&gt;&lt;mo&gt;-&lt;/mo&gt;&lt;mn&gt;1&lt;/mn&gt;&lt;/mrow&gt;&lt;/msub&gt;&lt;/math&gt;" title="Q open parentheses s subscript t comma a subscript t close parentheses equals R subscript t minus 1 end subscript equals gamma R subscript t plus r subscript t minus 1 end subscript"/>
          <p:cNvPicPr preferRelativeResize="0"/>
          <p:nvPr/>
        </p:nvPicPr>
        <p:blipFill>
          <a:blip r:embed="rId3">
            <a:alphaModFix/>
          </a:blip>
          <a:stretch>
            <a:fillRect/>
          </a:stretch>
        </p:blipFill>
        <p:spPr>
          <a:xfrm>
            <a:off x="2637975" y="4765600"/>
            <a:ext cx="3229561" cy="3891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75">
          <a:extLst>
            <a:ext uri="{FF2B5EF4-FFF2-40B4-BE49-F238E27FC236}">
              <a16:creationId xmlns:a16="http://schemas.microsoft.com/office/drawing/2014/main" id="{C64DBA24-399C-B9A2-2FB3-3321A4592561}"/>
            </a:ext>
          </a:extLst>
        </p:cNvPr>
        <p:cNvGrpSpPr/>
        <p:nvPr/>
      </p:nvGrpSpPr>
      <p:grpSpPr>
        <a:xfrm>
          <a:off x="0" y="0"/>
          <a:ext cx="0" cy="0"/>
          <a:chOff x="0" y="0"/>
          <a:chExt cx="0" cy="0"/>
        </a:xfrm>
      </p:grpSpPr>
      <p:sp>
        <p:nvSpPr>
          <p:cNvPr id="1676" name="Google Shape;1676;p49">
            <a:extLst>
              <a:ext uri="{FF2B5EF4-FFF2-40B4-BE49-F238E27FC236}">
                <a16:creationId xmlns:a16="http://schemas.microsoft.com/office/drawing/2014/main" id="{37F0D50E-7610-639C-7D72-29426A2D219D}"/>
              </a:ext>
            </a:extLst>
          </p:cNvPr>
          <p:cNvSpPr txBox="1">
            <a:spLocks noGrp="1"/>
          </p:cNvSpPr>
          <p:nvPr>
            <p:ph type="body" idx="1"/>
          </p:nvPr>
        </p:nvSpPr>
        <p:spPr>
          <a:xfrm>
            <a:off x="1522413" y="5102525"/>
            <a:ext cx="9143999" cy="10696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
        <p:nvSpPr>
          <p:cNvPr id="1677" name="Google Shape;1677;p49">
            <a:extLst>
              <a:ext uri="{FF2B5EF4-FFF2-40B4-BE49-F238E27FC236}">
                <a16:creationId xmlns:a16="http://schemas.microsoft.com/office/drawing/2014/main" id="{94775261-4E98-6F06-B68A-E121F8C98D41}"/>
              </a:ext>
            </a:extLst>
          </p:cNvPr>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dirty="0"/>
              <a:t>Implementation</a:t>
            </a:r>
            <a:endParaRPr dirty="0"/>
          </a:p>
        </p:txBody>
      </p:sp>
    </p:spTree>
    <p:extLst>
      <p:ext uri="{BB962C8B-B14F-4D97-AF65-F5344CB8AC3E}">
        <p14:creationId xmlns:p14="http://schemas.microsoft.com/office/powerpoint/2010/main" val="144429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639E4-A7E9-82C3-91A6-0ACC70D1199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11CDEC-C1CE-E09E-8253-205970E89842}"/>
              </a:ext>
            </a:extLst>
          </p:cNvPr>
          <p:cNvSpPr>
            <a:spLocks noGrp="1"/>
          </p:cNvSpPr>
          <p:nvPr>
            <p:ph type="title"/>
          </p:nvPr>
        </p:nvSpPr>
        <p:spPr/>
        <p:txBody>
          <a:bodyPr/>
          <a:lstStyle/>
          <a:p>
            <a:r>
              <a:rPr lang="en-US" dirty="0"/>
              <a:t>Implementation</a:t>
            </a:r>
          </a:p>
        </p:txBody>
      </p:sp>
      <p:sp>
        <p:nvSpPr>
          <p:cNvPr id="3" name="TextBox 2">
            <a:extLst>
              <a:ext uri="{FF2B5EF4-FFF2-40B4-BE49-F238E27FC236}">
                <a16:creationId xmlns:a16="http://schemas.microsoft.com/office/drawing/2014/main" id="{68C0A909-C925-77A7-67FA-44A0D7E316DF}"/>
              </a:ext>
            </a:extLst>
          </p:cNvPr>
          <p:cNvSpPr txBox="1"/>
          <p:nvPr/>
        </p:nvSpPr>
        <p:spPr>
          <a:xfrm>
            <a:off x="1504587" y="1828800"/>
            <a:ext cx="4912438" cy="5016758"/>
          </a:xfrm>
          <a:prstGeom prst="rect">
            <a:avLst/>
          </a:prstGeom>
          <a:noFill/>
        </p:spPr>
        <p:txBody>
          <a:bodyPr wrap="square">
            <a:spAutoFit/>
          </a:bodyPr>
          <a:lstStyle/>
          <a:p>
            <a:r>
              <a:rPr lang="en-US" sz="1800" dirty="0">
                <a:solidFill>
                  <a:schemeClr val="bg1"/>
                </a:solidFill>
              </a:rPr>
              <a:t>Lunar Lander environment:</a:t>
            </a:r>
          </a:p>
          <a:p>
            <a:endParaRPr lang="en-US" sz="1600" dirty="0">
              <a:solidFill>
                <a:schemeClr val="bg1"/>
              </a:solidFill>
              <a:latin typeface="Arial" panose="020B0604020202020204" pitchFamily="34" charset="0"/>
              <a:cs typeface="Arial" panose="020B0604020202020204" pitchFamily="34" charset="0"/>
            </a:endParaRPr>
          </a:p>
          <a:p>
            <a:pPr algn="l"/>
            <a:r>
              <a:rPr lang="en-US" sz="1600" b="1" i="0" u="none" strike="noStrike" dirty="0">
                <a:solidFill>
                  <a:schemeClr val="bg1"/>
                </a:solidFill>
                <a:effectLst/>
                <a:latin typeface="Arial" panose="020B0604020202020204" pitchFamily="34" charset="0"/>
                <a:cs typeface="Arial" panose="020B0604020202020204" pitchFamily="34" charset="0"/>
              </a:rPr>
              <a:t>Action Space</a:t>
            </a:r>
          </a:p>
          <a:p>
            <a:pPr algn="l"/>
            <a:endParaRPr lang="en-US" sz="1600" b="1" i="0" u="none" strike="noStrike" dirty="0">
              <a:solidFill>
                <a:schemeClr val="bg1"/>
              </a:solidFill>
              <a:effectLst/>
              <a:latin typeface="Arial" panose="020B0604020202020204" pitchFamily="34" charset="0"/>
              <a:cs typeface="Arial" panose="020B0604020202020204" pitchFamily="34" charset="0"/>
            </a:endParaRPr>
          </a:p>
          <a:p>
            <a:pPr algn="l"/>
            <a:r>
              <a:rPr lang="en-US" sz="1600" b="0" i="0" u="none" strike="noStrike" dirty="0">
                <a:solidFill>
                  <a:schemeClr val="bg1"/>
                </a:solidFill>
                <a:effectLst/>
                <a:latin typeface="Arial" panose="020B0604020202020204" pitchFamily="34" charset="0"/>
                <a:cs typeface="Arial" panose="020B0604020202020204" pitchFamily="34" charset="0"/>
              </a:rPr>
              <a:t>There are four discrete actions available:</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0: do nothing</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1: fire left orientation engine</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2: fire main engine</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3: fire right orientation engine</a:t>
            </a:r>
          </a:p>
          <a:p>
            <a:endParaRPr lang="en-US" sz="1600" dirty="0">
              <a:solidFill>
                <a:schemeClr val="bg1"/>
              </a:solidFill>
              <a:latin typeface="Arial" panose="020B0604020202020204" pitchFamily="34" charset="0"/>
              <a:cs typeface="Arial" panose="020B0604020202020204" pitchFamily="34" charset="0"/>
            </a:endParaRPr>
          </a:p>
          <a:p>
            <a:pPr algn="l"/>
            <a:r>
              <a:rPr lang="en-US" sz="1600" b="1" i="0" u="none" strike="noStrike" dirty="0">
                <a:solidFill>
                  <a:schemeClr val="bg1"/>
                </a:solidFill>
                <a:effectLst/>
                <a:latin typeface="Arial" panose="020B0604020202020204" pitchFamily="34" charset="0"/>
                <a:cs typeface="Arial" panose="020B0604020202020204" pitchFamily="34" charset="0"/>
              </a:rPr>
              <a:t>Observation Space</a:t>
            </a:r>
          </a:p>
          <a:p>
            <a:pPr algn="l"/>
            <a:endParaRPr lang="en-US" sz="1600" b="1" i="0" u="none" strike="noStrike" dirty="0">
              <a:solidFill>
                <a:schemeClr val="bg1"/>
              </a:solidFill>
              <a:effectLst/>
              <a:latin typeface="Arial" panose="020B0604020202020204" pitchFamily="34" charset="0"/>
              <a:cs typeface="Arial" panose="020B0604020202020204" pitchFamily="34" charset="0"/>
            </a:endParaRPr>
          </a:p>
          <a:p>
            <a:pPr algn="l"/>
            <a:r>
              <a:rPr lang="en-US" sz="1600" b="0" i="0" u="none" strike="noStrike" dirty="0">
                <a:solidFill>
                  <a:schemeClr val="bg1"/>
                </a:solidFill>
                <a:effectLst/>
                <a:latin typeface="Arial" panose="020B0604020202020204" pitchFamily="34" charset="0"/>
                <a:cs typeface="Arial" panose="020B0604020202020204" pitchFamily="34" charset="0"/>
              </a:rPr>
              <a:t>The state is an 8-dimensional vector: </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the coordinates of the lander in x &amp; y,</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its linear velocities in x&amp; y, </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its angle, </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its angular velocity, </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two </a:t>
            </a:r>
            <a:r>
              <a:rPr lang="en-US" sz="1600" b="0" i="0" u="none" strike="noStrike" dirty="0" err="1">
                <a:solidFill>
                  <a:schemeClr val="bg1"/>
                </a:solidFill>
                <a:effectLst/>
                <a:latin typeface="Arial" panose="020B0604020202020204" pitchFamily="34" charset="0"/>
                <a:cs typeface="Arial" panose="020B0604020202020204" pitchFamily="34" charset="0"/>
              </a:rPr>
              <a:t>booleans</a:t>
            </a:r>
            <a:r>
              <a:rPr lang="en-US" sz="1600" b="0" i="0" u="none" strike="noStrike" dirty="0">
                <a:solidFill>
                  <a:schemeClr val="bg1"/>
                </a:solidFill>
                <a:effectLst/>
                <a:latin typeface="Arial" panose="020B0604020202020204" pitchFamily="34" charset="0"/>
                <a:cs typeface="Arial" panose="020B0604020202020204" pitchFamily="34" charset="0"/>
              </a:rPr>
              <a:t> that represent whether each leg is in contact with the ground or not.</a:t>
            </a:r>
          </a:p>
          <a:p>
            <a:endParaRPr lang="en-US" dirty="0">
              <a:solidFill>
                <a:schemeClr val="bg1"/>
              </a:solidFill>
            </a:endParaRPr>
          </a:p>
        </p:txBody>
      </p:sp>
      <p:sp>
        <p:nvSpPr>
          <p:cNvPr id="7" name="TextBox 6">
            <a:extLst>
              <a:ext uri="{FF2B5EF4-FFF2-40B4-BE49-F238E27FC236}">
                <a16:creationId xmlns:a16="http://schemas.microsoft.com/office/drawing/2014/main" id="{CCA79812-C7B8-0494-1807-2981D74BF7BE}"/>
              </a:ext>
            </a:extLst>
          </p:cNvPr>
          <p:cNvSpPr txBox="1"/>
          <p:nvPr/>
        </p:nvSpPr>
        <p:spPr>
          <a:xfrm>
            <a:off x="5462650" y="6444862"/>
            <a:ext cx="6301092" cy="276999"/>
          </a:xfrm>
          <a:prstGeom prst="rect">
            <a:avLst/>
          </a:prstGeom>
          <a:noFill/>
        </p:spPr>
        <p:txBody>
          <a:bodyPr wrap="square">
            <a:spAutoFit/>
          </a:bodyPr>
          <a:lstStyle/>
          <a:p>
            <a:r>
              <a:rPr lang="en-US" sz="1200" dirty="0"/>
              <a:t>image &amp; text  from: https://</a:t>
            </a:r>
            <a:r>
              <a:rPr lang="en-US" sz="1200" dirty="0" err="1"/>
              <a:t>gymnasium.farama.org</a:t>
            </a:r>
            <a:r>
              <a:rPr lang="en-US" sz="1200" dirty="0"/>
              <a:t>/environments/box2d/</a:t>
            </a:r>
            <a:r>
              <a:rPr lang="en-US" sz="1200" dirty="0" err="1"/>
              <a:t>lunar_lander</a:t>
            </a:r>
            <a:r>
              <a:rPr lang="en-US" sz="1200" dirty="0"/>
              <a:t>/</a:t>
            </a:r>
          </a:p>
        </p:txBody>
      </p:sp>
      <p:pic>
        <p:nvPicPr>
          <p:cNvPr id="1026" name="Picture 2">
            <a:extLst>
              <a:ext uri="{FF2B5EF4-FFF2-40B4-BE49-F238E27FC236}">
                <a16:creationId xmlns:a16="http://schemas.microsoft.com/office/drawing/2014/main" id="{58D0B143-4C9F-65FE-5471-8EDC4E90A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7025" y="1828800"/>
            <a:ext cx="5220792" cy="3480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197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8A43D-20AE-5BE4-1434-FE0AA65509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604D3E-7C97-D09A-8E0F-E6FF1274C918}"/>
              </a:ext>
            </a:extLst>
          </p:cNvPr>
          <p:cNvSpPr>
            <a:spLocks noGrp="1"/>
          </p:cNvSpPr>
          <p:nvPr>
            <p:ph type="title"/>
          </p:nvPr>
        </p:nvSpPr>
        <p:spPr/>
        <p:txBody>
          <a:bodyPr/>
          <a:lstStyle/>
          <a:p>
            <a:r>
              <a:rPr lang="en-US" dirty="0"/>
              <a:t>Implementation</a:t>
            </a:r>
          </a:p>
        </p:txBody>
      </p:sp>
      <p:sp>
        <p:nvSpPr>
          <p:cNvPr id="3" name="TextBox 2">
            <a:extLst>
              <a:ext uri="{FF2B5EF4-FFF2-40B4-BE49-F238E27FC236}">
                <a16:creationId xmlns:a16="http://schemas.microsoft.com/office/drawing/2014/main" id="{B2740D72-CCB2-33B8-543A-B941CF883D23}"/>
              </a:ext>
            </a:extLst>
          </p:cNvPr>
          <p:cNvSpPr txBox="1"/>
          <p:nvPr/>
        </p:nvSpPr>
        <p:spPr>
          <a:xfrm>
            <a:off x="1414489" y="1555668"/>
            <a:ext cx="9753222" cy="5262979"/>
          </a:xfrm>
          <a:prstGeom prst="rect">
            <a:avLst/>
          </a:prstGeom>
          <a:noFill/>
        </p:spPr>
        <p:txBody>
          <a:bodyPr wrap="square">
            <a:spAutoFit/>
          </a:bodyPr>
          <a:lstStyle/>
          <a:p>
            <a:r>
              <a:rPr lang="en-US" sz="1800" dirty="0">
                <a:solidFill>
                  <a:schemeClr val="bg1"/>
                </a:solidFill>
                <a:latin typeface="Arial" panose="020B0604020202020204" pitchFamily="34" charset="0"/>
                <a:cs typeface="Arial" panose="020B0604020202020204" pitchFamily="34" charset="0"/>
              </a:rPr>
              <a:t>Lunar Lander environment:</a:t>
            </a:r>
          </a:p>
          <a:p>
            <a:endParaRPr lang="en-US" sz="1600" dirty="0">
              <a:solidFill>
                <a:schemeClr val="bg1"/>
              </a:solidFill>
              <a:latin typeface="Arial" panose="020B0604020202020204" pitchFamily="34" charset="0"/>
              <a:cs typeface="Arial" panose="020B0604020202020204" pitchFamily="34" charset="0"/>
            </a:endParaRPr>
          </a:p>
          <a:p>
            <a:pPr algn="l"/>
            <a:r>
              <a:rPr lang="en-US" sz="1600" b="1" i="0" u="none" strike="noStrike" dirty="0">
                <a:solidFill>
                  <a:schemeClr val="bg1"/>
                </a:solidFill>
                <a:effectLst/>
                <a:latin typeface="Arial" panose="020B0604020202020204" pitchFamily="34" charset="0"/>
                <a:cs typeface="Arial" panose="020B0604020202020204" pitchFamily="34" charset="0"/>
              </a:rPr>
              <a:t>Rewards</a:t>
            </a:r>
          </a:p>
          <a:p>
            <a:pPr algn="l"/>
            <a:r>
              <a:rPr lang="en-US" sz="1600" b="0" i="0" u="none" strike="noStrike" dirty="0">
                <a:solidFill>
                  <a:schemeClr val="bg1"/>
                </a:solidFill>
                <a:effectLst/>
                <a:latin typeface="Arial" panose="020B0604020202020204" pitchFamily="34" charset="0"/>
                <a:cs typeface="Arial" panose="020B0604020202020204" pitchFamily="34" charset="0"/>
              </a:rPr>
              <a:t>After every step a reward is granted. The total reward of an episode is the sum of the rewards for all the steps within that episode.</a:t>
            </a:r>
          </a:p>
          <a:p>
            <a:pPr algn="l"/>
            <a:r>
              <a:rPr lang="en-US" sz="1600" b="0" i="0" u="none" strike="noStrike" dirty="0">
                <a:solidFill>
                  <a:schemeClr val="bg1"/>
                </a:solidFill>
                <a:effectLst/>
                <a:latin typeface="Arial" panose="020B0604020202020204" pitchFamily="34" charset="0"/>
                <a:cs typeface="Arial" panose="020B0604020202020204" pitchFamily="34" charset="0"/>
              </a:rPr>
              <a:t>For each step, the reward:</a:t>
            </a:r>
            <a:br>
              <a:rPr lang="en-US" sz="1600" b="0" i="0" u="none" strike="noStrike" dirty="0">
                <a:solidFill>
                  <a:schemeClr val="bg1"/>
                </a:solidFill>
                <a:effectLst/>
                <a:latin typeface="Arial" panose="020B0604020202020204" pitchFamily="34" charset="0"/>
                <a:cs typeface="Arial" panose="020B0604020202020204" pitchFamily="34" charset="0"/>
              </a:rPr>
            </a:br>
            <a:endParaRPr lang="en-US" sz="1600" b="0" i="0" u="none" strike="noStrike" dirty="0">
              <a:solidFill>
                <a:schemeClr val="bg1"/>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is increased/decreased the closer/further the lander is to the landing pad.</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is increased/decreased the slower/faster the lander is moving.</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is decreased the more the lander is tilted (angle not horizontal).</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is increased by 10 points for each leg that is in contact with the ground.</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is decreased by 0.03 points each frame a side engine is firing.</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is decreased by 0.3 points each frame the main engine is firing.</a:t>
            </a:r>
          </a:p>
          <a:p>
            <a:pPr marL="285750" indent="-285750" algn="l">
              <a:buFont typeface="Arial" panose="020B0604020202020204" pitchFamily="34" charset="0"/>
              <a:buChar char="•"/>
            </a:pPr>
            <a:r>
              <a:rPr lang="en-US" sz="1600" b="0" i="0" u="none" strike="noStrike" dirty="0">
                <a:solidFill>
                  <a:schemeClr val="bg1"/>
                </a:solidFill>
                <a:effectLst/>
                <a:latin typeface="Arial" panose="020B0604020202020204" pitchFamily="34" charset="0"/>
                <a:cs typeface="Arial" panose="020B0604020202020204" pitchFamily="34" charset="0"/>
              </a:rPr>
              <a:t>The episode receives an additional reward of -100 or +100 points for crashing or landing safely respectively.</a:t>
            </a:r>
          </a:p>
          <a:p>
            <a:pPr algn="l"/>
            <a:endParaRPr lang="en-US" sz="1600" b="0" i="0" u="none" strike="noStrike" dirty="0">
              <a:solidFill>
                <a:schemeClr val="bg1"/>
              </a:solidFill>
              <a:effectLst/>
              <a:latin typeface="Arial" panose="020B0604020202020204" pitchFamily="34" charset="0"/>
              <a:cs typeface="Arial" panose="020B0604020202020204" pitchFamily="34" charset="0"/>
            </a:endParaRPr>
          </a:p>
          <a:p>
            <a:pPr algn="l"/>
            <a:r>
              <a:rPr lang="en-US" sz="1600" b="0" i="0" u="none" strike="noStrike" dirty="0">
                <a:solidFill>
                  <a:schemeClr val="bg1"/>
                </a:solidFill>
                <a:effectLst/>
                <a:latin typeface="Arial" panose="020B0604020202020204" pitchFamily="34" charset="0"/>
                <a:cs typeface="Arial" panose="020B0604020202020204" pitchFamily="34" charset="0"/>
              </a:rPr>
              <a:t>An episode is considered a solution if it scores at least 200 points</a:t>
            </a:r>
          </a:p>
          <a:p>
            <a:pPr algn="l"/>
            <a:r>
              <a:rPr lang="en-US" sz="1600" b="0" i="0" u="none" strike="noStrike" dirty="0">
                <a:solidFill>
                  <a:schemeClr val="bg1"/>
                </a:solidFill>
                <a:effectLst/>
                <a:latin typeface="Arial" panose="020B0604020202020204" pitchFamily="34" charset="0"/>
                <a:cs typeface="Arial" panose="020B0604020202020204" pitchFamily="34" charset="0"/>
              </a:rPr>
              <a:t>The episode finishes if:</a:t>
            </a:r>
          </a:p>
          <a:p>
            <a:pPr marL="342900" indent="-342900" algn="l">
              <a:buFont typeface="+mj-lt"/>
              <a:buAutoNum type="arabicPeriod"/>
            </a:pPr>
            <a:r>
              <a:rPr lang="en-US" sz="1600" b="0" i="0" u="none" strike="noStrike" dirty="0">
                <a:solidFill>
                  <a:schemeClr val="bg1"/>
                </a:solidFill>
                <a:effectLst/>
                <a:latin typeface="Arial" panose="020B0604020202020204" pitchFamily="34" charset="0"/>
                <a:cs typeface="Arial" panose="020B0604020202020204" pitchFamily="34" charset="0"/>
              </a:rPr>
              <a:t>the lander crashes (the lander body gets in contact with the moon);</a:t>
            </a:r>
          </a:p>
          <a:p>
            <a:pPr marL="342900" indent="-342900" algn="l">
              <a:buFont typeface="+mj-lt"/>
              <a:buAutoNum type="arabicPeriod"/>
            </a:pPr>
            <a:r>
              <a:rPr lang="en-US" sz="1600" b="0" i="0" u="none" strike="noStrike" dirty="0">
                <a:solidFill>
                  <a:schemeClr val="bg1"/>
                </a:solidFill>
                <a:effectLst/>
                <a:latin typeface="Arial" panose="020B0604020202020204" pitchFamily="34" charset="0"/>
                <a:cs typeface="Arial" panose="020B0604020202020204" pitchFamily="34" charset="0"/>
              </a:rPr>
              <a:t>the lander gets outside of the viewport (x coordinate is greater than 1);</a:t>
            </a:r>
          </a:p>
          <a:p>
            <a:endParaRPr lang="en-US" sz="1600" dirty="0">
              <a:solidFill>
                <a:schemeClr val="bg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ED748F5-D3B1-5B9A-DD70-F0BBE2FCB599}"/>
              </a:ext>
            </a:extLst>
          </p:cNvPr>
          <p:cNvSpPr txBox="1"/>
          <p:nvPr/>
        </p:nvSpPr>
        <p:spPr>
          <a:xfrm>
            <a:off x="6291100" y="6444862"/>
            <a:ext cx="5472641" cy="276999"/>
          </a:xfrm>
          <a:prstGeom prst="rect">
            <a:avLst/>
          </a:prstGeom>
          <a:noFill/>
        </p:spPr>
        <p:txBody>
          <a:bodyPr wrap="square">
            <a:spAutoFit/>
          </a:bodyPr>
          <a:lstStyle/>
          <a:p>
            <a:r>
              <a:rPr lang="en-US" sz="1200" dirty="0"/>
              <a:t>text from: https://</a:t>
            </a:r>
            <a:r>
              <a:rPr lang="en-US" sz="1200" dirty="0" err="1"/>
              <a:t>gymnasium.farama.org</a:t>
            </a:r>
            <a:r>
              <a:rPr lang="en-US" sz="1200" dirty="0"/>
              <a:t>/environments/box2d/</a:t>
            </a:r>
            <a:r>
              <a:rPr lang="en-US" sz="1200" dirty="0" err="1"/>
              <a:t>lunar_lander</a:t>
            </a:r>
            <a:r>
              <a:rPr lang="en-US" sz="1200" dirty="0"/>
              <a:t>/</a:t>
            </a:r>
          </a:p>
        </p:txBody>
      </p:sp>
    </p:spTree>
    <p:extLst>
      <p:ext uri="{BB962C8B-B14F-4D97-AF65-F5344CB8AC3E}">
        <p14:creationId xmlns:p14="http://schemas.microsoft.com/office/powerpoint/2010/main" val="2139377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69083A3E-CD3D-42AF-CC37-98BB6AE6A708}"/>
              </a:ext>
            </a:extLst>
          </p:cNvPr>
          <p:cNvSpPr/>
          <p:nvPr/>
        </p:nvSpPr>
        <p:spPr>
          <a:xfrm>
            <a:off x="1522414" y="2351088"/>
            <a:ext cx="9144000" cy="27051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err="1">
                <a:solidFill>
                  <a:srgbClr val="4EC9B0"/>
                </a:solidFill>
                <a:effectLst/>
                <a:latin typeface="Consolas" panose="020B0609020204030204" pitchFamily="49" charset="0"/>
                <a:cs typeface="Consolas" panose="020B0609020204030204" pitchFamily="49" charset="0"/>
              </a:rPr>
              <a:t>os</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EC9B0"/>
                </a:solidFill>
                <a:effectLst/>
                <a:latin typeface="Consolas" panose="020B0609020204030204" pitchFamily="49" charset="0"/>
                <a:cs typeface="Consolas" panose="020B0609020204030204" pitchFamily="49" charset="0"/>
              </a:rPr>
              <a:t>torch</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err="1">
                <a:solidFill>
                  <a:srgbClr val="4EC9B0"/>
                </a:solidFill>
                <a:effectLst/>
                <a:latin typeface="Consolas" panose="020B0609020204030204" pitchFamily="49" charset="0"/>
                <a:cs typeface="Consolas" panose="020B0609020204030204" pitchFamily="49" charset="0"/>
              </a:rPr>
              <a:t>torch</a:t>
            </a:r>
            <a:r>
              <a:rPr lang="en-US" sz="1600" b="0" dirty="0" err="1">
                <a:solidFill>
                  <a:srgbClr val="CCCCCC"/>
                </a:solidFill>
                <a:effectLst/>
                <a:latin typeface="Consolas" panose="020B0609020204030204" pitchFamily="49" charset="0"/>
                <a:cs typeface="Consolas" panose="020B0609020204030204" pitchFamily="49" charset="0"/>
              </a:rPr>
              <a:t>.</a:t>
            </a:r>
            <a:r>
              <a:rPr lang="en-US" sz="1600" b="0" dirty="0" err="1">
                <a:solidFill>
                  <a:srgbClr val="4EC9B0"/>
                </a:solidFill>
                <a:effectLst/>
                <a:latin typeface="Consolas" panose="020B0609020204030204" pitchFamily="49" charset="0"/>
                <a:cs typeface="Consolas" panose="020B0609020204030204" pitchFamily="49" charset="0"/>
              </a:rPr>
              <a:t>nn</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C586C0"/>
                </a:solidFill>
                <a:effectLst/>
                <a:latin typeface="Consolas" panose="020B0609020204030204" pitchFamily="49" charset="0"/>
                <a:cs typeface="Consolas" panose="020B0609020204030204" pitchFamily="49" charset="0"/>
              </a:rPr>
              <a:t>as</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err="1">
                <a:solidFill>
                  <a:srgbClr val="4EC9B0"/>
                </a:solidFill>
                <a:effectLst/>
                <a:latin typeface="Consolas" panose="020B0609020204030204" pitchFamily="49" charset="0"/>
                <a:cs typeface="Consolas" panose="020B0609020204030204" pitchFamily="49" charset="0"/>
              </a:rPr>
              <a:t>nn</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err="1">
                <a:solidFill>
                  <a:srgbClr val="4EC9B0"/>
                </a:solidFill>
                <a:effectLst/>
                <a:latin typeface="Consolas" panose="020B0609020204030204" pitchFamily="49" charset="0"/>
                <a:cs typeface="Consolas" panose="020B0609020204030204" pitchFamily="49" charset="0"/>
              </a:rPr>
              <a:t>torch</a:t>
            </a:r>
            <a:r>
              <a:rPr lang="en-US" sz="1600" b="0" dirty="0" err="1">
                <a:solidFill>
                  <a:srgbClr val="CCCCCC"/>
                </a:solidFill>
                <a:effectLst/>
                <a:latin typeface="Consolas" panose="020B0609020204030204" pitchFamily="49" charset="0"/>
                <a:cs typeface="Consolas" panose="020B0609020204030204" pitchFamily="49" charset="0"/>
              </a:rPr>
              <a:t>.</a:t>
            </a:r>
            <a:r>
              <a:rPr lang="en-US" sz="1600" b="0" dirty="0" err="1">
                <a:solidFill>
                  <a:srgbClr val="4EC9B0"/>
                </a:solidFill>
                <a:effectLst/>
                <a:latin typeface="Consolas" panose="020B0609020204030204" pitchFamily="49" charset="0"/>
                <a:cs typeface="Consolas" panose="020B0609020204030204" pitchFamily="49" charset="0"/>
              </a:rPr>
              <a:t>optim</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C586C0"/>
                </a:solidFill>
                <a:effectLst/>
                <a:latin typeface="Consolas" panose="020B0609020204030204" pitchFamily="49" charset="0"/>
                <a:cs typeface="Consolas" panose="020B0609020204030204" pitchFamily="49" charset="0"/>
              </a:rPr>
              <a:t>as</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err="1">
                <a:solidFill>
                  <a:srgbClr val="4EC9B0"/>
                </a:solidFill>
                <a:effectLst/>
                <a:latin typeface="Consolas" panose="020B0609020204030204" pitchFamily="49" charset="0"/>
                <a:cs typeface="Consolas" panose="020B0609020204030204" pitchFamily="49" charset="0"/>
              </a:rPr>
              <a:t>optim</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err="1">
                <a:solidFill>
                  <a:srgbClr val="4EC9B0"/>
                </a:solidFill>
                <a:effectLst/>
                <a:latin typeface="Consolas" panose="020B0609020204030204" pitchFamily="49" charset="0"/>
                <a:cs typeface="Consolas" panose="020B0609020204030204" pitchFamily="49" charset="0"/>
              </a:rPr>
              <a:t>torch</a:t>
            </a:r>
            <a:r>
              <a:rPr lang="en-US" sz="1600" b="0" dirty="0" err="1">
                <a:solidFill>
                  <a:srgbClr val="CCCCCC"/>
                </a:solidFill>
                <a:effectLst/>
                <a:latin typeface="Consolas" panose="020B0609020204030204" pitchFamily="49" charset="0"/>
                <a:cs typeface="Consolas" panose="020B0609020204030204" pitchFamily="49" charset="0"/>
              </a:rPr>
              <a:t>.</a:t>
            </a:r>
            <a:r>
              <a:rPr lang="en-US" sz="1600" b="0" dirty="0" err="1">
                <a:solidFill>
                  <a:srgbClr val="4EC9B0"/>
                </a:solidFill>
                <a:effectLst/>
                <a:latin typeface="Consolas" panose="020B0609020204030204" pitchFamily="49" charset="0"/>
                <a:cs typeface="Consolas" panose="020B0609020204030204" pitchFamily="49" charset="0"/>
              </a:rPr>
              <a:t>nn</a:t>
            </a:r>
            <a:r>
              <a:rPr lang="en-US" sz="1600" b="0" dirty="0" err="1">
                <a:solidFill>
                  <a:srgbClr val="CCCCCC"/>
                </a:solidFill>
                <a:effectLst/>
                <a:latin typeface="Consolas" panose="020B0609020204030204" pitchFamily="49" charset="0"/>
                <a:cs typeface="Consolas" panose="020B0609020204030204" pitchFamily="49" charset="0"/>
              </a:rPr>
              <a:t>.</a:t>
            </a:r>
            <a:r>
              <a:rPr lang="en-US" sz="1600" b="0" dirty="0" err="1">
                <a:solidFill>
                  <a:srgbClr val="4EC9B0"/>
                </a:solidFill>
                <a:effectLst/>
                <a:latin typeface="Consolas" panose="020B0609020204030204" pitchFamily="49" charset="0"/>
                <a:cs typeface="Consolas" panose="020B0609020204030204" pitchFamily="49" charset="0"/>
              </a:rPr>
              <a:t>functional</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C586C0"/>
                </a:solidFill>
                <a:effectLst/>
                <a:latin typeface="Consolas" panose="020B0609020204030204" pitchFamily="49" charset="0"/>
                <a:cs typeface="Consolas" panose="020B0609020204030204" pitchFamily="49" charset="0"/>
              </a:rPr>
              <a:t>as</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EC9B0"/>
                </a:solidFill>
                <a:effectLst/>
                <a:latin typeface="Consolas" panose="020B0609020204030204" pitchFamily="49" charset="0"/>
                <a:cs typeface="Consolas" panose="020B0609020204030204" pitchFamily="49" charset="0"/>
              </a:rPr>
              <a:t>F</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EC9B0"/>
                </a:solidFill>
                <a:effectLst/>
                <a:latin typeface="Consolas" panose="020B0609020204030204" pitchFamily="49" charset="0"/>
                <a:cs typeface="Consolas" panose="020B0609020204030204" pitchFamily="49" charset="0"/>
              </a:rPr>
              <a:t>gymnasium</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C586C0"/>
                </a:solidFill>
                <a:effectLst/>
                <a:latin typeface="Consolas" panose="020B0609020204030204" pitchFamily="49" charset="0"/>
                <a:cs typeface="Consolas" panose="020B0609020204030204" pitchFamily="49" charset="0"/>
              </a:rPr>
              <a:t>as</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EC9B0"/>
                </a:solidFill>
                <a:effectLst/>
                <a:latin typeface="Consolas" panose="020B0609020204030204" pitchFamily="49" charset="0"/>
                <a:cs typeface="Consolas" panose="020B0609020204030204" pitchFamily="49" charset="0"/>
              </a:rPr>
              <a:t>gym</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from</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err="1">
                <a:solidFill>
                  <a:srgbClr val="4EC9B0"/>
                </a:solidFill>
                <a:effectLst/>
                <a:latin typeface="Consolas" panose="020B0609020204030204" pitchFamily="49" charset="0"/>
                <a:cs typeface="Consolas" panose="020B0609020204030204" pitchFamily="49" charset="0"/>
              </a:rPr>
              <a:t>torch</a:t>
            </a:r>
            <a:r>
              <a:rPr lang="en-US" sz="1600" b="0" dirty="0" err="1">
                <a:solidFill>
                  <a:srgbClr val="CCCCCC"/>
                </a:solidFill>
                <a:effectLst/>
                <a:latin typeface="Consolas" panose="020B0609020204030204" pitchFamily="49" charset="0"/>
                <a:cs typeface="Consolas" panose="020B0609020204030204" pitchFamily="49" charset="0"/>
              </a:rPr>
              <a:t>.</a:t>
            </a:r>
            <a:r>
              <a:rPr lang="en-US" sz="1600" b="0" dirty="0" err="1">
                <a:solidFill>
                  <a:srgbClr val="4EC9B0"/>
                </a:solidFill>
                <a:effectLst/>
                <a:latin typeface="Consolas" panose="020B0609020204030204" pitchFamily="49" charset="0"/>
                <a:cs typeface="Consolas" panose="020B0609020204030204" pitchFamily="49" charset="0"/>
              </a:rPr>
              <a:t>distributions</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EC9B0"/>
                </a:solidFill>
                <a:effectLst/>
                <a:latin typeface="Consolas" panose="020B0609020204030204" pitchFamily="49" charset="0"/>
                <a:cs typeface="Consolas" panose="020B0609020204030204" pitchFamily="49" charset="0"/>
              </a:rPr>
              <a:t>Categorical</a:t>
            </a:r>
            <a:endParaRPr lang="en-US" sz="1600"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sz="1600" b="0" dirty="0">
                <a:solidFill>
                  <a:srgbClr val="C586C0"/>
                </a:solidFill>
                <a:effectLst/>
                <a:latin typeface="Consolas" panose="020B0609020204030204" pitchFamily="49" charset="0"/>
                <a:cs typeface="Consolas" panose="020B0609020204030204" pitchFamily="49" charset="0"/>
              </a:rPr>
              <a:t>import</a:t>
            </a:r>
            <a:r>
              <a:rPr lang="en-US" sz="1600" b="0" dirty="0">
                <a:solidFill>
                  <a:srgbClr val="CCCCCC"/>
                </a:solidFill>
                <a:effectLst/>
                <a:latin typeface="Consolas" panose="020B0609020204030204" pitchFamily="49" charset="0"/>
                <a:cs typeface="Consolas" panose="020B0609020204030204" pitchFamily="49" charset="0"/>
              </a:rPr>
              <a:t> </a:t>
            </a:r>
            <a:r>
              <a:rPr lang="en-US" sz="1600" b="0" dirty="0">
                <a:solidFill>
                  <a:srgbClr val="4EC9B0"/>
                </a:solidFill>
                <a:effectLst/>
                <a:latin typeface="Consolas" panose="020B0609020204030204" pitchFamily="49" charset="0"/>
                <a:cs typeface="Consolas" panose="020B0609020204030204" pitchFamily="49" charset="0"/>
              </a:rPr>
              <a:t>math</a:t>
            </a:r>
            <a:endParaRPr lang="en-US" sz="1600" b="0" dirty="0">
              <a:solidFill>
                <a:srgbClr val="CCCCCC"/>
              </a:solidFill>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A0526868-4E6F-F741-3C09-92D3A6E57F9C}"/>
              </a:ext>
            </a:extLst>
          </p:cNvPr>
          <p:cNvSpPr txBox="1"/>
          <p:nvPr/>
        </p:nvSpPr>
        <p:spPr>
          <a:xfrm>
            <a:off x="1504587" y="1828800"/>
            <a:ext cx="6100996" cy="369332"/>
          </a:xfrm>
          <a:prstGeom prst="rect">
            <a:avLst/>
          </a:prstGeom>
          <a:noFill/>
        </p:spPr>
        <p:txBody>
          <a:bodyPr wrap="square">
            <a:spAutoFit/>
          </a:bodyPr>
          <a:lstStyle/>
          <a:p>
            <a:r>
              <a:rPr lang="en-US" sz="1800" dirty="0">
                <a:solidFill>
                  <a:schemeClr val="bg1"/>
                </a:solidFill>
              </a:rPr>
              <a:t>Define the necessary imports</a:t>
            </a:r>
            <a:endParaRPr lang="en-US" dirty="0">
              <a:solidFill>
                <a:schemeClr val="bg1"/>
              </a:solidFill>
            </a:endParaRPr>
          </a:p>
        </p:txBody>
      </p:sp>
      <p:sp>
        <p:nvSpPr>
          <p:cNvPr id="7" name="TextBox 6">
            <a:extLst>
              <a:ext uri="{FF2B5EF4-FFF2-40B4-BE49-F238E27FC236}">
                <a16:creationId xmlns:a16="http://schemas.microsoft.com/office/drawing/2014/main" id="{C5E16206-C917-0E31-7B1F-314628E784C5}"/>
              </a:ext>
            </a:extLst>
          </p:cNvPr>
          <p:cNvSpPr txBox="1"/>
          <p:nvPr/>
        </p:nvSpPr>
        <p:spPr>
          <a:xfrm>
            <a:off x="3445728" y="6360224"/>
            <a:ext cx="8597590" cy="446276"/>
          </a:xfrm>
          <a:prstGeom prst="rect">
            <a:avLst/>
          </a:prstGeom>
          <a:noFill/>
        </p:spPr>
        <p:txBody>
          <a:bodyPr wrap="square">
            <a:spAutoFit/>
          </a:bodyPr>
          <a:lstStyle/>
          <a:p>
            <a:r>
              <a:rPr lang="en-US" sz="1200" dirty="0"/>
              <a:t>code from: </a:t>
            </a:r>
            <a:br>
              <a:rPr lang="en-US" sz="1200" dirty="0"/>
            </a:b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9" name="Callout: Left Arrow 6">
            <a:extLst>
              <a:ext uri="{FF2B5EF4-FFF2-40B4-BE49-F238E27FC236}">
                <a16:creationId xmlns:a16="http://schemas.microsoft.com/office/drawing/2014/main" id="{45177E02-3355-9DB7-E729-64E49A0EFC21}"/>
              </a:ext>
            </a:extLst>
          </p:cNvPr>
          <p:cNvSpPr/>
          <p:nvPr/>
        </p:nvSpPr>
        <p:spPr>
          <a:xfrm>
            <a:off x="6424551" y="1676400"/>
            <a:ext cx="5613461" cy="4683824"/>
          </a:xfrm>
          <a:prstGeom prst="leftArrowCallout">
            <a:avLst>
              <a:gd name="adj1" fmla="val 2586"/>
              <a:gd name="adj2" fmla="val 5510"/>
              <a:gd name="adj3" fmla="val 4786"/>
              <a:gd name="adj4" fmla="val 94710"/>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Create imports for training the lunar lander.</a:t>
            </a:r>
          </a:p>
          <a:p>
            <a:endParaRPr lang="en-US" sz="1600" dirty="0">
              <a:solidFill>
                <a:schemeClr val="tx1"/>
              </a:solidFill>
              <a:latin typeface="Arial" panose="020B0604020202020204" pitchFamily="34" charset="0"/>
              <a:cs typeface="Arial" panose="020B0604020202020204" pitchFamily="34" charset="0"/>
            </a:endParaRPr>
          </a:p>
          <a:p>
            <a:r>
              <a:rPr lang="en-US" sz="1600" dirty="0" err="1">
                <a:solidFill>
                  <a:schemeClr val="tx1"/>
                </a:solidFill>
                <a:latin typeface="Arial" panose="020B0604020202020204" pitchFamily="34" charset="0"/>
                <a:cs typeface="Arial" panose="020B0604020202020204" pitchFamily="34" charset="0"/>
              </a:rPr>
              <a:t>Gymanasium</a:t>
            </a:r>
            <a:r>
              <a:rPr lang="en-US" sz="1600" dirty="0">
                <a:solidFill>
                  <a:schemeClr val="tx1"/>
                </a:solidFill>
                <a:latin typeface="Arial" panose="020B0604020202020204" pitchFamily="34" charset="0"/>
                <a:cs typeface="Arial" panose="020B0604020202020204" pitchFamily="34" charset="0"/>
              </a:rPr>
              <a:t> package provides the environment for training the lunar lander</a:t>
            </a:r>
          </a:p>
          <a:p>
            <a:endParaRPr lang="en-US" sz="1600" dirty="0">
              <a:solidFill>
                <a:schemeClr val="tx1"/>
              </a:solidFill>
              <a:latin typeface="Arial" panose="020B0604020202020204" pitchFamily="34" charset="0"/>
              <a:cs typeface="Arial" panose="020B0604020202020204" pitchFamily="34" charset="0"/>
            </a:endParaRPr>
          </a:p>
          <a:p>
            <a:r>
              <a:rPr lang="en-US" sz="1600" dirty="0" err="1">
                <a:solidFill>
                  <a:schemeClr val="tx1"/>
                </a:solidFill>
                <a:latin typeface="Arial" panose="020B0604020202020204" pitchFamily="34" charset="0"/>
                <a:cs typeface="Arial" panose="020B0604020202020204" pitchFamily="34" charset="0"/>
              </a:rPr>
              <a:t>torch.distributions.Categorical</a:t>
            </a:r>
            <a:r>
              <a:rPr lang="en-US" sz="1600" dirty="0">
                <a:solidFill>
                  <a:schemeClr val="tx1"/>
                </a:solidFill>
                <a:latin typeface="Arial" panose="020B0604020202020204" pitchFamily="34" charset="0"/>
                <a:cs typeface="Arial" panose="020B0604020202020204" pitchFamily="34" charset="0"/>
              </a:rPr>
              <a:t> is used to choose an action based on a set of probabilities</a:t>
            </a:r>
          </a:p>
          <a:p>
            <a:endParaRPr lang="en-US" sz="1600" dirty="0">
              <a:solidFill>
                <a:schemeClr val="tx1"/>
              </a:solidFill>
              <a:latin typeface="Arial" panose="020B0604020202020204" pitchFamily="34" charset="0"/>
              <a:cs typeface="Arial" panose="020B0604020202020204" pitchFamily="34" charset="0"/>
            </a:endParaRPr>
          </a:p>
          <a:p>
            <a:r>
              <a:rPr lang="en-US" sz="1600" dirty="0">
                <a:solidFill>
                  <a:schemeClr val="tx1"/>
                </a:solidFill>
                <a:latin typeface="Arial" panose="020B0604020202020204" pitchFamily="34" charset="0"/>
                <a:cs typeface="Arial" panose="020B0604020202020204" pitchFamily="34" charset="0"/>
              </a:rPr>
              <a:t>Ex.</a:t>
            </a:r>
          </a:p>
          <a:p>
            <a:endParaRPr lang="en-US" sz="1600" dirty="0">
              <a:solidFill>
                <a:schemeClr val="tx1"/>
              </a:solidFill>
              <a:latin typeface="Arial" panose="020B0604020202020204" pitchFamily="34" charset="0"/>
              <a:cs typeface="Arial" panose="020B0604020202020204" pitchFamily="34" charset="0"/>
            </a:endParaRPr>
          </a:p>
          <a:p>
            <a:endParaRPr lang="en-US" sz="1600" dirty="0">
              <a:solidFill>
                <a:schemeClr val="tx1"/>
              </a:solidFill>
              <a:latin typeface="Arial" panose="020B0604020202020204" pitchFamily="34" charset="0"/>
              <a:cs typeface="Arial" panose="020B0604020202020204" pitchFamily="34" charset="0"/>
            </a:endParaRPr>
          </a:p>
          <a:p>
            <a:endParaRPr lang="en-US" sz="1600" dirty="0">
              <a:solidFill>
                <a:schemeClr val="tx1"/>
              </a:solidFill>
              <a:latin typeface="Arial" panose="020B0604020202020204" pitchFamily="34" charset="0"/>
              <a:cs typeface="Arial" panose="020B0604020202020204" pitchFamily="34" charset="0"/>
            </a:endParaRPr>
          </a:p>
          <a:p>
            <a:endParaRPr lang="en-US" sz="1600" dirty="0">
              <a:solidFill>
                <a:schemeClr val="tx1"/>
              </a:solidFill>
              <a:latin typeface="Arial" panose="020B0604020202020204" pitchFamily="34" charset="0"/>
              <a:cs typeface="Arial" panose="020B0604020202020204" pitchFamily="34" charset="0"/>
            </a:endParaRPr>
          </a:p>
          <a:p>
            <a:endParaRPr lang="en-US" sz="1600" dirty="0">
              <a:solidFill>
                <a:schemeClr val="tx1"/>
              </a:solidFill>
              <a:latin typeface="Arial" panose="020B0604020202020204" pitchFamily="34" charset="0"/>
              <a:cs typeface="Arial" panose="020B0604020202020204" pitchFamily="34" charset="0"/>
            </a:endParaRPr>
          </a:p>
          <a:p>
            <a:endParaRPr lang="en-US" sz="1600" dirty="0">
              <a:solidFill>
                <a:schemeClr val="tx1"/>
              </a:solidFill>
              <a:latin typeface="Arial" panose="020B0604020202020204" pitchFamily="34" charset="0"/>
              <a:cs typeface="Arial" panose="020B0604020202020204" pitchFamily="34" charset="0"/>
            </a:endParaRPr>
          </a:p>
          <a:p>
            <a:endParaRPr lang="en-US" sz="1600" dirty="0">
              <a:solidFill>
                <a:schemeClr val="tx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870E567F-5E41-A3E2-8E2F-17D30AF50B94}"/>
              </a:ext>
            </a:extLst>
          </p:cNvPr>
          <p:cNvSpPr/>
          <p:nvPr/>
        </p:nvSpPr>
        <p:spPr>
          <a:xfrm>
            <a:off x="7050679" y="4415307"/>
            <a:ext cx="4836521" cy="19449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725"/>
              </a:lnSpc>
            </a:pPr>
            <a:r>
              <a:rPr lang="en-US" dirty="0">
                <a:solidFill>
                  <a:srgbClr val="9CDCFE"/>
                </a:solidFill>
                <a:latin typeface="Consolas" panose="020B0609020204030204" pitchFamily="49" charset="0"/>
                <a:cs typeface="Consolas" panose="020B0609020204030204" pitchFamily="49" charset="0"/>
              </a:rPr>
              <a:t>p</a:t>
            </a:r>
            <a:r>
              <a:rPr lang="en-US" b="0" dirty="0">
                <a:solidFill>
                  <a:srgbClr val="9CDCFE"/>
                </a:solidFill>
                <a:effectLst/>
                <a:latin typeface="Consolas" panose="020B0609020204030204" pitchFamily="49" charset="0"/>
                <a:cs typeface="Consolas" panose="020B0609020204030204" pitchFamily="49" charset="0"/>
              </a:rPr>
              <a:t>robs = </a:t>
            </a:r>
            <a:r>
              <a:rPr lang="en-US" b="0" dirty="0" err="1">
                <a:solidFill>
                  <a:srgbClr val="4EC9B0"/>
                </a:solidFill>
                <a:effectLst/>
                <a:latin typeface="Consolas" panose="020B0609020204030204" pitchFamily="49" charset="0"/>
                <a:cs typeface="Consolas" panose="020B0609020204030204" pitchFamily="49" charset="0"/>
              </a:rPr>
              <a:t>torch</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tensor</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B5CEA8"/>
                </a:solidFill>
                <a:effectLst/>
                <a:latin typeface="Consolas" panose="020B0609020204030204" pitchFamily="49" charset="0"/>
                <a:cs typeface="Consolas" panose="020B0609020204030204" pitchFamily="49" charset="0"/>
              </a:rPr>
              <a:t>0.2</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B5CEA8"/>
                </a:solidFill>
                <a:effectLst/>
                <a:latin typeface="Consolas" panose="020B0609020204030204" pitchFamily="49" charset="0"/>
                <a:cs typeface="Consolas" panose="020B0609020204030204" pitchFamily="49" charset="0"/>
              </a:rPr>
              <a:t>0.7</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B5CEA8"/>
                </a:solidFill>
                <a:effectLst/>
                <a:latin typeface="Consolas" panose="020B0609020204030204" pitchFamily="49" charset="0"/>
                <a:cs typeface="Consolas" panose="020B0609020204030204" pitchFamily="49" charset="0"/>
              </a:rPr>
              <a:t>0.05</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B5CEA8"/>
                </a:solidFill>
                <a:effectLst/>
                <a:latin typeface="Consolas" panose="020B0609020204030204" pitchFamily="49" charset="0"/>
                <a:cs typeface="Consolas" panose="020B0609020204030204" pitchFamily="49" charset="0"/>
              </a:rPr>
              <a:t>0.05</a:t>
            </a:r>
            <a:r>
              <a:rPr lang="en-US" b="0" dirty="0">
                <a:solidFill>
                  <a:srgbClr val="CCCCCC"/>
                </a:solidFill>
                <a:effectLst/>
                <a:latin typeface="Consolas" panose="020B0609020204030204" pitchFamily="49" charset="0"/>
                <a:cs typeface="Consolas" panose="020B0609020204030204" pitchFamily="49" charset="0"/>
              </a:rPr>
              <a:t>])</a:t>
            </a:r>
            <a:endParaRPr lang="en-US" b="0" dirty="0">
              <a:solidFill>
                <a:srgbClr val="9CDCFE"/>
              </a:solidFill>
              <a:effectLst/>
              <a:latin typeface="Consolas" panose="020B0609020204030204" pitchFamily="49" charset="0"/>
              <a:cs typeface="Consolas" panose="020B0609020204030204" pitchFamily="49" charset="0"/>
            </a:endParaRPr>
          </a:p>
          <a:p>
            <a:pPr>
              <a:lnSpc>
                <a:spcPts val="1725"/>
              </a:lnSpc>
            </a:pPr>
            <a:r>
              <a:rPr lang="en-US" b="0" dirty="0">
                <a:solidFill>
                  <a:srgbClr val="9CDCFE"/>
                </a:solidFill>
                <a:effectLst/>
                <a:latin typeface="Consolas" panose="020B0609020204030204" pitchFamily="49" charset="0"/>
                <a:cs typeface="Consolas" panose="020B0609020204030204" pitchFamily="49" charset="0"/>
              </a:rPr>
              <a:t>m</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D4D4D4"/>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4EC9B0"/>
                </a:solidFill>
                <a:effectLst/>
                <a:latin typeface="Consolas" panose="020B0609020204030204" pitchFamily="49" charset="0"/>
                <a:cs typeface="Consolas" panose="020B0609020204030204" pitchFamily="49" charset="0"/>
              </a:rPr>
              <a:t>Categorical</a:t>
            </a:r>
            <a:r>
              <a:rPr lang="en-US" b="0" dirty="0">
                <a:solidFill>
                  <a:srgbClr val="CCCCCC"/>
                </a:solidFill>
                <a:effectLst/>
                <a:latin typeface="Consolas" panose="020B0609020204030204" pitchFamily="49" charset="0"/>
                <a:cs typeface="Consolas" panose="020B0609020204030204" pitchFamily="49" charset="0"/>
              </a:rPr>
              <a:t>(probs)</a:t>
            </a:r>
          </a:p>
          <a:p>
            <a:pPr>
              <a:lnSpc>
                <a:spcPts val="1725"/>
              </a:lnSpc>
            </a:pPr>
            <a:r>
              <a:rPr lang="en-US" b="0" dirty="0" err="1">
                <a:solidFill>
                  <a:srgbClr val="9CDCFE"/>
                </a:solidFill>
                <a:effectLst/>
                <a:latin typeface="Consolas" panose="020B0609020204030204" pitchFamily="49" charset="0"/>
                <a:cs typeface="Consolas" panose="020B0609020204030204" pitchFamily="49" charset="0"/>
              </a:rPr>
              <a:t>m</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sample</a:t>
            </a:r>
            <a:r>
              <a:rPr lang="en-US" b="0" dirty="0">
                <a:solidFill>
                  <a:srgbClr val="CCCCCC"/>
                </a:solidFill>
                <a:effectLst/>
                <a:latin typeface="Consolas" panose="020B0609020204030204" pitchFamily="49" charset="0"/>
                <a:cs typeface="Consolas" panose="020B0609020204030204" pitchFamily="49" charset="0"/>
              </a:rPr>
              <a:t>()</a:t>
            </a:r>
          </a:p>
          <a:p>
            <a:pPr>
              <a:lnSpc>
                <a:spcPts val="1725"/>
              </a:lnSpc>
            </a:pPr>
            <a:r>
              <a:rPr lang="en-US" b="0" dirty="0" err="1">
                <a:solidFill>
                  <a:srgbClr val="9CDCFE"/>
                </a:solidFill>
                <a:effectLst/>
                <a:latin typeface="Consolas" panose="020B0609020204030204" pitchFamily="49" charset="0"/>
                <a:cs typeface="Consolas" panose="020B0609020204030204" pitchFamily="49" charset="0"/>
              </a:rPr>
              <a:t>m</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sample</a:t>
            </a:r>
            <a:r>
              <a:rPr lang="en-US" b="0" dirty="0">
                <a:solidFill>
                  <a:srgbClr val="CCCCCC"/>
                </a:solidFill>
                <a:effectLst/>
                <a:latin typeface="Consolas" panose="020B0609020204030204" pitchFamily="49" charset="0"/>
                <a:cs typeface="Consolas" panose="020B0609020204030204" pitchFamily="49" charset="0"/>
              </a:rPr>
              <a:t>()</a:t>
            </a:r>
          </a:p>
          <a:p>
            <a:pPr>
              <a:lnSpc>
                <a:spcPts val="1725"/>
              </a:lnSpc>
            </a:pPr>
            <a:r>
              <a:rPr lang="en-US" b="0" dirty="0" err="1">
                <a:solidFill>
                  <a:srgbClr val="9CDCFE"/>
                </a:solidFill>
                <a:effectLst/>
                <a:latin typeface="Consolas" panose="020B0609020204030204" pitchFamily="49" charset="0"/>
                <a:cs typeface="Consolas" panose="020B0609020204030204" pitchFamily="49" charset="0"/>
              </a:rPr>
              <a:t>m</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sample</a:t>
            </a:r>
            <a:r>
              <a:rPr lang="en-US" b="0" dirty="0">
                <a:solidFill>
                  <a:srgbClr val="CCCCCC"/>
                </a:solidFill>
                <a:effectLst/>
                <a:latin typeface="Consolas" panose="020B0609020204030204" pitchFamily="49" charset="0"/>
                <a:cs typeface="Consolas" panose="020B0609020204030204" pitchFamily="49" charset="0"/>
              </a:rPr>
              <a:t>()</a:t>
            </a:r>
          </a:p>
          <a:p>
            <a:pPr>
              <a:lnSpc>
                <a:spcPts val="1725"/>
              </a:lnSpc>
            </a:pPr>
            <a:r>
              <a:rPr lang="en-US" b="0" dirty="0" err="1">
                <a:solidFill>
                  <a:srgbClr val="9CDCFE"/>
                </a:solidFill>
                <a:effectLst/>
                <a:latin typeface="Consolas" panose="020B0609020204030204" pitchFamily="49" charset="0"/>
                <a:cs typeface="Consolas" panose="020B0609020204030204" pitchFamily="49" charset="0"/>
              </a:rPr>
              <a:t>m</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sample</a:t>
            </a:r>
            <a:r>
              <a:rPr lang="en-US" b="0" dirty="0">
                <a:solidFill>
                  <a:srgbClr val="CCCCCC"/>
                </a:solidFill>
                <a:effectLst/>
                <a:latin typeface="Consolas" panose="020B0609020204030204" pitchFamily="49" charset="0"/>
                <a:cs typeface="Consolas" panose="020B0609020204030204" pitchFamily="49" charset="0"/>
              </a:rPr>
              <a:t>()</a:t>
            </a:r>
            <a:endParaRPr lang="en-US" dirty="0">
              <a:solidFill>
                <a:srgbClr val="CCCCCC"/>
              </a:solidFill>
              <a:latin typeface="Consolas" panose="020B0609020204030204" pitchFamily="49" charset="0"/>
              <a:cs typeface="Consolas" panose="020B0609020204030204" pitchFamily="49" charset="0"/>
            </a:endParaRPr>
          </a:p>
          <a:p>
            <a:pPr>
              <a:lnSpc>
                <a:spcPts val="1725"/>
              </a:lnSpc>
            </a:pPr>
            <a:r>
              <a:rPr lang="en-US" b="0" dirty="0" err="1">
                <a:solidFill>
                  <a:srgbClr val="9CDCFE"/>
                </a:solidFill>
                <a:effectLst/>
                <a:latin typeface="Consolas" panose="020B0609020204030204" pitchFamily="49" charset="0"/>
                <a:cs typeface="Consolas" panose="020B0609020204030204" pitchFamily="49" charset="0"/>
              </a:rPr>
              <a:t>m</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sample</a:t>
            </a:r>
            <a:r>
              <a:rPr lang="en-US" b="0" dirty="0">
                <a:solidFill>
                  <a:srgbClr val="CCCCCC"/>
                </a:solidFill>
                <a:effectLst/>
                <a:latin typeface="Consolas" panose="020B0609020204030204" pitchFamily="49" charset="0"/>
                <a:cs typeface="Consolas" panose="020B0609020204030204" pitchFamily="49" charset="0"/>
              </a:rPr>
              <a:t>()</a:t>
            </a:r>
          </a:p>
          <a:p>
            <a:pPr>
              <a:lnSpc>
                <a:spcPts val="1725"/>
              </a:lnSpc>
            </a:pPr>
            <a:r>
              <a:rPr lang="en-US" b="0" dirty="0" err="1">
                <a:solidFill>
                  <a:srgbClr val="9CDCFE"/>
                </a:solidFill>
                <a:effectLst/>
                <a:latin typeface="Consolas" panose="020B0609020204030204" pitchFamily="49" charset="0"/>
                <a:cs typeface="Consolas" panose="020B0609020204030204" pitchFamily="49" charset="0"/>
              </a:rPr>
              <a:t>m</a:t>
            </a:r>
            <a:r>
              <a:rPr lang="en-US" b="0" dirty="0" err="1">
                <a:solidFill>
                  <a:srgbClr val="CCCCCC"/>
                </a:solidFill>
                <a:effectLst/>
                <a:latin typeface="Consolas" panose="020B0609020204030204" pitchFamily="49" charset="0"/>
                <a:cs typeface="Consolas" panose="020B0609020204030204" pitchFamily="49" charset="0"/>
              </a:rPr>
              <a:t>.</a:t>
            </a:r>
            <a:r>
              <a:rPr lang="en-US" b="0" dirty="0" err="1">
                <a:solidFill>
                  <a:srgbClr val="DCDCAA"/>
                </a:solidFill>
                <a:effectLst/>
                <a:latin typeface="Consolas" panose="020B0609020204030204" pitchFamily="49" charset="0"/>
                <a:cs typeface="Consolas" panose="020B0609020204030204" pitchFamily="49" charset="0"/>
              </a:rPr>
              <a:t>sample</a:t>
            </a:r>
            <a:r>
              <a:rPr lang="en-US" b="0" dirty="0">
                <a:solidFill>
                  <a:srgbClr val="CCCCCC"/>
                </a:solidFill>
                <a:effectLst/>
                <a:latin typeface="Consolas" panose="020B0609020204030204" pitchFamily="49" charset="0"/>
                <a:cs typeface="Consolas" panose="020B0609020204030204" pitchFamily="49" charset="0"/>
              </a:rPr>
              <a:t>()</a:t>
            </a:r>
          </a:p>
          <a:p>
            <a:pPr>
              <a:lnSpc>
                <a:spcPts val="1725"/>
              </a:lnSpc>
            </a:pPr>
            <a:endParaRPr lang="en-US" b="0" dirty="0">
              <a:solidFill>
                <a:srgbClr val="CCCCCC"/>
              </a:solidFill>
              <a:effectLst/>
              <a:latin typeface="Consolas" panose="020B0609020204030204" pitchFamily="49" charset="0"/>
              <a:cs typeface="Consolas" panose="020B0609020204030204" pitchFamily="49" charset="0"/>
            </a:endParaRPr>
          </a:p>
        </p:txBody>
      </p:sp>
      <p:graphicFrame>
        <p:nvGraphicFramePr>
          <p:cNvPr id="13" name="Table 3">
            <a:extLst>
              <a:ext uri="{FF2B5EF4-FFF2-40B4-BE49-F238E27FC236}">
                <a16:creationId xmlns:a16="http://schemas.microsoft.com/office/drawing/2014/main" id="{021DBF21-C3AF-7821-F7DD-0D519DBB3DA2}"/>
              </a:ext>
            </a:extLst>
          </p:cNvPr>
          <p:cNvGraphicFramePr>
            <a:graphicFrameLocks noGrp="1"/>
          </p:cNvGraphicFramePr>
          <p:nvPr>
            <p:extLst>
              <p:ext uri="{D42A27DB-BD31-4B8C-83A1-F6EECF244321}">
                <p14:modId xmlns:p14="http://schemas.microsoft.com/office/powerpoint/2010/main" val="188135700"/>
              </p:ext>
            </p:extLst>
          </p:nvPr>
        </p:nvGraphicFramePr>
        <p:xfrm>
          <a:off x="8410147" y="4932832"/>
          <a:ext cx="3477053" cy="1719540"/>
        </p:xfrm>
        <a:graphic>
          <a:graphicData uri="http://schemas.openxmlformats.org/drawingml/2006/table">
            <a:tbl>
              <a:tblPr firstRow="1" bandRow="1">
                <a:tableStyleId>{073A0DAA-6AF3-43AB-8588-CEC1D06C72B9}</a:tableStyleId>
              </a:tblPr>
              <a:tblGrid>
                <a:gridCol w="3477053">
                  <a:extLst>
                    <a:ext uri="{9D8B030D-6E8A-4147-A177-3AD203B41FA5}">
                      <a16:colId xmlns:a16="http://schemas.microsoft.com/office/drawing/2014/main" val="3899577134"/>
                    </a:ext>
                  </a:extLst>
                </a:gridCol>
              </a:tblGrid>
              <a:tr h="235790">
                <a:tc>
                  <a:txBody>
                    <a:bodyPr/>
                    <a:lstStyle/>
                    <a:p>
                      <a:r>
                        <a:rPr lang="en-US" dirty="0">
                          <a:solidFill>
                            <a:schemeClr val="bg1"/>
                          </a:solidFill>
                        </a:rPr>
                        <a:t>Output</a:t>
                      </a:r>
                    </a:p>
                  </a:txBody>
                  <a:tcPr/>
                </a:tc>
                <a:extLst>
                  <a:ext uri="{0D108BD9-81ED-4DB2-BD59-A6C34878D82A}">
                    <a16:rowId xmlns:a16="http://schemas.microsoft.com/office/drawing/2014/main" val="117988312"/>
                  </a:ext>
                </a:extLst>
              </a:tr>
              <a:tr h="14147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t>tensor(1)</a:t>
                      </a:r>
                      <a:b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br>
                      <a: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t>tensor(1)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t>tensor(0)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t>tensor(0)</a:t>
                      </a:r>
                      <a:b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br>
                      <a: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t>tensor(1)</a:t>
                      </a:r>
                      <a:b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br>
                      <a:r>
                        <a:rPr lang="en-US" sz="1400" b="0" i="0" u="none" strike="noStrike" cap="none" dirty="0">
                          <a:solidFill>
                            <a:schemeClr val="dk1"/>
                          </a:solidFill>
                          <a:effectLst/>
                          <a:latin typeface="Consolas" panose="020B0609020204030204" pitchFamily="49" charset="0"/>
                          <a:ea typeface="+mn-ea"/>
                          <a:cs typeface="Consolas" panose="020B0609020204030204" pitchFamily="49" charset="0"/>
                          <a:sym typeface="Arial"/>
                        </a:rPr>
                        <a:t>tensor(1)</a:t>
                      </a:r>
                    </a:p>
                  </a:txBody>
                  <a:tcPr/>
                </a:tc>
                <a:extLst>
                  <a:ext uri="{0D108BD9-81ED-4DB2-BD59-A6C34878D82A}">
                    <a16:rowId xmlns:a16="http://schemas.microsoft.com/office/drawing/2014/main" val="4231599274"/>
                  </a:ext>
                </a:extLst>
              </a:tr>
            </a:tbl>
          </a:graphicData>
        </a:graphic>
      </p:graphicFrame>
    </p:spTree>
    <p:extLst>
      <p:ext uri="{BB962C8B-B14F-4D97-AF65-F5344CB8AC3E}">
        <p14:creationId xmlns:p14="http://schemas.microsoft.com/office/powerpoint/2010/main" val="90505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C53FD-C673-E53F-690E-9A88D70509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8A4F0BC-CF52-106F-E4DB-FDF79CFB00A3}"/>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126E1B72-F32E-71D4-A435-0BD96A6CF9AB}"/>
              </a:ext>
            </a:extLst>
          </p:cNvPr>
          <p:cNvSpPr/>
          <p:nvPr/>
        </p:nvSpPr>
        <p:spPr>
          <a:xfrm>
            <a:off x="1522414" y="2351088"/>
            <a:ext cx="9144000" cy="35628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Actor Network</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class</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Actor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Module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init</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input_size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num_actions</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super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Actor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init</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Linear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input_size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64</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fc2</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Linear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64</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num_actions</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forward</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F</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relu</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F</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softmax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fc2</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dim</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return</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3" name="TextBox 2">
            <a:extLst>
              <a:ext uri="{FF2B5EF4-FFF2-40B4-BE49-F238E27FC236}">
                <a16:creationId xmlns:a16="http://schemas.microsoft.com/office/drawing/2014/main" id="{5AB42618-61EC-6B69-688C-2231B4FD7D76}"/>
              </a:ext>
            </a:extLst>
          </p:cNvPr>
          <p:cNvSpPr txBox="1"/>
          <p:nvPr/>
        </p:nvSpPr>
        <p:spPr>
          <a:xfrm>
            <a:off x="1504587" y="1828800"/>
            <a:ext cx="6100996" cy="369332"/>
          </a:xfrm>
          <a:prstGeom prst="rect">
            <a:avLst/>
          </a:prstGeom>
          <a:noFill/>
        </p:spPr>
        <p:txBody>
          <a:bodyPr wrap="square">
            <a:spAutoFit/>
          </a:bodyPr>
          <a:lstStyle/>
          <a:p>
            <a:r>
              <a:rPr lang="en-US" sz="1800" dirty="0">
                <a:solidFill>
                  <a:schemeClr val="bg1"/>
                </a:solidFill>
              </a:rPr>
              <a:t>Define the actor network</a:t>
            </a:r>
            <a:endParaRPr lang="en-US" dirty="0">
              <a:solidFill>
                <a:schemeClr val="bg1"/>
              </a:solidFill>
            </a:endParaRPr>
          </a:p>
        </p:txBody>
      </p:sp>
      <p:sp>
        <p:nvSpPr>
          <p:cNvPr id="7" name="TextBox 6">
            <a:extLst>
              <a:ext uri="{FF2B5EF4-FFF2-40B4-BE49-F238E27FC236}">
                <a16:creationId xmlns:a16="http://schemas.microsoft.com/office/drawing/2014/main" id="{D94C51F3-B455-1B69-9AAC-A2B46725CD2E}"/>
              </a:ext>
            </a:extLst>
          </p:cNvPr>
          <p:cNvSpPr txBox="1"/>
          <p:nvPr/>
        </p:nvSpPr>
        <p:spPr>
          <a:xfrm>
            <a:off x="3445728" y="6360224"/>
            <a:ext cx="8597590" cy="446276"/>
          </a:xfrm>
          <a:prstGeom prst="rect">
            <a:avLst/>
          </a:prstGeom>
          <a:noFill/>
        </p:spPr>
        <p:txBody>
          <a:bodyPr wrap="square">
            <a:spAutoFit/>
          </a:bodyPr>
          <a:lstStyle/>
          <a:p>
            <a:r>
              <a:rPr lang="en-US" sz="1200" dirty="0"/>
              <a:t>code from: </a:t>
            </a:r>
            <a:br>
              <a:rPr lang="en-US" sz="1200" dirty="0"/>
            </a:b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9" name="Callout: Left Arrow 6">
            <a:extLst>
              <a:ext uri="{FF2B5EF4-FFF2-40B4-BE49-F238E27FC236}">
                <a16:creationId xmlns:a16="http://schemas.microsoft.com/office/drawing/2014/main" id="{85168E1F-131D-BE9B-6A02-B165A7D09783}"/>
              </a:ext>
            </a:extLst>
          </p:cNvPr>
          <p:cNvSpPr/>
          <p:nvPr/>
        </p:nvSpPr>
        <p:spPr>
          <a:xfrm>
            <a:off x="6792687" y="2470068"/>
            <a:ext cx="5245326" cy="3890156"/>
          </a:xfrm>
          <a:prstGeom prst="leftArrowCallout">
            <a:avLst>
              <a:gd name="adj1" fmla="val 2586"/>
              <a:gd name="adj2" fmla="val 5510"/>
              <a:gd name="adj3" fmla="val 4786"/>
              <a:gd name="adj4" fmla="val 94710"/>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Define a simple network for Actor Network:</a:t>
            </a:r>
          </a:p>
          <a:p>
            <a:endParaRPr lang="en-US" sz="1600" dirty="0">
              <a:solidFill>
                <a:schemeClr val="tx1"/>
              </a:solidFill>
              <a:latin typeface="Arial" panose="020B0604020202020204" pitchFamily="34" charset="0"/>
              <a:cs typeface="Arial" panose="020B0604020202020204" pitchFamily="34" charset="0"/>
            </a:endParaRPr>
          </a:p>
          <a:p>
            <a:pPr marL="342900" indent="-342900">
              <a:buFont typeface="+mj-lt"/>
              <a:buAutoNum type="arabicPeriod"/>
            </a:pPr>
            <a:r>
              <a:rPr lang="en-US" sz="1600" dirty="0">
                <a:solidFill>
                  <a:schemeClr val="tx1"/>
                </a:solidFill>
                <a:latin typeface="Arial" panose="020B0604020202020204" pitchFamily="34" charset="0"/>
                <a:cs typeface="Arial" panose="020B0604020202020204" pitchFamily="34" charset="0"/>
              </a:rPr>
              <a:t>1 layer that receives the state ( 8 units ) and sends them to a 64 units hidden layer with </a:t>
            </a:r>
            <a:r>
              <a:rPr lang="en-US" sz="1600" dirty="0" err="1">
                <a:solidFill>
                  <a:schemeClr val="tx1"/>
                </a:solidFill>
                <a:latin typeface="Arial" panose="020B0604020202020204" pitchFamily="34" charset="0"/>
                <a:cs typeface="Arial" panose="020B0604020202020204" pitchFamily="34" charset="0"/>
              </a:rPr>
              <a:t>ReLU</a:t>
            </a:r>
            <a:r>
              <a:rPr lang="en-US" sz="1600" dirty="0">
                <a:solidFill>
                  <a:schemeClr val="tx1"/>
                </a:solidFill>
                <a:latin typeface="Arial" panose="020B0604020202020204" pitchFamily="34" charset="0"/>
                <a:cs typeface="Arial" panose="020B0604020202020204" pitchFamily="34" charset="0"/>
              </a:rPr>
              <a:t> activation</a:t>
            </a:r>
          </a:p>
          <a:p>
            <a:pPr marL="342900" indent="-342900">
              <a:buFont typeface="+mj-lt"/>
              <a:buAutoNum type="arabicPeriod"/>
            </a:pPr>
            <a:r>
              <a:rPr lang="en-US" sz="1600" dirty="0">
                <a:solidFill>
                  <a:schemeClr val="tx1"/>
                </a:solidFill>
                <a:latin typeface="Arial" panose="020B0604020202020204" pitchFamily="34" charset="0"/>
                <a:cs typeface="Arial" panose="020B0604020202020204" pitchFamily="34" charset="0"/>
              </a:rPr>
              <a:t>1 output layer of </a:t>
            </a:r>
            <a:r>
              <a:rPr lang="en-US" sz="1600" dirty="0" err="1">
                <a:solidFill>
                  <a:schemeClr val="tx1"/>
                </a:solidFill>
                <a:latin typeface="Arial" panose="020B0604020202020204" pitchFamily="34" charset="0"/>
                <a:cs typeface="Arial" panose="020B0604020202020204" pitchFamily="34" charset="0"/>
              </a:rPr>
              <a:t>num_actions</a:t>
            </a:r>
            <a:r>
              <a:rPr lang="en-US" sz="1600" dirty="0">
                <a:solidFill>
                  <a:schemeClr val="tx1"/>
                </a:solidFill>
                <a:latin typeface="Arial" panose="020B0604020202020204" pitchFamily="34" charset="0"/>
                <a:cs typeface="Arial" panose="020B0604020202020204" pitchFamily="34" charset="0"/>
              </a:rPr>
              <a:t> (4) with </a:t>
            </a:r>
            <a:r>
              <a:rPr lang="en-US" sz="1600" dirty="0" err="1">
                <a:solidFill>
                  <a:schemeClr val="tx1"/>
                </a:solidFill>
                <a:latin typeface="Arial" panose="020B0604020202020204" pitchFamily="34" charset="0"/>
                <a:cs typeface="Arial" panose="020B0604020202020204" pitchFamily="34" charset="0"/>
              </a:rPr>
              <a:t>softmax</a:t>
            </a:r>
            <a:r>
              <a:rPr lang="en-US" sz="1600" dirty="0">
                <a:solidFill>
                  <a:schemeClr val="tx1"/>
                </a:solidFill>
                <a:latin typeface="Arial" panose="020B0604020202020204" pitchFamily="34" charset="0"/>
                <a:cs typeface="Arial" panose="020B0604020202020204" pitchFamily="34" charset="0"/>
              </a:rPr>
              <a:t> activation</a:t>
            </a:r>
          </a:p>
        </p:txBody>
      </p:sp>
    </p:spTree>
    <p:extLst>
      <p:ext uri="{BB962C8B-B14F-4D97-AF65-F5344CB8AC3E}">
        <p14:creationId xmlns:p14="http://schemas.microsoft.com/office/powerpoint/2010/main" val="2707941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DAA4-4910-7FAB-A672-AE5CB61D46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2C77B03-5C18-7D87-1A65-E260084159D5}"/>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62C29E20-5F8F-E8D2-79FB-2DB31007A2B2}"/>
              </a:ext>
            </a:extLst>
          </p:cNvPr>
          <p:cNvSpPr/>
          <p:nvPr/>
        </p:nvSpPr>
        <p:spPr>
          <a:xfrm>
            <a:off x="1522414" y="2351088"/>
            <a:ext cx="9144000" cy="35628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sz="1600"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Critic Network</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class</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Critic</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Module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init</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input_size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super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Critic</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init</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__</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Linear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input_size</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64</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fc2</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nn</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Linear</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64</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forward</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F</a:t>
            </a:r>
            <a:r>
              <a:rPr lang="en-US" sz="1600"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relu</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fc1</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self</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fc2</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return</a:t>
            </a:r>
            <a:r>
              <a:rPr lang="en-US" sz="1600"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sz="1600"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endParaRPr lang="en-US" sz="1600"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sz="1600"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3" name="TextBox 2">
            <a:extLst>
              <a:ext uri="{FF2B5EF4-FFF2-40B4-BE49-F238E27FC236}">
                <a16:creationId xmlns:a16="http://schemas.microsoft.com/office/drawing/2014/main" id="{81FF7D1B-CB70-25A1-1D0E-7EFF8C2252A1}"/>
              </a:ext>
            </a:extLst>
          </p:cNvPr>
          <p:cNvSpPr txBox="1"/>
          <p:nvPr/>
        </p:nvSpPr>
        <p:spPr>
          <a:xfrm>
            <a:off x="1504587" y="1828800"/>
            <a:ext cx="6100996" cy="369332"/>
          </a:xfrm>
          <a:prstGeom prst="rect">
            <a:avLst/>
          </a:prstGeom>
          <a:noFill/>
        </p:spPr>
        <p:txBody>
          <a:bodyPr wrap="square">
            <a:spAutoFit/>
          </a:bodyPr>
          <a:lstStyle/>
          <a:p>
            <a:r>
              <a:rPr lang="en-US" sz="1800" dirty="0">
                <a:solidFill>
                  <a:schemeClr val="bg1"/>
                </a:solidFill>
              </a:rPr>
              <a:t>Define the critic network</a:t>
            </a:r>
            <a:endParaRPr lang="en-US" dirty="0">
              <a:solidFill>
                <a:schemeClr val="bg1"/>
              </a:solidFill>
            </a:endParaRPr>
          </a:p>
        </p:txBody>
      </p:sp>
      <p:sp>
        <p:nvSpPr>
          <p:cNvPr id="7" name="TextBox 6">
            <a:extLst>
              <a:ext uri="{FF2B5EF4-FFF2-40B4-BE49-F238E27FC236}">
                <a16:creationId xmlns:a16="http://schemas.microsoft.com/office/drawing/2014/main" id="{F9DC916F-10ED-2327-BF28-9C453BA14D86}"/>
              </a:ext>
            </a:extLst>
          </p:cNvPr>
          <p:cNvSpPr txBox="1"/>
          <p:nvPr/>
        </p:nvSpPr>
        <p:spPr>
          <a:xfrm>
            <a:off x="3445728" y="6360224"/>
            <a:ext cx="8597590" cy="446276"/>
          </a:xfrm>
          <a:prstGeom prst="rect">
            <a:avLst/>
          </a:prstGeom>
          <a:noFill/>
        </p:spPr>
        <p:txBody>
          <a:bodyPr wrap="square">
            <a:spAutoFit/>
          </a:bodyPr>
          <a:lstStyle/>
          <a:p>
            <a:r>
              <a:rPr lang="en-US" sz="1200" dirty="0"/>
              <a:t>code from: </a:t>
            </a:r>
            <a:br>
              <a:rPr lang="en-US" sz="1200" dirty="0"/>
            </a:b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9" name="Callout: Left Arrow 6">
            <a:extLst>
              <a:ext uri="{FF2B5EF4-FFF2-40B4-BE49-F238E27FC236}">
                <a16:creationId xmlns:a16="http://schemas.microsoft.com/office/drawing/2014/main" id="{C03510F6-CDD3-B5B9-25B5-7E0FF2BCF9FA}"/>
              </a:ext>
            </a:extLst>
          </p:cNvPr>
          <p:cNvSpPr/>
          <p:nvPr/>
        </p:nvSpPr>
        <p:spPr>
          <a:xfrm>
            <a:off x="6673934" y="2187440"/>
            <a:ext cx="5245326" cy="3890156"/>
          </a:xfrm>
          <a:prstGeom prst="leftArrowCallout">
            <a:avLst>
              <a:gd name="adj1" fmla="val 2586"/>
              <a:gd name="adj2" fmla="val 5510"/>
              <a:gd name="adj3" fmla="val 4786"/>
              <a:gd name="adj4" fmla="val 94710"/>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Define a simple network for Critic Network:</a:t>
            </a:r>
          </a:p>
          <a:p>
            <a:endParaRPr lang="en-US" sz="1600" dirty="0">
              <a:solidFill>
                <a:schemeClr val="tx1"/>
              </a:solidFill>
              <a:latin typeface="Arial" panose="020B0604020202020204" pitchFamily="34" charset="0"/>
              <a:cs typeface="Arial" panose="020B0604020202020204" pitchFamily="34" charset="0"/>
            </a:endParaRPr>
          </a:p>
          <a:p>
            <a:pPr marL="342900" indent="-342900">
              <a:buFont typeface="+mj-lt"/>
              <a:buAutoNum type="arabicPeriod"/>
            </a:pPr>
            <a:r>
              <a:rPr lang="en-US" sz="1600" dirty="0">
                <a:solidFill>
                  <a:schemeClr val="tx1"/>
                </a:solidFill>
                <a:latin typeface="Arial" panose="020B0604020202020204" pitchFamily="34" charset="0"/>
                <a:cs typeface="Arial" panose="020B0604020202020204" pitchFamily="34" charset="0"/>
              </a:rPr>
              <a:t>1 layer that receives the state ( 8 units ) and sends them to a 64 units hidden layer with </a:t>
            </a:r>
            <a:r>
              <a:rPr lang="en-US" sz="1600" dirty="0" err="1">
                <a:solidFill>
                  <a:schemeClr val="tx1"/>
                </a:solidFill>
                <a:latin typeface="Arial" panose="020B0604020202020204" pitchFamily="34" charset="0"/>
                <a:cs typeface="Arial" panose="020B0604020202020204" pitchFamily="34" charset="0"/>
              </a:rPr>
              <a:t>ReLU</a:t>
            </a:r>
            <a:r>
              <a:rPr lang="en-US" sz="1600" dirty="0">
                <a:solidFill>
                  <a:schemeClr val="tx1"/>
                </a:solidFill>
                <a:latin typeface="Arial" panose="020B0604020202020204" pitchFamily="34" charset="0"/>
                <a:cs typeface="Arial" panose="020B0604020202020204" pitchFamily="34" charset="0"/>
              </a:rPr>
              <a:t> activation</a:t>
            </a:r>
          </a:p>
          <a:p>
            <a:pPr marL="342900" indent="-342900">
              <a:buFont typeface="+mj-lt"/>
              <a:buAutoNum type="arabicPeriod"/>
            </a:pPr>
            <a:r>
              <a:rPr lang="en-US" sz="1600" dirty="0">
                <a:solidFill>
                  <a:schemeClr val="tx1"/>
                </a:solidFill>
                <a:latin typeface="Arial" panose="020B0604020202020204" pitchFamily="34" charset="0"/>
                <a:cs typeface="Arial" panose="020B0604020202020204" pitchFamily="34" charset="0"/>
              </a:rPr>
              <a:t>1 output layer responsible of </a:t>
            </a:r>
            <a:r>
              <a:rPr lang="en-US" sz="1600" dirty="0" err="1">
                <a:solidFill>
                  <a:schemeClr val="tx1"/>
                </a:solidFill>
                <a:latin typeface="Arial" panose="020B0604020202020204" pitchFamily="34" charset="0"/>
                <a:cs typeface="Arial" panose="020B0604020202020204" pitchFamily="34" charset="0"/>
              </a:rPr>
              <a:t>outputing</a:t>
            </a:r>
            <a:r>
              <a:rPr lang="en-US" sz="1600" dirty="0">
                <a:solidFill>
                  <a:schemeClr val="tx1"/>
                </a:solidFill>
                <a:latin typeface="Arial" panose="020B0604020202020204" pitchFamily="34" charset="0"/>
                <a:cs typeface="Arial" panose="020B0604020202020204" pitchFamily="34" charset="0"/>
              </a:rPr>
              <a:t> a scalar value</a:t>
            </a:r>
          </a:p>
        </p:txBody>
      </p:sp>
    </p:spTree>
    <p:extLst>
      <p:ext uri="{BB962C8B-B14F-4D97-AF65-F5344CB8AC3E}">
        <p14:creationId xmlns:p14="http://schemas.microsoft.com/office/powerpoint/2010/main" val="24275855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575C-D09F-5472-54A3-C86EAF3067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6FB938-7186-75BF-759F-A89128C10B0A}"/>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EC9ED007-4C32-E471-B049-E972D72D8F8E}"/>
              </a:ext>
            </a:extLst>
          </p:cNvPr>
          <p:cNvSpPr/>
          <p:nvPr/>
        </p:nvSpPr>
        <p:spPr>
          <a:xfrm>
            <a:off x="1522414" y="2351088"/>
            <a:ext cx="10056400" cy="269592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optimizer_actor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optim</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Adam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.parameters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optim</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Adam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.parameters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gym</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make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'LunarLander-v3'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zeros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episode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3" name="TextBox 2">
            <a:extLst>
              <a:ext uri="{FF2B5EF4-FFF2-40B4-BE49-F238E27FC236}">
                <a16:creationId xmlns:a16="http://schemas.microsoft.com/office/drawing/2014/main" id="{46EC2244-6FB4-0C87-868E-4308A89DD866}"/>
              </a:ext>
            </a:extLst>
          </p:cNvPr>
          <p:cNvSpPr txBox="1"/>
          <p:nvPr/>
        </p:nvSpPr>
        <p:spPr>
          <a:xfrm>
            <a:off x="1504587" y="1828800"/>
            <a:ext cx="8841912" cy="369332"/>
          </a:xfrm>
          <a:prstGeom prst="rect">
            <a:avLst/>
          </a:prstGeom>
          <a:noFill/>
        </p:spPr>
        <p:txBody>
          <a:bodyPr wrap="square">
            <a:spAutoFit/>
          </a:bodyPr>
          <a:lstStyle/>
          <a:p>
            <a:r>
              <a:rPr lang="en-US" sz="1800" dirty="0">
                <a:solidFill>
                  <a:schemeClr val="bg1"/>
                </a:solidFill>
              </a:rPr>
              <a:t>Define the actor critic method that will train the actor and the critic networks</a:t>
            </a:r>
            <a:endParaRPr lang="en-US" dirty="0">
              <a:solidFill>
                <a:schemeClr val="bg1"/>
              </a:solidFill>
            </a:endParaRPr>
          </a:p>
        </p:txBody>
      </p:sp>
      <p:sp>
        <p:nvSpPr>
          <p:cNvPr id="7" name="TextBox 6">
            <a:extLst>
              <a:ext uri="{FF2B5EF4-FFF2-40B4-BE49-F238E27FC236}">
                <a16:creationId xmlns:a16="http://schemas.microsoft.com/office/drawing/2014/main" id="{086469DC-DE7C-26A0-5D00-B03056CEB998}"/>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2" name="Callout: Up Arrow 7">
            <a:extLst>
              <a:ext uri="{FF2B5EF4-FFF2-40B4-BE49-F238E27FC236}">
                <a16:creationId xmlns:a16="http://schemas.microsoft.com/office/drawing/2014/main" id="{E109FA6D-6D8A-1787-458E-AA7097579E38}"/>
              </a:ext>
            </a:extLst>
          </p:cNvPr>
          <p:cNvSpPr/>
          <p:nvPr/>
        </p:nvSpPr>
        <p:spPr>
          <a:xfrm>
            <a:off x="1522414" y="4664889"/>
            <a:ext cx="10056400" cy="1916112"/>
          </a:xfrm>
          <a:prstGeom prst="upArrowCallout">
            <a:avLst>
              <a:gd name="adj1" fmla="val 2567"/>
              <a:gd name="adj2" fmla="val 5469"/>
              <a:gd name="adj3" fmla="val 12246"/>
              <a:gd name="adj4" fmla="val 72492"/>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Define the </a:t>
            </a:r>
            <a:r>
              <a:rPr lang="en-US" dirty="0" err="1">
                <a:solidFill>
                  <a:schemeClr val="tx1"/>
                </a:solidFill>
                <a:latin typeface="Arial" panose="020B0604020202020204" pitchFamily="34" charset="0"/>
                <a:cs typeface="Arial" panose="020B0604020202020204" pitchFamily="34" charset="0"/>
              </a:rPr>
              <a:t>actor_critic</a:t>
            </a:r>
            <a:r>
              <a:rPr lang="en-US" dirty="0">
                <a:solidFill>
                  <a:schemeClr val="tx1"/>
                </a:solidFill>
                <a:latin typeface="Arial" panose="020B0604020202020204" pitchFamily="34" charset="0"/>
                <a:cs typeface="Arial" panose="020B0604020202020204" pitchFamily="34" charset="0"/>
              </a:rPr>
              <a:t> method that receives: the actor and critic model as well as some parameters for the optimizer (gamma and </a:t>
            </a:r>
            <a:r>
              <a:rPr lang="en-US" dirty="0" err="1">
                <a:solidFill>
                  <a:schemeClr val="tx1"/>
                </a:solidFill>
                <a:latin typeface="Arial" panose="020B0604020202020204" pitchFamily="34" charset="0"/>
                <a:cs typeface="Arial" panose="020B0604020202020204" pitchFamily="34" charset="0"/>
              </a:rPr>
              <a:t>lr</a:t>
            </a:r>
            <a:r>
              <a:rPr lang="en-US" dirty="0">
                <a:solidFill>
                  <a:schemeClr val="tx1"/>
                </a:solidFill>
                <a:latin typeface="Arial" panose="020B0604020202020204" pitchFamily="34" charset="0"/>
                <a:cs typeface="Arial" panose="020B0604020202020204" pitchFamily="34" charset="0"/>
              </a:rPr>
              <a:t> ).</a:t>
            </a:r>
          </a:p>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Initialize the environment. This will not show the window, thus will make the training faster. </a:t>
            </a:r>
          </a:p>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last_20_scores is used for the stopping condition. Other choice for stopping could have been used, like a nr of iterations.</a:t>
            </a:r>
          </a:p>
        </p:txBody>
      </p:sp>
    </p:spTree>
    <p:extLst>
      <p:ext uri="{BB962C8B-B14F-4D97-AF65-F5344CB8AC3E}">
        <p14:creationId xmlns:p14="http://schemas.microsoft.com/office/powerpoint/2010/main" val="9543417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34329-4F39-6796-ED31-9B1CF92632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F0BAB6-B848-323C-40CA-8DB47B4C42E2}"/>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3068605B-7873-8479-D465-A4FA3DAE3CED}"/>
              </a:ext>
            </a:extLst>
          </p:cNvPr>
          <p:cNvSpPr/>
          <p:nvPr/>
        </p:nvSpPr>
        <p:spPr>
          <a:xfrm>
            <a:off x="1522414" y="2351088"/>
            <a:ext cx="10056400" cy="230878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Aptos" panose="020B0004020202020204" pitchFamily="34" charset="0"/>
                <a:cs typeface="Consolas" panose="020B0609020204030204" pitchFamily="49" charset="0"/>
              </a:rPr>
              <a:t>   . .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episode</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reset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ep_return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False</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endParaRPr lang="en-US" kern="100" dirty="0">
              <a:effectLst/>
              <a:latin typeface="Consolas" panose="020B0609020204030204" pitchFamily="49" charset="0"/>
              <a:ea typeface="Aptos" panose="020B0004020202020204" pitchFamily="34" charset="0"/>
              <a:cs typeface="Consolas" panose="020B0609020204030204" pitchFamily="49" charset="0"/>
            </a:endParaRPr>
          </a:p>
        </p:txBody>
      </p:sp>
      <p:sp>
        <p:nvSpPr>
          <p:cNvPr id="3" name="TextBox 2">
            <a:extLst>
              <a:ext uri="{FF2B5EF4-FFF2-40B4-BE49-F238E27FC236}">
                <a16:creationId xmlns:a16="http://schemas.microsoft.com/office/drawing/2014/main" id="{7AD192D0-8BFC-9FB2-E67E-77B0EFCFEBB5}"/>
              </a:ext>
            </a:extLst>
          </p:cNvPr>
          <p:cNvSpPr txBox="1"/>
          <p:nvPr/>
        </p:nvSpPr>
        <p:spPr>
          <a:xfrm>
            <a:off x="1504587" y="1828800"/>
            <a:ext cx="6100996" cy="369332"/>
          </a:xfrm>
          <a:prstGeom prst="rect">
            <a:avLst/>
          </a:prstGeom>
          <a:noFill/>
        </p:spPr>
        <p:txBody>
          <a:bodyPr wrap="square">
            <a:spAutoFit/>
          </a:bodyPr>
          <a:lstStyle/>
          <a:p>
            <a:r>
              <a:rPr lang="en-US" sz="1800" dirty="0">
                <a:solidFill>
                  <a:schemeClr val="bg1"/>
                </a:solidFill>
              </a:rPr>
              <a:t>Define the necessary imports</a:t>
            </a:r>
            <a:endParaRPr lang="en-US" dirty="0">
              <a:solidFill>
                <a:schemeClr val="bg1"/>
              </a:solidFill>
            </a:endParaRPr>
          </a:p>
        </p:txBody>
      </p:sp>
      <p:sp>
        <p:nvSpPr>
          <p:cNvPr id="7" name="TextBox 6">
            <a:extLst>
              <a:ext uri="{FF2B5EF4-FFF2-40B4-BE49-F238E27FC236}">
                <a16:creationId xmlns:a16="http://schemas.microsoft.com/office/drawing/2014/main" id="{0FB35529-C171-F1E2-0DE6-0CF413FF8AF9}"/>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2" name="Callout: Up Arrow 7">
            <a:extLst>
              <a:ext uri="{FF2B5EF4-FFF2-40B4-BE49-F238E27FC236}">
                <a16:creationId xmlns:a16="http://schemas.microsoft.com/office/drawing/2014/main" id="{2A26DB6C-BA2C-5615-3E55-964F4106BC68}"/>
              </a:ext>
            </a:extLst>
          </p:cNvPr>
          <p:cNvSpPr/>
          <p:nvPr/>
        </p:nvSpPr>
        <p:spPr>
          <a:xfrm>
            <a:off x="1522414" y="4664889"/>
            <a:ext cx="10056400" cy="1916112"/>
          </a:xfrm>
          <a:prstGeom prst="upArrowCallout">
            <a:avLst>
              <a:gd name="adj1" fmla="val 3806"/>
              <a:gd name="adj2" fmla="val 5469"/>
              <a:gd name="adj3" fmla="val 12246"/>
              <a:gd name="adj4" fmla="val 84268"/>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Define the stopping condition: no episode less than 200 in the last 20 episodes</a:t>
            </a:r>
          </a:p>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Initialize some variables that we will update during training:</a:t>
            </a:r>
          </a:p>
          <a:p>
            <a:pPr marL="285750" indent="-285750">
              <a:buFont typeface="Arial" panose="020B0604020202020204" pitchFamily="34" charset="0"/>
              <a:buChar char="•"/>
            </a:pPr>
            <a:r>
              <a:rPr lang="en-US" dirty="0" err="1">
                <a:solidFill>
                  <a:schemeClr val="tx1"/>
                </a:solidFill>
                <a:latin typeface="Arial" panose="020B0604020202020204" pitchFamily="34" charset="0"/>
                <a:cs typeface="Arial" panose="020B0604020202020204" pitchFamily="34" charset="0"/>
              </a:rPr>
              <a:t>ep_return</a:t>
            </a:r>
            <a:r>
              <a:rPr lang="en-US" dirty="0">
                <a:solidFill>
                  <a:schemeClr val="tx1"/>
                </a:solidFill>
                <a:latin typeface="Arial" panose="020B0604020202020204" pitchFamily="34" charset="0"/>
                <a:cs typeface="Arial" panose="020B0604020202020204" pitchFamily="34" charset="0"/>
              </a:rPr>
              <a:t>: the entire reward value across an episode</a:t>
            </a:r>
          </a:p>
          <a:p>
            <a:pPr marL="285750" indent="-285750">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done : if the episode is finished</a:t>
            </a:r>
          </a:p>
          <a:p>
            <a:pPr marL="285750" indent="-285750">
              <a:buFont typeface="Arial" panose="020B0604020202020204" pitchFamily="34" charset="0"/>
              <a:buChar char="•"/>
            </a:pPr>
            <a:r>
              <a:rPr lang="en-US" dirty="0" err="1">
                <a:solidFill>
                  <a:schemeClr val="tx1"/>
                </a:solidFill>
                <a:latin typeface="Arial" panose="020B0604020202020204" pitchFamily="34" charset="0"/>
                <a:cs typeface="Arial" panose="020B0604020202020204" pitchFamily="34" charset="0"/>
              </a:rPr>
              <a:t>step_count</a:t>
            </a:r>
            <a:r>
              <a:rPr lang="en-US" dirty="0">
                <a:solidFill>
                  <a:schemeClr val="tx1"/>
                </a:solidFill>
                <a:latin typeface="Arial" panose="020B0604020202020204" pitchFamily="34" charset="0"/>
                <a:cs typeface="Arial" panose="020B0604020202020204" pitchFamily="34" charset="0"/>
              </a:rPr>
              <a:t> : nr of steps</a:t>
            </a:r>
          </a:p>
          <a:p>
            <a:pPr marL="285750" indent="-285750">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episode : current episode count</a:t>
            </a:r>
          </a:p>
        </p:txBody>
      </p:sp>
    </p:spTree>
    <p:extLst>
      <p:ext uri="{BB962C8B-B14F-4D97-AF65-F5344CB8AC3E}">
        <p14:creationId xmlns:p14="http://schemas.microsoft.com/office/powerpoint/2010/main" val="1256232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461B0-7D07-AFEB-C3DD-D67138FAA0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B745FF8-998A-77B4-AB75-F65921C760DE}"/>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3298BD6D-C957-D86B-3E22-6580CA44231B}"/>
              </a:ext>
            </a:extLst>
          </p:cNvPr>
          <p:cNvSpPr/>
          <p:nvPr/>
        </p:nvSpPr>
        <p:spPr>
          <a:xfrm>
            <a:off x="1522414" y="1511022"/>
            <a:ext cx="10056400" cy="32628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Aptos" panose="020B0004020202020204" pitchFamily="34" charset="0"/>
                <a:cs typeface="Consolas" panose="020B0609020204030204" pitchFamily="49" charset="0"/>
              </a:rPr>
              <a:t>   . .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 . .</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not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and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state_tensor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dirty="0" err="1">
                <a:solidFill>
                  <a:srgbClr val="43C0A0"/>
                </a:solidFill>
                <a:latin typeface="Consolas" panose="020B0609020204030204" pitchFamily="49" charset="0"/>
                <a:ea typeface="Aptos" panose="020B0004020202020204" pitchFamily="34" charset="0"/>
                <a:cs typeface="Consolas" panose="020B0609020204030204" pitchFamily="49" charset="0"/>
              </a:rPr>
              <a:t>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state, </a:t>
            </a:r>
            <a:r>
              <a:rPr lang="en-US" b="0" dirty="0" err="1">
                <a:solidFill>
                  <a:srgbClr val="9CDCFE"/>
                </a:solidFill>
                <a:effectLst/>
                <a:latin typeface="Consolas" panose="020B0609020204030204" pitchFamily="49" charset="0"/>
                <a:cs typeface="Consolas" panose="020B0609020204030204" pitchFamily="49" charset="0"/>
              </a:rPr>
              <a:t>dtype</a:t>
            </a:r>
            <a:r>
              <a:rPr lang="en-US" b="0" dirty="0">
                <a:solidFill>
                  <a:srgbClr val="D4D4D4"/>
                </a:solidFill>
                <a:effectLst/>
                <a:latin typeface="Consolas" panose="020B0609020204030204" pitchFamily="49" charset="0"/>
                <a:cs typeface="Consolas" panose="020B0609020204030204" pitchFamily="49" charset="0"/>
              </a:rPr>
              <a:t>=</a:t>
            </a:r>
            <a:r>
              <a:rPr lang="en-US" b="0" dirty="0">
                <a:solidFill>
                  <a:srgbClr val="4EC9B0"/>
                </a:solidFill>
                <a:effectLst/>
                <a:latin typeface="Consolas" panose="020B0609020204030204" pitchFamily="49" charset="0"/>
                <a:cs typeface="Consolas" panose="020B0609020204030204" pitchFamily="49" charset="0"/>
              </a:rPr>
              <a:t>torch</a:t>
            </a:r>
            <a:r>
              <a:rPr lang="en-US" b="0" dirty="0">
                <a:solidFill>
                  <a:srgbClr val="CCCCCC"/>
                </a:solidFill>
                <a:effectLst/>
                <a:latin typeface="Consolas" panose="020B0609020204030204" pitchFamily="49" charset="0"/>
                <a:cs typeface="Consolas" panose="020B0609020204030204" pitchFamily="49" charset="0"/>
              </a:rPr>
              <a:t>.</a:t>
            </a:r>
            <a:r>
              <a:rPr lang="en-US" b="0" dirty="0">
                <a:solidFill>
                  <a:srgbClr val="9CDCFE"/>
                </a:solidFill>
                <a:effectLst/>
                <a:latin typeface="Consolas" panose="020B0609020204030204" pitchFamily="49" charset="0"/>
                <a:cs typeface="Consolas" panose="020B0609020204030204" pitchFamily="49" charset="0"/>
              </a:rPr>
              <a:t>float32</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Actor selects action</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action_probs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state_tensor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dist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3C0A0"/>
                </a:solidFill>
                <a:effectLst/>
                <a:latin typeface="Consolas" panose="020B0609020204030204" pitchFamily="49" charset="0"/>
                <a:ea typeface="Aptos" panose="020B0004020202020204" pitchFamily="34" charset="0"/>
                <a:cs typeface="Consolas" panose="020B0609020204030204" pitchFamily="49" charset="0"/>
              </a:rPr>
              <a:t>Categorical</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action_probs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action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dist</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sample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Take action and observe next state and reward</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next_state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reward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_</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_</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step</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action</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item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A3AE6A86-E986-4845-423B-4C3DC381BE8F}"/>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4" name="Callout: Up Arrow 7">
            <a:extLst>
              <a:ext uri="{FF2B5EF4-FFF2-40B4-BE49-F238E27FC236}">
                <a16:creationId xmlns:a16="http://schemas.microsoft.com/office/drawing/2014/main" id="{2CE0B3A3-F448-CEAF-1F5A-D87AEBAE3664}"/>
              </a:ext>
            </a:extLst>
          </p:cNvPr>
          <p:cNvSpPr/>
          <p:nvPr/>
        </p:nvSpPr>
        <p:spPr>
          <a:xfrm>
            <a:off x="1522414" y="4664889"/>
            <a:ext cx="10056400" cy="1916112"/>
          </a:xfrm>
          <a:prstGeom prst="upArrowCallout">
            <a:avLst>
              <a:gd name="adj1" fmla="val 3806"/>
              <a:gd name="adj2" fmla="val 5469"/>
              <a:gd name="adj3" fmla="val 12246"/>
              <a:gd name="adj4" fmla="val 84268"/>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Convert the state to a tensor.</a:t>
            </a:r>
          </a:p>
          <a:p>
            <a:r>
              <a:rPr lang="en-US" dirty="0">
                <a:solidFill>
                  <a:schemeClr val="tx1"/>
                </a:solidFill>
                <a:latin typeface="Arial" panose="020B0604020202020204" pitchFamily="34" charset="0"/>
                <a:cs typeface="Arial" panose="020B0604020202020204" pitchFamily="34" charset="0"/>
              </a:rPr>
              <a:t>Send the state to the actor model and the probabilities of each action given the state.</a:t>
            </a:r>
          </a:p>
          <a:p>
            <a:r>
              <a:rPr lang="en-US" dirty="0">
                <a:solidFill>
                  <a:schemeClr val="tx1"/>
                </a:solidFill>
                <a:latin typeface="Arial" panose="020B0604020202020204" pitchFamily="34" charset="0"/>
                <a:cs typeface="Arial" panose="020B0604020202020204" pitchFamily="34" charset="0"/>
              </a:rPr>
              <a:t>Sample an action based on the probabilities.</a:t>
            </a:r>
          </a:p>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Take the action and observe the </a:t>
            </a:r>
            <a:r>
              <a:rPr lang="en-US" b="1" dirty="0" err="1">
                <a:solidFill>
                  <a:schemeClr val="tx1"/>
                </a:solidFill>
                <a:latin typeface="Arial" panose="020B0604020202020204" pitchFamily="34" charset="0"/>
                <a:cs typeface="Arial" panose="020B0604020202020204" pitchFamily="34" charset="0"/>
              </a:rPr>
              <a:t>next_state</a:t>
            </a:r>
            <a:r>
              <a:rPr lang="en-US" dirty="0">
                <a:solidFill>
                  <a:schemeClr val="tx1"/>
                </a:solidFill>
                <a:latin typeface="Arial" panose="020B0604020202020204" pitchFamily="34" charset="0"/>
                <a:cs typeface="Arial" panose="020B0604020202020204" pitchFamily="34" charset="0"/>
              </a:rPr>
              <a:t>, the immediate </a:t>
            </a:r>
            <a:r>
              <a:rPr lang="en-US" b="1" dirty="0">
                <a:solidFill>
                  <a:schemeClr val="tx1"/>
                </a:solidFill>
                <a:latin typeface="Arial" panose="020B0604020202020204" pitchFamily="34" charset="0"/>
                <a:cs typeface="Arial" panose="020B0604020202020204" pitchFamily="34" charset="0"/>
              </a:rPr>
              <a:t>reward,</a:t>
            </a:r>
            <a:r>
              <a:rPr lang="en-US" dirty="0">
                <a:solidFill>
                  <a:schemeClr val="tx1"/>
                </a:solidFill>
                <a:latin typeface="Arial" panose="020B0604020202020204" pitchFamily="34" charset="0"/>
                <a:cs typeface="Arial" panose="020B0604020202020204" pitchFamily="34" charset="0"/>
              </a:rPr>
              <a:t> if the episode if finished (</a:t>
            </a:r>
            <a:r>
              <a:rPr lang="en-US" b="1" dirty="0">
                <a:solidFill>
                  <a:schemeClr val="tx1"/>
                </a:solidFill>
                <a:latin typeface="Arial" panose="020B0604020202020204" pitchFamily="34" charset="0"/>
                <a:cs typeface="Arial" panose="020B0604020202020204" pitchFamily="34" charset="0"/>
              </a:rPr>
              <a:t>done). </a:t>
            </a:r>
            <a:r>
              <a:rPr lang="en-US" dirty="0">
                <a:solidFill>
                  <a:schemeClr val="tx1"/>
                </a:solidFill>
                <a:latin typeface="Arial" panose="020B0604020202020204" pitchFamily="34" charset="0"/>
                <a:cs typeface="Arial" panose="020B0604020202020204" pitchFamily="34" charset="0"/>
              </a:rPr>
              <a:t>Step also returns other info like if the episode was truncated or other debug information , but these are skipped: (https://</a:t>
            </a:r>
            <a:r>
              <a:rPr lang="en-US" dirty="0" err="1">
                <a:solidFill>
                  <a:schemeClr val="tx1"/>
                </a:solidFill>
                <a:latin typeface="Arial" panose="020B0604020202020204" pitchFamily="34" charset="0"/>
                <a:cs typeface="Arial" panose="020B0604020202020204" pitchFamily="34" charset="0"/>
              </a:rPr>
              <a:t>gymnasium.farama.org</a:t>
            </a:r>
            <a:r>
              <a:rPr lang="en-US" dirty="0">
                <a:solidFill>
                  <a:schemeClr val="tx1"/>
                </a:solidFill>
                <a:latin typeface="Arial" panose="020B0604020202020204" pitchFamily="34" charset="0"/>
                <a:cs typeface="Arial" panose="020B0604020202020204" pitchFamily="34" charset="0"/>
              </a:rPr>
              <a:t>/</a:t>
            </a:r>
            <a:r>
              <a:rPr lang="en-US" dirty="0" err="1">
                <a:solidFill>
                  <a:schemeClr val="tx1"/>
                </a:solidFill>
                <a:latin typeface="Arial" panose="020B0604020202020204" pitchFamily="34" charset="0"/>
                <a:cs typeface="Arial" panose="020B0604020202020204" pitchFamily="34" charset="0"/>
              </a:rPr>
              <a:t>api</a:t>
            </a:r>
            <a:r>
              <a:rPr lang="en-US" dirty="0">
                <a:solidFill>
                  <a:schemeClr val="tx1"/>
                </a:solidFill>
                <a:latin typeface="Arial" panose="020B0604020202020204" pitchFamily="34" charset="0"/>
                <a:cs typeface="Arial" panose="020B0604020202020204" pitchFamily="34" charset="0"/>
              </a:rPr>
              <a:t>/env/#</a:t>
            </a:r>
            <a:r>
              <a:rPr lang="en-US" dirty="0" err="1">
                <a:solidFill>
                  <a:schemeClr val="tx1"/>
                </a:solidFill>
                <a:latin typeface="Arial" panose="020B0604020202020204" pitchFamily="34" charset="0"/>
                <a:cs typeface="Arial" panose="020B0604020202020204" pitchFamily="34" charset="0"/>
              </a:rPr>
              <a:t>gymnasium.Env.step</a:t>
            </a:r>
            <a:r>
              <a:rPr lang="en-US"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63296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B54D-7B5E-43F9-377F-8D200638506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74DA47B-EE7D-F441-11EA-1D134378F37D}"/>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8DB5CC0E-C348-4763-E5DA-06A071918293}"/>
              </a:ext>
            </a:extLst>
          </p:cNvPr>
          <p:cNvSpPr/>
          <p:nvPr/>
        </p:nvSpPr>
        <p:spPr>
          <a:xfrm>
            <a:off x="1522414" y="1511022"/>
            <a:ext cx="10056400" cy="359536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Aptos" panose="020B0004020202020204" pitchFamily="34" charset="0"/>
                <a:cs typeface="Consolas" panose="020B0609020204030204" pitchFamily="49" charset="0"/>
              </a:rPr>
              <a:t>   . .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 . .</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not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and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 . .</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#add distance as penalty: </a:t>
            </a:r>
            <a:r>
              <a:rPr lang="en-US" dirty="0">
                <a:solidFill>
                  <a:srgbClr val="598A43"/>
                </a:solidFill>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next_state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next_state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598A43"/>
                </a:solidFill>
                <a:effectLst/>
                <a:latin typeface="Consolas" panose="020B0609020204030204" pitchFamily="49" charset="0"/>
                <a:ea typeface="Aptos" panose="020B0004020202020204" pitchFamily="34" charset="0"/>
                <a:cs typeface="Consolas" panose="020B0609020204030204" pitchFamily="49" charset="0"/>
              </a:rPr>
              <a:t>bmr</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train_penalty</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y</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train_penalty</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x</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train_penalty</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reward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train_penalty</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CA061422-2DBB-CB41-6084-8F707D5EA0BB}"/>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4" name="Callout: Up Arrow 7">
            <a:extLst>
              <a:ext uri="{FF2B5EF4-FFF2-40B4-BE49-F238E27FC236}">
                <a16:creationId xmlns:a16="http://schemas.microsoft.com/office/drawing/2014/main" id="{E184F2DE-3820-498D-7F14-3134CAFB9993}"/>
              </a:ext>
            </a:extLst>
          </p:cNvPr>
          <p:cNvSpPr/>
          <p:nvPr/>
        </p:nvSpPr>
        <p:spPr>
          <a:xfrm>
            <a:off x="1522414" y="5106389"/>
            <a:ext cx="10056400" cy="1474611"/>
          </a:xfrm>
          <a:prstGeom prst="upArrowCallout">
            <a:avLst>
              <a:gd name="adj1" fmla="val 3806"/>
              <a:gd name="adj2" fmla="val 5469"/>
              <a:gd name="adj3" fmla="val 12246"/>
              <a:gd name="adj4" fmla="val 84268"/>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Add a penalty to the reward in order to improve training. The reward will pe penalized by how far the ship is from the landing zone (0,0). A penalty is also added that is directly proportional to the number of steps.</a:t>
            </a:r>
          </a:p>
        </p:txBody>
      </p:sp>
    </p:spTree>
    <p:extLst>
      <p:ext uri="{BB962C8B-B14F-4D97-AF65-F5344CB8AC3E}">
        <p14:creationId xmlns:p14="http://schemas.microsoft.com/office/powerpoint/2010/main" val="129992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A13A0-79F4-3161-CF3E-6BDB6D01EB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1FF4C76-646F-A8DF-7D12-88FCDF296901}"/>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54C1BEEF-0BB1-BD52-685D-3BC094D68D35}"/>
              </a:ext>
            </a:extLst>
          </p:cNvPr>
          <p:cNvSpPr/>
          <p:nvPr/>
        </p:nvSpPr>
        <p:spPr>
          <a:xfrm>
            <a:off x="1522414" y="1511022"/>
            <a:ext cx="10056400" cy="359536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Aptos" panose="020B0004020202020204" pitchFamily="34" charset="0"/>
                <a:cs typeface="Consolas" panose="020B0609020204030204" pitchFamily="49" charset="0"/>
              </a:rPr>
              <a:t>   . .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 . .</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not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and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 . .</a:t>
            </a:r>
            <a:r>
              <a:rPr lang="en-US" dirty="0">
                <a:solidFill>
                  <a:srgbClr val="598A43"/>
                </a:solidFill>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 Critic estimates value function</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value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state_tensor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next_value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FloatTensor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next_state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Calculate TD target and Advantage</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td_target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reward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gamma</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next_value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advantage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td_target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value</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FBDDB796-2ECD-CD08-51F8-7D59366D192B}"/>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4" name="Callout: Up Arrow 7">
            <a:extLst>
              <a:ext uri="{FF2B5EF4-FFF2-40B4-BE49-F238E27FC236}">
                <a16:creationId xmlns:a16="http://schemas.microsoft.com/office/drawing/2014/main" id="{11594553-1C29-1645-858C-11C1F8FD178C}"/>
              </a:ext>
            </a:extLst>
          </p:cNvPr>
          <p:cNvSpPr/>
          <p:nvPr/>
        </p:nvSpPr>
        <p:spPr>
          <a:xfrm>
            <a:off x="1522414" y="5106389"/>
            <a:ext cx="10056400" cy="1474611"/>
          </a:xfrm>
          <a:prstGeom prst="upArrowCallout">
            <a:avLst>
              <a:gd name="adj1" fmla="val 3806"/>
              <a:gd name="adj2" fmla="val 5469"/>
              <a:gd name="adj3" fmla="val 12246"/>
              <a:gd name="adj4" fmla="val 84268"/>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Use the critic to evaluate the current state and the next state.</a:t>
            </a:r>
          </a:p>
          <a:p>
            <a:r>
              <a:rPr lang="en-US" dirty="0">
                <a:solidFill>
                  <a:schemeClr val="tx1"/>
                </a:solidFill>
                <a:latin typeface="Arial" panose="020B0604020202020204" pitchFamily="34" charset="0"/>
                <a:cs typeface="Arial" panose="020B0604020202020204" pitchFamily="34" charset="0"/>
              </a:rPr>
              <a:t>Compute the value based on the current reward and the value of the next state, discounted by gamma.</a:t>
            </a:r>
          </a:p>
          <a:p>
            <a:r>
              <a:rPr lang="en-US" dirty="0">
                <a:solidFill>
                  <a:schemeClr val="tx1"/>
                </a:solidFill>
                <a:latin typeface="Arial" panose="020B0604020202020204" pitchFamily="34" charset="0"/>
                <a:cs typeface="Arial" panose="020B0604020202020204" pitchFamily="34" charset="0"/>
              </a:rPr>
              <a:t>Compute the advantage between the future state and the current state.</a:t>
            </a:r>
          </a:p>
        </p:txBody>
      </p:sp>
    </p:spTree>
    <p:extLst>
      <p:ext uri="{BB962C8B-B14F-4D97-AF65-F5344CB8AC3E}">
        <p14:creationId xmlns:p14="http://schemas.microsoft.com/office/powerpoint/2010/main" val="1126312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4E53-244A-15F6-4C10-BC6934F26AE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C9BB41-DC4D-89DC-115C-E556BF6F6E7C}"/>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E24E3C07-091D-7DE8-6F74-B7A410971722}"/>
              </a:ext>
            </a:extLst>
          </p:cNvPr>
          <p:cNvSpPr/>
          <p:nvPr/>
        </p:nvSpPr>
        <p:spPr>
          <a:xfrm>
            <a:off x="1522414" y="1511022"/>
            <a:ext cx="10056400" cy="266909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Aptos" panose="020B0004020202020204" pitchFamily="34" charset="0"/>
                <a:cs typeface="Consolas" panose="020B0609020204030204" pitchFamily="49" charset="0"/>
              </a:rPr>
              <a:t>   . .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 . .</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not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and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 . .</a:t>
            </a:r>
            <a:r>
              <a:rPr lang="en-US" dirty="0">
                <a:solidFill>
                  <a:srgbClr val="598A43"/>
                </a:solidFill>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Critic update with MSE loss</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critic_loss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F</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mse_loss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value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td_target</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.detach</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optimizer_critic</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zero_grad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critic_loss</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backward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optimizer_critic</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step</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180C8112-6935-BAFB-2EDE-FC386172A42D}"/>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4" name="Callout: Up Arrow 7">
            <a:extLst>
              <a:ext uri="{FF2B5EF4-FFF2-40B4-BE49-F238E27FC236}">
                <a16:creationId xmlns:a16="http://schemas.microsoft.com/office/drawing/2014/main" id="{A79D7A24-2983-518B-E725-D71BB7AB6846}"/>
              </a:ext>
            </a:extLst>
          </p:cNvPr>
          <p:cNvSpPr/>
          <p:nvPr/>
        </p:nvSpPr>
        <p:spPr>
          <a:xfrm>
            <a:off x="1439287" y="4180114"/>
            <a:ext cx="10056400" cy="2196935"/>
          </a:xfrm>
          <a:prstGeom prst="upArrowCallout">
            <a:avLst>
              <a:gd name="adj1" fmla="val 3806"/>
              <a:gd name="adj2" fmla="val 5469"/>
              <a:gd name="adj3" fmla="val 12246"/>
              <a:gd name="adj4" fmla="val 84268"/>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Update the Critic network that evaluates the value of the current state. Compute the loss between the output (value) at the current state and the value based on the next state and the immediate received reward.</a:t>
            </a:r>
          </a:p>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Update the weights of the networks.</a:t>
            </a:r>
          </a:p>
          <a:p>
            <a:endParaRPr lang="en-US" dirty="0">
              <a:solidFill>
                <a:schemeClr val="tx1"/>
              </a:solidFill>
              <a:latin typeface="Arial" panose="020B0604020202020204" pitchFamily="34" charset="0"/>
              <a:cs typeface="Arial" panose="020B0604020202020204" pitchFamily="34" charset="0"/>
            </a:endParaRPr>
          </a:p>
          <a:p>
            <a:r>
              <a:rPr lang="en-US" dirty="0" err="1">
                <a:solidFill>
                  <a:schemeClr val="tx1"/>
                </a:solidFill>
                <a:latin typeface="Arial" panose="020B0604020202020204" pitchFamily="34" charset="0"/>
                <a:cs typeface="Arial" panose="020B0604020202020204" pitchFamily="34" charset="0"/>
              </a:rPr>
              <a:t>td_target</a:t>
            </a:r>
            <a:r>
              <a:rPr lang="en-US" dirty="0">
                <a:solidFill>
                  <a:schemeClr val="tx1"/>
                </a:solidFill>
                <a:latin typeface="Arial" panose="020B0604020202020204" pitchFamily="34" charset="0"/>
                <a:cs typeface="Arial" panose="020B0604020202020204" pitchFamily="34" charset="0"/>
              </a:rPr>
              <a:t> is computed based on </a:t>
            </a:r>
            <a:r>
              <a:rPr lang="en-US" dirty="0" err="1">
                <a:solidFill>
                  <a:schemeClr val="tx1"/>
                </a:solidFill>
                <a:latin typeface="Arial" panose="020B0604020202020204" pitchFamily="34" charset="0"/>
                <a:cs typeface="Arial" panose="020B0604020202020204" pitchFamily="34" charset="0"/>
              </a:rPr>
              <a:t>next_value</a:t>
            </a:r>
            <a:r>
              <a:rPr lang="en-US" dirty="0">
                <a:solidFill>
                  <a:schemeClr val="tx1"/>
                </a:solidFill>
                <a:latin typeface="Arial" panose="020B0604020202020204" pitchFamily="34" charset="0"/>
                <a:cs typeface="Arial" panose="020B0604020202020204" pitchFamily="34" charset="0"/>
              </a:rPr>
              <a:t> which is the output of the critic network. We just want a value for the loss, we do not want gradients to flow through the network that computed the </a:t>
            </a:r>
            <a:r>
              <a:rPr lang="en-US" dirty="0" err="1">
                <a:solidFill>
                  <a:schemeClr val="tx1"/>
                </a:solidFill>
                <a:latin typeface="Arial" panose="020B0604020202020204" pitchFamily="34" charset="0"/>
                <a:cs typeface="Arial" panose="020B0604020202020204" pitchFamily="34" charset="0"/>
              </a:rPr>
              <a:t>next_value</a:t>
            </a:r>
            <a:r>
              <a:rPr lang="en-US" dirty="0">
                <a:solidFill>
                  <a:schemeClr val="tx1"/>
                </a:solidFill>
                <a:latin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cs typeface="Arial" panose="020B0604020202020204" pitchFamily="34" charset="0"/>
              </a:rPr>
              <a:t>.detach </a:t>
            </a:r>
            <a:r>
              <a:rPr lang="en-US" dirty="0">
                <a:solidFill>
                  <a:schemeClr val="tx1"/>
                </a:solidFill>
                <a:latin typeface="Arial" panose="020B0604020202020204" pitchFamily="34" charset="0"/>
                <a:cs typeface="Arial" panose="020B0604020202020204" pitchFamily="34" charset="0"/>
              </a:rPr>
              <a:t>returns the tensor , but detached from computation graph. Doesn’t require a gradient.</a:t>
            </a:r>
            <a:endParaRPr lang="en-US"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87330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39D78-1941-7F47-9AD9-A6A7BE2421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5263DB5-90A7-0144-3E58-E66DBEB694AA}"/>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EA243A7C-EB4C-7337-7C9F-09B1FA92C7BC}"/>
              </a:ext>
            </a:extLst>
          </p:cNvPr>
          <p:cNvSpPr/>
          <p:nvPr/>
        </p:nvSpPr>
        <p:spPr>
          <a:xfrm>
            <a:off x="1522414" y="1511022"/>
            <a:ext cx="10056400" cy="282751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Aptos" panose="020B0004020202020204" pitchFamily="34" charset="0"/>
                <a:cs typeface="Consolas" panose="020B0609020204030204" pitchFamily="49" charset="0"/>
              </a:rPr>
              <a:t>   . .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 . .</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not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and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 . .</a:t>
            </a:r>
            <a:r>
              <a:rPr lang="en-US" dirty="0">
                <a:solidFill>
                  <a:srgbClr val="598A43"/>
                </a:solidFill>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 Actor update</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log_prob</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dist</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log_prob</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action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actor_loss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log_prob</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advantage</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.detach</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optimizer_actor</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zero_grad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actor_loss</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.backward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optimizer_actor</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step</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4EFD698F-AE4E-8467-ABF6-1C94B736C0DF}"/>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4" name="Callout: Up Arrow 7">
            <a:extLst>
              <a:ext uri="{FF2B5EF4-FFF2-40B4-BE49-F238E27FC236}">
                <a16:creationId xmlns:a16="http://schemas.microsoft.com/office/drawing/2014/main" id="{1F750C4B-2975-9CC7-C364-E413EFBD34F3}"/>
              </a:ext>
            </a:extLst>
          </p:cNvPr>
          <p:cNvSpPr/>
          <p:nvPr/>
        </p:nvSpPr>
        <p:spPr>
          <a:xfrm>
            <a:off x="1439286" y="4180114"/>
            <a:ext cx="10139527" cy="2196935"/>
          </a:xfrm>
          <a:prstGeom prst="upArrowCallout">
            <a:avLst>
              <a:gd name="adj1" fmla="val 3806"/>
              <a:gd name="adj2" fmla="val 5469"/>
              <a:gd name="adj3" fmla="val 12246"/>
              <a:gd name="adj4" fmla="val 84268"/>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Update the Actor network. This is being performed using the derived formulas for the advantage actor critic.</a:t>
            </a:r>
          </a:p>
          <a:p>
            <a:endParaRPr lang="en-US" dirty="0">
              <a:solidFill>
                <a:schemeClr val="tx1"/>
              </a:solidFill>
              <a:latin typeface="Arial" panose="020B0604020202020204" pitchFamily="34" charset="0"/>
              <a:cs typeface="Arial" panose="020B0604020202020204" pitchFamily="34" charset="0"/>
            </a:endParaRPr>
          </a:p>
          <a:p>
            <a:pPr marL="342900" indent="-342900">
              <a:buAutoNum type="arabicPeriod"/>
            </a:pPr>
            <a:r>
              <a:rPr lang="en-US" dirty="0">
                <a:solidFill>
                  <a:schemeClr val="tx1"/>
                </a:solidFill>
                <a:latin typeface="Arial" panose="020B0604020202020204" pitchFamily="34" charset="0"/>
                <a:cs typeface="Arial" panose="020B0604020202020204" pitchFamily="34" charset="0"/>
              </a:rPr>
              <a:t>Compute the log of the prob. of the action that was taken. This is equivalent to calling </a:t>
            </a:r>
            <a:r>
              <a:rPr lang="en-US" dirty="0" err="1">
                <a:solidFill>
                  <a:schemeClr val="tx1"/>
                </a:solidFill>
                <a:latin typeface="Consolas" panose="020B0609020204030204" pitchFamily="49" charset="0"/>
                <a:cs typeface="Consolas" panose="020B0609020204030204" pitchFamily="49" charset="0"/>
              </a:rPr>
              <a:t>torch.log</a:t>
            </a:r>
            <a:r>
              <a:rPr lang="en-US" dirty="0">
                <a:solidFill>
                  <a:schemeClr val="tx1"/>
                </a:solidFill>
                <a:latin typeface="Consolas" panose="020B0609020204030204" pitchFamily="49" charset="0"/>
                <a:cs typeface="Consolas" panose="020B0609020204030204" pitchFamily="49" charset="0"/>
              </a:rPr>
              <a:t>(</a:t>
            </a:r>
            <a:r>
              <a:rPr lang="en-US" dirty="0" err="1">
                <a:solidFill>
                  <a:schemeClr val="tx1"/>
                </a:solidFill>
                <a:latin typeface="Consolas" panose="020B0609020204030204" pitchFamily="49" charset="0"/>
                <a:cs typeface="Consolas" panose="020B0609020204030204" pitchFamily="49" charset="0"/>
              </a:rPr>
              <a:t>action_probs</a:t>
            </a:r>
            <a:r>
              <a:rPr lang="en-US" dirty="0">
                <a:solidFill>
                  <a:schemeClr val="tx1"/>
                </a:solidFill>
                <a:latin typeface="Consolas" panose="020B0609020204030204" pitchFamily="49" charset="0"/>
                <a:cs typeface="Consolas" panose="020B0609020204030204" pitchFamily="49" charset="0"/>
              </a:rPr>
              <a:t>[action]</a:t>
            </a:r>
          </a:p>
          <a:p>
            <a:pPr marL="342900" indent="-342900">
              <a:buAutoNum type="arabicPeriod"/>
            </a:pPr>
            <a:r>
              <a:rPr lang="en-US" dirty="0">
                <a:solidFill>
                  <a:schemeClr val="tx1"/>
                </a:solidFill>
                <a:latin typeface="Arial" panose="020B0604020202020204" pitchFamily="34" charset="0"/>
                <a:cs typeface="Arial" panose="020B0604020202020204" pitchFamily="34" charset="0"/>
              </a:rPr>
              <a:t>Multiply by the advantage computed. This is </a:t>
            </a:r>
            <a:r>
              <a:rPr lang="en-US" dirty="0" err="1">
                <a:solidFill>
                  <a:schemeClr val="tx1"/>
                </a:solidFill>
                <a:latin typeface="Arial" panose="020B0604020202020204" pitchFamily="34" charset="0"/>
                <a:cs typeface="Arial" panose="020B0604020202020204" pitchFamily="34" charset="0"/>
              </a:rPr>
              <a:t>equiavalent</a:t>
            </a:r>
            <a:r>
              <a:rPr lang="en-US" dirty="0">
                <a:solidFill>
                  <a:schemeClr val="tx1"/>
                </a:solidFill>
                <a:latin typeface="Arial" panose="020B0604020202020204" pitchFamily="34" charset="0"/>
                <a:cs typeface="Arial" panose="020B0604020202020204" pitchFamily="34" charset="0"/>
              </a:rPr>
              <a:t> to computing rewards in the future</a:t>
            </a:r>
          </a:p>
          <a:p>
            <a:pPr marL="342900" indent="-342900">
              <a:buAutoNum type="arabicPeriod"/>
            </a:pPr>
            <a:r>
              <a:rPr lang="en-US" dirty="0">
                <a:solidFill>
                  <a:schemeClr val="tx1"/>
                </a:solidFill>
                <a:latin typeface="Arial" panose="020B0604020202020204" pitchFamily="34" charset="0"/>
                <a:cs typeface="Arial" panose="020B0604020202020204" pitchFamily="34" charset="0"/>
              </a:rPr>
              <a:t>Use this product as a loss function (use a minus to minimize)</a:t>
            </a:r>
          </a:p>
          <a:p>
            <a:pPr marL="342900" indent="-342900">
              <a:buAutoNum type="arabicPeriod"/>
            </a:pPr>
            <a:r>
              <a:rPr lang="en-US" dirty="0">
                <a:solidFill>
                  <a:schemeClr val="tx1"/>
                </a:solidFill>
                <a:latin typeface="Arial" panose="020B0604020202020204" pitchFamily="34" charset="0"/>
                <a:cs typeface="Arial" panose="020B0604020202020204" pitchFamily="34" charset="0"/>
              </a:rPr>
              <a:t>Perform backpropagation and update weights</a:t>
            </a:r>
          </a:p>
        </p:txBody>
      </p:sp>
    </p:spTree>
    <p:extLst>
      <p:ext uri="{BB962C8B-B14F-4D97-AF65-F5344CB8AC3E}">
        <p14:creationId xmlns:p14="http://schemas.microsoft.com/office/powerpoint/2010/main" val="3669528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5D15-04C7-B02D-2D98-CFB2C2ABA24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0CA264-42CF-042A-E55A-B7C00CCD31E6}"/>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B9B12075-64A2-E627-EF81-D33DEE1C890F}"/>
              </a:ext>
            </a:extLst>
          </p:cNvPr>
          <p:cNvSpPr/>
          <p:nvPr/>
        </p:nvSpPr>
        <p:spPr>
          <a:xfrm>
            <a:off x="1522414" y="1511022"/>
            <a:ext cx="10056400" cy="329848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actor_critic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critic</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gamma</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0.99</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lr_actor</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lr_critic</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1e-3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latin typeface="Consolas" panose="020B0609020204030204" pitchFamily="49" charset="0"/>
                <a:ea typeface="Aptos" panose="020B0004020202020204" pitchFamily="34" charset="0"/>
                <a:cs typeface="Consolas" panose="020B0609020204030204" pitchFamily="49" charset="0"/>
              </a:rPr>
              <a:t>   . .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min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 . .</a:t>
            </a: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not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and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step_count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&lt;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 . .</a:t>
            </a:r>
            <a:r>
              <a:rPr lang="en-US" dirty="0">
                <a:solidFill>
                  <a:srgbClr val="598A43"/>
                </a:solidFill>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a:lnSpc>
                <a:spcPts val="1725"/>
              </a:lnSpc>
            </a:pPr>
            <a:r>
              <a:rPr lang="en-US" b="0" dirty="0">
                <a:solidFill>
                  <a:srgbClr val="6A9955"/>
                </a:solidFill>
                <a:effectLst/>
                <a:latin typeface="Consolas" panose="020B0609020204030204" pitchFamily="49" charset="0"/>
                <a:cs typeface="Consolas" panose="020B0609020204030204" pitchFamily="49" charset="0"/>
              </a:rPr>
              <a:t>           # Update state, episode return, and step count</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b="0" dirty="0">
                <a:solidFill>
                  <a:srgbClr val="9CDCFE"/>
                </a:solidFill>
                <a:effectLst/>
                <a:latin typeface="Consolas" panose="020B0609020204030204" pitchFamily="49" charset="0"/>
                <a:cs typeface="Consolas" panose="020B0609020204030204" pitchFamily="49" charset="0"/>
              </a:rPr>
              <a:t>           state</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D4D4D4"/>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 </a:t>
            </a:r>
            <a:r>
              <a:rPr lang="en-US" b="0" dirty="0" err="1">
                <a:solidFill>
                  <a:srgbClr val="9CDCFE"/>
                </a:solidFill>
                <a:effectLst/>
                <a:latin typeface="Consolas" panose="020B0609020204030204" pitchFamily="49" charset="0"/>
                <a:cs typeface="Consolas" panose="020B0609020204030204" pitchFamily="49" charset="0"/>
              </a:rPr>
              <a:t>next_state</a:t>
            </a:r>
            <a:endParaRPr lang="en-US" b="0" dirty="0">
              <a:solidFill>
                <a:srgbClr val="CCCCCC"/>
              </a:solidFill>
              <a:effectLst/>
              <a:latin typeface="Consolas" panose="020B0609020204030204" pitchFamily="49" charset="0"/>
              <a:cs typeface="Consolas" panose="020B0609020204030204" pitchFamily="49" charset="0"/>
            </a:endParaRPr>
          </a:p>
          <a:p>
            <a:pPr>
              <a:lnSpc>
                <a:spcPts val="1725"/>
              </a:lnSpc>
            </a:pPr>
            <a:r>
              <a:rPr lang="en-US" dirty="0">
                <a:solidFill>
                  <a:srgbClr val="6A9955"/>
                </a:solidFill>
                <a:latin typeface="Consolas" panose="020B0609020204030204" pitchFamily="49" charset="0"/>
                <a:cs typeface="Consolas" panose="020B0609020204030204" pitchFamily="49" charset="0"/>
              </a:rPr>
              <a:t>           </a:t>
            </a:r>
            <a:r>
              <a:rPr lang="en-US" b="0" dirty="0" err="1">
                <a:solidFill>
                  <a:srgbClr val="9CDCFE"/>
                </a:solidFill>
                <a:effectLst/>
                <a:latin typeface="Consolas" panose="020B0609020204030204" pitchFamily="49" charset="0"/>
                <a:cs typeface="Consolas" panose="020B0609020204030204" pitchFamily="49" charset="0"/>
              </a:rPr>
              <a:t>ep_return</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D4D4D4"/>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9CDCFE"/>
                </a:solidFill>
                <a:effectLst/>
                <a:latin typeface="Consolas" panose="020B0609020204030204" pitchFamily="49" charset="0"/>
                <a:cs typeface="Consolas" panose="020B0609020204030204" pitchFamily="49" charset="0"/>
              </a:rPr>
              <a:t>reward</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D4D4D4"/>
                </a:solidFill>
                <a:effectLst/>
                <a:latin typeface="Consolas" panose="020B0609020204030204" pitchFamily="49" charset="0"/>
                <a:cs typeface="Consolas" panose="020B0609020204030204" pitchFamily="49" charset="0"/>
              </a:rPr>
              <a:t>+</a:t>
            </a:r>
            <a:r>
              <a:rPr lang="en-US" b="0" dirty="0" err="1">
                <a:solidFill>
                  <a:srgbClr val="9CDCFE"/>
                </a:solidFill>
                <a:effectLst/>
                <a:latin typeface="Consolas" panose="020B0609020204030204" pitchFamily="49" charset="0"/>
                <a:cs typeface="Consolas" panose="020B0609020204030204" pitchFamily="49" charset="0"/>
              </a:rPr>
              <a:t>train_penalty</a:t>
            </a:r>
            <a:r>
              <a:rPr lang="en-US" b="0" dirty="0">
                <a:solidFill>
                  <a:srgbClr val="CCCCCC"/>
                </a:solidFill>
                <a:effectLst/>
                <a:latin typeface="Consolas" panose="020B0609020204030204" pitchFamily="49" charset="0"/>
                <a:cs typeface="Consolas" panose="020B0609020204030204" pitchFamily="49" charset="0"/>
              </a:rPr>
              <a:t>)</a:t>
            </a:r>
          </a:p>
          <a:p>
            <a:pPr>
              <a:lnSpc>
                <a:spcPts val="1725"/>
              </a:lnSpc>
            </a:pPr>
            <a:r>
              <a:rPr lang="en-US" b="0" dirty="0">
                <a:solidFill>
                  <a:srgbClr val="9CDCFE"/>
                </a:solidFill>
                <a:effectLst/>
                <a:latin typeface="Consolas" panose="020B0609020204030204" pitchFamily="49" charset="0"/>
                <a:cs typeface="Consolas" panose="020B0609020204030204" pitchFamily="49" charset="0"/>
              </a:rPr>
              <a:t>           </a:t>
            </a:r>
            <a:r>
              <a:rPr lang="en-US" b="0" dirty="0" err="1">
                <a:solidFill>
                  <a:srgbClr val="9CDCFE"/>
                </a:solidFill>
                <a:effectLst/>
                <a:latin typeface="Consolas" panose="020B0609020204030204" pitchFamily="49" charset="0"/>
                <a:cs typeface="Consolas" panose="020B0609020204030204" pitchFamily="49" charset="0"/>
              </a:rPr>
              <a:t>step_count</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D4D4D4"/>
                </a:solidFill>
                <a:effectLst/>
                <a:latin typeface="Consolas" panose="020B0609020204030204" pitchFamily="49" charset="0"/>
                <a:cs typeface="Consolas" panose="020B0609020204030204" pitchFamily="49" charset="0"/>
              </a:rPr>
              <a:t>+=</a:t>
            </a:r>
            <a:r>
              <a:rPr lang="en-US" b="0" dirty="0">
                <a:solidFill>
                  <a:srgbClr val="CCCCCC"/>
                </a:solidFill>
                <a:effectLst/>
                <a:latin typeface="Consolas" panose="020B0609020204030204" pitchFamily="49" charset="0"/>
                <a:cs typeface="Consolas" panose="020B0609020204030204" pitchFamily="49" charset="0"/>
              </a:rPr>
              <a:t> </a:t>
            </a:r>
            <a:r>
              <a:rPr lang="en-US" b="0" dirty="0">
                <a:solidFill>
                  <a:srgbClr val="B5CEA8"/>
                </a:solidFill>
                <a:effectLst/>
                <a:latin typeface="Consolas" panose="020B0609020204030204" pitchFamily="49" charset="0"/>
                <a:cs typeface="Consolas" panose="020B0609020204030204" pitchFamily="49" charset="0"/>
              </a:rPr>
              <a:t>1</a:t>
            </a:r>
          </a:p>
          <a:p>
            <a:pPr>
              <a:lnSpc>
                <a:spcPts val="1725"/>
              </a:lnSpc>
            </a:pPr>
            <a:r>
              <a:rPr lang="en-US" b="0" dirty="0">
                <a:solidFill>
                  <a:srgbClr val="6A9955"/>
                </a:solidFill>
                <a:effectLst/>
                <a:latin typeface="Consolas" panose="020B0609020204030204" pitchFamily="49" charset="0"/>
                <a:cs typeface="Consolas" panose="020B0609020204030204" pitchFamily="49" charset="0"/>
              </a:rPr>
              <a:t>      # Add the score to the last 20 scores</a:t>
            </a:r>
            <a:endParaRPr lang="en-US" b="0" dirty="0">
              <a:solidFill>
                <a:srgbClr val="CCCCCC"/>
              </a:solidFill>
              <a:effectLst/>
              <a:latin typeface="Consolas" panose="020B0609020204030204" pitchFamily="49" charset="0"/>
              <a:cs typeface="Consolas" panose="020B0609020204030204" pitchFamily="49" charset="0"/>
            </a:endParaRPr>
          </a:p>
          <a:p>
            <a:pPr marL="0" marR="0"/>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      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cat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last_20_scores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1</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ep_return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unsqueeze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dim</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b="0" dirty="0">
                <a:solidFill>
                  <a:srgbClr val="6A9955"/>
                </a:solidFill>
                <a:effectLst/>
                <a:latin typeface="Consolas" panose="020B0609020204030204" pitchFamily="49" charset="0"/>
                <a:cs typeface="Consolas" panose="020B0609020204030204" pitchFamily="49" charset="0"/>
              </a:rPr>
              <a:t># training is finished. Close the environment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close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D9D5BF2C-EE49-8AE8-8373-0169A2F3912D}"/>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4" name="Callout: Up Arrow 7">
            <a:extLst>
              <a:ext uri="{FF2B5EF4-FFF2-40B4-BE49-F238E27FC236}">
                <a16:creationId xmlns:a16="http://schemas.microsoft.com/office/drawing/2014/main" id="{9568DED9-740E-0D52-9122-55C981FEB491}"/>
              </a:ext>
            </a:extLst>
          </p:cNvPr>
          <p:cNvSpPr/>
          <p:nvPr/>
        </p:nvSpPr>
        <p:spPr>
          <a:xfrm>
            <a:off x="1439287" y="4809506"/>
            <a:ext cx="10056400" cy="1864426"/>
          </a:xfrm>
          <a:prstGeom prst="upArrowCallout">
            <a:avLst>
              <a:gd name="adj1" fmla="val 3806"/>
              <a:gd name="adj2" fmla="val 5469"/>
              <a:gd name="adj3" fmla="val 12246"/>
              <a:gd name="adj4" fmla="val 87754"/>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Move to the next state.</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Add the reward to the total episode return. The </a:t>
            </a:r>
            <a:r>
              <a:rPr lang="en-US" dirty="0" err="1">
                <a:solidFill>
                  <a:schemeClr val="tx1"/>
                </a:solidFill>
                <a:latin typeface="Arial" panose="020B0604020202020204" pitchFamily="34" charset="0"/>
                <a:cs typeface="Arial" panose="020B0604020202020204" pitchFamily="34" charset="0"/>
              </a:rPr>
              <a:t>train_penalty</a:t>
            </a:r>
            <a:r>
              <a:rPr lang="en-US" dirty="0">
                <a:solidFill>
                  <a:schemeClr val="tx1"/>
                </a:solidFill>
                <a:latin typeface="Arial" panose="020B0604020202020204" pitchFamily="34" charset="0"/>
                <a:cs typeface="Arial" panose="020B0604020202020204" pitchFamily="34" charset="0"/>
              </a:rPr>
              <a:t> is added here just so we can compare to the the </a:t>
            </a:r>
            <a:r>
              <a:rPr lang="en-US" dirty="0" err="1">
                <a:solidFill>
                  <a:schemeClr val="tx1"/>
                </a:solidFill>
                <a:latin typeface="Arial" panose="020B0604020202020204" pitchFamily="34" charset="0"/>
                <a:cs typeface="Arial" panose="020B0604020202020204" pitchFamily="34" charset="0"/>
              </a:rPr>
              <a:t>ep_return</a:t>
            </a:r>
            <a:r>
              <a:rPr lang="en-US" dirty="0">
                <a:solidFill>
                  <a:schemeClr val="tx1"/>
                </a:solidFill>
                <a:latin typeface="Arial" panose="020B0604020202020204" pitchFamily="34" charset="0"/>
                <a:cs typeface="Arial" panose="020B0604020202020204" pitchFamily="34" charset="0"/>
              </a:rPr>
              <a:t> required by the framework. We’ve </a:t>
            </a:r>
            <a:r>
              <a:rPr lang="en-US" dirty="0" err="1">
                <a:solidFill>
                  <a:schemeClr val="tx1"/>
                </a:solidFill>
                <a:latin typeface="Arial" panose="020B0604020202020204" pitchFamily="34" charset="0"/>
                <a:cs typeface="Arial" panose="020B0604020202020204" pitchFamily="34" charset="0"/>
              </a:rPr>
              <a:t>substracted</a:t>
            </a:r>
            <a:r>
              <a:rPr lang="en-US" dirty="0">
                <a:solidFill>
                  <a:schemeClr val="tx1"/>
                </a:solidFill>
                <a:latin typeface="Arial" panose="020B0604020202020204" pitchFamily="34" charset="0"/>
                <a:cs typeface="Arial" panose="020B0604020202020204" pitchFamily="34" charset="0"/>
              </a:rPr>
              <a:t> the penalty before computing the loss, so we’re adding here to cancel that.</a:t>
            </a:r>
          </a:p>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Update the total </a:t>
            </a:r>
            <a:r>
              <a:rPr lang="en-US" dirty="0" err="1">
                <a:solidFill>
                  <a:schemeClr val="tx1"/>
                </a:solidFill>
                <a:latin typeface="Arial" panose="020B0604020202020204" pitchFamily="34" charset="0"/>
                <a:cs typeface="Arial" panose="020B0604020202020204" pitchFamily="34" charset="0"/>
              </a:rPr>
              <a:t>step_count</a:t>
            </a:r>
            <a:r>
              <a:rPr lang="en-US" dirty="0">
                <a:solidFill>
                  <a:schemeClr val="tx1"/>
                </a:solidFill>
                <a:latin typeface="Arial" panose="020B0604020202020204" pitchFamily="34" charset="0"/>
                <a:cs typeface="Arial" panose="020B0604020202020204" pitchFamily="34" charset="0"/>
              </a:rPr>
              <a:t>. (This is used in the loss).</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Add the episode reward to the queue of last 20 episode rewards and remove the oldest one.</a:t>
            </a:r>
            <a:br>
              <a:rPr lang="en-US" dirty="0">
                <a:solidFill>
                  <a:schemeClr val="tx1"/>
                </a:solidFill>
                <a:latin typeface="Arial" panose="020B0604020202020204" pitchFamily="34" charset="0"/>
                <a:cs typeface="Arial" panose="020B0604020202020204" pitchFamily="34" charset="0"/>
              </a:rPr>
            </a:b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6712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E0D1-92F0-0061-6E4B-40CB7A2E9C7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95B66C-E8F6-07A6-7F54-7CA5250F8EE6}"/>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A0FB4304-A484-AC43-9DAE-598EDFB3D143}"/>
              </a:ext>
            </a:extLst>
          </p:cNvPr>
          <p:cNvSpPr/>
          <p:nvPr/>
        </p:nvSpPr>
        <p:spPr>
          <a:xfrm>
            <a:off x="1522414" y="1511022"/>
            <a:ext cx="10056400" cy="223801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test_trained_agent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Test the trained agent in human mode</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gym</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make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'LunarLander-v3'</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render_mode</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'human'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reset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False</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total_reward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0</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A7C598"/>
                </a:solidFill>
                <a:effectLst/>
                <a:latin typeface="Consolas" panose="020B0609020204030204" pitchFamily="49" charset="0"/>
                <a:ea typeface="Aptos" panose="020B0004020202020204" pitchFamily="34" charset="0"/>
                <a:cs typeface="Consolas" panose="020B0609020204030204" pitchFamily="49" charset="0"/>
              </a:rPr>
              <a:t>2000</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598A43"/>
                </a:solidFill>
                <a:effectLst/>
                <a:latin typeface="Consolas" panose="020B0609020204030204" pitchFamily="49" charset="0"/>
                <a:ea typeface="Aptos" panose="020B0004020202020204" pitchFamily="34" charset="0"/>
                <a:cs typeface="Consolas" panose="020B0609020204030204" pitchFamily="49" charset="0"/>
              </a:rPr>
              <a:t># Maximum steps per episode for testing</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825E6795-93E8-2073-6860-01B851722CD7}"/>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4" name="Callout: Up Arrow 7">
            <a:extLst>
              <a:ext uri="{FF2B5EF4-FFF2-40B4-BE49-F238E27FC236}">
                <a16:creationId xmlns:a16="http://schemas.microsoft.com/office/drawing/2014/main" id="{EECF23D4-E992-B059-B69A-5EE6F3184139}"/>
              </a:ext>
            </a:extLst>
          </p:cNvPr>
          <p:cNvSpPr/>
          <p:nvPr/>
        </p:nvSpPr>
        <p:spPr>
          <a:xfrm>
            <a:off x="1387036" y="3749040"/>
            <a:ext cx="10056400" cy="2831961"/>
          </a:xfrm>
          <a:prstGeom prst="upArrowCallout">
            <a:avLst>
              <a:gd name="adj1" fmla="val 3806"/>
              <a:gd name="adj2" fmla="val 5469"/>
              <a:gd name="adj3" fmla="val 12246"/>
              <a:gd name="adj4" fmla="val 76684"/>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Define the method to test the agent.</a:t>
            </a:r>
            <a:br>
              <a:rPr lang="en-US" dirty="0">
                <a:solidFill>
                  <a:schemeClr val="tx1"/>
                </a:solidFill>
                <a:latin typeface="Arial" panose="020B0604020202020204" pitchFamily="34" charset="0"/>
                <a:cs typeface="Arial" panose="020B0604020202020204" pitchFamily="34" charset="0"/>
              </a:rPr>
            </a:b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Initialize the environment in human mode. This will show the interface.</a:t>
            </a:r>
          </a:p>
          <a:p>
            <a:r>
              <a:rPr lang="en-US" dirty="0">
                <a:solidFill>
                  <a:schemeClr val="tx1"/>
                </a:solidFill>
                <a:latin typeface="Arial" panose="020B0604020202020204" pitchFamily="34" charset="0"/>
                <a:cs typeface="Arial" panose="020B0604020202020204" pitchFamily="34" charset="0"/>
              </a:rPr>
              <a:t>Get an initial state</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Initialize variables that will be used during episode generation:</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 done : to decide if the episode has finished</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total_reward</a:t>
            </a:r>
            <a:r>
              <a:rPr lang="en-US" dirty="0">
                <a:solidFill>
                  <a:schemeClr val="tx1"/>
                </a:solidFill>
                <a:latin typeface="Arial" panose="020B0604020202020204" pitchFamily="34" charset="0"/>
                <a:cs typeface="Arial" panose="020B0604020202020204" pitchFamily="34" charset="0"/>
              </a:rPr>
              <a:t> : to output the total reward during episode</a:t>
            </a:r>
            <a:br>
              <a:rPr lang="en-US" dirty="0">
                <a:solidFill>
                  <a:schemeClr val="tx1"/>
                </a:solidFill>
                <a:latin typeface="Arial" panose="020B0604020202020204" pitchFamily="34" charset="0"/>
                <a:cs typeface="Arial" panose="020B0604020202020204" pitchFamily="34" charset="0"/>
              </a:rPr>
            </a:b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max_stepts</a:t>
            </a:r>
            <a:r>
              <a:rPr lang="en-US" dirty="0">
                <a:solidFill>
                  <a:schemeClr val="tx1"/>
                </a:solidFill>
                <a:latin typeface="Arial" panose="020B0604020202020204" pitchFamily="34" charset="0"/>
                <a:cs typeface="Arial" panose="020B0604020202020204" pitchFamily="34" charset="0"/>
              </a:rPr>
              <a:t>: the maximum number of steps after which to </a:t>
            </a:r>
            <a:r>
              <a:rPr lang="en-US" dirty="0" err="1">
                <a:solidFill>
                  <a:schemeClr val="tx1"/>
                </a:solidFill>
                <a:latin typeface="Arial" panose="020B0604020202020204" pitchFamily="34" charset="0"/>
                <a:cs typeface="Arial" panose="020B0604020202020204" pitchFamily="34" charset="0"/>
              </a:rPr>
              <a:t>termine</a:t>
            </a:r>
            <a:r>
              <a:rPr lang="en-US" dirty="0">
                <a:solidFill>
                  <a:schemeClr val="tx1"/>
                </a:solidFill>
                <a:latin typeface="Arial" panose="020B0604020202020204" pitchFamily="34" charset="0"/>
                <a:cs typeface="Arial" panose="020B0604020202020204" pitchFamily="34" charset="0"/>
              </a:rPr>
              <a:t> an episode.</a:t>
            </a:r>
            <a:br>
              <a:rPr lang="en-US" dirty="0">
                <a:solidFill>
                  <a:schemeClr val="tx1"/>
                </a:solidFill>
                <a:latin typeface="Arial" panose="020B0604020202020204" pitchFamily="34" charset="0"/>
                <a:cs typeface="Arial" panose="020B0604020202020204" pitchFamily="34" charset="0"/>
              </a:rPr>
            </a:b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4221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9444D-091D-2D52-BB98-A6FCDA7013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6EB376E-5940-1FD5-5B44-5EB6EA0B8A44}"/>
              </a:ext>
            </a:extLst>
          </p:cNvPr>
          <p:cNvSpPr>
            <a:spLocks noGrp="1"/>
          </p:cNvSpPr>
          <p:nvPr>
            <p:ph type="title"/>
          </p:nvPr>
        </p:nvSpPr>
        <p:spPr/>
        <p:txBody>
          <a:bodyPr/>
          <a:lstStyle/>
          <a:p>
            <a:r>
              <a:rPr lang="en-US" dirty="0"/>
              <a:t>Implementation</a:t>
            </a:r>
          </a:p>
        </p:txBody>
      </p:sp>
      <p:sp>
        <p:nvSpPr>
          <p:cNvPr id="8" name="Rectangle 7">
            <a:extLst>
              <a:ext uri="{FF2B5EF4-FFF2-40B4-BE49-F238E27FC236}">
                <a16:creationId xmlns:a16="http://schemas.microsoft.com/office/drawing/2014/main" id="{B91EB312-D338-79DE-2F25-D12B9D030B32}"/>
              </a:ext>
            </a:extLst>
          </p:cNvPr>
          <p:cNvSpPr/>
          <p:nvPr/>
        </p:nvSpPr>
        <p:spPr>
          <a:xfrm>
            <a:off x="1522414" y="1511021"/>
            <a:ext cx="10056400" cy="451095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def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test_trained_agent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dirty="0">
                <a:solidFill>
                  <a:srgbClr val="598A43"/>
                </a:solidFill>
                <a:latin typeface="Consolas" panose="020B0609020204030204" pitchFamily="49" charset="0"/>
                <a:ea typeface="Aptos" panose="020B0004020202020204" pitchFamily="34" charset="0"/>
                <a:cs typeface="Consolas" panose="020B0609020204030204" pitchFamily="49" charset="0"/>
              </a:rPr>
              <a:t>. .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    while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not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render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state_tensor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FloatTensor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action_probs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state_tensor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action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43C0A0"/>
                </a:solidFill>
                <a:effectLst/>
                <a:latin typeface="Consolas" panose="020B0609020204030204" pitchFamily="49" charset="0"/>
                <a:ea typeface="Aptos" panose="020B0004020202020204" pitchFamily="34" charset="0"/>
                <a:cs typeface="Consolas" panose="020B0609020204030204" pitchFamily="49" charset="0"/>
              </a:rPr>
              <a:t>torch</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argmax</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action_probs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item</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state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reward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truncated</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info</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env</a:t>
            </a:r>
            <a:r>
              <a:rPr lang="en-US" kern="0" dirty="0" err="1">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D4D69A"/>
                </a:solidFill>
                <a:effectLst/>
                <a:latin typeface="Consolas" panose="020B0609020204030204" pitchFamily="49" charset="0"/>
                <a:ea typeface="Aptos" panose="020B0004020202020204" pitchFamily="34" charset="0"/>
                <a:cs typeface="Consolas" panose="020B0609020204030204" pitchFamily="49" charset="0"/>
              </a:rPr>
              <a:t>step</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action</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total_reward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reward</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if</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total_reward</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CACACA"/>
                </a:solidFill>
                <a:effectLst/>
                <a:latin typeface="Consolas" panose="020B0609020204030204" pitchFamily="49" charset="0"/>
                <a:ea typeface="Aptos" panose="020B0004020202020204" pitchFamily="34" charset="0"/>
                <a:cs typeface="Consolas" panose="020B0609020204030204" pitchFamily="49" charset="0"/>
              </a:rPr>
              <a:t>&gt;=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max_steps</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or</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8CD3FE"/>
                </a:solidFill>
                <a:effectLst/>
                <a:latin typeface="Consolas" panose="020B0609020204030204" pitchFamily="49" charset="0"/>
                <a:ea typeface="Aptos" panose="020B0004020202020204" pitchFamily="34" charset="0"/>
                <a:cs typeface="Consolas" panose="020B0609020204030204" pitchFamily="49" charset="0"/>
              </a:rPr>
              <a:t>done</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dirty="0">
                <a:solidFill>
                  <a:srgbClr val="B76FB3"/>
                </a:solidFill>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B76FB3"/>
                </a:solidFill>
                <a:effectLst/>
                <a:latin typeface="Consolas" panose="020B0609020204030204" pitchFamily="49" charset="0"/>
                <a:ea typeface="Aptos" panose="020B0004020202020204" pitchFamily="34" charset="0"/>
                <a:cs typeface="Consolas" panose="020B0609020204030204" pitchFamily="49" charset="0"/>
              </a:rPr>
              <a:t>break</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     </a:t>
            </a:r>
            <a:r>
              <a:rPr lang="en-US" kern="0" dirty="0">
                <a:solidFill>
                  <a:srgbClr val="D4D69A"/>
                </a:solidFill>
                <a:effectLst/>
                <a:latin typeface="Consolas" panose="020B0609020204030204" pitchFamily="49" charset="0"/>
                <a:ea typeface="Aptos" panose="020B0004020202020204" pitchFamily="34" charset="0"/>
                <a:cs typeface="Consolas" panose="020B0609020204030204" pitchFamily="49" charset="0"/>
              </a:rPr>
              <a:t>print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4689CC"/>
                </a:solidFill>
                <a:effectLst/>
                <a:latin typeface="Consolas" panose="020B0609020204030204" pitchFamily="49" charset="0"/>
                <a:ea typeface="Aptos" panose="020B0004020202020204" pitchFamily="34" charset="0"/>
                <a:cs typeface="Consolas" panose="020B0609020204030204" pitchFamily="49" charset="0"/>
              </a:rPr>
              <a:t>f</a:t>
            </a:r>
            <a:r>
              <a:rPr lang="en-US" kern="0" dirty="0" err="1">
                <a:solidFill>
                  <a:srgbClr val="C27E65"/>
                </a:solidFill>
                <a:effectLst/>
                <a:latin typeface="Consolas" panose="020B0609020204030204" pitchFamily="49" charset="0"/>
                <a:ea typeface="Aptos" panose="020B0004020202020204" pitchFamily="34" charset="0"/>
                <a:cs typeface="Consolas" panose="020B0609020204030204" pitchFamily="49" charset="0"/>
              </a:rPr>
              <a:t>"Total</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 reward in human mode: </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t>
            </a:r>
            <a:r>
              <a:rPr lang="en-US" kern="0" dirty="0" err="1">
                <a:solidFill>
                  <a:srgbClr val="8CD3FE"/>
                </a:solidFill>
                <a:effectLst/>
                <a:latin typeface="Consolas" panose="020B0609020204030204" pitchFamily="49" charset="0"/>
                <a:ea typeface="Aptos" panose="020B0004020202020204" pitchFamily="34" charset="0"/>
                <a:cs typeface="Consolas" panose="020B0609020204030204" pitchFamily="49" charset="0"/>
              </a:rPr>
              <a:t>total_reward</a:t>
            </a:r>
            <a:r>
              <a:rPr lang="en-US" kern="0" dirty="0">
                <a:solidFill>
                  <a:srgbClr val="4689CC"/>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27E65"/>
                </a:solidFill>
                <a:effectLst/>
                <a:latin typeface="Consolas" panose="020B0609020204030204" pitchFamily="49" charset="0"/>
                <a:ea typeface="Aptos" panose="020B0004020202020204" pitchFamily="34" charset="0"/>
                <a:cs typeface="Consolas" panose="020B0609020204030204" pitchFamily="49" charset="0"/>
              </a:rPr>
              <a:t>"</a:t>
            </a:r>
            <a:r>
              <a:rPr lang="en-US" kern="0" dirty="0">
                <a:solidFill>
                  <a:srgbClr val="C1C1C1"/>
                </a:solidFill>
                <a:effectLst/>
                <a:latin typeface="Consolas" panose="020B0609020204030204" pitchFamily="49" charset="0"/>
                <a:ea typeface="Aptos" panose="020B0004020202020204" pitchFamily="34" charset="0"/>
                <a:cs typeface="Consolas" panose="020B0609020204030204" pitchFamily="49" charset="0"/>
              </a:rPr>
              <a:t>)</a:t>
            </a:r>
            <a:endParaRPr lang="en-US" kern="100" dirty="0">
              <a:effectLst/>
              <a:latin typeface="Consolas" panose="020B0609020204030204" pitchFamily="49" charset="0"/>
              <a:ea typeface="Aptos" panose="020B0004020202020204" pitchFamily="34" charset="0"/>
              <a:cs typeface="Consolas" panose="020B0609020204030204" pitchFamily="49" charset="0"/>
            </a:endParaRP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a:p>
            <a:pPr marL="0" marR="0"/>
            <a:r>
              <a:rPr lang="en-US" kern="100" dirty="0">
                <a:effectLst/>
                <a:latin typeface="Consolas" panose="020B0609020204030204" pitchFamily="49" charset="0"/>
                <a:ea typeface="Aptos" panose="020B0004020202020204" pitchFamily="34" charset="0"/>
                <a:cs typeface="Consolas" panose="020B0609020204030204" pitchFamily="49" charset="0"/>
              </a:rPr>
              <a:t>    </a:t>
            </a:r>
          </a:p>
        </p:txBody>
      </p:sp>
      <p:sp>
        <p:nvSpPr>
          <p:cNvPr id="7" name="TextBox 6">
            <a:extLst>
              <a:ext uri="{FF2B5EF4-FFF2-40B4-BE49-F238E27FC236}">
                <a16:creationId xmlns:a16="http://schemas.microsoft.com/office/drawing/2014/main" id="{FD918524-7335-97A2-7B80-2915A25CDC1F}"/>
              </a:ext>
            </a:extLst>
          </p:cNvPr>
          <p:cNvSpPr txBox="1"/>
          <p:nvPr/>
        </p:nvSpPr>
        <p:spPr>
          <a:xfrm>
            <a:off x="2850079" y="6581001"/>
            <a:ext cx="10262019" cy="276999"/>
          </a:xfrm>
          <a:prstGeom prst="rect">
            <a:avLst/>
          </a:prstGeom>
          <a:noFill/>
        </p:spPr>
        <p:txBody>
          <a:bodyPr wrap="square">
            <a:spAutoFit/>
          </a:bodyPr>
          <a:lstStyle/>
          <a:p>
            <a:r>
              <a:rPr lang="en-US" sz="1200" dirty="0"/>
              <a:t>code from: </a:t>
            </a:r>
            <a:r>
              <a:rPr lang="en-US" sz="1100" dirty="0"/>
              <a:t>https://</a:t>
            </a:r>
            <a:r>
              <a:rPr lang="en-US" sz="1100" dirty="0" err="1"/>
              <a:t>medium.com</a:t>
            </a:r>
            <a:r>
              <a:rPr lang="en-US" sz="1100" dirty="0"/>
              <a:t>/@dixitaniket76/advantage-actor-critic-a2c-algorithm-explained-and-implemented-in-pytorch-dc3354b60b50</a:t>
            </a:r>
            <a:endParaRPr lang="en-US" sz="1200" dirty="0"/>
          </a:p>
        </p:txBody>
      </p:sp>
      <p:sp>
        <p:nvSpPr>
          <p:cNvPr id="2" name="Callout: Left Arrow 6">
            <a:extLst>
              <a:ext uri="{FF2B5EF4-FFF2-40B4-BE49-F238E27FC236}">
                <a16:creationId xmlns:a16="http://schemas.microsoft.com/office/drawing/2014/main" id="{85557AD9-629D-D728-91C3-EC49B6A803B1}"/>
              </a:ext>
            </a:extLst>
          </p:cNvPr>
          <p:cNvSpPr/>
          <p:nvPr/>
        </p:nvSpPr>
        <p:spPr>
          <a:xfrm>
            <a:off x="7667897" y="1717177"/>
            <a:ext cx="4336869" cy="3890156"/>
          </a:xfrm>
          <a:prstGeom prst="leftArrowCallout">
            <a:avLst>
              <a:gd name="adj1" fmla="val 2586"/>
              <a:gd name="adj2" fmla="val 5510"/>
              <a:gd name="adj3" fmla="val 4786"/>
              <a:gd name="adj4" fmla="val 94710"/>
            </a:avLst>
          </a:prstGeom>
          <a:solidFill>
            <a:schemeClr val="bg1">
              <a:lumMod val="6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1600" dirty="0">
                <a:solidFill>
                  <a:schemeClr val="tx1"/>
                </a:solidFill>
                <a:latin typeface="Arial" panose="020B0604020202020204" pitchFamily="34" charset="0"/>
                <a:cs typeface="Arial" panose="020B0604020202020204" pitchFamily="34" charset="0"/>
              </a:rPr>
              <a:t>While the episode has not finished:</a:t>
            </a:r>
          </a:p>
          <a:p>
            <a:endParaRPr lang="en-US" sz="16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Render the environment</a:t>
            </a: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Send the state to the actor and get the probabilities for each action, given the state</a:t>
            </a: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Get the action with the highest probability</a:t>
            </a: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Move to next state and get reward</a:t>
            </a: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Compute total reward for this episode</a:t>
            </a:r>
          </a:p>
          <a:p>
            <a:pPr marL="285750" indent="-285750">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If exceeded max nr of steps, break the loop</a:t>
            </a:r>
          </a:p>
        </p:txBody>
      </p:sp>
    </p:spTree>
    <p:extLst>
      <p:ext uri="{BB962C8B-B14F-4D97-AF65-F5344CB8AC3E}">
        <p14:creationId xmlns:p14="http://schemas.microsoft.com/office/powerpoint/2010/main" val="1453770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849"/>
        <p:cNvGrpSpPr/>
        <p:nvPr/>
      </p:nvGrpSpPr>
      <p:grpSpPr>
        <a:xfrm>
          <a:off x="0" y="0"/>
          <a:ext cx="0" cy="0"/>
          <a:chOff x="0" y="0"/>
          <a:chExt cx="0" cy="0"/>
        </a:xfrm>
      </p:grpSpPr>
      <p:sp>
        <p:nvSpPr>
          <p:cNvPr id="1850" name="Google Shape;1850;p63"/>
          <p:cNvSpPr txBox="1">
            <a:spLocks noGrp="1"/>
          </p:cNvSpPr>
          <p:nvPr>
            <p:ph type="body" idx="1"/>
          </p:nvPr>
        </p:nvSpPr>
        <p:spPr>
          <a:xfrm>
            <a:off x="1522413" y="5102525"/>
            <a:ext cx="9144000" cy="1069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920"/>
              <a:buNone/>
            </a:pPr>
            <a:endParaRPr/>
          </a:p>
        </p:txBody>
      </p:sp>
      <p:sp>
        <p:nvSpPr>
          <p:cNvPr id="1851" name="Google Shape;1851;p63"/>
          <p:cNvSpPr txBox="1">
            <a:spLocks noGrp="1"/>
          </p:cNvSpPr>
          <p:nvPr>
            <p:ph type="title"/>
          </p:nvPr>
        </p:nvSpPr>
        <p:spPr>
          <a:xfrm>
            <a:off x="1522413" y="1905000"/>
            <a:ext cx="9144000" cy="266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Century Gothic"/>
              <a:buNone/>
            </a:pPr>
            <a:r>
              <a:rPr lang="en-US"/>
              <a:t>Questions &amp; Discussion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64"/>
          <p:cNvSpPr txBox="1">
            <a:spLocks noGrp="1"/>
          </p:cNvSpPr>
          <p:nvPr>
            <p:ph type="body" idx="1"/>
          </p:nvPr>
        </p:nvSpPr>
        <p:spPr>
          <a:xfrm>
            <a:off x="1522414" y="1905000"/>
            <a:ext cx="9144000" cy="4267200"/>
          </a:xfrm>
          <a:prstGeom prst="rect">
            <a:avLst/>
          </a:prstGeom>
          <a:noFill/>
          <a:ln>
            <a:noFill/>
          </a:ln>
        </p:spPr>
        <p:txBody>
          <a:bodyPr spcFirstLastPara="1" wrap="square" lIns="91425" tIns="45700" rIns="91425" bIns="45700" anchor="t" anchorCtr="0">
            <a:noAutofit/>
          </a:bodyPr>
          <a:lstStyle/>
          <a:p>
            <a:pPr marL="274320" lvl="0" indent="-266700" algn="l" rtl="0">
              <a:spcBef>
                <a:spcPts val="0"/>
              </a:spcBef>
              <a:spcAft>
                <a:spcPts val="0"/>
              </a:spcAft>
              <a:buSzPts val="1800"/>
              <a:buChar char="►"/>
            </a:pPr>
            <a:r>
              <a:rPr lang="en-US" sz="1800" u="sng">
                <a:solidFill>
                  <a:schemeClr val="hlink"/>
                </a:solidFill>
                <a:hlinkClick r:id="rId3"/>
              </a:rPr>
              <a:t>http://www2.econ.iastate.edu/tesfatsi/RLUsersGuide.ICAC2005.pdf</a:t>
            </a:r>
            <a:endParaRPr sz="1800"/>
          </a:p>
          <a:p>
            <a:pPr marL="274320" lvl="0" indent="-266700" algn="l" rtl="0">
              <a:spcBef>
                <a:spcPts val="1800"/>
              </a:spcBef>
              <a:spcAft>
                <a:spcPts val="0"/>
              </a:spcAft>
              <a:buSzPts val="1800"/>
              <a:buChar char="►"/>
            </a:pPr>
            <a:r>
              <a:rPr lang="en-US" sz="1800" u="sng">
                <a:solidFill>
                  <a:schemeClr val="hlink"/>
                </a:solidFill>
                <a:hlinkClick r:id="rId4"/>
              </a:rPr>
              <a:t>https://www.nervanasys.com/demystifying-deep-reinforcement-learning/</a:t>
            </a:r>
            <a:endParaRPr sz="1800"/>
          </a:p>
          <a:p>
            <a:pPr marL="274320" lvl="0" indent="-266700" algn="l" rtl="0">
              <a:spcBef>
                <a:spcPts val="1800"/>
              </a:spcBef>
              <a:spcAft>
                <a:spcPts val="0"/>
              </a:spcAft>
              <a:buSzPts val="1800"/>
              <a:buChar char="►"/>
            </a:pPr>
            <a:r>
              <a:rPr lang="en-US" sz="1800" u="sng">
                <a:solidFill>
                  <a:schemeClr val="hlink"/>
                </a:solidFill>
                <a:hlinkClick r:id="rId5"/>
              </a:rPr>
              <a:t>https://gym.openai.com</a:t>
            </a:r>
            <a:endParaRPr sz="1800"/>
          </a:p>
          <a:p>
            <a:pPr marL="274320" lvl="0" indent="-266700" algn="l" rtl="0">
              <a:spcBef>
                <a:spcPts val="1800"/>
              </a:spcBef>
              <a:spcAft>
                <a:spcPts val="0"/>
              </a:spcAft>
              <a:buSzPts val="1800"/>
              <a:buChar char="►"/>
            </a:pPr>
            <a:r>
              <a:rPr lang="en-US" sz="1800" u="sng">
                <a:solidFill>
                  <a:schemeClr val="hlink"/>
                </a:solidFill>
                <a:hlinkClick r:id="rId6"/>
              </a:rPr>
              <a:t>http://karpathy.github.io/2016/05/31/rl/</a:t>
            </a:r>
            <a:endParaRPr sz="1800"/>
          </a:p>
          <a:p>
            <a:pPr marL="274320" lvl="0" indent="-266700" algn="l" rtl="0">
              <a:spcBef>
                <a:spcPts val="1800"/>
              </a:spcBef>
              <a:spcAft>
                <a:spcPts val="0"/>
              </a:spcAft>
              <a:buSzPts val="1800"/>
              <a:buChar char="►"/>
            </a:pPr>
            <a:r>
              <a:rPr lang="en-US" sz="1800" u="sng">
                <a:solidFill>
                  <a:schemeClr val="hlink"/>
                </a:solidFill>
                <a:hlinkClick r:id="rId7"/>
              </a:rPr>
              <a:t>https://towardsdatascience.com/understanding-actor-critic-methods-931b97b6df3f</a:t>
            </a:r>
            <a:endParaRPr sz="1800"/>
          </a:p>
          <a:p>
            <a:pPr marL="274320" lvl="0" indent="-266700" algn="l" rtl="0">
              <a:spcBef>
                <a:spcPts val="1800"/>
              </a:spcBef>
              <a:spcAft>
                <a:spcPts val="0"/>
              </a:spcAft>
              <a:buSzPts val="1800"/>
              <a:buChar char="►"/>
            </a:pPr>
            <a:r>
              <a:rPr lang="en-US" sz="1800" u="sng">
                <a:solidFill>
                  <a:schemeClr val="hlink"/>
                </a:solidFill>
                <a:hlinkClick r:id="rId8"/>
              </a:rPr>
              <a:t>https://towardsdatascience.com/policy-gradient-methods-104c783251e0</a:t>
            </a:r>
            <a:endParaRPr/>
          </a:p>
          <a:p>
            <a:pPr marL="274320" lvl="0" indent="-266700" algn="l" rtl="0">
              <a:spcBef>
                <a:spcPts val="1800"/>
              </a:spcBef>
              <a:spcAft>
                <a:spcPts val="0"/>
              </a:spcAft>
              <a:buSzPts val="1800"/>
              <a:buChar char="►"/>
            </a:pPr>
            <a:r>
              <a:rPr lang="en-US" sz="1800" u="sng">
                <a:solidFill>
                  <a:schemeClr val="hlink"/>
                </a:solidFill>
                <a:hlinkClick r:id="rId9"/>
              </a:rPr>
              <a:t>https://www.freecodecamp.org/news/an-intro-to-advantage-actor-critic-methods-lets-play-sonic-the-hedgehog-86d6240171d/</a:t>
            </a:r>
            <a:endParaRPr sz="1800"/>
          </a:p>
          <a:p>
            <a:pPr marL="274320" lvl="0" indent="-152400" algn="l" rtl="0">
              <a:lnSpc>
                <a:spcPct val="90000"/>
              </a:lnSpc>
              <a:spcBef>
                <a:spcPts val="1800"/>
              </a:spcBef>
              <a:spcAft>
                <a:spcPts val="0"/>
              </a:spcAft>
              <a:buSzPts val="1920"/>
              <a:buNone/>
            </a:pPr>
            <a:endParaRPr/>
          </a:p>
        </p:txBody>
      </p:sp>
      <p:sp>
        <p:nvSpPr>
          <p:cNvPr id="1857" name="Google Shape;1857;p64"/>
          <p:cNvSpPr txBox="1">
            <a:spLocks noGrp="1"/>
          </p:cNvSpPr>
          <p:nvPr>
            <p:ph type="title"/>
          </p:nvPr>
        </p:nvSpPr>
        <p:spPr>
          <a:xfrm>
            <a:off x="1522414" y="274638"/>
            <a:ext cx="9143998" cy="1020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3200"/>
              <a:buFont typeface="Century Gothic"/>
              <a:buNone/>
            </a:pPr>
            <a:r>
              <a:rPr lang="en-US"/>
              <a:t>References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Student presentation">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51006</TotalTime>
  <Words>6676</Words>
  <Application>Microsoft Macintosh PowerPoint</Application>
  <PresentationFormat>Custom</PresentationFormat>
  <Paragraphs>846</Paragraphs>
  <Slides>68</Slides>
  <Notes>55</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Arial</vt:lpstr>
      <vt:lpstr>Consolas</vt:lpstr>
      <vt:lpstr>Century Gothic</vt:lpstr>
      <vt:lpstr>Calibri</vt:lpstr>
      <vt:lpstr>Cambria Math</vt:lpstr>
      <vt:lpstr>Times New Roman</vt:lpstr>
      <vt:lpstr>Noto Sans Symbols</vt:lpstr>
      <vt:lpstr>Cambria</vt:lpstr>
      <vt:lpstr>Student presentation</vt:lpstr>
      <vt:lpstr>Neural Networks</vt:lpstr>
      <vt:lpstr>Overview</vt:lpstr>
      <vt:lpstr>Reinforcement Learning</vt:lpstr>
      <vt:lpstr>Reinforcement Learning: concepts</vt:lpstr>
      <vt:lpstr>Reinforcement Learning: concepts</vt:lpstr>
      <vt:lpstr>Reinforcement Learning: concepts</vt:lpstr>
      <vt:lpstr>Off Policy vs On Policy</vt:lpstr>
      <vt:lpstr>Off Policy vs On Policy</vt:lpstr>
      <vt:lpstr>Off Policy vs On Policy</vt:lpstr>
      <vt:lpstr>Off Policy vs On Policy</vt:lpstr>
      <vt:lpstr>Off Policy vs On Policy</vt:lpstr>
      <vt:lpstr>Off Policy vs On Policy</vt:lpstr>
      <vt:lpstr>Off Policy vs On Policy</vt:lpstr>
      <vt:lpstr>Gradient Policy Algorithm</vt:lpstr>
      <vt:lpstr>Gradient Policy Algorithm</vt:lpstr>
      <vt:lpstr>Example</vt:lpstr>
      <vt:lpstr>Example</vt:lpstr>
      <vt:lpstr>Gradient Policy Algorithm</vt:lpstr>
      <vt:lpstr>Gradient Policy Algorithm</vt:lpstr>
      <vt:lpstr>Gradient Policy Algorithm</vt:lpstr>
      <vt:lpstr>Gradient Policy Algorithm</vt:lpstr>
      <vt:lpstr>Gradient Policy Algorithm</vt:lpstr>
      <vt:lpstr>Gradient Policy Algorithm</vt:lpstr>
      <vt:lpstr>Gradient Policy Algorithm</vt:lpstr>
      <vt:lpstr>Gradient Policy Algorithm</vt:lpstr>
      <vt:lpstr>Gradient Policy Algorithm</vt:lpstr>
      <vt:lpstr>Gradient Policy Algorithm</vt:lpstr>
      <vt:lpstr>Gradient Policy Algorithm</vt:lpstr>
      <vt:lpstr>Gradient Policy Algorithm: detailed steps</vt:lpstr>
      <vt:lpstr>Gradient Policy Algorithm:detailed steps</vt:lpstr>
      <vt:lpstr>Gradient Policy Algorithm:detailed steps</vt:lpstr>
      <vt:lpstr>Gradient Policy Algorithm:detailed steps</vt:lpstr>
      <vt:lpstr>Gradient Policy Algorithm:detailed steps</vt:lpstr>
      <vt:lpstr>Gradient Policy Algorithm:detailed steps</vt:lpstr>
      <vt:lpstr>Gradient Policy Algorithm:detailed steps</vt:lpstr>
      <vt:lpstr>Gradient Policy Algorithm:detailed steps</vt:lpstr>
      <vt:lpstr>Actor Critic</vt:lpstr>
      <vt:lpstr>Actor Critic</vt:lpstr>
      <vt:lpstr>Actor Critic</vt:lpstr>
      <vt:lpstr>Actor Critic</vt:lpstr>
      <vt:lpstr>Actor Critic</vt:lpstr>
      <vt:lpstr>Actor Critic</vt:lpstr>
      <vt:lpstr>Actor Critic</vt:lpstr>
      <vt:lpstr>Actor Critic</vt:lpstr>
      <vt:lpstr>Actor Critic</vt:lpstr>
      <vt:lpstr>Actor Critic</vt:lpstr>
      <vt:lpstr>Actor Critic</vt:lpstr>
      <vt:lpstr>Gradient Policy Algorithm: detailed steps</vt:lpstr>
      <vt:lpstr>Gradient Policy Algorithm: detailed steps</vt:lpstr>
      <vt:lpstr>Gradient Policy Algorithm: detailed steps</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Questions &amp; Discussion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Mihai Razvan BENCHEA</cp:lastModifiedBy>
  <cp:revision>14</cp:revision>
  <dcterms:modified xsi:type="dcterms:W3CDTF">2025-12-31T03:31:22Z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d9c527f-5235-45cb-bea5-98c00c666442_Enabled">
    <vt:lpwstr>true</vt:lpwstr>
  </property>
  <property fmtid="{D5CDD505-2E9C-101B-9397-08002B2CF9AE}" pid="3" name="MSIP_Label_9d9c527f-5235-45cb-bea5-98c00c666442_SetDate">
    <vt:lpwstr>2024-12-13T18:24:04Z</vt:lpwstr>
  </property>
  <property fmtid="{D5CDD505-2E9C-101B-9397-08002B2CF9AE}" pid="4" name="MSIP_Label_9d9c527f-5235-45cb-bea5-98c00c666442_Method">
    <vt:lpwstr>Standard</vt:lpwstr>
  </property>
  <property fmtid="{D5CDD505-2E9C-101B-9397-08002B2CF9AE}" pid="5" name="MSIP_Label_9d9c527f-5235-45cb-bea5-98c00c666442_Name">
    <vt:lpwstr>INTERNAL</vt:lpwstr>
  </property>
  <property fmtid="{D5CDD505-2E9C-101B-9397-08002B2CF9AE}" pid="6" name="MSIP_Label_9d9c527f-5235-45cb-bea5-98c00c666442_SiteId">
    <vt:lpwstr>487baf29-f1da-469a-9221-243f830c36f3</vt:lpwstr>
  </property>
  <property fmtid="{D5CDD505-2E9C-101B-9397-08002B2CF9AE}" pid="7" name="MSIP_Label_9d9c527f-5235-45cb-bea5-98c00c666442_ActionId">
    <vt:lpwstr>89e08753-2c2f-4da9-968a-8038f70d7761</vt:lpwstr>
  </property>
  <property fmtid="{D5CDD505-2E9C-101B-9397-08002B2CF9AE}" pid="8" name="MSIP_Label_9d9c527f-5235-45cb-bea5-98c00c666442_ContentBits">
    <vt:lpwstr>1</vt:lpwstr>
  </property>
  <property fmtid="{D5CDD505-2E9C-101B-9397-08002B2CF9AE}" pid="9" name="ClassificationContentMarkingHeaderLocations">
    <vt:lpwstr>Student presentation:3</vt:lpwstr>
  </property>
  <property fmtid="{D5CDD505-2E9C-101B-9397-08002B2CF9AE}" pid="10" name="ClassificationContentMarkingHeaderText">
    <vt:lpwstr>Internal Use Only</vt:lpwstr>
  </property>
</Properties>
</file>