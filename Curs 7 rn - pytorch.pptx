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1"/>
  </p:notesMasterIdLst>
  <p:sldIdLst>
    <p:sldId id="256" r:id="rId2"/>
    <p:sldId id="610" r:id="rId3"/>
    <p:sldId id="471" r:id="rId4"/>
    <p:sldId id="536" r:id="rId5"/>
    <p:sldId id="611" r:id="rId6"/>
    <p:sldId id="543" r:id="rId7"/>
    <p:sldId id="544" r:id="rId8"/>
    <p:sldId id="537" r:id="rId9"/>
    <p:sldId id="538" r:id="rId10"/>
    <p:sldId id="539" r:id="rId11"/>
    <p:sldId id="540" r:id="rId12"/>
    <p:sldId id="545" r:id="rId13"/>
    <p:sldId id="546" r:id="rId14"/>
    <p:sldId id="547" r:id="rId15"/>
    <p:sldId id="548" r:id="rId16"/>
    <p:sldId id="549" r:id="rId17"/>
    <p:sldId id="550" r:id="rId18"/>
    <p:sldId id="541" r:id="rId19"/>
    <p:sldId id="551" r:id="rId20"/>
    <p:sldId id="553" r:id="rId21"/>
    <p:sldId id="554" r:id="rId22"/>
    <p:sldId id="555" r:id="rId23"/>
    <p:sldId id="556" r:id="rId24"/>
    <p:sldId id="557" r:id="rId25"/>
    <p:sldId id="558" r:id="rId26"/>
    <p:sldId id="559" r:id="rId27"/>
    <p:sldId id="560" r:id="rId28"/>
    <p:sldId id="710" r:id="rId29"/>
    <p:sldId id="712" r:id="rId30"/>
    <p:sldId id="713" r:id="rId31"/>
    <p:sldId id="714" r:id="rId32"/>
    <p:sldId id="561" r:id="rId33"/>
    <p:sldId id="562" r:id="rId34"/>
    <p:sldId id="563" r:id="rId35"/>
    <p:sldId id="564" r:id="rId36"/>
    <p:sldId id="565" r:id="rId37"/>
    <p:sldId id="715" r:id="rId38"/>
    <p:sldId id="612" r:id="rId39"/>
    <p:sldId id="613" r:id="rId40"/>
    <p:sldId id="614" r:id="rId41"/>
    <p:sldId id="615" r:id="rId42"/>
    <p:sldId id="616" r:id="rId43"/>
    <p:sldId id="567" r:id="rId44"/>
    <p:sldId id="568" r:id="rId45"/>
    <p:sldId id="569" r:id="rId46"/>
    <p:sldId id="570" r:id="rId47"/>
    <p:sldId id="571" r:id="rId48"/>
    <p:sldId id="572" r:id="rId49"/>
    <p:sldId id="573" r:id="rId50"/>
    <p:sldId id="574" r:id="rId51"/>
    <p:sldId id="578" r:id="rId52"/>
    <p:sldId id="579" r:id="rId53"/>
    <p:sldId id="580" r:id="rId54"/>
    <p:sldId id="581" r:id="rId55"/>
    <p:sldId id="582" r:id="rId56"/>
    <p:sldId id="583" r:id="rId57"/>
    <p:sldId id="584" r:id="rId58"/>
    <p:sldId id="585" r:id="rId59"/>
    <p:sldId id="586" r:id="rId60"/>
    <p:sldId id="587" r:id="rId61"/>
    <p:sldId id="617" r:id="rId62"/>
    <p:sldId id="618" r:id="rId63"/>
    <p:sldId id="588" r:id="rId64"/>
    <p:sldId id="589" r:id="rId65"/>
    <p:sldId id="590" r:id="rId66"/>
    <p:sldId id="591" r:id="rId67"/>
    <p:sldId id="592" r:id="rId68"/>
    <p:sldId id="593" r:id="rId69"/>
    <p:sldId id="594" r:id="rId70"/>
    <p:sldId id="595" r:id="rId71"/>
    <p:sldId id="596" r:id="rId72"/>
    <p:sldId id="597" r:id="rId73"/>
    <p:sldId id="598" r:id="rId74"/>
    <p:sldId id="599" r:id="rId75"/>
    <p:sldId id="600" r:id="rId76"/>
    <p:sldId id="601" r:id="rId77"/>
    <p:sldId id="602" r:id="rId78"/>
    <p:sldId id="603" r:id="rId79"/>
    <p:sldId id="605" r:id="rId80"/>
    <p:sldId id="606" r:id="rId81"/>
    <p:sldId id="607" r:id="rId82"/>
    <p:sldId id="608" r:id="rId83"/>
    <p:sldId id="609" r:id="rId84"/>
    <p:sldId id="647" r:id="rId85"/>
    <p:sldId id="648" r:id="rId86"/>
    <p:sldId id="649" r:id="rId87"/>
    <p:sldId id="655" r:id="rId88"/>
    <p:sldId id="658" r:id="rId89"/>
    <p:sldId id="667" r:id="rId90"/>
    <p:sldId id="669" r:id="rId91"/>
    <p:sldId id="668" r:id="rId92"/>
    <p:sldId id="671" r:id="rId93"/>
    <p:sldId id="670" r:id="rId94"/>
    <p:sldId id="672" r:id="rId95"/>
    <p:sldId id="673" r:id="rId96"/>
    <p:sldId id="674" r:id="rId97"/>
    <p:sldId id="675" r:id="rId98"/>
    <p:sldId id="699" r:id="rId99"/>
    <p:sldId id="700" r:id="rId100"/>
    <p:sldId id="701" r:id="rId101"/>
    <p:sldId id="702" r:id="rId102"/>
    <p:sldId id="703" r:id="rId103"/>
    <p:sldId id="704" r:id="rId104"/>
    <p:sldId id="706" r:id="rId105"/>
    <p:sldId id="707" r:id="rId106"/>
    <p:sldId id="708" r:id="rId107"/>
    <p:sldId id="709" r:id="rId108"/>
    <p:sldId id="705" r:id="rId109"/>
    <p:sldId id="534" r:id="rId110"/>
  </p:sldIdLst>
  <p:sldSz cx="12188825" cy="6858000"/>
  <p:notesSz cx="6858000" cy="9144000"/>
  <p:embeddedFontLst>
    <p:embeddedFont>
      <p:font typeface="Berlin Sans FB Demi" panose="020E0802020502020306" pitchFamily="34" charset="77"/>
      <p:regular r:id="rId112"/>
      <p:bold r:id="rId113"/>
    </p:embeddedFont>
    <p:embeddedFont>
      <p:font typeface="Cambria Math" panose="02040503050406030204" pitchFamily="18" charset="0"/>
      <p:regular r:id="rId114"/>
    </p:embeddedFont>
    <p:embeddedFont>
      <p:font typeface="Century Gothic" panose="020B0502020202020204" pitchFamily="34" charset="0"/>
      <p:regular r:id="rId115"/>
      <p:bold r:id="rId116"/>
      <p:italic r:id="rId117"/>
      <p:boldItalic r:id="rId118"/>
    </p:embeddedFont>
    <p:embeddedFont>
      <p:font typeface="Consolas" panose="020B0609020204030204" pitchFamily="49" charset="0"/>
      <p:regular r:id="rId119"/>
      <p:bold r:id="rId120"/>
      <p:italic r:id="rId121"/>
      <p:boldItalic r:id="rId1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orient="horz" pos="1200">
          <p15:clr>
            <a:srgbClr val="A4A3A4"/>
          </p15:clr>
        </p15:guide>
        <p15:guide id="3" orient="horz" pos="3888">
          <p15:clr>
            <a:srgbClr val="A4A3A4"/>
          </p15:clr>
        </p15:guide>
        <p15:guide id="4" orient="horz" pos="2880">
          <p15:clr>
            <a:srgbClr val="A4A3A4"/>
          </p15:clr>
        </p15:guide>
        <p15:guide id="5" orient="horz" pos="3216">
          <p15:clr>
            <a:srgbClr val="A4A3A4"/>
          </p15:clr>
        </p15:guide>
        <p15:guide id="6" orient="horz" pos="816">
          <p15:clr>
            <a:srgbClr val="A4A3A4"/>
          </p15:clr>
        </p15:guide>
        <p15:guide id="7" orient="horz" pos="175">
          <p15:clr>
            <a:srgbClr val="A4A3A4"/>
          </p15:clr>
        </p15:guide>
        <p15:guide id="8" pos="3839">
          <p15:clr>
            <a:srgbClr val="A4A3A4"/>
          </p15:clr>
        </p15:guide>
        <p15:guide id="9" pos="959">
          <p15:clr>
            <a:srgbClr val="A4A3A4"/>
          </p15:clr>
        </p15:guide>
        <p15:guide id="10" pos="6719">
          <p15:clr>
            <a:srgbClr val="A4A3A4"/>
          </p15:clr>
        </p15:guide>
        <p15:guide id="11" pos="6143">
          <p15:clr>
            <a:srgbClr val="A4A3A4"/>
          </p15:clr>
        </p15:guide>
        <p15:guide id="12" pos="283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FB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BFA0594-EFE5-440F-8910-19DC8E6B40BF}">
  <a:tblStyle styleId="{ABFA0594-EFE5-440F-8910-19DC8E6B40BF}" styleName="Table_0">
    <a:wholeTbl>
      <a:tcTxStyle b="off" i="off">
        <a:font>
          <a:latin typeface="Century Gothic"/>
          <a:ea typeface="Century Gothic"/>
          <a:cs typeface="Century Gothic"/>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96"/>
    <p:restoredTop sz="73961"/>
  </p:normalViewPr>
  <p:slideViewPr>
    <p:cSldViewPr snapToGrid="0">
      <p:cViewPr varScale="1">
        <p:scale>
          <a:sx n="80" d="100"/>
          <a:sy n="80" d="100"/>
        </p:scale>
        <p:origin x="224" y="424"/>
      </p:cViewPr>
      <p:guideLst>
        <p:guide orient="horz" pos="2160"/>
        <p:guide orient="horz" pos="1200"/>
        <p:guide orient="horz" pos="3888"/>
        <p:guide orient="horz" pos="2880"/>
        <p:guide orient="horz" pos="3216"/>
        <p:guide orient="horz" pos="816"/>
        <p:guide orient="horz" pos="175"/>
        <p:guide pos="3839"/>
        <p:guide pos="959"/>
        <p:guide pos="6719"/>
        <p:guide pos="6143"/>
        <p:guide pos="2831"/>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6.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1.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2.fntdata"/><Relationship Id="rId118" Type="http://schemas.openxmlformats.org/officeDocument/2006/relationships/font" Target="fonts/font7.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3.fntdata"/><Relationship Id="rId119" Type="http://schemas.openxmlformats.org/officeDocument/2006/relationships/font" Target="fonts/font8.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9.fntdata"/><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font" Target="fonts/font4.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10.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5" name="Google Shape;5;n"/>
          <p:cNvSpPr>
            <a:spLocks noGrp="1" noRot="1" noChangeAspect="1"/>
          </p:cNvSpPr>
          <p:nvPr>
            <p:ph type="sldImg" idx="3"/>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5pPr>
            <a:lvl6pPr marL="2743200" marR="0" lvl="5"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6pPr>
            <a:lvl7pPr marL="3200400" marR="0" lvl="6"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7pPr>
            <a:lvl8pPr marL="3657600" marR="0" lvl="7"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8pPr>
            <a:lvl9pPr marL="4114800" marR="0" lvl="8"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entury Gothic"/>
                <a:ea typeface="Century Gothic"/>
                <a:cs typeface="Century Gothic"/>
                <a:sym typeface="Century Gothic"/>
              </a:rPr>
              <a:t>‹#›</a:t>
            </a:fld>
            <a:endParaRPr sz="1200" b="0" i="0" u="none" strike="noStrike" cap="none">
              <a:solidFill>
                <a:schemeClr val="dk1"/>
              </a:solidFill>
              <a:latin typeface="Century Gothic"/>
              <a:ea typeface="Century Gothic"/>
              <a:cs typeface="Century Gothic"/>
              <a:sym typeface="Century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5"/>
        <p:cNvGrpSpPr/>
        <p:nvPr/>
      </p:nvGrpSpPr>
      <p:grpSpPr>
        <a:xfrm>
          <a:off x="0" y="0"/>
          <a:ext cx="0" cy="0"/>
          <a:chOff x="0" y="0"/>
          <a:chExt cx="0" cy="0"/>
        </a:xfrm>
      </p:grpSpPr>
      <p:sp>
        <p:nvSpPr>
          <p:cNvPr id="1386" name="Google Shape;138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7" name="Google Shape;1387;p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2">
          <a:extLst>
            <a:ext uri="{FF2B5EF4-FFF2-40B4-BE49-F238E27FC236}">
              <a16:creationId xmlns:a16="http://schemas.microsoft.com/office/drawing/2014/main" id="{DF0CCFB2-71C5-2B6B-BCDB-60B07734C46A}"/>
            </a:ext>
          </a:extLst>
        </p:cNvPr>
        <p:cNvGrpSpPr/>
        <p:nvPr/>
      </p:nvGrpSpPr>
      <p:grpSpPr>
        <a:xfrm>
          <a:off x="0" y="0"/>
          <a:ext cx="0" cy="0"/>
          <a:chOff x="0" y="0"/>
          <a:chExt cx="0" cy="0"/>
        </a:xfrm>
      </p:grpSpPr>
      <p:sp>
        <p:nvSpPr>
          <p:cNvPr id="1393" name="Google Shape;1393;p2:notes">
            <a:extLst>
              <a:ext uri="{FF2B5EF4-FFF2-40B4-BE49-F238E27FC236}">
                <a16:creationId xmlns:a16="http://schemas.microsoft.com/office/drawing/2014/main" id="{C52272B2-8FC3-F09A-BCD9-2CA3D0B61C66}"/>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4" name="Google Shape;1394;p2:notes">
            <a:extLst>
              <a:ext uri="{FF2B5EF4-FFF2-40B4-BE49-F238E27FC236}">
                <a16:creationId xmlns:a16="http://schemas.microsoft.com/office/drawing/2014/main" id="{9620A063-4E4B-A8AC-FC0C-75AE88D22590}"/>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908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5</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749340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Obs</a:t>
            </a:r>
            <a:r>
              <a:rPr lang="en-US" dirty="0"/>
              <a:t>: se </a:t>
            </a:r>
            <a:r>
              <a:rPr lang="en-US" dirty="0" err="1"/>
              <a:t>poate</a:t>
            </a:r>
            <a:r>
              <a:rPr lang="en-US" dirty="0"/>
              <a:t> </a:t>
            </a:r>
            <a:r>
              <a:rPr lang="en-US" dirty="0" err="1"/>
              <a:t>si</a:t>
            </a:r>
            <a:r>
              <a:rPr lang="en-US" dirty="0"/>
              <a:t> ca </a:t>
            </a:r>
            <a:r>
              <a:rPr lang="en-US" dirty="0" err="1"/>
              <a:t>tupla</a:t>
            </a:r>
            <a:r>
              <a:rPr lang="en-US" dirty="0"/>
              <a:t> </a:t>
            </a:r>
            <a:r>
              <a:rPr lang="en-US" dirty="0" err="1"/>
              <a:t>si</a:t>
            </a:r>
            <a:r>
              <a:rPr lang="en-US" dirty="0"/>
              <a:t> ca </a:t>
            </a:r>
            <a:r>
              <a:rPr lang="en-US" dirty="0" err="1"/>
              <a:t>parametri</a:t>
            </a:r>
            <a:r>
              <a:rPr lang="en-US" dirty="0"/>
              <a:t> la </a:t>
            </a:r>
            <a:r>
              <a:rPr lang="en-US" dirty="0" err="1"/>
              <a:t>functie</a:t>
            </a:r>
            <a:r>
              <a:rPr lang="en-US" dirty="0"/>
              <a:t>: ones vs zeros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19</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1988994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4E5EA-8A63-284E-5169-C95B76D796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D35EF-C2ED-6B43-6AAA-DEC1CC7C74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BF7B63-37C5-6C46-95AB-CF83A218B5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395266-7DF6-E5DA-204E-7FC733FAB6CD}"/>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29</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540414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E751B-118D-830E-3F38-9762E8280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E4F4B-1C26-118C-F2FF-B8D949C44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A3EE11-36EA-69FE-E0B4-5D66DC577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19602E-6206-DFEC-38C3-FCCB96F1E8E4}"/>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30</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5139822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C31F7-FB34-E2A0-818E-61483F0E12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2ACFCF-1685-B3BF-7CAF-25AC8D7883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2B0204-EC87-FAB8-A238-D417393D8344}"/>
              </a:ext>
            </a:extLst>
          </p:cNvPr>
          <p:cNvSpPr>
            <a:spLocks noGrp="1"/>
          </p:cNvSpPr>
          <p:nvPr>
            <p:ph type="body" idx="1"/>
          </p:nvPr>
        </p:nvSpPr>
        <p:spPr/>
        <p:txBody>
          <a:bodyPr/>
          <a:lstStyle/>
          <a:p>
            <a:r>
              <a:rPr lang="en-US" dirty="0"/>
              <a:t>E important </a:t>
            </a:r>
            <a:r>
              <a:rPr lang="en-US" dirty="0" err="1"/>
              <a:t>aspectul</a:t>
            </a:r>
            <a:r>
              <a:rPr lang="en-US" dirty="0"/>
              <a:t> </a:t>
            </a:r>
            <a:r>
              <a:rPr lang="en-US" dirty="0" err="1"/>
              <a:t>asta</a:t>
            </a:r>
            <a:r>
              <a:rPr lang="en-US" dirty="0"/>
              <a:t> </a:t>
            </a:r>
            <a:r>
              <a:rPr lang="en-US" dirty="0" err="1"/>
              <a:t>pentru</a:t>
            </a:r>
            <a:r>
              <a:rPr lang="en-US" dirty="0"/>
              <a:t> ca in </a:t>
            </a:r>
            <a:r>
              <a:rPr lang="en-US" dirty="0" err="1"/>
              <a:t>memoria</a:t>
            </a:r>
            <a:r>
              <a:rPr lang="en-US" dirty="0"/>
              <a:t> </a:t>
            </a:r>
            <a:r>
              <a:rPr lang="en-US" dirty="0" err="1"/>
              <a:t>gpu-ului</a:t>
            </a:r>
            <a:r>
              <a:rPr lang="en-US" dirty="0"/>
              <a:t> e </a:t>
            </a:r>
            <a:r>
              <a:rPr lang="en-US" dirty="0" err="1"/>
              <a:t>posibil</a:t>
            </a:r>
            <a:r>
              <a:rPr lang="en-US" dirty="0"/>
              <a:t> </a:t>
            </a:r>
            <a:r>
              <a:rPr lang="en-US" dirty="0" err="1"/>
              <a:t>sa</a:t>
            </a:r>
            <a:r>
              <a:rPr lang="en-US" dirty="0"/>
              <a:t> nu-</a:t>
            </a:r>
            <a:r>
              <a:rPr lang="en-US" dirty="0" err="1"/>
              <a:t>ti</a:t>
            </a:r>
            <a:r>
              <a:rPr lang="en-US" dirty="0"/>
              <a:t> </a:t>
            </a:r>
            <a:r>
              <a:rPr lang="en-US" dirty="0" err="1"/>
              <a:t>ajunga</a:t>
            </a:r>
            <a:r>
              <a:rPr lang="en-US" dirty="0"/>
              <a:t> </a:t>
            </a:r>
          </a:p>
        </p:txBody>
      </p:sp>
      <p:sp>
        <p:nvSpPr>
          <p:cNvPr id="4" name="Slide Number Placeholder 3">
            <a:extLst>
              <a:ext uri="{FF2B5EF4-FFF2-40B4-BE49-F238E27FC236}">
                <a16:creationId xmlns:a16="http://schemas.microsoft.com/office/drawing/2014/main" id="{A27CF71F-E953-A860-AFA6-8D7C53CD1F5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31</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1807872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variants cumulative sum</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33</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19505255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important de </a:t>
            </a:r>
            <a:r>
              <a:rPr lang="en-US" dirty="0" err="1"/>
              <a:t>aratat</a:t>
            </a:r>
            <a:r>
              <a:rPr lang="en-US" dirty="0"/>
              <a:t> </a:t>
            </a:r>
            <a:r>
              <a:rPr lang="en-US" dirty="0" err="1"/>
              <a:t>aici</a:t>
            </a:r>
            <a:r>
              <a:rPr lang="en-US" dirty="0"/>
              <a:t> ca </a:t>
            </a:r>
            <a:r>
              <a:rPr lang="en-US" dirty="0" err="1"/>
              <a:t>operatiile</a:t>
            </a:r>
            <a:r>
              <a:rPr lang="en-US" dirty="0"/>
              <a:t> </a:t>
            </a:r>
            <a:r>
              <a:rPr lang="en-US" dirty="0" err="1"/>
              <a:t>merg</a:t>
            </a:r>
            <a:r>
              <a:rPr lang="en-US" dirty="0"/>
              <a:t> la </a:t>
            </a:r>
            <a:r>
              <a:rPr lang="en-US" dirty="0" err="1"/>
              <a:t>fel</a:t>
            </a:r>
            <a:r>
              <a:rPr lang="en-US" dirty="0"/>
              <a:t>, indifferent ca sunt pe </a:t>
            </a:r>
            <a:r>
              <a:rPr lang="en-US" dirty="0" err="1"/>
              <a:t>cpu</a:t>
            </a:r>
            <a:r>
              <a:rPr lang="en-US" dirty="0"/>
              <a:t> </a:t>
            </a:r>
            <a:r>
              <a:rPr lang="en-US" dirty="0" err="1"/>
              <a:t>sau</a:t>
            </a:r>
            <a:r>
              <a:rPr lang="en-US" dirty="0"/>
              <a:t> pe </a:t>
            </a:r>
            <a:r>
              <a:rPr lang="en-US" dirty="0" err="1"/>
              <a:t>gpu</a:t>
            </a:r>
            <a:r>
              <a:rPr lang="en-US" dirty="0"/>
              <a:t>, </a:t>
            </a:r>
            <a:r>
              <a:rPr lang="en-US" dirty="0" err="1"/>
              <a:t>dar</a:t>
            </a:r>
            <a:r>
              <a:rPr lang="en-US" dirty="0"/>
              <a:t> ai </a:t>
            </a:r>
            <a:r>
              <a:rPr lang="en-US" dirty="0" err="1"/>
              <a:t>nevoie</a:t>
            </a:r>
            <a:r>
              <a:rPr lang="en-US" dirty="0"/>
              <a:t> de device-ul </a:t>
            </a:r>
            <a:r>
              <a:rPr lang="en-US" dirty="0" err="1"/>
              <a:t>lui</a:t>
            </a:r>
            <a:r>
              <a:rPr lang="en-US" dirty="0"/>
              <a:t> t</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40</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4247534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a:t>
            </a:r>
            <a:r>
              <a:rPr lang="en-US" dirty="0" err="1"/>
              <a:t>exemplu</a:t>
            </a:r>
            <a:r>
              <a:rPr lang="en-US" dirty="0"/>
              <a:t>, ai </a:t>
            </a:r>
            <a:r>
              <a:rPr lang="en-US" dirty="0" err="1"/>
              <a:t>facut</a:t>
            </a:r>
            <a:r>
              <a:rPr lang="en-US" dirty="0"/>
              <a:t> un batch de </a:t>
            </a:r>
            <a:r>
              <a:rPr lang="en-US" dirty="0" err="1"/>
              <a:t>elemente</a:t>
            </a:r>
            <a:r>
              <a:rPr lang="en-US" dirty="0"/>
              <a:t>. </a:t>
            </a:r>
            <a:br>
              <a:rPr lang="en-US" dirty="0"/>
            </a:br>
            <a:r>
              <a:rPr lang="en-US" dirty="0" err="1"/>
              <a:t>Trebuie</a:t>
            </a:r>
            <a:r>
              <a:rPr lang="en-US" dirty="0"/>
              <a:t> ca </a:t>
            </a:r>
            <a:r>
              <a:rPr lang="en-US" dirty="0" err="1"/>
              <a:t>sa</a:t>
            </a:r>
            <a:r>
              <a:rPr lang="en-US" dirty="0"/>
              <a:t> </a:t>
            </a:r>
            <a:r>
              <a:rPr lang="en-US" dirty="0" err="1"/>
              <a:t>aiba</a:t>
            </a:r>
            <a:r>
              <a:rPr lang="en-US" dirty="0"/>
              <a:t> </a:t>
            </a:r>
            <a:r>
              <a:rPr lang="en-US" dirty="0" err="1"/>
              <a:t>acelasi</a:t>
            </a:r>
            <a:r>
              <a:rPr lang="en-US" dirty="0"/>
              <a:t> size, </a:t>
            </a:r>
            <a:r>
              <a:rPr lang="en-US" dirty="0" err="1"/>
              <a:t>mai</a:t>
            </a:r>
            <a:r>
              <a:rPr lang="en-US" dirty="0"/>
              <a:t> </a:t>
            </a:r>
            <a:r>
              <a:rPr lang="en-US" dirty="0" err="1"/>
              <a:t>putin</a:t>
            </a:r>
            <a:r>
              <a:rPr lang="en-US" dirty="0"/>
              <a:t> in </a:t>
            </a:r>
            <a:r>
              <a:rPr lang="en-US" dirty="0" err="1"/>
              <a:t>dimensiunea</a:t>
            </a:r>
            <a:r>
              <a:rPr lang="en-US" dirty="0"/>
              <a:t> in care face squeeze</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42</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11829392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lang="en-US" dirty="0" err="1"/>
              <a:t>caz</a:t>
            </a:r>
            <a:r>
              <a:rPr lang="en-US" dirty="0"/>
              <a:t> ca </a:t>
            </a:r>
            <a:r>
              <a:rPr lang="en-US" dirty="0" err="1"/>
              <a:t>vrei</a:t>
            </a:r>
            <a:r>
              <a:rPr lang="en-US" dirty="0"/>
              <a:t> </a:t>
            </a:r>
            <a:r>
              <a:rPr lang="en-US" dirty="0" err="1"/>
              <a:t>sa</a:t>
            </a:r>
            <a:r>
              <a:rPr lang="en-US" dirty="0"/>
              <a:t> </a:t>
            </a:r>
            <a:r>
              <a:rPr lang="en-US" dirty="0" err="1"/>
              <a:t>initializezi</a:t>
            </a:r>
            <a:r>
              <a:rPr lang="en-US" dirty="0"/>
              <a:t> cu </a:t>
            </a:r>
            <a:r>
              <a:rPr lang="en-US" dirty="0" err="1"/>
              <a:t>altceva</a:t>
            </a:r>
            <a:endParaRPr lang="en-US" dirty="0"/>
          </a:p>
          <a:p>
            <a:endParaRPr lang="en-US" dirty="0"/>
          </a:p>
          <a:p>
            <a:pPr fontAlgn="base"/>
            <a:r>
              <a:rPr lang="en-US" sz="1200" b="0" i="0" u="none" strike="noStrike" cap="none" dirty="0">
                <a:solidFill>
                  <a:schemeClr val="dk1"/>
                </a:solidFill>
                <a:effectLst/>
                <a:latin typeface="Century Gothic"/>
                <a:ea typeface="Century Gothic"/>
                <a:cs typeface="Century Gothic"/>
                <a:sym typeface="Century Gothic"/>
              </a:rPr>
              <a:t>conv1 = torch.nn.Conv2d(...)</a:t>
            </a:r>
          </a:p>
          <a:p>
            <a:pPr fontAlgn="base"/>
            <a:r>
              <a:rPr lang="en-US" sz="1200" b="0" i="0" u="none" strike="noStrike" cap="none" dirty="0" err="1">
                <a:solidFill>
                  <a:schemeClr val="dk1"/>
                </a:solidFill>
                <a:effectLst/>
                <a:latin typeface="Century Gothic"/>
                <a:ea typeface="Century Gothic"/>
                <a:cs typeface="Century Gothic"/>
                <a:sym typeface="Century Gothic"/>
              </a:rPr>
              <a:t>torch.nn.init.xavier_uniform</a:t>
            </a:r>
            <a:r>
              <a:rPr lang="en-US" sz="1200" b="0" i="0" u="none" strike="noStrike" cap="none" dirty="0">
                <a:solidFill>
                  <a:schemeClr val="dk1"/>
                </a:solidFill>
                <a:effectLst/>
                <a:latin typeface="Century Gothic"/>
                <a:ea typeface="Century Gothic"/>
                <a:cs typeface="Century Gothic"/>
                <a:sym typeface="Century Gothic"/>
              </a:rPr>
              <a:t>(conv1.weight)</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52</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8626375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 </a:t>
            </a:r>
            <a:r>
              <a:rPr lang="en-US" dirty="0" err="1"/>
              <a:t>asta</a:t>
            </a:r>
            <a:r>
              <a:rPr lang="en-US" dirty="0"/>
              <a:t> e </a:t>
            </a:r>
            <a:r>
              <a:rPr lang="en-US" dirty="0" err="1"/>
              <a:t>practic</a:t>
            </a:r>
            <a:r>
              <a:rPr lang="en-US" dirty="0"/>
              <a:t> un tensor pe care-l </a:t>
            </a:r>
            <a:r>
              <a:rPr lang="en-US" dirty="0" err="1"/>
              <a:t>poti</a:t>
            </a:r>
            <a:r>
              <a:rPr lang="en-US" dirty="0"/>
              <a:t> </a:t>
            </a:r>
            <a:r>
              <a:rPr lang="en-US" dirty="0" err="1"/>
              <a:t>folosi</a:t>
            </a:r>
            <a:r>
              <a:rPr lang="en-US" dirty="0"/>
              <a:t> ca </a:t>
            </a:r>
            <a:r>
              <a:rPr lang="en-US" dirty="0" err="1"/>
              <a:t>sa</a:t>
            </a:r>
            <a:r>
              <a:rPr lang="en-US" dirty="0"/>
              <a:t> </a:t>
            </a:r>
            <a:r>
              <a:rPr lang="en-US" dirty="0" err="1"/>
              <a:t>primeasca</a:t>
            </a:r>
            <a:r>
              <a:rPr lang="en-US" dirty="0"/>
              <a:t> un gradient.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56</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4374077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61</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30721873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15958-7E3D-84AD-D1BE-E0FB8468E4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3FBEB-1D25-404D-849A-BFEDCE13C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425701-AE56-19FD-E8C5-A680F7EA08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3D6EE6-9397-89D9-E7A4-DD62B03F4C97}"/>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62</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1682894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Explica</a:t>
            </a:r>
            <a:r>
              <a:rPr lang="en-US" dirty="0"/>
              <a:t> </a:t>
            </a:r>
            <a:r>
              <a:rPr lang="en-US" dirty="0" err="1"/>
              <a:t>aici</a:t>
            </a:r>
            <a:r>
              <a:rPr lang="en-US" dirty="0"/>
              <a:t> ca </a:t>
            </a:r>
            <a:r>
              <a:rPr lang="en-US" dirty="0" err="1"/>
              <a:t>poti</a:t>
            </a:r>
            <a:r>
              <a:rPr lang="en-US" dirty="0"/>
              <a:t> da un set de transforms </a:t>
            </a:r>
            <a:r>
              <a:rPr lang="en-US" dirty="0" err="1"/>
              <a:t>pentru</a:t>
            </a:r>
            <a:r>
              <a:rPr lang="en-US" dirty="0"/>
              <a:t> un set de date</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74</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10451208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87</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33175084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2"/>
        <p:cNvGrpSpPr/>
        <p:nvPr/>
      </p:nvGrpSpPr>
      <p:grpSpPr>
        <a:xfrm>
          <a:off x="0" y="0"/>
          <a:ext cx="0" cy="0"/>
          <a:chOff x="0" y="0"/>
          <a:chExt cx="0" cy="0"/>
        </a:xfrm>
      </p:grpSpPr>
      <p:sp>
        <p:nvSpPr>
          <p:cNvPr id="1873" name="Google Shape;1873;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4" name="Google Shape;1874;p5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grpSp>
        <p:nvGrpSpPr>
          <p:cNvPr id="16" name="Google Shape;16;p2"/>
          <p:cNvGrpSpPr/>
          <p:nvPr/>
        </p:nvGrpSpPr>
        <p:grpSpPr>
          <a:xfrm>
            <a:off x="1584896" y="4724400"/>
            <a:ext cx="8631936" cy="64008"/>
            <a:chOff x="-4110038" y="2703513"/>
            <a:chExt cx="17394239" cy="160336"/>
          </a:xfrm>
        </p:grpSpPr>
        <p:sp>
          <p:nvSpPr>
            <p:cNvPr id="17" name="Google Shape;17;p2"/>
            <p:cNvSpPr/>
            <p:nvPr/>
          </p:nvSpPr>
          <p:spPr>
            <a:xfrm>
              <a:off x="12815888" y="2768600"/>
              <a:ext cx="468313" cy="19050"/>
            </a:xfrm>
            <a:custGeom>
              <a:avLst/>
              <a:gdLst/>
              <a:ahLst/>
              <a:cxnLst/>
              <a:rect l="l" t="t" r="r" b="b"/>
              <a:pathLst>
                <a:path w="244" h="8" extrusionOk="0">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 name="Google Shape;18;p2"/>
            <p:cNvSpPr/>
            <p:nvPr/>
          </p:nvSpPr>
          <p:spPr>
            <a:xfrm>
              <a:off x="12380913" y="2755900"/>
              <a:ext cx="461963" cy="26987"/>
            </a:xfrm>
            <a:custGeom>
              <a:avLst/>
              <a:gdLst/>
              <a:ahLst/>
              <a:cxnLst/>
              <a:rect l="l" t="t" r="r" b="b"/>
              <a:pathLst>
                <a:path w="241" h="12" extrusionOk="0">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 name="Google Shape;19;p2"/>
            <p:cNvSpPr/>
            <p:nvPr/>
          </p:nvSpPr>
          <p:spPr>
            <a:xfrm>
              <a:off x="12814300" y="2779713"/>
              <a:ext cx="1588" cy="0"/>
            </a:xfrm>
            <a:custGeom>
              <a:avLst/>
              <a:gdLst/>
              <a:ahLst/>
              <a:cxnLst/>
              <a:rect l="l" t="t" r="r" b="b"/>
              <a:pathLst>
                <a:path w="1" h="120000" extrusionOk="0">
                  <a:moveTo>
                    <a:pt x="0" y="0"/>
                  </a:moveTo>
                  <a:lnTo>
                    <a:pt x="0" y="0"/>
                  </a:lnTo>
                  <a:lnTo>
                    <a:pt x="1"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 name="Google Shape;20;p2"/>
            <p:cNvSpPr/>
            <p:nvPr/>
          </p:nvSpPr>
          <p:spPr>
            <a:xfrm>
              <a:off x="2738437" y="2795588"/>
              <a:ext cx="425450" cy="15875"/>
            </a:xfrm>
            <a:custGeom>
              <a:avLst/>
              <a:gdLst/>
              <a:ahLst/>
              <a:cxnLst/>
              <a:rect l="l" t="t" r="r" b="b"/>
              <a:pathLst>
                <a:path w="222" h="7" extrusionOk="0">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 name="Google Shape;21;p2"/>
            <p:cNvSpPr/>
            <p:nvPr/>
          </p:nvSpPr>
          <p:spPr>
            <a:xfrm>
              <a:off x="-3646488" y="2800350"/>
              <a:ext cx="46038" cy="3175"/>
            </a:xfrm>
            <a:custGeom>
              <a:avLst/>
              <a:gdLst/>
              <a:ahLst/>
              <a:cxnLst/>
              <a:rect l="l" t="t" r="r" b="b"/>
              <a:pathLst>
                <a:path w="24" h="1" extrusionOk="0">
                  <a:moveTo>
                    <a:pt x="0" y="1"/>
                  </a:moveTo>
                  <a:lnTo>
                    <a:pt x="0" y="1"/>
                  </a:lnTo>
                  <a:cubicBezTo>
                    <a:pt x="21" y="0"/>
                    <a:pt x="24" y="0"/>
                    <a:pt x="21" y="0"/>
                  </a:cubicBez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2" name="Google Shape;22;p2"/>
            <p:cNvSpPr/>
            <p:nvPr/>
          </p:nvSpPr>
          <p:spPr>
            <a:xfrm>
              <a:off x="2627312" y="2816225"/>
              <a:ext cx="63500" cy="4762"/>
            </a:xfrm>
            <a:custGeom>
              <a:avLst/>
              <a:gdLst/>
              <a:ahLst/>
              <a:cxnLst/>
              <a:rect l="l" t="t" r="r" b="b"/>
              <a:pathLst>
                <a:path w="33" h="2" extrusionOk="0">
                  <a:moveTo>
                    <a:pt x="33" y="0"/>
                  </a:moveTo>
                  <a:lnTo>
                    <a:pt x="33" y="0"/>
                  </a:lnTo>
                  <a:lnTo>
                    <a:pt x="0" y="2"/>
                  </a:lnTo>
                  <a:cubicBezTo>
                    <a:pt x="14" y="1"/>
                    <a:pt x="25" y="1"/>
                    <a:pt x="3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 name="Google Shape;23;p2"/>
            <p:cNvSpPr/>
            <p:nvPr/>
          </p:nvSpPr>
          <p:spPr>
            <a:xfrm>
              <a:off x="3103562" y="2741613"/>
              <a:ext cx="28575" cy="3175"/>
            </a:xfrm>
            <a:custGeom>
              <a:avLst/>
              <a:gdLst/>
              <a:ahLst/>
              <a:cxnLst/>
              <a:rect l="l" t="t" r="r" b="b"/>
              <a:pathLst>
                <a:path w="15" h="1" extrusionOk="0">
                  <a:moveTo>
                    <a:pt x="15" y="0"/>
                  </a:moveTo>
                  <a:lnTo>
                    <a:pt x="15" y="0"/>
                  </a:lnTo>
                  <a:cubicBezTo>
                    <a:pt x="15" y="0"/>
                    <a:pt x="15" y="0"/>
                    <a:pt x="15" y="0"/>
                  </a:cubicBezTo>
                  <a:lnTo>
                    <a:pt x="0" y="1"/>
                  </a:lnTo>
                  <a:lnTo>
                    <a:pt x="0" y="1"/>
                  </a:lnTo>
                  <a:lnTo>
                    <a:pt x="1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 name="Google Shape;24;p2"/>
            <p:cNvSpPr/>
            <p:nvPr/>
          </p:nvSpPr>
          <p:spPr>
            <a:xfrm>
              <a:off x="1227137" y="2836863"/>
              <a:ext cx="20638" cy="0"/>
            </a:xfrm>
            <a:custGeom>
              <a:avLst/>
              <a:gdLst/>
              <a:ahLst/>
              <a:cxnLst/>
              <a:rect l="l" t="t" r="r" b="b"/>
              <a:pathLst>
                <a:path w="11" h="120000" extrusionOk="0">
                  <a:moveTo>
                    <a:pt x="11" y="0"/>
                  </a:moveTo>
                  <a:lnTo>
                    <a:pt x="11" y="0"/>
                  </a:lnTo>
                  <a:lnTo>
                    <a:pt x="0" y="0"/>
                  </a:lnTo>
                  <a:lnTo>
                    <a:pt x="1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 name="Google Shape;25;p2"/>
            <p:cNvSpPr/>
            <p:nvPr/>
          </p:nvSpPr>
          <p:spPr>
            <a:xfrm>
              <a:off x="3660775" y="2713038"/>
              <a:ext cx="331788" cy="20637"/>
            </a:xfrm>
            <a:custGeom>
              <a:avLst/>
              <a:gdLst/>
              <a:ahLst/>
              <a:cxnLst/>
              <a:rect l="l" t="t" r="r" b="b"/>
              <a:pathLst>
                <a:path w="173" h="9" extrusionOk="0">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 name="Google Shape;26;p2"/>
            <p:cNvSpPr/>
            <p:nvPr/>
          </p:nvSpPr>
          <p:spPr>
            <a:xfrm>
              <a:off x="-1674813" y="2768600"/>
              <a:ext cx="1588" cy="0"/>
            </a:xfrm>
            <a:custGeom>
              <a:avLst/>
              <a:gdLst/>
              <a:ahLst/>
              <a:cxnLst/>
              <a:rect l="l" t="t" r="r" b="b"/>
              <a:pathLst>
                <a:path w="1" h="120000" extrusionOk="0">
                  <a:moveTo>
                    <a:pt x="0" y="0"/>
                  </a:moveTo>
                  <a:lnTo>
                    <a:pt x="0" y="0"/>
                  </a:lnTo>
                  <a:lnTo>
                    <a:pt x="1" y="0"/>
                  </a:ln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 name="Google Shape;27;p2"/>
            <p:cNvSpPr/>
            <p:nvPr/>
          </p:nvSpPr>
          <p:spPr>
            <a:xfrm>
              <a:off x="-1673225" y="2767013"/>
              <a:ext cx="36513" cy="1587"/>
            </a:xfrm>
            <a:custGeom>
              <a:avLst/>
              <a:gdLst/>
              <a:ahLst/>
              <a:cxnLst/>
              <a:rect l="l" t="t" r="r" b="b"/>
              <a:pathLst>
                <a:path w="19" h="1" extrusionOk="0">
                  <a:moveTo>
                    <a:pt x="3" y="0"/>
                  </a:moveTo>
                  <a:lnTo>
                    <a:pt x="3" y="0"/>
                  </a:lnTo>
                  <a:lnTo>
                    <a:pt x="0" y="1"/>
                  </a:lnTo>
                  <a:cubicBezTo>
                    <a:pt x="4" y="0"/>
                    <a:pt x="19"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 name="Google Shape;28;p2"/>
            <p:cNvSpPr/>
            <p:nvPr/>
          </p:nvSpPr>
          <p:spPr>
            <a:xfrm>
              <a:off x="2690812" y="2811463"/>
              <a:ext cx="47625" cy="4762"/>
            </a:xfrm>
            <a:custGeom>
              <a:avLst/>
              <a:gdLst/>
              <a:ahLst/>
              <a:cxnLst/>
              <a:rect l="l" t="t" r="r" b="b"/>
              <a:pathLst>
                <a:path w="25" h="2" extrusionOk="0">
                  <a:moveTo>
                    <a:pt x="13" y="0"/>
                  </a:moveTo>
                  <a:lnTo>
                    <a:pt x="13" y="0"/>
                  </a:lnTo>
                  <a:cubicBezTo>
                    <a:pt x="12" y="0"/>
                    <a:pt x="7" y="1"/>
                    <a:pt x="0" y="2"/>
                  </a:cubicBezTo>
                  <a:lnTo>
                    <a:pt x="25" y="0"/>
                  </a:lnTo>
                  <a:lnTo>
                    <a:pt x="1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 name="Google Shape;29;p2"/>
            <p:cNvSpPr/>
            <p:nvPr/>
          </p:nvSpPr>
          <p:spPr>
            <a:xfrm>
              <a:off x="2822575" y="2794000"/>
              <a:ext cx="163513" cy="4762"/>
            </a:xfrm>
            <a:custGeom>
              <a:avLst/>
              <a:gdLst/>
              <a:ahLst/>
              <a:cxnLst/>
              <a:rect l="l" t="t" r="r" b="b"/>
              <a:pathLst>
                <a:path w="85" h="2" extrusionOk="0">
                  <a:moveTo>
                    <a:pt x="0" y="2"/>
                  </a:moveTo>
                  <a:lnTo>
                    <a:pt x="0" y="2"/>
                  </a:lnTo>
                  <a:lnTo>
                    <a:pt x="62" y="1"/>
                  </a:lnTo>
                  <a:lnTo>
                    <a:pt x="8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 name="Google Shape;30;p2"/>
            <p:cNvSpPr/>
            <p:nvPr/>
          </p:nvSpPr>
          <p:spPr>
            <a:xfrm>
              <a:off x="715962" y="2809875"/>
              <a:ext cx="1911350" cy="50800"/>
            </a:xfrm>
            <a:custGeom>
              <a:avLst/>
              <a:gdLst/>
              <a:ahLst/>
              <a:cxnLst/>
              <a:rect l="l" t="t" r="r" b="b"/>
              <a:pathLst>
                <a:path w="996" h="23" extrusionOk="0">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 name="Google Shape;31;p2"/>
            <p:cNvSpPr/>
            <p:nvPr/>
          </p:nvSpPr>
          <p:spPr>
            <a:xfrm>
              <a:off x="1995487" y="2822575"/>
              <a:ext cx="20638" cy="0"/>
            </a:xfrm>
            <a:custGeom>
              <a:avLst/>
              <a:gdLst/>
              <a:ahLst/>
              <a:cxnLst/>
              <a:rect l="l" t="t" r="r" b="b"/>
              <a:pathLst>
                <a:path w="10" h="120000" extrusionOk="0">
                  <a:moveTo>
                    <a:pt x="10" y="0"/>
                  </a:moveTo>
                  <a:lnTo>
                    <a:pt x="10" y="0"/>
                  </a:lnTo>
                  <a:lnTo>
                    <a:pt x="0" y="0"/>
                  </a:lnTo>
                  <a:cubicBezTo>
                    <a:pt x="1" y="0"/>
                    <a:pt x="4" y="0"/>
                    <a:pt x="1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 name="Google Shape;32;p2"/>
            <p:cNvSpPr/>
            <p:nvPr/>
          </p:nvSpPr>
          <p:spPr>
            <a:xfrm>
              <a:off x="1630362" y="2830513"/>
              <a:ext cx="22225" cy="0"/>
            </a:xfrm>
            <a:custGeom>
              <a:avLst/>
              <a:gdLst/>
              <a:ahLst/>
              <a:cxnLst/>
              <a:rect l="l" t="t" r="r" b="b"/>
              <a:pathLst>
                <a:path w="12" h="120000" extrusionOk="0">
                  <a:moveTo>
                    <a:pt x="11" y="0"/>
                  </a:moveTo>
                  <a:lnTo>
                    <a:pt x="11" y="0"/>
                  </a:lnTo>
                  <a:cubicBezTo>
                    <a:pt x="12" y="0"/>
                    <a:pt x="11" y="0"/>
                    <a:pt x="12" y="0"/>
                  </a:cubicBezTo>
                  <a:lnTo>
                    <a:pt x="0" y="0"/>
                  </a:lnTo>
                  <a:lnTo>
                    <a:pt x="1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 name="Google Shape;33;p2"/>
            <p:cNvSpPr/>
            <p:nvPr/>
          </p:nvSpPr>
          <p:spPr>
            <a:xfrm>
              <a:off x="2651125" y="2798763"/>
              <a:ext cx="46038" cy="1587"/>
            </a:xfrm>
            <a:custGeom>
              <a:avLst/>
              <a:gdLst/>
              <a:ahLst/>
              <a:cxnLst/>
              <a:rect l="l" t="t" r="r" b="b"/>
              <a:pathLst>
                <a:path w="24" h="1" extrusionOk="0">
                  <a:moveTo>
                    <a:pt x="3" y="1"/>
                  </a:moveTo>
                  <a:lnTo>
                    <a:pt x="3" y="1"/>
                  </a:lnTo>
                  <a:lnTo>
                    <a:pt x="24" y="0"/>
                  </a:lnTo>
                  <a:lnTo>
                    <a:pt x="8" y="1"/>
                  </a:lnTo>
                  <a:cubicBezTo>
                    <a:pt x="2" y="1"/>
                    <a:pt x="0" y="1"/>
                    <a:pt x="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 name="Google Shape;34;p2"/>
            <p:cNvSpPr/>
            <p:nvPr/>
          </p:nvSpPr>
          <p:spPr>
            <a:xfrm>
              <a:off x="2698750" y="2809875"/>
              <a:ext cx="19050" cy="1587"/>
            </a:xfrm>
            <a:custGeom>
              <a:avLst/>
              <a:gdLst/>
              <a:ahLst/>
              <a:cxnLst/>
              <a:rect l="l" t="t" r="r" b="b"/>
              <a:pathLst>
                <a:path w="10" h="1" extrusionOk="0">
                  <a:moveTo>
                    <a:pt x="4" y="0"/>
                  </a:moveTo>
                  <a:lnTo>
                    <a:pt x="4" y="0"/>
                  </a:lnTo>
                  <a:lnTo>
                    <a:pt x="0" y="1"/>
                  </a:lnTo>
                  <a:lnTo>
                    <a:pt x="9" y="1"/>
                  </a:lnTo>
                  <a:cubicBezTo>
                    <a:pt x="10" y="0"/>
                    <a:pt x="9" y="0"/>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5" name="Google Shape;35;p2"/>
            <p:cNvSpPr/>
            <p:nvPr/>
          </p:nvSpPr>
          <p:spPr>
            <a:xfrm>
              <a:off x="469900" y="2800350"/>
              <a:ext cx="23813" cy="3175"/>
            </a:xfrm>
            <a:custGeom>
              <a:avLst/>
              <a:gdLst/>
              <a:ahLst/>
              <a:cxnLst/>
              <a:rect l="l" t="t" r="r" b="b"/>
              <a:pathLst>
                <a:path w="13" h="1" extrusionOk="0">
                  <a:moveTo>
                    <a:pt x="13" y="0"/>
                  </a:moveTo>
                  <a:lnTo>
                    <a:pt x="13" y="0"/>
                  </a:lnTo>
                  <a:lnTo>
                    <a:pt x="0" y="1"/>
                  </a:lnTo>
                  <a:cubicBezTo>
                    <a:pt x="8" y="1"/>
                    <a:pt x="11" y="1"/>
                    <a:pt x="1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 name="Google Shape;36;p2"/>
            <p:cNvSpPr/>
            <p:nvPr/>
          </p:nvSpPr>
          <p:spPr>
            <a:xfrm>
              <a:off x="998537" y="2811463"/>
              <a:ext cx="1076325" cy="20637"/>
            </a:xfrm>
            <a:custGeom>
              <a:avLst/>
              <a:gdLst/>
              <a:ahLst/>
              <a:cxnLst/>
              <a:rect l="l" t="t" r="r" b="b"/>
              <a:pathLst>
                <a:path w="561" h="9" extrusionOk="0">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 name="Google Shape;37;p2"/>
            <p:cNvSpPr/>
            <p:nvPr/>
          </p:nvSpPr>
          <p:spPr>
            <a:xfrm>
              <a:off x="2495550" y="2803525"/>
              <a:ext cx="17463" cy="0"/>
            </a:xfrm>
            <a:custGeom>
              <a:avLst/>
              <a:gdLst/>
              <a:ahLst/>
              <a:cxnLst/>
              <a:rect l="l" t="t" r="r" b="b"/>
              <a:pathLst>
                <a:path w="9" h="120000" extrusionOk="0">
                  <a:moveTo>
                    <a:pt x="9" y="0"/>
                  </a:moveTo>
                  <a:lnTo>
                    <a:pt x="9" y="0"/>
                  </a:lnTo>
                  <a:lnTo>
                    <a:pt x="0" y="0"/>
                  </a:lnTo>
                  <a:lnTo>
                    <a:pt x="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 name="Google Shape;38;p2"/>
            <p:cNvSpPr/>
            <p:nvPr/>
          </p:nvSpPr>
          <p:spPr>
            <a:xfrm>
              <a:off x="2538412" y="2816225"/>
              <a:ext cx="1057275" cy="31750"/>
            </a:xfrm>
            <a:custGeom>
              <a:avLst/>
              <a:gdLst/>
              <a:ahLst/>
              <a:cxnLst/>
              <a:rect l="l" t="t" r="r" b="b"/>
              <a:pathLst>
                <a:path w="551" h="14" extrusionOk="0">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 name="Google Shape;39;p2"/>
            <p:cNvSpPr/>
            <p:nvPr/>
          </p:nvSpPr>
          <p:spPr>
            <a:xfrm>
              <a:off x="11777663" y="2757488"/>
              <a:ext cx="19050" cy="3175"/>
            </a:xfrm>
            <a:custGeom>
              <a:avLst/>
              <a:gdLst/>
              <a:ahLst/>
              <a:cxnLst/>
              <a:rect l="l" t="t" r="r" b="b"/>
              <a:pathLst>
                <a:path w="10" h="1" extrusionOk="0">
                  <a:moveTo>
                    <a:pt x="0" y="0"/>
                  </a:moveTo>
                  <a:lnTo>
                    <a:pt x="0" y="0"/>
                  </a:lnTo>
                  <a:lnTo>
                    <a:pt x="10" y="1"/>
                  </a:lnTo>
                  <a:cubicBezTo>
                    <a:pt x="8" y="1"/>
                    <a:pt x="4" y="1"/>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 name="Google Shape;40;p2"/>
            <p:cNvSpPr/>
            <p:nvPr/>
          </p:nvSpPr>
          <p:spPr>
            <a:xfrm>
              <a:off x="5983288" y="2741613"/>
              <a:ext cx="38100" cy="0"/>
            </a:xfrm>
            <a:custGeom>
              <a:avLst/>
              <a:gdLst/>
              <a:ahLst/>
              <a:cxnLst/>
              <a:rect l="l" t="t" r="r" b="b"/>
              <a:pathLst>
                <a:path w="20" h="120000" extrusionOk="0">
                  <a:moveTo>
                    <a:pt x="0" y="0"/>
                  </a:moveTo>
                  <a:lnTo>
                    <a:pt x="0" y="0"/>
                  </a:lnTo>
                  <a:lnTo>
                    <a:pt x="20"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 name="Google Shape;41;p2"/>
            <p:cNvSpPr/>
            <p:nvPr/>
          </p:nvSpPr>
          <p:spPr>
            <a:xfrm>
              <a:off x="6832600" y="2713038"/>
              <a:ext cx="53975" cy="1587"/>
            </a:xfrm>
            <a:custGeom>
              <a:avLst/>
              <a:gdLst/>
              <a:ahLst/>
              <a:cxnLst/>
              <a:rect l="l" t="t" r="r" b="b"/>
              <a:pathLst>
                <a:path w="28" h="1" extrusionOk="0">
                  <a:moveTo>
                    <a:pt x="0" y="1"/>
                  </a:moveTo>
                  <a:lnTo>
                    <a:pt x="0" y="1"/>
                  </a:lnTo>
                  <a:lnTo>
                    <a:pt x="28" y="0"/>
                  </a:lnTo>
                  <a:cubicBezTo>
                    <a:pt x="17" y="0"/>
                    <a:pt x="8" y="1"/>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 name="Google Shape;42;p2"/>
            <p:cNvSpPr/>
            <p:nvPr/>
          </p:nvSpPr>
          <p:spPr>
            <a:xfrm>
              <a:off x="11317288" y="2755900"/>
              <a:ext cx="9525" cy="0"/>
            </a:xfrm>
            <a:custGeom>
              <a:avLst/>
              <a:gdLst/>
              <a:ahLst/>
              <a:cxnLst/>
              <a:rect l="l" t="t" r="r" b="b"/>
              <a:pathLst>
                <a:path w="5" h="120000" extrusionOk="0">
                  <a:moveTo>
                    <a:pt x="5" y="0"/>
                  </a:moveTo>
                  <a:lnTo>
                    <a:pt x="5" y="0"/>
                  </a:lnTo>
                  <a:lnTo>
                    <a:pt x="4" y="0"/>
                  </a:lnTo>
                  <a:lnTo>
                    <a:pt x="0" y="0"/>
                  </a:lnTo>
                  <a:lnTo>
                    <a:pt x="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3" name="Google Shape;43;p2"/>
            <p:cNvSpPr/>
            <p:nvPr/>
          </p:nvSpPr>
          <p:spPr>
            <a:xfrm>
              <a:off x="8534400" y="2735263"/>
              <a:ext cx="30163" cy="0"/>
            </a:xfrm>
            <a:custGeom>
              <a:avLst/>
              <a:gdLst/>
              <a:ahLst/>
              <a:cxnLst/>
              <a:rect l="l" t="t" r="r" b="b"/>
              <a:pathLst>
                <a:path w="16" h="120000" extrusionOk="0">
                  <a:moveTo>
                    <a:pt x="0" y="0"/>
                  </a:moveTo>
                  <a:lnTo>
                    <a:pt x="0" y="0"/>
                  </a:lnTo>
                  <a:cubicBezTo>
                    <a:pt x="4" y="0"/>
                    <a:pt x="9" y="0"/>
                    <a:pt x="16" y="0"/>
                  </a:cubicBezTo>
                  <a:cubicBezTo>
                    <a:pt x="15" y="0"/>
                    <a:pt x="9"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 name="Google Shape;44;p2"/>
            <p:cNvSpPr/>
            <p:nvPr/>
          </p:nvSpPr>
          <p:spPr>
            <a:xfrm>
              <a:off x="6821488" y="2714625"/>
              <a:ext cx="9525" cy="0"/>
            </a:xfrm>
            <a:custGeom>
              <a:avLst/>
              <a:gdLst/>
              <a:ahLst/>
              <a:cxnLst/>
              <a:rect l="l" t="t" r="r" b="b"/>
              <a:pathLst>
                <a:path w="5" h="120000" extrusionOk="0">
                  <a:moveTo>
                    <a:pt x="0" y="0"/>
                  </a:moveTo>
                  <a:lnTo>
                    <a:pt x="0" y="0"/>
                  </a:lnTo>
                  <a:lnTo>
                    <a:pt x="2" y="0"/>
                  </a:lnTo>
                  <a:lnTo>
                    <a:pt x="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 name="Google Shape;45;p2"/>
            <p:cNvSpPr/>
            <p:nvPr/>
          </p:nvSpPr>
          <p:spPr>
            <a:xfrm>
              <a:off x="5583238" y="2719388"/>
              <a:ext cx="25400" cy="0"/>
            </a:xfrm>
            <a:custGeom>
              <a:avLst/>
              <a:gdLst/>
              <a:ahLst/>
              <a:cxnLst/>
              <a:rect l="l" t="t" r="r" b="b"/>
              <a:pathLst>
                <a:path w="13" h="120000" extrusionOk="0">
                  <a:moveTo>
                    <a:pt x="13" y="0"/>
                  </a:moveTo>
                  <a:lnTo>
                    <a:pt x="13" y="0"/>
                  </a:lnTo>
                  <a:lnTo>
                    <a:pt x="0" y="0"/>
                  </a:lnTo>
                  <a:lnTo>
                    <a:pt x="1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 name="Google Shape;46;p2"/>
            <p:cNvSpPr/>
            <p:nvPr/>
          </p:nvSpPr>
          <p:spPr>
            <a:xfrm>
              <a:off x="5638800" y="2740025"/>
              <a:ext cx="23813" cy="1587"/>
            </a:xfrm>
            <a:custGeom>
              <a:avLst/>
              <a:gdLst/>
              <a:ahLst/>
              <a:cxnLst/>
              <a:rect l="l" t="t" r="r" b="b"/>
              <a:pathLst>
                <a:path w="12" h="1" extrusionOk="0">
                  <a:moveTo>
                    <a:pt x="12" y="0"/>
                  </a:moveTo>
                  <a:lnTo>
                    <a:pt x="12" y="0"/>
                  </a:lnTo>
                  <a:lnTo>
                    <a:pt x="0" y="1"/>
                  </a:lnTo>
                  <a:lnTo>
                    <a:pt x="1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 name="Google Shape;47;p2"/>
            <p:cNvSpPr/>
            <p:nvPr/>
          </p:nvSpPr>
          <p:spPr>
            <a:xfrm>
              <a:off x="4303712" y="2728913"/>
              <a:ext cx="50800" cy="0"/>
            </a:xfrm>
            <a:custGeom>
              <a:avLst/>
              <a:gdLst/>
              <a:ahLst/>
              <a:cxnLst/>
              <a:rect l="l" t="t" r="r" b="b"/>
              <a:pathLst>
                <a:path w="26" h="120000" extrusionOk="0">
                  <a:moveTo>
                    <a:pt x="26" y="0"/>
                  </a:moveTo>
                  <a:lnTo>
                    <a:pt x="26" y="0"/>
                  </a:lnTo>
                  <a:lnTo>
                    <a:pt x="0" y="0"/>
                  </a:lnTo>
                  <a:cubicBezTo>
                    <a:pt x="13" y="0"/>
                    <a:pt x="20" y="0"/>
                    <a:pt x="2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 name="Google Shape;48;p2"/>
            <p:cNvSpPr/>
            <p:nvPr/>
          </p:nvSpPr>
          <p:spPr>
            <a:xfrm>
              <a:off x="5519738" y="2735263"/>
              <a:ext cx="9525" cy="3175"/>
            </a:xfrm>
            <a:custGeom>
              <a:avLst/>
              <a:gdLst/>
              <a:ahLst/>
              <a:cxnLst/>
              <a:rect l="l" t="t" r="r" b="b"/>
              <a:pathLst>
                <a:path w="5" h="1" extrusionOk="0">
                  <a:moveTo>
                    <a:pt x="4" y="0"/>
                  </a:moveTo>
                  <a:lnTo>
                    <a:pt x="4" y="0"/>
                  </a:lnTo>
                  <a:lnTo>
                    <a:pt x="0" y="1"/>
                  </a:lnTo>
                  <a:cubicBezTo>
                    <a:pt x="3" y="1"/>
                    <a:pt x="5" y="1"/>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 name="Google Shape;49;p2"/>
            <p:cNvSpPr/>
            <p:nvPr/>
          </p:nvSpPr>
          <p:spPr>
            <a:xfrm>
              <a:off x="12096750" y="2784475"/>
              <a:ext cx="6350" cy="0"/>
            </a:xfrm>
            <a:custGeom>
              <a:avLst/>
              <a:gdLst/>
              <a:ahLst/>
              <a:cxnLst/>
              <a:rect l="l" t="t" r="r" b="b"/>
              <a:pathLst>
                <a:path w="3" h="120000" extrusionOk="0">
                  <a:moveTo>
                    <a:pt x="3" y="0"/>
                  </a:moveTo>
                  <a:lnTo>
                    <a:pt x="3" y="0"/>
                  </a:lnTo>
                  <a:lnTo>
                    <a:pt x="1" y="0"/>
                  </a:lnTo>
                  <a:lnTo>
                    <a:pt x="0" y="0"/>
                  </a:lnTo>
                  <a:lnTo>
                    <a:pt x="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 name="Google Shape;50;p2"/>
            <p:cNvSpPr/>
            <p:nvPr/>
          </p:nvSpPr>
          <p:spPr>
            <a:xfrm>
              <a:off x="12225338" y="2773363"/>
              <a:ext cx="46038" cy="0"/>
            </a:xfrm>
            <a:custGeom>
              <a:avLst/>
              <a:gdLst/>
              <a:ahLst/>
              <a:cxnLst/>
              <a:rect l="l" t="t" r="r" b="b"/>
              <a:pathLst>
                <a:path w="24" h="120000" extrusionOk="0">
                  <a:moveTo>
                    <a:pt x="0" y="0"/>
                  </a:moveTo>
                  <a:lnTo>
                    <a:pt x="0" y="0"/>
                  </a:lnTo>
                  <a:lnTo>
                    <a:pt x="24" y="0"/>
                  </a:lnTo>
                  <a:cubicBezTo>
                    <a:pt x="15" y="0"/>
                    <a:pt x="6"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1" name="Google Shape;51;p2"/>
            <p:cNvSpPr/>
            <p:nvPr/>
          </p:nvSpPr>
          <p:spPr>
            <a:xfrm>
              <a:off x="9274175" y="2746375"/>
              <a:ext cx="55563" cy="4762"/>
            </a:xfrm>
            <a:custGeom>
              <a:avLst/>
              <a:gdLst/>
              <a:ahLst/>
              <a:cxnLst/>
              <a:rect l="l" t="t" r="r" b="b"/>
              <a:pathLst>
                <a:path w="29" h="2" extrusionOk="0">
                  <a:moveTo>
                    <a:pt x="0" y="1"/>
                  </a:moveTo>
                  <a:lnTo>
                    <a:pt x="0" y="1"/>
                  </a:lnTo>
                  <a:cubicBezTo>
                    <a:pt x="7" y="1"/>
                    <a:pt x="23" y="2"/>
                    <a:pt x="15" y="2"/>
                  </a:cubicBezTo>
                  <a:cubicBezTo>
                    <a:pt x="29" y="2"/>
                    <a:pt x="2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 name="Google Shape;52;p2"/>
            <p:cNvSpPr/>
            <p:nvPr/>
          </p:nvSpPr>
          <p:spPr>
            <a:xfrm>
              <a:off x="11847513" y="2827338"/>
              <a:ext cx="34925" cy="3175"/>
            </a:xfrm>
            <a:custGeom>
              <a:avLst/>
              <a:gdLst/>
              <a:ahLst/>
              <a:cxnLst/>
              <a:rect l="l" t="t" r="r" b="b"/>
              <a:pathLst>
                <a:path w="18" h="1" extrusionOk="0">
                  <a:moveTo>
                    <a:pt x="3" y="1"/>
                  </a:moveTo>
                  <a:lnTo>
                    <a:pt x="3" y="1"/>
                  </a:lnTo>
                  <a:cubicBezTo>
                    <a:pt x="7" y="1"/>
                    <a:pt x="13" y="0"/>
                    <a:pt x="18" y="0"/>
                  </a:cubicBezTo>
                  <a:cubicBezTo>
                    <a:pt x="8" y="0"/>
                    <a:pt x="0" y="1"/>
                    <a:pt x="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 name="Google Shape;53;p2"/>
            <p:cNvSpPr/>
            <p:nvPr/>
          </p:nvSpPr>
          <p:spPr>
            <a:xfrm>
              <a:off x="11882438" y="2825750"/>
              <a:ext cx="25400" cy="1587"/>
            </a:xfrm>
            <a:custGeom>
              <a:avLst/>
              <a:gdLst/>
              <a:ahLst/>
              <a:cxnLst/>
              <a:rect l="l" t="t" r="r" b="b"/>
              <a:pathLst>
                <a:path w="14" h="1" extrusionOk="0">
                  <a:moveTo>
                    <a:pt x="0" y="1"/>
                  </a:moveTo>
                  <a:lnTo>
                    <a:pt x="0" y="1"/>
                  </a:lnTo>
                  <a:lnTo>
                    <a:pt x="14"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 name="Google Shape;54;p2"/>
            <p:cNvSpPr/>
            <p:nvPr/>
          </p:nvSpPr>
          <p:spPr>
            <a:xfrm>
              <a:off x="8915400" y="2809875"/>
              <a:ext cx="15875" cy="1587"/>
            </a:xfrm>
            <a:custGeom>
              <a:avLst/>
              <a:gdLst/>
              <a:ahLst/>
              <a:cxnLst/>
              <a:rect l="l" t="t" r="r" b="b"/>
              <a:pathLst>
                <a:path w="8" h="1" extrusionOk="0">
                  <a:moveTo>
                    <a:pt x="8" y="1"/>
                  </a:moveTo>
                  <a:lnTo>
                    <a:pt x="8" y="1"/>
                  </a:lnTo>
                  <a:cubicBezTo>
                    <a:pt x="6" y="0"/>
                    <a:pt x="3" y="0"/>
                    <a:pt x="0" y="0"/>
                  </a:cubicBezTo>
                  <a:cubicBezTo>
                    <a:pt x="1" y="0"/>
                    <a:pt x="4"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 name="Google Shape;55;p2"/>
            <p:cNvSpPr/>
            <p:nvPr/>
          </p:nvSpPr>
          <p:spPr>
            <a:xfrm>
              <a:off x="12109450" y="2752725"/>
              <a:ext cx="454025" cy="23812"/>
            </a:xfrm>
            <a:custGeom>
              <a:avLst/>
              <a:gdLst/>
              <a:ahLst/>
              <a:cxnLst/>
              <a:rect l="l" t="t" r="r" b="b"/>
              <a:pathLst>
                <a:path w="236" h="10" extrusionOk="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 name="Google Shape;56;p2"/>
            <p:cNvSpPr/>
            <p:nvPr/>
          </p:nvSpPr>
          <p:spPr>
            <a:xfrm>
              <a:off x="12182475" y="2816225"/>
              <a:ext cx="9525" cy="0"/>
            </a:xfrm>
            <a:custGeom>
              <a:avLst/>
              <a:gdLst/>
              <a:ahLst/>
              <a:cxnLst/>
              <a:rect l="l" t="t" r="r" b="b"/>
              <a:pathLst>
                <a:path w="5" h="120000" extrusionOk="0">
                  <a:moveTo>
                    <a:pt x="0" y="0"/>
                  </a:moveTo>
                  <a:lnTo>
                    <a:pt x="0" y="0"/>
                  </a:lnTo>
                  <a:lnTo>
                    <a:pt x="1" y="0"/>
                  </a:lnTo>
                  <a:lnTo>
                    <a:pt x="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 name="Google Shape;57;p2"/>
            <p:cNvSpPr/>
            <p:nvPr/>
          </p:nvSpPr>
          <p:spPr>
            <a:xfrm>
              <a:off x="4348162" y="2827338"/>
              <a:ext cx="17463" cy="3175"/>
            </a:xfrm>
            <a:custGeom>
              <a:avLst/>
              <a:gdLst/>
              <a:ahLst/>
              <a:cxnLst/>
              <a:rect l="l" t="t" r="r" b="b"/>
              <a:pathLst>
                <a:path w="9" h="1" extrusionOk="0">
                  <a:moveTo>
                    <a:pt x="8" y="0"/>
                  </a:moveTo>
                  <a:lnTo>
                    <a:pt x="8" y="0"/>
                  </a:lnTo>
                  <a:lnTo>
                    <a:pt x="0" y="1"/>
                  </a:lnTo>
                  <a:cubicBezTo>
                    <a:pt x="7" y="0"/>
                    <a:pt x="9" y="0"/>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 name="Google Shape;58;p2"/>
            <p:cNvSpPr/>
            <p:nvPr/>
          </p:nvSpPr>
          <p:spPr>
            <a:xfrm>
              <a:off x="12071350" y="2790825"/>
              <a:ext cx="0" cy="0"/>
            </a:xfrm>
            <a:custGeom>
              <a:avLst/>
              <a:gdLst/>
              <a:ahLst/>
              <a:cxnLst/>
              <a:rect l="l" t="t" r="r" b="b"/>
              <a:pathLst>
                <a:path w="120000" h="120000" extrusionOk="0">
                  <a:moveTo>
                    <a:pt x="0" y="0"/>
                  </a:moveTo>
                  <a:lnTo>
                    <a:pt x="0" y="0"/>
                  </a:lnTo>
                  <a:lnTo>
                    <a:pt x="0" y="0"/>
                  </a:ln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 name="Google Shape;59;p2"/>
            <p:cNvSpPr/>
            <p:nvPr/>
          </p:nvSpPr>
          <p:spPr>
            <a:xfrm>
              <a:off x="4754563" y="2827338"/>
              <a:ext cx="4763" cy="0"/>
            </a:xfrm>
            <a:custGeom>
              <a:avLst/>
              <a:gdLst/>
              <a:ahLst/>
              <a:cxnLst/>
              <a:rect l="l" t="t" r="r" b="b"/>
              <a:pathLst>
                <a:path w="2" h="120000" extrusionOk="0">
                  <a:moveTo>
                    <a:pt x="2" y="0"/>
                  </a:moveTo>
                  <a:lnTo>
                    <a:pt x="2" y="0"/>
                  </a:lnTo>
                  <a:lnTo>
                    <a:pt x="0" y="0"/>
                  </a:lnTo>
                  <a:cubicBezTo>
                    <a:pt x="1" y="0"/>
                    <a:pt x="1" y="0"/>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0" name="Google Shape;60;p2"/>
            <p:cNvSpPr/>
            <p:nvPr/>
          </p:nvSpPr>
          <p:spPr>
            <a:xfrm>
              <a:off x="4852988" y="2719388"/>
              <a:ext cx="9525" cy="3175"/>
            </a:xfrm>
            <a:custGeom>
              <a:avLst/>
              <a:gdLst/>
              <a:ahLst/>
              <a:cxnLst/>
              <a:rect l="l" t="t" r="r" b="b"/>
              <a:pathLst>
                <a:path w="5" h="1" extrusionOk="0">
                  <a:moveTo>
                    <a:pt x="5" y="1"/>
                  </a:moveTo>
                  <a:lnTo>
                    <a:pt x="5" y="1"/>
                  </a:lnTo>
                  <a:cubicBezTo>
                    <a:pt x="5" y="1"/>
                    <a:pt x="5" y="1"/>
                    <a:pt x="4" y="0"/>
                  </a:cubicBezTo>
                  <a:cubicBezTo>
                    <a:pt x="0" y="1"/>
                    <a:pt x="2" y="1"/>
                    <a:pt x="5"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1" name="Google Shape;61;p2"/>
            <p:cNvSpPr/>
            <p:nvPr/>
          </p:nvSpPr>
          <p:spPr>
            <a:xfrm>
              <a:off x="4759325" y="2827338"/>
              <a:ext cx="0" cy="0"/>
            </a:xfrm>
            <a:custGeom>
              <a:avLst/>
              <a:gdLst/>
              <a:ahLst/>
              <a:cxnLst/>
              <a:rect l="l" t="t" r="r" b="b"/>
              <a:pathLst>
                <a:path w="120000" h="120000" extrusionOk="0">
                  <a:moveTo>
                    <a:pt x="0" y="0"/>
                  </a:moveTo>
                  <a:lnTo>
                    <a:pt x="0" y="0"/>
                  </a:lnTo>
                  <a:cubicBezTo>
                    <a:pt x="0" y="0"/>
                    <a:pt x="0" y="0"/>
                    <a:pt x="0" y="0"/>
                  </a:cubicBez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2" name="Google Shape;62;p2"/>
            <p:cNvSpPr/>
            <p:nvPr/>
          </p:nvSpPr>
          <p:spPr>
            <a:xfrm>
              <a:off x="6654800" y="2805113"/>
              <a:ext cx="19050" cy="1587"/>
            </a:xfrm>
            <a:custGeom>
              <a:avLst/>
              <a:gdLst/>
              <a:ahLst/>
              <a:cxnLst/>
              <a:rect l="l" t="t" r="r" b="b"/>
              <a:pathLst>
                <a:path w="10" h="1" extrusionOk="0">
                  <a:moveTo>
                    <a:pt x="10" y="1"/>
                  </a:moveTo>
                  <a:lnTo>
                    <a:pt x="10" y="1"/>
                  </a:lnTo>
                  <a:lnTo>
                    <a:pt x="2" y="0"/>
                  </a:lnTo>
                  <a:cubicBezTo>
                    <a:pt x="0" y="0"/>
                    <a:pt x="2" y="0"/>
                    <a:pt x="1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3" name="Google Shape;63;p2"/>
            <p:cNvSpPr/>
            <p:nvPr/>
          </p:nvSpPr>
          <p:spPr>
            <a:xfrm>
              <a:off x="6289675" y="2798763"/>
              <a:ext cx="6350" cy="0"/>
            </a:xfrm>
            <a:custGeom>
              <a:avLst/>
              <a:gdLst/>
              <a:ahLst/>
              <a:cxnLst/>
              <a:rect l="l" t="t" r="r" b="b"/>
              <a:pathLst>
                <a:path w="3" h="120000" extrusionOk="0">
                  <a:moveTo>
                    <a:pt x="3" y="0"/>
                  </a:moveTo>
                  <a:lnTo>
                    <a:pt x="3" y="0"/>
                  </a:lnTo>
                  <a:lnTo>
                    <a:pt x="0" y="0"/>
                  </a:lnTo>
                  <a:lnTo>
                    <a:pt x="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4" name="Google Shape;64;p2"/>
            <p:cNvSpPr/>
            <p:nvPr/>
          </p:nvSpPr>
          <p:spPr>
            <a:xfrm>
              <a:off x="9140825" y="2725738"/>
              <a:ext cx="44450" cy="0"/>
            </a:xfrm>
            <a:custGeom>
              <a:avLst/>
              <a:gdLst/>
              <a:ahLst/>
              <a:cxnLst/>
              <a:rect l="l" t="t" r="r" b="b"/>
              <a:pathLst>
                <a:path w="23" h="120000" extrusionOk="0">
                  <a:moveTo>
                    <a:pt x="23" y="0"/>
                  </a:moveTo>
                  <a:lnTo>
                    <a:pt x="23" y="0"/>
                  </a:lnTo>
                  <a:lnTo>
                    <a:pt x="0" y="0"/>
                  </a:lnTo>
                  <a:lnTo>
                    <a:pt x="2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5" name="Google Shape;65;p2"/>
            <p:cNvSpPr/>
            <p:nvPr/>
          </p:nvSpPr>
          <p:spPr>
            <a:xfrm>
              <a:off x="4737100" y="2827338"/>
              <a:ext cx="17463" cy="3175"/>
            </a:xfrm>
            <a:custGeom>
              <a:avLst/>
              <a:gdLst/>
              <a:ahLst/>
              <a:cxnLst/>
              <a:rect l="l" t="t" r="r" b="b"/>
              <a:pathLst>
                <a:path w="9" h="1" extrusionOk="0">
                  <a:moveTo>
                    <a:pt x="9" y="0"/>
                  </a:moveTo>
                  <a:lnTo>
                    <a:pt x="9" y="0"/>
                  </a:lnTo>
                  <a:lnTo>
                    <a:pt x="0" y="1"/>
                  </a:lnTo>
                  <a:cubicBezTo>
                    <a:pt x="5" y="0"/>
                    <a:pt x="8" y="0"/>
                    <a:pt x="9"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6" name="Google Shape;66;p2"/>
            <p:cNvSpPr/>
            <p:nvPr/>
          </p:nvSpPr>
          <p:spPr>
            <a:xfrm>
              <a:off x="7239000" y="2779713"/>
              <a:ext cx="11113" cy="3175"/>
            </a:xfrm>
            <a:custGeom>
              <a:avLst/>
              <a:gdLst/>
              <a:ahLst/>
              <a:cxnLst/>
              <a:rect l="l" t="t" r="r" b="b"/>
              <a:pathLst>
                <a:path w="6" h="1" extrusionOk="0">
                  <a:moveTo>
                    <a:pt x="6" y="0"/>
                  </a:moveTo>
                  <a:lnTo>
                    <a:pt x="6" y="0"/>
                  </a:lnTo>
                  <a:lnTo>
                    <a:pt x="0" y="1"/>
                  </a:lnTo>
                  <a:lnTo>
                    <a:pt x="4" y="1"/>
                  </a:lnTo>
                  <a:lnTo>
                    <a:pt x="6"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7" name="Google Shape;67;p2"/>
            <p:cNvSpPr/>
            <p:nvPr/>
          </p:nvSpPr>
          <p:spPr>
            <a:xfrm>
              <a:off x="7181850" y="2773363"/>
              <a:ext cx="468313" cy="15875"/>
            </a:xfrm>
            <a:custGeom>
              <a:avLst/>
              <a:gdLst/>
              <a:ahLst/>
              <a:cxnLst/>
              <a:rect l="l" t="t" r="r" b="b"/>
              <a:pathLst>
                <a:path w="244" h="7" extrusionOk="0">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8" name="Google Shape;68;p2"/>
            <p:cNvSpPr/>
            <p:nvPr/>
          </p:nvSpPr>
          <p:spPr>
            <a:xfrm>
              <a:off x="7407275" y="2787650"/>
              <a:ext cx="26988" cy="0"/>
            </a:xfrm>
            <a:custGeom>
              <a:avLst/>
              <a:gdLst/>
              <a:ahLst/>
              <a:cxnLst/>
              <a:rect l="l" t="t" r="r" b="b"/>
              <a:pathLst>
                <a:path w="14" h="120000" extrusionOk="0">
                  <a:moveTo>
                    <a:pt x="14" y="0"/>
                  </a:moveTo>
                  <a:lnTo>
                    <a:pt x="14" y="0"/>
                  </a:lnTo>
                  <a:lnTo>
                    <a:pt x="0" y="0"/>
                  </a:lnTo>
                  <a:cubicBezTo>
                    <a:pt x="8" y="0"/>
                    <a:pt x="11" y="0"/>
                    <a:pt x="1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9" name="Google Shape;69;p2"/>
            <p:cNvSpPr/>
            <p:nvPr/>
          </p:nvSpPr>
          <p:spPr>
            <a:xfrm>
              <a:off x="8123238" y="2794000"/>
              <a:ext cx="31750" cy="1587"/>
            </a:xfrm>
            <a:custGeom>
              <a:avLst/>
              <a:gdLst/>
              <a:ahLst/>
              <a:cxnLst/>
              <a:rect l="l" t="t" r="r" b="b"/>
              <a:pathLst>
                <a:path w="16" h="1" extrusionOk="0">
                  <a:moveTo>
                    <a:pt x="0" y="1"/>
                  </a:moveTo>
                  <a:lnTo>
                    <a:pt x="0" y="1"/>
                  </a:lnTo>
                  <a:lnTo>
                    <a:pt x="16"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0" name="Google Shape;70;p2"/>
            <p:cNvSpPr/>
            <p:nvPr/>
          </p:nvSpPr>
          <p:spPr>
            <a:xfrm>
              <a:off x="3070225" y="2794000"/>
              <a:ext cx="101600" cy="4762"/>
            </a:xfrm>
            <a:custGeom>
              <a:avLst/>
              <a:gdLst/>
              <a:ahLst/>
              <a:cxnLst/>
              <a:rect l="l" t="t" r="r" b="b"/>
              <a:pathLst>
                <a:path w="53" h="2" extrusionOk="0">
                  <a:moveTo>
                    <a:pt x="0" y="0"/>
                  </a:moveTo>
                  <a:lnTo>
                    <a:pt x="0" y="0"/>
                  </a:lnTo>
                  <a:cubicBezTo>
                    <a:pt x="2" y="1"/>
                    <a:pt x="53" y="2"/>
                    <a:pt x="52" y="0"/>
                  </a:cubicBezTo>
                  <a:lnTo>
                    <a:pt x="6"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1" name="Google Shape;71;p2"/>
            <p:cNvSpPr/>
            <p:nvPr/>
          </p:nvSpPr>
          <p:spPr>
            <a:xfrm>
              <a:off x="9963150" y="2778125"/>
              <a:ext cx="41275" cy="0"/>
            </a:xfrm>
            <a:custGeom>
              <a:avLst/>
              <a:gdLst/>
              <a:ahLst/>
              <a:cxnLst/>
              <a:rect l="l" t="t" r="r" b="b"/>
              <a:pathLst>
                <a:path w="21" h="120000" extrusionOk="0">
                  <a:moveTo>
                    <a:pt x="21" y="0"/>
                  </a:moveTo>
                  <a:lnTo>
                    <a:pt x="21" y="0"/>
                  </a:lnTo>
                  <a:lnTo>
                    <a:pt x="3" y="0"/>
                  </a:lnTo>
                  <a:lnTo>
                    <a:pt x="0" y="0"/>
                  </a:lnTo>
                  <a:cubicBezTo>
                    <a:pt x="4" y="0"/>
                    <a:pt x="15"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2" name="Google Shape;72;p2"/>
            <p:cNvSpPr/>
            <p:nvPr/>
          </p:nvSpPr>
          <p:spPr>
            <a:xfrm>
              <a:off x="7523163" y="2773363"/>
              <a:ext cx="30163" cy="3175"/>
            </a:xfrm>
            <a:custGeom>
              <a:avLst/>
              <a:gdLst/>
              <a:ahLst/>
              <a:cxnLst/>
              <a:rect l="l" t="t" r="r" b="b"/>
              <a:pathLst>
                <a:path w="16" h="1" extrusionOk="0">
                  <a:moveTo>
                    <a:pt x="16" y="0"/>
                  </a:moveTo>
                  <a:lnTo>
                    <a:pt x="16" y="0"/>
                  </a:lnTo>
                  <a:cubicBezTo>
                    <a:pt x="6" y="0"/>
                    <a:pt x="2" y="1"/>
                    <a:pt x="0" y="1"/>
                  </a:cubicBezTo>
                  <a:cubicBezTo>
                    <a:pt x="6" y="1"/>
                    <a:pt x="12" y="1"/>
                    <a:pt x="1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3" name="Google Shape;73;p2"/>
            <p:cNvSpPr/>
            <p:nvPr/>
          </p:nvSpPr>
          <p:spPr>
            <a:xfrm>
              <a:off x="10009188" y="2787650"/>
              <a:ext cx="115888" cy="3175"/>
            </a:xfrm>
            <a:custGeom>
              <a:avLst/>
              <a:gdLst/>
              <a:ahLst/>
              <a:cxnLst/>
              <a:rect l="l" t="t" r="r" b="b"/>
              <a:pathLst>
                <a:path w="60" h="2" extrusionOk="0">
                  <a:moveTo>
                    <a:pt x="0" y="0"/>
                  </a:moveTo>
                  <a:lnTo>
                    <a:pt x="0" y="0"/>
                  </a:lnTo>
                  <a:cubicBezTo>
                    <a:pt x="7" y="0"/>
                    <a:pt x="18" y="1"/>
                    <a:pt x="19" y="2"/>
                  </a:cubicBezTo>
                  <a:cubicBezTo>
                    <a:pt x="34" y="2"/>
                    <a:pt x="45" y="1"/>
                    <a:pt x="60" y="1"/>
                  </a:cubicBezTo>
                  <a:cubicBezTo>
                    <a:pt x="43" y="1"/>
                    <a:pt x="23" y="1"/>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4" name="Google Shape;74;p2"/>
            <p:cNvSpPr/>
            <p:nvPr/>
          </p:nvSpPr>
          <p:spPr>
            <a:xfrm>
              <a:off x="10125075" y="2789238"/>
              <a:ext cx="1588" cy="0"/>
            </a:xfrm>
            <a:custGeom>
              <a:avLst/>
              <a:gdLst/>
              <a:ahLst/>
              <a:cxnLst/>
              <a:rect l="l" t="t" r="r" b="b"/>
              <a:pathLst>
                <a:path w="1" h="120000" extrusionOk="0">
                  <a:moveTo>
                    <a:pt x="1" y="0"/>
                  </a:moveTo>
                  <a:lnTo>
                    <a:pt x="1" y="0"/>
                  </a:lnTo>
                  <a:lnTo>
                    <a:pt x="0" y="0"/>
                  </a:lnTo>
                  <a:lnTo>
                    <a:pt x="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 name="Google Shape;75;p2"/>
            <p:cNvSpPr/>
            <p:nvPr/>
          </p:nvSpPr>
          <p:spPr>
            <a:xfrm>
              <a:off x="-4110038" y="2703513"/>
              <a:ext cx="16486189" cy="134937"/>
            </a:xfrm>
            <a:custGeom>
              <a:avLst/>
              <a:gdLst/>
              <a:ahLst/>
              <a:cxnLst/>
              <a:rect l="l" t="t" r="r" b="b"/>
              <a:pathLst>
                <a:path w="8594" h="60" extrusionOk="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 name="Google Shape;76;p2"/>
            <p:cNvSpPr/>
            <p:nvPr/>
          </p:nvSpPr>
          <p:spPr>
            <a:xfrm>
              <a:off x="12117388" y="2779713"/>
              <a:ext cx="127000" cy="4762"/>
            </a:xfrm>
            <a:custGeom>
              <a:avLst/>
              <a:gdLst/>
              <a:ahLst/>
              <a:cxnLst/>
              <a:rect l="l" t="t" r="r" b="b"/>
              <a:pathLst>
                <a:path w="66" h="2" extrusionOk="0">
                  <a:moveTo>
                    <a:pt x="19" y="2"/>
                  </a:moveTo>
                  <a:lnTo>
                    <a:pt x="19" y="2"/>
                  </a:lnTo>
                  <a:cubicBezTo>
                    <a:pt x="33" y="2"/>
                    <a:pt x="66" y="2"/>
                    <a:pt x="60" y="0"/>
                  </a:cubicBezTo>
                  <a:cubicBezTo>
                    <a:pt x="60" y="2"/>
                    <a:pt x="0" y="0"/>
                    <a:pt x="19"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 name="Google Shape;77;p2"/>
            <p:cNvSpPr/>
            <p:nvPr/>
          </p:nvSpPr>
          <p:spPr>
            <a:xfrm>
              <a:off x="12182475" y="2787650"/>
              <a:ext cx="79375" cy="1587"/>
            </a:xfrm>
            <a:custGeom>
              <a:avLst/>
              <a:gdLst/>
              <a:ahLst/>
              <a:cxnLst/>
              <a:rect l="l" t="t" r="r" b="b"/>
              <a:pathLst>
                <a:path w="41" h="1" extrusionOk="0">
                  <a:moveTo>
                    <a:pt x="25" y="1"/>
                  </a:moveTo>
                  <a:lnTo>
                    <a:pt x="25" y="1"/>
                  </a:lnTo>
                  <a:cubicBezTo>
                    <a:pt x="27" y="1"/>
                    <a:pt x="26" y="0"/>
                    <a:pt x="41" y="0"/>
                  </a:cubicBezTo>
                  <a:lnTo>
                    <a:pt x="0" y="0"/>
                  </a:lnTo>
                  <a:lnTo>
                    <a:pt x="2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 name="Google Shape;78;p2"/>
            <p:cNvSpPr/>
            <p:nvPr/>
          </p:nvSpPr>
          <p:spPr>
            <a:xfrm>
              <a:off x="12307888" y="2809875"/>
              <a:ext cx="249238" cy="15875"/>
            </a:xfrm>
            <a:custGeom>
              <a:avLst/>
              <a:gdLst/>
              <a:ahLst/>
              <a:cxnLst/>
              <a:rect l="l" t="t" r="r" b="b"/>
              <a:pathLst>
                <a:path w="130" h="7" extrusionOk="0">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 name="Google Shape;79;p2"/>
            <p:cNvSpPr/>
            <p:nvPr/>
          </p:nvSpPr>
          <p:spPr>
            <a:xfrm>
              <a:off x="12252325" y="2825750"/>
              <a:ext cx="73025" cy="1587"/>
            </a:xfrm>
            <a:custGeom>
              <a:avLst/>
              <a:gdLst/>
              <a:ahLst/>
              <a:cxnLst/>
              <a:rect l="l" t="t" r="r" b="b"/>
              <a:pathLst>
                <a:path w="38" h="1" extrusionOk="0">
                  <a:moveTo>
                    <a:pt x="4" y="1"/>
                  </a:moveTo>
                  <a:lnTo>
                    <a:pt x="4" y="1"/>
                  </a:lnTo>
                  <a:lnTo>
                    <a:pt x="38" y="0"/>
                  </a:lnTo>
                  <a:lnTo>
                    <a:pt x="34" y="0"/>
                  </a:lnTo>
                  <a:lnTo>
                    <a:pt x="0" y="1"/>
                  </a:lnTo>
                  <a:lnTo>
                    <a:pt x="4"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 name="Google Shape;80;p2"/>
            <p:cNvSpPr/>
            <p:nvPr/>
          </p:nvSpPr>
          <p:spPr>
            <a:xfrm>
              <a:off x="10779125" y="2733675"/>
              <a:ext cx="66675" cy="4762"/>
            </a:xfrm>
            <a:custGeom>
              <a:avLst/>
              <a:gdLst/>
              <a:ahLst/>
              <a:cxnLst/>
              <a:rect l="l" t="t" r="r" b="b"/>
              <a:pathLst>
                <a:path w="35" h="2" extrusionOk="0">
                  <a:moveTo>
                    <a:pt x="35" y="2"/>
                  </a:moveTo>
                  <a:lnTo>
                    <a:pt x="35" y="2"/>
                  </a:lnTo>
                  <a:cubicBezTo>
                    <a:pt x="32" y="0"/>
                    <a:pt x="11" y="1"/>
                    <a:pt x="0" y="2"/>
                  </a:cubicBezTo>
                  <a:cubicBezTo>
                    <a:pt x="9" y="2"/>
                    <a:pt x="22" y="2"/>
                    <a:pt x="35"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 name="Google Shape;81;p2"/>
            <p:cNvSpPr/>
            <p:nvPr/>
          </p:nvSpPr>
          <p:spPr>
            <a:xfrm>
              <a:off x="-2471738" y="2738438"/>
              <a:ext cx="496888" cy="1587"/>
            </a:xfrm>
            <a:custGeom>
              <a:avLst/>
              <a:gdLst/>
              <a:ahLst/>
              <a:cxnLst/>
              <a:rect l="l" t="t" r="r" b="b"/>
              <a:pathLst>
                <a:path w="259" h="1" extrusionOk="0">
                  <a:moveTo>
                    <a:pt x="259" y="0"/>
                  </a:moveTo>
                  <a:lnTo>
                    <a:pt x="259" y="0"/>
                  </a:lnTo>
                  <a:lnTo>
                    <a:pt x="0" y="1"/>
                  </a:lnTo>
                  <a:lnTo>
                    <a:pt x="25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2" name="Google Shape;82;p2"/>
            <p:cNvSpPr/>
            <p:nvPr/>
          </p:nvSpPr>
          <p:spPr>
            <a:xfrm>
              <a:off x="9136063" y="2735263"/>
              <a:ext cx="387350" cy="14287"/>
            </a:xfrm>
            <a:custGeom>
              <a:avLst/>
              <a:gdLst/>
              <a:ahLst/>
              <a:cxnLst/>
              <a:rect l="l" t="t" r="r" b="b"/>
              <a:pathLst>
                <a:path w="202" h="6" extrusionOk="0">
                  <a:moveTo>
                    <a:pt x="30" y="6"/>
                  </a:moveTo>
                  <a:lnTo>
                    <a:pt x="30" y="6"/>
                  </a:lnTo>
                  <a:cubicBezTo>
                    <a:pt x="100" y="5"/>
                    <a:pt x="131" y="3"/>
                    <a:pt x="202" y="3"/>
                  </a:cubicBezTo>
                  <a:cubicBezTo>
                    <a:pt x="109" y="0"/>
                    <a:pt x="79" y="6"/>
                    <a:pt x="0" y="3"/>
                  </a:cubicBezTo>
                  <a:lnTo>
                    <a:pt x="30"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 name="Google Shape;83;p2"/>
            <p:cNvSpPr/>
            <p:nvPr/>
          </p:nvSpPr>
          <p:spPr>
            <a:xfrm>
              <a:off x="9139238" y="2725738"/>
              <a:ext cx="142875" cy="9525"/>
            </a:xfrm>
            <a:custGeom>
              <a:avLst/>
              <a:gdLst/>
              <a:ahLst/>
              <a:cxnLst/>
              <a:rect l="l" t="t" r="r" b="b"/>
              <a:pathLst>
                <a:path w="75" h="4" extrusionOk="0">
                  <a:moveTo>
                    <a:pt x="54" y="0"/>
                  </a:moveTo>
                  <a:lnTo>
                    <a:pt x="54" y="0"/>
                  </a:lnTo>
                  <a:cubicBezTo>
                    <a:pt x="65" y="2"/>
                    <a:pt x="0" y="3"/>
                    <a:pt x="10" y="4"/>
                  </a:cubicBezTo>
                  <a:cubicBezTo>
                    <a:pt x="57" y="4"/>
                    <a:pt x="32" y="2"/>
                    <a:pt x="75" y="2"/>
                  </a:cubicBezTo>
                  <a:lnTo>
                    <a:pt x="5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 name="Google Shape;84;p2"/>
            <p:cNvSpPr/>
            <p:nvPr/>
          </p:nvSpPr>
          <p:spPr>
            <a:xfrm>
              <a:off x="9805988" y="2817813"/>
              <a:ext cx="39688" cy="3175"/>
            </a:xfrm>
            <a:custGeom>
              <a:avLst/>
              <a:gdLst/>
              <a:ahLst/>
              <a:cxnLst/>
              <a:rect l="l" t="t" r="r" b="b"/>
              <a:pathLst>
                <a:path w="21" h="1" extrusionOk="0">
                  <a:moveTo>
                    <a:pt x="21" y="0"/>
                  </a:moveTo>
                  <a:lnTo>
                    <a:pt x="21" y="0"/>
                  </a:lnTo>
                  <a:lnTo>
                    <a:pt x="0" y="1"/>
                  </a:lnTo>
                  <a:lnTo>
                    <a:pt x="17" y="1"/>
                  </a:lnTo>
                  <a:lnTo>
                    <a:pt x="2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 name="Google Shape;85;p2"/>
            <p:cNvSpPr/>
            <p:nvPr/>
          </p:nvSpPr>
          <p:spPr>
            <a:xfrm>
              <a:off x="8580438" y="2725738"/>
              <a:ext cx="66675" cy="3175"/>
            </a:xfrm>
            <a:custGeom>
              <a:avLst/>
              <a:gdLst/>
              <a:ahLst/>
              <a:cxnLst/>
              <a:rect l="l" t="t" r="r" b="b"/>
              <a:pathLst>
                <a:path w="35" h="1" extrusionOk="0">
                  <a:moveTo>
                    <a:pt x="27" y="1"/>
                  </a:moveTo>
                  <a:lnTo>
                    <a:pt x="27" y="1"/>
                  </a:lnTo>
                  <a:lnTo>
                    <a:pt x="35" y="1"/>
                  </a:lnTo>
                  <a:lnTo>
                    <a:pt x="0" y="0"/>
                  </a:lnTo>
                  <a:lnTo>
                    <a:pt x="27"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 name="Google Shape;86;p2"/>
            <p:cNvSpPr/>
            <p:nvPr/>
          </p:nvSpPr>
          <p:spPr>
            <a:xfrm>
              <a:off x="8647113" y="2725738"/>
              <a:ext cx="15875" cy="3175"/>
            </a:xfrm>
            <a:custGeom>
              <a:avLst/>
              <a:gdLst/>
              <a:ahLst/>
              <a:cxnLst/>
              <a:rect l="l" t="t" r="r" b="b"/>
              <a:pathLst>
                <a:path w="8" h="1" extrusionOk="0">
                  <a:moveTo>
                    <a:pt x="8" y="0"/>
                  </a:moveTo>
                  <a:lnTo>
                    <a:pt x="8" y="0"/>
                  </a:lnTo>
                  <a:lnTo>
                    <a:pt x="0" y="1"/>
                  </a:lnTo>
                  <a:lnTo>
                    <a:pt x="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 name="Google Shape;87;p2"/>
            <p:cNvSpPr/>
            <p:nvPr/>
          </p:nvSpPr>
          <p:spPr>
            <a:xfrm>
              <a:off x="9794875" y="2830513"/>
              <a:ext cx="90488" cy="1587"/>
            </a:xfrm>
            <a:custGeom>
              <a:avLst/>
              <a:gdLst/>
              <a:ahLst/>
              <a:cxnLst/>
              <a:rect l="l" t="t" r="r" b="b"/>
              <a:pathLst>
                <a:path w="47" h="1" extrusionOk="0">
                  <a:moveTo>
                    <a:pt x="0" y="0"/>
                  </a:moveTo>
                  <a:lnTo>
                    <a:pt x="0" y="0"/>
                  </a:lnTo>
                  <a:lnTo>
                    <a:pt x="32" y="1"/>
                  </a:lnTo>
                  <a:lnTo>
                    <a:pt x="47"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 name="Google Shape;88;p2"/>
            <p:cNvSpPr/>
            <p:nvPr/>
          </p:nvSpPr>
          <p:spPr>
            <a:xfrm>
              <a:off x="9232900" y="2795588"/>
              <a:ext cx="84138" cy="3175"/>
            </a:xfrm>
            <a:custGeom>
              <a:avLst/>
              <a:gdLst/>
              <a:ahLst/>
              <a:cxnLst/>
              <a:rect l="l" t="t" r="r" b="b"/>
              <a:pathLst>
                <a:path w="44" h="1" extrusionOk="0">
                  <a:moveTo>
                    <a:pt x="16" y="1"/>
                  </a:moveTo>
                  <a:lnTo>
                    <a:pt x="16" y="1"/>
                  </a:lnTo>
                  <a:lnTo>
                    <a:pt x="44" y="1"/>
                  </a:lnTo>
                  <a:cubicBezTo>
                    <a:pt x="39" y="1"/>
                    <a:pt x="0" y="0"/>
                    <a:pt x="16"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 name="Google Shape;89;p2"/>
            <p:cNvSpPr/>
            <p:nvPr/>
          </p:nvSpPr>
          <p:spPr>
            <a:xfrm>
              <a:off x="8158163" y="2725738"/>
              <a:ext cx="71438" cy="3175"/>
            </a:xfrm>
            <a:custGeom>
              <a:avLst/>
              <a:gdLst/>
              <a:ahLst/>
              <a:cxnLst/>
              <a:rect l="l" t="t" r="r" b="b"/>
              <a:pathLst>
                <a:path w="37" h="1" extrusionOk="0">
                  <a:moveTo>
                    <a:pt x="34" y="0"/>
                  </a:moveTo>
                  <a:lnTo>
                    <a:pt x="34" y="0"/>
                  </a:lnTo>
                  <a:lnTo>
                    <a:pt x="0" y="1"/>
                  </a:lnTo>
                  <a:lnTo>
                    <a:pt x="3" y="1"/>
                  </a:lnTo>
                  <a:lnTo>
                    <a:pt x="37" y="0"/>
                  </a:lnTo>
                  <a:lnTo>
                    <a:pt x="3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0" name="Google Shape;90;p2"/>
            <p:cNvSpPr/>
            <p:nvPr/>
          </p:nvSpPr>
          <p:spPr>
            <a:xfrm>
              <a:off x="8734425" y="2814638"/>
              <a:ext cx="144463" cy="3175"/>
            </a:xfrm>
            <a:custGeom>
              <a:avLst/>
              <a:gdLst/>
              <a:ahLst/>
              <a:cxnLst/>
              <a:rect l="l" t="t" r="r" b="b"/>
              <a:pathLst>
                <a:path w="76" h="2" extrusionOk="0">
                  <a:moveTo>
                    <a:pt x="56" y="0"/>
                  </a:moveTo>
                  <a:lnTo>
                    <a:pt x="56" y="0"/>
                  </a:lnTo>
                  <a:cubicBezTo>
                    <a:pt x="76" y="2"/>
                    <a:pt x="0" y="0"/>
                    <a:pt x="40" y="2"/>
                  </a:cubicBezTo>
                  <a:cubicBezTo>
                    <a:pt x="76" y="2"/>
                    <a:pt x="61" y="1"/>
                    <a:pt x="5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1" name="Google Shape;91;p2"/>
            <p:cNvSpPr/>
            <p:nvPr/>
          </p:nvSpPr>
          <p:spPr>
            <a:xfrm>
              <a:off x="8023225" y="2782888"/>
              <a:ext cx="26988" cy="1587"/>
            </a:xfrm>
            <a:custGeom>
              <a:avLst/>
              <a:gdLst/>
              <a:ahLst/>
              <a:cxnLst/>
              <a:rect l="l" t="t" r="r" b="b"/>
              <a:pathLst>
                <a:path w="14" h="1" extrusionOk="0">
                  <a:moveTo>
                    <a:pt x="14" y="0"/>
                  </a:moveTo>
                  <a:lnTo>
                    <a:pt x="14" y="0"/>
                  </a:lnTo>
                  <a:cubicBezTo>
                    <a:pt x="9" y="0"/>
                    <a:pt x="5" y="0"/>
                    <a:pt x="0" y="1"/>
                  </a:cubicBezTo>
                  <a:lnTo>
                    <a:pt x="1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 name="Google Shape;92;p2"/>
            <p:cNvSpPr/>
            <p:nvPr/>
          </p:nvSpPr>
          <p:spPr>
            <a:xfrm>
              <a:off x="8050213" y="2782888"/>
              <a:ext cx="77788" cy="1587"/>
            </a:xfrm>
            <a:custGeom>
              <a:avLst/>
              <a:gdLst/>
              <a:ahLst/>
              <a:cxnLst/>
              <a:rect l="l" t="t" r="r" b="b"/>
              <a:pathLst>
                <a:path w="40" h="1" extrusionOk="0">
                  <a:moveTo>
                    <a:pt x="0" y="0"/>
                  </a:moveTo>
                  <a:lnTo>
                    <a:pt x="0" y="0"/>
                  </a:lnTo>
                  <a:cubicBezTo>
                    <a:pt x="15" y="0"/>
                    <a:pt x="30" y="1"/>
                    <a:pt x="40" y="1"/>
                  </a:cubicBezTo>
                  <a:cubicBezTo>
                    <a:pt x="21" y="0"/>
                    <a:pt x="15"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 name="Google Shape;93;p2"/>
            <p:cNvSpPr/>
            <p:nvPr/>
          </p:nvSpPr>
          <p:spPr>
            <a:xfrm>
              <a:off x="7715250" y="2779713"/>
              <a:ext cx="90488" cy="7937"/>
            </a:xfrm>
            <a:custGeom>
              <a:avLst/>
              <a:gdLst/>
              <a:ahLst/>
              <a:cxnLst/>
              <a:rect l="l" t="t" r="r" b="b"/>
              <a:pathLst>
                <a:path w="47" h="3" extrusionOk="0">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 name="Google Shape;94;p2"/>
            <p:cNvSpPr/>
            <p:nvPr/>
          </p:nvSpPr>
          <p:spPr>
            <a:xfrm>
              <a:off x="6508750" y="2713038"/>
              <a:ext cx="247650" cy="6350"/>
            </a:xfrm>
            <a:custGeom>
              <a:avLst/>
              <a:gdLst/>
              <a:ahLst/>
              <a:cxnLst/>
              <a:rect l="l" t="t" r="r" b="b"/>
              <a:pathLst>
                <a:path w="129" h="3" extrusionOk="0">
                  <a:moveTo>
                    <a:pt x="0" y="0"/>
                  </a:moveTo>
                  <a:lnTo>
                    <a:pt x="0" y="0"/>
                  </a:lnTo>
                  <a:cubicBezTo>
                    <a:pt x="50" y="1"/>
                    <a:pt x="63" y="1"/>
                    <a:pt x="60" y="2"/>
                  </a:cubicBezTo>
                  <a:cubicBezTo>
                    <a:pt x="108" y="3"/>
                    <a:pt x="100" y="0"/>
                    <a:pt x="129"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 name="Google Shape;95;p2"/>
            <p:cNvSpPr/>
            <p:nvPr/>
          </p:nvSpPr>
          <p:spPr>
            <a:xfrm>
              <a:off x="6756400" y="2713038"/>
              <a:ext cx="33338" cy="0"/>
            </a:xfrm>
            <a:custGeom>
              <a:avLst/>
              <a:gdLst/>
              <a:ahLst/>
              <a:cxnLst/>
              <a:rect l="l" t="t" r="r" b="b"/>
              <a:pathLst>
                <a:path w="18" h="120000" extrusionOk="0">
                  <a:moveTo>
                    <a:pt x="0" y="0"/>
                  </a:moveTo>
                  <a:lnTo>
                    <a:pt x="0" y="0"/>
                  </a:lnTo>
                  <a:lnTo>
                    <a:pt x="18"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 name="Google Shape;96;p2"/>
            <p:cNvSpPr/>
            <p:nvPr/>
          </p:nvSpPr>
          <p:spPr>
            <a:xfrm>
              <a:off x="8047038" y="2820988"/>
              <a:ext cx="58738" cy="4762"/>
            </a:xfrm>
            <a:custGeom>
              <a:avLst/>
              <a:gdLst/>
              <a:ahLst/>
              <a:cxnLst/>
              <a:rect l="l" t="t" r="r" b="b"/>
              <a:pathLst>
                <a:path w="31" h="2" extrusionOk="0">
                  <a:moveTo>
                    <a:pt x="31" y="0"/>
                  </a:moveTo>
                  <a:lnTo>
                    <a:pt x="31" y="0"/>
                  </a:lnTo>
                  <a:lnTo>
                    <a:pt x="0" y="2"/>
                  </a:lnTo>
                  <a:lnTo>
                    <a:pt x="11" y="2"/>
                  </a:lnTo>
                  <a:lnTo>
                    <a:pt x="3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 name="Google Shape;97;p2"/>
            <p:cNvSpPr/>
            <p:nvPr/>
          </p:nvSpPr>
          <p:spPr>
            <a:xfrm>
              <a:off x="6348413" y="2711451"/>
              <a:ext cx="82550" cy="1587"/>
            </a:xfrm>
            <a:custGeom>
              <a:avLst/>
              <a:gdLst/>
              <a:ahLst/>
              <a:cxnLst/>
              <a:rect l="l" t="t" r="r" b="b"/>
              <a:pathLst>
                <a:path w="43" h="1" extrusionOk="0">
                  <a:moveTo>
                    <a:pt x="9" y="1"/>
                  </a:moveTo>
                  <a:lnTo>
                    <a:pt x="9" y="1"/>
                  </a:lnTo>
                  <a:cubicBezTo>
                    <a:pt x="18" y="1"/>
                    <a:pt x="33" y="1"/>
                    <a:pt x="41" y="1"/>
                  </a:cubicBezTo>
                  <a:cubicBezTo>
                    <a:pt x="43" y="0"/>
                    <a:pt x="0" y="1"/>
                    <a:pt x="9"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 name="Google Shape;98;p2"/>
            <p:cNvSpPr/>
            <p:nvPr/>
          </p:nvSpPr>
          <p:spPr>
            <a:xfrm>
              <a:off x="6734175" y="2771775"/>
              <a:ext cx="96838" cy="6350"/>
            </a:xfrm>
            <a:custGeom>
              <a:avLst/>
              <a:gdLst/>
              <a:ahLst/>
              <a:cxnLst/>
              <a:rect l="l" t="t" r="r" b="b"/>
              <a:pathLst>
                <a:path w="50" h="3" extrusionOk="0">
                  <a:moveTo>
                    <a:pt x="0" y="2"/>
                  </a:moveTo>
                  <a:lnTo>
                    <a:pt x="0" y="2"/>
                  </a:lnTo>
                  <a:cubicBezTo>
                    <a:pt x="6" y="3"/>
                    <a:pt x="37" y="2"/>
                    <a:pt x="50" y="3"/>
                  </a:cubicBezTo>
                  <a:cubicBezTo>
                    <a:pt x="32" y="2"/>
                    <a:pt x="17"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 name="Google Shape;99;p2"/>
            <p:cNvSpPr/>
            <p:nvPr/>
          </p:nvSpPr>
          <p:spPr>
            <a:xfrm>
              <a:off x="6091238" y="2722563"/>
              <a:ext cx="95250" cy="7937"/>
            </a:xfrm>
            <a:custGeom>
              <a:avLst/>
              <a:gdLst/>
              <a:ahLst/>
              <a:cxnLst/>
              <a:rect l="l" t="t" r="r" b="b"/>
              <a:pathLst>
                <a:path w="49" h="4" extrusionOk="0">
                  <a:moveTo>
                    <a:pt x="0" y="1"/>
                  </a:moveTo>
                  <a:lnTo>
                    <a:pt x="0" y="1"/>
                  </a:lnTo>
                  <a:cubicBezTo>
                    <a:pt x="10" y="2"/>
                    <a:pt x="24" y="2"/>
                    <a:pt x="18" y="4"/>
                  </a:cubicBezTo>
                  <a:cubicBezTo>
                    <a:pt x="31" y="3"/>
                    <a:pt x="4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 name="Google Shape;100;p2"/>
            <p:cNvSpPr/>
            <p:nvPr/>
          </p:nvSpPr>
          <p:spPr>
            <a:xfrm>
              <a:off x="6559550" y="2773363"/>
              <a:ext cx="80963" cy="3175"/>
            </a:xfrm>
            <a:custGeom>
              <a:avLst/>
              <a:gdLst/>
              <a:ahLst/>
              <a:cxnLst/>
              <a:rect l="l" t="t" r="r" b="b"/>
              <a:pathLst>
                <a:path w="42" h="1" extrusionOk="0">
                  <a:moveTo>
                    <a:pt x="0" y="1"/>
                  </a:moveTo>
                  <a:lnTo>
                    <a:pt x="0" y="1"/>
                  </a:lnTo>
                  <a:lnTo>
                    <a:pt x="8" y="1"/>
                  </a:lnTo>
                  <a:lnTo>
                    <a:pt x="42"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 name="Google Shape;101;p2"/>
            <p:cNvSpPr/>
            <p:nvPr/>
          </p:nvSpPr>
          <p:spPr>
            <a:xfrm>
              <a:off x="6640513" y="2806700"/>
              <a:ext cx="227013" cy="15875"/>
            </a:xfrm>
            <a:custGeom>
              <a:avLst/>
              <a:gdLst/>
              <a:ahLst/>
              <a:cxnLst/>
              <a:rect l="l" t="t" r="r" b="b"/>
              <a:pathLst>
                <a:path w="118" h="7" extrusionOk="0">
                  <a:moveTo>
                    <a:pt x="80" y="7"/>
                  </a:moveTo>
                  <a:lnTo>
                    <a:pt x="80" y="7"/>
                  </a:lnTo>
                  <a:cubicBezTo>
                    <a:pt x="118" y="5"/>
                    <a:pt x="19" y="3"/>
                    <a:pt x="85" y="1"/>
                  </a:cubicBezTo>
                  <a:cubicBezTo>
                    <a:pt x="0" y="0"/>
                    <a:pt x="92" y="4"/>
                    <a:pt x="29" y="4"/>
                  </a:cubicBezTo>
                  <a:cubicBezTo>
                    <a:pt x="66" y="4"/>
                    <a:pt x="84" y="6"/>
                    <a:pt x="80"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 name="Google Shape;102;p2"/>
            <p:cNvSpPr/>
            <p:nvPr/>
          </p:nvSpPr>
          <p:spPr>
            <a:xfrm>
              <a:off x="6661150" y="2814638"/>
              <a:ext cx="34925" cy="1587"/>
            </a:xfrm>
            <a:custGeom>
              <a:avLst/>
              <a:gdLst/>
              <a:ahLst/>
              <a:cxnLst/>
              <a:rect l="l" t="t" r="r" b="b"/>
              <a:pathLst>
                <a:path w="18" h="1" extrusionOk="0">
                  <a:moveTo>
                    <a:pt x="18" y="1"/>
                  </a:moveTo>
                  <a:lnTo>
                    <a:pt x="18" y="1"/>
                  </a:lnTo>
                  <a:lnTo>
                    <a:pt x="0" y="0"/>
                  </a:lnTo>
                  <a:lnTo>
                    <a:pt x="18"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 name="Google Shape;103;p2"/>
            <p:cNvSpPr/>
            <p:nvPr/>
          </p:nvSpPr>
          <p:spPr>
            <a:xfrm>
              <a:off x="5661025" y="2789238"/>
              <a:ext cx="23813" cy="1587"/>
            </a:xfrm>
            <a:custGeom>
              <a:avLst/>
              <a:gdLst/>
              <a:ahLst/>
              <a:cxnLst/>
              <a:rect l="l" t="t" r="r" b="b"/>
              <a:pathLst>
                <a:path w="13" h="1" extrusionOk="0">
                  <a:moveTo>
                    <a:pt x="0" y="1"/>
                  </a:moveTo>
                  <a:lnTo>
                    <a:pt x="0" y="1"/>
                  </a:lnTo>
                  <a:lnTo>
                    <a:pt x="13"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 name="Google Shape;104;p2"/>
            <p:cNvSpPr/>
            <p:nvPr/>
          </p:nvSpPr>
          <p:spPr>
            <a:xfrm>
              <a:off x="6162675" y="2814638"/>
              <a:ext cx="258763" cy="7937"/>
            </a:xfrm>
            <a:custGeom>
              <a:avLst/>
              <a:gdLst/>
              <a:ahLst/>
              <a:cxnLst/>
              <a:rect l="l" t="t" r="r" b="b"/>
              <a:pathLst>
                <a:path w="135" h="4" extrusionOk="0">
                  <a:moveTo>
                    <a:pt x="77" y="2"/>
                  </a:moveTo>
                  <a:lnTo>
                    <a:pt x="77" y="2"/>
                  </a:lnTo>
                  <a:lnTo>
                    <a:pt x="135" y="0"/>
                  </a:lnTo>
                  <a:cubicBezTo>
                    <a:pt x="96" y="1"/>
                    <a:pt x="0" y="1"/>
                    <a:pt x="6" y="4"/>
                  </a:cubicBezTo>
                  <a:cubicBezTo>
                    <a:pt x="37" y="4"/>
                    <a:pt x="75" y="4"/>
                    <a:pt x="90" y="3"/>
                  </a:cubicBezTo>
                  <a:lnTo>
                    <a:pt x="77"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 name="Google Shape;105;p2"/>
            <p:cNvSpPr/>
            <p:nvPr/>
          </p:nvSpPr>
          <p:spPr>
            <a:xfrm>
              <a:off x="5019675" y="2713038"/>
              <a:ext cx="73025" cy="4762"/>
            </a:xfrm>
            <a:custGeom>
              <a:avLst/>
              <a:gdLst/>
              <a:ahLst/>
              <a:cxnLst/>
              <a:rect l="l" t="t" r="r" b="b"/>
              <a:pathLst>
                <a:path w="38" h="2" extrusionOk="0">
                  <a:moveTo>
                    <a:pt x="13" y="1"/>
                  </a:moveTo>
                  <a:lnTo>
                    <a:pt x="13" y="1"/>
                  </a:lnTo>
                  <a:lnTo>
                    <a:pt x="38" y="0"/>
                  </a:lnTo>
                  <a:lnTo>
                    <a:pt x="7" y="0"/>
                  </a:lnTo>
                  <a:cubicBezTo>
                    <a:pt x="16" y="0"/>
                    <a:pt x="0" y="2"/>
                    <a:pt x="1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 name="Google Shape;106;p2"/>
            <p:cNvSpPr/>
            <p:nvPr/>
          </p:nvSpPr>
          <p:spPr>
            <a:xfrm>
              <a:off x="5021263" y="2713038"/>
              <a:ext cx="11113" cy="0"/>
            </a:xfrm>
            <a:custGeom>
              <a:avLst/>
              <a:gdLst/>
              <a:ahLst/>
              <a:cxnLst/>
              <a:rect l="l" t="t" r="r" b="b"/>
              <a:pathLst>
                <a:path w="6" h="120000" extrusionOk="0">
                  <a:moveTo>
                    <a:pt x="0" y="0"/>
                  </a:moveTo>
                  <a:lnTo>
                    <a:pt x="0" y="0"/>
                  </a:lnTo>
                  <a:lnTo>
                    <a:pt x="6"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 name="Google Shape;107;p2"/>
            <p:cNvSpPr/>
            <p:nvPr/>
          </p:nvSpPr>
          <p:spPr>
            <a:xfrm>
              <a:off x="5864225" y="2784475"/>
              <a:ext cx="101600" cy="4762"/>
            </a:xfrm>
            <a:custGeom>
              <a:avLst/>
              <a:gdLst/>
              <a:ahLst/>
              <a:cxnLst/>
              <a:rect l="l" t="t" r="r" b="b"/>
              <a:pathLst>
                <a:path w="53" h="2" extrusionOk="0">
                  <a:moveTo>
                    <a:pt x="3" y="2"/>
                  </a:moveTo>
                  <a:lnTo>
                    <a:pt x="3" y="2"/>
                  </a:lnTo>
                  <a:cubicBezTo>
                    <a:pt x="21" y="2"/>
                    <a:pt x="36" y="2"/>
                    <a:pt x="53" y="1"/>
                  </a:cubicBezTo>
                  <a:cubicBezTo>
                    <a:pt x="46" y="1"/>
                    <a:pt x="0" y="0"/>
                    <a:pt x="3"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 name="Google Shape;108;p2"/>
            <p:cNvSpPr/>
            <p:nvPr/>
          </p:nvSpPr>
          <p:spPr>
            <a:xfrm>
              <a:off x="4703763" y="2722563"/>
              <a:ext cx="84138" cy="1587"/>
            </a:xfrm>
            <a:custGeom>
              <a:avLst/>
              <a:gdLst/>
              <a:ahLst/>
              <a:cxnLst/>
              <a:rect l="l" t="t" r="r" b="b"/>
              <a:pathLst>
                <a:path w="44" h="1" extrusionOk="0">
                  <a:moveTo>
                    <a:pt x="3" y="1"/>
                  </a:moveTo>
                  <a:lnTo>
                    <a:pt x="3" y="1"/>
                  </a:lnTo>
                  <a:lnTo>
                    <a:pt x="44" y="0"/>
                  </a:lnTo>
                  <a:lnTo>
                    <a:pt x="0" y="0"/>
                  </a:lnTo>
                  <a:lnTo>
                    <a:pt x="3"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 name="Google Shape;109;p2"/>
            <p:cNvSpPr/>
            <p:nvPr/>
          </p:nvSpPr>
          <p:spPr>
            <a:xfrm>
              <a:off x="4264025" y="2713038"/>
              <a:ext cx="77788" cy="4762"/>
            </a:xfrm>
            <a:custGeom>
              <a:avLst/>
              <a:gdLst/>
              <a:ahLst/>
              <a:cxnLst/>
              <a:rect l="l" t="t" r="r" b="b"/>
              <a:pathLst>
                <a:path w="41" h="2" extrusionOk="0">
                  <a:moveTo>
                    <a:pt x="41" y="1"/>
                  </a:moveTo>
                  <a:lnTo>
                    <a:pt x="41" y="1"/>
                  </a:lnTo>
                  <a:lnTo>
                    <a:pt x="34" y="0"/>
                  </a:lnTo>
                  <a:lnTo>
                    <a:pt x="0" y="1"/>
                  </a:lnTo>
                  <a:lnTo>
                    <a:pt x="7" y="2"/>
                  </a:lnTo>
                  <a:lnTo>
                    <a:pt x="4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 name="Google Shape;110;p2"/>
            <p:cNvSpPr/>
            <p:nvPr/>
          </p:nvSpPr>
          <p:spPr>
            <a:xfrm>
              <a:off x="4800600" y="2822575"/>
              <a:ext cx="117475" cy="7937"/>
            </a:xfrm>
            <a:custGeom>
              <a:avLst/>
              <a:gdLst/>
              <a:ahLst/>
              <a:cxnLst/>
              <a:rect l="l" t="t" r="r" b="b"/>
              <a:pathLst>
                <a:path w="61" h="3" extrusionOk="0">
                  <a:moveTo>
                    <a:pt x="11" y="2"/>
                  </a:moveTo>
                  <a:lnTo>
                    <a:pt x="11" y="2"/>
                  </a:lnTo>
                  <a:cubicBezTo>
                    <a:pt x="39" y="3"/>
                    <a:pt x="61" y="0"/>
                    <a:pt x="54" y="0"/>
                  </a:cubicBezTo>
                  <a:lnTo>
                    <a:pt x="0" y="0"/>
                  </a:lnTo>
                  <a:cubicBezTo>
                    <a:pt x="13" y="2"/>
                    <a:pt x="15" y="0"/>
                    <a:pt x="46" y="0"/>
                  </a:cubicBezTo>
                  <a:lnTo>
                    <a:pt x="11"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 name="Google Shape;111;p2"/>
            <p:cNvSpPr/>
            <p:nvPr/>
          </p:nvSpPr>
          <p:spPr>
            <a:xfrm>
              <a:off x="187325" y="2714625"/>
              <a:ext cx="1925638" cy="31750"/>
            </a:xfrm>
            <a:custGeom>
              <a:avLst/>
              <a:gdLst/>
              <a:ahLst/>
              <a:cxnLst/>
              <a:rect l="l" t="t" r="r" b="b"/>
              <a:pathLst>
                <a:path w="1004" h="14" extrusionOk="0">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 name="Google Shape;112;p2"/>
            <p:cNvSpPr/>
            <p:nvPr/>
          </p:nvSpPr>
          <p:spPr>
            <a:xfrm>
              <a:off x="1947862" y="2735263"/>
              <a:ext cx="47625" cy="0"/>
            </a:xfrm>
            <a:custGeom>
              <a:avLst/>
              <a:gdLst/>
              <a:ahLst/>
              <a:cxnLst/>
              <a:rect l="l" t="t" r="r" b="b"/>
              <a:pathLst>
                <a:path w="25" h="120000" extrusionOk="0">
                  <a:moveTo>
                    <a:pt x="0" y="0"/>
                  </a:moveTo>
                  <a:lnTo>
                    <a:pt x="0" y="0"/>
                  </a:lnTo>
                  <a:lnTo>
                    <a:pt x="2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 name="Google Shape;113;p2"/>
            <p:cNvSpPr/>
            <p:nvPr/>
          </p:nvSpPr>
          <p:spPr>
            <a:xfrm>
              <a:off x="112712" y="2724150"/>
              <a:ext cx="74613" cy="0"/>
            </a:xfrm>
            <a:custGeom>
              <a:avLst/>
              <a:gdLst/>
              <a:ahLst/>
              <a:cxnLst/>
              <a:rect l="l" t="t" r="r" b="b"/>
              <a:pathLst>
                <a:path w="39" h="120000" extrusionOk="0">
                  <a:moveTo>
                    <a:pt x="0" y="0"/>
                  </a:moveTo>
                  <a:lnTo>
                    <a:pt x="0" y="0"/>
                  </a:lnTo>
                  <a:lnTo>
                    <a:pt x="39" y="0"/>
                  </a:lnTo>
                  <a:cubicBezTo>
                    <a:pt x="27" y="0"/>
                    <a:pt x="14"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 name="Google Shape;114;p2"/>
            <p:cNvSpPr/>
            <p:nvPr/>
          </p:nvSpPr>
          <p:spPr>
            <a:xfrm>
              <a:off x="2187575" y="2717800"/>
              <a:ext cx="176213" cy="6350"/>
            </a:xfrm>
            <a:custGeom>
              <a:avLst/>
              <a:gdLst/>
              <a:ahLst/>
              <a:cxnLst/>
              <a:rect l="l" t="t" r="r" b="b"/>
              <a:pathLst>
                <a:path w="92" h="3" extrusionOk="0">
                  <a:moveTo>
                    <a:pt x="71" y="3"/>
                  </a:moveTo>
                  <a:lnTo>
                    <a:pt x="71" y="3"/>
                  </a:lnTo>
                  <a:cubicBezTo>
                    <a:pt x="47" y="2"/>
                    <a:pt x="88" y="1"/>
                    <a:pt x="92" y="0"/>
                  </a:cubicBezTo>
                  <a:lnTo>
                    <a:pt x="8" y="1"/>
                  </a:lnTo>
                  <a:cubicBezTo>
                    <a:pt x="8" y="1"/>
                    <a:pt x="0" y="2"/>
                    <a:pt x="2" y="3"/>
                  </a:cubicBezTo>
                  <a:lnTo>
                    <a:pt x="71"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 name="Google Shape;115;p2"/>
            <p:cNvSpPr/>
            <p:nvPr/>
          </p:nvSpPr>
          <p:spPr>
            <a:xfrm>
              <a:off x="2112962" y="2714625"/>
              <a:ext cx="90488" cy="4762"/>
            </a:xfrm>
            <a:custGeom>
              <a:avLst/>
              <a:gdLst/>
              <a:ahLst/>
              <a:cxnLst/>
              <a:rect l="l" t="t" r="r" b="b"/>
              <a:pathLst>
                <a:path w="47" h="2" extrusionOk="0">
                  <a:moveTo>
                    <a:pt x="22" y="0"/>
                  </a:moveTo>
                  <a:lnTo>
                    <a:pt x="22" y="0"/>
                  </a:lnTo>
                  <a:cubicBezTo>
                    <a:pt x="19" y="1"/>
                    <a:pt x="11" y="1"/>
                    <a:pt x="0" y="2"/>
                  </a:cubicBezTo>
                  <a:lnTo>
                    <a:pt x="47" y="2"/>
                  </a:lnTo>
                  <a:cubicBezTo>
                    <a:pt x="47" y="1"/>
                    <a:pt x="41" y="0"/>
                    <a:pt x="2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 name="Google Shape;116;p2"/>
            <p:cNvSpPr/>
            <p:nvPr/>
          </p:nvSpPr>
          <p:spPr>
            <a:xfrm>
              <a:off x="2101850" y="2811463"/>
              <a:ext cx="71438" cy="3175"/>
            </a:xfrm>
            <a:custGeom>
              <a:avLst/>
              <a:gdLst/>
              <a:ahLst/>
              <a:cxnLst/>
              <a:rect l="l" t="t" r="r" b="b"/>
              <a:pathLst>
                <a:path w="37" h="1" extrusionOk="0">
                  <a:moveTo>
                    <a:pt x="37" y="0"/>
                  </a:moveTo>
                  <a:lnTo>
                    <a:pt x="37" y="0"/>
                  </a:lnTo>
                  <a:lnTo>
                    <a:pt x="22" y="1"/>
                  </a:lnTo>
                  <a:lnTo>
                    <a:pt x="0" y="1"/>
                  </a:lnTo>
                  <a:lnTo>
                    <a:pt x="3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 name="Google Shape;117;p2"/>
            <p:cNvSpPr/>
            <p:nvPr/>
          </p:nvSpPr>
          <p:spPr>
            <a:xfrm>
              <a:off x="1724025" y="2805113"/>
              <a:ext cx="120650" cy="4762"/>
            </a:xfrm>
            <a:custGeom>
              <a:avLst/>
              <a:gdLst/>
              <a:ahLst/>
              <a:cxnLst/>
              <a:rect l="l" t="t" r="r" b="b"/>
              <a:pathLst>
                <a:path w="63" h="2" extrusionOk="0">
                  <a:moveTo>
                    <a:pt x="0" y="0"/>
                  </a:moveTo>
                  <a:lnTo>
                    <a:pt x="0" y="0"/>
                  </a:lnTo>
                  <a:cubicBezTo>
                    <a:pt x="18" y="2"/>
                    <a:pt x="52" y="1"/>
                    <a:pt x="63" y="0"/>
                  </a:cubicBezTo>
                  <a:cubicBezTo>
                    <a:pt x="24" y="0"/>
                    <a:pt x="41"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 name="Google Shape;118;p2"/>
            <p:cNvSpPr/>
            <p:nvPr/>
          </p:nvSpPr>
          <p:spPr>
            <a:xfrm>
              <a:off x="1744662" y="2833688"/>
              <a:ext cx="73025" cy="3175"/>
            </a:xfrm>
            <a:custGeom>
              <a:avLst/>
              <a:gdLst/>
              <a:ahLst/>
              <a:cxnLst/>
              <a:rect l="l" t="t" r="r" b="b"/>
              <a:pathLst>
                <a:path w="38" h="1" extrusionOk="0">
                  <a:moveTo>
                    <a:pt x="38" y="0"/>
                  </a:moveTo>
                  <a:lnTo>
                    <a:pt x="38" y="0"/>
                  </a:lnTo>
                  <a:lnTo>
                    <a:pt x="0" y="1"/>
                  </a:lnTo>
                  <a:lnTo>
                    <a:pt x="3" y="1"/>
                  </a:lnTo>
                  <a:lnTo>
                    <a:pt x="3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 name="Google Shape;119;p2"/>
            <p:cNvSpPr/>
            <p:nvPr/>
          </p:nvSpPr>
          <p:spPr>
            <a:xfrm>
              <a:off x="-474663" y="2741613"/>
              <a:ext cx="34925" cy="0"/>
            </a:xfrm>
            <a:custGeom>
              <a:avLst/>
              <a:gdLst/>
              <a:ahLst/>
              <a:cxnLst/>
              <a:rect l="l" t="t" r="r" b="b"/>
              <a:pathLst>
                <a:path w="18" h="120000" extrusionOk="0">
                  <a:moveTo>
                    <a:pt x="18" y="0"/>
                  </a:moveTo>
                  <a:lnTo>
                    <a:pt x="18" y="0"/>
                  </a:lnTo>
                  <a:lnTo>
                    <a:pt x="0" y="0"/>
                  </a:lnTo>
                  <a:lnTo>
                    <a:pt x="1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 name="Google Shape;120;p2"/>
            <p:cNvSpPr/>
            <p:nvPr/>
          </p:nvSpPr>
          <p:spPr>
            <a:xfrm>
              <a:off x="-947738" y="2725738"/>
              <a:ext cx="1239838" cy="19050"/>
            </a:xfrm>
            <a:custGeom>
              <a:avLst/>
              <a:gdLst/>
              <a:ahLst/>
              <a:cxnLst/>
              <a:rect l="l" t="t" r="r" b="b"/>
              <a:pathLst>
                <a:path w="647" h="8" extrusionOk="0">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 name="Google Shape;121;p2"/>
            <p:cNvSpPr/>
            <p:nvPr/>
          </p:nvSpPr>
          <p:spPr>
            <a:xfrm>
              <a:off x="-1944688" y="2741613"/>
              <a:ext cx="4763" cy="0"/>
            </a:xfrm>
            <a:custGeom>
              <a:avLst/>
              <a:gdLst/>
              <a:ahLst/>
              <a:cxnLst/>
              <a:rect l="l" t="t" r="r" b="b"/>
              <a:pathLst>
                <a:path w="2" h="120000" extrusionOk="0">
                  <a:moveTo>
                    <a:pt x="1" y="0"/>
                  </a:moveTo>
                  <a:lnTo>
                    <a:pt x="1" y="0"/>
                  </a:lnTo>
                  <a:lnTo>
                    <a:pt x="2" y="0"/>
                  </a:lnTo>
                  <a:cubicBezTo>
                    <a:pt x="0" y="0"/>
                    <a:pt x="0"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2" name="Google Shape;122;p2"/>
            <p:cNvSpPr/>
            <p:nvPr/>
          </p:nvSpPr>
          <p:spPr>
            <a:xfrm>
              <a:off x="-1939925" y="2735263"/>
              <a:ext cx="173038" cy="6350"/>
            </a:xfrm>
            <a:custGeom>
              <a:avLst/>
              <a:gdLst/>
              <a:ahLst/>
              <a:cxnLst/>
              <a:rect l="l" t="t" r="r" b="b"/>
              <a:pathLst>
                <a:path w="90" h="3" extrusionOk="0">
                  <a:moveTo>
                    <a:pt x="36" y="3"/>
                  </a:moveTo>
                  <a:lnTo>
                    <a:pt x="36" y="3"/>
                  </a:lnTo>
                  <a:lnTo>
                    <a:pt x="90" y="0"/>
                  </a:lnTo>
                  <a:lnTo>
                    <a:pt x="6" y="1"/>
                  </a:lnTo>
                  <a:lnTo>
                    <a:pt x="0" y="3"/>
                  </a:lnTo>
                  <a:cubicBezTo>
                    <a:pt x="8" y="2"/>
                    <a:pt x="37" y="1"/>
                    <a:pt x="48" y="2"/>
                  </a:cubicBezTo>
                  <a:lnTo>
                    <a:pt x="36"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 name="Google Shape;123;p2"/>
            <p:cNvSpPr/>
            <p:nvPr/>
          </p:nvSpPr>
          <p:spPr>
            <a:xfrm>
              <a:off x="-1773238" y="2733675"/>
              <a:ext cx="123825" cy="12700"/>
            </a:xfrm>
            <a:custGeom>
              <a:avLst/>
              <a:gdLst/>
              <a:ahLst/>
              <a:cxnLst/>
              <a:rect l="l" t="t" r="r" b="b"/>
              <a:pathLst>
                <a:path w="65" h="6" extrusionOk="0">
                  <a:moveTo>
                    <a:pt x="65" y="0"/>
                  </a:moveTo>
                  <a:lnTo>
                    <a:pt x="65" y="0"/>
                  </a:lnTo>
                  <a:cubicBezTo>
                    <a:pt x="22" y="1"/>
                    <a:pt x="25" y="3"/>
                    <a:pt x="48" y="4"/>
                  </a:cubicBezTo>
                  <a:cubicBezTo>
                    <a:pt x="8" y="5"/>
                    <a:pt x="27" y="1"/>
                    <a:pt x="0" y="4"/>
                  </a:cubicBezTo>
                  <a:cubicBezTo>
                    <a:pt x="1" y="6"/>
                    <a:pt x="50" y="5"/>
                    <a:pt x="61" y="4"/>
                  </a:cubicBezTo>
                  <a:lnTo>
                    <a:pt x="6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 name="Google Shape;124;p2"/>
            <p:cNvSpPr/>
            <p:nvPr/>
          </p:nvSpPr>
          <p:spPr>
            <a:xfrm>
              <a:off x="-1057275" y="2735263"/>
              <a:ext cx="57150" cy="3175"/>
            </a:xfrm>
            <a:custGeom>
              <a:avLst/>
              <a:gdLst/>
              <a:ahLst/>
              <a:cxnLst/>
              <a:rect l="l" t="t" r="r" b="b"/>
              <a:pathLst>
                <a:path w="30" h="1" extrusionOk="0">
                  <a:moveTo>
                    <a:pt x="12" y="0"/>
                  </a:moveTo>
                  <a:lnTo>
                    <a:pt x="12" y="0"/>
                  </a:lnTo>
                  <a:lnTo>
                    <a:pt x="0" y="1"/>
                  </a:lnTo>
                  <a:lnTo>
                    <a:pt x="30" y="1"/>
                  </a:lnTo>
                  <a:lnTo>
                    <a:pt x="1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 name="Google Shape;125;p2"/>
            <p:cNvSpPr/>
            <p:nvPr/>
          </p:nvSpPr>
          <p:spPr>
            <a:xfrm>
              <a:off x="-1116013" y="2738438"/>
              <a:ext cx="58738" cy="3175"/>
            </a:xfrm>
            <a:custGeom>
              <a:avLst/>
              <a:gdLst/>
              <a:ahLst/>
              <a:cxnLst/>
              <a:rect l="l" t="t" r="r" b="b"/>
              <a:pathLst>
                <a:path w="30" h="2" extrusionOk="0">
                  <a:moveTo>
                    <a:pt x="30" y="0"/>
                  </a:moveTo>
                  <a:lnTo>
                    <a:pt x="30" y="0"/>
                  </a:lnTo>
                  <a:lnTo>
                    <a:pt x="0" y="0"/>
                  </a:lnTo>
                  <a:cubicBezTo>
                    <a:pt x="2" y="0"/>
                    <a:pt x="4" y="1"/>
                    <a:pt x="9" y="2"/>
                  </a:cubicBezTo>
                  <a:lnTo>
                    <a:pt x="3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 name="Google Shape;126;p2"/>
            <p:cNvSpPr/>
            <p:nvPr/>
          </p:nvSpPr>
          <p:spPr>
            <a:xfrm>
              <a:off x="-1349375" y="2735263"/>
              <a:ext cx="84138" cy="0"/>
            </a:xfrm>
            <a:custGeom>
              <a:avLst/>
              <a:gdLst/>
              <a:ahLst/>
              <a:cxnLst/>
              <a:rect l="l" t="t" r="r" b="b"/>
              <a:pathLst>
                <a:path w="44" h="120000" extrusionOk="0">
                  <a:moveTo>
                    <a:pt x="44" y="0"/>
                  </a:moveTo>
                  <a:lnTo>
                    <a:pt x="44" y="0"/>
                  </a:lnTo>
                  <a:lnTo>
                    <a:pt x="0" y="0"/>
                  </a:lnTo>
                  <a:lnTo>
                    <a:pt x="4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 name="Google Shape;127;p2"/>
            <p:cNvSpPr/>
            <p:nvPr/>
          </p:nvSpPr>
          <p:spPr>
            <a:xfrm>
              <a:off x="-1265238" y="2735263"/>
              <a:ext cx="65088" cy="3175"/>
            </a:xfrm>
            <a:custGeom>
              <a:avLst/>
              <a:gdLst/>
              <a:ahLst/>
              <a:cxnLst/>
              <a:rect l="l" t="t" r="r" b="b"/>
              <a:pathLst>
                <a:path w="34" h="1" extrusionOk="0">
                  <a:moveTo>
                    <a:pt x="34" y="1"/>
                  </a:moveTo>
                  <a:lnTo>
                    <a:pt x="34" y="1"/>
                  </a:lnTo>
                  <a:lnTo>
                    <a:pt x="33" y="0"/>
                  </a:lnTo>
                  <a:lnTo>
                    <a:pt x="0" y="0"/>
                  </a:lnTo>
                  <a:lnTo>
                    <a:pt x="34"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 name="Google Shape;128;p2"/>
            <p:cNvSpPr/>
            <p:nvPr/>
          </p:nvSpPr>
          <p:spPr>
            <a:xfrm>
              <a:off x="-1219200" y="2728913"/>
              <a:ext cx="103188" cy="9525"/>
            </a:xfrm>
            <a:custGeom>
              <a:avLst/>
              <a:gdLst/>
              <a:ahLst/>
              <a:cxnLst/>
              <a:rect l="l" t="t" r="r" b="b"/>
              <a:pathLst>
                <a:path w="54" h="4" extrusionOk="0">
                  <a:moveTo>
                    <a:pt x="54" y="4"/>
                  </a:moveTo>
                  <a:lnTo>
                    <a:pt x="54" y="4"/>
                  </a:lnTo>
                  <a:cubicBezTo>
                    <a:pt x="49" y="2"/>
                    <a:pt x="43" y="0"/>
                    <a:pt x="0" y="1"/>
                  </a:cubicBezTo>
                  <a:lnTo>
                    <a:pt x="9" y="3"/>
                  </a:lnTo>
                  <a:lnTo>
                    <a:pt x="54"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 name="Google Shape;129;p2"/>
            <p:cNvSpPr/>
            <p:nvPr/>
          </p:nvSpPr>
          <p:spPr>
            <a:xfrm>
              <a:off x="1225550" y="2830513"/>
              <a:ext cx="73025" cy="3175"/>
            </a:xfrm>
            <a:custGeom>
              <a:avLst/>
              <a:gdLst/>
              <a:ahLst/>
              <a:cxnLst/>
              <a:rect l="l" t="t" r="r" b="b"/>
              <a:pathLst>
                <a:path w="38" h="2" extrusionOk="0">
                  <a:moveTo>
                    <a:pt x="34" y="0"/>
                  </a:moveTo>
                  <a:lnTo>
                    <a:pt x="34" y="0"/>
                  </a:lnTo>
                  <a:lnTo>
                    <a:pt x="0" y="1"/>
                  </a:lnTo>
                  <a:lnTo>
                    <a:pt x="4" y="2"/>
                  </a:lnTo>
                  <a:lnTo>
                    <a:pt x="38" y="1"/>
                  </a:lnTo>
                  <a:lnTo>
                    <a:pt x="3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0" name="Google Shape;130;p2"/>
            <p:cNvSpPr/>
            <p:nvPr/>
          </p:nvSpPr>
          <p:spPr>
            <a:xfrm>
              <a:off x="874712" y="2827338"/>
              <a:ext cx="39688" cy="3175"/>
            </a:xfrm>
            <a:custGeom>
              <a:avLst/>
              <a:gdLst/>
              <a:ahLst/>
              <a:cxnLst/>
              <a:rect l="l" t="t" r="r" b="b"/>
              <a:pathLst>
                <a:path w="21" h="1" extrusionOk="0">
                  <a:moveTo>
                    <a:pt x="21" y="0"/>
                  </a:moveTo>
                  <a:lnTo>
                    <a:pt x="21" y="0"/>
                  </a:lnTo>
                  <a:lnTo>
                    <a:pt x="0" y="1"/>
                  </a:lnTo>
                  <a:cubicBezTo>
                    <a:pt x="9" y="1"/>
                    <a:pt x="16" y="1"/>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 name="Google Shape;131;p2"/>
            <p:cNvSpPr/>
            <p:nvPr/>
          </p:nvSpPr>
          <p:spPr>
            <a:xfrm>
              <a:off x="417512" y="2827338"/>
              <a:ext cx="457200" cy="31750"/>
            </a:xfrm>
            <a:custGeom>
              <a:avLst/>
              <a:gdLst/>
              <a:ahLst/>
              <a:cxnLst/>
              <a:rect l="l" t="t" r="r" b="b"/>
              <a:pathLst>
                <a:path w="238" h="14" extrusionOk="0">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 name="Google Shape;132;p2"/>
            <p:cNvSpPr/>
            <p:nvPr/>
          </p:nvSpPr>
          <p:spPr>
            <a:xfrm>
              <a:off x="755650" y="2859087"/>
              <a:ext cx="68263" cy="4762"/>
            </a:xfrm>
            <a:custGeom>
              <a:avLst/>
              <a:gdLst/>
              <a:ahLst/>
              <a:cxnLst/>
              <a:rect l="l" t="t" r="r" b="b"/>
              <a:pathLst>
                <a:path w="36" h="2" extrusionOk="0">
                  <a:moveTo>
                    <a:pt x="0" y="1"/>
                  </a:moveTo>
                  <a:lnTo>
                    <a:pt x="0" y="1"/>
                  </a:lnTo>
                  <a:cubicBezTo>
                    <a:pt x="19" y="2"/>
                    <a:pt x="24" y="1"/>
                    <a:pt x="36" y="1"/>
                  </a:cubicBezTo>
                  <a:cubicBezTo>
                    <a:pt x="33" y="0"/>
                    <a:pt x="15" y="1"/>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 name="Google Shape;133;p2"/>
            <p:cNvSpPr/>
            <p:nvPr/>
          </p:nvSpPr>
          <p:spPr>
            <a:xfrm>
              <a:off x="-133350" y="2798763"/>
              <a:ext cx="111125" cy="4762"/>
            </a:xfrm>
            <a:custGeom>
              <a:avLst/>
              <a:gdLst/>
              <a:ahLst/>
              <a:cxnLst/>
              <a:rect l="l" t="t" r="r" b="b"/>
              <a:pathLst>
                <a:path w="58" h="2" extrusionOk="0">
                  <a:moveTo>
                    <a:pt x="37" y="0"/>
                  </a:moveTo>
                  <a:lnTo>
                    <a:pt x="37" y="0"/>
                  </a:lnTo>
                  <a:cubicBezTo>
                    <a:pt x="34" y="1"/>
                    <a:pt x="0" y="1"/>
                    <a:pt x="7" y="2"/>
                  </a:cubicBezTo>
                  <a:lnTo>
                    <a:pt x="58" y="2"/>
                  </a:lnTo>
                  <a:cubicBezTo>
                    <a:pt x="46" y="2"/>
                    <a:pt x="42" y="1"/>
                    <a:pt x="3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 name="Google Shape;134;p2"/>
            <p:cNvSpPr/>
            <p:nvPr/>
          </p:nvSpPr>
          <p:spPr>
            <a:xfrm>
              <a:off x="-22225" y="2800350"/>
              <a:ext cx="44450" cy="3175"/>
            </a:xfrm>
            <a:custGeom>
              <a:avLst/>
              <a:gdLst/>
              <a:ahLst/>
              <a:cxnLst/>
              <a:rect l="l" t="t" r="r" b="b"/>
              <a:pathLst>
                <a:path w="23" h="1" extrusionOk="0">
                  <a:moveTo>
                    <a:pt x="23" y="0"/>
                  </a:moveTo>
                  <a:lnTo>
                    <a:pt x="23" y="0"/>
                  </a:lnTo>
                  <a:lnTo>
                    <a:pt x="0" y="1"/>
                  </a:lnTo>
                  <a:cubicBezTo>
                    <a:pt x="6" y="1"/>
                    <a:pt x="13"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 name="Google Shape;135;p2"/>
            <p:cNvSpPr/>
            <p:nvPr/>
          </p:nvSpPr>
          <p:spPr>
            <a:xfrm>
              <a:off x="-66675" y="2798763"/>
              <a:ext cx="6350" cy="0"/>
            </a:xfrm>
            <a:custGeom>
              <a:avLst/>
              <a:gdLst/>
              <a:ahLst/>
              <a:cxnLst/>
              <a:rect l="l" t="t" r="r" b="b"/>
              <a:pathLst>
                <a:path w="3" h="120000" extrusionOk="0">
                  <a:moveTo>
                    <a:pt x="0" y="0"/>
                  </a:moveTo>
                  <a:lnTo>
                    <a:pt x="0" y="0"/>
                  </a:lnTo>
                  <a:lnTo>
                    <a:pt x="2" y="0"/>
                  </a:lnTo>
                  <a:cubicBezTo>
                    <a:pt x="3" y="0"/>
                    <a:pt x="3"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 name="Google Shape;136;p2"/>
            <p:cNvSpPr/>
            <p:nvPr/>
          </p:nvSpPr>
          <p:spPr>
            <a:xfrm>
              <a:off x="-1566863" y="2730500"/>
              <a:ext cx="65088" cy="3175"/>
            </a:xfrm>
            <a:custGeom>
              <a:avLst/>
              <a:gdLst/>
              <a:ahLst/>
              <a:cxnLst/>
              <a:rect l="l" t="t" r="r" b="b"/>
              <a:pathLst>
                <a:path w="34" h="1" extrusionOk="0">
                  <a:moveTo>
                    <a:pt x="33" y="1"/>
                  </a:moveTo>
                  <a:lnTo>
                    <a:pt x="33" y="1"/>
                  </a:lnTo>
                  <a:cubicBezTo>
                    <a:pt x="34" y="0"/>
                    <a:pt x="12" y="1"/>
                    <a:pt x="0" y="1"/>
                  </a:cubicBezTo>
                  <a:cubicBezTo>
                    <a:pt x="9" y="1"/>
                    <a:pt x="22" y="1"/>
                    <a:pt x="3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 name="Google Shape;137;p2"/>
            <p:cNvSpPr/>
            <p:nvPr/>
          </p:nvSpPr>
          <p:spPr>
            <a:xfrm>
              <a:off x="-3175000" y="2740025"/>
              <a:ext cx="38100" cy="0"/>
            </a:xfrm>
            <a:custGeom>
              <a:avLst/>
              <a:gdLst/>
              <a:ahLst/>
              <a:cxnLst/>
              <a:rect l="l" t="t" r="r" b="b"/>
              <a:pathLst>
                <a:path w="20" h="120000" extrusionOk="0">
                  <a:moveTo>
                    <a:pt x="20" y="0"/>
                  </a:moveTo>
                  <a:lnTo>
                    <a:pt x="20" y="0"/>
                  </a:lnTo>
                  <a:lnTo>
                    <a:pt x="0" y="0"/>
                  </a:lnTo>
                  <a:cubicBezTo>
                    <a:pt x="7" y="0"/>
                    <a:pt x="11" y="0"/>
                    <a:pt x="2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8" name="Google Shape;138;p2"/>
            <p:cNvSpPr/>
            <p:nvPr/>
          </p:nvSpPr>
          <p:spPr>
            <a:xfrm>
              <a:off x="-3735388" y="2803525"/>
              <a:ext cx="6350" cy="1587"/>
            </a:xfrm>
            <a:custGeom>
              <a:avLst/>
              <a:gdLst/>
              <a:ahLst/>
              <a:cxnLst/>
              <a:rect l="l" t="t" r="r" b="b"/>
              <a:pathLst>
                <a:path w="4" h="1" extrusionOk="0">
                  <a:moveTo>
                    <a:pt x="4" y="0"/>
                  </a:moveTo>
                  <a:lnTo>
                    <a:pt x="4" y="0"/>
                  </a:lnTo>
                  <a:cubicBezTo>
                    <a:pt x="3" y="0"/>
                    <a:pt x="2" y="1"/>
                    <a:pt x="0" y="1"/>
                  </a:cubicBezTo>
                  <a:cubicBezTo>
                    <a:pt x="2" y="1"/>
                    <a:pt x="3" y="1"/>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9" name="Google Shape;139;p2"/>
            <p:cNvSpPr/>
            <p:nvPr/>
          </p:nvSpPr>
          <p:spPr>
            <a:xfrm>
              <a:off x="-3924300" y="2803525"/>
              <a:ext cx="188913" cy="3175"/>
            </a:xfrm>
            <a:custGeom>
              <a:avLst/>
              <a:gdLst/>
              <a:ahLst/>
              <a:cxnLst/>
              <a:rect l="l" t="t" r="r" b="b"/>
              <a:pathLst>
                <a:path w="98" h="2" extrusionOk="0">
                  <a:moveTo>
                    <a:pt x="98" y="1"/>
                  </a:moveTo>
                  <a:lnTo>
                    <a:pt x="98" y="1"/>
                  </a:lnTo>
                  <a:cubicBezTo>
                    <a:pt x="84" y="2"/>
                    <a:pt x="42" y="0"/>
                    <a:pt x="26" y="1"/>
                  </a:cubicBezTo>
                  <a:lnTo>
                    <a:pt x="28" y="1"/>
                  </a:lnTo>
                  <a:lnTo>
                    <a:pt x="0" y="2"/>
                  </a:lnTo>
                  <a:cubicBezTo>
                    <a:pt x="27" y="2"/>
                    <a:pt x="82" y="2"/>
                    <a:pt x="9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140" name="Google Shape;140;p2"/>
          <p:cNvSpPr txBox="1">
            <a:spLocks noGrp="1"/>
          </p:cNvSpPr>
          <p:nvPr>
            <p:ph type="subTitle" idx="1"/>
          </p:nvPr>
        </p:nvSpPr>
        <p:spPr>
          <a:xfrm>
            <a:off x="1522413" y="5105400"/>
            <a:ext cx="9143999" cy="1066800"/>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SzPts val="1920"/>
              <a:buNone/>
              <a:defRPr>
                <a:solidFill>
                  <a:schemeClr val="lt1"/>
                </a:solidFill>
              </a:defRPr>
            </a:lvl1pPr>
            <a:lvl2pPr lvl="1" algn="ctr">
              <a:lnSpc>
                <a:spcPct val="90000"/>
              </a:lnSpc>
              <a:spcBef>
                <a:spcPts val="600"/>
              </a:spcBef>
              <a:spcAft>
                <a:spcPts val="0"/>
              </a:spcAft>
              <a:buSzPts val="2000"/>
              <a:buNone/>
              <a:defRPr>
                <a:solidFill>
                  <a:srgbClr val="888888"/>
                </a:solidFill>
              </a:defRPr>
            </a:lvl2pPr>
            <a:lvl3pPr lvl="2" algn="ctr">
              <a:lnSpc>
                <a:spcPct val="90000"/>
              </a:lnSpc>
              <a:spcBef>
                <a:spcPts val="600"/>
              </a:spcBef>
              <a:spcAft>
                <a:spcPts val="0"/>
              </a:spcAft>
              <a:buSzPts val="1440"/>
              <a:buNone/>
              <a:defRPr>
                <a:solidFill>
                  <a:srgbClr val="888888"/>
                </a:solidFill>
              </a:defRPr>
            </a:lvl3pPr>
            <a:lvl4pPr lvl="3" algn="ctr">
              <a:lnSpc>
                <a:spcPct val="90000"/>
              </a:lnSpc>
              <a:spcBef>
                <a:spcPts val="600"/>
              </a:spcBef>
              <a:spcAft>
                <a:spcPts val="0"/>
              </a:spcAft>
              <a:buSzPts val="1600"/>
              <a:buNone/>
              <a:defRPr>
                <a:solidFill>
                  <a:srgbClr val="888888"/>
                </a:solidFill>
              </a:defRPr>
            </a:lvl4pPr>
            <a:lvl5pPr lvl="4" algn="ctr">
              <a:lnSpc>
                <a:spcPct val="90000"/>
              </a:lnSpc>
              <a:spcBef>
                <a:spcPts val="600"/>
              </a:spcBef>
              <a:spcAft>
                <a:spcPts val="0"/>
              </a:spcAft>
              <a:buSzPts val="1600"/>
              <a:buNone/>
              <a:defRPr>
                <a:solidFill>
                  <a:srgbClr val="888888"/>
                </a:solidFill>
              </a:defRPr>
            </a:lvl5pPr>
            <a:lvl6pPr lvl="5" algn="ctr">
              <a:lnSpc>
                <a:spcPct val="90000"/>
              </a:lnSpc>
              <a:spcBef>
                <a:spcPts val="600"/>
              </a:spcBef>
              <a:spcAft>
                <a:spcPts val="0"/>
              </a:spcAft>
              <a:buSzPts val="1600"/>
              <a:buNone/>
              <a:defRPr>
                <a:solidFill>
                  <a:srgbClr val="888888"/>
                </a:solidFill>
              </a:defRPr>
            </a:lvl6pPr>
            <a:lvl7pPr lvl="6" algn="ctr">
              <a:lnSpc>
                <a:spcPct val="90000"/>
              </a:lnSpc>
              <a:spcBef>
                <a:spcPts val="600"/>
              </a:spcBef>
              <a:spcAft>
                <a:spcPts val="0"/>
              </a:spcAft>
              <a:buSzPts val="1280"/>
              <a:buNone/>
              <a:defRPr>
                <a:solidFill>
                  <a:srgbClr val="888888"/>
                </a:solidFill>
              </a:defRPr>
            </a:lvl7pPr>
            <a:lvl8pPr lvl="7" algn="ctr">
              <a:lnSpc>
                <a:spcPct val="90000"/>
              </a:lnSpc>
              <a:spcBef>
                <a:spcPts val="600"/>
              </a:spcBef>
              <a:spcAft>
                <a:spcPts val="0"/>
              </a:spcAft>
              <a:buSzPts val="1600"/>
              <a:buNone/>
              <a:defRPr>
                <a:solidFill>
                  <a:srgbClr val="888888"/>
                </a:solidFill>
              </a:defRPr>
            </a:lvl8pPr>
            <a:lvl9pPr lvl="8" algn="ctr">
              <a:lnSpc>
                <a:spcPct val="90000"/>
              </a:lnSpc>
              <a:spcBef>
                <a:spcPts val="600"/>
              </a:spcBef>
              <a:spcAft>
                <a:spcPts val="0"/>
              </a:spcAft>
              <a:buSzPts val="1280"/>
              <a:buNone/>
              <a:defRPr>
                <a:solidFill>
                  <a:srgbClr val="888888"/>
                </a:solidFill>
              </a:defRPr>
            </a:lvl9pPr>
          </a:lstStyle>
          <a:p>
            <a:endParaRPr/>
          </a:p>
        </p:txBody>
      </p:sp>
      <p:sp>
        <p:nvSpPr>
          <p:cNvPr id="141" name="Google Shape;141;p2"/>
          <p:cNvSpPr txBox="1">
            <a:spLocks noGrp="1"/>
          </p:cNvSpPr>
          <p:nvPr>
            <p:ph type="ctr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5400"/>
              <a:buFont typeface="Century Gothic"/>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42"/>
        <p:cNvGrpSpPr/>
        <p:nvPr/>
      </p:nvGrpSpPr>
      <p:grpSpPr>
        <a:xfrm>
          <a:off x="0" y="0"/>
          <a:ext cx="0" cy="0"/>
          <a:chOff x="0" y="0"/>
          <a:chExt cx="0" cy="0"/>
        </a:xfrm>
      </p:grpSpPr>
      <p:grpSp>
        <p:nvGrpSpPr>
          <p:cNvPr id="143" name="Google Shape;143;p3"/>
          <p:cNvGrpSpPr/>
          <p:nvPr/>
        </p:nvGrpSpPr>
        <p:grpSpPr>
          <a:xfrm>
            <a:off x="1522413" y="1514475"/>
            <a:ext cx="10569575" cy="64008"/>
            <a:chOff x="1522413" y="1514475"/>
            <a:chExt cx="10569575" cy="64008"/>
          </a:xfrm>
        </p:grpSpPr>
        <p:sp>
          <p:nvSpPr>
            <p:cNvPr id="144" name="Google Shape;144;p3"/>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5" name="Google Shape;145;p3"/>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6" name="Google Shape;146;p3"/>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7" name="Google Shape;147;p3"/>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8" name="Google Shape;148;p3"/>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9" name="Google Shape;149;p3"/>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0" name="Google Shape;150;p3"/>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1" name="Google Shape;151;p3"/>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2" name="Google Shape;152;p3"/>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3" name="Google Shape;153;p3"/>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4" name="Google Shape;154;p3"/>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5" name="Google Shape;155;p3"/>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6" name="Google Shape;156;p3"/>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7" name="Google Shape;157;p3"/>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8" name="Google Shape;158;p3"/>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9" name="Google Shape;159;p3"/>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0" name="Google Shape;160;p3"/>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1" name="Google Shape;161;p3"/>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2" name="Google Shape;162;p3"/>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3" name="Google Shape;163;p3"/>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4" name="Google Shape;164;p3"/>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5" name="Google Shape;165;p3"/>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6" name="Google Shape;166;p3"/>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7" name="Google Shape;167;p3"/>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8" name="Google Shape;168;p3"/>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9" name="Google Shape;169;p3"/>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0" name="Google Shape;170;p3"/>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1" name="Google Shape;171;p3"/>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2" name="Google Shape;172;p3"/>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3" name="Google Shape;173;p3"/>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4" name="Google Shape;174;p3"/>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5" name="Google Shape;175;p3"/>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6" name="Google Shape;176;p3"/>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7" name="Google Shape;177;p3"/>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8" name="Google Shape;178;p3"/>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9" name="Google Shape;179;p3"/>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0" name="Google Shape;180;p3"/>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1" name="Google Shape;181;p3"/>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2" name="Google Shape;182;p3"/>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3" name="Google Shape;183;p3"/>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4" name="Google Shape;184;p3"/>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5" name="Google Shape;185;p3"/>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6" name="Google Shape;186;p3"/>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7" name="Google Shape;187;p3"/>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8" name="Google Shape;188;p3"/>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9" name="Google Shape;189;p3"/>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0" name="Google Shape;190;p3"/>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1" name="Google Shape;191;p3"/>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2" name="Google Shape;192;p3"/>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3" name="Google Shape;193;p3"/>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4" name="Google Shape;194;p3"/>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5" name="Google Shape;195;p3"/>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6" name="Google Shape;196;p3"/>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7" name="Google Shape;197;p3"/>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8" name="Google Shape;198;p3"/>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9" name="Google Shape;199;p3"/>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0" name="Google Shape;200;p3"/>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1" name="Google Shape;201;p3"/>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2" name="Google Shape;202;p3"/>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3" name="Google Shape;203;p3"/>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4" name="Google Shape;204;p3"/>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5" name="Google Shape;205;p3"/>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6" name="Google Shape;206;p3"/>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7" name="Google Shape;207;p3"/>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8" name="Google Shape;208;p3"/>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9" name="Google Shape;209;p3"/>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0" name="Google Shape;210;p3"/>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1" name="Google Shape;211;p3"/>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2" name="Google Shape;212;p3"/>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3" name="Google Shape;213;p3"/>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4" name="Google Shape;214;p3"/>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5" name="Google Shape;215;p3"/>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6" name="Google Shape;216;p3"/>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7" name="Google Shape;217;p3"/>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218" name="Google Shape;218;p3"/>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9" name="Google Shape;219;p3"/>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3"/>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1" name="Google Shape;221;p3"/>
          <p:cNvSpPr txBox="1">
            <a:spLocks noGrp="1"/>
          </p:cNvSpPr>
          <p:nvPr>
            <p:ph type="body" idx="1"/>
          </p:nvPr>
        </p:nvSpPr>
        <p:spPr>
          <a:xfrm>
            <a:off x="6246815" y="1905000"/>
            <a:ext cx="4419598" cy="4267200"/>
          </a:xfrm>
          <a:prstGeom prst="rect">
            <a:avLst/>
          </a:prstGeom>
          <a:noFill/>
          <a:ln>
            <a:noFill/>
          </a:ln>
        </p:spPr>
        <p:txBody>
          <a:bodyPr spcFirstLastPara="1" wrap="square" lIns="91425" tIns="45700" rIns="91425" bIns="45700" anchor="t" anchorCtr="0">
            <a:noAutofit/>
          </a:bodyPr>
          <a:lstStyle>
            <a:lvl1pPr marL="457200" lvl="0" indent="-350520" algn="l">
              <a:lnSpc>
                <a:spcPct val="90000"/>
              </a:lnSpc>
              <a:spcBef>
                <a:spcPts val="1800"/>
              </a:spcBef>
              <a:spcAft>
                <a:spcPts val="0"/>
              </a:spcAft>
              <a:buSzPts val="1920"/>
              <a:buChar char="►"/>
              <a:defRPr sz="2400"/>
            </a:lvl1pPr>
            <a:lvl2pPr marL="914400" lvl="1" indent="-355600" algn="l">
              <a:lnSpc>
                <a:spcPct val="90000"/>
              </a:lnSpc>
              <a:spcBef>
                <a:spcPts val="600"/>
              </a:spcBef>
              <a:spcAft>
                <a:spcPts val="0"/>
              </a:spcAft>
              <a:buSzPts val="2000"/>
              <a:buChar char="►"/>
              <a:defRPr sz="2000"/>
            </a:lvl2pPr>
            <a:lvl3pPr marL="1371600" lvl="2" indent="-320039" algn="l">
              <a:lnSpc>
                <a:spcPct val="90000"/>
              </a:lnSpc>
              <a:spcBef>
                <a:spcPts val="600"/>
              </a:spcBef>
              <a:spcAft>
                <a:spcPts val="0"/>
              </a:spcAft>
              <a:buSzPts val="1440"/>
              <a:buChar char="►"/>
              <a:defRPr sz="1800"/>
            </a:lvl3pPr>
            <a:lvl4pPr marL="1828800" lvl="3" indent="-330200" algn="l">
              <a:lnSpc>
                <a:spcPct val="90000"/>
              </a:lnSpc>
              <a:spcBef>
                <a:spcPts val="600"/>
              </a:spcBef>
              <a:spcAft>
                <a:spcPts val="0"/>
              </a:spcAft>
              <a:buSzPts val="1600"/>
              <a:buChar char="►"/>
              <a:defRPr sz="1600"/>
            </a:lvl4pPr>
            <a:lvl5pPr marL="2286000" lvl="4" indent="-330200" algn="l">
              <a:lnSpc>
                <a:spcPct val="90000"/>
              </a:lnSpc>
              <a:spcBef>
                <a:spcPts val="600"/>
              </a:spcBef>
              <a:spcAft>
                <a:spcPts val="0"/>
              </a:spcAft>
              <a:buSzPts val="1600"/>
              <a:buChar char="►"/>
              <a:defRPr sz="1600"/>
            </a:lvl5pPr>
            <a:lvl6pPr marL="2743200" lvl="5" indent="-330200" algn="l">
              <a:lnSpc>
                <a:spcPct val="90000"/>
              </a:lnSpc>
              <a:spcBef>
                <a:spcPts val="600"/>
              </a:spcBef>
              <a:spcAft>
                <a:spcPts val="0"/>
              </a:spcAft>
              <a:buSzPts val="1600"/>
              <a:buChar char="►"/>
              <a:defRPr sz="1600"/>
            </a:lvl6pPr>
            <a:lvl7pPr marL="3200400" lvl="6" indent="-309879" algn="l">
              <a:lnSpc>
                <a:spcPct val="90000"/>
              </a:lnSpc>
              <a:spcBef>
                <a:spcPts val="600"/>
              </a:spcBef>
              <a:spcAft>
                <a:spcPts val="0"/>
              </a:spcAft>
              <a:buSzPts val="1280"/>
              <a:buChar char="►"/>
              <a:defRPr sz="1600"/>
            </a:lvl7pPr>
            <a:lvl8pPr marL="3657600" lvl="7" indent="-330200" algn="l">
              <a:lnSpc>
                <a:spcPct val="90000"/>
              </a:lnSpc>
              <a:spcBef>
                <a:spcPts val="600"/>
              </a:spcBef>
              <a:spcAft>
                <a:spcPts val="0"/>
              </a:spcAft>
              <a:buSzPts val="1600"/>
              <a:buChar char="►"/>
              <a:defRPr sz="1600"/>
            </a:lvl8pPr>
            <a:lvl9pPr marL="4114800" lvl="8" indent="-309879" algn="l">
              <a:lnSpc>
                <a:spcPct val="90000"/>
              </a:lnSpc>
              <a:spcBef>
                <a:spcPts val="600"/>
              </a:spcBef>
              <a:spcAft>
                <a:spcPts val="0"/>
              </a:spcAft>
              <a:buSzPts val="1280"/>
              <a:buChar char="►"/>
              <a:defRPr sz="1600"/>
            </a:lvl9pPr>
          </a:lstStyle>
          <a:p>
            <a:endParaRPr/>
          </a:p>
        </p:txBody>
      </p:sp>
      <p:sp>
        <p:nvSpPr>
          <p:cNvPr id="222" name="Google Shape;222;p3"/>
          <p:cNvSpPr txBox="1">
            <a:spLocks noGrp="1"/>
          </p:cNvSpPr>
          <p:nvPr>
            <p:ph type="body" idx="2"/>
          </p:nvPr>
        </p:nvSpPr>
        <p:spPr>
          <a:xfrm>
            <a:off x="1522413" y="1905000"/>
            <a:ext cx="4419599" cy="4267200"/>
          </a:xfrm>
          <a:prstGeom prst="rect">
            <a:avLst/>
          </a:prstGeom>
          <a:noFill/>
          <a:ln>
            <a:noFill/>
          </a:ln>
        </p:spPr>
        <p:txBody>
          <a:bodyPr spcFirstLastPara="1" wrap="square" lIns="91425" tIns="45700" rIns="91425" bIns="45700" anchor="t" anchorCtr="0">
            <a:noAutofit/>
          </a:bodyPr>
          <a:lstStyle>
            <a:lvl1pPr marL="457200" lvl="0" indent="-350520" algn="l">
              <a:lnSpc>
                <a:spcPct val="90000"/>
              </a:lnSpc>
              <a:spcBef>
                <a:spcPts val="1800"/>
              </a:spcBef>
              <a:spcAft>
                <a:spcPts val="0"/>
              </a:spcAft>
              <a:buSzPts val="1920"/>
              <a:buChar char="►"/>
              <a:defRPr sz="2400"/>
            </a:lvl1pPr>
            <a:lvl2pPr marL="914400" lvl="1" indent="-355600" algn="l">
              <a:lnSpc>
                <a:spcPct val="90000"/>
              </a:lnSpc>
              <a:spcBef>
                <a:spcPts val="600"/>
              </a:spcBef>
              <a:spcAft>
                <a:spcPts val="0"/>
              </a:spcAft>
              <a:buSzPts val="2000"/>
              <a:buChar char="►"/>
              <a:defRPr sz="2000"/>
            </a:lvl2pPr>
            <a:lvl3pPr marL="1371600" lvl="2" indent="-320039" algn="l">
              <a:lnSpc>
                <a:spcPct val="90000"/>
              </a:lnSpc>
              <a:spcBef>
                <a:spcPts val="600"/>
              </a:spcBef>
              <a:spcAft>
                <a:spcPts val="0"/>
              </a:spcAft>
              <a:buSzPts val="1440"/>
              <a:buChar char="►"/>
              <a:defRPr sz="1800"/>
            </a:lvl3pPr>
            <a:lvl4pPr marL="1828800" lvl="3" indent="-330200" algn="l">
              <a:lnSpc>
                <a:spcPct val="90000"/>
              </a:lnSpc>
              <a:spcBef>
                <a:spcPts val="600"/>
              </a:spcBef>
              <a:spcAft>
                <a:spcPts val="0"/>
              </a:spcAft>
              <a:buSzPts val="1600"/>
              <a:buChar char="►"/>
              <a:defRPr sz="1600"/>
            </a:lvl4pPr>
            <a:lvl5pPr marL="2286000" lvl="4" indent="-330200" algn="l">
              <a:lnSpc>
                <a:spcPct val="90000"/>
              </a:lnSpc>
              <a:spcBef>
                <a:spcPts val="600"/>
              </a:spcBef>
              <a:spcAft>
                <a:spcPts val="0"/>
              </a:spcAft>
              <a:buSzPts val="1600"/>
              <a:buChar char="►"/>
              <a:defRPr sz="1600"/>
            </a:lvl5pPr>
            <a:lvl6pPr marL="2743200" lvl="5" indent="-330200" algn="l">
              <a:lnSpc>
                <a:spcPct val="90000"/>
              </a:lnSpc>
              <a:spcBef>
                <a:spcPts val="600"/>
              </a:spcBef>
              <a:spcAft>
                <a:spcPts val="0"/>
              </a:spcAft>
              <a:buSzPts val="1600"/>
              <a:buChar char="►"/>
              <a:defRPr sz="1600"/>
            </a:lvl6pPr>
            <a:lvl7pPr marL="3200400" lvl="6" indent="-309879" algn="l">
              <a:lnSpc>
                <a:spcPct val="90000"/>
              </a:lnSpc>
              <a:spcBef>
                <a:spcPts val="600"/>
              </a:spcBef>
              <a:spcAft>
                <a:spcPts val="0"/>
              </a:spcAft>
              <a:buSzPts val="1280"/>
              <a:buChar char="►"/>
              <a:defRPr sz="1600"/>
            </a:lvl7pPr>
            <a:lvl8pPr marL="3657600" lvl="7" indent="-330200" algn="l">
              <a:lnSpc>
                <a:spcPct val="90000"/>
              </a:lnSpc>
              <a:spcBef>
                <a:spcPts val="600"/>
              </a:spcBef>
              <a:spcAft>
                <a:spcPts val="0"/>
              </a:spcAft>
              <a:buSzPts val="1600"/>
              <a:buChar char="►"/>
              <a:defRPr sz="1600"/>
            </a:lvl8pPr>
            <a:lvl9pPr marL="4114800" lvl="8" indent="-309879" algn="l">
              <a:lnSpc>
                <a:spcPct val="90000"/>
              </a:lnSpc>
              <a:spcBef>
                <a:spcPts val="600"/>
              </a:spcBef>
              <a:spcAft>
                <a:spcPts val="0"/>
              </a:spcAft>
              <a:buSzPts val="1280"/>
              <a:buChar char="►"/>
              <a:defRPr sz="1600"/>
            </a:lvl9pPr>
          </a:lstStyle>
          <a:p>
            <a:endParaRPr/>
          </a:p>
        </p:txBody>
      </p:sp>
      <p:sp>
        <p:nvSpPr>
          <p:cNvPr id="223" name="Google Shape;223;p3"/>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4"/>
        <p:cNvGrpSpPr/>
        <p:nvPr/>
      </p:nvGrpSpPr>
      <p:grpSpPr>
        <a:xfrm>
          <a:off x="0" y="0"/>
          <a:ext cx="0" cy="0"/>
          <a:chOff x="0" y="0"/>
          <a:chExt cx="0" cy="0"/>
        </a:xfrm>
      </p:grpSpPr>
      <p:grpSp>
        <p:nvGrpSpPr>
          <p:cNvPr id="225" name="Google Shape;225;p4"/>
          <p:cNvGrpSpPr/>
          <p:nvPr/>
        </p:nvGrpSpPr>
        <p:grpSpPr>
          <a:xfrm>
            <a:off x="1584896" y="4724400"/>
            <a:ext cx="8631936" cy="64008"/>
            <a:chOff x="-4110038" y="2703513"/>
            <a:chExt cx="17394239" cy="160336"/>
          </a:xfrm>
        </p:grpSpPr>
        <p:sp>
          <p:nvSpPr>
            <p:cNvPr id="226" name="Google Shape;226;p4"/>
            <p:cNvSpPr/>
            <p:nvPr/>
          </p:nvSpPr>
          <p:spPr>
            <a:xfrm>
              <a:off x="12815888" y="2768600"/>
              <a:ext cx="468313" cy="19050"/>
            </a:xfrm>
            <a:custGeom>
              <a:avLst/>
              <a:gdLst/>
              <a:ahLst/>
              <a:cxnLst/>
              <a:rect l="l" t="t" r="r" b="b"/>
              <a:pathLst>
                <a:path w="244" h="8" extrusionOk="0">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27" name="Google Shape;227;p4"/>
            <p:cNvSpPr/>
            <p:nvPr/>
          </p:nvSpPr>
          <p:spPr>
            <a:xfrm>
              <a:off x="12380913" y="2755900"/>
              <a:ext cx="461963" cy="26987"/>
            </a:xfrm>
            <a:custGeom>
              <a:avLst/>
              <a:gdLst/>
              <a:ahLst/>
              <a:cxnLst/>
              <a:rect l="l" t="t" r="r" b="b"/>
              <a:pathLst>
                <a:path w="241" h="12" extrusionOk="0">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28" name="Google Shape;228;p4"/>
            <p:cNvSpPr/>
            <p:nvPr/>
          </p:nvSpPr>
          <p:spPr>
            <a:xfrm>
              <a:off x="12814300" y="2779713"/>
              <a:ext cx="1588" cy="0"/>
            </a:xfrm>
            <a:custGeom>
              <a:avLst/>
              <a:gdLst/>
              <a:ahLst/>
              <a:cxnLst/>
              <a:rect l="l" t="t" r="r" b="b"/>
              <a:pathLst>
                <a:path w="1" h="120000" extrusionOk="0">
                  <a:moveTo>
                    <a:pt x="0" y="0"/>
                  </a:moveTo>
                  <a:lnTo>
                    <a:pt x="0" y="0"/>
                  </a:lnTo>
                  <a:lnTo>
                    <a:pt x="1"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29" name="Google Shape;229;p4"/>
            <p:cNvSpPr/>
            <p:nvPr/>
          </p:nvSpPr>
          <p:spPr>
            <a:xfrm>
              <a:off x="2738437" y="2795588"/>
              <a:ext cx="425450" cy="15875"/>
            </a:xfrm>
            <a:custGeom>
              <a:avLst/>
              <a:gdLst/>
              <a:ahLst/>
              <a:cxnLst/>
              <a:rect l="l" t="t" r="r" b="b"/>
              <a:pathLst>
                <a:path w="222" h="7" extrusionOk="0">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0" name="Google Shape;230;p4"/>
            <p:cNvSpPr/>
            <p:nvPr/>
          </p:nvSpPr>
          <p:spPr>
            <a:xfrm>
              <a:off x="-3646488" y="2800350"/>
              <a:ext cx="46038" cy="3175"/>
            </a:xfrm>
            <a:custGeom>
              <a:avLst/>
              <a:gdLst/>
              <a:ahLst/>
              <a:cxnLst/>
              <a:rect l="l" t="t" r="r" b="b"/>
              <a:pathLst>
                <a:path w="24" h="1" extrusionOk="0">
                  <a:moveTo>
                    <a:pt x="0" y="1"/>
                  </a:moveTo>
                  <a:lnTo>
                    <a:pt x="0" y="1"/>
                  </a:lnTo>
                  <a:cubicBezTo>
                    <a:pt x="21" y="0"/>
                    <a:pt x="24" y="0"/>
                    <a:pt x="21" y="0"/>
                  </a:cubicBez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1" name="Google Shape;231;p4"/>
            <p:cNvSpPr/>
            <p:nvPr/>
          </p:nvSpPr>
          <p:spPr>
            <a:xfrm>
              <a:off x="2627312" y="2816225"/>
              <a:ext cx="63500" cy="4762"/>
            </a:xfrm>
            <a:custGeom>
              <a:avLst/>
              <a:gdLst/>
              <a:ahLst/>
              <a:cxnLst/>
              <a:rect l="l" t="t" r="r" b="b"/>
              <a:pathLst>
                <a:path w="33" h="2" extrusionOk="0">
                  <a:moveTo>
                    <a:pt x="33" y="0"/>
                  </a:moveTo>
                  <a:lnTo>
                    <a:pt x="33" y="0"/>
                  </a:lnTo>
                  <a:lnTo>
                    <a:pt x="0" y="2"/>
                  </a:lnTo>
                  <a:cubicBezTo>
                    <a:pt x="14" y="1"/>
                    <a:pt x="25" y="1"/>
                    <a:pt x="3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2" name="Google Shape;232;p4"/>
            <p:cNvSpPr/>
            <p:nvPr/>
          </p:nvSpPr>
          <p:spPr>
            <a:xfrm>
              <a:off x="3103562" y="2741613"/>
              <a:ext cx="28575" cy="3175"/>
            </a:xfrm>
            <a:custGeom>
              <a:avLst/>
              <a:gdLst/>
              <a:ahLst/>
              <a:cxnLst/>
              <a:rect l="l" t="t" r="r" b="b"/>
              <a:pathLst>
                <a:path w="15" h="1" extrusionOk="0">
                  <a:moveTo>
                    <a:pt x="15" y="0"/>
                  </a:moveTo>
                  <a:lnTo>
                    <a:pt x="15" y="0"/>
                  </a:lnTo>
                  <a:cubicBezTo>
                    <a:pt x="15" y="0"/>
                    <a:pt x="15" y="0"/>
                    <a:pt x="15" y="0"/>
                  </a:cubicBezTo>
                  <a:lnTo>
                    <a:pt x="0" y="1"/>
                  </a:lnTo>
                  <a:lnTo>
                    <a:pt x="0" y="1"/>
                  </a:lnTo>
                  <a:lnTo>
                    <a:pt x="1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3" name="Google Shape;233;p4"/>
            <p:cNvSpPr/>
            <p:nvPr/>
          </p:nvSpPr>
          <p:spPr>
            <a:xfrm>
              <a:off x="1227137" y="2836863"/>
              <a:ext cx="20638" cy="0"/>
            </a:xfrm>
            <a:custGeom>
              <a:avLst/>
              <a:gdLst/>
              <a:ahLst/>
              <a:cxnLst/>
              <a:rect l="l" t="t" r="r" b="b"/>
              <a:pathLst>
                <a:path w="11" h="120000" extrusionOk="0">
                  <a:moveTo>
                    <a:pt x="11" y="0"/>
                  </a:moveTo>
                  <a:lnTo>
                    <a:pt x="11" y="0"/>
                  </a:lnTo>
                  <a:lnTo>
                    <a:pt x="0" y="0"/>
                  </a:lnTo>
                  <a:lnTo>
                    <a:pt x="1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4" name="Google Shape;234;p4"/>
            <p:cNvSpPr/>
            <p:nvPr/>
          </p:nvSpPr>
          <p:spPr>
            <a:xfrm>
              <a:off x="3660775" y="2713038"/>
              <a:ext cx="331788" cy="20637"/>
            </a:xfrm>
            <a:custGeom>
              <a:avLst/>
              <a:gdLst/>
              <a:ahLst/>
              <a:cxnLst/>
              <a:rect l="l" t="t" r="r" b="b"/>
              <a:pathLst>
                <a:path w="173" h="9" extrusionOk="0">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5" name="Google Shape;235;p4"/>
            <p:cNvSpPr/>
            <p:nvPr/>
          </p:nvSpPr>
          <p:spPr>
            <a:xfrm>
              <a:off x="-1674813" y="2768600"/>
              <a:ext cx="1588" cy="0"/>
            </a:xfrm>
            <a:custGeom>
              <a:avLst/>
              <a:gdLst/>
              <a:ahLst/>
              <a:cxnLst/>
              <a:rect l="l" t="t" r="r" b="b"/>
              <a:pathLst>
                <a:path w="1" h="120000" extrusionOk="0">
                  <a:moveTo>
                    <a:pt x="0" y="0"/>
                  </a:moveTo>
                  <a:lnTo>
                    <a:pt x="0" y="0"/>
                  </a:lnTo>
                  <a:lnTo>
                    <a:pt x="1" y="0"/>
                  </a:ln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6" name="Google Shape;236;p4"/>
            <p:cNvSpPr/>
            <p:nvPr/>
          </p:nvSpPr>
          <p:spPr>
            <a:xfrm>
              <a:off x="-1673225" y="2767013"/>
              <a:ext cx="36513" cy="1587"/>
            </a:xfrm>
            <a:custGeom>
              <a:avLst/>
              <a:gdLst/>
              <a:ahLst/>
              <a:cxnLst/>
              <a:rect l="l" t="t" r="r" b="b"/>
              <a:pathLst>
                <a:path w="19" h="1" extrusionOk="0">
                  <a:moveTo>
                    <a:pt x="3" y="0"/>
                  </a:moveTo>
                  <a:lnTo>
                    <a:pt x="3" y="0"/>
                  </a:lnTo>
                  <a:lnTo>
                    <a:pt x="0" y="1"/>
                  </a:lnTo>
                  <a:cubicBezTo>
                    <a:pt x="4" y="0"/>
                    <a:pt x="19"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7" name="Google Shape;237;p4"/>
            <p:cNvSpPr/>
            <p:nvPr/>
          </p:nvSpPr>
          <p:spPr>
            <a:xfrm>
              <a:off x="2690812" y="2811463"/>
              <a:ext cx="47625" cy="4762"/>
            </a:xfrm>
            <a:custGeom>
              <a:avLst/>
              <a:gdLst/>
              <a:ahLst/>
              <a:cxnLst/>
              <a:rect l="l" t="t" r="r" b="b"/>
              <a:pathLst>
                <a:path w="25" h="2" extrusionOk="0">
                  <a:moveTo>
                    <a:pt x="13" y="0"/>
                  </a:moveTo>
                  <a:lnTo>
                    <a:pt x="13" y="0"/>
                  </a:lnTo>
                  <a:cubicBezTo>
                    <a:pt x="12" y="0"/>
                    <a:pt x="7" y="1"/>
                    <a:pt x="0" y="2"/>
                  </a:cubicBezTo>
                  <a:lnTo>
                    <a:pt x="25" y="0"/>
                  </a:lnTo>
                  <a:lnTo>
                    <a:pt x="1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8" name="Google Shape;238;p4"/>
            <p:cNvSpPr/>
            <p:nvPr/>
          </p:nvSpPr>
          <p:spPr>
            <a:xfrm>
              <a:off x="2822575" y="2794000"/>
              <a:ext cx="163513" cy="4762"/>
            </a:xfrm>
            <a:custGeom>
              <a:avLst/>
              <a:gdLst/>
              <a:ahLst/>
              <a:cxnLst/>
              <a:rect l="l" t="t" r="r" b="b"/>
              <a:pathLst>
                <a:path w="85" h="2" extrusionOk="0">
                  <a:moveTo>
                    <a:pt x="0" y="2"/>
                  </a:moveTo>
                  <a:lnTo>
                    <a:pt x="0" y="2"/>
                  </a:lnTo>
                  <a:lnTo>
                    <a:pt x="62" y="1"/>
                  </a:lnTo>
                  <a:lnTo>
                    <a:pt x="8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9" name="Google Shape;239;p4"/>
            <p:cNvSpPr/>
            <p:nvPr/>
          </p:nvSpPr>
          <p:spPr>
            <a:xfrm>
              <a:off x="715962" y="2809875"/>
              <a:ext cx="1911350" cy="50800"/>
            </a:xfrm>
            <a:custGeom>
              <a:avLst/>
              <a:gdLst/>
              <a:ahLst/>
              <a:cxnLst/>
              <a:rect l="l" t="t" r="r" b="b"/>
              <a:pathLst>
                <a:path w="996" h="23" extrusionOk="0">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0" name="Google Shape;240;p4"/>
            <p:cNvSpPr/>
            <p:nvPr/>
          </p:nvSpPr>
          <p:spPr>
            <a:xfrm>
              <a:off x="1995487" y="2822575"/>
              <a:ext cx="20638" cy="0"/>
            </a:xfrm>
            <a:custGeom>
              <a:avLst/>
              <a:gdLst/>
              <a:ahLst/>
              <a:cxnLst/>
              <a:rect l="l" t="t" r="r" b="b"/>
              <a:pathLst>
                <a:path w="10" h="120000" extrusionOk="0">
                  <a:moveTo>
                    <a:pt x="10" y="0"/>
                  </a:moveTo>
                  <a:lnTo>
                    <a:pt x="10" y="0"/>
                  </a:lnTo>
                  <a:lnTo>
                    <a:pt x="0" y="0"/>
                  </a:lnTo>
                  <a:cubicBezTo>
                    <a:pt x="1" y="0"/>
                    <a:pt x="4" y="0"/>
                    <a:pt x="1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1" name="Google Shape;241;p4"/>
            <p:cNvSpPr/>
            <p:nvPr/>
          </p:nvSpPr>
          <p:spPr>
            <a:xfrm>
              <a:off x="1630362" y="2830513"/>
              <a:ext cx="22225" cy="0"/>
            </a:xfrm>
            <a:custGeom>
              <a:avLst/>
              <a:gdLst/>
              <a:ahLst/>
              <a:cxnLst/>
              <a:rect l="l" t="t" r="r" b="b"/>
              <a:pathLst>
                <a:path w="12" h="120000" extrusionOk="0">
                  <a:moveTo>
                    <a:pt x="11" y="0"/>
                  </a:moveTo>
                  <a:lnTo>
                    <a:pt x="11" y="0"/>
                  </a:lnTo>
                  <a:cubicBezTo>
                    <a:pt x="12" y="0"/>
                    <a:pt x="11" y="0"/>
                    <a:pt x="12" y="0"/>
                  </a:cubicBezTo>
                  <a:lnTo>
                    <a:pt x="0" y="0"/>
                  </a:lnTo>
                  <a:lnTo>
                    <a:pt x="1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2" name="Google Shape;242;p4"/>
            <p:cNvSpPr/>
            <p:nvPr/>
          </p:nvSpPr>
          <p:spPr>
            <a:xfrm>
              <a:off x="2651125" y="2798763"/>
              <a:ext cx="46038" cy="1587"/>
            </a:xfrm>
            <a:custGeom>
              <a:avLst/>
              <a:gdLst/>
              <a:ahLst/>
              <a:cxnLst/>
              <a:rect l="l" t="t" r="r" b="b"/>
              <a:pathLst>
                <a:path w="24" h="1" extrusionOk="0">
                  <a:moveTo>
                    <a:pt x="3" y="1"/>
                  </a:moveTo>
                  <a:lnTo>
                    <a:pt x="3" y="1"/>
                  </a:lnTo>
                  <a:lnTo>
                    <a:pt x="24" y="0"/>
                  </a:lnTo>
                  <a:lnTo>
                    <a:pt x="8" y="1"/>
                  </a:lnTo>
                  <a:cubicBezTo>
                    <a:pt x="2" y="1"/>
                    <a:pt x="0" y="1"/>
                    <a:pt x="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3" name="Google Shape;243;p4"/>
            <p:cNvSpPr/>
            <p:nvPr/>
          </p:nvSpPr>
          <p:spPr>
            <a:xfrm>
              <a:off x="2698750" y="2809875"/>
              <a:ext cx="19050" cy="1587"/>
            </a:xfrm>
            <a:custGeom>
              <a:avLst/>
              <a:gdLst/>
              <a:ahLst/>
              <a:cxnLst/>
              <a:rect l="l" t="t" r="r" b="b"/>
              <a:pathLst>
                <a:path w="10" h="1" extrusionOk="0">
                  <a:moveTo>
                    <a:pt x="4" y="0"/>
                  </a:moveTo>
                  <a:lnTo>
                    <a:pt x="4" y="0"/>
                  </a:lnTo>
                  <a:lnTo>
                    <a:pt x="0" y="1"/>
                  </a:lnTo>
                  <a:lnTo>
                    <a:pt x="9" y="1"/>
                  </a:lnTo>
                  <a:cubicBezTo>
                    <a:pt x="10" y="0"/>
                    <a:pt x="9" y="0"/>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4" name="Google Shape;244;p4"/>
            <p:cNvSpPr/>
            <p:nvPr/>
          </p:nvSpPr>
          <p:spPr>
            <a:xfrm>
              <a:off x="469900" y="2800350"/>
              <a:ext cx="23813" cy="3175"/>
            </a:xfrm>
            <a:custGeom>
              <a:avLst/>
              <a:gdLst/>
              <a:ahLst/>
              <a:cxnLst/>
              <a:rect l="l" t="t" r="r" b="b"/>
              <a:pathLst>
                <a:path w="13" h="1" extrusionOk="0">
                  <a:moveTo>
                    <a:pt x="13" y="0"/>
                  </a:moveTo>
                  <a:lnTo>
                    <a:pt x="13" y="0"/>
                  </a:lnTo>
                  <a:lnTo>
                    <a:pt x="0" y="1"/>
                  </a:lnTo>
                  <a:cubicBezTo>
                    <a:pt x="8" y="1"/>
                    <a:pt x="11" y="1"/>
                    <a:pt x="1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5" name="Google Shape;245;p4"/>
            <p:cNvSpPr/>
            <p:nvPr/>
          </p:nvSpPr>
          <p:spPr>
            <a:xfrm>
              <a:off x="998537" y="2811463"/>
              <a:ext cx="1076325" cy="20637"/>
            </a:xfrm>
            <a:custGeom>
              <a:avLst/>
              <a:gdLst/>
              <a:ahLst/>
              <a:cxnLst/>
              <a:rect l="l" t="t" r="r" b="b"/>
              <a:pathLst>
                <a:path w="561" h="9" extrusionOk="0">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6" name="Google Shape;246;p4"/>
            <p:cNvSpPr/>
            <p:nvPr/>
          </p:nvSpPr>
          <p:spPr>
            <a:xfrm>
              <a:off x="2495550" y="2803525"/>
              <a:ext cx="17463" cy="0"/>
            </a:xfrm>
            <a:custGeom>
              <a:avLst/>
              <a:gdLst/>
              <a:ahLst/>
              <a:cxnLst/>
              <a:rect l="l" t="t" r="r" b="b"/>
              <a:pathLst>
                <a:path w="9" h="120000" extrusionOk="0">
                  <a:moveTo>
                    <a:pt x="9" y="0"/>
                  </a:moveTo>
                  <a:lnTo>
                    <a:pt x="9" y="0"/>
                  </a:lnTo>
                  <a:lnTo>
                    <a:pt x="0" y="0"/>
                  </a:lnTo>
                  <a:lnTo>
                    <a:pt x="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7" name="Google Shape;247;p4"/>
            <p:cNvSpPr/>
            <p:nvPr/>
          </p:nvSpPr>
          <p:spPr>
            <a:xfrm>
              <a:off x="2538412" y="2816225"/>
              <a:ext cx="1057275" cy="31750"/>
            </a:xfrm>
            <a:custGeom>
              <a:avLst/>
              <a:gdLst/>
              <a:ahLst/>
              <a:cxnLst/>
              <a:rect l="l" t="t" r="r" b="b"/>
              <a:pathLst>
                <a:path w="551" h="14" extrusionOk="0">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8" name="Google Shape;248;p4"/>
            <p:cNvSpPr/>
            <p:nvPr/>
          </p:nvSpPr>
          <p:spPr>
            <a:xfrm>
              <a:off x="11777663" y="2757488"/>
              <a:ext cx="19050" cy="3175"/>
            </a:xfrm>
            <a:custGeom>
              <a:avLst/>
              <a:gdLst/>
              <a:ahLst/>
              <a:cxnLst/>
              <a:rect l="l" t="t" r="r" b="b"/>
              <a:pathLst>
                <a:path w="10" h="1" extrusionOk="0">
                  <a:moveTo>
                    <a:pt x="0" y="0"/>
                  </a:moveTo>
                  <a:lnTo>
                    <a:pt x="0" y="0"/>
                  </a:lnTo>
                  <a:lnTo>
                    <a:pt x="10" y="1"/>
                  </a:lnTo>
                  <a:cubicBezTo>
                    <a:pt x="8" y="1"/>
                    <a:pt x="4" y="1"/>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9" name="Google Shape;249;p4"/>
            <p:cNvSpPr/>
            <p:nvPr/>
          </p:nvSpPr>
          <p:spPr>
            <a:xfrm>
              <a:off x="5983288" y="2741613"/>
              <a:ext cx="38100" cy="0"/>
            </a:xfrm>
            <a:custGeom>
              <a:avLst/>
              <a:gdLst/>
              <a:ahLst/>
              <a:cxnLst/>
              <a:rect l="l" t="t" r="r" b="b"/>
              <a:pathLst>
                <a:path w="20" h="120000" extrusionOk="0">
                  <a:moveTo>
                    <a:pt x="0" y="0"/>
                  </a:moveTo>
                  <a:lnTo>
                    <a:pt x="0" y="0"/>
                  </a:lnTo>
                  <a:lnTo>
                    <a:pt x="20"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0" name="Google Shape;250;p4"/>
            <p:cNvSpPr/>
            <p:nvPr/>
          </p:nvSpPr>
          <p:spPr>
            <a:xfrm>
              <a:off x="6832600" y="2713038"/>
              <a:ext cx="53975" cy="1587"/>
            </a:xfrm>
            <a:custGeom>
              <a:avLst/>
              <a:gdLst/>
              <a:ahLst/>
              <a:cxnLst/>
              <a:rect l="l" t="t" r="r" b="b"/>
              <a:pathLst>
                <a:path w="28" h="1" extrusionOk="0">
                  <a:moveTo>
                    <a:pt x="0" y="1"/>
                  </a:moveTo>
                  <a:lnTo>
                    <a:pt x="0" y="1"/>
                  </a:lnTo>
                  <a:lnTo>
                    <a:pt x="28" y="0"/>
                  </a:lnTo>
                  <a:cubicBezTo>
                    <a:pt x="17" y="0"/>
                    <a:pt x="8" y="1"/>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1" name="Google Shape;251;p4"/>
            <p:cNvSpPr/>
            <p:nvPr/>
          </p:nvSpPr>
          <p:spPr>
            <a:xfrm>
              <a:off x="11317288" y="2755900"/>
              <a:ext cx="9525" cy="0"/>
            </a:xfrm>
            <a:custGeom>
              <a:avLst/>
              <a:gdLst/>
              <a:ahLst/>
              <a:cxnLst/>
              <a:rect l="l" t="t" r="r" b="b"/>
              <a:pathLst>
                <a:path w="5" h="120000" extrusionOk="0">
                  <a:moveTo>
                    <a:pt x="5" y="0"/>
                  </a:moveTo>
                  <a:lnTo>
                    <a:pt x="5" y="0"/>
                  </a:lnTo>
                  <a:lnTo>
                    <a:pt x="4" y="0"/>
                  </a:lnTo>
                  <a:lnTo>
                    <a:pt x="0" y="0"/>
                  </a:lnTo>
                  <a:lnTo>
                    <a:pt x="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2" name="Google Shape;252;p4"/>
            <p:cNvSpPr/>
            <p:nvPr/>
          </p:nvSpPr>
          <p:spPr>
            <a:xfrm>
              <a:off x="8534400" y="2735263"/>
              <a:ext cx="30163" cy="0"/>
            </a:xfrm>
            <a:custGeom>
              <a:avLst/>
              <a:gdLst/>
              <a:ahLst/>
              <a:cxnLst/>
              <a:rect l="l" t="t" r="r" b="b"/>
              <a:pathLst>
                <a:path w="16" h="120000" extrusionOk="0">
                  <a:moveTo>
                    <a:pt x="0" y="0"/>
                  </a:moveTo>
                  <a:lnTo>
                    <a:pt x="0" y="0"/>
                  </a:lnTo>
                  <a:cubicBezTo>
                    <a:pt x="4" y="0"/>
                    <a:pt x="9" y="0"/>
                    <a:pt x="16" y="0"/>
                  </a:cubicBezTo>
                  <a:cubicBezTo>
                    <a:pt x="15" y="0"/>
                    <a:pt x="9"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3" name="Google Shape;253;p4"/>
            <p:cNvSpPr/>
            <p:nvPr/>
          </p:nvSpPr>
          <p:spPr>
            <a:xfrm>
              <a:off x="6821488" y="2714625"/>
              <a:ext cx="9525" cy="0"/>
            </a:xfrm>
            <a:custGeom>
              <a:avLst/>
              <a:gdLst/>
              <a:ahLst/>
              <a:cxnLst/>
              <a:rect l="l" t="t" r="r" b="b"/>
              <a:pathLst>
                <a:path w="5" h="120000" extrusionOk="0">
                  <a:moveTo>
                    <a:pt x="0" y="0"/>
                  </a:moveTo>
                  <a:lnTo>
                    <a:pt x="0" y="0"/>
                  </a:lnTo>
                  <a:lnTo>
                    <a:pt x="2" y="0"/>
                  </a:lnTo>
                  <a:lnTo>
                    <a:pt x="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4" name="Google Shape;254;p4"/>
            <p:cNvSpPr/>
            <p:nvPr/>
          </p:nvSpPr>
          <p:spPr>
            <a:xfrm>
              <a:off x="5583238" y="2719388"/>
              <a:ext cx="25400" cy="0"/>
            </a:xfrm>
            <a:custGeom>
              <a:avLst/>
              <a:gdLst/>
              <a:ahLst/>
              <a:cxnLst/>
              <a:rect l="l" t="t" r="r" b="b"/>
              <a:pathLst>
                <a:path w="13" h="120000" extrusionOk="0">
                  <a:moveTo>
                    <a:pt x="13" y="0"/>
                  </a:moveTo>
                  <a:lnTo>
                    <a:pt x="13" y="0"/>
                  </a:lnTo>
                  <a:lnTo>
                    <a:pt x="0" y="0"/>
                  </a:lnTo>
                  <a:lnTo>
                    <a:pt x="1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5" name="Google Shape;255;p4"/>
            <p:cNvSpPr/>
            <p:nvPr/>
          </p:nvSpPr>
          <p:spPr>
            <a:xfrm>
              <a:off x="5638800" y="2740025"/>
              <a:ext cx="23813" cy="1587"/>
            </a:xfrm>
            <a:custGeom>
              <a:avLst/>
              <a:gdLst/>
              <a:ahLst/>
              <a:cxnLst/>
              <a:rect l="l" t="t" r="r" b="b"/>
              <a:pathLst>
                <a:path w="12" h="1" extrusionOk="0">
                  <a:moveTo>
                    <a:pt x="12" y="0"/>
                  </a:moveTo>
                  <a:lnTo>
                    <a:pt x="12" y="0"/>
                  </a:lnTo>
                  <a:lnTo>
                    <a:pt x="0" y="1"/>
                  </a:lnTo>
                  <a:lnTo>
                    <a:pt x="1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6" name="Google Shape;256;p4"/>
            <p:cNvSpPr/>
            <p:nvPr/>
          </p:nvSpPr>
          <p:spPr>
            <a:xfrm>
              <a:off x="4303712" y="2728913"/>
              <a:ext cx="50800" cy="0"/>
            </a:xfrm>
            <a:custGeom>
              <a:avLst/>
              <a:gdLst/>
              <a:ahLst/>
              <a:cxnLst/>
              <a:rect l="l" t="t" r="r" b="b"/>
              <a:pathLst>
                <a:path w="26" h="120000" extrusionOk="0">
                  <a:moveTo>
                    <a:pt x="26" y="0"/>
                  </a:moveTo>
                  <a:lnTo>
                    <a:pt x="26" y="0"/>
                  </a:lnTo>
                  <a:lnTo>
                    <a:pt x="0" y="0"/>
                  </a:lnTo>
                  <a:cubicBezTo>
                    <a:pt x="13" y="0"/>
                    <a:pt x="20" y="0"/>
                    <a:pt x="2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7" name="Google Shape;257;p4"/>
            <p:cNvSpPr/>
            <p:nvPr/>
          </p:nvSpPr>
          <p:spPr>
            <a:xfrm>
              <a:off x="5519738" y="2735263"/>
              <a:ext cx="9525" cy="3175"/>
            </a:xfrm>
            <a:custGeom>
              <a:avLst/>
              <a:gdLst/>
              <a:ahLst/>
              <a:cxnLst/>
              <a:rect l="l" t="t" r="r" b="b"/>
              <a:pathLst>
                <a:path w="5" h="1" extrusionOk="0">
                  <a:moveTo>
                    <a:pt x="4" y="0"/>
                  </a:moveTo>
                  <a:lnTo>
                    <a:pt x="4" y="0"/>
                  </a:lnTo>
                  <a:lnTo>
                    <a:pt x="0" y="1"/>
                  </a:lnTo>
                  <a:cubicBezTo>
                    <a:pt x="3" y="1"/>
                    <a:pt x="5" y="1"/>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8" name="Google Shape;258;p4"/>
            <p:cNvSpPr/>
            <p:nvPr/>
          </p:nvSpPr>
          <p:spPr>
            <a:xfrm>
              <a:off x="12096750" y="2784475"/>
              <a:ext cx="6350" cy="0"/>
            </a:xfrm>
            <a:custGeom>
              <a:avLst/>
              <a:gdLst/>
              <a:ahLst/>
              <a:cxnLst/>
              <a:rect l="l" t="t" r="r" b="b"/>
              <a:pathLst>
                <a:path w="3" h="120000" extrusionOk="0">
                  <a:moveTo>
                    <a:pt x="3" y="0"/>
                  </a:moveTo>
                  <a:lnTo>
                    <a:pt x="3" y="0"/>
                  </a:lnTo>
                  <a:lnTo>
                    <a:pt x="1" y="0"/>
                  </a:lnTo>
                  <a:lnTo>
                    <a:pt x="0" y="0"/>
                  </a:lnTo>
                  <a:lnTo>
                    <a:pt x="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9" name="Google Shape;259;p4"/>
            <p:cNvSpPr/>
            <p:nvPr/>
          </p:nvSpPr>
          <p:spPr>
            <a:xfrm>
              <a:off x="12225338" y="2773363"/>
              <a:ext cx="46038" cy="0"/>
            </a:xfrm>
            <a:custGeom>
              <a:avLst/>
              <a:gdLst/>
              <a:ahLst/>
              <a:cxnLst/>
              <a:rect l="l" t="t" r="r" b="b"/>
              <a:pathLst>
                <a:path w="24" h="120000" extrusionOk="0">
                  <a:moveTo>
                    <a:pt x="0" y="0"/>
                  </a:moveTo>
                  <a:lnTo>
                    <a:pt x="0" y="0"/>
                  </a:lnTo>
                  <a:lnTo>
                    <a:pt x="24" y="0"/>
                  </a:lnTo>
                  <a:cubicBezTo>
                    <a:pt x="15" y="0"/>
                    <a:pt x="6"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0" name="Google Shape;260;p4"/>
            <p:cNvSpPr/>
            <p:nvPr/>
          </p:nvSpPr>
          <p:spPr>
            <a:xfrm>
              <a:off x="9274175" y="2746375"/>
              <a:ext cx="55563" cy="4762"/>
            </a:xfrm>
            <a:custGeom>
              <a:avLst/>
              <a:gdLst/>
              <a:ahLst/>
              <a:cxnLst/>
              <a:rect l="l" t="t" r="r" b="b"/>
              <a:pathLst>
                <a:path w="29" h="2" extrusionOk="0">
                  <a:moveTo>
                    <a:pt x="0" y="1"/>
                  </a:moveTo>
                  <a:lnTo>
                    <a:pt x="0" y="1"/>
                  </a:lnTo>
                  <a:cubicBezTo>
                    <a:pt x="7" y="1"/>
                    <a:pt x="23" y="2"/>
                    <a:pt x="15" y="2"/>
                  </a:cubicBezTo>
                  <a:cubicBezTo>
                    <a:pt x="29" y="2"/>
                    <a:pt x="2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1" name="Google Shape;261;p4"/>
            <p:cNvSpPr/>
            <p:nvPr/>
          </p:nvSpPr>
          <p:spPr>
            <a:xfrm>
              <a:off x="11847513" y="2827338"/>
              <a:ext cx="34925" cy="3175"/>
            </a:xfrm>
            <a:custGeom>
              <a:avLst/>
              <a:gdLst/>
              <a:ahLst/>
              <a:cxnLst/>
              <a:rect l="l" t="t" r="r" b="b"/>
              <a:pathLst>
                <a:path w="18" h="1" extrusionOk="0">
                  <a:moveTo>
                    <a:pt x="3" y="1"/>
                  </a:moveTo>
                  <a:lnTo>
                    <a:pt x="3" y="1"/>
                  </a:lnTo>
                  <a:cubicBezTo>
                    <a:pt x="7" y="1"/>
                    <a:pt x="13" y="0"/>
                    <a:pt x="18" y="0"/>
                  </a:cubicBezTo>
                  <a:cubicBezTo>
                    <a:pt x="8" y="0"/>
                    <a:pt x="0" y="1"/>
                    <a:pt x="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2" name="Google Shape;262;p4"/>
            <p:cNvSpPr/>
            <p:nvPr/>
          </p:nvSpPr>
          <p:spPr>
            <a:xfrm>
              <a:off x="11882438" y="2825750"/>
              <a:ext cx="25400" cy="1587"/>
            </a:xfrm>
            <a:custGeom>
              <a:avLst/>
              <a:gdLst/>
              <a:ahLst/>
              <a:cxnLst/>
              <a:rect l="l" t="t" r="r" b="b"/>
              <a:pathLst>
                <a:path w="14" h="1" extrusionOk="0">
                  <a:moveTo>
                    <a:pt x="0" y="1"/>
                  </a:moveTo>
                  <a:lnTo>
                    <a:pt x="0" y="1"/>
                  </a:lnTo>
                  <a:lnTo>
                    <a:pt x="14"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3" name="Google Shape;263;p4"/>
            <p:cNvSpPr/>
            <p:nvPr/>
          </p:nvSpPr>
          <p:spPr>
            <a:xfrm>
              <a:off x="8915400" y="2809875"/>
              <a:ext cx="15875" cy="1587"/>
            </a:xfrm>
            <a:custGeom>
              <a:avLst/>
              <a:gdLst/>
              <a:ahLst/>
              <a:cxnLst/>
              <a:rect l="l" t="t" r="r" b="b"/>
              <a:pathLst>
                <a:path w="8" h="1" extrusionOk="0">
                  <a:moveTo>
                    <a:pt x="8" y="1"/>
                  </a:moveTo>
                  <a:lnTo>
                    <a:pt x="8" y="1"/>
                  </a:lnTo>
                  <a:cubicBezTo>
                    <a:pt x="6" y="0"/>
                    <a:pt x="3" y="0"/>
                    <a:pt x="0" y="0"/>
                  </a:cubicBezTo>
                  <a:cubicBezTo>
                    <a:pt x="1" y="0"/>
                    <a:pt x="4"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4" name="Google Shape;264;p4"/>
            <p:cNvSpPr/>
            <p:nvPr/>
          </p:nvSpPr>
          <p:spPr>
            <a:xfrm>
              <a:off x="12109450" y="2752725"/>
              <a:ext cx="454025" cy="23812"/>
            </a:xfrm>
            <a:custGeom>
              <a:avLst/>
              <a:gdLst/>
              <a:ahLst/>
              <a:cxnLst/>
              <a:rect l="l" t="t" r="r" b="b"/>
              <a:pathLst>
                <a:path w="236" h="10" extrusionOk="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5" name="Google Shape;265;p4"/>
            <p:cNvSpPr/>
            <p:nvPr/>
          </p:nvSpPr>
          <p:spPr>
            <a:xfrm>
              <a:off x="12182475" y="2816225"/>
              <a:ext cx="9525" cy="0"/>
            </a:xfrm>
            <a:custGeom>
              <a:avLst/>
              <a:gdLst/>
              <a:ahLst/>
              <a:cxnLst/>
              <a:rect l="l" t="t" r="r" b="b"/>
              <a:pathLst>
                <a:path w="5" h="120000" extrusionOk="0">
                  <a:moveTo>
                    <a:pt x="0" y="0"/>
                  </a:moveTo>
                  <a:lnTo>
                    <a:pt x="0" y="0"/>
                  </a:lnTo>
                  <a:lnTo>
                    <a:pt x="1" y="0"/>
                  </a:lnTo>
                  <a:lnTo>
                    <a:pt x="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6" name="Google Shape;266;p4"/>
            <p:cNvSpPr/>
            <p:nvPr/>
          </p:nvSpPr>
          <p:spPr>
            <a:xfrm>
              <a:off x="4348162" y="2827338"/>
              <a:ext cx="17463" cy="3175"/>
            </a:xfrm>
            <a:custGeom>
              <a:avLst/>
              <a:gdLst/>
              <a:ahLst/>
              <a:cxnLst/>
              <a:rect l="l" t="t" r="r" b="b"/>
              <a:pathLst>
                <a:path w="9" h="1" extrusionOk="0">
                  <a:moveTo>
                    <a:pt x="8" y="0"/>
                  </a:moveTo>
                  <a:lnTo>
                    <a:pt x="8" y="0"/>
                  </a:lnTo>
                  <a:lnTo>
                    <a:pt x="0" y="1"/>
                  </a:lnTo>
                  <a:cubicBezTo>
                    <a:pt x="7" y="0"/>
                    <a:pt x="9" y="0"/>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7" name="Google Shape;267;p4"/>
            <p:cNvSpPr/>
            <p:nvPr/>
          </p:nvSpPr>
          <p:spPr>
            <a:xfrm>
              <a:off x="12071350" y="2790825"/>
              <a:ext cx="0" cy="0"/>
            </a:xfrm>
            <a:custGeom>
              <a:avLst/>
              <a:gdLst/>
              <a:ahLst/>
              <a:cxnLst/>
              <a:rect l="l" t="t" r="r" b="b"/>
              <a:pathLst>
                <a:path w="120000" h="120000" extrusionOk="0">
                  <a:moveTo>
                    <a:pt x="0" y="0"/>
                  </a:moveTo>
                  <a:lnTo>
                    <a:pt x="0" y="0"/>
                  </a:lnTo>
                  <a:lnTo>
                    <a:pt x="0" y="0"/>
                  </a:ln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8" name="Google Shape;268;p4"/>
            <p:cNvSpPr/>
            <p:nvPr/>
          </p:nvSpPr>
          <p:spPr>
            <a:xfrm>
              <a:off x="4754563" y="2827338"/>
              <a:ext cx="4763" cy="0"/>
            </a:xfrm>
            <a:custGeom>
              <a:avLst/>
              <a:gdLst/>
              <a:ahLst/>
              <a:cxnLst/>
              <a:rect l="l" t="t" r="r" b="b"/>
              <a:pathLst>
                <a:path w="2" h="120000" extrusionOk="0">
                  <a:moveTo>
                    <a:pt x="2" y="0"/>
                  </a:moveTo>
                  <a:lnTo>
                    <a:pt x="2" y="0"/>
                  </a:lnTo>
                  <a:lnTo>
                    <a:pt x="0" y="0"/>
                  </a:lnTo>
                  <a:cubicBezTo>
                    <a:pt x="1" y="0"/>
                    <a:pt x="1" y="0"/>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9" name="Google Shape;269;p4"/>
            <p:cNvSpPr/>
            <p:nvPr/>
          </p:nvSpPr>
          <p:spPr>
            <a:xfrm>
              <a:off x="4852988" y="2719388"/>
              <a:ext cx="9525" cy="3175"/>
            </a:xfrm>
            <a:custGeom>
              <a:avLst/>
              <a:gdLst/>
              <a:ahLst/>
              <a:cxnLst/>
              <a:rect l="l" t="t" r="r" b="b"/>
              <a:pathLst>
                <a:path w="5" h="1" extrusionOk="0">
                  <a:moveTo>
                    <a:pt x="5" y="1"/>
                  </a:moveTo>
                  <a:lnTo>
                    <a:pt x="5" y="1"/>
                  </a:lnTo>
                  <a:cubicBezTo>
                    <a:pt x="5" y="1"/>
                    <a:pt x="5" y="1"/>
                    <a:pt x="4" y="0"/>
                  </a:cubicBezTo>
                  <a:cubicBezTo>
                    <a:pt x="0" y="1"/>
                    <a:pt x="2" y="1"/>
                    <a:pt x="5"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0" name="Google Shape;270;p4"/>
            <p:cNvSpPr/>
            <p:nvPr/>
          </p:nvSpPr>
          <p:spPr>
            <a:xfrm>
              <a:off x="4759325" y="2827338"/>
              <a:ext cx="0" cy="0"/>
            </a:xfrm>
            <a:custGeom>
              <a:avLst/>
              <a:gdLst/>
              <a:ahLst/>
              <a:cxnLst/>
              <a:rect l="l" t="t" r="r" b="b"/>
              <a:pathLst>
                <a:path w="120000" h="120000" extrusionOk="0">
                  <a:moveTo>
                    <a:pt x="0" y="0"/>
                  </a:moveTo>
                  <a:lnTo>
                    <a:pt x="0" y="0"/>
                  </a:lnTo>
                  <a:cubicBezTo>
                    <a:pt x="0" y="0"/>
                    <a:pt x="0" y="0"/>
                    <a:pt x="0" y="0"/>
                  </a:cubicBez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1" name="Google Shape;271;p4"/>
            <p:cNvSpPr/>
            <p:nvPr/>
          </p:nvSpPr>
          <p:spPr>
            <a:xfrm>
              <a:off x="6654800" y="2805113"/>
              <a:ext cx="19050" cy="1587"/>
            </a:xfrm>
            <a:custGeom>
              <a:avLst/>
              <a:gdLst/>
              <a:ahLst/>
              <a:cxnLst/>
              <a:rect l="l" t="t" r="r" b="b"/>
              <a:pathLst>
                <a:path w="10" h="1" extrusionOk="0">
                  <a:moveTo>
                    <a:pt x="10" y="1"/>
                  </a:moveTo>
                  <a:lnTo>
                    <a:pt x="10" y="1"/>
                  </a:lnTo>
                  <a:lnTo>
                    <a:pt x="2" y="0"/>
                  </a:lnTo>
                  <a:cubicBezTo>
                    <a:pt x="0" y="0"/>
                    <a:pt x="2" y="0"/>
                    <a:pt x="1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2" name="Google Shape;272;p4"/>
            <p:cNvSpPr/>
            <p:nvPr/>
          </p:nvSpPr>
          <p:spPr>
            <a:xfrm>
              <a:off x="6289675" y="2798763"/>
              <a:ext cx="6350" cy="0"/>
            </a:xfrm>
            <a:custGeom>
              <a:avLst/>
              <a:gdLst/>
              <a:ahLst/>
              <a:cxnLst/>
              <a:rect l="l" t="t" r="r" b="b"/>
              <a:pathLst>
                <a:path w="3" h="120000" extrusionOk="0">
                  <a:moveTo>
                    <a:pt x="3" y="0"/>
                  </a:moveTo>
                  <a:lnTo>
                    <a:pt x="3" y="0"/>
                  </a:lnTo>
                  <a:lnTo>
                    <a:pt x="0" y="0"/>
                  </a:lnTo>
                  <a:lnTo>
                    <a:pt x="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3" name="Google Shape;273;p4"/>
            <p:cNvSpPr/>
            <p:nvPr/>
          </p:nvSpPr>
          <p:spPr>
            <a:xfrm>
              <a:off x="9140825" y="2725738"/>
              <a:ext cx="44450" cy="0"/>
            </a:xfrm>
            <a:custGeom>
              <a:avLst/>
              <a:gdLst/>
              <a:ahLst/>
              <a:cxnLst/>
              <a:rect l="l" t="t" r="r" b="b"/>
              <a:pathLst>
                <a:path w="23" h="120000" extrusionOk="0">
                  <a:moveTo>
                    <a:pt x="23" y="0"/>
                  </a:moveTo>
                  <a:lnTo>
                    <a:pt x="23" y="0"/>
                  </a:lnTo>
                  <a:lnTo>
                    <a:pt x="0" y="0"/>
                  </a:lnTo>
                  <a:lnTo>
                    <a:pt x="2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4" name="Google Shape;274;p4"/>
            <p:cNvSpPr/>
            <p:nvPr/>
          </p:nvSpPr>
          <p:spPr>
            <a:xfrm>
              <a:off x="4737100" y="2827338"/>
              <a:ext cx="17463" cy="3175"/>
            </a:xfrm>
            <a:custGeom>
              <a:avLst/>
              <a:gdLst/>
              <a:ahLst/>
              <a:cxnLst/>
              <a:rect l="l" t="t" r="r" b="b"/>
              <a:pathLst>
                <a:path w="9" h="1" extrusionOk="0">
                  <a:moveTo>
                    <a:pt x="9" y="0"/>
                  </a:moveTo>
                  <a:lnTo>
                    <a:pt x="9" y="0"/>
                  </a:lnTo>
                  <a:lnTo>
                    <a:pt x="0" y="1"/>
                  </a:lnTo>
                  <a:cubicBezTo>
                    <a:pt x="5" y="0"/>
                    <a:pt x="8" y="0"/>
                    <a:pt x="9"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5" name="Google Shape;275;p4"/>
            <p:cNvSpPr/>
            <p:nvPr/>
          </p:nvSpPr>
          <p:spPr>
            <a:xfrm>
              <a:off x="7239000" y="2779713"/>
              <a:ext cx="11113" cy="3175"/>
            </a:xfrm>
            <a:custGeom>
              <a:avLst/>
              <a:gdLst/>
              <a:ahLst/>
              <a:cxnLst/>
              <a:rect l="l" t="t" r="r" b="b"/>
              <a:pathLst>
                <a:path w="6" h="1" extrusionOk="0">
                  <a:moveTo>
                    <a:pt x="6" y="0"/>
                  </a:moveTo>
                  <a:lnTo>
                    <a:pt x="6" y="0"/>
                  </a:lnTo>
                  <a:lnTo>
                    <a:pt x="0" y="1"/>
                  </a:lnTo>
                  <a:lnTo>
                    <a:pt x="4" y="1"/>
                  </a:lnTo>
                  <a:lnTo>
                    <a:pt x="6"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6" name="Google Shape;276;p4"/>
            <p:cNvSpPr/>
            <p:nvPr/>
          </p:nvSpPr>
          <p:spPr>
            <a:xfrm>
              <a:off x="7181850" y="2773363"/>
              <a:ext cx="468313" cy="15875"/>
            </a:xfrm>
            <a:custGeom>
              <a:avLst/>
              <a:gdLst/>
              <a:ahLst/>
              <a:cxnLst/>
              <a:rect l="l" t="t" r="r" b="b"/>
              <a:pathLst>
                <a:path w="244" h="7" extrusionOk="0">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7" name="Google Shape;277;p4"/>
            <p:cNvSpPr/>
            <p:nvPr/>
          </p:nvSpPr>
          <p:spPr>
            <a:xfrm>
              <a:off x="7407275" y="2787650"/>
              <a:ext cx="26988" cy="0"/>
            </a:xfrm>
            <a:custGeom>
              <a:avLst/>
              <a:gdLst/>
              <a:ahLst/>
              <a:cxnLst/>
              <a:rect l="l" t="t" r="r" b="b"/>
              <a:pathLst>
                <a:path w="14" h="120000" extrusionOk="0">
                  <a:moveTo>
                    <a:pt x="14" y="0"/>
                  </a:moveTo>
                  <a:lnTo>
                    <a:pt x="14" y="0"/>
                  </a:lnTo>
                  <a:lnTo>
                    <a:pt x="0" y="0"/>
                  </a:lnTo>
                  <a:cubicBezTo>
                    <a:pt x="8" y="0"/>
                    <a:pt x="11" y="0"/>
                    <a:pt x="1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8" name="Google Shape;278;p4"/>
            <p:cNvSpPr/>
            <p:nvPr/>
          </p:nvSpPr>
          <p:spPr>
            <a:xfrm>
              <a:off x="8123238" y="2794000"/>
              <a:ext cx="31750" cy="1587"/>
            </a:xfrm>
            <a:custGeom>
              <a:avLst/>
              <a:gdLst/>
              <a:ahLst/>
              <a:cxnLst/>
              <a:rect l="l" t="t" r="r" b="b"/>
              <a:pathLst>
                <a:path w="16" h="1" extrusionOk="0">
                  <a:moveTo>
                    <a:pt x="0" y="1"/>
                  </a:moveTo>
                  <a:lnTo>
                    <a:pt x="0" y="1"/>
                  </a:lnTo>
                  <a:lnTo>
                    <a:pt x="16"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9" name="Google Shape;279;p4"/>
            <p:cNvSpPr/>
            <p:nvPr/>
          </p:nvSpPr>
          <p:spPr>
            <a:xfrm>
              <a:off x="3070225" y="2794000"/>
              <a:ext cx="101600" cy="4762"/>
            </a:xfrm>
            <a:custGeom>
              <a:avLst/>
              <a:gdLst/>
              <a:ahLst/>
              <a:cxnLst/>
              <a:rect l="l" t="t" r="r" b="b"/>
              <a:pathLst>
                <a:path w="53" h="2" extrusionOk="0">
                  <a:moveTo>
                    <a:pt x="0" y="0"/>
                  </a:moveTo>
                  <a:lnTo>
                    <a:pt x="0" y="0"/>
                  </a:lnTo>
                  <a:cubicBezTo>
                    <a:pt x="2" y="1"/>
                    <a:pt x="53" y="2"/>
                    <a:pt x="52" y="0"/>
                  </a:cubicBezTo>
                  <a:lnTo>
                    <a:pt x="6"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0" name="Google Shape;280;p4"/>
            <p:cNvSpPr/>
            <p:nvPr/>
          </p:nvSpPr>
          <p:spPr>
            <a:xfrm>
              <a:off x="9963150" y="2778125"/>
              <a:ext cx="41275" cy="0"/>
            </a:xfrm>
            <a:custGeom>
              <a:avLst/>
              <a:gdLst/>
              <a:ahLst/>
              <a:cxnLst/>
              <a:rect l="l" t="t" r="r" b="b"/>
              <a:pathLst>
                <a:path w="21" h="120000" extrusionOk="0">
                  <a:moveTo>
                    <a:pt x="21" y="0"/>
                  </a:moveTo>
                  <a:lnTo>
                    <a:pt x="21" y="0"/>
                  </a:lnTo>
                  <a:lnTo>
                    <a:pt x="3" y="0"/>
                  </a:lnTo>
                  <a:lnTo>
                    <a:pt x="0" y="0"/>
                  </a:lnTo>
                  <a:cubicBezTo>
                    <a:pt x="4" y="0"/>
                    <a:pt x="15"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1" name="Google Shape;281;p4"/>
            <p:cNvSpPr/>
            <p:nvPr/>
          </p:nvSpPr>
          <p:spPr>
            <a:xfrm>
              <a:off x="7523163" y="2773363"/>
              <a:ext cx="30163" cy="3175"/>
            </a:xfrm>
            <a:custGeom>
              <a:avLst/>
              <a:gdLst/>
              <a:ahLst/>
              <a:cxnLst/>
              <a:rect l="l" t="t" r="r" b="b"/>
              <a:pathLst>
                <a:path w="16" h="1" extrusionOk="0">
                  <a:moveTo>
                    <a:pt x="16" y="0"/>
                  </a:moveTo>
                  <a:lnTo>
                    <a:pt x="16" y="0"/>
                  </a:lnTo>
                  <a:cubicBezTo>
                    <a:pt x="6" y="0"/>
                    <a:pt x="2" y="1"/>
                    <a:pt x="0" y="1"/>
                  </a:cubicBezTo>
                  <a:cubicBezTo>
                    <a:pt x="6" y="1"/>
                    <a:pt x="12" y="1"/>
                    <a:pt x="1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2" name="Google Shape;282;p4"/>
            <p:cNvSpPr/>
            <p:nvPr/>
          </p:nvSpPr>
          <p:spPr>
            <a:xfrm>
              <a:off x="10009188" y="2787650"/>
              <a:ext cx="115888" cy="3175"/>
            </a:xfrm>
            <a:custGeom>
              <a:avLst/>
              <a:gdLst/>
              <a:ahLst/>
              <a:cxnLst/>
              <a:rect l="l" t="t" r="r" b="b"/>
              <a:pathLst>
                <a:path w="60" h="2" extrusionOk="0">
                  <a:moveTo>
                    <a:pt x="0" y="0"/>
                  </a:moveTo>
                  <a:lnTo>
                    <a:pt x="0" y="0"/>
                  </a:lnTo>
                  <a:cubicBezTo>
                    <a:pt x="7" y="0"/>
                    <a:pt x="18" y="1"/>
                    <a:pt x="19" y="2"/>
                  </a:cubicBezTo>
                  <a:cubicBezTo>
                    <a:pt x="34" y="2"/>
                    <a:pt x="45" y="1"/>
                    <a:pt x="60" y="1"/>
                  </a:cubicBezTo>
                  <a:cubicBezTo>
                    <a:pt x="43" y="1"/>
                    <a:pt x="23" y="1"/>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3" name="Google Shape;283;p4"/>
            <p:cNvSpPr/>
            <p:nvPr/>
          </p:nvSpPr>
          <p:spPr>
            <a:xfrm>
              <a:off x="10125075" y="2789238"/>
              <a:ext cx="1588" cy="0"/>
            </a:xfrm>
            <a:custGeom>
              <a:avLst/>
              <a:gdLst/>
              <a:ahLst/>
              <a:cxnLst/>
              <a:rect l="l" t="t" r="r" b="b"/>
              <a:pathLst>
                <a:path w="1" h="120000" extrusionOk="0">
                  <a:moveTo>
                    <a:pt x="1" y="0"/>
                  </a:moveTo>
                  <a:lnTo>
                    <a:pt x="1" y="0"/>
                  </a:lnTo>
                  <a:lnTo>
                    <a:pt x="0" y="0"/>
                  </a:lnTo>
                  <a:lnTo>
                    <a:pt x="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4" name="Google Shape;284;p4"/>
            <p:cNvSpPr/>
            <p:nvPr/>
          </p:nvSpPr>
          <p:spPr>
            <a:xfrm>
              <a:off x="-4110038" y="2703513"/>
              <a:ext cx="16486189" cy="134937"/>
            </a:xfrm>
            <a:custGeom>
              <a:avLst/>
              <a:gdLst/>
              <a:ahLst/>
              <a:cxnLst/>
              <a:rect l="l" t="t" r="r" b="b"/>
              <a:pathLst>
                <a:path w="8594" h="60" extrusionOk="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5" name="Google Shape;285;p4"/>
            <p:cNvSpPr/>
            <p:nvPr/>
          </p:nvSpPr>
          <p:spPr>
            <a:xfrm>
              <a:off x="12117388" y="2779713"/>
              <a:ext cx="127000" cy="4762"/>
            </a:xfrm>
            <a:custGeom>
              <a:avLst/>
              <a:gdLst/>
              <a:ahLst/>
              <a:cxnLst/>
              <a:rect l="l" t="t" r="r" b="b"/>
              <a:pathLst>
                <a:path w="66" h="2" extrusionOk="0">
                  <a:moveTo>
                    <a:pt x="19" y="2"/>
                  </a:moveTo>
                  <a:lnTo>
                    <a:pt x="19" y="2"/>
                  </a:lnTo>
                  <a:cubicBezTo>
                    <a:pt x="33" y="2"/>
                    <a:pt x="66" y="2"/>
                    <a:pt x="60" y="0"/>
                  </a:cubicBezTo>
                  <a:cubicBezTo>
                    <a:pt x="60" y="2"/>
                    <a:pt x="0" y="0"/>
                    <a:pt x="19"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6" name="Google Shape;286;p4"/>
            <p:cNvSpPr/>
            <p:nvPr/>
          </p:nvSpPr>
          <p:spPr>
            <a:xfrm>
              <a:off x="12182475" y="2787650"/>
              <a:ext cx="79375" cy="1587"/>
            </a:xfrm>
            <a:custGeom>
              <a:avLst/>
              <a:gdLst/>
              <a:ahLst/>
              <a:cxnLst/>
              <a:rect l="l" t="t" r="r" b="b"/>
              <a:pathLst>
                <a:path w="41" h="1" extrusionOk="0">
                  <a:moveTo>
                    <a:pt x="25" y="1"/>
                  </a:moveTo>
                  <a:lnTo>
                    <a:pt x="25" y="1"/>
                  </a:lnTo>
                  <a:cubicBezTo>
                    <a:pt x="27" y="1"/>
                    <a:pt x="26" y="0"/>
                    <a:pt x="41" y="0"/>
                  </a:cubicBezTo>
                  <a:lnTo>
                    <a:pt x="0" y="0"/>
                  </a:lnTo>
                  <a:lnTo>
                    <a:pt x="2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7" name="Google Shape;287;p4"/>
            <p:cNvSpPr/>
            <p:nvPr/>
          </p:nvSpPr>
          <p:spPr>
            <a:xfrm>
              <a:off x="12307888" y="2809875"/>
              <a:ext cx="249238" cy="15875"/>
            </a:xfrm>
            <a:custGeom>
              <a:avLst/>
              <a:gdLst/>
              <a:ahLst/>
              <a:cxnLst/>
              <a:rect l="l" t="t" r="r" b="b"/>
              <a:pathLst>
                <a:path w="130" h="7" extrusionOk="0">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8" name="Google Shape;288;p4"/>
            <p:cNvSpPr/>
            <p:nvPr/>
          </p:nvSpPr>
          <p:spPr>
            <a:xfrm>
              <a:off x="12252325" y="2825750"/>
              <a:ext cx="73025" cy="1587"/>
            </a:xfrm>
            <a:custGeom>
              <a:avLst/>
              <a:gdLst/>
              <a:ahLst/>
              <a:cxnLst/>
              <a:rect l="l" t="t" r="r" b="b"/>
              <a:pathLst>
                <a:path w="38" h="1" extrusionOk="0">
                  <a:moveTo>
                    <a:pt x="4" y="1"/>
                  </a:moveTo>
                  <a:lnTo>
                    <a:pt x="4" y="1"/>
                  </a:lnTo>
                  <a:lnTo>
                    <a:pt x="38" y="0"/>
                  </a:lnTo>
                  <a:lnTo>
                    <a:pt x="34" y="0"/>
                  </a:lnTo>
                  <a:lnTo>
                    <a:pt x="0" y="1"/>
                  </a:lnTo>
                  <a:lnTo>
                    <a:pt x="4"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9" name="Google Shape;289;p4"/>
            <p:cNvSpPr/>
            <p:nvPr/>
          </p:nvSpPr>
          <p:spPr>
            <a:xfrm>
              <a:off x="10779125" y="2733675"/>
              <a:ext cx="66675" cy="4762"/>
            </a:xfrm>
            <a:custGeom>
              <a:avLst/>
              <a:gdLst/>
              <a:ahLst/>
              <a:cxnLst/>
              <a:rect l="l" t="t" r="r" b="b"/>
              <a:pathLst>
                <a:path w="35" h="2" extrusionOk="0">
                  <a:moveTo>
                    <a:pt x="35" y="2"/>
                  </a:moveTo>
                  <a:lnTo>
                    <a:pt x="35" y="2"/>
                  </a:lnTo>
                  <a:cubicBezTo>
                    <a:pt x="32" y="0"/>
                    <a:pt x="11" y="1"/>
                    <a:pt x="0" y="2"/>
                  </a:cubicBezTo>
                  <a:cubicBezTo>
                    <a:pt x="9" y="2"/>
                    <a:pt x="22" y="2"/>
                    <a:pt x="35"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0" name="Google Shape;290;p4"/>
            <p:cNvSpPr/>
            <p:nvPr/>
          </p:nvSpPr>
          <p:spPr>
            <a:xfrm>
              <a:off x="-2471738" y="2738438"/>
              <a:ext cx="496888" cy="1587"/>
            </a:xfrm>
            <a:custGeom>
              <a:avLst/>
              <a:gdLst/>
              <a:ahLst/>
              <a:cxnLst/>
              <a:rect l="l" t="t" r="r" b="b"/>
              <a:pathLst>
                <a:path w="259" h="1" extrusionOk="0">
                  <a:moveTo>
                    <a:pt x="259" y="0"/>
                  </a:moveTo>
                  <a:lnTo>
                    <a:pt x="259" y="0"/>
                  </a:lnTo>
                  <a:lnTo>
                    <a:pt x="0" y="1"/>
                  </a:lnTo>
                  <a:lnTo>
                    <a:pt x="25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1" name="Google Shape;291;p4"/>
            <p:cNvSpPr/>
            <p:nvPr/>
          </p:nvSpPr>
          <p:spPr>
            <a:xfrm>
              <a:off x="9136063" y="2735263"/>
              <a:ext cx="387350" cy="14287"/>
            </a:xfrm>
            <a:custGeom>
              <a:avLst/>
              <a:gdLst/>
              <a:ahLst/>
              <a:cxnLst/>
              <a:rect l="l" t="t" r="r" b="b"/>
              <a:pathLst>
                <a:path w="202" h="6" extrusionOk="0">
                  <a:moveTo>
                    <a:pt x="30" y="6"/>
                  </a:moveTo>
                  <a:lnTo>
                    <a:pt x="30" y="6"/>
                  </a:lnTo>
                  <a:cubicBezTo>
                    <a:pt x="100" y="5"/>
                    <a:pt x="131" y="3"/>
                    <a:pt x="202" y="3"/>
                  </a:cubicBezTo>
                  <a:cubicBezTo>
                    <a:pt x="109" y="0"/>
                    <a:pt x="79" y="6"/>
                    <a:pt x="0" y="3"/>
                  </a:cubicBezTo>
                  <a:lnTo>
                    <a:pt x="30"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2" name="Google Shape;292;p4"/>
            <p:cNvSpPr/>
            <p:nvPr/>
          </p:nvSpPr>
          <p:spPr>
            <a:xfrm>
              <a:off x="9139238" y="2725738"/>
              <a:ext cx="142875" cy="9525"/>
            </a:xfrm>
            <a:custGeom>
              <a:avLst/>
              <a:gdLst/>
              <a:ahLst/>
              <a:cxnLst/>
              <a:rect l="l" t="t" r="r" b="b"/>
              <a:pathLst>
                <a:path w="75" h="4" extrusionOk="0">
                  <a:moveTo>
                    <a:pt x="54" y="0"/>
                  </a:moveTo>
                  <a:lnTo>
                    <a:pt x="54" y="0"/>
                  </a:lnTo>
                  <a:cubicBezTo>
                    <a:pt x="65" y="2"/>
                    <a:pt x="0" y="3"/>
                    <a:pt x="10" y="4"/>
                  </a:cubicBezTo>
                  <a:cubicBezTo>
                    <a:pt x="57" y="4"/>
                    <a:pt x="32" y="2"/>
                    <a:pt x="75" y="2"/>
                  </a:cubicBezTo>
                  <a:lnTo>
                    <a:pt x="5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3" name="Google Shape;293;p4"/>
            <p:cNvSpPr/>
            <p:nvPr/>
          </p:nvSpPr>
          <p:spPr>
            <a:xfrm>
              <a:off x="9805988" y="2817813"/>
              <a:ext cx="39688" cy="3175"/>
            </a:xfrm>
            <a:custGeom>
              <a:avLst/>
              <a:gdLst/>
              <a:ahLst/>
              <a:cxnLst/>
              <a:rect l="l" t="t" r="r" b="b"/>
              <a:pathLst>
                <a:path w="21" h="1" extrusionOk="0">
                  <a:moveTo>
                    <a:pt x="21" y="0"/>
                  </a:moveTo>
                  <a:lnTo>
                    <a:pt x="21" y="0"/>
                  </a:lnTo>
                  <a:lnTo>
                    <a:pt x="0" y="1"/>
                  </a:lnTo>
                  <a:lnTo>
                    <a:pt x="17" y="1"/>
                  </a:lnTo>
                  <a:lnTo>
                    <a:pt x="2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4" name="Google Shape;294;p4"/>
            <p:cNvSpPr/>
            <p:nvPr/>
          </p:nvSpPr>
          <p:spPr>
            <a:xfrm>
              <a:off x="8580438" y="2725738"/>
              <a:ext cx="66675" cy="3175"/>
            </a:xfrm>
            <a:custGeom>
              <a:avLst/>
              <a:gdLst/>
              <a:ahLst/>
              <a:cxnLst/>
              <a:rect l="l" t="t" r="r" b="b"/>
              <a:pathLst>
                <a:path w="35" h="1" extrusionOk="0">
                  <a:moveTo>
                    <a:pt x="27" y="1"/>
                  </a:moveTo>
                  <a:lnTo>
                    <a:pt x="27" y="1"/>
                  </a:lnTo>
                  <a:lnTo>
                    <a:pt x="35" y="1"/>
                  </a:lnTo>
                  <a:lnTo>
                    <a:pt x="0" y="0"/>
                  </a:lnTo>
                  <a:lnTo>
                    <a:pt x="27"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5" name="Google Shape;295;p4"/>
            <p:cNvSpPr/>
            <p:nvPr/>
          </p:nvSpPr>
          <p:spPr>
            <a:xfrm>
              <a:off x="8647113" y="2725738"/>
              <a:ext cx="15875" cy="3175"/>
            </a:xfrm>
            <a:custGeom>
              <a:avLst/>
              <a:gdLst/>
              <a:ahLst/>
              <a:cxnLst/>
              <a:rect l="l" t="t" r="r" b="b"/>
              <a:pathLst>
                <a:path w="8" h="1" extrusionOk="0">
                  <a:moveTo>
                    <a:pt x="8" y="0"/>
                  </a:moveTo>
                  <a:lnTo>
                    <a:pt x="8" y="0"/>
                  </a:lnTo>
                  <a:lnTo>
                    <a:pt x="0" y="1"/>
                  </a:lnTo>
                  <a:lnTo>
                    <a:pt x="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6" name="Google Shape;296;p4"/>
            <p:cNvSpPr/>
            <p:nvPr/>
          </p:nvSpPr>
          <p:spPr>
            <a:xfrm>
              <a:off x="9794875" y="2830513"/>
              <a:ext cx="90488" cy="1587"/>
            </a:xfrm>
            <a:custGeom>
              <a:avLst/>
              <a:gdLst/>
              <a:ahLst/>
              <a:cxnLst/>
              <a:rect l="l" t="t" r="r" b="b"/>
              <a:pathLst>
                <a:path w="47" h="1" extrusionOk="0">
                  <a:moveTo>
                    <a:pt x="0" y="0"/>
                  </a:moveTo>
                  <a:lnTo>
                    <a:pt x="0" y="0"/>
                  </a:lnTo>
                  <a:lnTo>
                    <a:pt x="32" y="1"/>
                  </a:lnTo>
                  <a:lnTo>
                    <a:pt x="47"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7" name="Google Shape;297;p4"/>
            <p:cNvSpPr/>
            <p:nvPr/>
          </p:nvSpPr>
          <p:spPr>
            <a:xfrm>
              <a:off x="9232900" y="2795588"/>
              <a:ext cx="84138" cy="3175"/>
            </a:xfrm>
            <a:custGeom>
              <a:avLst/>
              <a:gdLst/>
              <a:ahLst/>
              <a:cxnLst/>
              <a:rect l="l" t="t" r="r" b="b"/>
              <a:pathLst>
                <a:path w="44" h="1" extrusionOk="0">
                  <a:moveTo>
                    <a:pt x="16" y="1"/>
                  </a:moveTo>
                  <a:lnTo>
                    <a:pt x="16" y="1"/>
                  </a:lnTo>
                  <a:lnTo>
                    <a:pt x="44" y="1"/>
                  </a:lnTo>
                  <a:cubicBezTo>
                    <a:pt x="39" y="1"/>
                    <a:pt x="0" y="0"/>
                    <a:pt x="16"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8" name="Google Shape;298;p4"/>
            <p:cNvSpPr/>
            <p:nvPr/>
          </p:nvSpPr>
          <p:spPr>
            <a:xfrm>
              <a:off x="8158163" y="2725738"/>
              <a:ext cx="71438" cy="3175"/>
            </a:xfrm>
            <a:custGeom>
              <a:avLst/>
              <a:gdLst/>
              <a:ahLst/>
              <a:cxnLst/>
              <a:rect l="l" t="t" r="r" b="b"/>
              <a:pathLst>
                <a:path w="37" h="1" extrusionOk="0">
                  <a:moveTo>
                    <a:pt x="34" y="0"/>
                  </a:moveTo>
                  <a:lnTo>
                    <a:pt x="34" y="0"/>
                  </a:lnTo>
                  <a:lnTo>
                    <a:pt x="0" y="1"/>
                  </a:lnTo>
                  <a:lnTo>
                    <a:pt x="3" y="1"/>
                  </a:lnTo>
                  <a:lnTo>
                    <a:pt x="37" y="0"/>
                  </a:lnTo>
                  <a:lnTo>
                    <a:pt x="3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9" name="Google Shape;299;p4"/>
            <p:cNvSpPr/>
            <p:nvPr/>
          </p:nvSpPr>
          <p:spPr>
            <a:xfrm>
              <a:off x="8734425" y="2814638"/>
              <a:ext cx="144463" cy="3175"/>
            </a:xfrm>
            <a:custGeom>
              <a:avLst/>
              <a:gdLst/>
              <a:ahLst/>
              <a:cxnLst/>
              <a:rect l="l" t="t" r="r" b="b"/>
              <a:pathLst>
                <a:path w="76" h="2" extrusionOk="0">
                  <a:moveTo>
                    <a:pt x="56" y="0"/>
                  </a:moveTo>
                  <a:lnTo>
                    <a:pt x="56" y="0"/>
                  </a:lnTo>
                  <a:cubicBezTo>
                    <a:pt x="76" y="2"/>
                    <a:pt x="0" y="0"/>
                    <a:pt x="40" y="2"/>
                  </a:cubicBezTo>
                  <a:cubicBezTo>
                    <a:pt x="76" y="2"/>
                    <a:pt x="61" y="1"/>
                    <a:pt x="5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0" name="Google Shape;300;p4"/>
            <p:cNvSpPr/>
            <p:nvPr/>
          </p:nvSpPr>
          <p:spPr>
            <a:xfrm>
              <a:off x="8023225" y="2782888"/>
              <a:ext cx="26988" cy="1587"/>
            </a:xfrm>
            <a:custGeom>
              <a:avLst/>
              <a:gdLst/>
              <a:ahLst/>
              <a:cxnLst/>
              <a:rect l="l" t="t" r="r" b="b"/>
              <a:pathLst>
                <a:path w="14" h="1" extrusionOk="0">
                  <a:moveTo>
                    <a:pt x="14" y="0"/>
                  </a:moveTo>
                  <a:lnTo>
                    <a:pt x="14" y="0"/>
                  </a:lnTo>
                  <a:cubicBezTo>
                    <a:pt x="9" y="0"/>
                    <a:pt x="5" y="0"/>
                    <a:pt x="0" y="1"/>
                  </a:cubicBezTo>
                  <a:lnTo>
                    <a:pt x="1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1" name="Google Shape;301;p4"/>
            <p:cNvSpPr/>
            <p:nvPr/>
          </p:nvSpPr>
          <p:spPr>
            <a:xfrm>
              <a:off x="8050213" y="2782888"/>
              <a:ext cx="77788" cy="1587"/>
            </a:xfrm>
            <a:custGeom>
              <a:avLst/>
              <a:gdLst/>
              <a:ahLst/>
              <a:cxnLst/>
              <a:rect l="l" t="t" r="r" b="b"/>
              <a:pathLst>
                <a:path w="40" h="1" extrusionOk="0">
                  <a:moveTo>
                    <a:pt x="0" y="0"/>
                  </a:moveTo>
                  <a:lnTo>
                    <a:pt x="0" y="0"/>
                  </a:lnTo>
                  <a:cubicBezTo>
                    <a:pt x="15" y="0"/>
                    <a:pt x="30" y="1"/>
                    <a:pt x="40" y="1"/>
                  </a:cubicBezTo>
                  <a:cubicBezTo>
                    <a:pt x="21" y="0"/>
                    <a:pt x="15"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2" name="Google Shape;302;p4"/>
            <p:cNvSpPr/>
            <p:nvPr/>
          </p:nvSpPr>
          <p:spPr>
            <a:xfrm>
              <a:off x="7715250" y="2779713"/>
              <a:ext cx="90488" cy="7937"/>
            </a:xfrm>
            <a:custGeom>
              <a:avLst/>
              <a:gdLst/>
              <a:ahLst/>
              <a:cxnLst/>
              <a:rect l="l" t="t" r="r" b="b"/>
              <a:pathLst>
                <a:path w="47" h="3" extrusionOk="0">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3" name="Google Shape;303;p4"/>
            <p:cNvSpPr/>
            <p:nvPr/>
          </p:nvSpPr>
          <p:spPr>
            <a:xfrm>
              <a:off x="6508750" y="2713038"/>
              <a:ext cx="247650" cy="6350"/>
            </a:xfrm>
            <a:custGeom>
              <a:avLst/>
              <a:gdLst/>
              <a:ahLst/>
              <a:cxnLst/>
              <a:rect l="l" t="t" r="r" b="b"/>
              <a:pathLst>
                <a:path w="129" h="3" extrusionOk="0">
                  <a:moveTo>
                    <a:pt x="0" y="0"/>
                  </a:moveTo>
                  <a:lnTo>
                    <a:pt x="0" y="0"/>
                  </a:lnTo>
                  <a:cubicBezTo>
                    <a:pt x="50" y="1"/>
                    <a:pt x="63" y="1"/>
                    <a:pt x="60" y="2"/>
                  </a:cubicBezTo>
                  <a:cubicBezTo>
                    <a:pt x="108" y="3"/>
                    <a:pt x="100" y="0"/>
                    <a:pt x="129"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4" name="Google Shape;304;p4"/>
            <p:cNvSpPr/>
            <p:nvPr/>
          </p:nvSpPr>
          <p:spPr>
            <a:xfrm>
              <a:off x="6756400" y="2713038"/>
              <a:ext cx="33338" cy="0"/>
            </a:xfrm>
            <a:custGeom>
              <a:avLst/>
              <a:gdLst/>
              <a:ahLst/>
              <a:cxnLst/>
              <a:rect l="l" t="t" r="r" b="b"/>
              <a:pathLst>
                <a:path w="18" h="120000" extrusionOk="0">
                  <a:moveTo>
                    <a:pt x="0" y="0"/>
                  </a:moveTo>
                  <a:lnTo>
                    <a:pt x="0" y="0"/>
                  </a:lnTo>
                  <a:lnTo>
                    <a:pt x="18"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5" name="Google Shape;305;p4"/>
            <p:cNvSpPr/>
            <p:nvPr/>
          </p:nvSpPr>
          <p:spPr>
            <a:xfrm>
              <a:off x="8047038" y="2820988"/>
              <a:ext cx="58738" cy="4762"/>
            </a:xfrm>
            <a:custGeom>
              <a:avLst/>
              <a:gdLst/>
              <a:ahLst/>
              <a:cxnLst/>
              <a:rect l="l" t="t" r="r" b="b"/>
              <a:pathLst>
                <a:path w="31" h="2" extrusionOk="0">
                  <a:moveTo>
                    <a:pt x="31" y="0"/>
                  </a:moveTo>
                  <a:lnTo>
                    <a:pt x="31" y="0"/>
                  </a:lnTo>
                  <a:lnTo>
                    <a:pt x="0" y="2"/>
                  </a:lnTo>
                  <a:lnTo>
                    <a:pt x="11" y="2"/>
                  </a:lnTo>
                  <a:lnTo>
                    <a:pt x="3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6" name="Google Shape;306;p4"/>
            <p:cNvSpPr/>
            <p:nvPr/>
          </p:nvSpPr>
          <p:spPr>
            <a:xfrm>
              <a:off x="6348413" y="2711451"/>
              <a:ext cx="82550" cy="1587"/>
            </a:xfrm>
            <a:custGeom>
              <a:avLst/>
              <a:gdLst/>
              <a:ahLst/>
              <a:cxnLst/>
              <a:rect l="l" t="t" r="r" b="b"/>
              <a:pathLst>
                <a:path w="43" h="1" extrusionOk="0">
                  <a:moveTo>
                    <a:pt x="9" y="1"/>
                  </a:moveTo>
                  <a:lnTo>
                    <a:pt x="9" y="1"/>
                  </a:lnTo>
                  <a:cubicBezTo>
                    <a:pt x="18" y="1"/>
                    <a:pt x="33" y="1"/>
                    <a:pt x="41" y="1"/>
                  </a:cubicBezTo>
                  <a:cubicBezTo>
                    <a:pt x="43" y="0"/>
                    <a:pt x="0" y="1"/>
                    <a:pt x="9"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7" name="Google Shape;307;p4"/>
            <p:cNvSpPr/>
            <p:nvPr/>
          </p:nvSpPr>
          <p:spPr>
            <a:xfrm>
              <a:off x="6734175" y="2771775"/>
              <a:ext cx="96838" cy="6350"/>
            </a:xfrm>
            <a:custGeom>
              <a:avLst/>
              <a:gdLst/>
              <a:ahLst/>
              <a:cxnLst/>
              <a:rect l="l" t="t" r="r" b="b"/>
              <a:pathLst>
                <a:path w="50" h="3" extrusionOk="0">
                  <a:moveTo>
                    <a:pt x="0" y="2"/>
                  </a:moveTo>
                  <a:lnTo>
                    <a:pt x="0" y="2"/>
                  </a:lnTo>
                  <a:cubicBezTo>
                    <a:pt x="6" y="3"/>
                    <a:pt x="37" y="2"/>
                    <a:pt x="50" y="3"/>
                  </a:cubicBezTo>
                  <a:cubicBezTo>
                    <a:pt x="32" y="2"/>
                    <a:pt x="17"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8" name="Google Shape;308;p4"/>
            <p:cNvSpPr/>
            <p:nvPr/>
          </p:nvSpPr>
          <p:spPr>
            <a:xfrm>
              <a:off x="6091238" y="2722563"/>
              <a:ext cx="95250" cy="7937"/>
            </a:xfrm>
            <a:custGeom>
              <a:avLst/>
              <a:gdLst/>
              <a:ahLst/>
              <a:cxnLst/>
              <a:rect l="l" t="t" r="r" b="b"/>
              <a:pathLst>
                <a:path w="49" h="4" extrusionOk="0">
                  <a:moveTo>
                    <a:pt x="0" y="1"/>
                  </a:moveTo>
                  <a:lnTo>
                    <a:pt x="0" y="1"/>
                  </a:lnTo>
                  <a:cubicBezTo>
                    <a:pt x="10" y="2"/>
                    <a:pt x="24" y="2"/>
                    <a:pt x="18" y="4"/>
                  </a:cubicBezTo>
                  <a:cubicBezTo>
                    <a:pt x="31" y="3"/>
                    <a:pt x="4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9" name="Google Shape;309;p4"/>
            <p:cNvSpPr/>
            <p:nvPr/>
          </p:nvSpPr>
          <p:spPr>
            <a:xfrm>
              <a:off x="6559550" y="2773363"/>
              <a:ext cx="80963" cy="3175"/>
            </a:xfrm>
            <a:custGeom>
              <a:avLst/>
              <a:gdLst/>
              <a:ahLst/>
              <a:cxnLst/>
              <a:rect l="l" t="t" r="r" b="b"/>
              <a:pathLst>
                <a:path w="42" h="1" extrusionOk="0">
                  <a:moveTo>
                    <a:pt x="0" y="1"/>
                  </a:moveTo>
                  <a:lnTo>
                    <a:pt x="0" y="1"/>
                  </a:lnTo>
                  <a:lnTo>
                    <a:pt x="8" y="1"/>
                  </a:lnTo>
                  <a:lnTo>
                    <a:pt x="42"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0" name="Google Shape;310;p4"/>
            <p:cNvSpPr/>
            <p:nvPr/>
          </p:nvSpPr>
          <p:spPr>
            <a:xfrm>
              <a:off x="6640513" y="2806700"/>
              <a:ext cx="227013" cy="15875"/>
            </a:xfrm>
            <a:custGeom>
              <a:avLst/>
              <a:gdLst/>
              <a:ahLst/>
              <a:cxnLst/>
              <a:rect l="l" t="t" r="r" b="b"/>
              <a:pathLst>
                <a:path w="118" h="7" extrusionOk="0">
                  <a:moveTo>
                    <a:pt x="80" y="7"/>
                  </a:moveTo>
                  <a:lnTo>
                    <a:pt x="80" y="7"/>
                  </a:lnTo>
                  <a:cubicBezTo>
                    <a:pt x="118" y="5"/>
                    <a:pt x="19" y="3"/>
                    <a:pt x="85" y="1"/>
                  </a:cubicBezTo>
                  <a:cubicBezTo>
                    <a:pt x="0" y="0"/>
                    <a:pt x="92" y="4"/>
                    <a:pt x="29" y="4"/>
                  </a:cubicBezTo>
                  <a:cubicBezTo>
                    <a:pt x="66" y="4"/>
                    <a:pt x="84" y="6"/>
                    <a:pt x="80"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1" name="Google Shape;311;p4"/>
            <p:cNvSpPr/>
            <p:nvPr/>
          </p:nvSpPr>
          <p:spPr>
            <a:xfrm>
              <a:off x="6661150" y="2814638"/>
              <a:ext cx="34925" cy="1587"/>
            </a:xfrm>
            <a:custGeom>
              <a:avLst/>
              <a:gdLst/>
              <a:ahLst/>
              <a:cxnLst/>
              <a:rect l="l" t="t" r="r" b="b"/>
              <a:pathLst>
                <a:path w="18" h="1" extrusionOk="0">
                  <a:moveTo>
                    <a:pt x="18" y="1"/>
                  </a:moveTo>
                  <a:lnTo>
                    <a:pt x="18" y="1"/>
                  </a:lnTo>
                  <a:lnTo>
                    <a:pt x="0" y="0"/>
                  </a:lnTo>
                  <a:lnTo>
                    <a:pt x="18"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2" name="Google Shape;312;p4"/>
            <p:cNvSpPr/>
            <p:nvPr/>
          </p:nvSpPr>
          <p:spPr>
            <a:xfrm>
              <a:off x="5661025" y="2789238"/>
              <a:ext cx="23813" cy="1587"/>
            </a:xfrm>
            <a:custGeom>
              <a:avLst/>
              <a:gdLst/>
              <a:ahLst/>
              <a:cxnLst/>
              <a:rect l="l" t="t" r="r" b="b"/>
              <a:pathLst>
                <a:path w="13" h="1" extrusionOk="0">
                  <a:moveTo>
                    <a:pt x="0" y="1"/>
                  </a:moveTo>
                  <a:lnTo>
                    <a:pt x="0" y="1"/>
                  </a:lnTo>
                  <a:lnTo>
                    <a:pt x="13"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3" name="Google Shape;313;p4"/>
            <p:cNvSpPr/>
            <p:nvPr/>
          </p:nvSpPr>
          <p:spPr>
            <a:xfrm>
              <a:off x="6162675" y="2814638"/>
              <a:ext cx="258763" cy="7937"/>
            </a:xfrm>
            <a:custGeom>
              <a:avLst/>
              <a:gdLst/>
              <a:ahLst/>
              <a:cxnLst/>
              <a:rect l="l" t="t" r="r" b="b"/>
              <a:pathLst>
                <a:path w="135" h="4" extrusionOk="0">
                  <a:moveTo>
                    <a:pt x="77" y="2"/>
                  </a:moveTo>
                  <a:lnTo>
                    <a:pt x="77" y="2"/>
                  </a:lnTo>
                  <a:lnTo>
                    <a:pt x="135" y="0"/>
                  </a:lnTo>
                  <a:cubicBezTo>
                    <a:pt x="96" y="1"/>
                    <a:pt x="0" y="1"/>
                    <a:pt x="6" y="4"/>
                  </a:cubicBezTo>
                  <a:cubicBezTo>
                    <a:pt x="37" y="4"/>
                    <a:pt x="75" y="4"/>
                    <a:pt x="90" y="3"/>
                  </a:cubicBezTo>
                  <a:lnTo>
                    <a:pt x="77"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4" name="Google Shape;314;p4"/>
            <p:cNvSpPr/>
            <p:nvPr/>
          </p:nvSpPr>
          <p:spPr>
            <a:xfrm>
              <a:off x="5019675" y="2713038"/>
              <a:ext cx="73025" cy="4762"/>
            </a:xfrm>
            <a:custGeom>
              <a:avLst/>
              <a:gdLst/>
              <a:ahLst/>
              <a:cxnLst/>
              <a:rect l="l" t="t" r="r" b="b"/>
              <a:pathLst>
                <a:path w="38" h="2" extrusionOk="0">
                  <a:moveTo>
                    <a:pt x="13" y="1"/>
                  </a:moveTo>
                  <a:lnTo>
                    <a:pt x="13" y="1"/>
                  </a:lnTo>
                  <a:lnTo>
                    <a:pt x="38" y="0"/>
                  </a:lnTo>
                  <a:lnTo>
                    <a:pt x="7" y="0"/>
                  </a:lnTo>
                  <a:cubicBezTo>
                    <a:pt x="16" y="0"/>
                    <a:pt x="0" y="2"/>
                    <a:pt x="1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5" name="Google Shape;315;p4"/>
            <p:cNvSpPr/>
            <p:nvPr/>
          </p:nvSpPr>
          <p:spPr>
            <a:xfrm>
              <a:off x="5021263" y="2713038"/>
              <a:ext cx="11113" cy="0"/>
            </a:xfrm>
            <a:custGeom>
              <a:avLst/>
              <a:gdLst/>
              <a:ahLst/>
              <a:cxnLst/>
              <a:rect l="l" t="t" r="r" b="b"/>
              <a:pathLst>
                <a:path w="6" h="120000" extrusionOk="0">
                  <a:moveTo>
                    <a:pt x="0" y="0"/>
                  </a:moveTo>
                  <a:lnTo>
                    <a:pt x="0" y="0"/>
                  </a:lnTo>
                  <a:lnTo>
                    <a:pt x="6"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6" name="Google Shape;316;p4"/>
            <p:cNvSpPr/>
            <p:nvPr/>
          </p:nvSpPr>
          <p:spPr>
            <a:xfrm>
              <a:off x="5864225" y="2784475"/>
              <a:ext cx="101600" cy="4762"/>
            </a:xfrm>
            <a:custGeom>
              <a:avLst/>
              <a:gdLst/>
              <a:ahLst/>
              <a:cxnLst/>
              <a:rect l="l" t="t" r="r" b="b"/>
              <a:pathLst>
                <a:path w="53" h="2" extrusionOk="0">
                  <a:moveTo>
                    <a:pt x="3" y="2"/>
                  </a:moveTo>
                  <a:lnTo>
                    <a:pt x="3" y="2"/>
                  </a:lnTo>
                  <a:cubicBezTo>
                    <a:pt x="21" y="2"/>
                    <a:pt x="36" y="2"/>
                    <a:pt x="53" y="1"/>
                  </a:cubicBezTo>
                  <a:cubicBezTo>
                    <a:pt x="46" y="1"/>
                    <a:pt x="0" y="0"/>
                    <a:pt x="3"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7" name="Google Shape;317;p4"/>
            <p:cNvSpPr/>
            <p:nvPr/>
          </p:nvSpPr>
          <p:spPr>
            <a:xfrm>
              <a:off x="4703763" y="2722563"/>
              <a:ext cx="84138" cy="1587"/>
            </a:xfrm>
            <a:custGeom>
              <a:avLst/>
              <a:gdLst/>
              <a:ahLst/>
              <a:cxnLst/>
              <a:rect l="l" t="t" r="r" b="b"/>
              <a:pathLst>
                <a:path w="44" h="1" extrusionOk="0">
                  <a:moveTo>
                    <a:pt x="3" y="1"/>
                  </a:moveTo>
                  <a:lnTo>
                    <a:pt x="3" y="1"/>
                  </a:lnTo>
                  <a:lnTo>
                    <a:pt x="44" y="0"/>
                  </a:lnTo>
                  <a:lnTo>
                    <a:pt x="0" y="0"/>
                  </a:lnTo>
                  <a:lnTo>
                    <a:pt x="3"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8" name="Google Shape;318;p4"/>
            <p:cNvSpPr/>
            <p:nvPr/>
          </p:nvSpPr>
          <p:spPr>
            <a:xfrm>
              <a:off x="4264025" y="2713038"/>
              <a:ext cx="77788" cy="4762"/>
            </a:xfrm>
            <a:custGeom>
              <a:avLst/>
              <a:gdLst/>
              <a:ahLst/>
              <a:cxnLst/>
              <a:rect l="l" t="t" r="r" b="b"/>
              <a:pathLst>
                <a:path w="41" h="2" extrusionOk="0">
                  <a:moveTo>
                    <a:pt x="41" y="1"/>
                  </a:moveTo>
                  <a:lnTo>
                    <a:pt x="41" y="1"/>
                  </a:lnTo>
                  <a:lnTo>
                    <a:pt x="34" y="0"/>
                  </a:lnTo>
                  <a:lnTo>
                    <a:pt x="0" y="1"/>
                  </a:lnTo>
                  <a:lnTo>
                    <a:pt x="7" y="2"/>
                  </a:lnTo>
                  <a:lnTo>
                    <a:pt x="4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9" name="Google Shape;319;p4"/>
            <p:cNvSpPr/>
            <p:nvPr/>
          </p:nvSpPr>
          <p:spPr>
            <a:xfrm>
              <a:off x="4800600" y="2822575"/>
              <a:ext cx="117475" cy="7937"/>
            </a:xfrm>
            <a:custGeom>
              <a:avLst/>
              <a:gdLst/>
              <a:ahLst/>
              <a:cxnLst/>
              <a:rect l="l" t="t" r="r" b="b"/>
              <a:pathLst>
                <a:path w="61" h="3" extrusionOk="0">
                  <a:moveTo>
                    <a:pt x="11" y="2"/>
                  </a:moveTo>
                  <a:lnTo>
                    <a:pt x="11" y="2"/>
                  </a:lnTo>
                  <a:cubicBezTo>
                    <a:pt x="39" y="3"/>
                    <a:pt x="61" y="0"/>
                    <a:pt x="54" y="0"/>
                  </a:cubicBezTo>
                  <a:lnTo>
                    <a:pt x="0" y="0"/>
                  </a:lnTo>
                  <a:cubicBezTo>
                    <a:pt x="13" y="2"/>
                    <a:pt x="15" y="0"/>
                    <a:pt x="46" y="0"/>
                  </a:cubicBezTo>
                  <a:lnTo>
                    <a:pt x="11"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0" name="Google Shape;320;p4"/>
            <p:cNvSpPr/>
            <p:nvPr/>
          </p:nvSpPr>
          <p:spPr>
            <a:xfrm>
              <a:off x="187325" y="2714625"/>
              <a:ext cx="1925638" cy="31750"/>
            </a:xfrm>
            <a:custGeom>
              <a:avLst/>
              <a:gdLst/>
              <a:ahLst/>
              <a:cxnLst/>
              <a:rect l="l" t="t" r="r" b="b"/>
              <a:pathLst>
                <a:path w="1004" h="14" extrusionOk="0">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1" name="Google Shape;321;p4"/>
            <p:cNvSpPr/>
            <p:nvPr/>
          </p:nvSpPr>
          <p:spPr>
            <a:xfrm>
              <a:off x="1947862" y="2735263"/>
              <a:ext cx="47625" cy="0"/>
            </a:xfrm>
            <a:custGeom>
              <a:avLst/>
              <a:gdLst/>
              <a:ahLst/>
              <a:cxnLst/>
              <a:rect l="l" t="t" r="r" b="b"/>
              <a:pathLst>
                <a:path w="25" h="120000" extrusionOk="0">
                  <a:moveTo>
                    <a:pt x="0" y="0"/>
                  </a:moveTo>
                  <a:lnTo>
                    <a:pt x="0" y="0"/>
                  </a:lnTo>
                  <a:lnTo>
                    <a:pt x="2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2" name="Google Shape;322;p4"/>
            <p:cNvSpPr/>
            <p:nvPr/>
          </p:nvSpPr>
          <p:spPr>
            <a:xfrm>
              <a:off x="112712" y="2724150"/>
              <a:ext cx="74613" cy="0"/>
            </a:xfrm>
            <a:custGeom>
              <a:avLst/>
              <a:gdLst/>
              <a:ahLst/>
              <a:cxnLst/>
              <a:rect l="l" t="t" r="r" b="b"/>
              <a:pathLst>
                <a:path w="39" h="120000" extrusionOk="0">
                  <a:moveTo>
                    <a:pt x="0" y="0"/>
                  </a:moveTo>
                  <a:lnTo>
                    <a:pt x="0" y="0"/>
                  </a:lnTo>
                  <a:lnTo>
                    <a:pt x="39" y="0"/>
                  </a:lnTo>
                  <a:cubicBezTo>
                    <a:pt x="27" y="0"/>
                    <a:pt x="14"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3" name="Google Shape;323;p4"/>
            <p:cNvSpPr/>
            <p:nvPr/>
          </p:nvSpPr>
          <p:spPr>
            <a:xfrm>
              <a:off x="2187575" y="2717800"/>
              <a:ext cx="176213" cy="6350"/>
            </a:xfrm>
            <a:custGeom>
              <a:avLst/>
              <a:gdLst/>
              <a:ahLst/>
              <a:cxnLst/>
              <a:rect l="l" t="t" r="r" b="b"/>
              <a:pathLst>
                <a:path w="92" h="3" extrusionOk="0">
                  <a:moveTo>
                    <a:pt x="71" y="3"/>
                  </a:moveTo>
                  <a:lnTo>
                    <a:pt x="71" y="3"/>
                  </a:lnTo>
                  <a:cubicBezTo>
                    <a:pt x="47" y="2"/>
                    <a:pt x="88" y="1"/>
                    <a:pt x="92" y="0"/>
                  </a:cubicBezTo>
                  <a:lnTo>
                    <a:pt x="8" y="1"/>
                  </a:lnTo>
                  <a:cubicBezTo>
                    <a:pt x="8" y="1"/>
                    <a:pt x="0" y="2"/>
                    <a:pt x="2" y="3"/>
                  </a:cubicBezTo>
                  <a:lnTo>
                    <a:pt x="71"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4" name="Google Shape;324;p4"/>
            <p:cNvSpPr/>
            <p:nvPr/>
          </p:nvSpPr>
          <p:spPr>
            <a:xfrm>
              <a:off x="2112962" y="2714625"/>
              <a:ext cx="90488" cy="4762"/>
            </a:xfrm>
            <a:custGeom>
              <a:avLst/>
              <a:gdLst/>
              <a:ahLst/>
              <a:cxnLst/>
              <a:rect l="l" t="t" r="r" b="b"/>
              <a:pathLst>
                <a:path w="47" h="2" extrusionOk="0">
                  <a:moveTo>
                    <a:pt x="22" y="0"/>
                  </a:moveTo>
                  <a:lnTo>
                    <a:pt x="22" y="0"/>
                  </a:lnTo>
                  <a:cubicBezTo>
                    <a:pt x="19" y="1"/>
                    <a:pt x="11" y="1"/>
                    <a:pt x="0" y="2"/>
                  </a:cubicBezTo>
                  <a:lnTo>
                    <a:pt x="47" y="2"/>
                  </a:lnTo>
                  <a:cubicBezTo>
                    <a:pt x="47" y="1"/>
                    <a:pt x="41" y="0"/>
                    <a:pt x="2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5" name="Google Shape;325;p4"/>
            <p:cNvSpPr/>
            <p:nvPr/>
          </p:nvSpPr>
          <p:spPr>
            <a:xfrm>
              <a:off x="2101850" y="2811463"/>
              <a:ext cx="71438" cy="3175"/>
            </a:xfrm>
            <a:custGeom>
              <a:avLst/>
              <a:gdLst/>
              <a:ahLst/>
              <a:cxnLst/>
              <a:rect l="l" t="t" r="r" b="b"/>
              <a:pathLst>
                <a:path w="37" h="1" extrusionOk="0">
                  <a:moveTo>
                    <a:pt x="37" y="0"/>
                  </a:moveTo>
                  <a:lnTo>
                    <a:pt x="37" y="0"/>
                  </a:lnTo>
                  <a:lnTo>
                    <a:pt x="22" y="1"/>
                  </a:lnTo>
                  <a:lnTo>
                    <a:pt x="0" y="1"/>
                  </a:lnTo>
                  <a:lnTo>
                    <a:pt x="3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6" name="Google Shape;326;p4"/>
            <p:cNvSpPr/>
            <p:nvPr/>
          </p:nvSpPr>
          <p:spPr>
            <a:xfrm>
              <a:off x="1724025" y="2805113"/>
              <a:ext cx="120650" cy="4762"/>
            </a:xfrm>
            <a:custGeom>
              <a:avLst/>
              <a:gdLst/>
              <a:ahLst/>
              <a:cxnLst/>
              <a:rect l="l" t="t" r="r" b="b"/>
              <a:pathLst>
                <a:path w="63" h="2" extrusionOk="0">
                  <a:moveTo>
                    <a:pt x="0" y="0"/>
                  </a:moveTo>
                  <a:lnTo>
                    <a:pt x="0" y="0"/>
                  </a:lnTo>
                  <a:cubicBezTo>
                    <a:pt x="18" y="2"/>
                    <a:pt x="52" y="1"/>
                    <a:pt x="63" y="0"/>
                  </a:cubicBezTo>
                  <a:cubicBezTo>
                    <a:pt x="24" y="0"/>
                    <a:pt x="41"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7" name="Google Shape;327;p4"/>
            <p:cNvSpPr/>
            <p:nvPr/>
          </p:nvSpPr>
          <p:spPr>
            <a:xfrm>
              <a:off x="1744662" y="2833688"/>
              <a:ext cx="73025" cy="3175"/>
            </a:xfrm>
            <a:custGeom>
              <a:avLst/>
              <a:gdLst/>
              <a:ahLst/>
              <a:cxnLst/>
              <a:rect l="l" t="t" r="r" b="b"/>
              <a:pathLst>
                <a:path w="38" h="1" extrusionOk="0">
                  <a:moveTo>
                    <a:pt x="38" y="0"/>
                  </a:moveTo>
                  <a:lnTo>
                    <a:pt x="38" y="0"/>
                  </a:lnTo>
                  <a:lnTo>
                    <a:pt x="0" y="1"/>
                  </a:lnTo>
                  <a:lnTo>
                    <a:pt x="3" y="1"/>
                  </a:lnTo>
                  <a:lnTo>
                    <a:pt x="3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8" name="Google Shape;328;p4"/>
            <p:cNvSpPr/>
            <p:nvPr/>
          </p:nvSpPr>
          <p:spPr>
            <a:xfrm>
              <a:off x="-474663" y="2741613"/>
              <a:ext cx="34925" cy="0"/>
            </a:xfrm>
            <a:custGeom>
              <a:avLst/>
              <a:gdLst/>
              <a:ahLst/>
              <a:cxnLst/>
              <a:rect l="l" t="t" r="r" b="b"/>
              <a:pathLst>
                <a:path w="18" h="120000" extrusionOk="0">
                  <a:moveTo>
                    <a:pt x="18" y="0"/>
                  </a:moveTo>
                  <a:lnTo>
                    <a:pt x="18" y="0"/>
                  </a:lnTo>
                  <a:lnTo>
                    <a:pt x="0" y="0"/>
                  </a:lnTo>
                  <a:lnTo>
                    <a:pt x="1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9" name="Google Shape;329;p4"/>
            <p:cNvSpPr/>
            <p:nvPr/>
          </p:nvSpPr>
          <p:spPr>
            <a:xfrm>
              <a:off x="-947738" y="2725738"/>
              <a:ext cx="1239838" cy="19050"/>
            </a:xfrm>
            <a:custGeom>
              <a:avLst/>
              <a:gdLst/>
              <a:ahLst/>
              <a:cxnLst/>
              <a:rect l="l" t="t" r="r" b="b"/>
              <a:pathLst>
                <a:path w="647" h="8" extrusionOk="0">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0" name="Google Shape;330;p4"/>
            <p:cNvSpPr/>
            <p:nvPr/>
          </p:nvSpPr>
          <p:spPr>
            <a:xfrm>
              <a:off x="-1944688" y="2741613"/>
              <a:ext cx="4763" cy="0"/>
            </a:xfrm>
            <a:custGeom>
              <a:avLst/>
              <a:gdLst/>
              <a:ahLst/>
              <a:cxnLst/>
              <a:rect l="l" t="t" r="r" b="b"/>
              <a:pathLst>
                <a:path w="2" h="120000" extrusionOk="0">
                  <a:moveTo>
                    <a:pt x="1" y="0"/>
                  </a:moveTo>
                  <a:lnTo>
                    <a:pt x="1" y="0"/>
                  </a:lnTo>
                  <a:lnTo>
                    <a:pt x="2" y="0"/>
                  </a:lnTo>
                  <a:cubicBezTo>
                    <a:pt x="0" y="0"/>
                    <a:pt x="0"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1" name="Google Shape;331;p4"/>
            <p:cNvSpPr/>
            <p:nvPr/>
          </p:nvSpPr>
          <p:spPr>
            <a:xfrm>
              <a:off x="-1939925" y="2735263"/>
              <a:ext cx="173038" cy="6350"/>
            </a:xfrm>
            <a:custGeom>
              <a:avLst/>
              <a:gdLst/>
              <a:ahLst/>
              <a:cxnLst/>
              <a:rect l="l" t="t" r="r" b="b"/>
              <a:pathLst>
                <a:path w="90" h="3" extrusionOk="0">
                  <a:moveTo>
                    <a:pt x="36" y="3"/>
                  </a:moveTo>
                  <a:lnTo>
                    <a:pt x="36" y="3"/>
                  </a:lnTo>
                  <a:lnTo>
                    <a:pt x="90" y="0"/>
                  </a:lnTo>
                  <a:lnTo>
                    <a:pt x="6" y="1"/>
                  </a:lnTo>
                  <a:lnTo>
                    <a:pt x="0" y="3"/>
                  </a:lnTo>
                  <a:cubicBezTo>
                    <a:pt x="8" y="2"/>
                    <a:pt x="37" y="1"/>
                    <a:pt x="48" y="2"/>
                  </a:cubicBezTo>
                  <a:lnTo>
                    <a:pt x="36"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2" name="Google Shape;332;p4"/>
            <p:cNvSpPr/>
            <p:nvPr/>
          </p:nvSpPr>
          <p:spPr>
            <a:xfrm>
              <a:off x="-1773238" y="2733675"/>
              <a:ext cx="123825" cy="12700"/>
            </a:xfrm>
            <a:custGeom>
              <a:avLst/>
              <a:gdLst/>
              <a:ahLst/>
              <a:cxnLst/>
              <a:rect l="l" t="t" r="r" b="b"/>
              <a:pathLst>
                <a:path w="65" h="6" extrusionOk="0">
                  <a:moveTo>
                    <a:pt x="65" y="0"/>
                  </a:moveTo>
                  <a:lnTo>
                    <a:pt x="65" y="0"/>
                  </a:lnTo>
                  <a:cubicBezTo>
                    <a:pt x="22" y="1"/>
                    <a:pt x="25" y="3"/>
                    <a:pt x="48" y="4"/>
                  </a:cubicBezTo>
                  <a:cubicBezTo>
                    <a:pt x="8" y="5"/>
                    <a:pt x="27" y="1"/>
                    <a:pt x="0" y="4"/>
                  </a:cubicBezTo>
                  <a:cubicBezTo>
                    <a:pt x="1" y="6"/>
                    <a:pt x="50" y="5"/>
                    <a:pt x="61" y="4"/>
                  </a:cubicBezTo>
                  <a:lnTo>
                    <a:pt x="6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3" name="Google Shape;333;p4"/>
            <p:cNvSpPr/>
            <p:nvPr/>
          </p:nvSpPr>
          <p:spPr>
            <a:xfrm>
              <a:off x="-1057275" y="2735263"/>
              <a:ext cx="57150" cy="3175"/>
            </a:xfrm>
            <a:custGeom>
              <a:avLst/>
              <a:gdLst/>
              <a:ahLst/>
              <a:cxnLst/>
              <a:rect l="l" t="t" r="r" b="b"/>
              <a:pathLst>
                <a:path w="30" h="1" extrusionOk="0">
                  <a:moveTo>
                    <a:pt x="12" y="0"/>
                  </a:moveTo>
                  <a:lnTo>
                    <a:pt x="12" y="0"/>
                  </a:lnTo>
                  <a:lnTo>
                    <a:pt x="0" y="1"/>
                  </a:lnTo>
                  <a:lnTo>
                    <a:pt x="30" y="1"/>
                  </a:lnTo>
                  <a:lnTo>
                    <a:pt x="1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4" name="Google Shape;334;p4"/>
            <p:cNvSpPr/>
            <p:nvPr/>
          </p:nvSpPr>
          <p:spPr>
            <a:xfrm>
              <a:off x="-1116013" y="2738438"/>
              <a:ext cx="58738" cy="3175"/>
            </a:xfrm>
            <a:custGeom>
              <a:avLst/>
              <a:gdLst/>
              <a:ahLst/>
              <a:cxnLst/>
              <a:rect l="l" t="t" r="r" b="b"/>
              <a:pathLst>
                <a:path w="30" h="2" extrusionOk="0">
                  <a:moveTo>
                    <a:pt x="30" y="0"/>
                  </a:moveTo>
                  <a:lnTo>
                    <a:pt x="30" y="0"/>
                  </a:lnTo>
                  <a:lnTo>
                    <a:pt x="0" y="0"/>
                  </a:lnTo>
                  <a:cubicBezTo>
                    <a:pt x="2" y="0"/>
                    <a:pt x="4" y="1"/>
                    <a:pt x="9" y="2"/>
                  </a:cubicBezTo>
                  <a:lnTo>
                    <a:pt x="3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5" name="Google Shape;335;p4"/>
            <p:cNvSpPr/>
            <p:nvPr/>
          </p:nvSpPr>
          <p:spPr>
            <a:xfrm>
              <a:off x="-1349375" y="2735263"/>
              <a:ext cx="84138" cy="0"/>
            </a:xfrm>
            <a:custGeom>
              <a:avLst/>
              <a:gdLst/>
              <a:ahLst/>
              <a:cxnLst/>
              <a:rect l="l" t="t" r="r" b="b"/>
              <a:pathLst>
                <a:path w="44" h="120000" extrusionOk="0">
                  <a:moveTo>
                    <a:pt x="44" y="0"/>
                  </a:moveTo>
                  <a:lnTo>
                    <a:pt x="44" y="0"/>
                  </a:lnTo>
                  <a:lnTo>
                    <a:pt x="0" y="0"/>
                  </a:lnTo>
                  <a:lnTo>
                    <a:pt x="4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6" name="Google Shape;336;p4"/>
            <p:cNvSpPr/>
            <p:nvPr/>
          </p:nvSpPr>
          <p:spPr>
            <a:xfrm>
              <a:off x="-1265238" y="2735263"/>
              <a:ext cx="65088" cy="3175"/>
            </a:xfrm>
            <a:custGeom>
              <a:avLst/>
              <a:gdLst/>
              <a:ahLst/>
              <a:cxnLst/>
              <a:rect l="l" t="t" r="r" b="b"/>
              <a:pathLst>
                <a:path w="34" h="1" extrusionOk="0">
                  <a:moveTo>
                    <a:pt x="34" y="1"/>
                  </a:moveTo>
                  <a:lnTo>
                    <a:pt x="34" y="1"/>
                  </a:lnTo>
                  <a:lnTo>
                    <a:pt x="33" y="0"/>
                  </a:lnTo>
                  <a:lnTo>
                    <a:pt x="0" y="0"/>
                  </a:lnTo>
                  <a:lnTo>
                    <a:pt x="34"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7" name="Google Shape;337;p4"/>
            <p:cNvSpPr/>
            <p:nvPr/>
          </p:nvSpPr>
          <p:spPr>
            <a:xfrm>
              <a:off x="-1219200" y="2728913"/>
              <a:ext cx="103188" cy="9525"/>
            </a:xfrm>
            <a:custGeom>
              <a:avLst/>
              <a:gdLst/>
              <a:ahLst/>
              <a:cxnLst/>
              <a:rect l="l" t="t" r="r" b="b"/>
              <a:pathLst>
                <a:path w="54" h="4" extrusionOk="0">
                  <a:moveTo>
                    <a:pt x="54" y="4"/>
                  </a:moveTo>
                  <a:lnTo>
                    <a:pt x="54" y="4"/>
                  </a:lnTo>
                  <a:cubicBezTo>
                    <a:pt x="49" y="2"/>
                    <a:pt x="43" y="0"/>
                    <a:pt x="0" y="1"/>
                  </a:cubicBezTo>
                  <a:lnTo>
                    <a:pt x="9" y="3"/>
                  </a:lnTo>
                  <a:lnTo>
                    <a:pt x="54"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8" name="Google Shape;338;p4"/>
            <p:cNvSpPr/>
            <p:nvPr/>
          </p:nvSpPr>
          <p:spPr>
            <a:xfrm>
              <a:off x="1225550" y="2830513"/>
              <a:ext cx="73025" cy="3175"/>
            </a:xfrm>
            <a:custGeom>
              <a:avLst/>
              <a:gdLst/>
              <a:ahLst/>
              <a:cxnLst/>
              <a:rect l="l" t="t" r="r" b="b"/>
              <a:pathLst>
                <a:path w="38" h="2" extrusionOk="0">
                  <a:moveTo>
                    <a:pt x="34" y="0"/>
                  </a:moveTo>
                  <a:lnTo>
                    <a:pt x="34" y="0"/>
                  </a:lnTo>
                  <a:lnTo>
                    <a:pt x="0" y="1"/>
                  </a:lnTo>
                  <a:lnTo>
                    <a:pt x="4" y="2"/>
                  </a:lnTo>
                  <a:lnTo>
                    <a:pt x="38" y="1"/>
                  </a:lnTo>
                  <a:lnTo>
                    <a:pt x="3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9" name="Google Shape;339;p4"/>
            <p:cNvSpPr/>
            <p:nvPr/>
          </p:nvSpPr>
          <p:spPr>
            <a:xfrm>
              <a:off x="874712" y="2827338"/>
              <a:ext cx="39688" cy="3175"/>
            </a:xfrm>
            <a:custGeom>
              <a:avLst/>
              <a:gdLst/>
              <a:ahLst/>
              <a:cxnLst/>
              <a:rect l="l" t="t" r="r" b="b"/>
              <a:pathLst>
                <a:path w="21" h="1" extrusionOk="0">
                  <a:moveTo>
                    <a:pt x="21" y="0"/>
                  </a:moveTo>
                  <a:lnTo>
                    <a:pt x="21" y="0"/>
                  </a:lnTo>
                  <a:lnTo>
                    <a:pt x="0" y="1"/>
                  </a:lnTo>
                  <a:cubicBezTo>
                    <a:pt x="9" y="1"/>
                    <a:pt x="16" y="1"/>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0" name="Google Shape;340;p4"/>
            <p:cNvSpPr/>
            <p:nvPr/>
          </p:nvSpPr>
          <p:spPr>
            <a:xfrm>
              <a:off x="417512" y="2827338"/>
              <a:ext cx="457200" cy="31750"/>
            </a:xfrm>
            <a:custGeom>
              <a:avLst/>
              <a:gdLst/>
              <a:ahLst/>
              <a:cxnLst/>
              <a:rect l="l" t="t" r="r" b="b"/>
              <a:pathLst>
                <a:path w="238" h="14" extrusionOk="0">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1" name="Google Shape;341;p4"/>
            <p:cNvSpPr/>
            <p:nvPr/>
          </p:nvSpPr>
          <p:spPr>
            <a:xfrm>
              <a:off x="755650" y="2859087"/>
              <a:ext cx="68263" cy="4762"/>
            </a:xfrm>
            <a:custGeom>
              <a:avLst/>
              <a:gdLst/>
              <a:ahLst/>
              <a:cxnLst/>
              <a:rect l="l" t="t" r="r" b="b"/>
              <a:pathLst>
                <a:path w="36" h="2" extrusionOk="0">
                  <a:moveTo>
                    <a:pt x="0" y="1"/>
                  </a:moveTo>
                  <a:lnTo>
                    <a:pt x="0" y="1"/>
                  </a:lnTo>
                  <a:cubicBezTo>
                    <a:pt x="19" y="2"/>
                    <a:pt x="24" y="1"/>
                    <a:pt x="36" y="1"/>
                  </a:cubicBezTo>
                  <a:cubicBezTo>
                    <a:pt x="33" y="0"/>
                    <a:pt x="15" y="1"/>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2" name="Google Shape;342;p4"/>
            <p:cNvSpPr/>
            <p:nvPr/>
          </p:nvSpPr>
          <p:spPr>
            <a:xfrm>
              <a:off x="-133350" y="2798763"/>
              <a:ext cx="111125" cy="4762"/>
            </a:xfrm>
            <a:custGeom>
              <a:avLst/>
              <a:gdLst/>
              <a:ahLst/>
              <a:cxnLst/>
              <a:rect l="l" t="t" r="r" b="b"/>
              <a:pathLst>
                <a:path w="58" h="2" extrusionOk="0">
                  <a:moveTo>
                    <a:pt x="37" y="0"/>
                  </a:moveTo>
                  <a:lnTo>
                    <a:pt x="37" y="0"/>
                  </a:lnTo>
                  <a:cubicBezTo>
                    <a:pt x="34" y="1"/>
                    <a:pt x="0" y="1"/>
                    <a:pt x="7" y="2"/>
                  </a:cubicBezTo>
                  <a:lnTo>
                    <a:pt x="58" y="2"/>
                  </a:lnTo>
                  <a:cubicBezTo>
                    <a:pt x="46" y="2"/>
                    <a:pt x="42" y="1"/>
                    <a:pt x="3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3" name="Google Shape;343;p4"/>
            <p:cNvSpPr/>
            <p:nvPr/>
          </p:nvSpPr>
          <p:spPr>
            <a:xfrm>
              <a:off x="-22225" y="2800350"/>
              <a:ext cx="44450" cy="3175"/>
            </a:xfrm>
            <a:custGeom>
              <a:avLst/>
              <a:gdLst/>
              <a:ahLst/>
              <a:cxnLst/>
              <a:rect l="l" t="t" r="r" b="b"/>
              <a:pathLst>
                <a:path w="23" h="1" extrusionOk="0">
                  <a:moveTo>
                    <a:pt x="23" y="0"/>
                  </a:moveTo>
                  <a:lnTo>
                    <a:pt x="23" y="0"/>
                  </a:lnTo>
                  <a:lnTo>
                    <a:pt x="0" y="1"/>
                  </a:lnTo>
                  <a:cubicBezTo>
                    <a:pt x="6" y="1"/>
                    <a:pt x="13"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4" name="Google Shape;344;p4"/>
            <p:cNvSpPr/>
            <p:nvPr/>
          </p:nvSpPr>
          <p:spPr>
            <a:xfrm>
              <a:off x="-66675" y="2798763"/>
              <a:ext cx="6350" cy="0"/>
            </a:xfrm>
            <a:custGeom>
              <a:avLst/>
              <a:gdLst/>
              <a:ahLst/>
              <a:cxnLst/>
              <a:rect l="l" t="t" r="r" b="b"/>
              <a:pathLst>
                <a:path w="3" h="120000" extrusionOk="0">
                  <a:moveTo>
                    <a:pt x="0" y="0"/>
                  </a:moveTo>
                  <a:lnTo>
                    <a:pt x="0" y="0"/>
                  </a:lnTo>
                  <a:lnTo>
                    <a:pt x="2" y="0"/>
                  </a:lnTo>
                  <a:cubicBezTo>
                    <a:pt x="3" y="0"/>
                    <a:pt x="3"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5" name="Google Shape;345;p4"/>
            <p:cNvSpPr/>
            <p:nvPr/>
          </p:nvSpPr>
          <p:spPr>
            <a:xfrm>
              <a:off x="-1566863" y="2730500"/>
              <a:ext cx="65088" cy="3175"/>
            </a:xfrm>
            <a:custGeom>
              <a:avLst/>
              <a:gdLst/>
              <a:ahLst/>
              <a:cxnLst/>
              <a:rect l="l" t="t" r="r" b="b"/>
              <a:pathLst>
                <a:path w="34" h="1" extrusionOk="0">
                  <a:moveTo>
                    <a:pt x="33" y="1"/>
                  </a:moveTo>
                  <a:lnTo>
                    <a:pt x="33" y="1"/>
                  </a:lnTo>
                  <a:cubicBezTo>
                    <a:pt x="34" y="0"/>
                    <a:pt x="12" y="1"/>
                    <a:pt x="0" y="1"/>
                  </a:cubicBezTo>
                  <a:cubicBezTo>
                    <a:pt x="9" y="1"/>
                    <a:pt x="22" y="1"/>
                    <a:pt x="3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6" name="Google Shape;346;p4"/>
            <p:cNvSpPr/>
            <p:nvPr/>
          </p:nvSpPr>
          <p:spPr>
            <a:xfrm>
              <a:off x="-3175000" y="2740025"/>
              <a:ext cx="38100" cy="0"/>
            </a:xfrm>
            <a:custGeom>
              <a:avLst/>
              <a:gdLst/>
              <a:ahLst/>
              <a:cxnLst/>
              <a:rect l="l" t="t" r="r" b="b"/>
              <a:pathLst>
                <a:path w="20" h="120000" extrusionOk="0">
                  <a:moveTo>
                    <a:pt x="20" y="0"/>
                  </a:moveTo>
                  <a:lnTo>
                    <a:pt x="20" y="0"/>
                  </a:lnTo>
                  <a:lnTo>
                    <a:pt x="0" y="0"/>
                  </a:lnTo>
                  <a:cubicBezTo>
                    <a:pt x="7" y="0"/>
                    <a:pt x="11" y="0"/>
                    <a:pt x="2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7" name="Google Shape;347;p4"/>
            <p:cNvSpPr/>
            <p:nvPr/>
          </p:nvSpPr>
          <p:spPr>
            <a:xfrm>
              <a:off x="-3735388" y="2803525"/>
              <a:ext cx="6350" cy="1587"/>
            </a:xfrm>
            <a:custGeom>
              <a:avLst/>
              <a:gdLst/>
              <a:ahLst/>
              <a:cxnLst/>
              <a:rect l="l" t="t" r="r" b="b"/>
              <a:pathLst>
                <a:path w="4" h="1" extrusionOk="0">
                  <a:moveTo>
                    <a:pt x="4" y="0"/>
                  </a:moveTo>
                  <a:lnTo>
                    <a:pt x="4" y="0"/>
                  </a:lnTo>
                  <a:cubicBezTo>
                    <a:pt x="3" y="0"/>
                    <a:pt x="2" y="1"/>
                    <a:pt x="0" y="1"/>
                  </a:cubicBezTo>
                  <a:cubicBezTo>
                    <a:pt x="2" y="1"/>
                    <a:pt x="3" y="1"/>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8" name="Google Shape;348;p4"/>
            <p:cNvSpPr/>
            <p:nvPr/>
          </p:nvSpPr>
          <p:spPr>
            <a:xfrm>
              <a:off x="-3924300" y="2803525"/>
              <a:ext cx="188913" cy="3175"/>
            </a:xfrm>
            <a:custGeom>
              <a:avLst/>
              <a:gdLst/>
              <a:ahLst/>
              <a:cxnLst/>
              <a:rect l="l" t="t" r="r" b="b"/>
              <a:pathLst>
                <a:path w="98" h="2" extrusionOk="0">
                  <a:moveTo>
                    <a:pt x="98" y="1"/>
                  </a:moveTo>
                  <a:lnTo>
                    <a:pt x="98" y="1"/>
                  </a:lnTo>
                  <a:cubicBezTo>
                    <a:pt x="84" y="2"/>
                    <a:pt x="42" y="0"/>
                    <a:pt x="26" y="1"/>
                  </a:cubicBezTo>
                  <a:lnTo>
                    <a:pt x="28" y="1"/>
                  </a:lnTo>
                  <a:lnTo>
                    <a:pt x="0" y="2"/>
                  </a:lnTo>
                  <a:cubicBezTo>
                    <a:pt x="27" y="2"/>
                    <a:pt x="82" y="2"/>
                    <a:pt x="9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349" name="Google Shape;349;p4"/>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0" name="Google Shape;350;p4"/>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1" name="Google Shape;351;p4"/>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52" name="Google Shape;352;p4"/>
          <p:cNvSpPr txBox="1">
            <a:spLocks noGrp="1"/>
          </p:cNvSpPr>
          <p:nvPr>
            <p:ph type="body" idx="1"/>
          </p:nvPr>
        </p:nvSpPr>
        <p:spPr>
          <a:xfrm>
            <a:off x="1522413" y="5102525"/>
            <a:ext cx="9143999" cy="106967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0"/>
              </a:spcBef>
              <a:spcAft>
                <a:spcPts val="0"/>
              </a:spcAft>
              <a:buSzPts val="1920"/>
              <a:buNone/>
              <a:defRPr sz="2400">
                <a:solidFill>
                  <a:schemeClr val="lt1"/>
                </a:solidFill>
              </a:defRPr>
            </a:lvl1pPr>
            <a:lvl2pPr marL="914400" lvl="1" indent="-228600" algn="l">
              <a:lnSpc>
                <a:spcPct val="90000"/>
              </a:lnSpc>
              <a:spcBef>
                <a:spcPts val="600"/>
              </a:spcBef>
              <a:spcAft>
                <a:spcPts val="0"/>
              </a:spcAft>
              <a:buSzPts val="1800"/>
              <a:buNone/>
              <a:defRPr sz="1800">
                <a:solidFill>
                  <a:srgbClr val="888888"/>
                </a:solidFill>
              </a:defRPr>
            </a:lvl2pPr>
            <a:lvl3pPr marL="1371600" lvl="2" indent="-228600" algn="l">
              <a:lnSpc>
                <a:spcPct val="90000"/>
              </a:lnSpc>
              <a:spcBef>
                <a:spcPts val="600"/>
              </a:spcBef>
              <a:spcAft>
                <a:spcPts val="0"/>
              </a:spcAft>
              <a:buSzPts val="1280"/>
              <a:buNone/>
              <a:defRPr sz="1600">
                <a:solidFill>
                  <a:srgbClr val="888888"/>
                </a:solidFill>
              </a:defRPr>
            </a:lvl3pPr>
            <a:lvl4pPr marL="1828800" lvl="3" indent="-228600" algn="l">
              <a:lnSpc>
                <a:spcPct val="90000"/>
              </a:lnSpc>
              <a:spcBef>
                <a:spcPts val="600"/>
              </a:spcBef>
              <a:spcAft>
                <a:spcPts val="0"/>
              </a:spcAft>
              <a:buSzPts val="1400"/>
              <a:buNone/>
              <a:defRPr sz="1400">
                <a:solidFill>
                  <a:srgbClr val="888888"/>
                </a:solidFill>
              </a:defRPr>
            </a:lvl4pPr>
            <a:lvl5pPr marL="2286000" lvl="4" indent="-228600" algn="l">
              <a:lnSpc>
                <a:spcPct val="90000"/>
              </a:lnSpc>
              <a:spcBef>
                <a:spcPts val="600"/>
              </a:spcBef>
              <a:spcAft>
                <a:spcPts val="0"/>
              </a:spcAft>
              <a:buSzPts val="1400"/>
              <a:buNone/>
              <a:defRPr sz="1400">
                <a:solidFill>
                  <a:srgbClr val="888888"/>
                </a:solidFill>
              </a:defRPr>
            </a:lvl5pPr>
            <a:lvl6pPr marL="2743200" lvl="5" indent="-228600" algn="l">
              <a:lnSpc>
                <a:spcPct val="90000"/>
              </a:lnSpc>
              <a:spcBef>
                <a:spcPts val="600"/>
              </a:spcBef>
              <a:spcAft>
                <a:spcPts val="0"/>
              </a:spcAft>
              <a:buSzPts val="1400"/>
              <a:buNone/>
              <a:defRPr sz="1400">
                <a:solidFill>
                  <a:srgbClr val="888888"/>
                </a:solidFill>
              </a:defRPr>
            </a:lvl6pPr>
            <a:lvl7pPr marL="3200400" lvl="6" indent="-228600" algn="l">
              <a:lnSpc>
                <a:spcPct val="90000"/>
              </a:lnSpc>
              <a:spcBef>
                <a:spcPts val="600"/>
              </a:spcBef>
              <a:spcAft>
                <a:spcPts val="0"/>
              </a:spcAft>
              <a:buSzPts val="1120"/>
              <a:buNone/>
              <a:defRPr sz="1400">
                <a:solidFill>
                  <a:srgbClr val="888888"/>
                </a:solidFill>
              </a:defRPr>
            </a:lvl7pPr>
            <a:lvl8pPr marL="3657600" lvl="7" indent="-228600" algn="l">
              <a:lnSpc>
                <a:spcPct val="90000"/>
              </a:lnSpc>
              <a:spcBef>
                <a:spcPts val="600"/>
              </a:spcBef>
              <a:spcAft>
                <a:spcPts val="0"/>
              </a:spcAft>
              <a:buSzPts val="1400"/>
              <a:buNone/>
              <a:defRPr sz="1400">
                <a:solidFill>
                  <a:srgbClr val="888888"/>
                </a:solidFill>
              </a:defRPr>
            </a:lvl8pPr>
            <a:lvl9pPr marL="4114800" lvl="8" indent="-228600" algn="l">
              <a:lnSpc>
                <a:spcPct val="90000"/>
              </a:lnSpc>
              <a:spcBef>
                <a:spcPts val="600"/>
              </a:spcBef>
              <a:spcAft>
                <a:spcPts val="0"/>
              </a:spcAft>
              <a:buSzPts val="1120"/>
              <a:buNone/>
              <a:defRPr sz="1400">
                <a:solidFill>
                  <a:srgbClr val="888888"/>
                </a:solidFill>
              </a:defRPr>
            </a:lvl9pPr>
          </a:lstStyle>
          <a:p>
            <a:endParaRPr/>
          </a:p>
        </p:txBody>
      </p:sp>
      <p:sp>
        <p:nvSpPr>
          <p:cNvPr id="353" name="Google Shape;353;p4"/>
          <p:cNvSpPr txBox="1">
            <a:spLocks noGrp="1"/>
          </p:cNvSpPr>
          <p:nvPr>
            <p:ph type="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400"/>
              <a:buFont typeface="Century Gothic"/>
              <a:buNone/>
              <a:defRPr sz="44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4"/>
        <p:cNvGrpSpPr/>
        <p:nvPr/>
      </p:nvGrpSpPr>
      <p:grpSpPr>
        <a:xfrm>
          <a:off x="0" y="0"/>
          <a:ext cx="0" cy="0"/>
          <a:chOff x="0" y="0"/>
          <a:chExt cx="0" cy="0"/>
        </a:xfrm>
      </p:grpSpPr>
      <p:grpSp>
        <p:nvGrpSpPr>
          <p:cNvPr id="355" name="Google Shape;355;p5"/>
          <p:cNvGrpSpPr/>
          <p:nvPr/>
        </p:nvGrpSpPr>
        <p:grpSpPr>
          <a:xfrm>
            <a:off x="1522413" y="1514475"/>
            <a:ext cx="10569575" cy="64008"/>
            <a:chOff x="1522413" y="1514475"/>
            <a:chExt cx="10569575" cy="64008"/>
          </a:xfrm>
        </p:grpSpPr>
        <p:sp>
          <p:nvSpPr>
            <p:cNvPr id="356" name="Google Shape;356;p5"/>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57" name="Google Shape;357;p5"/>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58" name="Google Shape;358;p5"/>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59" name="Google Shape;359;p5"/>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0" name="Google Shape;360;p5"/>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1" name="Google Shape;361;p5"/>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2" name="Google Shape;362;p5"/>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3" name="Google Shape;363;p5"/>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4" name="Google Shape;364;p5"/>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5" name="Google Shape;365;p5"/>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6" name="Google Shape;366;p5"/>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7" name="Google Shape;367;p5"/>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8" name="Google Shape;368;p5"/>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9" name="Google Shape;369;p5"/>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0" name="Google Shape;370;p5"/>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1" name="Google Shape;371;p5"/>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2" name="Google Shape;372;p5"/>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3" name="Google Shape;373;p5"/>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4" name="Google Shape;374;p5"/>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5" name="Google Shape;375;p5"/>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6" name="Google Shape;376;p5"/>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7" name="Google Shape;377;p5"/>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8" name="Google Shape;378;p5"/>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9" name="Google Shape;379;p5"/>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0" name="Google Shape;380;p5"/>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1" name="Google Shape;381;p5"/>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2" name="Google Shape;382;p5"/>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3" name="Google Shape;383;p5"/>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4" name="Google Shape;384;p5"/>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5" name="Google Shape;385;p5"/>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6" name="Google Shape;386;p5"/>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7" name="Google Shape;387;p5"/>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8" name="Google Shape;388;p5"/>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9" name="Google Shape;389;p5"/>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0" name="Google Shape;390;p5"/>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1" name="Google Shape;391;p5"/>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2" name="Google Shape;392;p5"/>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3" name="Google Shape;393;p5"/>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4" name="Google Shape;394;p5"/>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5" name="Google Shape;395;p5"/>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6" name="Google Shape;396;p5"/>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7" name="Google Shape;397;p5"/>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8" name="Google Shape;398;p5"/>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9" name="Google Shape;399;p5"/>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0" name="Google Shape;400;p5"/>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1" name="Google Shape;401;p5"/>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2" name="Google Shape;402;p5"/>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3" name="Google Shape;403;p5"/>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4" name="Google Shape;404;p5"/>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5" name="Google Shape;405;p5"/>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6" name="Google Shape;406;p5"/>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7" name="Google Shape;407;p5"/>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8" name="Google Shape;408;p5"/>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9" name="Google Shape;409;p5"/>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0" name="Google Shape;410;p5"/>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1" name="Google Shape;411;p5"/>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2" name="Google Shape;412;p5"/>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3" name="Google Shape;413;p5"/>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4" name="Google Shape;414;p5"/>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5" name="Google Shape;415;p5"/>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6" name="Google Shape;416;p5"/>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7" name="Google Shape;417;p5"/>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8" name="Google Shape;418;p5"/>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9" name="Google Shape;419;p5"/>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0" name="Google Shape;420;p5"/>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1" name="Google Shape;421;p5"/>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2" name="Google Shape;422;p5"/>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3" name="Google Shape;423;p5"/>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4" name="Google Shape;424;p5"/>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5" name="Google Shape;425;p5"/>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6" name="Google Shape;426;p5"/>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7" name="Google Shape;427;p5"/>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8" name="Google Shape;428;p5"/>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9" name="Google Shape;429;p5"/>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430" name="Google Shape;430;p5"/>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1" name="Google Shape;431;p5"/>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2" name="Google Shape;432;p5"/>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33" name="Google Shape;433;p5"/>
          <p:cNvSpPr txBox="1">
            <a:spLocks noGrp="1"/>
          </p:cNvSpPr>
          <p:nvPr>
            <p:ph type="body" idx="1"/>
          </p:nvPr>
        </p:nvSpPr>
        <p:spPr>
          <a:xfrm>
            <a:off x="1522414" y="1905000"/>
            <a:ext cx="9144000" cy="4267200"/>
          </a:xfrm>
          <a:prstGeom prst="rect">
            <a:avLst/>
          </a:prstGeom>
          <a:noFill/>
          <a:ln>
            <a:noFill/>
          </a:ln>
        </p:spPr>
        <p:txBody>
          <a:bodyPr spcFirstLastPara="1" wrap="square" lIns="91425" tIns="45700" rIns="91425" bIns="45700" anchor="t" anchorCtr="0">
            <a:noAutofit/>
          </a:bodyPr>
          <a:lstStyle>
            <a:lvl1pPr marL="457200" lvl="0" indent="-320040" algn="l">
              <a:lnSpc>
                <a:spcPct val="90000"/>
              </a:lnSpc>
              <a:spcBef>
                <a:spcPts val="1800"/>
              </a:spcBef>
              <a:spcAft>
                <a:spcPts val="0"/>
              </a:spcAft>
              <a:buSzPts val="1440"/>
              <a:buChar char="►"/>
              <a:defRPr/>
            </a:lvl1pPr>
            <a:lvl2pPr marL="914400" lvl="1" indent="-355600" algn="l">
              <a:lnSpc>
                <a:spcPct val="90000"/>
              </a:lnSpc>
              <a:spcBef>
                <a:spcPts val="600"/>
              </a:spcBef>
              <a:spcAft>
                <a:spcPts val="0"/>
              </a:spcAft>
              <a:buSzPts val="2000"/>
              <a:buChar char="►"/>
              <a:defRPr/>
            </a:lvl2pPr>
            <a:lvl3pPr marL="1371600" lvl="2" indent="-320039" algn="l">
              <a:lnSpc>
                <a:spcPct val="90000"/>
              </a:lnSpc>
              <a:spcBef>
                <a:spcPts val="600"/>
              </a:spcBef>
              <a:spcAft>
                <a:spcPts val="0"/>
              </a:spcAft>
              <a:buSzPts val="1440"/>
              <a:buChar char="►"/>
              <a:defRPr/>
            </a:lvl3pPr>
            <a:lvl4pPr marL="1828800" lvl="3" indent="-330200" algn="l">
              <a:lnSpc>
                <a:spcPct val="90000"/>
              </a:lnSpc>
              <a:spcBef>
                <a:spcPts val="600"/>
              </a:spcBef>
              <a:spcAft>
                <a:spcPts val="0"/>
              </a:spcAft>
              <a:buSzPts val="1600"/>
              <a:buChar char="►"/>
              <a:defRPr/>
            </a:lvl4pPr>
            <a:lvl5pPr marL="2286000" lvl="4" indent="-330200" algn="l">
              <a:lnSpc>
                <a:spcPct val="90000"/>
              </a:lnSpc>
              <a:spcBef>
                <a:spcPts val="600"/>
              </a:spcBef>
              <a:spcAft>
                <a:spcPts val="0"/>
              </a:spcAft>
              <a:buSzPts val="1600"/>
              <a:buChar char="►"/>
              <a:defRPr/>
            </a:lvl5pPr>
            <a:lvl6pPr marL="2743200" lvl="5" indent="-330200" algn="l">
              <a:lnSpc>
                <a:spcPct val="90000"/>
              </a:lnSpc>
              <a:spcBef>
                <a:spcPts val="600"/>
              </a:spcBef>
              <a:spcAft>
                <a:spcPts val="0"/>
              </a:spcAft>
              <a:buSzPts val="1600"/>
              <a:buChar char="►"/>
              <a:defRPr/>
            </a:lvl6pPr>
            <a:lvl7pPr marL="3200400" lvl="6" indent="-309879" algn="l">
              <a:lnSpc>
                <a:spcPct val="90000"/>
              </a:lnSpc>
              <a:spcBef>
                <a:spcPts val="600"/>
              </a:spcBef>
              <a:spcAft>
                <a:spcPts val="0"/>
              </a:spcAft>
              <a:buSzPts val="1280"/>
              <a:buChar char="►"/>
              <a:defRPr/>
            </a:lvl7pPr>
            <a:lvl8pPr marL="3657600" lvl="7" indent="-330200" algn="l">
              <a:lnSpc>
                <a:spcPct val="90000"/>
              </a:lnSpc>
              <a:spcBef>
                <a:spcPts val="600"/>
              </a:spcBef>
              <a:spcAft>
                <a:spcPts val="0"/>
              </a:spcAft>
              <a:buSzPts val="1600"/>
              <a:buChar char="►"/>
              <a:defRPr/>
            </a:lvl8pPr>
            <a:lvl9pPr marL="4114800" lvl="8" indent="-309879" algn="l">
              <a:lnSpc>
                <a:spcPct val="90000"/>
              </a:lnSpc>
              <a:spcBef>
                <a:spcPts val="600"/>
              </a:spcBef>
              <a:spcAft>
                <a:spcPts val="0"/>
              </a:spcAft>
              <a:buSzPts val="1280"/>
              <a:buChar char="►"/>
              <a:defRPr/>
            </a:lvl9pPr>
          </a:lstStyle>
          <a:p>
            <a:endParaRPr/>
          </a:p>
        </p:txBody>
      </p:sp>
      <p:sp>
        <p:nvSpPr>
          <p:cNvPr id="434" name="Google Shape;434;p5"/>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5"/>
        <p:cNvGrpSpPr/>
        <p:nvPr/>
      </p:nvGrpSpPr>
      <p:grpSpPr>
        <a:xfrm>
          <a:off x="0" y="0"/>
          <a:ext cx="0" cy="0"/>
          <a:chOff x="0" y="0"/>
          <a:chExt cx="0" cy="0"/>
        </a:xfrm>
      </p:grpSpPr>
      <p:grpSp>
        <p:nvGrpSpPr>
          <p:cNvPr id="436" name="Google Shape;436;p6"/>
          <p:cNvGrpSpPr/>
          <p:nvPr/>
        </p:nvGrpSpPr>
        <p:grpSpPr>
          <a:xfrm>
            <a:off x="1522413" y="1514475"/>
            <a:ext cx="10569575" cy="64008"/>
            <a:chOff x="1522413" y="1514475"/>
            <a:chExt cx="10569575" cy="64008"/>
          </a:xfrm>
        </p:grpSpPr>
        <p:sp>
          <p:nvSpPr>
            <p:cNvPr id="437" name="Google Shape;437;p6"/>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38" name="Google Shape;438;p6"/>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39" name="Google Shape;439;p6"/>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0" name="Google Shape;440;p6"/>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1" name="Google Shape;441;p6"/>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2" name="Google Shape;442;p6"/>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3" name="Google Shape;443;p6"/>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4" name="Google Shape;444;p6"/>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5" name="Google Shape;445;p6"/>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6" name="Google Shape;446;p6"/>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7" name="Google Shape;447;p6"/>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8" name="Google Shape;448;p6"/>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9" name="Google Shape;449;p6"/>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0" name="Google Shape;450;p6"/>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1" name="Google Shape;451;p6"/>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2" name="Google Shape;452;p6"/>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3" name="Google Shape;453;p6"/>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4" name="Google Shape;454;p6"/>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5" name="Google Shape;455;p6"/>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6" name="Google Shape;456;p6"/>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7" name="Google Shape;457;p6"/>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8" name="Google Shape;458;p6"/>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9" name="Google Shape;459;p6"/>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0" name="Google Shape;460;p6"/>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1" name="Google Shape;461;p6"/>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2" name="Google Shape;462;p6"/>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3" name="Google Shape;463;p6"/>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4" name="Google Shape;464;p6"/>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5" name="Google Shape;465;p6"/>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6" name="Google Shape;466;p6"/>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7" name="Google Shape;467;p6"/>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8" name="Google Shape;468;p6"/>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9" name="Google Shape;469;p6"/>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0" name="Google Shape;470;p6"/>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1" name="Google Shape;471;p6"/>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2" name="Google Shape;472;p6"/>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3" name="Google Shape;473;p6"/>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4" name="Google Shape;474;p6"/>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5" name="Google Shape;475;p6"/>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6" name="Google Shape;476;p6"/>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7" name="Google Shape;477;p6"/>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8" name="Google Shape;478;p6"/>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9" name="Google Shape;479;p6"/>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0" name="Google Shape;480;p6"/>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1" name="Google Shape;481;p6"/>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2" name="Google Shape;482;p6"/>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3" name="Google Shape;483;p6"/>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4" name="Google Shape;484;p6"/>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5" name="Google Shape;485;p6"/>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6" name="Google Shape;486;p6"/>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7" name="Google Shape;487;p6"/>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8" name="Google Shape;488;p6"/>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9" name="Google Shape;489;p6"/>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0" name="Google Shape;490;p6"/>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1" name="Google Shape;491;p6"/>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2" name="Google Shape;492;p6"/>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3" name="Google Shape;493;p6"/>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4" name="Google Shape;494;p6"/>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5" name="Google Shape;495;p6"/>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6" name="Google Shape;496;p6"/>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7" name="Google Shape;497;p6"/>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8" name="Google Shape;498;p6"/>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9" name="Google Shape;499;p6"/>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0" name="Google Shape;500;p6"/>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1" name="Google Shape;501;p6"/>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2" name="Google Shape;502;p6"/>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3" name="Google Shape;503;p6"/>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4" name="Google Shape;504;p6"/>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5" name="Google Shape;505;p6"/>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6" name="Google Shape;506;p6"/>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7" name="Google Shape;507;p6"/>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8" name="Google Shape;508;p6"/>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9" name="Google Shape;509;p6"/>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10" name="Google Shape;510;p6"/>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511" name="Google Shape;511;p6"/>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2" name="Google Shape;512;p6"/>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3" name="Google Shape;513;p6"/>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14" name="Google Shape;514;p6"/>
          <p:cNvSpPr txBox="1">
            <a:spLocks noGrp="1"/>
          </p:cNvSpPr>
          <p:nvPr>
            <p:ph type="body" idx="1"/>
          </p:nvPr>
        </p:nvSpPr>
        <p:spPr>
          <a:xfrm>
            <a:off x="6249860" y="2819399"/>
            <a:ext cx="4416552" cy="3352801"/>
          </a:xfrm>
          <a:prstGeom prst="rect">
            <a:avLst/>
          </a:prstGeom>
          <a:noFill/>
          <a:ln>
            <a:noFill/>
          </a:ln>
        </p:spPr>
        <p:txBody>
          <a:bodyPr spcFirstLastPara="1" wrap="square" lIns="91425" tIns="45700" rIns="91425" bIns="45700" anchor="t" anchorCtr="0">
            <a:noAutofit/>
          </a:bodyPr>
          <a:lstStyle>
            <a:lvl1pPr marL="457200" lvl="0" indent="-350520" algn="l">
              <a:lnSpc>
                <a:spcPct val="90000"/>
              </a:lnSpc>
              <a:spcBef>
                <a:spcPts val="1800"/>
              </a:spcBef>
              <a:spcAft>
                <a:spcPts val="0"/>
              </a:spcAft>
              <a:buSzPts val="1920"/>
              <a:buChar char="►"/>
              <a:defRPr sz="2400"/>
            </a:lvl1pPr>
            <a:lvl2pPr marL="914400" lvl="1" indent="-355600" algn="l">
              <a:lnSpc>
                <a:spcPct val="90000"/>
              </a:lnSpc>
              <a:spcBef>
                <a:spcPts val="600"/>
              </a:spcBef>
              <a:spcAft>
                <a:spcPts val="0"/>
              </a:spcAft>
              <a:buSzPts val="2000"/>
              <a:buChar char="►"/>
              <a:defRPr sz="2000"/>
            </a:lvl2pPr>
            <a:lvl3pPr marL="1371600" lvl="2" indent="-320039" algn="l">
              <a:lnSpc>
                <a:spcPct val="90000"/>
              </a:lnSpc>
              <a:spcBef>
                <a:spcPts val="600"/>
              </a:spcBef>
              <a:spcAft>
                <a:spcPts val="0"/>
              </a:spcAft>
              <a:buSzPts val="1440"/>
              <a:buChar char="►"/>
              <a:defRPr sz="1800"/>
            </a:lvl3pPr>
            <a:lvl4pPr marL="1828800" lvl="3" indent="-330200" algn="l">
              <a:lnSpc>
                <a:spcPct val="90000"/>
              </a:lnSpc>
              <a:spcBef>
                <a:spcPts val="600"/>
              </a:spcBef>
              <a:spcAft>
                <a:spcPts val="0"/>
              </a:spcAft>
              <a:buSzPts val="1600"/>
              <a:buChar char="►"/>
              <a:defRPr sz="1600"/>
            </a:lvl4pPr>
            <a:lvl5pPr marL="2286000" lvl="4" indent="-330200" algn="l">
              <a:lnSpc>
                <a:spcPct val="90000"/>
              </a:lnSpc>
              <a:spcBef>
                <a:spcPts val="600"/>
              </a:spcBef>
              <a:spcAft>
                <a:spcPts val="0"/>
              </a:spcAft>
              <a:buSzPts val="1600"/>
              <a:buChar char="►"/>
              <a:defRPr sz="1600"/>
            </a:lvl5pPr>
            <a:lvl6pPr marL="2743200" lvl="5" indent="-330200" algn="l">
              <a:lnSpc>
                <a:spcPct val="90000"/>
              </a:lnSpc>
              <a:spcBef>
                <a:spcPts val="600"/>
              </a:spcBef>
              <a:spcAft>
                <a:spcPts val="0"/>
              </a:spcAft>
              <a:buSzPts val="1600"/>
              <a:buChar char="►"/>
              <a:defRPr sz="1600"/>
            </a:lvl6pPr>
            <a:lvl7pPr marL="3200400" lvl="6" indent="-309879" algn="l">
              <a:lnSpc>
                <a:spcPct val="90000"/>
              </a:lnSpc>
              <a:spcBef>
                <a:spcPts val="600"/>
              </a:spcBef>
              <a:spcAft>
                <a:spcPts val="0"/>
              </a:spcAft>
              <a:buSzPts val="1280"/>
              <a:buChar char="►"/>
              <a:defRPr sz="1600"/>
            </a:lvl7pPr>
            <a:lvl8pPr marL="3657600" lvl="7" indent="-330200" algn="l">
              <a:lnSpc>
                <a:spcPct val="90000"/>
              </a:lnSpc>
              <a:spcBef>
                <a:spcPts val="600"/>
              </a:spcBef>
              <a:spcAft>
                <a:spcPts val="0"/>
              </a:spcAft>
              <a:buSzPts val="1600"/>
              <a:buChar char="►"/>
              <a:defRPr sz="1600"/>
            </a:lvl8pPr>
            <a:lvl9pPr marL="4114800" lvl="8" indent="-309879" algn="l">
              <a:lnSpc>
                <a:spcPct val="90000"/>
              </a:lnSpc>
              <a:spcBef>
                <a:spcPts val="600"/>
              </a:spcBef>
              <a:spcAft>
                <a:spcPts val="0"/>
              </a:spcAft>
              <a:buSzPts val="1280"/>
              <a:buChar char="►"/>
              <a:defRPr sz="1600"/>
            </a:lvl9pPr>
          </a:lstStyle>
          <a:p>
            <a:endParaRPr/>
          </a:p>
        </p:txBody>
      </p:sp>
      <p:sp>
        <p:nvSpPr>
          <p:cNvPr id="515" name="Google Shape;515;p6"/>
          <p:cNvSpPr txBox="1">
            <a:spLocks noGrp="1"/>
          </p:cNvSpPr>
          <p:nvPr>
            <p:ph type="body" idx="2"/>
          </p:nvPr>
        </p:nvSpPr>
        <p:spPr>
          <a:xfrm>
            <a:off x="6249860" y="1905000"/>
            <a:ext cx="4416552" cy="762000"/>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0"/>
              </a:spcBef>
              <a:spcAft>
                <a:spcPts val="0"/>
              </a:spcAft>
              <a:buSzPts val="1920"/>
              <a:buNone/>
              <a:defRPr sz="2400" b="0"/>
            </a:lvl1pPr>
            <a:lvl2pPr marL="914400" lvl="1" indent="-228600" algn="l">
              <a:lnSpc>
                <a:spcPct val="90000"/>
              </a:lnSpc>
              <a:spcBef>
                <a:spcPts val="600"/>
              </a:spcBef>
              <a:spcAft>
                <a:spcPts val="0"/>
              </a:spcAft>
              <a:buSzPts val="2000"/>
              <a:buNone/>
              <a:defRPr sz="2000" b="1"/>
            </a:lvl2pPr>
            <a:lvl3pPr marL="1371600" lvl="2" indent="-228600" algn="l">
              <a:lnSpc>
                <a:spcPct val="90000"/>
              </a:lnSpc>
              <a:spcBef>
                <a:spcPts val="600"/>
              </a:spcBef>
              <a:spcAft>
                <a:spcPts val="0"/>
              </a:spcAft>
              <a:buSzPts val="1440"/>
              <a:buNone/>
              <a:defRPr sz="1800" b="1"/>
            </a:lvl3pPr>
            <a:lvl4pPr marL="1828800" lvl="3" indent="-228600" algn="l">
              <a:lnSpc>
                <a:spcPct val="90000"/>
              </a:lnSpc>
              <a:spcBef>
                <a:spcPts val="600"/>
              </a:spcBef>
              <a:spcAft>
                <a:spcPts val="0"/>
              </a:spcAft>
              <a:buSzPts val="1600"/>
              <a:buNone/>
              <a:defRPr sz="1600" b="1"/>
            </a:lvl4pPr>
            <a:lvl5pPr marL="2286000" lvl="4" indent="-228600" algn="l">
              <a:lnSpc>
                <a:spcPct val="90000"/>
              </a:lnSpc>
              <a:spcBef>
                <a:spcPts val="600"/>
              </a:spcBef>
              <a:spcAft>
                <a:spcPts val="0"/>
              </a:spcAft>
              <a:buSzPts val="1600"/>
              <a:buNone/>
              <a:defRPr sz="1600" b="1"/>
            </a:lvl5pPr>
            <a:lvl6pPr marL="2743200" lvl="5" indent="-228600" algn="l">
              <a:lnSpc>
                <a:spcPct val="90000"/>
              </a:lnSpc>
              <a:spcBef>
                <a:spcPts val="600"/>
              </a:spcBef>
              <a:spcAft>
                <a:spcPts val="0"/>
              </a:spcAft>
              <a:buSzPts val="1600"/>
              <a:buNone/>
              <a:defRPr sz="1600" b="1"/>
            </a:lvl6pPr>
            <a:lvl7pPr marL="3200400" lvl="6" indent="-228600" algn="l">
              <a:lnSpc>
                <a:spcPct val="90000"/>
              </a:lnSpc>
              <a:spcBef>
                <a:spcPts val="600"/>
              </a:spcBef>
              <a:spcAft>
                <a:spcPts val="0"/>
              </a:spcAft>
              <a:buSzPts val="1280"/>
              <a:buNone/>
              <a:defRPr sz="1600" b="1"/>
            </a:lvl7pPr>
            <a:lvl8pPr marL="3657600" lvl="7" indent="-228600" algn="l">
              <a:lnSpc>
                <a:spcPct val="90000"/>
              </a:lnSpc>
              <a:spcBef>
                <a:spcPts val="600"/>
              </a:spcBef>
              <a:spcAft>
                <a:spcPts val="0"/>
              </a:spcAft>
              <a:buSzPts val="1600"/>
              <a:buNone/>
              <a:defRPr sz="1600" b="1"/>
            </a:lvl8pPr>
            <a:lvl9pPr marL="4114800" lvl="8" indent="-228600" algn="l">
              <a:lnSpc>
                <a:spcPct val="90000"/>
              </a:lnSpc>
              <a:spcBef>
                <a:spcPts val="600"/>
              </a:spcBef>
              <a:spcAft>
                <a:spcPts val="0"/>
              </a:spcAft>
              <a:buSzPts val="1280"/>
              <a:buNone/>
              <a:defRPr sz="1600" b="1"/>
            </a:lvl9pPr>
          </a:lstStyle>
          <a:p>
            <a:endParaRPr/>
          </a:p>
        </p:txBody>
      </p:sp>
      <p:sp>
        <p:nvSpPr>
          <p:cNvPr id="516" name="Google Shape;516;p6"/>
          <p:cNvSpPr txBox="1">
            <a:spLocks noGrp="1"/>
          </p:cNvSpPr>
          <p:nvPr>
            <p:ph type="body" idx="3"/>
          </p:nvPr>
        </p:nvSpPr>
        <p:spPr>
          <a:xfrm>
            <a:off x="1522413" y="2819399"/>
            <a:ext cx="4416552" cy="3352801"/>
          </a:xfrm>
          <a:prstGeom prst="rect">
            <a:avLst/>
          </a:prstGeom>
          <a:noFill/>
          <a:ln>
            <a:noFill/>
          </a:ln>
        </p:spPr>
        <p:txBody>
          <a:bodyPr spcFirstLastPara="1" wrap="square" lIns="91425" tIns="45700" rIns="91425" bIns="45700" anchor="t" anchorCtr="0">
            <a:noAutofit/>
          </a:bodyPr>
          <a:lstStyle>
            <a:lvl1pPr marL="457200" lvl="0" indent="-350520" algn="l">
              <a:lnSpc>
                <a:spcPct val="90000"/>
              </a:lnSpc>
              <a:spcBef>
                <a:spcPts val="1800"/>
              </a:spcBef>
              <a:spcAft>
                <a:spcPts val="0"/>
              </a:spcAft>
              <a:buSzPts val="1920"/>
              <a:buChar char="►"/>
              <a:defRPr sz="2400"/>
            </a:lvl1pPr>
            <a:lvl2pPr marL="914400" lvl="1" indent="-355600" algn="l">
              <a:lnSpc>
                <a:spcPct val="90000"/>
              </a:lnSpc>
              <a:spcBef>
                <a:spcPts val="600"/>
              </a:spcBef>
              <a:spcAft>
                <a:spcPts val="0"/>
              </a:spcAft>
              <a:buSzPts val="2000"/>
              <a:buChar char="►"/>
              <a:defRPr sz="2000"/>
            </a:lvl2pPr>
            <a:lvl3pPr marL="1371600" lvl="2" indent="-320039" algn="l">
              <a:lnSpc>
                <a:spcPct val="90000"/>
              </a:lnSpc>
              <a:spcBef>
                <a:spcPts val="600"/>
              </a:spcBef>
              <a:spcAft>
                <a:spcPts val="0"/>
              </a:spcAft>
              <a:buSzPts val="1440"/>
              <a:buChar char="►"/>
              <a:defRPr sz="1800"/>
            </a:lvl3pPr>
            <a:lvl4pPr marL="1828800" lvl="3" indent="-330200" algn="l">
              <a:lnSpc>
                <a:spcPct val="90000"/>
              </a:lnSpc>
              <a:spcBef>
                <a:spcPts val="600"/>
              </a:spcBef>
              <a:spcAft>
                <a:spcPts val="0"/>
              </a:spcAft>
              <a:buSzPts val="1600"/>
              <a:buChar char="►"/>
              <a:defRPr sz="1600"/>
            </a:lvl4pPr>
            <a:lvl5pPr marL="2286000" lvl="4" indent="-330200" algn="l">
              <a:lnSpc>
                <a:spcPct val="90000"/>
              </a:lnSpc>
              <a:spcBef>
                <a:spcPts val="600"/>
              </a:spcBef>
              <a:spcAft>
                <a:spcPts val="0"/>
              </a:spcAft>
              <a:buSzPts val="1600"/>
              <a:buChar char="►"/>
              <a:defRPr sz="1600"/>
            </a:lvl5pPr>
            <a:lvl6pPr marL="2743200" lvl="5" indent="-330200" algn="l">
              <a:lnSpc>
                <a:spcPct val="90000"/>
              </a:lnSpc>
              <a:spcBef>
                <a:spcPts val="600"/>
              </a:spcBef>
              <a:spcAft>
                <a:spcPts val="0"/>
              </a:spcAft>
              <a:buSzPts val="1600"/>
              <a:buChar char="►"/>
              <a:defRPr sz="1600"/>
            </a:lvl6pPr>
            <a:lvl7pPr marL="3200400" lvl="6" indent="-309879" algn="l">
              <a:lnSpc>
                <a:spcPct val="90000"/>
              </a:lnSpc>
              <a:spcBef>
                <a:spcPts val="600"/>
              </a:spcBef>
              <a:spcAft>
                <a:spcPts val="0"/>
              </a:spcAft>
              <a:buSzPts val="1280"/>
              <a:buChar char="►"/>
              <a:defRPr sz="1600"/>
            </a:lvl7pPr>
            <a:lvl8pPr marL="3657600" lvl="7" indent="-330200" algn="l">
              <a:lnSpc>
                <a:spcPct val="90000"/>
              </a:lnSpc>
              <a:spcBef>
                <a:spcPts val="600"/>
              </a:spcBef>
              <a:spcAft>
                <a:spcPts val="0"/>
              </a:spcAft>
              <a:buSzPts val="1600"/>
              <a:buChar char="►"/>
              <a:defRPr sz="1600"/>
            </a:lvl8pPr>
            <a:lvl9pPr marL="4114800" lvl="8" indent="-309879" algn="l">
              <a:lnSpc>
                <a:spcPct val="90000"/>
              </a:lnSpc>
              <a:spcBef>
                <a:spcPts val="600"/>
              </a:spcBef>
              <a:spcAft>
                <a:spcPts val="0"/>
              </a:spcAft>
              <a:buSzPts val="1280"/>
              <a:buChar char="►"/>
              <a:defRPr sz="1600"/>
            </a:lvl9pPr>
          </a:lstStyle>
          <a:p>
            <a:endParaRPr/>
          </a:p>
        </p:txBody>
      </p:sp>
      <p:sp>
        <p:nvSpPr>
          <p:cNvPr id="517" name="Google Shape;517;p6"/>
          <p:cNvSpPr txBox="1">
            <a:spLocks noGrp="1"/>
          </p:cNvSpPr>
          <p:nvPr>
            <p:ph type="body" idx="4"/>
          </p:nvPr>
        </p:nvSpPr>
        <p:spPr>
          <a:xfrm>
            <a:off x="1522413" y="1905000"/>
            <a:ext cx="4416552" cy="762000"/>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0"/>
              </a:spcBef>
              <a:spcAft>
                <a:spcPts val="0"/>
              </a:spcAft>
              <a:buSzPts val="1920"/>
              <a:buNone/>
              <a:defRPr sz="2400" b="0"/>
            </a:lvl1pPr>
            <a:lvl2pPr marL="914400" lvl="1" indent="-228600" algn="l">
              <a:lnSpc>
                <a:spcPct val="90000"/>
              </a:lnSpc>
              <a:spcBef>
                <a:spcPts val="600"/>
              </a:spcBef>
              <a:spcAft>
                <a:spcPts val="0"/>
              </a:spcAft>
              <a:buSzPts val="2000"/>
              <a:buNone/>
              <a:defRPr sz="2000" b="1"/>
            </a:lvl2pPr>
            <a:lvl3pPr marL="1371600" lvl="2" indent="-228600" algn="l">
              <a:lnSpc>
                <a:spcPct val="90000"/>
              </a:lnSpc>
              <a:spcBef>
                <a:spcPts val="600"/>
              </a:spcBef>
              <a:spcAft>
                <a:spcPts val="0"/>
              </a:spcAft>
              <a:buSzPts val="1440"/>
              <a:buNone/>
              <a:defRPr sz="1800" b="1"/>
            </a:lvl3pPr>
            <a:lvl4pPr marL="1828800" lvl="3" indent="-228600" algn="l">
              <a:lnSpc>
                <a:spcPct val="90000"/>
              </a:lnSpc>
              <a:spcBef>
                <a:spcPts val="600"/>
              </a:spcBef>
              <a:spcAft>
                <a:spcPts val="0"/>
              </a:spcAft>
              <a:buSzPts val="1600"/>
              <a:buNone/>
              <a:defRPr sz="1600" b="1"/>
            </a:lvl4pPr>
            <a:lvl5pPr marL="2286000" lvl="4" indent="-228600" algn="l">
              <a:lnSpc>
                <a:spcPct val="90000"/>
              </a:lnSpc>
              <a:spcBef>
                <a:spcPts val="600"/>
              </a:spcBef>
              <a:spcAft>
                <a:spcPts val="0"/>
              </a:spcAft>
              <a:buSzPts val="1600"/>
              <a:buNone/>
              <a:defRPr sz="1600" b="1"/>
            </a:lvl5pPr>
            <a:lvl6pPr marL="2743200" lvl="5" indent="-228600" algn="l">
              <a:lnSpc>
                <a:spcPct val="90000"/>
              </a:lnSpc>
              <a:spcBef>
                <a:spcPts val="600"/>
              </a:spcBef>
              <a:spcAft>
                <a:spcPts val="0"/>
              </a:spcAft>
              <a:buSzPts val="1600"/>
              <a:buNone/>
              <a:defRPr sz="1600" b="1"/>
            </a:lvl6pPr>
            <a:lvl7pPr marL="3200400" lvl="6" indent="-228600" algn="l">
              <a:lnSpc>
                <a:spcPct val="90000"/>
              </a:lnSpc>
              <a:spcBef>
                <a:spcPts val="600"/>
              </a:spcBef>
              <a:spcAft>
                <a:spcPts val="0"/>
              </a:spcAft>
              <a:buSzPts val="1280"/>
              <a:buNone/>
              <a:defRPr sz="1600" b="1"/>
            </a:lvl7pPr>
            <a:lvl8pPr marL="3657600" lvl="7" indent="-228600" algn="l">
              <a:lnSpc>
                <a:spcPct val="90000"/>
              </a:lnSpc>
              <a:spcBef>
                <a:spcPts val="600"/>
              </a:spcBef>
              <a:spcAft>
                <a:spcPts val="0"/>
              </a:spcAft>
              <a:buSzPts val="1600"/>
              <a:buNone/>
              <a:defRPr sz="1600" b="1"/>
            </a:lvl8pPr>
            <a:lvl9pPr marL="4114800" lvl="8" indent="-228600" algn="l">
              <a:lnSpc>
                <a:spcPct val="90000"/>
              </a:lnSpc>
              <a:spcBef>
                <a:spcPts val="600"/>
              </a:spcBef>
              <a:spcAft>
                <a:spcPts val="0"/>
              </a:spcAft>
              <a:buSzPts val="1280"/>
              <a:buNone/>
              <a:defRPr sz="1600" b="1"/>
            </a:lvl9pPr>
          </a:lstStyle>
          <a:p>
            <a:endParaRPr/>
          </a:p>
        </p:txBody>
      </p:sp>
      <p:sp>
        <p:nvSpPr>
          <p:cNvPr id="518" name="Google Shape;518;p6"/>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9"/>
        <p:cNvGrpSpPr/>
        <p:nvPr/>
      </p:nvGrpSpPr>
      <p:grpSpPr>
        <a:xfrm>
          <a:off x="0" y="0"/>
          <a:ext cx="0" cy="0"/>
          <a:chOff x="0" y="0"/>
          <a:chExt cx="0" cy="0"/>
        </a:xfrm>
      </p:grpSpPr>
      <p:grpSp>
        <p:nvGrpSpPr>
          <p:cNvPr id="520" name="Google Shape;520;p7"/>
          <p:cNvGrpSpPr/>
          <p:nvPr/>
        </p:nvGrpSpPr>
        <p:grpSpPr>
          <a:xfrm>
            <a:off x="1522413" y="1514475"/>
            <a:ext cx="10569575" cy="64008"/>
            <a:chOff x="1522413" y="1514475"/>
            <a:chExt cx="10569575" cy="64008"/>
          </a:xfrm>
        </p:grpSpPr>
        <p:sp>
          <p:nvSpPr>
            <p:cNvPr id="521" name="Google Shape;521;p7"/>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2" name="Google Shape;522;p7"/>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3" name="Google Shape;523;p7"/>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4" name="Google Shape;524;p7"/>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5" name="Google Shape;525;p7"/>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6" name="Google Shape;526;p7"/>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7" name="Google Shape;527;p7"/>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8" name="Google Shape;528;p7"/>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9" name="Google Shape;529;p7"/>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0" name="Google Shape;530;p7"/>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1" name="Google Shape;531;p7"/>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2" name="Google Shape;532;p7"/>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3" name="Google Shape;533;p7"/>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4" name="Google Shape;534;p7"/>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5" name="Google Shape;535;p7"/>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6" name="Google Shape;536;p7"/>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7" name="Google Shape;537;p7"/>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8" name="Google Shape;538;p7"/>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9" name="Google Shape;539;p7"/>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0" name="Google Shape;540;p7"/>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1" name="Google Shape;541;p7"/>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2" name="Google Shape;542;p7"/>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3" name="Google Shape;543;p7"/>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4" name="Google Shape;544;p7"/>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5" name="Google Shape;545;p7"/>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6" name="Google Shape;546;p7"/>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7" name="Google Shape;547;p7"/>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8" name="Google Shape;548;p7"/>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9" name="Google Shape;549;p7"/>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0" name="Google Shape;550;p7"/>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1" name="Google Shape;551;p7"/>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2" name="Google Shape;552;p7"/>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3" name="Google Shape;553;p7"/>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4" name="Google Shape;554;p7"/>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5" name="Google Shape;555;p7"/>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6" name="Google Shape;556;p7"/>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7" name="Google Shape;557;p7"/>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8" name="Google Shape;558;p7"/>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9" name="Google Shape;559;p7"/>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0" name="Google Shape;560;p7"/>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1" name="Google Shape;561;p7"/>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2" name="Google Shape;562;p7"/>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3" name="Google Shape;563;p7"/>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4" name="Google Shape;564;p7"/>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5" name="Google Shape;565;p7"/>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6" name="Google Shape;566;p7"/>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7" name="Google Shape;567;p7"/>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8" name="Google Shape;568;p7"/>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9" name="Google Shape;569;p7"/>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0" name="Google Shape;570;p7"/>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1" name="Google Shape;571;p7"/>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2" name="Google Shape;572;p7"/>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3" name="Google Shape;573;p7"/>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4" name="Google Shape;574;p7"/>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5" name="Google Shape;575;p7"/>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6" name="Google Shape;576;p7"/>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7" name="Google Shape;577;p7"/>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8" name="Google Shape;578;p7"/>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9" name="Google Shape;579;p7"/>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0" name="Google Shape;580;p7"/>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1" name="Google Shape;581;p7"/>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2" name="Google Shape;582;p7"/>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3" name="Google Shape;583;p7"/>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4" name="Google Shape;584;p7"/>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5" name="Google Shape;585;p7"/>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6" name="Google Shape;586;p7"/>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7" name="Google Shape;587;p7"/>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8" name="Google Shape;588;p7"/>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9" name="Google Shape;589;p7"/>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0" name="Google Shape;590;p7"/>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1" name="Google Shape;591;p7"/>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2" name="Google Shape;592;p7"/>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3" name="Google Shape;593;p7"/>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4" name="Google Shape;594;p7"/>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595" name="Google Shape;595;p7"/>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6" name="Google Shape;596;p7"/>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7" name="Google Shape;597;p7"/>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98" name="Google Shape;598;p7"/>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9"/>
        <p:cNvGrpSpPr/>
        <p:nvPr/>
      </p:nvGrpSpPr>
      <p:grpSpPr>
        <a:xfrm>
          <a:off x="0" y="0"/>
          <a:ext cx="0" cy="0"/>
          <a:chOff x="0" y="0"/>
          <a:chExt cx="0" cy="0"/>
        </a:xfrm>
      </p:grpSpPr>
      <p:sp>
        <p:nvSpPr>
          <p:cNvPr id="600" name="Google Shape;600;p8"/>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1" name="Google Shape;601;p8"/>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2" name="Google Shape;602;p8"/>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13"/>
        <p:cNvGrpSpPr/>
        <p:nvPr/>
      </p:nvGrpSpPr>
      <p:grpSpPr>
        <a:xfrm>
          <a:off x="0" y="0"/>
          <a:ext cx="0" cy="0"/>
          <a:chOff x="0" y="0"/>
          <a:chExt cx="0" cy="0"/>
        </a:xfrm>
      </p:grpSpPr>
      <p:grpSp>
        <p:nvGrpSpPr>
          <p:cNvPr id="914" name="Google Shape;914;p10"/>
          <p:cNvGrpSpPr/>
          <p:nvPr/>
        </p:nvGrpSpPr>
        <p:grpSpPr>
          <a:xfrm flipH="1">
            <a:off x="1447500" y="1630821"/>
            <a:ext cx="6291028" cy="4575885"/>
            <a:chOff x="4417839" y="1630821"/>
            <a:chExt cx="6291028" cy="4575885"/>
          </a:xfrm>
        </p:grpSpPr>
        <p:grpSp>
          <p:nvGrpSpPr>
            <p:cNvPr id="915" name="Google Shape;915;p10"/>
            <p:cNvGrpSpPr/>
            <p:nvPr/>
          </p:nvGrpSpPr>
          <p:grpSpPr>
            <a:xfrm>
              <a:off x="5414491" y="1630821"/>
              <a:ext cx="5294376" cy="4114800"/>
              <a:chOff x="3310555" y="716546"/>
              <a:chExt cx="5294376" cy="4114800"/>
            </a:xfrm>
          </p:grpSpPr>
          <p:grpSp>
            <p:nvGrpSpPr>
              <p:cNvPr id="916" name="Google Shape;916;p10"/>
              <p:cNvGrpSpPr/>
              <p:nvPr/>
            </p:nvGrpSpPr>
            <p:grpSpPr>
              <a:xfrm flipH="1">
                <a:off x="3310555" y="737968"/>
                <a:ext cx="5294376" cy="54864"/>
                <a:chOff x="1522413" y="1514475"/>
                <a:chExt cx="10569575" cy="64008"/>
              </a:xfrm>
            </p:grpSpPr>
            <p:sp>
              <p:nvSpPr>
                <p:cNvPr id="917" name="Google Shape;917;p10"/>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18" name="Google Shape;918;p10"/>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19" name="Google Shape;919;p10"/>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0" name="Google Shape;920;p10"/>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1" name="Google Shape;921;p10"/>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2" name="Google Shape;922;p10"/>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3" name="Google Shape;923;p10"/>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4" name="Google Shape;924;p10"/>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5" name="Google Shape;925;p10"/>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6" name="Google Shape;926;p10"/>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7" name="Google Shape;927;p10"/>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8" name="Google Shape;928;p10"/>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9" name="Google Shape;929;p10"/>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0" name="Google Shape;930;p10"/>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1" name="Google Shape;931;p10"/>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2" name="Google Shape;932;p10"/>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3" name="Google Shape;933;p10"/>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4" name="Google Shape;934;p10"/>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5" name="Google Shape;935;p10"/>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6" name="Google Shape;936;p10"/>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7" name="Google Shape;937;p10"/>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8" name="Google Shape;938;p10"/>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9" name="Google Shape;939;p10"/>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0" name="Google Shape;940;p10"/>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1" name="Google Shape;941;p10"/>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2" name="Google Shape;942;p10"/>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3" name="Google Shape;943;p10"/>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4" name="Google Shape;944;p10"/>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5" name="Google Shape;945;p10"/>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6" name="Google Shape;946;p10"/>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7" name="Google Shape;947;p10"/>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8" name="Google Shape;948;p10"/>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9" name="Google Shape;949;p10"/>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0" name="Google Shape;950;p10"/>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1" name="Google Shape;951;p10"/>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2" name="Google Shape;952;p10"/>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3" name="Google Shape;953;p10"/>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4" name="Google Shape;954;p10"/>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5" name="Google Shape;955;p10"/>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6" name="Google Shape;956;p10"/>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7" name="Google Shape;957;p10"/>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8" name="Google Shape;958;p10"/>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9" name="Google Shape;959;p10"/>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0" name="Google Shape;960;p10"/>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1" name="Google Shape;961;p10"/>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2" name="Google Shape;962;p10"/>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3" name="Google Shape;963;p10"/>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4" name="Google Shape;964;p10"/>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5" name="Google Shape;965;p10"/>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6" name="Google Shape;966;p10"/>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7" name="Google Shape;967;p10"/>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8" name="Google Shape;968;p10"/>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9" name="Google Shape;969;p10"/>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0" name="Google Shape;970;p10"/>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1" name="Google Shape;971;p10"/>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2" name="Google Shape;972;p10"/>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3" name="Google Shape;973;p10"/>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4" name="Google Shape;974;p10"/>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5" name="Google Shape;975;p10"/>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6" name="Google Shape;976;p10"/>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7" name="Google Shape;977;p10"/>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8" name="Google Shape;978;p10"/>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9" name="Google Shape;979;p10"/>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0" name="Google Shape;980;p10"/>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1" name="Google Shape;981;p10"/>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2" name="Google Shape;982;p10"/>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3" name="Google Shape;983;p10"/>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4" name="Google Shape;984;p10"/>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5" name="Google Shape;985;p10"/>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6" name="Google Shape;986;p10"/>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7" name="Google Shape;987;p10"/>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8" name="Google Shape;988;p10"/>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9" name="Google Shape;989;p10"/>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0" name="Google Shape;990;p10"/>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nvGrpSpPr>
              <p:cNvPr id="991" name="Google Shape;991;p10"/>
              <p:cNvGrpSpPr/>
              <p:nvPr/>
            </p:nvGrpSpPr>
            <p:grpSpPr>
              <a:xfrm rot="-5400000" flipH="1">
                <a:off x="6492229" y="2755658"/>
                <a:ext cx="4114800" cy="36576"/>
                <a:chOff x="1522413" y="1514475"/>
                <a:chExt cx="10569575" cy="64008"/>
              </a:xfrm>
            </p:grpSpPr>
            <p:sp>
              <p:nvSpPr>
                <p:cNvPr id="992" name="Google Shape;992;p10"/>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3" name="Google Shape;993;p10"/>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4" name="Google Shape;994;p10"/>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5" name="Google Shape;995;p10"/>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6" name="Google Shape;996;p10"/>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7" name="Google Shape;997;p10"/>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8" name="Google Shape;998;p10"/>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9" name="Google Shape;999;p10"/>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0" name="Google Shape;1000;p10"/>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1" name="Google Shape;1001;p10"/>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2" name="Google Shape;1002;p10"/>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3" name="Google Shape;1003;p10"/>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4" name="Google Shape;1004;p10"/>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5" name="Google Shape;1005;p10"/>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6" name="Google Shape;1006;p10"/>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7" name="Google Shape;1007;p10"/>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8" name="Google Shape;1008;p10"/>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9" name="Google Shape;1009;p10"/>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0" name="Google Shape;1010;p10"/>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1" name="Google Shape;1011;p10"/>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2" name="Google Shape;1012;p10"/>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3" name="Google Shape;1013;p10"/>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4" name="Google Shape;1014;p10"/>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5" name="Google Shape;1015;p10"/>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6" name="Google Shape;1016;p10"/>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7" name="Google Shape;1017;p10"/>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8" name="Google Shape;1018;p10"/>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9" name="Google Shape;1019;p10"/>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0" name="Google Shape;1020;p10"/>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1" name="Google Shape;1021;p10"/>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2" name="Google Shape;1022;p10"/>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3" name="Google Shape;1023;p10"/>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4" name="Google Shape;1024;p10"/>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5" name="Google Shape;1025;p10"/>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6" name="Google Shape;1026;p10"/>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7" name="Google Shape;1027;p10"/>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8" name="Google Shape;1028;p10"/>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9" name="Google Shape;1029;p10"/>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0" name="Google Shape;1030;p10"/>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1" name="Google Shape;1031;p10"/>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2" name="Google Shape;1032;p10"/>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3" name="Google Shape;1033;p10"/>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4" name="Google Shape;1034;p10"/>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5" name="Google Shape;1035;p10"/>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6" name="Google Shape;1036;p10"/>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7" name="Google Shape;1037;p10"/>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8" name="Google Shape;1038;p10"/>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9" name="Google Shape;1039;p10"/>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0" name="Google Shape;1040;p10"/>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1" name="Google Shape;1041;p10"/>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2" name="Google Shape;1042;p10"/>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3" name="Google Shape;1043;p10"/>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4" name="Google Shape;1044;p10"/>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5" name="Google Shape;1045;p10"/>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6" name="Google Shape;1046;p10"/>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7" name="Google Shape;1047;p10"/>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8" name="Google Shape;1048;p10"/>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9" name="Google Shape;1049;p10"/>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0" name="Google Shape;1050;p10"/>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1" name="Google Shape;1051;p10"/>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2" name="Google Shape;1052;p10"/>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3" name="Google Shape;1053;p10"/>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4" name="Google Shape;1054;p10"/>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5" name="Google Shape;1055;p10"/>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6" name="Google Shape;1056;p10"/>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7" name="Google Shape;1057;p10"/>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8" name="Google Shape;1058;p10"/>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9" name="Google Shape;1059;p10"/>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0" name="Google Shape;1060;p10"/>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1" name="Google Shape;1061;p10"/>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2" name="Google Shape;1062;p10"/>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3" name="Google Shape;1063;p10"/>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4" name="Google Shape;1064;p10"/>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5" name="Google Shape;1065;p10"/>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grpSp>
          <p:nvGrpSpPr>
            <p:cNvPr id="1066" name="Google Shape;1066;p10"/>
            <p:cNvGrpSpPr/>
            <p:nvPr/>
          </p:nvGrpSpPr>
          <p:grpSpPr>
            <a:xfrm rot="10800000">
              <a:off x="4417839" y="2091906"/>
              <a:ext cx="5294376" cy="4114800"/>
              <a:chOff x="3310555" y="716546"/>
              <a:chExt cx="5294376" cy="4114800"/>
            </a:xfrm>
          </p:grpSpPr>
          <p:grpSp>
            <p:nvGrpSpPr>
              <p:cNvPr id="1067" name="Google Shape;1067;p10"/>
              <p:cNvGrpSpPr/>
              <p:nvPr/>
            </p:nvGrpSpPr>
            <p:grpSpPr>
              <a:xfrm flipH="1">
                <a:off x="3310555" y="737968"/>
                <a:ext cx="5294376" cy="54864"/>
                <a:chOff x="1522413" y="1514475"/>
                <a:chExt cx="10569575" cy="64008"/>
              </a:xfrm>
            </p:grpSpPr>
            <p:sp>
              <p:nvSpPr>
                <p:cNvPr id="1068" name="Google Shape;1068;p10"/>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9" name="Google Shape;1069;p10"/>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0" name="Google Shape;1070;p10"/>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1" name="Google Shape;1071;p10"/>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2" name="Google Shape;1072;p10"/>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3" name="Google Shape;1073;p10"/>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4" name="Google Shape;1074;p10"/>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5" name="Google Shape;1075;p10"/>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6" name="Google Shape;1076;p10"/>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7" name="Google Shape;1077;p10"/>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8" name="Google Shape;1078;p10"/>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9" name="Google Shape;1079;p10"/>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0" name="Google Shape;1080;p10"/>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1" name="Google Shape;1081;p10"/>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2" name="Google Shape;1082;p10"/>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3" name="Google Shape;1083;p10"/>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4" name="Google Shape;1084;p10"/>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5" name="Google Shape;1085;p10"/>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6" name="Google Shape;1086;p10"/>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7" name="Google Shape;1087;p10"/>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8" name="Google Shape;1088;p10"/>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9" name="Google Shape;1089;p10"/>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0" name="Google Shape;1090;p10"/>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1" name="Google Shape;1091;p10"/>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2" name="Google Shape;1092;p10"/>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3" name="Google Shape;1093;p10"/>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4" name="Google Shape;1094;p10"/>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5" name="Google Shape;1095;p10"/>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6" name="Google Shape;1096;p10"/>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7" name="Google Shape;1097;p10"/>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8" name="Google Shape;1098;p10"/>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9" name="Google Shape;1099;p10"/>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0" name="Google Shape;1100;p10"/>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1" name="Google Shape;1101;p10"/>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2" name="Google Shape;1102;p10"/>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3" name="Google Shape;1103;p10"/>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4" name="Google Shape;1104;p10"/>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5" name="Google Shape;1105;p10"/>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6" name="Google Shape;1106;p10"/>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7" name="Google Shape;1107;p10"/>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8" name="Google Shape;1108;p10"/>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9" name="Google Shape;1109;p10"/>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0" name="Google Shape;1110;p10"/>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1" name="Google Shape;1111;p10"/>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2" name="Google Shape;1112;p10"/>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3" name="Google Shape;1113;p10"/>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4" name="Google Shape;1114;p10"/>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5" name="Google Shape;1115;p10"/>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6" name="Google Shape;1116;p10"/>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7" name="Google Shape;1117;p10"/>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8" name="Google Shape;1118;p10"/>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9" name="Google Shape;1119;p10"/>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0" name="Google Shape;1120;p10"/>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1" name="Google Shape;1121;p10"/>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2" name="Google Shape;1122;p10"/>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3" name="Google Shape;1123;p10"/>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4" name="Google Shape;1124;p10"/>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5" name="Google Shape;1125;p10"/>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6" name="Google Shape;1126;p10"/>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7" name="Google Shape;1127;p10"/>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8" name="Google Shape;1128;p10"/>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9" name="Google Shape;1129;p10"/>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0" name="Google Shape;1130;p10"/>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1" name="Google Shape;1131;p10"/>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2" name="Google Shape;1132;p10"/>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3" name="Google Shape;1133;p10"/>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4" name="Google Shape;1134;p10"/>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5" name="Google Shape;1135;p10"/>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6" name="Google Shape;1136;p10"/>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7" name="Google Shape;1137;p10"/>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8" name="Google Shape;1138;p10"/>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9" name="Google Shape;1139;p10"/>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0" name="Google Shape;1140;p10"/>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1" name="Google Shape;1141;p10"/>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nvGrpSpPr>
              <p:cNvPr id="1142" name="Google Shape;1142;p10"/>
              <p:cNvGrpSpPr/>
              <p:nvPr/>
            </p:nvGrpSpPr>
            <p:grpSpPr>
              <a:xfrm rot="-5400000" flipH="1">
                <a:off x="6492229" y="2755658"/>
                <a:ext cx="4114800" cy="36576"/>
                <a:chOff x="1522413" y="1514475"/>
                <a:chExt cx="10569575" cy="64008"/>
              </a:xfrm>
            </p:grpSpPr>
            <p:sp>
              <p:nvSpPr>
                <p:cNvPr id="1143" name="Google Shape;1143;p10"/>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4" name="Google Shape;1144;p10"/>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5" name="Google Shape;1145;p10"/>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6" name="Google Shape;1146;p10"/>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7" name="Google Shape;1147;p10"/>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8" name="Google Shape;1148;p10"/>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9" name="Google Shape;1149;p10"/>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0" name="Google Shape;1150;p10"/>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1" name="Google Shape;1151;p10"/>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2" name="Google Shape;1152;p10"/>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3" name="Google Shape;1153;p10"/>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4" name="Google Shape;1154;p10"/>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5" name="Google Shape;1155;p10"/>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6" name="Google Shape;1156;p10"/>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7" name="Google Shape;1157;p10"/>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8" name="Google Shape;1158;p10"/>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9" name="Google Shape;1159;p10"/>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0" name="Google Shape;1160;p10"/>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1" name="Google Shape;1161;p10"/>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2" name="Google Shape;1162;p10"/>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3" name="Google Shape;1163;p10"/>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4" name="Google Shape;1164;p10"/>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5" name="Google Shape;1165;p10"/>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6" name="Google Shape;1166;p10"/>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7" name="Google Shape;1167;p10"/>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8" name="Google Shape;1168;p10"/>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9" name="Google Shape;1169;p10"/>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0" name="Google Shape;1170;p10"/>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1" name="Google Shape;1171;p10"/>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2" name="Google Shape;1172;p10"/>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3" name="Google Shape;1173;p10"/>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4" name="Google Shape;1174;p10"/>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5" name="Google Shape;1175;p10"/>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6" name="Google Shape;1176;p10"/>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7" name="Google Shape;1177;p10"/>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8" name="Google Shape;1178;p10"/>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9" name="Google Shape;1179;p10"/>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0" name="Google Shape;1180;p10"/>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1" name="Google Shape;1181;p10"/>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2" name="Google Shape;1182;p10"/>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3" name="Google Shape;1183;p10"/>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4" name="Google Shape;1184;p10"/>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5" name="Google Shape;1185;p10"/>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6" name="Google Shape;1186;p10"/>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7" name="Google Shape;1187;p10"/>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8" name="Google Shape;1188;p10"/>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9" name="Google Shape;1189;p10"/>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0" name="Google Shape;1190;p10"/>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1" name="Google Shape;1191;p10"/>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2" name="Google Shape;1192;p10"/>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3" name="Google Shape;1193;p10"/>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4" name="Google Shape;1194;p10"/>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5" name="Google Shape;1195;p10"/>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6" name="Google Shape;1196;p10"/>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7" name="Google Shape;1197;p10"/>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8" name="Google Shape;1198;p10"/>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9" name="Google Shape;1199;p10"/>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0" name="Google Shape;1200;p10"/>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1" name="Google Shape;1201;p10"/>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2" name="Google Shape;1202;p10"/>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3" name="Google Shape;1203;p10"/>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4" name="Google Shape;1204;p10"/>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5" name="Google Shape;1205;p10"/>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6" name="Google Shape;1206;p10"/>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7" name="Google Shape;1207;p10"/>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8" name="Google Shape;1208;p10"/>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9" name="Google Shape;1209;p10"/>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0" name="Google Shape;1210;p10"/>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1" name="Google Shape;1211;p10"/>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2" name="Google Shape;1212;p10"/>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3" name="Google Shape;1213;p10"/>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4" name="Google Shape;1214;p10"/>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5" name="Google Shape;1215;p10"/>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6" name="Google Shape;1216;p10"/>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grpSp>
      <p:sp>
        <p:nvSpPr>
          <p:cNvPr id="1217" name="Google Shape;1217;p10"/>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8" name="Google Shape;1218;p10"/>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9" name="Google Shape;1219;p10"/>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20" name="Google Shape;1220;p10"/>
          <p:cNvSpPr>
            <a:spLocks noGrp="1"/>
          </p:cNvSpPr>
          <p:nvPr>
            <p:ph type="pic" idx="2"/>
          </p:nvPr>
        </p:nvSpPr>
        <p:spPr>
          <a:xfrm>
            <a:off x="1745838" y="1884311"/>
            <a:ext cx="5669280" cy="4041648"/>
          </a:xfrm>
          <a:prstGeom prst="rect">
            <a:avLst/>
          </a:prstGeom>
          <a:solidFill>
            <a:schemeClr val="lt1"/>
          </a:solidFill>
          <a:ln>
            <a:noFill/>
          </a:ln>
        </p:spPr>
        <p:txBody>
          <a:bodyPr spcFirstLastPara="1" wrap="square" lIns="91425" tIns="914400" rIns="91425" bIns="45700" anchor="t" anchorCtr="0">
            <a:noAutofit/>
          </a:bodyPr>
          <a:lstStyle>
            <a:lvl1pPr marR="0" lvl="0" algn="ctr" rtl="0">
              <a:lnSpc>
                <a:spcPct val="90000"/>
              </a:lnSpc>
              <a:spcBef>
                <a:spcPts val="1800"/>
              </a:spcBef>
              <a:spcAft>
                <a:spcPts val="0"/>
              </a:spcAft>
              <a:buClr>
                <a:schemeClr val="dk2"/>
              </a:buClr>
              <a:buSzPts val="1920"/>
              <a:buFont typeface="Noto Sans Symbols"/>
              <a:buNone/>
              <a:defRPr sz="24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600"/>
              </a:spcBef>
              <a:spcAft>
                <a:spcPts val="0"/>
              </a:spcAft>
              <a:buClr>
                <a:schemeClr val="dk2"/>
              </a:buClr>
              <a:buSzPts val="2800"/>
              <a:buFont typeface="Noto Sans Symbols"/>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600"/>
              </a:spcBef>
              <a:spcAft>
                <a:spcPts val="0"/>
              </a:spcAft>
              <a:buClr>
                <a:schemeClr val="dk2"/>
              </a:buClr>
              <a:buSzPts val="1920"/>
              <a:buFont typeface="Noto Sans Symbols"/>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600"/>
              </a:spcBef>
              <a:spcAft>
                <a:spcPts val="0"/>
              </a:spcAft>
              <a:buClr>
                <a:schemeClr val="dk2"/>
              </a:buClr>
              <a:buSzPts val="2000"/>
              <a:buFont typeface="Noto Sans Symbols"/>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600"/>
              </a:spcBef>
              <a:spcAft>
                <a:spcPts val="0"/>
              </a:spcAft>
              <a:buClr>
                <a:schemeClr val="dk2"/>
              </a:buClr>
              <a:buSzPts val="2000"/>
              <a:buFont typeface="Noto Sans Symbols"/>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600"/>
              </a:spcBef>
              <a:spcAft>
                <a:spcPts val="0"/>
              </a:spcAft>
              <a:buClr>
                <a:schemeClr val="dk2"/>
              </a:buClr>
              <a:buSzPts val="2000"/>
              <a:buFont typeface="Noto Sans Symbols"/>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600"/>
              </a:spcBef>
              <a:spcAft>
                <a:spcPts val="0"/>
              </a:spcAft>
              <a:buClr>
                <a:schemeClr val="dk2"/>
              </a:buClr>
              <a:buSzPts val="1600"/>
              <a:buFont typeface="Noto Sans Symbols"/>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600"/>
              </a:spcBef>
              <a:spcAft>
                <a:spcPts val="0"/>
              </a:spcAft>
              <a:buClr>
                <a:schemeClr val="dk2"/>
              </a:buClr>
              <a:buSzPts val="2000"/>
              <a:buFont typeface="Noto Sans Symbols"/>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600"/>
              </a:spcBef>
              <a:spcAft>
                <a:spcPts val="0"/>
              </a:spcAft>
              <a:buClr>
                <a:schemeClr val="dk2"/>
              </a:buClr>
              <a:buSzPts val="1600"/>
              <a:buFont typeface="Noto Sans Symbols"/>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1221" name="Google Shape;1221;p10"/>
          <p:cNvSpPr txBox="1">
            <a:spLocks noGrp="1"/>
          </p:cNvSpPr>
          <p:nvPr>
            <p:ph type="body" idx="1"/>
          </p:nvPr>
        </p:nvSpPr>
        <p:spPr>
          <a:xfrm>
            <a:off x="7905959" y="3411748"/>
            <a:ext cx="2743200" cy="27432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200"/>
              </a:spcBef>
              <a:spcAft>
                <a:spcPts val="0"/>
              </a:spcAft>
              <a:buSzPts val="1280"/>
              <a:buNone/>
              <a:defRPr sz="1600"/>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600"/>
              </a:spcBef>
              <a:spcAft>
                <a:spcPts val="0"/>
              </a:spcAft>
              <a:buSzPts val="800"/>
              <a:buNone/>
              <a:defRPr sz="1000"/>
            </a:lvl3pPr>
            <a:lvl4pPr marL="1828800" lvl="3" indent="-228600" algn="l">
              <a:lnSpc>
                <a:spcPct val="90000"/>
              </a:lnSpc>
              <a:spcBef>
                <a:spcPts val="600"/>
              </a:spcBef>
              <a:spcAft>
                <a:spcPts val="0"/>
              </a:spcAft>
              <a:buSzPts val="900"/>
              <a:buNone/>
              <a:defRPr sz="900"/>
            </a:lvl4pPr>
            <a:lvl5pPr marL="2286000" lvl="4" indent="-228600" algn="l">
              <a:lnSpc>
                <a:spcPct val="90000"/>
              </a:lnSpc>
              <a:spcBef>
                <a:spcPts val="600"/>
              </a:spcBef>
              <a:spcAft>
                <a:spcPts val="0"/>
              </a:spcAft>
              <a:buSzPts val="900"/>
              <a:buNone/>
              <a:defRPr sz="900"/>
            </a:lvl5pPr>
            <a:lvl6pPr marL="2743200" lvl="5" indent="-228600" algn="l">
              <a:lnSpc>
                <a:spcPct val="90000"/>
              </a:lnSpc>
              <a:spcBef>
                <a:spcPts val="600"/>
              </a:spcBef>
              <a:spcAft>
                <a:spcPts val="0"/>
              </a:spcAft>
              <a:buSzPts val="900"/>
              <a:buNone/>
              <a:defRPr sz="900"/>
            </a:lvl6pPr>
            <a:lvl7pPr marL="3200400" lvl="6" indent="-228600" algn="l">
              <a:lnSpc>
                <a:spcPct val="90000"/>
              </a:lnSpc>
              <a:spcBef>
                <a:spcPts val="600"/>
              </a:spcBef>
              <a:spcAft>
                <a:spcPts val="0"/>
              </a:spcAft>
              <a:buSzPts val="720"/>
              <a:buNone/>
              <a:defRPr sz="900"/>
            </a:lvl7pPr>
            <a:lvl8pPr marL="3657600" lvl="7" indent="-228600" algn="l">
              <a:lnSpc>
                <a:spcPct val="90000"/>
              </a:lnSpc>
              <a:spcBef>
                <a:spcPts val="600"/>
              </a:spcBef>
              <a:spcAft>
                <a:spcPts val="0"/>
              </a:spcAft>
              <a:buSzPts val="900"/>
              <a:buNone/>
              <a:defRPr sz="900"/>
            </a:lvl8pPr>
            <a:lvl9pPr marL="4114800" lvl="8" indent="-228600" algn="l">
              <a:lnSpc>
                <a:spcPct val="90000"/>
              </a:lnSpc>
              <a:spcBef>
                <a:spcPts val="600"/>
              </a:spcBef>
              <a:spcAft>
                <a:spcPts val="0"/>
              </a:spcAft>
              <a:buSzPts val="720"/>
              <a:buNone/>
              <a:defRPr sz="900"/>
            </a:lvl9pPr>
          </a:lstStyle>
          <a:p>
            <a:endParaRPr/>
          </a:p>
        </p:txBody>
      </p:sp>
      <p:sp>
        <p:nvSpPr>
          <p:cNvPr id="1222" name="Google Shape;1222;p10"/>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200"/>
              <a:buFont typeface="Century Gothic"/>
              <a:buNone/>
              <a:defRPr sz="32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23"/>
        <p:cNvGrpSpPr/>
        <p:nvPr/>
      </p:nvGrpSpPr>
      <p:grpSpPr>
        <a:xfrm>
          <a:off x="0" y="0"/>
          <a:ext cx="0" cy="0"/>
          <a:chOff x="0" y="0"/>
          <a:chExt cx="0" cy="0"/>
        </a:xfrm>
      </p:grpSpPr>
      <p:grpSp>
        <p:nvGrpSpPr>
          <p:cNvPr id="1224" name="Google Shape;1224;p11"/>
          <p:cNvGrpSpPr/>
          <p:nvPr/>
        </p:nvGrpSpPr>
        <p:grpSpPr>
          <a:xfrm>
            <a:off x="1522413" y="1514475"/>
            <a:ext cx="10569575" cy="64008"/>
            <a:chOff x="1522413" y="1514475"/>
            <a:chExt cx="10569575" cy="64008"/>
          </a:xfrm>
        </p:grpSpPr>
        <p:sp>
          <p:nvSpPr>
            <p:cNvPr id="1225" name="Google Shape;1225;p11"/>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26" name="Google Shape;1226;p11"/>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27" name="Google Shape;1227;p11"/>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28" name="Google Shape;1228;p11"/>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29" name="Google Shape;1229;p11"/>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0" name="Google Shape;1230;p11"/>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1" name="Google Shape;1231;p11"/>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2" name="Google Shape;1232;p11"/>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3" name="Google Shape;1233;p11"/>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4" name="Google Shape;1234;p11"/>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5" name="Google Shape;1235;p11"/>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6" name="Google Shape;1236;p11"/>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7" name="Google Shape;1237;p11"/>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8" name="Google Shape;1238;p11"/>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9" name="Google Shape;1239;p11"/>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0" name="Google Shape;1240;p11"/>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1" name="Google Shape;1241;p11"/>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2" name="Google Shape;1242;p11"/>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3" name="Google Shape;1243;p11"/>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4" name="Google Shape;1244;p11"/>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5" name="Google Shape;1245;p11"/>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6" name="Google Shape;1246;p11"/>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7" name="Google Shape;1247;p11"/>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8" name="Google Shape;1248;p11"/>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9" name="Google Shape;1249;p11"/>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0" name="Google Shape;1250;p11"/>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1" name="Google Shape;1251;p11"/>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2" name="Google Shape;1252;p11"/>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3" name="Google Shape;1253;p11"/>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4" name="Google Shape;1254;p11"/>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5" name="Google Shape;1255;p11"/>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6" name="Google Shape;1256;p11"/>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7" name="Google Shape;1257;p11"/>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8" name="Google Shape;1258;p11"/>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9" name="Google Shape;1259;p11"/>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0" name="Google Shape;1260;p11"/>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1" name="Google Shape;1261;p11"/>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2" name="Google Shape;1262;p11"/>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3" name="Google Shape;1263;p11"/>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4" name="Google Shape;1264;p11"/>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5" name="Google Shape;1265;p11"/>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6" name="Google Shape;1266;p11"/>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7" name="Google Shape;1267;p11"/>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8" name="Google Shape;1268;p11"/>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9" name="Google Shape;1269;p11"/>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0" name="Google Shape;1270;p11"/>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1" name="Google Shape;1271;p11"/>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2" name="Google Shape;1272;p11"/>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3" name="Google Shape;1273;p11"/>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4" name="Google Shape;1274;p11"/>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5" name="Google Shape;1275;p11"/>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6" name="Google Shape;1276;p11"/>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7" name="Google Shape;1277;p11"/>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8" name="Google Shape;1278;p11"/>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9" name="Google Shape;1279;p11"/>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0" name="Google Shape;1280;p11"/>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1" name="Google Shape;1281;p11"/>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2" name="Google Shape;1282;p11"/>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3" name="Google Shape;1283;p11"/>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4" name="Google Shape;1284;p11"/>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5" name="Google Shape;1285;p11"/>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6" name="Google Shape;1286;p11"/>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7" name="Google Shape;1287;p11"/>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8" name="Google Shape;1288;p11"/>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9" name="Google Shape;1289;p11"/>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0" name="Google Shape;1290;p11"/>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1" name="Google Shape;1291;p11"/>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2" name="Google Shape;1292;p11"/>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3" name="Google Shape;1293;p11"/>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4" name="Google Shape;1294;p11"/>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5" name="Google Shape;1295;p11"/>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6" name="Google Shape;1296;p11"/>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7" name="Google Shape;1297;p11"/>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8" name="Google Shape;1298;p11"/>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1299" name="Google Shape;1299;p11"/>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0" name="Google Shape;1300;p11"/>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1" name="Google Shape;1301;p11"/>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302" name="Google Shape;1302;p11"/>
          <p:cNvSpPr txBox="1">
            <a:spLocks noGrp="1"/>
          </p:cNvSpPr>
          <p:nvPr>
            <p:ph type="body" idx="1"/>
          </p:nvPr>
        </p:nvSpPr>
        <p:spPr>
          <a:xfrm rot="5400000">
            <a:off x="3960814" y="-533400"/>
            <a:ext cx="4267200" cy="9144000"/>
          </a:xfrm>
          <a:prstGeom prst="rect">
            <a:avLst/>
          </a:prstGeom>
          <a:noFill/>
          <a:ln>
            <a:noFill/>
          </a:ln>
        </p:spPr>
        <p:txBody>
          <a:bodyPr spcFirstLastPara="1" wrap="square" lIns="91425" tIns="45700" rIns="91425" bIns="45700" anchor="t" anchorCtr="0">
            <a:noAutofit/>
          </a:bodyPr>
          <a:lstStyle>
            <a:lvl1pPr marL="457200" lvl="0" indent="-320040" algn="l">
              <a:lnSpc>
                <a:spcPct val="90000"/>
              </a:lnSpc>
              <a:spcBef>
                <a:spcPts val="1800"/>
              </a:spcBef>
              <a:spcAft>
                <a:spcPts val="0"/>
              </a:spcAft>
              <a:buSzPts val="1440"/>
              <a:buChar char="►"/>
              <a:defRPr/>
            </a:lvl1pPr>
            <a:lvl2pPr marL="914400" lvl="1" indent="-342900" algn="l">
              <a:lnSpc>
                <a:spcPct val="90000"/>
              </a:lnSpc>
              <a:spcBef>
                <a:spcPts val="600"/>
              </a:spcBef>
              <a:spcAft>
                <a:spcPts val="0"/>
              </a:spcAft>
              <a:buSzPts val="1800"/>
              <a:buChar char="►"/>
              <a:defRPr/>
            </a:lvl2pPr>
            <a:lvl3pPr marL="1371600" lvl="2" indent="-320039" algn="l">
              <a:lnSpc>
                <a:spcPct val="90000"/>
              </a:lnSpc>
              <a:spcBef>
                <a:spcPts val="600"/>
              </a:spcBef>
              <a:spcAft>
                <a:spcPts val="0"/>
              </a:spcAft>
              <a:buSzPts val="1440"/>
              <a:buChar char="►"/>
              <a:defRPr/>
            </a:lvl3pPr>
            <a:lvl4pPr marL="1828800" lvl="3" indent="-342900" algn="l">
              <a:lnSpc>
                <a:spcPct val="90000"/>
              </a:lnSpc>
              <a:spcBef>
                <a:spcPts val="600"/>
              </a:spcBef>
              <a:spcAft>
                <a:spcPts val="0"/>
              </a:spcAft>
              <a:buSzPts val="1800"/>
              <a:buChar char="►"/>
              <a:defRPr/>
            </a:lvl4pPr>
            <a:lvl5pPr marL="2286000" lvl="4" indent="-330200" algn="l">
              <a:lnSpc>
                <a:spcPct val="90000"/>
              </a:lnSpc>
              <a:spcBef>
                <a:spcPts val="600"/>
              </a:spcBef>
              <a:spcAft>
                <a:spcPts val="0"/>
              </a:spcAft>
              <a:buSzPts val="1600"/>
              <a:buChar char="►"/>
              <a:defRPr/>
            </a:lvl5pPr>
            <a:lvl6pPr marL="2743200" lvl="5" indent="-330200" algn="l">
              <a:lnSpc>
                <a:spcPct val="90000"/>
              </a:lnSpc>
              <a:spcBef>
                <a:spcPts val="600"/>
              </a:spcBef>
              <a:spcAft>
                <a:spcPts val="0"/>
              </a:spcAft>
              <a:buSzPts val="1600"/>
              <a:buChar char="►"/>
              <a:defRPr/>
            </a:lvl6pPr>
            <a:lvl7pPr marL="3200400" lvl="6" indent="-309879" algn="l">
              <a:lnSpc>
                <a:spcPct val="90000"/>
              </a:lnSpc>
              <a:spcBef>
                <a:spcPts val="600"/>
              </a:spcBef>
              <a:spcAft>
                <a:spcPts val="0"/>
              </a:spcAft>
              <a:buSzPts val="1280"/>
              <a:buChar char="►"/>
              <a:defRPr/>
            </a:lvl7pPr>
            <a:lvl8pPr marL="3657600" lvl="7" indent="-330200" algn="l">
              <a:lnSpc>
                <a:spcPct val="90000"/>
              </a:lnSpc>
              <a:spcBef>
                <a:spcPts val="600"/>
              </a:spcBef>
              <a:spcAft>
                <a:spcPts val="0"/>
              </a:spcAft>
              <a:buSzPts val="1600"/>
              <a:buChar char="►"/>
              <a:defRPr/>
            </a:lvl8pPr>
            <a:lvl9pPr marL="4114800" lvl="8" indent="-309879" algn="l">
              <a:lnSpc>
                <a:spcPct val="90000"/>
              </a:lnSpc>
              <a:spcBef>
                <a:spcPts val="600"/>
              </a:spcBef>
              <a:spcAft>
                <a:spcPts val="0"/>
              </a:spcAft>
              <a:buSzPts val="1280"/>
              <a:buChar char="►"/>
              <a:defRPr/>
            </a:lvl9pPr>
          </a:lstStyle>
          <a:p>
            <a:endParaRPr/>
          </a:p>
        </p:txBody>
      </p:sp>
      <p:sp>
        <p:nvSpPr>
          <p:cNvPr id="1303" name="Google Shape;1303;p11"/>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04"/>
        <p:cNvGrpSpPr/>
        <p:nvPr/>
      </p:nvGrpSpPr>
      <p:grpSpPr>
        <a:xfrm>
          <a:off x="0" y="0"/>
          <a:ext cx="0" cy="0"/>
          <a:chOff x="0" y="0"/>
          <a:chExt cx="0" cy="0"/>
        </a:xfrm>
      </p:grpSpPr>
      <p:grpSp>
        <p:nvGrpSpPr>
          <p:cNvPr id="1305" name="Google Shape;1305;p12"/>
          <p:cNvGrpSpPr/>
          <p:nvPr/>
        </p:nvGrpSpPr>
        <p:grpSpPr>
          <a:xfrm rot="5400000">
            <a:off x="6864412" y="3472598"/>
            <a:ext cx="6492240" cy="64008"/>
            <a:chOff x="1522413" y="1514475"/>
            <a:chExt cx="10569575" cy="64008"/>
          </a:xfrm>
        </p:grpSpPr>
        <p:sp>
          <p:nvSpPr>
            <p:cNvPr id="1306" name="Google Shape;1306;p12"/>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07" name="Google Shape;1307;p12"/>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08" name="Google Shape;1308;p12"/>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09" name="Google Shape;1309;p12"/>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0" name="Google Shape;1310;p12"/>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1" name="Google Shape;1311;p12"/>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2" name="Google Shape;1312;p12"/>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3" name="Google Shape;1313;p12"/>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4" name="Google Shape;1314;p12"/>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5" name="Google Shape;1315;p12"/>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6" name="Google Shape;1316;p12"/>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7" name="Google Shape;1317;p12"/>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8" name="Google Shape;1318;p12"/>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9" name="Google Shape;1319;p12"/>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0" name="Google Shape;1320;p12"/>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1" name="Google Shape;1321;p12"/>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2" name="Google Shape;1322;p12"/>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3" name="Google Shape;1323;p12"/>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4" name="Google Shape;1324;p12"/>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5" name="Google Shape;1325;p12"/>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6" name="Google Shape;1326;p12"/>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7" name="Google Shape;1327;p12"/>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8" name="Google Shape;1328;p12"/>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9" name="Google Shape;1329;p12"/>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0" name="Google Shape;1330;p12"/>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1" name="Google Shape;1331;p12"/>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2" name="Google Shape;1332;p12"/>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3" name="Google Shape;1333;p12"/>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4" name="Google Shape;1334;p12"/>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5" name="Google Shape;1335;p12"/>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6" name="Google Shape;1336;p12"/>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7" name="Google Shape;1337;p12"/>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8" name="Google Shape;1338;p12"/>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9" name="Google Shape;1339;p12"/>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0" name="Google Shape;1340;p12"/>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1" name="Google Shape;1341;p12"/>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2" name="Google Shape;1342;p12"/>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3" name="Google Shape;1343;p12"/>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4" name="Google Shape;1344;p12"/>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5" name="Google Shape;1345;p12"/>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6" name="Google Shape;1346;p12"/>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7" name="Google Shape;1347;p12"/>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8" name="Google Shape;1348;p12"/>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9" name="Google Shape;1349;p12"/>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0" name="Google Shape;1350;p12"/>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1" name="Google Shape;1351;p12"/>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2" name="Google Shape;1352;p12"/>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3" name="Google Shape;1353;p12"/>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4" name="Google Shape;1354;p12"/>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5" name="Google Shape;1355;p12"/>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6" name="Google Shape;1356;p12"/>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7" name="Google Shape;1357;p12"/>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8" name="Google Shape;1358;p12"/>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9" name="Google Shape;1359;p12"/>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0" name="Google Shape;1360;p12"/>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1" name="Google Shape;1361;p12"/>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2" name="Google Shape;1362;p12"/>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3" name="Google Shape;1363;p12"/>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4" name="Google Shape;1364;p12"/>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5" name="Google Shape;1365;p12"/>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6" name="Google Shape;1366;p12"/>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7" name="Google Shape;1367;p12"/>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8" name="Google Shape;1368;p12"/>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9" name="Google Shape;1369;p12"/>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0" name="Google Shape;1370;p12"/>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1" name="Google Shape;1371;p12"/>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2" name="Google Shape;1372;p12"/>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3" name="Google Shape;1373;p12"/>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4" name="Google Shape;1374;p12"/>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5" name="Google Shape;1375;p12"/>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6" name="Google Shape;1376;p12"/>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7" name="Google Shape;1377;p12"/>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8" name="Google Shape;1378;p12"/>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9" name="Google Shape;1379;p12"/>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1380" name="Google Shape;1380;p12"/>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1" name="Google Shape;1381;p12"/>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2" name="Google Shape;1382;p12"/>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383" name="Google Shape;1383;p12"/>
          <p:cNvSpPr txBox="1">
            <a:spLocks noGrp="1"/>
          </p:cNvSpPr>
          <p:nvPr>
            <p:ph type="body" idx="1"/>
          </p:nvPr>
        </p:nvSpPr>
        <p:spPr>
          <a:xfrm rot="5400000">
            <a:off x="2230726" y="-1344901"/>
            <a:ext cx="5898573" cy="9144001"/>
          </a:xfrm>
          <a:prstGeom prst="rect">
            <a:avLst/>
          </a:prstGeom>
          <a:noFill/>
          <a:ln>
            <a:noFill/>
          </a:ln>
        </p:spPr>
        <p:txBody>
          <a:bodyPr spcFirstLastPara="1" wrap="square" lIns="91425" tIns="45700" rIns="91425" bIns="45700" anchor="t" anchorCtr="0">
            <a:noAutofit/>
          </a:bodyPr>
          <a:lstStyle>
            <a:lvl1pPr marL="457200" lvl="0" indent="-320040" algn="l">
              <a:lnSpc>
                <a:spcPct val="90000"/>
              </a:lnSpc>
              <a:spcBef>
                <a:spcPts val="1800"/>
              </a:spcBef>
              <a:spcAft>
                <a:spcPts val="0"/>
              </a:spcAft>
              <a:buSzPts val="1440"/>
              <a:buChar char="►"/>
              <a:defRPr/>
            </a:lvl1pPr>
            <a:lvl2pPr marL="914400" lvl="1" indent="-342900" algn="l">
              <a:lnSpc>
                <a:spcPct val="90000"/>
              </a:lnSpc>
              <a:spcBef>
                <a:spcPts val="600"/>
              </a:spcBef>
              <a:spcAft>
                <a:spcPts val="0"/>
              </a:spcAft>
              <a:buSzPts val="1800"/>
              <a:buChar char="►"/>
              <a:defRPr/>
            </a:lvl2pPr>
            <a:lvl3pPr marL="1371600" lvl="2" indent="-320039" algn="l">
              <a:lnSpc>
                <a:spcPct val="90000"/>
              </a:lnSpc>
              <a:spcBef>
                <a:spcPts val="600"/>
              </a:spcBef>
              <a:spcAft>
                <a:spcPts val="0"/>
              </a:spcAft>
              <a:buSzPts val="1440"/>
              <a:buChar char="►"/>
              <a:defRPr/>
            </a:lvl3pPr>
            <a:lvl4pPr marL="1828800" lvl="3" indent="-342900" algn="l">
              <a:lnSpc>
                <a:spcPct val="90000"/>
              </a:lnSpc>
              <a:spcBef>
                <a:spcPts val="600"/>
              </a:spcBef>
              <a:spcAft>
                <a:spcPts val="0"/>
              </a:spcAft>
              <a:buSzPts val="1800"/>
              <a:buChar char="►"/>
              <a:defRPr/>
            </a:lvl4pPr>
            <a:lvl5pPr marL="2286000" lvl="4" indent="-330200" algn="l">
              <a:lnSpc>
                <a:spcPct val="90000"/>
              </a:lnSpc>
              <a:spcBef>
                <a:spcPts val="600"/>
              </a:spcBef>
              <a:spcAft>
                <a:spcPts val="0"/>
              </a:spcAft>
              <a:buSzPts val="1600"/>
              <a:buChar char="►"/>
              <a:defRPr/>
            </a:lvl5pPr>
            <a:lvl6pPr marL="2743200" lvl="5" indent="-330200" algn="l">
              <a:lnSpc>
                <a:spcPct val="90000"/>
              </a:lnSpc>
              <a:spcBef>
                <a:spcPts val="600"/>
              </a:spcBef>
              <a:spcAft>
                <a:spcPts val="0"/>
              </a:spcAft>
              <a:buSzPts val="1600"/>
              <a:buChar char="►"/>
              <a:defRPr/>
            </a:lvl6pPr>
            <a:lvl7pPr marL="3200400" lvl="6" indent="-309879" algn="l">
              <a:lnSpc>
                <a:spcPct val="90000"/>
              </a:lnSpc>
              <a:spcBef>
                <a:spcPts val="600"/>
              </a:spcBef>
              <a:spcAft>
                <a:spcPts val="0"/>
              </a:spcAft>
              <a:buSzPts val="1280"/>
              <a:buChar char="►"/>
              <a:defRPr/>
            </a:lvl7pPr>
            <a:lvl8pPr marL="3657600" lvl="7" indent="-330200" algn="l">
              <a:lnSpc>
                <a:spcPct val="90000"/>
              </a:lnSpc>
              <a:spcBef>
                <a:spcPts val="600"/>
              </a:spcBef>
              <a:spcAft>
                <a:spcPts val="0"/>
              </a:spcAft>
              <a:buSzPts val="1600"/>
              <a:buChar char="►"/>
              <a:defRPr/>
            </a:lvl8pPr>
            <a:lvl9pPr marL="4114800" lvl="8" indent="-309879" algn="l">
              <a:lnSpc>
                <a:spcPct val="90000"/>
              </a:lnSpc>
              <a:spcBef>
                <a:spcPts val="600"/>
              </a:spcBef>
              <a:spcAft>
                <a:spcPts val="0"/>
              </a:spcAft>
              <a:buSzPts val="1280"/>
              <a:buChar char="►"/>
              <a:defRPr/>
            </a:lvl9pPr>
          </a:lstStyle>
          <a:p>
            <a:endParaRPr/>
          </a:p>
        </p:txBody>
      </p:sp>
      <p:sp>
        <p:nvSpPr>
          <p:cNvPr id="1384" name="Google Shape;1384;p12"/>
          <p:cNvSpPr txBox="1">
            <a:spLocks noGrp="1"/>
          </p:cNvSpPr>
          <p:nvPr>
            <p:ph type="title"/>
          </p:nvPr>
        </p:nvSpPr>
        <p:spPr>
          <a:xfrm rot="5400000">
            <a:off x="8096538" y="2539713"/>
            <a:ext cx="5901747" cy="1371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1" name="Google Shape;11;p1"/>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2" name="Google Shape;12;p1"/>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lt1"/>
                </a:solidFill>
                <a:latin typeface="Century Gothic"/>
                <a:ea typeface="Century Gothic"/>
                <a:cs typeface="Century Gothic"/>
                <a:sym typeface="Century Gothic"/>
              </a:defRPr>
            </a:lvl1pPr>
            <a:lvl2pPr marL="0" marR="0" lvl="1" indent="0" algn="r" rtl="0">
              <a:spcBef>
                <a:spcPts val="0"/>
              </a:spcBef>
              <a:buNone/>
              <a:defRPr sz="1000" b="0" i="0" u="none" strike="noStrike" cap="none">
                <a:solidFill>
                  <a:schemeClr val="lt1"/>
                </a:solidFill>
                <a:latin typeface="Century Gothic"/>
                <a:ea typeface="Century Gothic"/>
                <a:cs typeface="Century Gothic"/>
                <a:sym typeface="Century Gothic"/>
              </a:defRPr>
            </a:lvl2pPr>
            <a:lvl3pPr marL="0" marR="0" lvl="2" indent="0" algn="r" rtl="0">
              <a:spcBef>
                <a:spcPts val="0"/>
              </a:spcBef>
              <a:buNone/>
              <a:defRPr sz="1000" b="0" i="0" u="none" strike="noStrike" cap="none">
                <a:solidFill>
                  <a:schemeClr val="lt1"/>
                </a:solidFill>
                <a:latin typeface="Century Gothic"/>
                <a:ea typeface="Century Gothic"/>
                <a:cs typeface="Century Gothic"/>
                <a:sym typeface="Century Gothic"/>
              </a:defRPr>
            </a:lvl3pPr>
            <a:lvl4pPr marL="0" marR="0" lvl="3" indent="0" algn="r" rtl="0">
              <a:spcBef>
                <a:spcPts val="0"/>
              </a:spcBef>
              <a:buNone/>
              <a:defRPr sz="1000" b="0" i="0" u="none" strike="noStrike" cap="none">
                <a:solidFill>
                  <a:schemeClr val="lt1"/>
                </a:solidFill>
                <a:latin typeface="Century Gothic"/>
                <a:ea typeface="Century Gothic"/>
                <a:cs typeface="Century Gothic"/>
                <a:sym typeface="Century Gothic"/>
              </a:defRPr>
            </a:lvl4pPr>
            <a:lvl5pPr marL="0" marR="0" lvl="4" indent="0" algn="r" rtl="0">
              <a:spcBef>
                <a:spcPts val="0"/>
              </a:spcBef>
              <a:buNone/>
              <a:defRPr sz="1000" b="0" i="0" u="none" strike="noStrike" cap="none">
                <a:solidFill>
                  <a:schemeClr val="lt1"/>
                </a:solidFill>
                <a:latin typeface="Century Gothic"/>
                <a:ea typeface="Century Gothic"/>
                <a:cs typeface="Century Gothic"/>
                <a:sym typeface="Century Gothic"/>
              </a:defRPr>
            </a:lvl5pPr>
            <a:lvl6pPr marL="0" marR="0" lvl="5" indent="0" algn="r" rtl="0">
              <a:spcBef>
                <a:spcPts val="0"/>
              </a:spcBef>
              <a:buNone/>
              <a:defRPr sz="1000" b="0" i="0" u="none" strike="noStrike" cap="none">
                <a:solidFill>
                  <a:schemeClr val="lt1"/>
                </a:solidFill>
                <a:latin typeface="Century Gothic"/>
                <a:ea typeface="Century Gothic"/>
                <a:cs typeface="Century Gothic"/>
                <a:sym typeface="Century Gothic"/>
              </a:defRPr>
            </a:lvl6pPr>
            <a:lvl7pPr marL="0" marR="0" lvl="6" indent="0" algn="r" rtl="0">
              <a:spcBef>
                <a:spcPts val="0"/>
              </a:spcBef>
              <a:buNone/>
              <a:defRPr sz="1000" b="0" i="0" u="none" strike="noStrike" cap="none">
                <a:solidFill>
                  <a:schemeClr val="lt1"/>
                </a:solidFill>
                <a:latin typeface="Century Gothic"/>
                <a:ea typeface="Century Gothic"/>
                <a:cs typeface="Century Gothic"/>
                <a:sym typeface="Century Gothic"/>
              </a:defRPr>
            </a:lvl7pPr>
            <a:lvl8pPr marL="0" marR="0" lvl="7" indent="0" algn="r" rtl="0">
              <a:spcBef>
                <a:spcPts val="0"/>
              </a:spcBef>
              <a:buNone/>
              <a:defRPr sz="1000" b="0" i="0" u="none" strike="noStrike" cap="none">
                <a:solidFill>
                  <a:schemeClr val="lt1"/>
                </a:solidFill>
                <a:latin typeface="Century Gothic"/>
                <a:ea typeface="Century Gothic"/>
                <a:cs typeface="Century Gothic"/>
                <a:sym typeface="Century Gothic"/>
              </a:defRPr>
            </a:lvl8pPr>
            <a:lvl9pPr marL="0" marR="0" lvl="8" indent="0" algn="r" rtl="0">
              <a:spcBef>
                <a:spcPts val="0"/>
              </a:spcBef>
              <a:buNone/>
              <a:defRPr sz="100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13" name="Google Shape;13;p1"/>
          <p:cNvSpPr txBox="1">
            <a:spLocks noGrp="1"/>
          </p:cNvSpPr>
          <p:nvPr>
            <p:ph type="body" idx="1"/>
          </p:nvPr>
        </p:nvSpPr>
        <p:spPr>
          <a:xfrm>
            <a:off x="1522414" y="1905000"/>
            <a:ext cx="9144000" cy="4267200"/>
          </a:xfrm>
          <a:prstGeom prst="rect">
            <a:avLst/>
          </a:prstGeom>
          <a:noFill/>
          <a:ln>
            <a:noFill/>
          </a:ln>
        </p:spPr>
        <p:txBody>
          <a:bodyPr spcFirstLastPara="1" wrap="square" lIns="91425" tIns="45700" rIns="91425" bIns="45700" anchor="t" anchorCtr="0">
            <a:noAutofit/>
          </a:bodyPr>
          <a:lstStyle>
            <a:lvl1pPr marL="457200" marR="0" lvl="0" indent="-350520" algn="l" rtl="0">
              <a:lnSpc>
                <a:spcPct val="90000"/>
              </a:lnSpc>
              <a:spcBef>
                <a:spcPts val="1800"/>
              </a:spcBef>
              <a:spcAft>
                <a:spcPts val="0"/>
              </a:spcAft>
              <a:buClr>
                <a:schemeClr val="dk2"/>
              </a:buClr>
              <a:buSzPts val="1920"/>
              <a:buFont typeface="Noto Sans Symbols"/>
              <a:buChar char="►"/>
              <a:defRPr sz="24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600"/>
              </a:spcBef>
              <a:spcAft>
                <a:spcPts val="0"/>
              </a:spcAft>
              <a:buClr>
                <a:schemeClr val="dk2"/>
              </a:buClr>
              <a:buSzPts val="2000"/>
              <a:buFont typeface="Noto Sans Symbols"/>
              <a:buChar char="►"/>
              <a:defRPr sz="20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90000"/>
              </a:lnSpc>
              <a:spcBef>
                <a:spcPts val="600"/>
              </a:spcBef>
              <a:spcAft>
                <a:spcPts val="0"/>
              </a:spcAft>
              <a:buClr>
                <a:schemeClr val="dk2"/>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6pPr>
            <a:lvl7pPr marL="3200400" marR="0" lvl="6"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8pPr>
            <a:lvl9pPr marL="4114800" marR="0" lvl="8"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9pPr>
          </a:lstStyle>
          <a:p>
            <a:endParaRPr dirty="0"/>
          </a:p>
        </p:txBody>
      </p:sp>
      <p:sp>
        <p:nvSpPr>
          <p:cNvPr id="14" name="Google Shape;14;p1"/>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lt1"/>
              </a:buClr>
              <a:buSzPts val="3200"/>
              <a:buFont typeface="Century Gothic"/>
              <a:buNone/>
              <a:defRPr sz="3200" b="0" i="0" u="none" strike="noStrike" cap="none">
                <a:solidFill>
                  <a:schemeClr val="l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 name="TextBox 2">
            <a:extLst>
              <a:ext uri="{FF2B5EF4-FFF2-40B4-BE49-F238E27FC236}">
                <a16:creationId xmlns:a16="http://schemas.microsoft.com/office/drawing/2014/main" id="{A6469FFE-C009-1102-6351-05DF30A2FBA8}"/>
              </a:ext>
            </a:extLst>
          </p:cNvPr>
          <p:cNvSpPr txBox="1"/>
          <p:nvPr userDrawn="1">
            <p:extLst>
              <p:ext uri="{1162E1C5-73C7-4A58-AE30-91384D911F3F}">
                <p184:classification xmlns:p184="http://schemas.microsoft.com/office/powerpoint/2018/4/main" val="hdr"/>
              </p:ext>
            </p:extLst>
          </p:nvPr>
        </p:nvSpPr>
        <p:spPr>
          <a:xfrm>
            <a:off x="11233150" y="63500"/>
            <a:ext cx="920750"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 Use Only</a:t>
            </a: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6" r:id="rId8"/>
    <p:sldLayoutId id="2147483657" r:id="rId9"/>
    <p:sldLayoutId id="2147483658" r:id="rId10"/>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457200" marR="0" lvl="0" indent="-350520" algn="l" rtl="0">
        <a:lnSpc>
          <a:spcPct val="100000"/>
        </a:lnSpc>
        <a:spcBef>
          <a:spcPts val="0"/>
        </a:spcBef>
        <a:spcAft>
          <a:spcPts val="0"/>
        </a:spcAft>
        <a:buClr>
          <a:srgbClr val="000000"/>
        </a:buClr>
        <a:buFont typeface="Arial" panose="020B0604020202020204" pitchFamily="34" charset="0"/>
        <a:buChar char="•"/>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pytorch/pytorch" TargetMode="External"/><Relationship Id="rId2" Type="http://schemas.openxmlformats.org/officeDocument/2006/relationships/hyperlink" Target="https://pytorch.org/" TargetMode="External"/><Relationship Id="rId1" Type="http://schemas.openxmlformats.org/officeDocument/2006/relationships/slideLayout" Target="../slideLayouts/slideLayout4.xml"/><Relationship Id="rId4" Type="http://schemas.openxmlformats.org/officeDocument/2006/relationships/hyperlink" Target="https://pytorch.org/docs/stable/index.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97.png"/><Relationship Id="rId7" Type="http://schemas.openxmlformats.org/officeDocument/2006/relationships/image" Target="../media/image6.svg"/><Relationship Id="rId2" Type="http://schemas.openxmlformats.org/officeDocument/2006/relationships/image" Target="../media/image96.pn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4.xml"/><Relationship Id="rId5" Type="http://schemas.openxmlformats.org/officeDocument/2006/relationships/image" Target="../media/image6.svg"/><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5" Type="http://schemas.openxmlformats.org/officeDocument/2006/relationships/image" Target="../media/image6.svg"/><Relationship Id="rId4" Type="http://schemas.openxmlformats.org/officeDocument/2006/relationships/image" Target="../media/image5.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 Id="rId5" Type="http://schemas.openxmlformats.org/officeDocument/2006/relationships/image" Target="../media/image6.svg"/><Relationship Id="rId4" Type="http://schemas.openxmlformats.org/officeDocument/2006/relationships/image" Target="../media/image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8"/>
        <p:cNvGrpSpPr/>
        <p:nvPr/>
      </p:nvGrpSpPr>
      <p:grpSpPr>
        <a:xfrm>
          <a:off x="0" y="0"/>
          <a:ext cx="0" cy="0"/>
          <a:chOff x="0" y="0"/>
          <a:chExt cx="0" cy="0"/>
        </a:xfrm>
      </p:grpSpPr>
      <p:sp>
        <p:nvSpPr>
          <p:cNvPr id="1390" name="Google Shape;1390;p13"/>
          <p:cNvSpPr txBox="1">
            <a:spLocks noGrp="1"/>
          </p:cNvSpPr>
          <p:nvPr>
            <p:ph type="subTitle" idx="1"/>
          </p:nvPr>
        </p:nvSpPr>
        <p:spPr>
          <a:xfrm>
            <a:off x="1522413" y="5105400"/>
            <a:ext cx="9143999" cy="1066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920"/>
              <a:buNone/>
            </a:pPr>
            <a:r>
              <a:rPr lang="en-US" dirty="0"/>
              <a:t>Course 7: </a:t>
            </a:r>
            <a:r>
              <a:rPr lang="en-US" dirty="0" err="1"/>
              <a:t>Pytorch</a:t>
            </a:r>
            <a:endParaRPr dirty="0"/>
          </a:p>
        </p:txBody>
      </p:sp>
      <p:sp>
        <p:nvSpPr>
          <p:cNvPr id="1391" name="Google Shape;1391;p13"/>
          <p:cNvSpPr txBox="1">
            <a:spLocks noGrp="1"/>
          </p:cNvSpPr>
          <p:nvPr>
            <p:ph type="ctr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5400"/>
              <a:buFont typeface="Century Gothic"/>
              <a:buNone/>
            </a:pPr>
            <a:r>
              <a:rPr lang="en-US" dirty="0"/>
              <a:t>Neural Networks</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5">
          <a:extLst>
            <a:ext uri="{FF2B5EF4-FFF2-40B4-BE49-F238E27FC236}">
              <a16:creationId xmlns:a16="http://schemas.microsoft.com/office/drawing/2014/main" id="{E2C3760D-5F9B-C812-8358-B8EB297CA543}"/>
            </a:ext>
          </a:extLst>
        </p:cNvPr>
        <p:cNvGrpSpPr/>
        <p:nvPr/>
      </p:nvGrpSpPr>
      <p:grpSpPr>
        <a:xfrm>
          <a:off x="0" y="0"/>
          <a:ext cx="0" cy="0"/>
          <a:chOff x="0" y="0"/>
          <a:chExt cx="0" cy="0"/>
        </a:xfrm>
      </p:grpSpPr>
      <p:sp>
        <p:nvSpPr>
          <p:cNvPr id="1396" name="Google Shape;1396;p14">
            <a:extLst>
              <a:ext uri="{FF2B5EF4-FFF2-40B4-BE49-F238E27FC236}">
                <a16:creationId xmlns:a16="http://schemas.microsoft.com/office/drawing/2014/main" id="{419E881F-FC7F-7363-F654-0179B9E9D697}"/>
              </a:ext>
            </a:extLst>
          </p:cNvPr>
          <p:cNvSpPr txBox="1">
            <a:spLocks noGrp="1"/>
          </p:cNvSpPr>
          <p:nvPr>
            <p:ph type="body" idx="2"/>
          </p:nvPr>
        </p:nvSpPr>
        <p:spPr>
          <a:xfrm>
            <a:off x="1522413" y="1905000"/>
            <a:ext cx="9905999" cy="4038600"/>
          </a:xfrm>
          <a:prstGeom prst="rect">
            <a:avLst/>
          </a:prstGeom>
          <a:noFill/>
          <a:ln>
            <a:noFill/>
          </a:ln>
        </p:spPr>
        <p:txBody>
          <a:bodyPr spcFirstLastPara="1" wrap="square" lIns="91425" tIns="45700" rIns="91425" bIns="45700" anchor="t" anchorCtr="0">
            <a:noAutofit/>
          </a:bodyPr>
          <a:lstStyle/>
          <a:p>
            <a:r>
              <a:rPr lang="en-US" sz="2800" dirty="0" err="1"/>
              <a:t>PyTorch</a:t>
            </a:r>
            <a:endParaRPr lang="en-US" sz="2800" dirty="0"/>
          </a:p>
          <a:p>
            <a:pPr lvl="1"/>
            <a:r>
              <a:rPr lang="en-US" sz="2400" dirty="0"/>
              <a:t>What is </a:t>
            </a:r>
            <a:r>
              <a:rPr lang="en-US" sz="2400" dirty="0" err="1"/>
              <a:t>PyTorch</a:t>
            </a:r>
            <a:endParaRPr lang="en-US" sz="2400" dirty="0"/>
          </a:p>
          <a:p>
            <a:pPr lvl="1"/>
            <a:r>
              <a:rPr lang="en-US" sz="2400" dirty="0"/>
              <a:t>Data types</a:t>
            </a:r>
          </a:p>
          <a:p>
            <a:pPr lvl="1"/>
            <a:r>
              <a:rPr lang="en-US" sz="2400" dirty="0"/>
              <a:t>Tensors</a:t>
            </a:r>
          </a:p>
          <a:p>
            <a:pPr lvl="1"/>
            <a:r>
              <a:rPr lang="en-US" sz="2400" dirty="0"/>
              <a:t>Layers</a:t>
            </a:r>
          </a:p>
          <a:p>
            <a:pPr lvl="1"/>
            <a:r>
              <a:rPr lang="en-US" sz="2400" dirty="0"/>
              <a:t>Module base class</a:t>
            </a:r>
          </a:p>
          <a:p>
            <a:pPr lvl="1"/>
            <a:r>
              <a:rPr lang="en-US" sz="2400" dirty="0"/>
              <a:t>Datasets &amp; </a:t>
            </a:r>
            <a:r>
              <a:rPr lang="en-US" sz="2400" dirty="0" err="1"/>
              <a:t>DataLoaders</a:t>
            </a:r>
            <a:endParaRPr lang="en-US" sz="2400" dirty="0"/>
          </a:p>
          <a:p>
            <a:pPr lvl="1"/>
            <a:r>
              <a:rPr lang="en-US" sz="2400" dirty="0"/>
              <a:t>Checkpoints</a:t>
            </a:r>
          </a:p>
          <a:p>
            <a:pPr lvl="1"/>
            <a:r>
              <a:rPr lang="en-US" sz="2400" dirty="0"/>
              <a:t>Backpropagation in </a:t>
            </a:r>
            <a:r>
              <a:rPr lang="en-US" sz="2400"/>
              <a:t>Pytorch</a:t>
            </a:r>
            <a:endParaRPr lang="en-US" sz="2400" dirty="0"/>
          </a:p>
          <a:p>
            <a:pPr marL="274320" lvl="0" indent="-152400" algn="l" rtl="0">
              <a:lnSpc>
                <a:spcPct val="90000"/>
              </a:lnSpc>
              <a:spcBef>
                <a:spcPts val="1800"/>
              </a:spcBef>
              <a:spcAft>
                <a:spcPts val="0"/>
              </a:spcAft>
              <a:buSzPts val="1920"/>
              <a:buNone/>
            </a:pPr>
            <a:endParaRPr lang="en-US" sz="2800" dirty="0"/>
          </a:p>
        </p:txBody>
      </p:sp>
      <p:sp>
        <p:nvSpPr>
          <p:cNvPr id="1397" name="Google Shape;1397;p14">
            <a:extLst>
              <a:ext uri="{FF2B5EF4-FFF2-40B4-BE49-F238E27FC236}">
                <a16:creationId xmlns:a16="http://schemas.microsoft.com/office/drawing/2014/main" id="{26C85777-0365-59DB-48C5-5B2B5F02BD7E}"/>
              </a:ext>
            </a:extLst>
          </p:cNvPr>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Overview</a:t>
            </a:r>
            <a:endParaRPr/>
          </a:p>
        </p:txBody>
      </p:sp>
    </p:spTree>
    <p:extLst>
      <p:ext uri="{BB962C8B-B14F-4D97-AF65-F5344CB8AC3E}">
        <p14:creationId xmlns:p14="http://schemas.microsoft.com/office/powerpoint/2010/main" val="100822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What is </a:t>
            </a:r>
            <a:r>
              <a:rPr lang="en-US" dirty="0" err="1"/>
              <a:t>PyTorch</a:t>
            </a:r>
            <a:endParaRPr lang="en-US" dirty="0"/>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31905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What is </a:t>
            </a:r>
            <a:r>
              <a:rPr lang="en-US" dirty="0" err="1"/>
              <a:t>PyTorch</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A Python library that provides tensor operations (with support for GPU) and various deep learning out-of-a-box functionalities.</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Current version</a:t>
            </a:r>
            <a:r>
              <a:rPr lang="en-US" dirty="0">
                <a:latin typeface="Arial" panose="020B0604020202020204" pitchFamily="34" charset="0"/>
                <a:cs typeface="Arial" panose="020B0604020202020204" pitchFamily="34" charset="0"/>
              </a:rPr>
              <a:t>: 2.9.1 (Nov.2025)</a:t>
            </a:r>
          </a:p>
          <a:p>
            <a:r>
              <a:rPr lang="en-US" b="1" dirty="0">
                <a:latin typeface="Arial" panose="020B0604020202020204" pitchFamily="34" charset="0"/>
                <a:cs typeface="Arial" panose="020B0604020202020204" pitchFamily="34" charset="0"/>
              </a:rPr>
              <a:t>Site</a:t>
            </a:r>
            <a:r>
              <a:rPr 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hlinkClick r:id="rId2"/>
              </a:rPr>
              <a:t>https://pytorch.org/</a:t>
            </a:r>
            <a:r>
              <a:rPr lang="en-US" dirty="0">
                <a:latin typeface="Arial" panose="020B0604020202020204" pitchFamily="34" charset="0"/>
                <a:cs typeface="Arial" panose="020B0604020202020204" pitchFamily="34" charset="0"/>
              </a:rPr>
              <a:t>  </a:t>
            </a:r>
          </a:p>
          <a:p>
            <a:r>
              <a:rPr lang="en-US" b="1" dirty="0">
                <a:latin typeface="Arial" panose="020B0604020202020204" pitchFamily="34" charset="0"/>
                <a:cs typeface="Arial" panose="020B0604020202020204" pitchFamily="34" charset="0"/>
              </a:rPr>
              <a:t>GitHub</a:t>
            </a:r>
            <a:r>
              <a:rPr 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hlinkClick r:id="rId3"/>
              </a:rPr>
              <a:t>https://github.com/pytorch/pytorch</a:t>
            </a:r>
            <a:r>
              <a:rPr lang="en-US" dirty="0">
                <a:latin typeface="Arial" panose="020B0604020202020204" pitchFamily="34" charset="0"/>
                <a:cs typeface="Arial" panose="020B0604020202020204" pitchFamily="34" charset="0"/>
              </a:rPr>
              <a:t> </a:t>
            </a:r>
          </a:p>
          <a:p>
            <a:r>
              <a:rPr lang="en-US" b="1" dirty="0">
                <a:latin typeface="Arial" panose="020B0604020202020204" pitchFamily="34" charset="0"/>
                <a:cs typeface="Arial" panose="020B0604020202020204" pitchFamily="34" charset="0"/>
              </a:rPr>
              <a:t>Documentation</a:t>
            </a:r>
            <a:r>
              <a:rPr 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hlinkClick r:id="rId4"/>
              </a:rPr>
              <a:t>https://pytorch.org/docs/stable/index.html</a:t>
            </a:r>
            <a:r>
              <a:rPr lang="en-US" dirty="0">
                <a:latin typeface="Arial" panose="020B0604020202020204" pitchFamily="34" charset="0"/>
                <a:cs typeface="Arial" panose="020B0604020202020204" pitchFamily="34" charset="0"/>
              </a:rPr>
              <a:t>  </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3872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3B88F-F8FD-A709-5DEC-EAFACF04AF0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E2EF344-4E5D-4EA3-B100-8B3E585F850B}"/>
              </a:ext>
            </a:extLst>
          </p:cNvPr>
          <p:cNvSpPr>
            <a:spLocks noGrp="1"/>
          </p:cNvSpPr>
          <p:nvPr>
            <p:ph type="title"/>
          </p:nvPr>
        </p:nvSpPr>
        <p:spPr/>
        <p:txBody>
          <a:bodyPr/>
          <a:lstStyle/>
          <a:p>
            <a:r>
              <a:rPr lang="en-US" dirty="0"/>
              <a:t>What is </a:t>
            </a:r>
            <a:r>
              <a:rPr lang="en-US" dirty="0" err="1"/>
              <a:t>PyTorch</a:t>
            </a:r>
            <a:endParaRPr lang="en-US" dirty="0"/>
          </a:p>
        </p:txBody>
      </p:sp>
      <p:sp>
        <p:nvSpPr>
          <p:cNvPr id="6" name="Content Placeholder 5">
            <a:extLst>
              <a:ext uri="{FF2B5EF4-FFF2-40B4-BE49-F238E27FC236}">
                <a16:creationId xmlns:a16="http://schemas.microsoft.com/office/drawing/2014/main" id="{4205A2FD-963F-798D-2761-914913B863A6}"/>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To install </a:t>
            </a: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use the following command:</a:t>
            </a:r>
          </a:p>
          <a:p>
            <a:pPr marL="365760" lvl="1" indent="0">
              <a:buNone/>
            </a:pPr>
            <a:endParaRPr kumimoji="0" lang="en-US" sz="20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a:p>
            <a:pPr marL="365760" lvl="1" indent="0">
              <a:buNone/>
            </a:pPr>
            <a:endParaRPr lang="en-US"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D6437BD-C108-98EA-9973-641BEBA9563F}"/>
              </a:ext>
            </a:extLst>
          </p:cNvPr>
          <p:cNvSpPr txBox="1"/>
          <p:nvPr/>
        </p:nvSpPr>
        <p:spPr>
          <a:xfrm>
            <a:off x="10009251" y="5088523"/>
            <a:ext cx="1830950" cy="338554"/>
          </a:xfrm>
          <a:prstGeom prst="rect">
            <a:avLst/>
          </a:prstGeom>
          <a:noFill/>
        </p:spPr>
        <p:txBody>
          <a:bodyPr wrap="none" rtlCol="0">
            <a:spAutoFit/>
          </a:bodyPr>
          <a:lstStyle/>
          <a:p>
            <a:r>
              <a:rPr lang="en-US" sz="1600" dirty="0">
                <a:solidFill>
                  <a:schemeClr val="bg1"/>
                </a:solidFill>
              </a:rPr>
              <a:t>https://</a:t>
            </a:r>
            <a:r>
              <a:rPr lang="en-US" sz="1600" dirty="0" err="1">
                <a:solidFill>
                  <a:schemeClr val="bg1"/>
                </a:solidFill>
              </a:rPr>
              <a:t>pytorch.org</a:t>
            </a:r>
            <a:endParaRPr lang="en-US" sz="1600" dirty="0">
              <a:solidFill>
                <a:schemeClr val="bg1"/>
              </a:solidFill>
            </a:endParaRPr>
          </a:p>
        </p:txBody>
      </p:sp>
      <p:pic>
        <p:nvPicPr>
          <p:cNvPr id="4" name="Picture 3">
            <a:extLst>
              <a:ext uri="{FF2B5EF4-FFF2-40B4-BE49-F238E27FC236}">
                <a16:creationId xmlns:a16="http://schemas.microsoft.com/office/drawing/2014/main" id="{C7983B95-C153-E70C-F2B1-28D27E492D5B}"/>
              </a:ext>
            </a:extLst>
          </p:cNvPr>
          <p:cNvPicPr>
            <a:picLocks noChangeAspect="1"/>
          </p:cNvPicPr>
          <p:nvPr/>
        </p:nvPicPr>
        <p:blipFill>
          <a:blip r:embed="rId3"/>
          <a:stretch>
            <a:fillRect/>
          </a:stretch>
        </p:blipFill>
        <p:spPr>
          <a:xfrm>
            <a:off x="2057400" y="2323789"/>
            <a:ext cx="7772400" cy="3124821"/>
          </a:xfrm>
          <a:prstGeom prst="rect">
            <a:avLst/>
          </a:prstGeom>
        </p:spPr>
      </p:pic>
      <p:sp>
        <p:nvSpPr>
          <p:cNvPr id="9" name="TextBox 8">
            <a:extLst>
              <a:ext uri="{FF2B5EF4-FFF2-40B4-BE49-F238E27FC236}">
                <a16:creationId xmlns:a16="http://schemas.microsoft.com/office/drawing/2014/main" id="{44C5F45B-E911-3768-A7A1-624F15A59AE0}"/>
              </a:ext>
            </a:extLst>
          </p:cNvPr>
          <p:cNvSpPr txBox="1"/>
          <p:nvPr/>
        </p:nvSpPr>
        <p:spPr>
          <a:xfrm>
            <a:off x="1645611" y="5772089"/>
            <a:ext cx="8469060" cy="400110"/>
          </a:xfrm>
          <a:prstGeom prst="rect">
            <a:avLst/>
          </a:prstGeom>
          <a:noFill/>
        </p:spPr>
        <p:txBody>
          <a:bodyPr wrap="square">
            <a:spAutoFit/>
          </a:bodyPr>
          <a:lstStyle/>
          <a:p>
            <a:pPr marL="365760" lvl="1" indent="0">
              <a:buNone/>
            </a:pPr>
            <a:r>
              <a:rPr lang="en-US" sz="2000" dirty="0">
                <a:solidFill>
                  <a:schemeClr val="bg1"/>
                </a:solidFill>
                <a:latin typeface="Arial" panose="020B0604020202020204" pitchFamily="34" charset="0"/>
                <a:cs typeface="Arial" panose="020B0604020202020204" pitchFamily="34" charset="0"/>
              </a:rPr>
              <a:t>For </a:t>
            </a:r>
            <a:r>
              <a:rPr lang="en-US" sz="2000" dirty="0" err="1">
                <a:solidFill>
                  <a:schemeClr val="bg1"/>
                </a:solidFill>
                <a:latin typeface="Arial" panose="020B0604020202020204" pitchFamily="34" charset="0"/>
                <a:cs typeface="Arial" panose="020B0604020202020204" pitchFamily="34" charset="0"/>
              </a:rPr>
              <a:t>cpu</a:t>
            </a:r>
            <a:r>
              <a:rPr lang="en-US" sz="2000" dirty="0">
                <a:solidFill>
                  <a:schemeClr val="bg1"/>
                </a:solidFill>
                <a:latin typeface="Arial" panose="020B0604020202020204" pitchFamily="34" charset="0"/>
                <a:cs typeface="Arial" panose="020B0604020202020204" pitchFamily="34" charset="0"/>
              </a:rPr>
              <a:t> only: pip3 install torch </a:t>
            </a:r>
            <a:r>
              <a:rPr lang="en-US" sz="2000" dirty="0" err="1">
                <a:solidFill>
                  <a:schemeClr val="bg1"/>
                </a:solidFill>
                <a:latin typeface="Arial" panose="020B0604020202020204" pitchFamily="34" charset="0"/>
                <a:cs typeface="Arial" panose="020B0604020202020204" pitchFamily="34" charset="0"/>
              </a:rPr>
              <a:t>torchvision</a:t>
            </a:r>
            <a:r>
              <a:rPr lang="en-US" sz="2000" dirty="0">
                <a:solidFill>
                  <a:schemeClr val="bg1"/>
                </a:solidFill>
                <a:latin typeface="Arial" panose="020B0604020202020204" pitchFamily="34" charset="0"/>
                <a:cs typeface="Arial" panose="020B0604020202020204" pitchFamily="34" charset="0"/>
              </a:rPr>
              <a:t> </a:t>
            </a:r>
            <a:r>
              <a:rPr lang="en-US" sz="2000" dirty="0" err="1">
                <a:solidFill>
                  <a:schemeClr val="bg1"/>
                </a:solidFill>
                <a:latin typeface="Arial" panose="020B0604020202020204" pitchFamily="34" charset="0"/>
                <a:cs typeface="Arial" panose="020B0604020202020204" pitchFamily="34" charset="0"/>
              </a:rPr>
              <a:t>torchaudio</a:t>
            </a:r>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436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What is </a:t>
            </a:r>
            <a:r>
              <a:rPr lang="en-US" dirty="0" err="1"/>
              <a:t>PyTorch</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normAutofit/>
          </a:bodyPr>
          <a:lstStyle/>
          <a:p>
            <a:pPr marL="0" indent="0">
              <a:buNone/>
            </a:pP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consists in multiple modules (with different functionalities):</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F00E4C91-FACE-A39E-DE4F-22215267D9AA}"/>
              </a:ext>
            </a:extLst>
          </p:cNvPr>
          <p:cNvSpPr/>
          <p:nvPr/>
        </p:nvSpPr>
        <p:spPr>
          <a:xfrm>
            <a:off x="1827213" y="4495800"/>
            <a:ext cx="9067800" cy="1524000"/>
          </a:xfrm>
          <a:prstGeom prst="rect">
            <a:avLst/>
          </a:prstGeom>
          <a:solidFill>
            <a:schemeClr val="bg1">
              <a:lumMod val="95000"/>
            </a:schemeClr>
          </a:solidFill>
        </p:spPr>
        <p:style>
          <a:lnRef idx="2">
            <a:schemeClr val="accent6"/>
          </a:lnRef>
          <a:fillRef idx="1">
            <a:schemeClr val="lt1"/>
          </a:fillRef>
          <a:effectRef idx="0">
            <a:schemeClr val="accent6"/>
          </a:effectRef>
          <a:fontRef idx="minor">
            <a:schemeClr val="dk1"/>
          </a:fontRef>
        </p:style>
        <p:txBody>
          <a:bodyPr rtlCol="0" anchor="ctr"/>
          <a:lstStyle/>
          <a:p>
            <a:pPr marL="227013" lvl="1" indent="-227013">
              <a:buFont typeface="Arial" panose="020B0604020202020204" pitchFamily="34" charset="0"/>
              <a:buChar char="•"/>
            </a:pPr>
            <a:r>
              <a:rPr lang="en-US" sz="2000" dirty="0">
                <a:solidFill>
                  <a:schemeClr val="bg2"/>
                </a:solidFill>
                <a:latin typeface="Arial" panose="020B0604020202020204" pitchFamily="34" charset="0"/>
                <a:cs typeface="Arial" panose="020B0604020202020204" pitchFamily="34" charset="0"/>
              </a:rPr>
              <a:t>Tensor operations (e.g., </a:t>
            </a:r>
            <a:r>
              <a:rPr lang="en-US" sz="2000" dirty="0" err="1">
                <a:solidFill>
                  <a:schemeClr val="bg2"/>
                </a:solidFill>
                <a:latin typeface="Arial" panose="020B0604020202020204" pitchFamily="34" charset="0"/>
                <a:cs typeface="Arial" panose="020B0604020202020204" pitchFamily="34" charset="0"/>
              </a:rPr>
              <a:t>torch.add</a:t>
            </a:r>
            <a:r>
              <a:rPr lang="en-US" sz="2000" dirty="0">
                <a:solidFill>
                  <a:schemeClr val="bg2"/>
                </a:solidFill>
                <a:latin typeface="Arial" panose="020B0604020202020204" pitchFamily="34" charset="0"/>
                <a:cs typeface="Arial" panose="020B0604020202020204" pitchFamily="34" charset="0"/>
              </a:rPr>
              <a:t>, </a:t>
            </a:r>
            <a:r>
              <a:rPr lang="en-US" sz="2000" dirty="0" err="1">
                <a:solidFill>
                  <a:schemeClr val="bg2"/>
                </a:solidFill>
                <a:latin typeface="Arial" panose="020B0604020202020204" pitchFamily="34" charset="0"/>
                <a:cs typeface="Arial" panose="020B0604020202020204" pitchFamily="34" charset="0"/>
              </a:rPr>
              <a:t>torch.mul</a:t>
            </a:r>
            <a:r>
              <a:rPr lang="en-US" sz="2000" dirty="0">
                <a:solidFill>
                  <a:schemeClr val="bg2"/>
                </a:solidFill>
                <a:latin typeface="Arial" panose="020B0604020202020204" pitchFamily="34" charset="0"/>
                <a:cs typeface="Arial" panose="020B0604020202020204" pitchFamily="34" charset="0"/>
              </a:rPr>
              <a:t>)</a:t>
            </a:r>
          </a:p>
          <a:p>
            <a:pPr marL="227013" lvl="1" indent="-227013">
              <a:buFont typeface="Arial" panose="020B0604020202020204" pitchFamily="34" charset="0"/>
              <a:buChar char="•"/>
            </a:pPr>
            <a:r>
              <a:rPr lang="en-US" sz="2000" dirty="0">
                <a:solidFill>
                  <a:schemeClr val="bg2"/>
                </a:solidFill>
                <a:latin typeface="Arial" panose="020B0604020202020204" pitchFamily="34" charset="0"/>
                <a:cs typeface="Arial" panose="020B0604020202020204" pitchFamily="34" charset="0"/>
              </a:rPr>
              <a:t>Mathematical operations (e.g., </a:t>
            </a:r>
            <a:r>
              <a:rPr lang="en-US" sz="2000" dirty="0" err="1">
                <a:solidFill>
                  <a:schemeClr val="bg2"/>
                </a:solidFill>
                <a:latin typeface="Arial" panose="020B0604020202020204" pitchFamily="34" charset="0"/>
                <a:cs typeface="Arial" panose="020B0604020202020204" pitchFamily="34" charset="0"/>
              </a:rPr>
              <a:t>torch.sin</a:t>
            </a:r>
            <a:r>
              <a:rPr lang="en-US" sz="2000" dirty="0">
                <a:solidFill>
                  <a:schemeClr val="bg2"/>
                </a:solidFill>
                <a:latin typeface="Arial" panose="020B0604020202020204" pitchFamily="34" charset="0"/>
                <a:cs typeface="Arial" panose="020B0604020202020204" pitchFamily="34" charset="0"/>
              </a:rPr>
              <a:t>, torch.log)</a:t>
            </a:r>
          </a:p>
          <a:p>
            <a:pPr marL="227013" lvl="1" indent="-227013">
              <a:buFont typeface="Arial" panose="020B0604020202020204" pitchFamily="34" charset="0"/>
              <a:buChar char="•"/>
            </a:pPr>
            <a:r>
              <a:rPr lang="en-US" sz="2000" dirty="0">
                <a:solidFill>
                  <a:schemeClr val="bg2"/>
                </a:solidFill>
                <a:latin typeface="Arial" panose="020B0604020202020204" pitchFamily="34" charset="0"/>
                <a:cs typeface="Arial" panose="020B0604020202020204" pitchFamily="34" charset="0"/>
              </a:rPr>
              <a:t>Reduction operations (e.g., </a:t>
            </a:r>
            <a:r>
              <a:rPr lang="en-US" sz="2000" dirty="0" err="1">
                <a:solidFill>
                  <a:schemeClr val="bg2"/>
                </a:solidFill>
                <a:latin typeface="Arial" panose="020B0604020202020204" pitchFamily="34" charset="0"/>
                <a:cs typeface="Arial" panose="020B0604020202020204" pitchFamily="34" charset="0"/>
              </a:rPr>
              <a:t>torch.mean</a:t>
            </a:r>
            <a:r>
              <a:rPr lang="en-US" sz="2000" dirty="0">
                <a:solidFill>
                  <a:schemeClr val="bg2"/>
                </a:solidFill>
                <a:latin typeface="Arial" panose="020B0604020202020204" pitchFamily="34" charset="0"/>
                <a:cs typeface="Arial" panose="020B0604020202020204" pitchFamily="34" charset="0"/>
              </a:rPr>
              <a:t>, </a:t>
            </a:r>
            <a:r>
              <a:rPr lang="en-US" sz="2000" dirty="0" err="1">
                <a:solidFill>
                  <a:schemeClr val="bg2"/>
                </a:solidFill>
                <a:latin typeface="Arial" panose="020B0604020202020204" pitchFamily="34" charset="0"/>
                <a:cs typeface="Arial" panose="020B0604020202020204" pitchFamily="34" charset="0"/>
              </a:rPr>
              <a:t>torch.sum</a:t>
            </a:r>
            <a:r>
              <a:rPr lang="en-US" sz="2000" dirty="0">
                <a:solidFill>
                  <a:schemeClr val="bg2"/>
                </a:solidFill>
                <a:latin typeface="Arial" panose="020B0604020202020204" pitchFamily="34" charset="0"/>
                <a:cs typeface="Arial" panose="020B0604020202020204" pitchFamily="34" charset="0"/>
              </a:rPr>
              <a:t>)</a:t>
            </a:r>
          </a:p>
          <a:p>
            <a:pPr marL="227013" indent="-227013" algn="ctr">
              <a:buFont typeface="Arial" panose="020B0604020202020204" pitchFamily="34" charset="0"/>
              <a:buChar char="•"/>
            </a:pPr>
            <a:endParaRPr lang="en-US" sz="1600" dirty="0">
              <a:solidFill>
                <a:schemeClr val="bg2"/>
              </a:solidFill>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E4A606D5-3F79-E6E8-1A8C-C8D5A1CEC969}"/>
              </a:ext>
            </a:extLst>
          </p:cNvPr>
          <p:cNvGrpSpPr/>
          <p:nvPr/>
        </p:nvGrpSpPr>
        <p:grpSpPr>
          <a:xfrm>
            <a:off x="1827212" y="2590800"/>
            <a:ext cx="9067800" cy="1828800"/>
            <a:chOff x="1827212" y="2590800"/>
            <a:chExt cx="9067800" cy="1828800"/>
          </a:xfrm>
        </p:grpSpPr>
        <p:sp>
          <p:nvSpPr>
            <p:cNvPr id="3" name="Rectangle 2">
              <a:extLst>
                <a:ext uri="{FF2B5EF4-FFF2-40B4-BE49-F238E27FC236}">
                  <a16:creationId xmlns:a16="http://schemas.microsoft.com/office/drawing/2014/main" id="{F95E31F5-7C05-1A17-7E30-2A29C09DEF56}"/>
                </a:ext>
              </a:extLst>
            </p:cNvPr>
            <p:cNvSpPr/>
            <p:nvPr/>
          </p:nvSpPr>
          <p:spPr>
            <a:xfrm>
              <a:off x="1827212" y="2895600"/>
              <a:ext cx="9067800" cy="152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cs typeface="Arial" panose="020B0604020202020204" pitchFamily="34" charset="0"/>
                </a:rPr>
                <a:t>This is the core module that provides multi-dimensional arrays (tensors) and the necessary operations for their manipulation.</a:t>
              </a:r>
              <a:endParaRPr lang="en-US" sz="2400" dirty="0">
                <a:solidFill>
                  <a:schemeClr val="bg1"/>
                </a:solidFill>
              </a:endParaRPr>
            </a:p>
          </p:txBody>
        </p:sp>
        <p:sp>
          <p:nvSpPr>
            <p:cNvPr id="8" name="Rectangle 7">
              <a:extLst>
                <a:ext uri="{FF2B5EF4-FFF2-40B4-BE49-F238E27FC236}">
                  <a16:creationId xmlns:a16="http://schemas.microsoft.com/office/drawing/2014/main" id="{6E95028F-6D1A-2ED6-6AE5-8C9EC700D107}"/>
                </a:ext>
              </a:extLst>
            </p:cNvPr>
            <p:cNvSpPr/>
            <p:nvPr/>
          </p:nvSpPr>
          <p:spPr>
            <a:xfrm>
              <a:off x="1979612" y="2590800"/>
              <a:ext cx="2971800" cy="4572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200" b="1" dirty="0">
                  <a:latin typeface="Arial" panose="020B0604020202020204" pitchFamily="34" charset="0"/>
                  <a:cs typeface="Arial" panose="020B0604020202020204" pitchFamily="34" charset="0"/>
                </a:rPr>
                <a:t>torch</a:t>
              </a:r>
            </a:p>
          </p:txBody>
        </p:sp>
      </p:grpSp>
    </p:spTree>
    <p:extLst>
      <p:ext uri="{BB962C8B-B14F-4D97-AF65-F5344CB8AC3E}">
        <p14:creationId xmlns:p14="http://schemas.microsoft.com/office/powerpoint/2010/main" val="3468069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What is </a:t>
            </a:r>
            <a:r>
              <a:rPr lang="en-US" dirty="0" err="1"/>
              <a:t>PyTorch</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normAutofit/>
          </a:bodyPr>
          <a:lstStyle/>
          <a:p>
            <a:pPr marL="0" indent="0">
              <a:buNone/>
            </a:pP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consists in multiple modules (with different functionalities):</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F00E4C91-FACE-A39E-DE4F-22215267D9AA}"/>
              </a:ext>
            </a:extLst>
          </p:cNvPr>
          <p:cNvSpPr/>
          <p:nvPr/>
        </p:nvSpPr>
        <p:spPr>
          <a:xfrm>
            <a:off x="1827213" y="4495800"/>
            <a:ext cx="9067800" cy="1524000"/>
          </a:xfrm>
          <a:prstGeom prst="rect">
            <a:avLst/>
          </a:prstGeom>
          <a:solidFill>
            <a:schemeClr val="bg1">
              <a:lumMod val="95000"/>
            </a:schemeClr>
          </a:solidFill>
        </p:spPr>
        <p:style>
          <a:lnRef idx="2">
            <a:schemeClr val="accent6"/>
          </a:lnRef>
          <a:fillRef idx="1">
            <a:schemeClr val="lt1"/>
          </a:fillRef>
          <a:effectRef idx="0">
            <a:schemeClr val="accent6"/>
          </a:effectRef>
          <a:fontRef idx="minor">
            <a:schemeClr val="dk1"/>
          </a:fontRef>
        </p:style>
        <p:txBody>
          <a:bodyPr rtlCol="0" anchor="ctr"/>
          <a:lstStyle/>
          <a:p>
            <a:pPr marL="227013" lvl="1" indent="-227013">
              <a:buFont typeface="Arial" panose="020B0604020202020204" pitchFamily="34" charset="0"/>
              <a:buChar char="•"/>
            </a:pPr>
            <a:r>
              <a:rPr lang="en-US" sz="2000" dirty="0">
                <a:solidFill>
                  <a:schemeClr val="bg2"/>
                </a:solidFill>
                <a:latin typeface="Arial" panose="020B0604020202020204" pitchFamily="34" charset="0"/>
                <a:cs typeface="Arial" panose="020B0604020202020204" pitchFamily="34" charset="0"/>
              </a:rPr>
              <a:t>Layers (e.g., </a:t>
            </a:r>
            <a:r>
              <a:rPr lang="en-US" sz="2000" dirty="0" err="1">
                <a:solidFill>
                  <a:schemeClr val="bg2"/>
                </a:solidFill>
                <a:latin typeface="Arial" panose="020B0604020202020204" pitchFamily="34" charset="0"/>
                <a:cs typeface="Arial" panose="020B0604020202020204" pitchFamily="34" charset="0"/>
              </a:rPr>
              <a:t>torch.nn.Linear</a:t>
            </a:r>
            <a:r>
              <a:rPr lang="en-US" sz="2000" dirty="0">
                <a:solidFill>
                  <a:schemeClr val="bg2"/>
                </a:solidFill>
                <a:latin typeface="Arial" panose="020B0604020202020204" pitchFamily="34" charset="0"/>
                <a:cs typeface="Arial" panose="020B0604020202020204" pitchFamily="34" charset="0"/>
              </a:rPr>
              <a:t>, torch.nn.Conv2d)</a:t>
            </a:r>
          </a:p>
          <a:p>
            <a:pPr marL="227013" lvl="1" indent="-227013">
              <a:buFont typeface="Arial" panose="020B0604020202020204" pitchFamily="34" charset="0"/>
              <a:buChar char="•"/>
            </a:pPr>
            <a:r>
              <a:rPr lang="en-US" sz="2000" dirty="0">
                <a:solidFill>
                  <a:schemeClr val="bg2"/>
                </a:solidFill>
                <a:latin typeface="Arial" panose="020B0604020202020204" pitchFamily="34" charset="0"/>
                <a:cs typeface="Arial" panose="020B0604020202020204" pitchFamily="34" charset="0"/>
              </a:rPr>
              <a:t>Activation functions (e.g., </a:t>
            </a:r>
            <a:r>
              <a:rPr lang="en-US" sz="2000" dirty="0" err="1">
                <a:solidFill>
                  <a:schemeClr val="bg2"/>
                </a:solidFill>
                <a:latin typeface="Arial" panose="020B0604020202020204" pitchFamily="34" charset="0"/>
                <a:cs typeface="Arial" panose="020B0604020202020204" pitchFamily="34" charset="0"/>
              </a:rPr>
              <a:t>torch.nn.ReLU</a:t>
            </a:r>
            <a:r>
              <a:rPr lang="en-US" sz="2000" dirty="0">
                <a:solidFill>
                  <a:schemeClr val="bg2"/>
                </a:solidFill>
                <a:latin typeface="Arial" panose="020B0604020202020204" pitchFamily="34" charset="0"/>
                <a:cs typeface="Arial" panose="020B0604020202020204" pitchFamily="34" charset="0"/>
              </a:rPr>
              <a:t>, </a:t>
            </a:r>
            <a:r>
              <a:rPr lang="en-US" sz="2000" dirty="0" err="1">
                <a:solidFill>
                  <a:schemeClr val="bg2"/>
                </a:solidFill>
                <a:latin typeface="Arial" panose="020B0604020202020204" pitchFamily="34" charset="0"/>
                <a:cs typeface="Arial" panose="020B0604020202020204" pitchFamily="34" charset="0"/>
              </a:rPr>
              <a:t>torch.nn.Sigmoid</a:t>
            </a:r>
            <a:r>
              <a:rPr lang="en-US" sz="2000" dirty="0">
                <a:solidFill>
                  <a:schemeClr val="bg2"/>
                </a:solidFill>
                <a:latin typeface="Arial" panose="020B0604020202020204" pitchFamily="34" charset="0"/>
                <a:cs typeface="Arial" panose="020B0604020202020204" pitchFamily="34" charset="0"/>
              </a:rPr>
              <a:t>)</a:t>
            </a:r>
          </a:p>
          <a:p>
            <a:pPr marL="227013" lvl="1" indent="-227013">
              <a:buFont typeface="Arial" panose="020B0604020202020204" pitchFamily="34" charset="0"/>
              <a:buChar char="•"/>
            </a:pPr>
            <a:r>
              <a:rPr lang="en-US" sz="2000" dirty="0">
                <a:solidFill>
                  <a:schemeClr val="bg2"/>
                </a:solidFill>
                <a:latin typeface="Arial" panose="020B0604020202020204" pitchFamily="34" charset="0"/>
                <a:cs typeface="Arial" panose="020B0604020202020204" pitchFamily="34" charset="0"/>
              </a:rPr>
              <a:t>Loss functions (e.g., </a:t>
            </a:r>
            <a:r>
              <a:rPr lang="en-US" sz="2000" dirty="0" err="1">
                <a:solidFill>
                  <a:schemeClr val="bg2"/>
                </a:solidFill>
                <a:latin typeface="Arial" panose="020B0604020202020204" pitchFamily="34" charset="0"/>
                <a:cs typeface="Arial" panose="020B0604020202020204" pitchFamily="34" charset="0"/>
              </a:rPr>
              <a:t>torch.nn.CrossEntropyLoss</a:t>
            </a:r>
            <a:r>
              <a:rPr lang="en-US" sz="2000" dirty="0">
                <a:solidFill>
                  <a:schemeClr val="bg2"/>
                </a:solidFill>
                <a:latin typeface="Arial" panose="020B0604020202020204" pitchFamily="34" charset="0"/>
                <a:cs typeface="Arial" panose="020B0604020202020204" pitchFamily="34" charset="0"/>
              </a:rPr>
              <a:t>, </a:t>
            </a:r>
            <a:r>
              <a:rPr lang="en-US" sz="2000" dirty="0" err="1">
                <a:solidFill>
                  <a:schemeClr val="bg2"/>
                </a:solidFill>
                <a:latin typeface="Arial" panose="020B0604020202020204" pitchFamily="34" charset="0"/>
                <a:cs typeface="Arial" panose="020B0604020202020204" pitchFamily="34" charset="0"/>
              </a:rPr>
              <a:t>torch.nn.MSELoss</a:t>
            </a:r>
            <a:r>
              <a:rPr lang="en-US" sz="2000" dirty="0">
                <a:solidFill>
                  <a:schemeClr val="bg2"/>
                </a:solidFill>
                <a:latin typeface="Arial" panose="020B0604020202020204" pitchFamily="34" charset="0"/>
                <a:cs typeface="Arial" panose="020B0604020202020204" pitchFamily="34" charset="0"/>
              </a:rPr>
              <a:t>)</a:t>
            </a:r>
          </a:p>
          <a:p>
            <a:pPr marL="227013" lvl="1" indent="-227013">
              <a:buFont typeface="Arial" panose="020B0604020202020204" pitchFamily="34" charset="0"/>
              <a:buChar char="•"/>
            </a:pPr>
            <a:r>
              <a:rPr lang="en-US" sz="2000" dirty="0">
                <a:solidFill>
                  <a:schemeClr val="bg2"/>
                </a:solidFill>
                <a:latin typeface="Arial" panose="020B0604020202020204" pitchFamily="34" charset="0"/>
                <a:cs typeface="Arial" panose="020B0604020202020204" pitchFamily="34" charset="0"/>
              </a:rPr>
              <a:t>Utilities for building neural network models (</a:t>
            </a:r>
            <a:r>
              <a:rPr lang="en-US" sz="2000" dirty="0" err="1">
                <a:solidFill>
                  <a:schemeClr val="bg2"/>
                </a:solidFill>
                <a:latin typeface="Arial" panose="020B0604020202020204" pitchFamily="34" charset="0"/>
                <a:cs typeface="Arial" panose="020B0604020202020204" pitchFamily="34" charset="0"/>
              </a:rPr>
              <a:t>torch.nn.Module</a:t>
            </a:r>
            <a:r>
              <a:rPr lang="en-US" sz="2000" dirty="0">
                <a:solidFill>
                  <a:schemeClr val="bg2"/>
                </a:solidFill>
                <a:latin typeface="Arial" panose="020B0604020202020204" pitchFamily="34" charset="0"/>
                <a:cs typeface="Arial" panose="020B0604020202020204" pitchFamily="34" charset="0"/>
              </a:rPr>
              <a:t> base class)</a:t>
            </a:r>
          </a:p>
          <a:p>
            <a:pPr marL="227013" lvl="1" indent="-227013">
              <a:buFont typeface="Arial" panose="020B0604020202020204" pitchFamily="34" charset="0"/>
              <a:buChar char="•"/>
            </a:pPr>
            <a:r>
              <a:rPr lang="en-US" sz="2000" dirty="0">
                <a:solidFill>
                  <a:schemeClr val="bg2"/>
                </a:solidFill>
                <a:latin typeface="Arial" panose="020B0604020202020204" pitchFamily="34" charset="0"/>
                <a:cs typeface="Arial" panose="020B0604020202020204" pitchFamily="34" charset="0"/>
              </a:rPr>
              <a:t>Predefined models for various tasks (e.g., </a:t>
            </a:r>
            <a:r>
              <a:rPr lang="en-US" sz="2000" dirty="0" err="1">
                <a:solidFill>
                  <a:schemeClr val="bg2"/>
                </a:solidFill>
                <a:latin typeface="Arial" panose="020B0604020202020204" pitchFamily="34" charset="0"/>
                <a:cs typeface="Arial" panose="020B0604020202020204" pitchFamily="34" charset="0"/>
              </a:rPr>
              <a:t>ResNet</a:t>
            </a:r>
            <a:r>
              <a:rPr lang="en-US" sz="2000" dirty="0">
                <a:solidFill>
                  <a:schemeClr val="bg2"/>
                </a:solidFill>
                <a:latin typeface="Arial" panose="020B0604020202020204" pitchFamily="34" charset="0"/>
                <a:cs typeface="Arial" panose="020B0604020202020204" pitchFamily="34" charset="0"/>
              </a:rPr>
              <a:t>, VGG)</a:t>
            </a:r>
            <a:endParaRPr lang="en-US" sz="1600" dirty="0">
              <a:solidFill>
                <a:schemeClr val="bg2"/>
              </a:solidFill>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E4A606D5-3F79-E6E8-1A8C-C8D5A1CEC969}"/>
              </a:ext>
            </a:extLst>
          </p:cNvPr>
          <p:cNvGrpSpPr/>
          <p:nvPr/>
        </p:nvGrpSpPr>
        <p:grpSpPr>
          <a:xfrm>
            <a:off x="1827212" y="2590800"/>
            <a:ext cx="9067800" cy="1828800"/>
            <a:chOff x="1827212" y="2590800"/>
            <a:chExt cx="9067800" cy="1828800"/>
          </a:xfrm>
        </p:grpSpPr>
        <p:sp>
          <p:nvSpPr>
            <p:cNvPr id="3" name="Rectangle 2">
              <a:extLst>
                <a:ext uri="{FF2B5EF4-FFF2-40B4-BE49-F238E27FC236}">
                  <a16:creationId xmlns:a16="http://schemas.microsoft.com/office/drawing/2014/main" id="{F95E31F5-7C05-1A17-7E30-2A29C09DEF56}"/>
                </a:ext>
              </a:extLst>
            </p:cNvPr>
            <p:cNvSpPr/>
            <p:nvPr/>
          </p:nvSpPr>
          <p:spPr>
            <a:xfrm>
              <a:off x="1827212" y="2895600"/>
              <a:ext cx="9067800" cy="152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cs typeface="Arial" panose="020B0604020202020204" pitchFamily="34" charset="0"/>
                </a:rPr>
                <a:t>This module provides the building blocks to create and train neural networks</a:t>
              </a:r>
              <a:endParaRPr lang="en-US" sz="2400" dirty="0">
                <a:solidFill>
                  <a:schemeClr val="bg1"/>
                </a:solidFill>
              </a:endParaRPr>
            </a:p>
          </p:txBody>
        </p:sp>
        <p:sp>
          <p:nvSpPr>
            <p:cNvPr id="8" name="Rectangle 7">
              <a:extLst>
                <a:ext uri="{FF2B5EF4-FFF2-40B4-BE49-F238E27FC236}">
                  <a16:creationId xmlns:a16="http://schemas.microsoft.com/office/drawing/2014/main" id="{6E95028F-6D1A-2ED6-6AE5-8C9EC700D107}"/>
                </a:ext>
              </a:extLst>
            </p:cNvPr>
            <p:cNvSpPr/>
            <p:nvPr/>
          </p:nvSpPr>
          <p:spPr>
            <a:xfrm>
              <a:off x="1979612" y="2590800"/>
              <a:ext cx="2971800" cy="4572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200" b="1" dirty="0" err="1">
                  <a:latin typeface="Arial" panose="020B0604020202020204" pitchFamily="34" charset="0"/>
                  <a:cs typeface="Arial" panose="020B0604020202020204" pitchFamily="34" charset="0"/>
                </a:rPr>
                <a:t>torch.nn</a:t>
              </a:r>
              <a:endParaRPr lang="en-US" sz="3200" b="1"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984931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What is </a:t>
            </a:r>
            <a:r>
              <a:rPr lang="en-US" dirty="0" err="1"/>
              <a:t>PyTorch</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normAutofit/>
          </a:bodyPr>
          <a:lstStyle/>
          <a:p>
            <a:pPr marL="0" indent="0">
              <a:buNone/>
            </a:pP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consists in multiple modules (with different functionalities):</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F00E4C91-FACE-A39E-DE4F-22215267D9AA}"/>
              </a:ext>
            </a:extLst>
          </p:cNvPr>
          <p:cNvSpPr/>
          <p:nvPr/>
        </p:nvSpPr>
        <p:spPr>
          <a:xfrm>
            <a:off x="1827213" y="4495800"/>
            <a:ext cx="9067800" cy="1524000"/>
          </a:xfrm>
          <a:prstGeom prst="rect">
            <a:avLst/>
          </a:prstGeom>
          <a:solidFill>
            <a:schemeClr val="bg1">
              <a:lumMod val="95000"/>
            </a:schemeClr>
          </a:solidFill>
        </p:spPr>
        <p:style>
          <a:lnRef idx="2">
            <a:schemeClr val="accent6"/>
          </a:lnRef>
          <a:fillRef idx="1">
            <a:schemeClr val="lt1"/>
          </a:fillRef>
          <a:effectRef idx="0">
            <a:schemeClr val="accent6"/>
          </a:effectRef>
          <a:fontRef idx="minor">
            <a:schemeClr val="dk1"/>
          </a:fontRef>
        </p:style>
        <p:txBody>
          <a:bodyPr rtlCol="0" anchor="ctr"/>
          <a:lstStyle/>
          <a:p>
            <a:pPr marL="227013" lvl="1" indent="-227013">
              <a:buFont typeface="Arial" panose="020B0604020202020204" pitchFamily="34" charset="0"/>
              <a:buChar char="•"/>
            </a:pPr>
            <a:r>
              <a:rPr lang="en-US" sz="2000" dirty="0">
                <a:solidFill>
                  <a:schemeClr val="bg2"/>
                </a:solidFill>
                <a:latin typeface="Arial" panose="020B0604020202020204" pitchFamily="34" charset="0"/>
                <a:cs typeface="Arial" panose="020B0604020202020204" pitchFamily="34" charset="0"/>
              </a:rPr>
              <a:t>Stochastic Gradient Descent (</a:t>
            </a:r>
            <a:r>
              <a:rPr lang="en-US" sz="2000" dirty="0" err="1">
                <a:solidFill>
                  <a:schemeClr val="bg2"/>
                </a:solidFill>
                <a:latin typeface="Arial" panose="020B0604020202020204" pitchFamily="34" charset="0"/>
                <a:cs typeface="Arial" panose="020B0604020202020204" pitchFamily="34" charset="0"/>
              </a:rPr>
              <a:t>torch.optim.SGD</a:t>
            </a:r>
            <a:r>
              <a:rPr lang="en-US" sz="2000" dirty="0">
                <a:solidFill>
                  <a:schemeClr val="bg2"/>
                </a:solidFill>
                <a:latin typeface="Arial" panose="020B0604020202020204" pitchFamily="34" charset="0"/>
                <a:cs typeface="Arial" panose="020B0604020202020204" pitchFamily="34" charset="0"/>
              </a:rPr>
              <a:t>)</a:t>
            </a:r>
          </a:p>
          <a:p>
            <a:pPr marL="227013" lvl="1" indent="-227013">
              <a:buFont typeface="Arial" panose="020B0604020202020204" pitchFamily="34" charset="0"/>
              <a:buChar char="•"/>
            </a:pPr>
            <a:r>
              <a:rPr lang="en-US" sz="2000" dirty="0">
                <a:solidFill>
                  <a:schemeClr val="bg2"/>
                </a:solidFill>
                <a:latin typeface="Arial" panose="020B0604020202020204" pitchFamily="34" charset="0"/>
                <a:cs typeface="Arial" panose="020B0604020202020204" pitchFamily="34" charset="0"/>
              </a:rPr>
              <a:t>Adam (</a:t>
            </a:r>
            <a:r>
              <a:rPr lang="en-US" sz="2000" dirty="0" err="1">
                <a:solidFill>
                  <a:schemeClr val="bg2"/>
                </a:solidFill>
                <a:latin typeface="Arial" panose="020B0604020202020204" pitchFamily="34" charset="0"/>
                <a:cs typeface="Arial" panose="020B0604020202020204" pitchFamily="34" charset="0"/>
              </a:rPr>
              <a:t>torch.optim.Adam</a:t>
            </a:r>
            <a:r>
              <a:rPr lang="en-US" sz="2000" dirty="0">
                <a:solidFill>
                  <a:schemeClr val="bg2"/>
                </a:solidFill>
                <a:latin typeface="Arial" panose="020B0604020202020204" pitchFamily="34" charset="0"/>
                <a:cs typeface="Arial" panose="020B0604020202020204" pitchFamily="34" charset="0"/>
              </a:rPr>
              <a:t>)</a:t>
            </a:r>
          </a:p>
          <a:p>
            <a:pPr marL="227013" lvl="1" indent="-227013">
              <a:buFont typeface="Arial" panose="020B0604020202020204" pitchFamily="34" charset="0"/>
              <a:buChar char="•"/>
            </a:pPr>
            <a:r>
              <a:rPr lang="en-US" sz="2000" dirty="0">
                <a:solidFill>
                  <a:schemeClr val="bg2"/>
                </a:solidFill>
                <a:latin typeface="Arial" panose="020B0604020202020204" pitchFamily="34" charset="0"/>
                <a:cs typeface="Arial" panose="020B0604020202020204" pitchFamily="34" charset="0"/>
              </a:rPr>
              <a:t>RMSprop (</a:t>
            </a:r>
            <a:r>
              <a:rPr lang="en-US" sz="2000" dirty="0" err="1">
                <a:solidFill>
                  <a:schemeClr val="bg2"/>
                </a:solidFill>
                <a:latin typeface="Arial" panose="020B0604020202020204" pitchFamily="34" charset="0"/>
                <a:cs typeface="Arial" panose="020B0604020202020204" pitchFamily="34" charset="0"/>
              </a:rPr>
              <a:t>torch.optim.RMSprop</a:t>
            </a:r>
            <a:r>
              <a:rPr lang="en-US" sz="2000" dirty="0">
                <a:solidFill>
                  <a:schemeClr val="bg2"/>
                </a:solidFill>
                <a:latin typeface="Arial" panose="020B0604020202020204" pitchFamily="34" charset="0"/>
                <a:cs typeface="Arial" panose="020B0604020202020204" pitchFamily="34" charset="0"/>
              </a:rPr>
              <a:t>)</a:t>
            </a:r>
            <a:endParaRPr lang="en-US" sz="1600" dirty="0">
              <a:solidFill>
                <a:schemeClr val="bg2"/>
              </a:solidFill>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E4A606D5-3F79-E6E8-1A8C-C8D5A1CEC969}"/>
              </a:ext>
            </a:extLst>
          </p:cNvPr>
          <p:cNvGrpSpPr/>
          <p:nvPr/>
        </p:nvGrpSpPr>
        <p:grpSpPr>
          <a:xfrm>
            <a:off x="1827212" y="2590800"/>
            <a:ext cx="9067800" cy="1828800"/>
            <a:chOff x="1827212" y="2590800"/>
            <a:chExt cx="9067800" cy="1828800"/>
          </a:xfrm>
        </p:grpSpPr>
        <p:sp>
          <p:nvSpPr>
            <p:cNvPr id="3" name="Rectangle 2">
              <a:extLst>
                <a:ext uri="{FF2B5EF4-FFF2-40B4-BE49-F238E27FC236}">
                  <a16:creationId xmlns:a16="http://schemas.microsoft.com/office/drawing/2014/main" id="{F95E31F5-7C05-1A17-7E30-2A29C09DEF56}"/>
                </a:ext>
              </a:extLst>
            </p:cNvPr>
            <p:cNvSpPr/>
            <p:nvPr/>
          </p:nvSpPr>
          <p:spPr>
            <a:xfrm>
              <a:off x="1827212" y="2895600"/>
              <a:ext cx="9067800" cy="152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cs typeface="Arial" panose="020B0604020202020204" pitchFamily="34" charset="0"/>
                </a:rPr>
                <a:t>This module provides optimization algorithms to train neural networks. It includes various gradient descent-based optimizers.</a:t>
              </a:r>
            </a:p>
          </p:txBody>
        </p:sp>
        <p:sp>
          <p:nvSpPr>
            <p:cNvPr id="8" name="Rectangle 7">
              <a:extLst>
                <a:ext uri="{FF2B5EF4-FFF2-40B4-BE49-F238E27FC236}">
                  <a16:creationId xmlns:a16="http://schemas.microsoft.com/office/drawing/2014/main" id="{6E95028F-6D1A-2ED6-6AE5-8C9EC700D107}"/>
                </a:ext>
              </a:extLst>
            </p:cNvPr>
            <p:cNvSpPr/>
            <p:nvPr/>
          </p:nvSpPr>
          <p:spPr>
            <a:xfrm>
              <a:off x="1979612" y="2590800"/>
              <a:ext cx="2971800" cy="4572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200" b="1" dirty="0" err="1">
                  <a:latin typeface="Arial" panose="020B0604020202020204" pitchFamily="34" charset="0"/>
                  <a:cs typeface="Arial" panose="020B0604020202020204" pitchFamily="34" charset="0"/>
                </a:rPr>
                <a:t>torch.optim</a:t>
              </a:r>
              <a:endParaRPr lang="en-US" sz="3200" b="1"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220000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What is </a:t>
            </a:r>
            <a:r>
              <a:rPr lang="en-US" dirty="0" err="1"/>
              <a:t>PyTorch</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normAutofit/>
          </a:bodyPr>
          <a:lstStyle/>
          <a:p>
            <a:pPr marL="0" indent="0">
              <a:buNone/>
            </a:pP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consists in multiple modules (with different functionalities):</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F00E4C91-FACE-A39E-DE4F-22215267D9AA}"/>
              </a:ext>
            </a:extLst>
          </p:cNvPr>
          <p:cNvSpPr/>
          <p:nvPr/>
        </p:nvSpPr>
        <p:spPr>
          <a:xfrm>
            <a:off x="1827213" y="4495800"/>
            <a:ext cx="9067800" cy="1524000"/>
          </a:xfrm>
          <a:prstGeom prst="rect">
            <a:avLst/>
          </a:prstGeom>
          <a:solidFill>
            <a:schemeClr val="bg1">
              <a:lumMod val="95000"/>
            </a:schemeClr>
          </a:solidFill>
        </p:spPr>
        <p:style>
          <a:lnRef idx="2">
            <a:schemeClr val="accent6"/>
          </a:lnRef>
          <a:fillRef idx="1">
            <a:schemeClr val="lt1"/>
          </a:fillRef>
          <a:effectRef idx="0">
            <a:schemeClr val="accent6"/>
          </a:effectRef>
          <a:fontRef idx="minor">
            <a:schemeClr val="dk1"/>
          </a:fontRef>
        </p:style>
        <p:txBody>
          <a:bodyPr rtlCol="0" anchor="ctr"/>
          <a:lstStyle/>
          <a:p>
            <a:pPr marL="227013" lvl="1" indent="-227013">
              <a:buFont typeface="Arial" panose="020B0604020202020204" pitchFamily="34" charset="0"/>
              <a:buChar char="•"/>
            </a:pPr>
            <a:r>
              <a:rPr lang="en-US" sz="2000" dirty="0">
                <a:solidFill>
                  <a:schemeClr val="bg2"/>
                </a:solidFill>
                <a:latin typeface="Arial" panose="020B0604020202020204" pitchFamily="34" charset="0"/>
                <a:cs typeface="Arial" panose="020B0604020202020204" pitchFamily="34" charset="0"/>
              </a:rPr>
              <a:t>Provides the Variable class, which is now mostly integrated directly with tensors via the </a:t>
            </a:r>
            <a:r>
              <a:rPr lang="en-US" sz="2000" b="1" dirty="0" err="1">
                <a:solidFill>
                  <a:schemeClr val="bg2"/>
                </a:solidFill>
                <a:latin typeface="Arial" panose="020B0604020202020204" pitchFamily="34" charset="0"/>
                <a:cs typeface="Arial" panose="020B0604020202020204" pitchFamily="34" charset="0"/>
              </a:rPr>
              <a:t>requires_grad</a:t>
            </a:r>
            <a:r>
              <a:rPr lang="en-US" sz="2000" dirty="0">
                <a:solidFill>
                  <a:schemeClr val="bg2"/>
                </a:solidFill>
                <a:latin typeface="Arial" panose="020B0604020202020204" pitchFamily="34" charset="0"/>
                <a:cs typeface="Arial" panose="020B0604020202020204" pitchFamily="34" charset="0"/>
              </a:rPr>
              <a:t> attribute.</a:t>
            </a:r>
          </a:p>
          <a:p>
            <a:pPr marL="227013" lvl="1" indent="-227013">
              <a:buFont typeface="Arial" panose="020B0604020202020204" pitchFamily="34" charset="0"/>
              <a:buChar char="•"/>
            </a:pPr>
            <a:r>
              <a:rPr lang="en-US" sz="2000" dirty="0">
                <a:solidFill>
                  <a:schemeClr val="bg2"/>
                </a:solidFill>
                <a:latin typeface="Arial" panose="020B0604020202020204" pitchFamily="34" charset="0"/>
                <a:cs typeface="Arial" panose="020B0604020202020204" pitchFamily="34" charset="0"/>
              </a:rPr>
              <a:t>Manages the automatic differentiation of operations on tensors.</a:t>
            </a:r>
          </a:p>
          <a:p>
            <a:pPr marL="227013" lvl="1" indent="-227013">
              <a:buFont typeface="Arial" panose="020B0604020202020204" pitchFamily="34" charset="0"/>
              <a:buChar char="•"/>
            </a:pPr>
            <a:r>
              <a:rPr lang="en-US" sz="2000" dirty="0">
                <a:solidFill>
                  <a:schemeClr val="bg2"/>
                </a:solidFill>
                <a:latin typeface="Arial" panose="020B0604020202020204" pitchFamily="34" charset="0"/>
                <a:cs typeface="Arial" panose="020B0604020202020204" pitchFamily="34" charset="0"/>
              </a:rPr>
              <a:t>Contains the Function class, which forms the basis for the dynamic computation graph.</a:t>
            </a:r>
            <a:endParaRPr lang="en-US" sz="1600" dirty="0">
              <a:solidFill>
                <a:schemeClr val="bg2"/>
              </a:solidFill>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E4A606D5-3F79-E6E8-1A8C-C8D5A1CEC969}"/>
              </a:ext>
            </a:extLst>
          </p:cNvPr>
          <p:cNvGrpSpPr/>
          <p:nvPr/>
        </p:nvGrpSpPr>
        <p:grpSpPr>
          <a:xfrm>
            <a:off x="1827212" y="2590800"/>
            <a:ext cx="9067800" cy="1828800"/>
            <a:chOff x="1827212" y="2590800"/>
            <a:chExt cx="9067800" cy="1828800"/>
          </a:xfrm>
        </p:grpSpPr>
        <p:sp>
          <p:nvSpPr>
            <p:cNvPr id="3" name="Rectangle 2">
              <a:extLst>
                <a:ext uri="{FF2B5EF4-FFF2-40B4-BE49-F238E27FC236}">
                  <a16:creationId xmlns:a16="http://schemas.microsoft.com/office/drawing/2014/main" id="{F95E31F5-7C05-1A17-7E30-2A29C09DEF56}"/>
                </a:ext>
              </a:extLst>
            </p:cNvPr>
            <p:cNvSpPr/>
            <p:nvPr/>
          </p:nvSpPr>
          <p:spPr>
            <a:xfrm>
              <a:off x="1827212" y="2895600"/>
              <a:ext cx="9067800" cy="152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cs typeface="Arial" panose="020B0604020202020204" pitchFamily="34" charset="0"/>
                </a:rPr>
                <a:t>This module provides dynamic computation graph and automatic differentiation.</a:t>
              </a:r>
              <a:endParaRPr lang="en-US" sz="2400" dirty="0">
                <a:solidFill>
                  <a:schemeClr val="bg1"/>
                </a:solidFill>
              </a:endParaRPr>
            </a:p>
            <a:p>
              <a:pPr algn="ctr"/>
              <a:endParaRPr lang="en-US" sz="2400" dirty="0">
                <a:solidFill>
                  <a:schemeClr val="bg1"/>
                </a:solidFill>
              </a:endParaRPr>
            </a:p>
          </p:txBody>
        </p:sp>
        <p:sp>
          <p:nvSpPr>
            <p:cNvPr id="8" name="Rectangle 7">
              <a:extLst>
                <a:ext uri="{FF2B5EF4-FFF2-40B4-BE49-F238E27FC236}">
                  <a16:creationId xmlns:a16="http://schemas.microsoft.com/office/drawing/2014/main" id="{6E95028F-6D1A-2ED6-6AE5-8C9EC700D107}"/>
                </a:ext>
              </a:extLst>
            </p:cNvPr>
            <p:cNvSpPr/>
            <p:nvPr/>
          </p:nvSpPr>
          <p:spPr>
            <a:xfrm>
              <a:off x="1979612" y="2590800"/>
              <a:ext cx="3124200" cy="4572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200" b="1" dirty="0" err="1">
                  <a:latin typeface="Arial" panose="020B0604020202020204" pitchFamily="34" charset="0"/>
                  <a:cs typeface="Arial" panose="020B0604020202020204" pitchFamily="34" charset="0"/>
                </a:rPr>
                <a:t>torch.autograd</a:t>
              </a:r>
              <a:endParaRPr lang="en-US" sz="3200" b="1"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853871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What is </a:t>
            </a:r>
            <a:r>
              <a:rPr lang="en-US" dirty="0" err="1"/>
              <a:t>PyTorch</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normAutofit/>
          </a:bodyPr>
          <a:lstStyle/>
          <a:p>
            <a:pPr marL="0" indent="0">
              <a:buNone/>
            </a:pP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consists in multiple modules (with different functionalities):</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E4A606D5-3F79-E6E8-1A8C-C8D5A1CEC969}"/>
              </a:ext>
            </a:extLst>
          </p:cNvPr>
          <p:cNvGrpSpPr/>
          <p:nvPr/>
        </p:nvGrpSpPr>
        <p:grpSpPr>
          <a:xfrm>
            <a:off x="1827212" y="2590800"/>
            <a:ext cx="9067800" cy="1828800"/>
            <a:chOff x="1827212" y="2590800"/>
            <a:chExt cx="9067800" cy="1828800"/>
          </a:xfrm>
        </p:grpSpPr>
        <p:sp>
          <p:nvSpPr>
            <p:cNvPr id="3" name="Rectangle 2">
              <a:extLst>
                <a:ext uri="{FF2B5EF4-FFF2-40B4-BE49-F238E27FC236}">
                  <a16:creationId xmlns:a16="http://schemas.microsoft.com/office/drawing/2014/main" id="{F95E31F5-7C05-1A17-7E30-2A29C09DEF56}"/>
                </a:ext>
              </a:extLst>
            </p:cNvPr>
            <p:cNvSpPr/>
            <p:nvPr/>
          </p:nvSpPr>
          <p:spPr>
            <a:xfrm>
              <a:off x="1827212" y="2895600"/>
              <a:ext cx="9067800" cy="152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cs typeface="Arial" panose="020B0604020202020204" pitchFamily="34" charset="0"/>
                </a:rPr>
                <a:t>This is a utility module containing several sub-modules and tools for various tasks such as data loading, checkpoint, </a:t>
              </a:r>
              <a:r>
                <a:rPr lang="en-US" sz="2400" dirty="0" err="1">
                  <a:solidFill>
                    <a:schemeClr val="bg1"/>
                  </a:solidFill>
                  <a:latin typeface="Arial" panose="020B0604020202020204" pitchFamily="34" charset="0"/>
                  <a:cs typeface="Arial" panose="020B0604020202020204" pitchFamily="34" charset="0"/>
                </a:rPr>
                <a:t>etc</a:t>
              </a:r>
              <a:r>
                <a:rPr lang="en-US" sz="2400" dirty="0">
                  <a:solidFill>
                    <a:schemeClr val="bg1"/>
                  </a:solidFill>
                  <a:latin typeface="Arial" panose="020B0604020202020204" pitchFamily="34" charset="0"/>
                  <a:cs typeface="Arial" panose="020B0604020202020204" pitchFamily="34" charset="0"/>
                </a:rPr>
                <a:t>) </a:t>
              </a:r>
              <a:endParaRPr lang="en-US" sz="2400" dirty="0">
                <a:solidFill>
                  <a:schemeClr val="bg1"/>
                </a:solidFill>
              </a:endParaRPr>
            </a:p>
          </p:txBody>
        </p:sp>
        <p:sp>
          <p:nvSpPr>
            <p:cNvPr id="8" name="Rectangle 7">
              <a:extLst>
                <a:ext uri="{FF2B5EF4-FFF2-40B4-BE49-F238E27FC236}">
                  <a16:creationId xmlns:a16="http://schemas.microsoft.com/office/drawing/2014/main" id="{6E95028F-6D1A-2ED6-6AE5-8C9EC700D107}"/>
                </a:ext>
              </a:extLst>
            </p:cNvPr>
            <p:cNvSpPr/>
            <p:nvPr/>
          </p:nvSpPr>
          <p:spPr>
            <a:xfrm>
              <a:off x="1979612" y="2590800"/>
              <a:ext cx="3124200" cy="4572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200" b="1" dirty="0" err="1">
                  <a:latin typeface="Arial" panose="020B0604020202020204" pitchFamily="34" charset="0"/>
                  <a:cs typeface="Arial" panose="020B0604020202020204" pitchFamily="34" charset="0"/>
                </a:rPr>
                <a:t>torch.util</a:t>
              </a:r>
              <a:endParaRPr lang="en-US" sz="3200" b="1"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099306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What is </a:t>
            </a:r>
            <a:r>
              <a:rPr lang="en-US" dirty="0" err="1"/>
              <a:t>PyTorch</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normAutofit/>
          </a:bodyPr>
          <a:lstStyle/>
          <a:p>
            <a:pPr marL="0" indent="0">
              <a:buNone/>
            </a:pP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consists in multiple modules (with different functionalities):</a:t>
            </a:r>
          </a:p>
          <a:p>
            <a:pPr marL="0" indent="0">
              <a:buNone/>
            </a:pPr>
            <a:r>
              <a:rPr lang="en-US" dirty="0">
                <a:latin typeface="Arial" panose="020B0604020202020204" pitchFamily="34" charset="0"/>
                <a:cs typeface="Arial" panose="020B0604020202020204" pitchFamily="34" charset="0"/>
              </a:rPr>
              <a:t>Besides this, the following modules are also supported:</a:t>
            </a:r>
          </a:p>
          <a:p>
            <a:pPr lvl="1"/>
            <a:r>
              <a:rPr lang="en-US" b="1" dirty="0" err="1">
                <a:latin typeface="Arial" panose="020B0604020202020204" pitchFamily="34" charset="0"/>
                <a:cs typeface="Arial" panose="020B0604020202020204" pitchFamily="34" charset="0"/>
              </a:rPr>
              <a:t>torchvision</a:t>
            </a:r>
            <a:r>
              <a:rPr lang="en-US"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torchaudio</a:t>
            </a:r>
            <a:r>
              <a:rPr lang="en-US" dirty="0">
                <a:latin typeface="Arial" panose="020B0604020202020204" pitchFamily="34" charset="0"/>
                <a:cs typeface="Arial" panose="020B0604020202020204" pitchFamily="34" charset="0"/>
              </a:rPr>
              <a:t> and </a:t>
            </a:r>
            <a:r>
              <a:rPr lang="en-US" b="1" dirty="0" err="1">
                <a:latin typeface="Arial" panose="020B0604020202020204" pitchFamily="34" charset="0"/>
                <a:cs typeface="Arial" panose="020B0604020202020204" pitchFamily="34" charset="0"/>
              </a:rPr>
              <a:t>torchtext</a:t>
            </a:r>
            <a:r>
              <a:rPr lang="en-US" dirty="0">
                <a:latin typeface="Arial" panose="020B0604020202020204" pitchFamily="34" charset="0"/>
                <a:cs typeface="Arial" panose="020B0604020202020204" pitchFamily="34" charset="0"/>
              </a:rPr>
              <a:t> (tools, models and utilities for audio, vision and text processing)</a:t>
            </a:r>
          </a:p>
          <a:p>
            <a:pPr lvl="1"/>
            <a:endParaRPr lang="en-US" dirty="0">
              <a:latin typeface="Arial" panose="020B0604020202020204" pitchFamily="34" charset="0"/>
              <a:cs typeface="Arial" panose="020B0604020202020204" pitchFamily="34" charset="0"/>
            </a:endParaRPr>
          </a:p>
          <a:p>
            <a:pPr lvl="1"/>
            <a:r>
              <a:rPr lang="en-US" b="1" dirty="0" err="1">
                <a:latin typeface="Arial" panose="020B0604020202020204" pitchFamily="34" charset="0"/>
                <a:cs typeface="Arial" panose="020B0604020202020204" pitchFamily="34" charset="0"/>
              </a:rPr>
              <a:t>jit</a:t>
            </a:r>
            <a:r>
              <a:rPr lang="en-US" dirty="0">
                <a:latin typeface="Arial" panose="020B0604020202020204" pitchFamily="34" charset="0"/>
                <a:cs typeface="Arial" panose="020B0604020202020204" pitchFamily="34" charset="0"/>
              </a:rPr>
              <a:t> – a Just In Time compiler to convert </a:t>
            </a: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code into a form that can be optimized and executed in various environments without a dependency on the Python runtime</a:t>
            </a:r>
          </a:p>
          <a:p>
            <a:pPr lvl="1"/>
            <a:endParaRPr lang="en-US" dirty="0">
              <a:latin typeface="Arial" panose="020B0604020202020204" pitchFamily="34" charset="0"/>
              <a:cs typeface="Arial" panose="020B0604020202020204" pitchFamily="34" charset="0"/>
            </a:endParaRPr>
          </a:p>
          <a:p>
            <a:pPr lvl="1"/>
            <a:r>
              <a:rPr lang="en-US" b="1" dirty="0" err="1">
                <a:latin typeface="Arial" panose="020B0604020202020204" pitchFamily="34" charset="0"/>
                <a:cs typeface="Arial" panose="020B0604020202020204" pitchFamily="34" charset="0"/>
              </a:rPr>
              <a:t>onnx</a:t>
            </a:r>
            <a:r>
              <a:rPr lang="en-US" dirty="0">
                <a:latin typeface="Arial" panose="020B0604020202020204" pitchFamily="34" charset="0"/>
                <a:cs typeface="Arial" panose="020B0604020202020204" pitchFamily="34" charset="0"/>
              </a:rPr>
              <a:t> - exporting </a:t>
            </a: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models in the Open Neural Network Exchange (ONNX) format, which can then be consumed by various deep learning frameworks and tools.</a:t>
            </a:r>
            <a:endParaRPr lang="en-US" b="1"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3054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Data Types</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0251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Data types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pPr marL="0" indent="0">
              <a:buNone/>
            </a:pP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supports the most of the same types as NumPy supports.</a:t>
            </a:r>
          </a:p>
          <a:p>
            <a:r>
              <a:rPr lang="en-US" b="1" i="1" dirty="0">
                <a:latin typeface="Arial" panose="020B0604020202020204" pitchFamily="34" charset="0"/>
                <a:cs typeface="Arial" panose="020B0604020202020204" pitchFamily="34" charset="0"/>
              </a:rPr>
              <a:t>Integers</a:t>
            </a:r>
            <a:r>
              <a:rPr lang="en-US" dirty="0">
                <a:latin typeface="Arial" panose="020B0604020202020204" pitchFamily="34" charset="0"/>
                <a:cs typeface="Arial" panose="020B0604020202020204" pitchFamily="34" charset="0"/>
              </a:rPr>
              <a:t>:</a:t>
            </a:r>
          </a:p>
          <a:p>
            <a:pPr lvl="1"/>
            <a:r>
              <a:rPr lang="en-US" b="1" i="1" dirty="0">
                <a:solidFill>
                  <a:schemeClr val="bg1"/>
                </a:solidFill>
                <a:latin typeface="Arial" panose="020B0604020202020204" pitchFamily="34" charset="0"/>
                <a:cs typeface="Arial" panose="020B0604020202020204" pitchFamily="34" charset="0"/>
              </a:rPr>
              <a:t>int8</a:t>
            </a:r>
            <a:r>
              <a:rPr lang="en-US" dirty="0">
                <a:latin typeface="Arial" panose="020B0604020202020204" pitchFamily="34" charset="0"/>
                <a:cs typeface="Arial" panose="020B0604020202020204" pitchFamily="34" charset="0"/>
              </a:rPr>
              <a:t> : 8-bit signed integer (-128 to 127)</a:t>
            </a:r>
          </a:p>
          <a:p>
            <a:pPr lvl="1"/>
            <a:r>
              <a:rPr lang="en-US" b="1" i="1" dirty="0">
                <a:solidFill>
                  <a:schemeClr val="bg1"/>
                </a:solidFill>
                <a:latin typeface="Arial" panose="020B0604020202020204" pitchFamily="34" charset="0"/>
                <a:cs typeface="Arial" panose="020B0604020202020204" pitchFamily="34" charset="0"/>
              </a:rPr>
              <a:t>int16</a:t>
            </a:r>
            <a:r>
              <a:rPr lang="en-US" dirty="0">
                <a:latin typeface="Arial" panose="020B0604020202020204" pitchFamily="34" charset="0"/>
                <a:cs typeface="Arial" panose="020B0604020202020204" pitchFamily="34" charset="0"/>
              </a:rPr>
              <a:t> : 16-bit signed integer (-32768 to 32767)</a:t>
            </a:r>
          </a:p>
          <a:p>
            <a:pPr lvl="1"/>
            <a:r>
              <a:rPr lang="en-US" b="1" i="1" dirty="0">
                <a:solidFill>
                  <a:schemeClr val="bg1"/>
                </a:solidFill>
                <a:latin typeface="Arial" panose="020B0604020202020204" pitchFamily="34" charset="0"/>
                <a:cs typeface="Arial" panose="020B0604020202020204" pitchFamily="34" charset="0"/>
              </a:rPr>
              <a:t>int32</a:t>
            </a:r>
            <a:r>
              <a:rPr lang="en-US" dirty="0">
                <a:latin typeface="Arial" panose="020B0604020202020204" pitchFamily="34" charset="0"/>
                <a:cs typeface="Arial" panose="020B0604020202020204" pitchFamily="34" charset="0"/>
              </a:rPr>
              <a:t> : 32-bit signed integer (-2</a:t>
            </a:r>
            <a:r>
              <a:rPr lang="en-US" baseline="30000" dirty="0">
                <a:latin typeface="Arial" panose="020B0604020202020204" pitchFamily="34" charset="0"/>
                <a:cs typeface="Arial" panose="020B0604020202020204" pitchFamily="34" charset="0"/>
              </a:rPr>
              <a:t>31</a:t>
            </a:r>
            <a:r>
              <a:rPr lang="en-US" dirty="0">
                <a:latin typeface="Arial" panose="020B0604020202020204" pitchFamily="34" charset="0"/>
                <a:cs typeface="Arial" panose="020B0604020202020204" pitchFamily="34" charset="0"/>
              </a:rPr>
              <a:t> to 2</a:t>
            </a:r>
            <a:r>
              <a:rPr lang="en-US" baseline="30000" dirty="0">
                <a:latin typeface="Arial" panose="020B0604020202020204" pitchFamily="34" charset="0"/>
                <a:cs typeface="Arial" panose="020B0604020202020204" pitchFamily="34" charset="0"/>
              </a:rPr>
              <a:t>31</a:t>
            </a:r>
            <a:r>
              <a:rPr lang="en-US" dirty="0">
                <a:latin typeface="Arial" panose="020B0604020202020204" pitchFamily="34" charset="0"/>
                <a:cs typeface="Arial" panose="020B0604020202020204" pitchFamily="34" charset="0"/>
              </a:rPr>
              <a:t> -1)</a:t>
            </a:r>
          </a:p>
          <a:p>
            <a:pPr lvl="1"/>
            <a:r>
              <a:rPr lang="en-US" b="1" i="1" dirty="0">
                <a:solidFill>
                  <a:schemeClr val="bg1"/>
                </a:solidFill>
                <a:latin typeface="Arial" panose="020B0604020202020204" pitchFamily="34" charset="0"/>
                <a:cs typeface="Arial" panose="020B0604020202020204" pitchFamily="34" charset="0"/>
              </a:rPr>
              <a:t>int64</a:t>
            </a:r>
            <a:r>
              <a:rPr lang="en-US" dirty="0">
                <a:latin typeface="Arial" panose="020B0604020202020204" pitchFamily="34" charset="0"/>
                <a:cs typeface="Arial" panose="020B0604020202020204" pitchFamily="34" charset="0"/>
              </a:rPr>
              <a:t> : 64-bit signed integer (-2</a:t>
            </a:r>
            <a:r>
              <a:rPr lang="en-US" baseline="30000" dirty="0">
                <a:latin typeface="Arial" panose="020B0604020202020204" pitchFamily="34" charset="0"/>
                <a:cs typeface="Arial" panose="020B0604020202020204" pitchFamily="34" charset="0"/>
              </a:rPr>
              <a:t>63</a:t>
            </a:r>
            <a:r>
              <a:rPr lang="en-US" dirty="0">
                <a:latin typeface="Arial" panose="020B0604020202020204" pitchFamily="34" charset="0"/>
                <a:cs typeface="Arial" panose="020B0604020202020204" pitchFamily="34" charset="0"/>
              </a:rPr>
              <a:t> to 2</a:t>
            </a:r>
            <a:r>
              <a:rPr lang="en-US" baseline="30000" dirty="0">
                <a:latin typeface="Arial" panose="020B0604020202020204" pitchFamily="34" charset="0"/>
                <a:cs typeface="Arial" panose="020B0604020202020204" pitchFamily="34" charset="0"/>
              </a:rPr>
              <a:t>63</a:t>
            </a:r>
            <a:r>
              <a:rPr lang="en-US" dirty="0">
                <a:latin typeface="Arial" panose="020B0604020202020204" pitchFamily="34" charset="0"/>
                <a:cs typeface="Arial" panose="020B0604020202020204" pitchFamily="34" charset="0"/>
              </a:rPr>
              <a:t> -1)</a:t>
            </a:r>
          </a:p>
          <a:p>
            <a:r>
              <a:rPr lang="en-US" b="1" i="1" dirty="0">
                <a:latin typeface="Arial" panose="020B0604020202020204" pitchFamily="34" charset="0"/>
                <a:cs typeface="Arial" panose="020B0604020202020204" pitchFamily="34" charset="0"/>
              </a:rPr>
              <a:t>Unsigned Integers</a:t>
            </a:r>
            <a:r>
              <a:rPr lang="en-US" dirty="0">
                <a:latin typeface="Arial" panose="020B0604020202020204" pitchFamily="34" charset="0"/>
                <a:cs typeface="Arial" panose="020B0604020202020204" pitchFamily="34" charset="0"/>
              </a:rPr>
              <a:t>:</a:t>
            </a:r>
          </a:p>
          <a:p>
            <a:pPr lvl="1"/>
            <a:r>
              <a:rPr lang="en-US" b="1" i="1" dirty="0">
                <a:solidFill>
                  <a:schemeClr val="bg1"/>
                </a:solidFill>
                <a:latin typeface="Arial" panose="020B0604020202020204" pitchFamily="34" charset="0"/>
                <a:cs typeface="Arial" panose="020B0604020202020204" pitchFamily="34" charset="0"/>
              </a:rPr>
              <a:t>uint8</a:t>
            </a:r>
            <a:r>
              <a:rPr lang="en-US" dirty="0">
                <a:latin typeface="Arial" panose="020B0604020202020204" pitchFamily="34" charset="0"/>
                <a:cs typeface="Arial" panose="020B0604020202020204" pitchFamily="34" charset="0"/>
              </a:rPr>
              <a:t> : 8-bit unsigned integer (0 to 255)</a:t>
            </a:r>
          </a:p>
        </p:txBody>
      </p:sp>
    </p:spTree>
    <p:extLst>
      <p:ext uri="{BB962C8B-B14F-4D97-AF65-F5344CB8AC3E}">
        <p14:creationId xmlns:p14="http://schemas.microsoft.com/office/powerpoint/2010/main" val="2792773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Data types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pPr marL="0" indent="0">
              <a:buNone/>
            </a:pP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supports the same types as NumPy supports.</a:t>
            </a:r>
          </a:p>
          <a:p>
            <a:r>
              <a:rPr lang="en-US" b="1" i="1" dirty="0">
                <a:latin typeface="Arial" panose="020B0604020202020204" pitchFamily="34" charset="0"/>
                <a:cs typeface="Arial" panose="020B0604020202020204" pitchFamily="34" charset="0"/>
              </a:rPr>
              <a:t>Floating Point</a:t>
            </a:r>
            <a:r>
              <a:rPr lang="en-US" dirty="0">
                <a:latin typeface="Arial" panose="020B0604020202020204" pitchFamily="34" charset="0"/>
                <a:cs typeface="Arial" panose="020B0604020202020204" pitchFamily="34" charset="0"/>
              </a:rPr>
              <a:t>:</a:t>
            </a:r>
          </a:p>
          <a:p>
            <a:pPr lvl="1"/>
            <a:r>
              <a:rPr lang="en-US" b="1" i="1" dirty="0">
                <a:solidFill>
                  <a:schemeClr val="bg1"/>
                </a:solidFill>
                <a:latin typeface="Arial" panose="020B0604020202020204" pitchFamily="34" charset="0"/>
                <a:cs typeface="Arial" panose="020B0604020202020204" pitchFamily="34" charset="0"/>
              </a:rPr>
              <a:t>float16</a:t>
            </a:r>
            <a:r>
              <a:rPr lang="en-US" dirty="0">
                <a:latin typeface="Arial" panose="020B0604020202020204" pitchFamily="34" charset="0"/>
                <a:cs typeface="Arial" panose="020B0604020202020204" pitchFamily="34" charset="0"/>
              </a:rPr>
              <a:t>: Half precision float (or </a:t>
            </a:r>
            <a:r>
              <a:rPr lang="en-US" b="1" dirty="0">
                <a:latin typeface="Arial" panose="020B0604020202020204" pitchFamily="34" charset="0"/>
                <a:cs typeface="Arial" panose="020B0604020202020204" pitchFamily="34" charset="0"/>
              </a:rPr>
              <a:t>half</a:t>
            </a:r>
            <a:r>
              <a:rPr lang="en-US" dirty="0">
                <a:latin typeface="Arial" panose="020B0604020202020204" pitchFamily="34" charset="0"/>
                <a:cs typeface="Arial" panose="020B0604020202020204" pitchFamily="34" charset="0"/>
              </a:rPr>
              <a:t>)</a:t>
            </a:r>
          </a:p>
          <a:p>
            <a:pPr lvl="1"/>
            <a:r>
              <a:rPr lang="en-US" b="1" i="1" dirty="0">
                <a:solidFill>
                  <a:schemeClr val="bg1"/>
                </a:solidFill>
                <a:latin typeface="Arial" panose="020B0604020202020204" pitchFamily="34" charset="0"/>
                <a:cs typeface="Arial" panose="020B0604020202020204" pitchFamily="34" charset="0"/>
              </a:rPr>
              <a:t>float32</a:t>
            </a:r>
            <a:r>
              <a:rPr lang="en-US" dirty="0">
                <a:latin typeface="Arial" panose="020B0604020202020204" pitchFamily="34" charset="0"/>
                <a:cs typeface="Arial" panose="020B0604020202020204" pitchFamily="34" charset="0"/>
              </a:rPr>
              <a:t>: Single precision float (or </a:t>
            </a:r>
            <a:r>
              <a:rPr lang="en-US" b="1" dirty="0">
                <a:latin typeface="Arial" panose="020B0604020202020204" pitchFamily="34" charset="0"/>
                <a:cs typeface="Arial" panose="020B0604020202020204" pitchFamily="34" charset="0"/>
              </a:rPr>
              <a:t>float</a:t>
            </a:r>
            <a:r>
              <a:rPr lang="en-US" dirty="0">
                <a:latin typeface="Arial" panose="020B0604020202020204" pitchFamily="34" charset="0"/>
                <a:cs typeface="Arial" panose="020B0604020202020204" pitchFamily="34" charset="0"/>
              </a:rPr>
              <a:t>) (default)</a:t>
            </a:r>
          </a:p>
          <a:p>
            <a:pPr lvl="1"/>
            <a:r>
              <a:rPr lang="en-US" b="1" i="1" dirty="0">
                <a:solidFill>
                  <a:schemeClr val="bg1"/>
                </a:solidFill>
                <a:latin typeface="Arial" panose="020B0604020202020204" pitchFamily="34" charset="0"/>
                <a:cs typeface="Arial" panose="020B0604020202020204" pitchFamily="34" charset="0"/>
              </a:rPr>
              <a:t>float64</a:t>
            </a:r>
            <a:r>
              <a:rPr lang="en-US" dirty="0">
                <a:latin typeface="Arial" panose="020B0604020202020204" pitchFamily="34" charset="0"/>
                <a:cs typeface="Arial" panose="020B0604020202020204" pitchFamily="34" charset="0"/>
              </a:rPr>
              <a:t>: Double precision float (or </a:t>
            </a:r>
            <a:r>
              <a:rPr lang="en-US" b="1" dirty="0">
                <a:latin typeface="Arial" panose="020B0604020202020204" pitchFamily="34" charset="0"/>
                <a:cs typeface="Arial" panose="020B0604020202020204" pitchFamily="34" charset="0"/>
              </a:rPr>
              <a:t>double</a:t>
            </a:r>
            <a:r>
              <a:rPr lang="en-US" dirty="0">
                <a:latin typeface="Arial" panose="020B0604020202020204" pitchFamily="34" charset="0"/>
                <a:cs typeface="Arial" panose="020B0604020202020204" pitchFamily="34" charset="0"/>
              </a:rPr>
              <a:t>)</a:t>
            </a:r>
          </a:p>
          <a:p>
            <a:r>
              <a:rPr lang="en-US" b="1" i="1" dirty="0">
                <a:latin typeface="Arial" panose="020B0604020202020204" pitchFamily="34" charset="0"/>
                <a:cs typeface="Arial" panose="020B0604020202020204" pitchFamily="34" charset="0"/>
              </a:rPr>
              <a:t>Complex Numbers</a:t>
            </a:r>
            <a:r>
              <a:rPr lang="en-US" dirty="0">
                <a:latin typeface="Arial" panose="020B0604020202020204" pitchFamily="34" charset="0"/>
                <a:cs typeface="Arial" panose="020B0604020202020204" pitchFamily="34" charset="0"/>
              </a:rPr>
              <a:t>:</a:t>
            </a:r>
          </a:p>
          <a:p>
            <a:pPr lvl="1"/>
            <a:r>
              <a:rPr lang="en-US" b="1" i="1" dirty="0">
                <a:solidFill>
                  <a:schemeClr val="bg1"/>
                </a:solidFill>
                <a:latin typeface="Arial" panose="020B0604020202020204" pitchFamily="34" charset="0"/>
                <a:cs typeface="Arial" panose="020B0604020202020204" pitchFamily="34" charset="0"/>
              </a:rPr>
              <a:t>complex64</a:t>
            </a:r>
            <a:r>
              <a:rPr lang="en-US" dirty="0">
                <a:latin typeface="Arial" panose="020B0604020202020204" pitchFamily="34" charset="0"/>
                <a:cs typeface="Arial" panose="020B0604020202020204" pitchFamily="34" charset="0"/>
              </a:rPr>
              <a:t>: Complex number with two 32-bit floats (real and imaginary components)</a:t>
            </a:r>
          </a:p>
          <a:p>
            <a:pPr lvl="1"/>
            <a:r>
              <a:rPr lang="en-US" b="1" i="1" dirty="0">
                <a:solidFill>
                  <a:schemeClr val="bg1"/>
                </a:solidFill>
                <a:latin typeface="Arial" panose="020B0604020202020204" pitchFamily="34" charset="0"/>
                <a:cs typeface="Arial" panose="020B0604020202020204" pitchFamily="34" charset="0"/>
              </a:rPr>
              <a:t>complex128</a:t>
            </a:r>
            <a:r>
              <a:rPr lang="en-US" dirty="0">
                <a:latin typeface="Arial" panose="020B0604020202020204" pitchFamily="34" charset="0"/>
                <a:cs typeface="Arial" panose="020B0604020202020204" pitchFamily="34" charset="0"/>
              </a:rPr>
              <a:t>: Complex number with two 64-bit floats </a:t>
            </a:r>
          </a:p>
          <a:p>
            <a:r>
              <a:rPr lang="en-US" b="1" i="1" dirty="0">
                <a:latin typeface="Arial" panose="020B0604020202020204" pitchFamily="34" charset="0"/>
                <a:cs typeface="Arial" panose="020B0604020202020204" pitchFamily="34" charset="0"/>
              </a:rPr>
              <a:t>Boolean</a:t>
            </a:r>
            <a:r>
              <a:rPr lang="en-US" dirty="0">
                <a:latin typeface="Arial" panose="020B0604020202020204" pitchFamily="34" charset="0"/>
                <a:cs typeface="Arial" panose="020B0604020202020204" pitchFamily="34" charset="0"/>
              </a:rPr>
              <a:t>:</a:t>
            </a:r>
          </a:p>
          <a:p>
            <a:pPr lvl="1"/>
            <a:r>
              <a:rPr lang="en-US" b="1" dirty="0">
                <a:solidFill>
                  <a:schemeClr val="bg1"/>
                </a:solidFill>
                <a:latin typeface="Arial" panose="020B0604020202020204" pitchFamily="34" charset="0"/>
                <a:cs typeface="Arial" panose="020B0604020202020204" pitchFamily="34" charset="0"/>
              </a:rPr>
              <a:t>bool</a:t>
            </a:r>
            <a:r>
              <a:rPr lang="en-US" dirty="0">
                <a:latin typeface="Arial" panose="020B0604020202020204" pitchFamily="34" charset="0"/>
                <a:cs typeface="Arial" panose="020B0604020202020204" pitchFamily="34" charset="0"/>
              </a:rPr>
              <a:t>: Boolean type storing True and False values</a:t>
            </a:r>
          </a:p>
          <a:p>
            <a:pPr marL="365760" lvl="1"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7695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Data types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Most of these types are in fact C/C++ types (or the actual types that are accepted under the current architecture).</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Because of this, </a:t>
            </a:r>
            <a:r>
              <a:rPr lang="en-US" b="1" dirty="0" err="1">
                <a:latin typeface="Arial" panose="020B0604020202020204" pitchFamily="34" charset="0"/>
                <a:cs typeface="Arial" panose="020B0604020202020204" pitchFamily="34" charset="0"/>
              </a:rPr>
              <a:t>numpy</a:t>
            </a:r>
            <a:r>
              <a:rPr lang="en-US" dirty="0">
                <a:latin typeface="Arial" panose="020B0604020202020204" pitchFamily="34" charset="0"/>
                <a:cs typeface="Arial" panose="020B0604020202020204" pitchFamily="34" charset="0"/>
              </a:rPr>
              <a:t> and </a:t>
            </a:r>
            <a:r>
              <a:rPr lang="en-US" b="1"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can share some memory zones with continuous data (arrays).</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However, </a:t>
            </a:r>
            <a:r>
              <a:rPr lang="en-US" b="1"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has to take into consideration that not all CPU types have a similar type on the GPU (with a similar representation).  </a:t>
            </a:r>
          </a:p>
        </p:txBody>
      </p:sp>
    </p:spTree>
    <p:extLst>
      <p:ext uri="{BB962C8B-B14F-4D97-AF65-F5344CB8AC3E}">
        <p14:creationId xmlns:p14="http://schemas.microsoft.com/office/powerpoint/2010/main" val="3722652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Tensors</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81228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A tensor is a multi-dimensional array. It is very similar to a NumPy's array, but has some additional properties, the most important one being the ability to be used on GPUs (graphics processing units) to accelerate computing.</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 tensor (if runs on a CPU) can share the same memory with a NumPy array (making working with </a:t>
            </a:r>
            <a:r>
              <a:rPr lang="en-US" dirty="0" err="1">
                <a:latin typeface="Arial" panose="020B0604020202020204" pitchFamily="34" charset="0"/>
                <a:cs typeface="Arial" panose="020B0604020202020204" pitchFamily="34" charset="0"/>
              </a:rPr>
              <a:t>numpy</a:t>
            </a:r>
            <a:r>
              <a:rPr lang="en-US" dirty="0">
                <a:latin typeface="Arial" panose="020B0604020202020204" pitchFamily="34" charset="0"/>
                <a:cs typeface="Arial" panose="020B0604020202020204" pitchFamily="34" charset="0"/>
              </a:rPr>
              <a:t> fairly easy).</a:t>
            </a:r>
          </a:p>
        </p:txBody>
      </p:sp>
    </p:spTree>
    <p:extLst>
      <p:ext uri="{BB962C8B-B14F-4D97-AF65-F5344CB8AC3E}">
        <p14:creationId xmlns:p14="http://schemas.microsoft.com/office/powerpoint/2010/main" val="347574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080000"/>
          </a:xfrm>
        </p:spPr>
        <p:txBody>
          <a:bodyPr>
            <a:normAutofit/>
          </a:bodyPr>
          <a:lstStyle/>
          <a:p>
            <a:r>
              <a:rPr lang="en-US" dirty="0">
                <a:latin typeface="Arial" panose="020B0604020202020204" pitchFamily="34" charset="0"/>
                <a:cs typeface="Arial" panose="020B0604020202020204" pitchFamily="34" charset="0"/>
              </a:rPr>
              <a:t>A tensor can be created in the following ways:</a:t>
            </a:r>
          </a:p>
          <a:p>
            <a:pPr lvl="1"/>
            <a:r>
              <a:rPr lang="en-US" dirty="0">
                <a:latin typeface="Arial" panose="020B0604020202020204" pitchFamily="34" charset="0"/>
                <a:cs typeface="Arial" panose="020B0604020202020204" pitchFamily="34" charset="0"/>
              </a:rPr>
              <a:t>From a python list: </a:t>
            </a:r>
            <a:r>
              <a:rPr lang="en-US" b="1" dirty="0" err="1">
                <a:latin typeface="Arial" panose="020B0604020202020204" pitchFamily="34" charset="0"/>
                <a:cs typeface="Arial" panose="020B0604020202020204" pitchFamily="34" charset="0"/>
              </a:rPr>
              <a:t>torch.tensor</a:t>
            </a:r>
            <a:endParaRPr lang="en-US" b="1"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With zeros: </a:t>
            </a:r>
            <a:r>
              <a:rPr lang="en-US" b="1" dirty="0" err="1">
                <a:latin typeface="Arial" panose="020B0604020202020204" pitchFamily="34" charset="0"/>
                <a:cs typeface="Arial" panose="020B0604020202020204" pitchFamily="34" charset="0"/>
              </a:rPr>
              <a:t>torch.zeros</a:t>
            </a:r>
            <a:endParaRPr lang="en-US" b="1"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With ones: </a:t>
            </a:r>
            <a:r>
              <a:rPr lang="en-US" b="1" dirty="0" err="1">
                <a:latin typeface="Arial" panose="020B0604020202020204" pitchFamily="34" charset="0"/>
                <a:cs typeface="Arial" panose="020B0604020202020204" pitchFamily="34" charset="0"/>
              </a:rPr>
              <a:t>torch.ones</a:t>
            </a:r>
            <a:endParaRPr lang="en-US" b="1"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With random values: </a:t>
            </a:r>
            <a:r>
              <a:rPr lang="en-US" b="1" dirty="0" err="1">
                <a:latin typeface="Arial" panose="020B0604020202020204" pitchFamily="34" charset="0"/>
                <a:cs typeface="Arial" panose="020B0604020202020204" pitchFamily="34" charset="0"/>
              </a:rPr>
              <a:t>torch.rand</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torch.randn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torch.randint</a:t>
            </a:r>
            <a:endParaRPr lang="en-US" b="1"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With a specific value: </a:t>
            </a:r>
            <a:r>
              <a:rPr lang="en-US" b="1" dirty="0" err="1">
                <a:latin typeface="Arial" panose="020B0604020202020204" pitchFamily="34" charset="0"/>
                <a:cs typeface="Arial" panose="020B0604020202020204" pitchFamily="34" charset="0"/>
              </a:rPr>
              <a:t>torch.fill</a:t>
            </a:r>
            <a:endParaRPr lang="en-US" b="1"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Based on an interval: </a:t>
            </a:r>
            <a:r>
              <a:rPr lang="en-US" b="1" dirty="0" err="1">
                <a:latin typeface="Arial" panose="020B0604020202020204" pitchFamily="34" charset="0"/>
                <a:cs typeface="Arial" panose="020B0604020202020204" pitchFamily="34" charset="0"/>
              </a:rPr>
              <a:t>torch.arange</a:t>
            </a:r>
            <a:endParaRPr lang="en-US" b="1"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From a </a:t>
            </a:r>
            <a:r>
              <a:rPr lang="en-US" dirty="0" err="1">
                <a:latin typeface="Arial" panose="020B0604020202020204" pitchFamily="34" charset="0"/>
                <a:cs typeface="Arial" panose="020B0604020202020204" pitchFamily="34" charset="0"/>
              </a:rPr>
              <a:t>numpy</a:t>
            </a:r>
            <a:r>
              <a:rPr lang="en-US" dirty="0">
                <a:latin typeface="Arial" panose="020B0604020202020204" pitchFamily="34" charset="0"/>
                <a:cs typeface="Arial" panose="020B0604020202020204" pitchFamily="34" charset="0"/>
              </a:rPr>
              <a:t> array: </a:t>
            </a:r>
            <a:r>
              <a:rPr lang="en-US" b="1" dirty="0" err="1">
                <a:latin typeface="Arial" panose="020B0604020202020204" pitchFamily="34" charset="0"/>
                <a:cs typeface="Arial" panose="020B0604020202020204" pitchFamily="34" charset="0"/>
              </a:rPr>
              <a:t>torch.from_numpy</a:t>
            </a:r>
            <a:endParaRPr lang="en-US" b="1"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Or an empty one: </a:t>
            </a:r>
            <a:r>
              <a:rPr lang="en-US" b="1" dirty="0" err="1">
                <a:latin typeface="Arial" panose="020B0604020202020204" pitchFamily="34" charset="0"/>
                <a:cs typeface="Arial" panose="020B0604020202020204" pitchFamily="34" charset="0"/>
              </a:rPr>
              <a:t>torch.empty</a:t>
            </a:r>
            <a:endParaRPr lang="en-US" b="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format is similar to the one from </a:t>
            </a:r>
            <a:r>
              <a:rPr lang="en-US" dirty="0" err="1">
                <a:latin typeface="Arial" panose="020B0604020202020204" pitchFamily="34" charset="0"/>
                <a:cs typeface="Arial" panose="020B0604020202020204" pitchFamily="34" charset="0"/>
              </a:rPr>
              <a:t>numpy</a:t>
            </a:r>
            <a:r>
              <a:rPr lang="en-US" dirty="0">
                <a:latin typeface="Arial" panose="020B0604020202020204" pitchFamily="34" charset="0"/>
                <a:cs typeface="Arial" panose="020B0604020202020204" pitchFamily="34" charset="0"/>
              </a:rPr>
              <a:t> (meaning you have to provide a shape, a type, </a:t>
            </a:r>
            <a:r>
              <a:rPr lang="en-US" dirty="0" err="1">
                <a:latin typeface="Arial" panose="020B0604020202020204" pitchFamily="34" charset="0"/>
                <a:cs typeface="Arial" panose="020B0604020202020204" pitchFamily="34" charset="0"/>
              </a:rPr>
              <a:t>etc</a:t>
            </a:r>
            <a:r>
              <a:rPr lang="en-US"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95228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 calcmode="lin" valueType="num">
                                      <p:cBhvr additive="base">
                                        <p:cTn id="3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 calcmode="lin" valueType="num">
                                      <p:cBhvr additive="base">
                                        <p:cTn id="37"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
                                            <p:txEl>
                                              <p:pRg st="7" end="7"/>
                                            </p:txEl>
                                          </p:spTgt>
                                        </p:tgtEl>
                                        <p:attrNameLst>
                                          <p:attrName>style.visibility</p:attrName>
                                        </p:attrNameLst>
                                      </p:cBhvr>
                                      <p:to>
                                        <p:strVal val="visible"/>
                                      </p:to>
                                    </p:set>
                                    <p:anim calcmode="lin" valueType="num">
                                      <p:cBhvr additive="base">
                                        <p:cTn id="43"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
                                            <p:txEl>
                                              <p:pRg st="8" end="8"/>
                                            </p:txEl>
                                          </p:spTgt>
                                        </p:tgtEl>
                                        <p:attrNameLst>
                                          <p:attrName>style.visibility</p:attrName>
                                        </p:attrNameLst>
                                      </p:cBhvr>
                                      <p:to>
                                        <p:strVal val="visible"/>
                                      </p:to>
                                    </p:set>
                                    <p:anim calcmode="lin" valueType="num">
                                      <p:cBhvr additive="base">
                                        <p:cTn id="49"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6">
                                            <p:txEl>
                                              <p:pRg st="9" end="9"/>
                                            </p:txEl>
                                          </p:spTgt>
                                        </p:tgtEl>
                                        <p:attrNameLst>
                                          <p:attrName>style.visibility</p:attrName>
                                        </p:attrNameLst>
                                      </p:cBhvr>
                                      <p:to>
                                        <p:strVal val="visible"/>
                                      </p:to>
                                    </p:set>
                                    <p:animEffect transition="in" filter="randombar(horizontal)">
                                      <p:cBhvr>
                                        <p:cTn id="55"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Let’s see some examples on how to build a tensor.</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2219328"/>
            <a:ext cx="9144000" cy="3581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0" dirty="0">
                <a:solidFill>
                  <a:srgbClr val="B56AA6"/>
                </a:solidFill>
                <a:effectLst/>
                <a:latin typeface="Consolas" panose="020B0609020204030204" pitchFamily="49" charset="0"/>
              </a:rPr>
              <a:t>import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endParaRPr lang="fr-FR" b="0" dirty="0">
              <a:solidFill>
                <a:srgbClr val="DADADA"/>
              </a:solidFill>
              <a:effectLst/>
              <a:latin typeface="Consolas" panose="020B0609020204030204" pitchFamily="49" charset="0"/>
            </a:endParaRPr>
          </a:p>
          <a:p>
            <a:br>
              <a:rPr lang="fr-FR" b="0" dirty="0">
                <a:solidFill>
                  <a:srgbClr val="DADADA"/>
                </a:solidFill>
                <a:effectLst/>
                <a:latin typeface="Consolas" panose="020B0609020204030204" pitchFamily="49" charset="0"/>
              </a:rPr>
            </a:br>
            <a:r>
              <a:rPr lang="fr-FR" b="0" dirty="0">
                <a:solidFill>
                  <a:srgbClr val="229977"/>
                </a:solidFill>
                <a:effectLst/>
                <a:latin typeface="Consolas" panose="020B0609020204030204" pitchFamily="49" charset="0"/>
              </a:rPr>
              <a:t>t1</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r>
              <a:rPr lang="fr-FR" b="0" dirty="0" err="1">
                <a:solidFill>
                  <a:srgbClr val="B4B4B4"/>
                </a:solidFill>
                <a:effectLst/>
                <a:latin typeface="Consolas" panose="020B0609020204030204" pitchFamily="49" charset="0"/>
              </a:rPr>
              <a:t>.</a:t>
            </a:r>
            <a:r>
              <a:rPr lang="fr-FR" b="0" dirty="0" err="1">
                <a:solidFill>
                  <a:srgbClr val="A7A774"/>
                </a:solidFill>
                <a:effectLst/>
                <a:latin typeface="Consolas" panose="020B0609020204030204" pitchFamily="49" charset="0"/>
              </a:rPr>
              <a:t>tensor</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1</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2</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3</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a:solidFill>
                  <a:srgbClr val="229977"/>
                </a:solidFill>
                <a:effectLst/>
                <a:latin typeface="Consolas" panose="020B0609020204030204" pitchFamily="49" charset="0"/>
              </a:rPr>
              <a:t>t2</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r>
              <a:rPr lang="fr-FR" b="0" dirty="0" err="1">
                <a:solidFill>
                  <a:srgbClr val="B4B4B4"/>
                </a:solidFill>
                <a:effectLst/>
                <a:latin typeface="Consolas" panose="020B0609020204030204" pitchFamily="49" charset="0"/>
              </a:rPr>
              <a:t>.</a:t>
            </a:r>
            <a:r>
              <a:rPr lang="fr-FR" b="0" dirty="0" err="1">
                <a:solidFill>
                  <a:srgbClr val="A7A774"/>
                </a:solidFill>
                <a:effectLst/>
                <a:latin typeface="Consolas" panose="020B0609020204030204" pitchFamily="49" charset="0"/>
              </a:rPr>
              <a:t>ones</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2</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3</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a:solidFill>
                  <a:srgbClr val="229977"/>
                </a:solidFill>
                <a:effectLst/>
                <a:latin typeface="Consolas" panose="020B0609020204030204" pitchFamily="49" charset="0"/>
              </a:rPr>
              <a:t>t3</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r>
              <a:rPr lang="fr-FR" b="0" dirty="0" err="1">
                <a:solidFill>
                  <a:srgbClr val="B4B4B4"/>
                </a:solidFill>
                <a:effectLst/>
                <a:latin typeface="Consolas" panose="020B0609020204030204" pitchFamily="49" charset="0"/>
              </a:rPr>
              <a:t>.</a:t>
            </a:r>
            <a:r>
              <a:rPr lang="fr-FR" b="0" dirty="0" err="1">
                <a:solidFill>
                  <a:srgbClr val="A7A774"/>
                </a:solidFill>
                <a:effectLst/>
                <a:latin typeface="Consolas" panose="020B0609020204030204" pitchFamily="49" charset="0"/>
              </a:rPr>
              <a:t>zeros</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3</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2</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a:solidFill>
                  <a:srgbClr val="229977"/>
                </a:solidFill>
                <a:effectLst/>
                <a:latin typeface="Consolas" panose="020B0609020204030204" pitchFamily="49" charset="0"/>
              </a:rPr>
              <a:t>t4</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r>
              <a:rPr lang="fr-FR" b="0" dirty="0" err="1">
                <a:solidFill>
                  <a:srgbClr val="B4B4B4"/>
                </a:solidFill>
                <a:effectLst/>
                <a:latin typeface="Consolas" panose="020B0609020204030204" pitchFamily="49" charset="0"/>
              </a:rPr>
              <a:t>.</a:t>
            </a:r>
            <a:r>
              <a:rPr lang="fr-FR" b="0" dirty="0" err="1">
                <a:solidFill>
                  <a:srgbClr val="A7A774"/>
                </a:solidFill>
                <a:effectLst/>
                <a:latin typeface="Consolas" panose="020B0609020204030204" pitchFamily="49" charset="0"/>
              </a:rPr>
              <a:t>rand</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3</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3</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a:solidFill>
                  <a:srgbClr val="229977"/>
                </a:solidFill>
                <a:effectLst/>
                <a:latin typeface="Consolas" panose="020B0609020204030204" pitchFamily="49" charset="0"/>
              </a:rPr>
              <a:t>t5</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r>
              <a:rPr lang="fr-FR" b="0" dirty="0" err="1">
                <a:solidFill>
                  <a:srgbClr val="B4B4B4"/>
                </a:solidFill>
                <a:effectLst/>
                <a:latin typeface="Consolas" panose="020B0609020204030204" pitchFamily="49" charset="0"/>
              </a:rPr>
              <a:t>.</a:t>
            </a:r>
            <a:r>
              <a:rPr lang="fr-FR" b="0" dirty="0" err="1">
                <a:solidFill>
                  <a:srgbClr val="A7A774"/>
                </a:solidFill>
                <a:effectLst/>
                <a:latin typeface="Consolas" panose="020B0609020204030204" pitchFamily="49" charset="0"/>
              </a:rPr>
              <a:t>arange</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1</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9</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br>
              <a:rPr lang="fr-FR" b="0" dirty="0">
                <a:solidFill>
                  <a:srgbClr val="DADADA"/>
                </a:solidFill>
                <a:effectLst/>
                <a:latin typeface="Consolas" panose="020B0609020204030204" pitchFamily="49" charset="0"/>
              </a:rPr>
            </a:br>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t1=</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t1</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t2=</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t2</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t3=</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t3</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t4=</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t4</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t5=</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t5</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extLst>
              <p:ext uri="{D42A27DB-BD31-4B8C-83A1-F6EECF244321}">
                <p14:modId xmlns:p14="http://schemas.microsoft.com/office/powerpoint/2010/main" val="4157801816"/>
              </p:ext>
            </p:extLst>
          </p:nvPr>
        </p:nvGraphicFramePr>
        <p:xfrm>
          <a:off x="6246812" y="2369188"/>
          <a:ext cx="5434541" cy="2595880"/>
        </p:xfrm>
        <a:graphic>
          <a:graphicData uri="http://schemas.openxmlformats.org/drawingml/2006/table">
            <a:tbl>
              <a:tblPr firstRow="1" bandRow="1">
                <a:tableStyleId>{073A0DAA-6AF3-43AB-8588-CEC1D06C72B9}</a:tableStyleId>
              </a:tblPr>
              <a:tblGrid>
                <a:gridCol w="5434541">
                  <a:extLst>
                    <a:ext uri="{9D8B030D-6E8A-4147-A177-3AD203B41FA5}">
                      <a16:colId xmlns:a16="http://schemas.microsoft.com/office/drawing/2014/main" val="3899577134"/>
                    </a:ext>
                  </a:extLst>
                </a:gridCol>
              </a:tblGrid>
              <a:tr h="370840">
                <a:tc>
                  <a:txBody>
                    <a:bodyPr/>
                    <a:lstStyle/>
                    <a:p>
                      <a:r>
                        <a:rPr lang="en-US" dirty="0"/>
                        <a:t>Output</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t1= tensor([1, 2, 3])</a:t>
                      </a:r>
                    </a:p>
                    <a:p>
                      <a:r>
                        <a:rPr lang="en-US" dirty="0">
                          <a:solidFill>
                            <a:schemeClr val="tx2"/>
                          </a:solidFill>
                          <a:latin typeface="Consolas" panose="020B0609020204030204" pitchFamily="49" charset="0"/>
                        </a:rPr>
                        <a:t>t2= tensor([[1., 1., 1.],</a:t>
                      </a:r>
                    </a:p>
                    <a:p>
                      <a:r>
                        <a:rPr lang="en-US" dirty="0">
                          <a:solidFill>
                            <a:schemeClr val="tx2"/>
                          </a:solidFill>
                          <a:latin typeface="Consolas" panose="020B0609020204030204" pitchFamily="49" charset="0"/>
                        </a:rPr>
                        <a:t>        [1., 1., 1.]])</a:t>
                      </a:r>
                    </a:p>
                    <a:p>
                      <a:r>
                        <a:rPr lang="en-US" dirty="0">
                          <a:solidFill>
                            <a:schemeClr val="tx2"/>
                          </a:solidFill>
                          <a:latin typeface="Consolas" panose="020B0609020204030204" pitchFamily="49" charset="0"/>
                        </a:rPr>
                        <a:t>t3= tensor([[0., 0.],</a:t>
                      </a:r>
                    </a:p>
                    <a:p>
                      <a:r>
                        <a:rPr lang="en-US" dirty="0">
                          <a:solidFill>
                            <a:schemeClr val="tx2"/>
                          </a:solidFill>
                          <a:latin typeface="Consolas" panose="020B0609020204030204" pitchFamily="49" charset="0"/>
                        </a:rPr>
                        <a:t>        [0., 0.],</a:t>
                      </a:r>
                    </a:p>
                    <a:p>
                      <a:r>
                        <a:rPr lang="en-US" dirty="0">
                          <a:solidFill>
                            <a:schemeClr val="tx2"/>
                          </a:solidFill>
                          <a:latin typeface="Consolas" panose="020B0609020204030204" pitchFamily="49" charset="0"/>
                        </a:rPr>
                        <a:t>        [0., 0.]])</a:t>
                      </a:r>
                    </a:p>
                    <a:p>
                      <a:r>
                        <a:rPr lang="en-US" dirty="0">
                          <a:solidFill>
                            <a:schemeClr val="tx2"/>
                          </a:solidFill>
                          <a:latin typeface="Consolas" panose="020B0609020204030204" pitchFamily="49" charset="0"/>
                        </a:rPr>
                        <a:t>t4= tensor([[0.2781, 0.4629, 0.9208],</a:t>
                      </a:r>
                    </a:p>
                    <a:p>
                      <a:r>
                        <a:rPr lang="en-US" dirty="0">
                          <a:solidFill>
                            <a:schemeClr val="tx2"/>
                          </a:solidFill>
                          <a:latin typeface="Consolas" panose="020B0609020204030204" pitchFamily="49" charset="0"/>
                        </a:rPr>
                        <a:t>        [0.7049, 0.7303, 0.2473],</a:t>
                      </a:r>
                    </a:p>
                    <a:p>
                      <a:r>
                        <a:rPr lang="en-US" dirty="0">
                          <a:solidFill>
                            <a:schemeClr val="tx2"/>
                          </a:solidFill>
                          <a:latin typeface="Consolas" panose="020B0609020204030204" pitchFamily="49" charset="0"/>
                        </a:rPr>
                        <a:t>        [0.5844, 0.6176, 0.2701]])</a:t>
                      </a:r>
                    </a:p>
                    <a:p>
                      <a:r>
                        <a:rPr lang="en-US" dirty="0">
                          <a:solidFill>
                            <a:schemeClr val="tx2"/>
                          </a:solidFill>
                          <a:latin typeface="Consolas" panose="020B0609020204030204" pitchFamily="49" charset="0"/>
                        </a:rPr>
                        <a:t>t5= tensor([1, 2, 3, 4, 5, 6, 7, 8])</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437828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Or, if we want to specify a data type:</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2347916"/>
            <a:ext cx="9144000" cy="304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t1</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err="1">
                <a:solidFill>
                  <a:srgbClr val="9A9A9A"/>
                </a:solidFill>
                <a:effectLst/>
                <a:latin typeface="Consolas" panose="020B0609020204030204" pitchFamily="49" charset="0"/>
              </a:rPr>
              <a:t>dtype</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int16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t2</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ones</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err="1">
                <a:solidFill>
                  <a:srgbClr val="9A9A9A"/>
                </a:solidFill>
                <a:effectLst/>
                <a:latin typeface="Consolas" panose="020B0609020204030204" pitchFamily="49" charset="0"/>
              </a:rPr>
              <a:t>dtype</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int8</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t3</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zeros</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9A9A9A"/>
                </a:solidFill>
                <a:effectLst/>
                <a:latin typeface="Consolas" panose="020B0609020204030204" pitchFamily="49" charset="0"/>
              </a:rPr>
              <a:t>dtype</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uint8</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t4</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rand</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9A9A9A"/>
                </a:solidFill>
                <a:effectLst/>
                <a:latin typeface="Consolas" panose="020B0609020204030204" pitchFamily="49" charset="0"/>
              </a:rPr>
              <a:t>dtype</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float64</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t1=</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t1</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t2=</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t3=</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t3</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t4=</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t4</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extLst>
              <p:ext uri="{D42A27DB-BD31-4B8C-83A1-F6EECF244321}">
                <p14:modId xmlns:p14="http://schemas.microsoft.com/office/powerpoint/2010/main" val="2714066438"/>
              </p:ext>
            </p:extLst>
          </p:nvPr>
        </p:nvGraphicFramePr>
        <p:xfrm>
          <a:off x="4494212" y="4273657"/>
          <a:ext cx="7162800" cy="2382520"/>
        </p:xfrm>
        <a:graphic>
          <a:graphicData uri="http://schemas.openxmlformats.org/drawingml/2006/table">
            <a:tbl>
              <a:tblPr firstRow="1" bandRow="1">
                <a:tableStyleId>{073A0DAA-6AF3-43AB-8588-CEC1D06C72B9}</a:tableStyleId>
              </a:tblPr>
              <a:tblGrid>
                <a:gridCol w="7162800">
                  <a:extLst>
                    <a:ext uri="{9D8B030D-6E8A-4147-A177-3AD203B41FA5}">
                      <a16:colId xmlns:a16="http://schemas.microsoft.com/office/drawing/2014/main" val="3899577134"/>
                    </a:ext>
                  </a:extLst>
                </a:gridCol>
              </a:tblGrid>
              <a:tr h="370840">
                <a:tc>
                  <a:txBody>
                    <a:bodyPr/>
                    <a:lstStyle/>
                    <a:p>
                      <a:r>
                        <a:rPr lang="en-US" dirty="0">
                          <a:solidFill>
                            <a:schemeClr val="tx2"/>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t1= tensor([1, 2, 3], </a:t>
                      </a:r>
                      <a:r>
                        <a:rPr lang="en-US" dirty="0" err="1">
                          <a:solidFill>
                            <a:schemeClr val="tx2"/>
                          </a:solidFill>
                          <a:latin typeface="Consolas" panose="020B0609020204030204" pitchFamily="49" charset="0"/>
                        </a:rPr>
                        <a:t>dtype</a:t>
                      </a:r>
                      <a:r>
                        <a:rPr lang="en-US" dirty="0">
                          <a:solidFill>
                            <a:schemeClr val="tx2"/>
                          </a:solidFill>
                          <a:latin typeface="Consolas" panose="020B0609020204030204" pitchFamily="49" charset="0"/>
                        </a:rPr>
                        <a:t>=torch.int16)</a:t>
                      </a:r>
                    </a:p>
                    <a:p>
                      <a:r>
                        <a:rPr lang="en-US" dirty="0">
                          <a:solidFill>
                            <a:schemeClr val="tx2"/>
                          </a:solidFill>
                          <a:latin typeface="Consolas" panose="020B0609020204030204" pitchFamily="49" charset="0"/>
                        </a:rPr>
                        <a:t>t2= tensor([[1, 1, 1],</a:t>
                      </a:r>
                    </a:p>
                    <a:p>
                      <a:r>
                        <a:rPr lang="en-US" dirty="0">
                          <a:solidFill>
                            <a:schemeClr val="tx2"/>
                          </a:solidFill>
                          <a:latin typeface="Consolas" panose="020B0609020204030204" pitchFamily="49" charset="0"/>
                        </a:rPr>
                        <a:t>        [1, 1, 1]], </a:t>
                      </a:r>
                      <a:r>
                        <a:rPr lang="en-US" dirty="0" err="1">
                          <a:solidFill>
                            <a:schemeClr val="tx2"/>
                          </a:solidFill>
                          <a:latin typeface="Consolas" panose="020B0609020204030204" pitchFamily="49" charset="0"/>
                        </a:rPr>
                        <a:t>dtype</a:t>
                      </a:r>
                      <a:r>
                        <a:rPr lang="en-US" dirty="0">
                          <a:solidFill>
                            <a:schemeClr val="tx2"/>
                          </a:solidFill>
                          <a:latin typeface="Consolas" panose="020B0609020204030204" pitchFamily="49" charset="0"/>
                        </a:rPr>
                        <a:t>=torch.int8)</a:t>
                      </a:r>
                    </a:p>
                    <a:p>
                      <a:r>
                        <a:rPr lang="en-US" dirty="0">
                          <a:solidFill>
                            <a:schemeClr val="tx2"/>
                          </a:solidFill>
                          <a:latin typeface="Consolas" panose="020B0609020204030204" pitchFamily="49" charset="0"/>
                        </a:rPr>
                        <a:t>t3= tensor([[0, 0],</a:t>
                      </a:r>
                    </a:p>
                    <a:p>
                      <a:r>
                        <a:rPr lang="en-US" dirty="0">
                          <a:solidFill>
                            <a:schemeClr val="tx2"/>
                          </a:solidFill>
                          <a:latin typeface="Consolas" panose="020B0609020204030204" pitchFamily="49" charset="0"/>
                        </a:rPr>
                        <a:t>        [0, 0],</a:t>
                      </a:r>
                    </a:p>
                    <a:p>
                      <a:r>
                        <a:rPr lang="en-US" dirty="0">
                          <a:solidFill>
                            <a:schemeClr val="tx2"/>
                          </a:solidFill>
                          <a:latin typeface="Consolas" panose="020B0609020204030204" pitchFamily="49" charset="0"/>
                        </a:rPr>
                        <a:t>        [0, 0]], </a:t>
                      </a:r>
                      <a:r>
                        <a:rPr lang="en-US" dirty="0" err="1">
                          <a:solidFill>
                            <a:schemeClr val="tx2"/>
                          </a:solidFill>
                          <a:latin typeface="Consolas" panose="020B0609020204030204" pitchFamily="49" charset="0"/>
                        </a:rPr>
                        <a:t>dtype</a:t>
                      </a:r>
                      <a:r>
                        <a:rPr lang="en-US" dirty="0">
                          <a:solidFill>
                            <a:schemeClr val="tx2"/>
                          </a:solidFill>
                          <a:latin typeface="Consolas" panose="020B0609020204030204" pitchFamily="49" charset="0"/>
                        </a:rPr>
                        <a:t>=torch.uint8)</a:t>
                      </a:r>
                    </a:p>
                    <a:p>
                      <a:r>
                        <a:rPr lang="en-US" dirty="0">
                          <a:solidFill>
                            <a:schemeClr val="tx2"/>
                          </a:solidFill>
                          <a:latin typeface="Consolas" panose="020B0609020204030204" pitchFamily="49" charset="0"/>
                        </a:rPr>
                        <a:t>t4= tensor([[0.0195, 0.6436, 0.0213],</a:t>
                      </a:r>
                    </a:p>
                    <a:p>
                      <a:r>
                        <a:rPr lang="en-US" dirty="0">
                          <a:solidFill>
                            <a:schemeClr val="tx2"/>
                          </a:solidFill>
                          <a:latin typeface="Consolas" panose="020B0609020204030204" pitchFamily="49" charset="0"/>
                        </a:rPr>
                        <a:t>        [0.5023, 0.0195, 0.4338],</a:t>
                      </a:r>
                    </a:p>
                    <a:p>
                      <a:r>
                        <a:rPr lang="en-US" dirty="0">
                          <a:solidFill>
                            <a:schemeClr val="tx2"/>
                          </a:solidFill>
                          <a:latin typeface="Consolas" panose="020B0609020204030204" pitchFamily="49" charset="0"/>
                        </a:rPr>
                        <a:t>        [0.0393, 0.8765, 0.1443]], </a:t>
                      </a:r>
                      <a:r>
                        <a:rPr lang="en-US" dirty="0" err="1">
                          <a:solidFill>
                            <a:schemeClr val="tx2"/>
                          </a:solidFill>
                          <a:latin typeface="Consolas" panose="020B0609020204030204" pitchFamily="49" charset="0"/>
                        </a:rPr>
                        <a:t>dtype</a:t>
                      </a:r>
                      <a:r>
                        <a:rPr lang="en-US" dirty="0">
                          <a:solidFill>
                            <a:schemeClr val="tx2"/>
                          </a:solidFill>
                          <a:latin typeface="Consolas" panose="020B0609020204030204" pitchFamily="49" charset="0"/>
                        </a:rPr>
                        <a:t>=torch.float64)</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580969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As previously said, a </a:t>
            </a:r>
            <a:r>
              <a:rPr lang="en-US" b="1" dirty="0" err="1">
                <a:latin typeface="Arial" panose="020B0604020202020204" pitchFamily="34" charset="0"/>
                <a:cs typeface="Arial" panose="020B0604020202020204" pitchFamily="34" charset="0"/>
              </a:rPr>
              <a:t>numpy</a:t>
            </a:r>
            <a:r>
              <a:rPr lang="en-US" dirty="0">
                <a:latin typeface="Arial" panose="020B0604020202020204" pitchFamily="34" charset="0"/>
                <a:cs typeface="Arial" panose="020B0604020202020204" pitchFamily="34" charset="0"/>
              </a:rPr>
              <a:t> array can also be used as a parameter to create a tensor.</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2571752"/>
            <a:ext cx="9144000" cy="1905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from_numpy</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t=</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extLst>
              <p:ext uri="{D42A27DB-BD31-4B8C-83A1-F6EECF244321}">
                <p14:modId xmlns:p14="http://schemas.microsoft.com/office/powerpoint/2010/main" val="2955096301"/>
              </p:ext>
            </p:extLst>
          </p:nvPr>
        </p:nvGraphicFramePr>
        <p:xfrm>
          <a:off x="8304212" y="2893060"/>
          <a:ext cx="3224741" cy="1529080"/>
        </p:xfrm>
        <a:graphic>
          <a:graphicData uri="http://schemas.openxmlformats.org/drawingml/2006/table">
            <a:tbl>
              <a:tblPr firstRow="1" bandRow="1">
                <a:tableStyleId>{073A0DAA-6AF3-43AB-8588-CEC1D06C72B9}</a:tableStyleId>
              </a:tblPr>
              <a:tblGrid>
                <a:gridCol w="322474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a:t>
                      </a:r>
                    </a:p>
                  </a:txBody>
                  <a:tcPr/>
                </a:tc>
                <a:extLst>
                  <a:ext uri="{0D108BD9-81ED-4DB2-BD59-A6C34878D82A}">
                    <a16:rowId xmlns:a16="http://schemas.microsoft.com/office/drawing/2014/main" val="117988312"/>
                  </a:ext>
                </a:extLst>
              </a:tr>
              <a:tr h="370840">
                <a:tc>
                  <a:txBody>
                    <a:bodyPr/>
                    <a:lstStyle/>
                    <a:p>
                      <a:r>
                        <a:rPr lang="fr-FR" dirty="0">
                          <a:solidFill>
                            <a:schemeClr val="tx2"/>
                          </a:solidFill>
                          <a:latin typeface="Consolas" panose="020B0609020204030204" pitchFamily="49" charset="0"/>
                        </a:rPr>
                        <a:t>a= [[1 2 3]</a:t>
                      </a:r>
                    </a:p>
                    <a:p>
                      <a:r>
                        <a:rPr lang="fr-FR" dirty="0">
                          <a:solidFill>
                            <a:schemeClr val="tx2"/>
                          </a:solidFill>
                          <a:latin typeface="Consolas" panose="020B0609020204030204" pitchFamily="49" charset="0"/>
                        </a:rPr>
                        <a:t> [4 5 6]]</a:t>
                      </a:r>
                    </a:p>
                    <a:p>
                      <a:r>
                        <a:rPr lang="fr-FR" dirty="0">
                          <a:solidFill>
                            <a:schemeClr val="tx2"/>
                          </a:solidFill>
                          <a:latin typeface="Consolas" panose="020B0609020204030204" pitchFamily="49" charset="0"/>
                        </a:rPr>
                        <a:t>t= </a:t>
                      </a:r>
                      <a:r>
                        <a:rPr lang="fr-FR" dirty="0" err="1">
                          <a:solidFill>
                            <a:schemeClr val="tx2"/>
                          </a:solidFill>
                          <a:latin typeface="Consolas" panose="020B0609020204030204" pitchFamily="49" charset="0"/>
                        </a:rPr>
                        <a:t>tensor</a:t>
                      </a:r>
                      <a:r>
                        <a:rPr lang="fr-FR" dirty="0">
                          <a:solidFill>
                            <a:schemeClr val="tx2"/>
                          </a:solidFill>
                          <a:latin typeface="Consolas" panose="020B0609020204030204" pitchFamily="49" charset="0"/>
                        </a:rPr>
                        <a:t>([[1, 2, 3],</a:t>
                      </a:r>
                    </a:p>
                    <a:p>
                      <a:r>
                        <a:rPr lang="fr-FR" dirty="0">
                          <a:solidFill>
                            <a:schemeClr val="tx2"/>
                          </a:solidFill>
                          <a:latin typeface="Consolas" panose="020B0609020204030204" pitchFamily="49" charset="0"/>
                        </a:rPr>
                        <a:t>        [4, 5, 6]], </a:t>
                      </a:r>
                      <a:r>
                        <a:rPr lang="fr-FR" dirty="0" err="1">
                          <a:solidFill>
                            <a:schemeClr val="tx2"/>
                          </a:solidFill>
                          <a:latin typeface="Consolas" panose="020B0609020204030204" pitchFamily="49" charset="0"/>
                        </a:rPr>
                        <a:t>dtype</a:t>
                      </a:r>
                      <a:r>
                        <a:rPr lang="fr-FR" dirty="0">
                          <a:solidFill>
                            <a:schemeClr val="tx2"/>
                          </a:solidFill>
                          <a:latin typeface="Consolas" panose="020B0609020204030204" pitchFamily="49" charset="0"/>
                        </a:rPr>
                        <a:t>=torch.int32)</a:t>
                      </a:r>
                      <a:endParaRPr lang="en-US" dirty="0">
                        <a:solidFill>
                          <a:schemeClr val="tx2"/>
                        </a:solidFill>
                        <a:latin typeface="Consolas" panose="020B0609020204030204" pitchFamily="49" charset="0"/>
                      </a:endParaRP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675115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What is important to understand in this case is that they share the same memory space (if run on CPU)</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2514600"/>
            <a:ext cx="9144000" cy="2667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from_numpy</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t=</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E0EBB2"/>
                </a:solidFill>
                <a:effectLst/>
                <a:latin typeface="Consolas" panose="020B0609020204030204" pitchFamily="49" charset="0"/>
              </a:rPr>
              <a:t>100</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extLst>
              <p:ext uri="{D42A27DB-BD31-4B8C-83A1-F6EECF244321}">
                <p14:modId xmlns:p14="http://schemas.microsoft.com/office/powerpoint/2010/main" val="1024904765"/>
              </p:ext>
            </p:extLst>
          </p:nvPr>
        </p:nvGraphicFramePr>
        <p:xfrm>
          <a:off x="8151812" y="2893060"/>
          <a:ext cx="3377141" cy="2169160"/>
        </p:xfrm>
        <a:graphic>
          <a:graphicData uri="http://schemas.openxmlformats.org/drawingml/2006/table">
            <a:tbl>
              <a:tblPr firstRow="1" bandRow="1">
                <a:tableStyleId>{073A0DAA-6AF3-43AB-8588-CEC1D06C72B9}</a:tableStyleId>
              </a:tblPr>
              <a:tblGrid>
                <a:gridCol w="337714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a:t>
                      </a:r>
                    </a:p>
                  </a:txBody>
                  <a:tcPr/>
                </a:tc>
                <a:extLst>
                  <a:ext uri="{0D108BD9-81ED-4DB2-BD59-A6C34878D82A}">
                    <a16:rowId xmlns:a16="http://schemas.microsoft.com/office/drawing/2014/main" val="117988312"/>
                  </a:ext>
                </a:extLst>
              </a:tr>
              <a:tr h="370840">
                <a:tc>
                  <a:txBody>
                    <a:bodyPr/>
                    <a:lstStyle/>
                    <a:p>
                      <a:r>
                        <a:rPr lang="fr-FR" dirty="0">
                          <a:solidFill>
                            <a:schemeClr val="tx2"/>
                          </a:solidFill>
                          <a:latin typeface="Consolas" panose="020B0609020204030204" pitchFamily="49" charset="0"/>
                        </a:rPr>
                        <a:t>a= [[1 2 3]</a:t>
                      </a:r>
                    </a:p>
                    <a:p>
                      <a:r>
                        <a:rPr lang="fr-FR" dirty="0">
                          <a:solidFill>
                            <a:schemeClr val="tx2"/>
                          </a:solidFill>
                          <a:latin typeface="Consolas" panose="020B0609020204030204" pitchFamily="49" charset="0"/>
                        </a:rPr>
                        <a:t> [4 5 6]]</a:t>
                      </a:r>
                    </a:p>
                    <a:p>
                      <a:r>
                        <a:rPr lang="fr-FR" dirty="0">
                          <a:solidFill>
                            <a:schemeClr val="tx2"/>
                          </a:solidFill>
                          <a:latin typeface="Consolas" panose="020B0609020204030204" pitchFamily="49" charset="0"/>
                        </a:rPr>
                        <a:t>t= </a:t>
                      </a:r>
                      <a:r>
                        <a:rPr lang="fr-FR" dirty="0" err="1">
                          <a:solidFill>
                            <a:schemeClr val="tx2"/>
                          </a:solidFill>
                          <a:latin typeface="Consolas" panose="020B0609020204030204" pitchFamily="49" charset="0"/>
                        </a:rPr>
                        <a:t>tensor</a:t>
                      </a:r>
                      <a:r>
                        <a:rPr lang="fr-FR" dirty="0">
                          <a:solidFill>
                            <a:schemeClr val="tx2"/>
                          </a:solidFill>
                          <a:latin typeface="Consolas" panose="020B0609020204030204" pitchFamily="49" charset="0"/>
                        </a:rPr>
                        <a:t>([[1, 2, 3],</a:t>
                      </a:r>
                    </a:p>
                    <a:p>
                      <a:r>
                        <a:rPr lang="fr-FR" dirty="0">
                          <a:solidFill>
                            <a:schemeClr val="tx2"/>
                          </a:solidFill>
                          <a:latin typeface="Consolas" panose="020B0609020204030204" pitchFamily="49" charset="0"/>
                        </a:rPr>
                        <a:t>        [4, 5, 6]], </a:t>
                      </a:r>
                      <a:r>
                        <a:rPr lang="fr-FR" dirty="0" err="1">
                          <a:solidFill>
                            <a:schemeClr val="tx2"/>
                          </a:solidFill>
                          <a:latin typeface="Consolas" panose="020B0609020204030204" pitchFamily="49" charset="0"/>
                        </a:rPr>
                        <a:t>dtype</a:t>
                      </a:r>
                      <a:r>
                        <a:rPr lang="fr-FR" dirty="0">
                          <a:solidFill>
                            <a:schemeClr val="tx2"/>
                          </a:solidFill>
                          <a:latin typeface="Consolas" panose="020B0609020204030204" pitchFamily="49" charset="0"/>
                        </a:rPr>
                        <a:t>=torch.int32)</a:t>
                      </a:r>
                    </a:p>
                    <a:p>
                      <a:r>
                        <a:rPr lang="en-US" dirty="0">
                          <a:solidFill>
                            <a:schemeClr val="tx2"/>
                          </a:solidFill>
                          <a:latin typeface="Consolas" panose="020B0609020204030204" pitchFamily="49" charset="0"/>
                        </a:rPr>
                        <a:t>tensor([[  1,   2,   3],</a:t>
                      </a:r>
                    </a:p>
                    <a:p>
                      <a:r>
                        <a:rPr lang="en-US" dirty="0">
                          <a:solidFill>
                            <a:schemeClr val="tx2"/>
                          </a:solidFill>
                          <a:latin typeface="Consolas" panose="020B0609020204030204" pitchFamily="49" charset="0"/>
                        </a:rPr>
                        <a:t>        [  4, 100,   6]], </a:t>
                      </a:r>
                      <a:r>
                        <a:rPr lang="en-US" dirty="0" err="1">
                          <a:solidFill>
                            <a:schemeClr val="tx2"/>
                          </a:solidFill>
                          <a:latin typeface="Consolas" panose="020B0609020204030204" pitchFamily="49" charset="0"/>
                        </a:rPr>
                        <a:t>dtype</a:t>
                      </a:r>
                      <a:r>
                        <a:rPr lang="en-US" dirty="0">
                          <a:solidFill>
                            <a:schemeClr val="tx2"/>
                          </a:solidFill>
                          <a:latin typeface="Consolas" panose="020B0609020204030204" pitchFamily="49" charset="0"/>
                        </a:rPr>
                        <a:t>=torch.int32)</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BB2779A7-3979-E976-2C47-37D6FC6E9B3F}"/>
              </a:ext>
            </a:extLst>
          </p:cNvPr>
          <p:cNvSpPr/>
          <p:nvPr/>
        </p:nvSpPr>
        <p:spPr>
          <a:xfrm>
            <a:off x="1965011" y="4267200"/>
            <a:ext cx="1771837" cy="6858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83998A1-EBF3-98D8-BC33-943E0E4176B4}"/>
              </a:ext>
            </a:extLst>
          </p:cNvPr>
          <p:cNvSpPr/>
          <p:nvPr/>
        </p:nvSpPr>
        <p:spPr>
          <a:xfrm>
            <a:off x="9580982" y="4557879"/>
            <a:ext cx="518800" cy="3048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allout: Up Arrow 7">
            <a:extLst>
              <a:ext uri="{FF2B5EF4-FFF2-40B4-BE49-F238E27FC236}">
                <a16:creationId xmlns:a16="http://schemas.microsoft.com/office/drawing/2014/main" id="{A0ED576D-88DF-43ED-4BA9-0D7BD4BE810A}"/>
              </a:ext>
            </a:extLst>
          </p:cNvPr>
          <p:cNvSpPr/>
          <p:nvPr/>
        </p:nvSpPr>
        <p:spPr>
          <a:xfrm>
            <a:off x="1293812" y="5257800"/>
            <a:ext cx="4114800" cy="1003046"/>
          </a:xfrm>
          <a:prstGeom prst="upArrowCallo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800" dirty="0">
                <a:latin typeface="Arial" panose="020B0604020202020204" pitchFamily="34" charset="0"/>
                <a:cs typeface="Arial" panose="020B0604020202020204" pitchFamily="34" charset="0"/>
              </a:rPr>
              <a:t>Notice that if we modify variable </a:t>
            </a:r>
            <a:r>
              <a:rPr lang="en-US" sz="1800" dirty="0">
                <a:highlight>
                  <a:srgbClr val="000000"/>
                </a:highlight>
                <a:latin typeface="Arial" panose="020B0604020202020204" pitchFamily="34" charset="0"/>
                <a:cs typeface="Arial" panose="020B0604020202020204" pitchFamily="34" charset="0"/>
              </a:rPr>
              <a:t>a</a:t>
            </a:r>
            <a:r>
              <a:rPr lang="en-US" sz="1800" dirty="0">
                <a:latin typeface="Arial" panose="020B0604020202020204" pitchFamily="34" charset="0"/>
                <a:cs typeface="Arial" panose="020B0604020202020204" pitchFamily="34" charset="0"/>
              </a:rPr>
              <a:t>, the tensor </a:t>
            </a:r>
            <a:r>
              <a:rPr lang="en-US" sz="1800" dirty="0">
                <a:highlight>
                  <a:srgbClr val="000000"/>
                </a:highlight>
                <a:latin typeface="Arial" panose="020B0604020202020204" pitchFamily="34" charset="0"/>
                <a:cs typeface="Arial" panose="020B0604020202020204" pitchFamily="34" charset="0"/>
              </a:rPr>
              <a:t> t </a:t>
            </a:r>
            <a:r>
              <a:rPr lang="en-US" sz="1800" dirty="0">
                <a:latin typeface="Arial" panose="020B0604020202020204" pitchFamily="34" charset="0"/>
                <a:cs typeface="Arial" panose="020B0604020202020204" pitchFamily="34" charset="0"/>
              </a:rPr>
              <a:t> is changing as well</a:t>
            </a:r>
          </a:p>
        </p:txBody>
      </p:sp>
    </p:spTree>
    <p:extLst>
      <p:ext uri="{BB962C8B-B14F-4D97-AF65-F5344CB8AC3E}">
        <p14:creationId xmlns:p14="http://schemas.microsoft.com/office/powerpoint/2010/main" val="2946721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randombar(horizontal)">
                                      <p:cBhvr>
                                        <p:cTn id="11" dur="500"/>
                                        <p:tgtEl>
                                          <p:spTgt spid="7"/>
                                        </p:tgtEl>
                                      </p:cBhvr>
                                    </p:animEffect>
                                  </p:childTnLst>
                                </p:cTn>
                              </p:par>
                            </p:childTnLst>
                          </p:cTn>
                        </p:par>
                        <p:par>
                          <p:cTn id="12" fill="hold">
                            <p:stCondLst>
                              <p:cond delay="1000"/>
                            </p:stCondLst>
                            <p:childTnLst>
                              <p:par>
                                <p:cTn id="13" presetID="2" presetClass="entr" presetSubtype="4"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The indexing and slicing rules apply in a similar manner as with NumPy.</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2652716"/>
            <a:ext cx="9144000" cy="3581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0" dirty="0">
                <a:solidFill>
                  <a:srgbClr val="B56AA6"/>
                </a:solidFill>
                <a:effectLst/>
                <a:latin typeface="Consolas" panose="020B0609020204030204" pitchFamily="49" charset="0"/>
              </a:rPr>
              <a:t>import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endParaRPr lang="fr-FR" b="0" dirty="0">
              <a:solidFill>
                <a:srgbClr val="DADADA"/>
              </a:solidFill>
              <a:effectLst/>
              <a:latin typeface="Consolas" panose="020B0609020204030204" pitchFamily="49" charset="0"/>
            </a:endParaRPr>
          </a:p>
          <a:p>
            <a:br>
              <a:rPr lang="fr-FR" b="0" dirty="0">
                <a:solidFill>
                  <a:srgbClr val="DADADA"/>
                </a:solidFill>
                <a:effectLst/>
                <a:latin typeface="Consolas" panose="020B0609020204030204" pitchFamily="49" charset="0"/>
              </a:rPr>
            </a:br>
            <a:r>
              <a:rPr lang="fr-FR" b="0" dirty="0">
                <a:solidFill>
                  <a:srgbClr val="229977"/>
                </a:solidFill>
                <a:effectLst/>
                <a:latin typeface="Consolas" panose="020B0609020204030204" pitchFamily="49" charset="0"/>
              </a:rPr>
              <a:t>t</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r>
              <a:rPr lang="fr-FR" b="0" dirty="0" err="1">
                <a:solidFill>
                  <a:srgbClr val="B4B4B4"/>
                </a:solidFill>
                <a:effectLst/>
                <a:latin typeface="Consolas" panose="020B0609020204030204" pitchFamily="49" charset="0"/>
              </a:rPr>
              <a:t>.</a:t>
            </a:r>
            <a:r>
              <a:rPr lang="fr-FR" b="0" dirty="0" err="1">
                <a:solidFill>
                  <a:srgbClr val="A7A774"/>
                </a:solidFill>
                <a:effectLst/>
                <a:latin typeface="Consolas" panose="020B0609020204030204" pitchFamily="49" charset="0"/>
              </a:rPr>
              <a:t>tensor</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1</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2</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3</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4</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5</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6</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t[0,0]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0</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0</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t[0]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0</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t[-1,-1]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a:t>
            </a:r>
            <a:r>
              <a:rPr lang="fr-FR" b="0" dirty="0">
                <a:solidFill>
                  <a:srgbClr val="B4B4B4"/>
                </a:solidFill>
                <a:effectLst/>
                <a:latin typeface="Consolas" panose="020B0609020204030204" pitchFamily="49" charset="0"/>
              </a:rPr>
              <a:t>[</a:t>
            </a:r>
            <a:r>
              <a:rPr lang="fr-FR" b="0" dirty="0">
                <a:solidFill>
                  <a:srgbClr val="C0C0C0"/>
                </a:solidFill>
                <a:effectLst/>
                <a:latin typeface="Consolas" panose="020B0609020204030204" pitchFamily="49" charset="0"/>
              </a:rPr>
              <a:t>-</a:t>
            </a:r>
            <a:r>
              <a:rPr lang="fr-FR" b="0" dirty="0">
                <a:solidFill>
                  <a:srgbClr val="E0EBB2"/>
                </a:solidFill>
                <a:effectLst/>
                <a:latin typeface="Consolas" panose="020B0609020204030204" pitchFamily="49" charset="0"/>
              </a:rPr>
              <a:t>1</a:t>
            </a:r>
            <a:r>
              <a:rPr lang="fr-FR" b="0" dirty="0">
                <a:solidFill>
                  <a:srgbClr val="B4B4B4"/>
                </a:solidFill>
                <a:effectLst/>
                <a:latin typeface="Consolas" panose="020B0609020204030204" pitchFamily="49" charset="0"/>
              </a:rPr>
              <a:t>,</a:t>
            </a:r>
            <a:r>
              <a:rPr lang="fr-FR" b="0" dirty="0">
                <a:solidFill>
                  <a:srgbClr val="C0C0C0"/>
                </a:solidFill>
                <a:effectLst/>
                <a:latin typeface="Consolas" panose="020B0609020204030204" pitchFamily="49" charset="0"/>
              </a:rPr>
              <a:t>-</a:t>
            </a:r>
            <a:r>
              <a:rPr lang="fr-FR" b="0" dirty="0">
                <a:solidFill>
                  <a:srgbClr val="E0EBB2"/>
                </a:solidFill>
                <a:effectLst/>
                <a:latin typeface="Consolas" panose="020B0609020204030204" pitchFamily="49" charset="0"/>
              </a:rPr>
              <a:t>1</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t[0,:1]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0</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2</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t[-1,1:]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a:t>
            </a:r>
            <a:r>
              <a:rPr lang="fr-FR" b="0" dirty="0">
                <a:solidFill>
                  <a:srgbClr val="B4B4B4"/>
                </a:solidFill>
                <a:effectLst/>
                <a:latin typeface="Consolas" panose="020B0609020204030204" pitchFamily="49" charset="0"/>
              </a:rPr>
              <a:t>[</a:t>
            </a:r>
            <a:r>
              <a:rPr lang="fr-FR" b="0" dirty="0">
                <a:solidFill>
                  <a:srgbClr val="C0C0C0"/>
                </a:solidFill>
                <a:effectLst/>
                <a:latin typeface="Consolas" panose="020B0609020204030204" pitchFamily="49" charset="0"/>
              </a:rPr>
              <a:t>-</a:t>
            </a:r>
            <a:r>
              <a:rPr lang="fr-FR" b="0" dirty="0">
                <a:solidFill>
                  <a:srgbClr val="E0EBB2"/>
                </a:solidFill>
                <a:effectLst/>
                <a:latin typeface="Consolas" panose="020B0609020204030204" pitchFamily="49" charset="0"/>
              </a:rPr>
              <a:t>1</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1</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br>
              <a:rPr lang="fr-FR" b="0" dirty="0">
                <a:solidFill>
                  <a:srgbClr val="DADADA"/>
                </a:solidFill>
                <a:effectLst/>
                <a:latin typeface="Consolas" panose="020B0609020204030204" pitchFamily="49" charset="0"/>
              </a:rPr>
            </a:br>
            <a:r>
              <a:rPr lang="fr-FR" b="0" dirty="0">
                <a:solidFill>
                  <a:srgbClr val="229977"/>
                </a:solidFill>
                <a:effectLst/>
                <a:latin typeface="Consolas" panose="020B0609020204030204" pitchFamily="49" charset="0"/>
              </a:rPr>
              <a:t>v</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r>
              <a:rPr lang="fr-FR" b="0" dirty="0" err="1">
                <a:solidFill>
                  <a:srgbClr val="B4B4B4"/>
                </a:solidFill>
                <a:effectLst/>
                <a:latin typeface="Consolas" panose="020B0609020204030204" pitchFamily="49" charset="0"/>
              </a:rPr>
              <a:t>.</a:t>
            </a:r>
            <a:r>
              <a:rPr lang="fr-FR" b="0" dirty="0" err="1">
                <a:solidFill>
                  <a:srgbClr val="A7A774"/>
                </a:solidFill>
                <a:effectLst/>
                <a:latin typeface="Consolas" panose="020B0609020204030204" pitchFamily="49" charset="0"/>
              </a:rPr>
              <a:t>tensor</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1</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2</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3</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4</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5</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v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v</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v[v&gt;3]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v</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v</a:t>
            </a:r>
            <a:r>
              <a:rPr lang="fr-FR" b="0" dirty="0">
                <a:solidFill>
                  <a:srgbClr val="C0C0C0"/>
                </a:solidFill>
                <a:effectLst/>
                <a:latin typeface="Consolas" panose="020B0609020204030204" pitchFamily="49" charset="0"/>
              </a:rPr>
              <a:t>&gt;</a:t>
            </a:r>
            <a:r>
              <a:rPr lang="fr-FR" b="0" dirty="0">
                <a:solidFill>
                  <a:srgbClr val="E0EBB2"/>
                </a:solidFill>
                <a:effectLst/>
                <a:latin typeface="Consolas" panose="020B0609020204030204" pitchFamily="49" charset="0"/>
              </a:rPr>
              <a:t>3</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extLst>
              <p:ext uri="{D42A27DB-BD31-4B8C-83A1-F6EECF244321}">
                <p14:modId xmlns:p14="http://schemas.microsoft.com/office/powerpoint/2010/main" val="1860438797"/>
              </p:ext>
            </p:extLst>
          </p:nvPr>
        </p:nvGraphicFramePr>
        <p:xfrm>
          <a:off x="7175812" y="2821372"/>
          <a:ext cx="4572000" cy="2169160"/>
        </p:xfrm>
        <a:graphic>
          <a:graphicData uri="http://schemas.openxmlformats.org/drawingml/2006/table">
            <a:tbl>
              <a:tblPr firstRow="1" bandRow="1">
                <a:tableStyleId>{073A0DAA-6AF3-43AB-8588-CEC1D06C72B9}</a:tableStyleId>
              </a:tblPr>
              <a:tblGrid>
                <a:gridCol w="4572000">
                  <a:extLst>
                    <a:ext uri="{9D8B030D-6E8A-4147-A177-3AD203B41FA5}">
                      <a16:colId xmlns:a16="http://schemas.microsoft.com/office/drawing/2014/main" val="3899577134"/>
                    </a:ext>
                  </a:extLst>
                </a:gridCol>
              </a:tblGrid>
              <a:tr h="370840">
                <a:tc>
                  <a:txBody>
                    <a:bodyPr/>
                    <a:lstStyle/>
                    <a:p>
                      <a:r>
                        <a:rPr lang="en-US" dirty="0">
                          <a:solidFill>
                            <a:schemeClr val="tx2"/>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t[0,0]    =  tensor(1)</a:t>
                      </a:r>
                    </a:p>
                    <a:p>
                      <a:r>
                        <a:rPr lang="en-US" dirty="0">
                          <a:solidFill>
                            <a:schemeClr val="tx2"/>
                          </a:solidFill>
                          <a:latin typeface="Consolas" panose="020B0609020204030204" pitchFamily="49" charset="0"/>
                        </a:rPr>
                        <a:t>t[0]      =  tensor([1, 2, 3])</a:t>
                      </a:r>
                    </a:p>
                    <a:p>
                      <a:r>
                        <a:rPr lang="en-US" dirty="0">
                          <a:solidFill>
                            <a:schemeClr val="tx2"/>
                          </a:solidFill>
                          <a:latin typeface="Consolas" panose="020B0609020204030204" pitchFamily="49" charset="0"/>
                        </a:rPr>
                        <a:t>t[-1,-1]  =  tensor(6)</a:t>
                      </a:r>
                    </a:p>
                    <a:p>
                      <a:r>
                        <a:rPr lang="en-US" dirty="0">
                          <a:solidFill>
                            <a:schemeClr val="tx2"/>
                          </a:solidFill>
                          <a:latin typeface="Consolas" panose="020B0609020204030204" pitchFamily="49" charset="0"/>
                        </a:rPr>
                        <a:t>t[0,:1]   =  tensor([1, 2])</a:t>
                      </a:r>
                    </a:p>
                    <a:p>
                      <a:r>
                        <a:rPr lang="en-US" dirty="0">
                          <a:solidFill>
                            <a:schemeClr val="tx2"/>
                          </a:solidFill>
                          <a:latin typeface="Consolas" panose="020B0609020204030204" pitchFamily="49" charset="0"/>
                        </a:rPr>
                        <a:t>t[-1,1:]  =  tensor([5, 6])</a:t>
                      </a:r>
                    </a:p>
                    <a:p>
                      <a:endParaRPr lang="en-US" dirty="0">
                        <a:solidFill>
                          <a:schemeClr val="tx2"/>
                        </a:solidFill>
                        <a:latin typeface="Consolas" panose="020B0609020204030204" pitchFamily="49" charset="0"/>
                      </a:endParaRPr>
                    </a:p>
                    <a:p>
                      <a:r>
                        <a:rPr lang="en-US" dirty="0">
                          <a:solidFill>
                            <a:schemeClr val="tx2"/>
                          </a:solidFill>
                          <a:latin typeface="Consolas" panose="020B0609020204030204" pitchFamily="49" charset="0"/>
                        </a:rPr>
                        <a:t>v      =  tensor([1, 2, 3, 4, 5])</a:t>
                      </a:r>
                    </a:p>
                    <a:p>
                      <a:r>
                        <a:rPr lang="en-US" dirty="0">
                          <a:solidFill>
                            <a:schemeClr val="tx2"/>
                          </a:solidFill>
                          <a:latin typeface="Consolas" panose="020B0609020204030204" pitchFamily="49" charset="0"/>
                        </a:rPr>
                        <a:t>v[v&gt;3] =  tensor([4, 5])</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250587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Similarly, for a tensor there are several information that can be provided (such as shape, element size, </a:t>
            </a:r>
            <a:r>
              <a:rPr lang="en-US" dirty="0" err="1">
                <a:latin typeface="Arial" panose="020B0604020202020204" pitchFamily="34" charset="0"/>
                <a:cs typeface="Arial" panose="020B0604020202020204" pitchFamily="34" charset="0"/>
              </a:rPr>
              <a:t>etc</a:t>
            </a:r>
            <a:r>
              <a:rPr lang="en-US" dirty="0">
                <a:latin typeface="Arial" panose="020B0604020202020204" pitchFamily="34" charset="0"/>
                <a:cs typeface="Arial" panose="020B0604020202020204" pitchFamily="34" charset="0"/>
              </a:rPr>
              <a:t>). Additionally, an extra property called .device can provide information on tensor location (CPU or GPU)</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3276600"/>
            <a:ext cx="9144000" cy="2438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Shape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t</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shape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Type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t</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Dim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t</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ndim</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Size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t</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element_size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Device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t</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device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extLst>
              <p:ext uri="{D42A27DB-BD31-4B8C-83A1-F6EECF244321}">
                <p14:modId xmlns:p14="http://schemas.microsoft.com/office/powerpoint/2010/main" val="2528220277"/>
              </p:ext>
            </p:extLst>
          </p:nvPr>
        </p:nvGraphicFramePr>
        <p:xfrm>
          <a:off x="7161212" y="3581400"/>
          <a:ext cx="4572000" cy="1463040"/>
        </p:xfrm>
        <a:graphic>
          <a:graphicData uri="http://schemas.openxmlformats.org/drawingml/2006/table">
            <a:tbl>
              <a:tblPr firstRow="1" bandRow="1">
                <a:tableStyleId>{073A0DAA-6AF3-43AB-8588-CEC1D06C72B9}</a:tableStyleId>
              </a:tblPr>
              <a:tblGrid>
                <a:gridCol w="4572000">
                  <a:extLst>
                    <a:ext uri="{9D8B030D-6E8A-4147-A177-3AD203B41FA5}">
                      <a16:colId xmlns:a16="http://schemas.microsoft.com/office/drawing/2014/main" val="3899577134"/>
                    </a:ext>
                  </a:extLst>
                </a:gridCol>
              </a:tblGrid>
              <a:tr h="0">
                <a:tc>
                  <a:txBody>
                    <a:bodyPr/>
                    <a:lstStyle/>
                    <a:p>
                      <a:r>
                        <a:rPr lang="en-US" dirty="0"/>
                        <a:t>Output</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Shape    =  </a:t>
                      </a:r>
                      <a:r>
                        <a:rPr lang="en-US" dirty="0" err="1">
                          <a:solidFill>
                            <a:schemeClr val="tx2"/>
                          </a:solidFill>
                          <a:latin typeface="Consolas" panose="020B0609020204030204" pitchFamily="49" charset="0"/>
                        </a:rPr>
                        <a:t>torch.Size</a:t>
                      </a:r>
                      <a:r>
                        <a:rPr lang="en-US" dirty="0">
                          <a:solidFill>
                            <a:schemeClr val="tx2"/>
                          </a:solidFill>
                          <a:latin typeface="Consolas" panose="020B0609020204030204" pitchFamily="49" charset="0"/>
                        </a:rPr>
                        <a:t>([2, 3])</a:t>
                      </a:r>
                    </a:p>
                    <a:p>
                      <a:r>
                        <a:rPr lang="en-US" dirty="0">
                          <a:solidFill>
                            <a:schemeClr val="tx2"/>
                          </a:solidFill>
                          <a:latin typeface="Consolas" panose="020B0609020204030204" pitchFamily="49" charset="0"/>
                        </a:rPr>
                        <a:t>Type     =  torch.int64</a:t>
                      </a:r>
                    </a:p>
                    <a:p>
                      <a:r>
                        <a:rPr lang="en-US" dirty="0">
                          <a:solidFill>
                            <a:schemeClr val="tx2"/>
                          </a:solidFill>
                          <a:latin typeface="Consolas" panose="020B0609020204030204" pitchFamily="49" charset="0"/>
                        </a:rPr>
                        <a:t>Dim      =  2</a:t>
                      </a:r>
                    </a:p>
                    <a:p>
                      <a:r>
                        <a:rPr lang="en-US" dirty="0">
                          <a:solidFill>
                            <a:schemeClr val="tx2"/>
                          </a:solidFill>
                          <a:latin typeface="Consolas" panose="020B0609020204030204" pitchFamily="49" charset="0"/>
                        </a:rPr>
                        <a:t>Size     =  8</a:t>
                      </a:r>
                    </a:p>
                    <a:p>
                      <a:r>
                        <a:rPr lang="en-US" dirty="0">
                          <a:solidFill>
                            <a:schemeClr val="tx2"/>
                          </a:solidFill>
                          <a:latin typeface="Consolas" panose="020B0609020204030204" pitchFamily="49" charset="0"/>
                        </a:rPr>
                        <a:t>Device   =  </a:t>
                      </a:r>
                      <a:r>
                        <a:rPr lang="en-US" dirty="0" err="1">
                          <a:solidFill>
                            <a:schemeClr val="tx2"/>
                          </a:solidFill>
                          <a:latin typeface="Consolas" panose="020B0609020204030204" pitchFamily="49" charset="0"/>
                        </a:rPr>
                        <a:t>cpu</a:t>
                      </a:r>
                      <a:endParaRPr lang="en-US" dirty="0">
                        <a:solidFill>
                          <a:schemeClr val="tx2"/>
                        </a:solidFill>
                        <a:latin typeface="Consolas" panose="020B0609020204030204" pitchFamily="49" charset="0"/>
                      </a:endParaRP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586597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A reshape method (.view) is also provided and can be used similarly as with NumPy to change the shape of an existing tensor.</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2895600"/>
            <a:ext cx="9144000" cy="2438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0" dirty="0">
                <a:solidFill>
                  <a:srgbClr val="B56AA6"/>
                </a:solidFill>
                <a:effectLst/>
                <a:latin typeface="Consolas" panose="020B0609020204030204" pitchFamily="49" charset="0"/>
              </a:rPr>
              <a:t>import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endParaRPr lang="fr-FR" b="0" dirty="0">
              <a:solidFill>
                <a:srgbClr val="DADADA"/>
              </a:solidFill>
              <a:effectLst/>
              <a:latin typeface="Consolas" panose="020B0609020204030204" pitchFamily="49" charset="0"/>
            </a:endParaRPr>
          </a:p>
          <a:p>
            <a:br>
              <a:rPr lang="fr-FR" b="0" dirty="0">
                <a:solidFill>
                  <a:srgbClr val="DADADA"/>
                </a:solidFill>
                <a:effectLst/>
                <a:latin typeface="Consolas" panose="020B0609020204030204" pitchFamily="49" charset="0"/>
              </a:rPr>
            </a:br>
            <a:r>
              <a:rPr lang="fr-FR" b="0" dirty="0" err="1">
                <a:solidFill>
                  <a:srgbClr val="229977"/>
                </a:solidFill>
                <a:effectLst/>
                <a:latin typeface="Consolas" panose="020B0609020204030204" pitchFamily="49" charset="0"/>
              </a:rPr>
              <a:t>t</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r>
              <a:rPr lang="fr-FR" b="0" dirty="0" err="1">
                <a:solidFill>
                  <a:srgbClr val="B4B4B4"/>
                </a:solidFill>
                <a:effectLst/>
                <a:latin typeface="Consolas" panose="020B0609020204030204" pitchFamily="49" charset="0"/>
              </a:rPr>
              <a:t>.</a:t>
            </a:r>
            <a:r>
              <a:rPr lang="fr-FR" b="0" dirty="0" err="1">
                <a:solidFill>
                  <a:srgbClr val="A7A774"/>
                </a:solidFill>
                <a:effectLst/>
                <a:latin typeface="Consolas" panose="020B0609020204030204" pitchFamily="49" charset="0"/>
              </a:rPr>
              <a:t>arange</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1</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9</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err="1">
                <a:solidFill>
                  <a:srgbClr val="E68A8A"/>
                </a:solidFill>
                <a:effectLst/>
                <a:latin typeface="Consolas" panose="020B0609020204030204" pitchFamily="49" charset="0"/>
              </a:rPr>
              <a:t>Vector</a:t>
            </a:r>
            <a:r>
              <a:rPr lang="fr-FR" b="0" dirty="0">
                <a:solidFill>
                  <a:srgbClr val="E68A8A"/>
                </a:solidFill>
                <a:effectLst/>
                <a:latin typeface="Consolas" panose="020B0609020204030204" pitchFamily="49" charset="0"/>
              </a:rPr>
              <a:t>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err="1">
                <a:solidFill>
                  <a:srgbClr val="229977"/>
                </a:solidFill>
                <a:effectLst/>
                <a:latin typeface="Consolas" panose="020B0609020204030204" pitchFamily="49" charset="0"/>
              </a:rPr>
              <a:t>t</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229977"/>
                </a:solidFill>
                <a:effectLst/>
                <a:latin typeface="Consolas" panose="020B0609020204030204" pitchFamily="49" charset="0"/>
              </a:rPr>
              <a:t>t</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229977"/>
                </a:solidFill>
                <a:effectLst/>
                <a:latin typeface="Consolas" panose="020B0609020204030204" pitchFamily="49" charset="0"/>
              </a:rPr>
              <a:t>t</a:t>
            </a:r>
            <a:r>
              <a:rPr lang="fr-FR" b="0" dirty="0" err="1">
                <a:solidFill>
                  <a:srgbClr val="B4B4B4"/>
                </a:solidFill>
                <a:effectLst/>
                <a:latin typeface="Consolas" panose="020B0609020204030204" pitchFamily="49" charset="0"/>
              </a:rPr>
              <a:t>.</a:t>
            </a:r>
            <a:r>
              <a:rPr lang="fr-FR" b="0" dirty="0" err="1">
                <a:solidFill>
                  <a:srgbClr val="A7A774"/>
                </a:solidFill>
                <a:effectLst/>
                <a:latin typeface="Consolas" panose="020B0609020204030204" pitchFamily="49" charset="0"/>
              </a:rPr>
              <a:t>view</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4</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2</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4x2 matrix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a:solidFill>
                  <a:srgbClr val="229977"/>
                </a:solidFill>
                <a:effectLst/>
                <a:latin typeface="Consolas" panose="020B0609020204030204" pitchFamily="49" charset="0"/>
              </a:rPr>
              <a:t>t</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229977"/>
                </a:solidFill>
                <a:effectLst/>
                <a:latin typeface="Consolas" panose="020B0609020204030204" pitchFamily="49" charset="0"/>
              </a:rPr>
              <a:t>t</a:t>
            </a:r>
            <a:r>
              <a:rPr lang="fr-FR" b="0" dirty="0" err="1">
                <a:solidFill>
                  <a:srgbClr val="B4B4B4"/>
                </a:solidFill>
                <a:effectLst/>
                <a:latin typeface="Consolas" panose="020B0609020204030204" pitchFamily="49" charset="0"/>
              </a:rPr>
              <a:t>.</a:t>
            </a:r>
            <a:r>
              <a:rPr lang="fr-FR" b="0" dirty="0" err="1">
                <a:solidFill>
                  <a:srgbClr val="A7A774"/>
                </a:solidFill>
                <a:effectLst/>
                <a:latin typeface="Consolas" panose="020B0609020204030204" pitchFamily="49" charset="0"/>
              </a:rPr>
              <a:t>view</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2</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2</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2</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2x2x2 </a:t>
            </a:r>
            <a:r>
              <a:rPr lang="fr-FR" b="0" dirty="0" err="1">
                <a:solidFill>
                  <a:srgbClr val="E68A8A"/>
                </a:solidFill>
                <a:effectLst/>
                <a:latin typeface="Consolas" panose="020B0609020204030204" pitchFamily="49" charset="0"/>
              </a:rPr>
              <a:t>array</a:t>
            </a:r>
            <a:r>
              <a:rPr lang="fr-FR" b="0" dirty="0">
                <a:solidFill>
                  <a:srgbClr val="E68A8A"/>
                </a:solidFill>
                <a:effectLst/>
                <a:latin typeface="Consolas" panose="020B0609020204030204" pitchFamily="49" charset="0"/>
              </a:rPr>
              <a:t>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extLst>
              <p:ext uri="{D42A27DB-BD31-4B8C-83A1-F6EECF244321}">
                <p14:modId xmlns:p14="http://schemas.microsoft.com/office/powerpoint/2010/main" val="2826745818"/>
              </p:ext>
            </p:extLst>
          </p:nvPr>
        </p:nvGraphicFramePr>
        <p:xfrm>
          <a:off x="7008812" y="2590800"/>
          <a:ext cx="4572000" cy="2529840"/>
        </p:xfrm>
        <a:graphic>
          <a:graphicData uri="http://schemas.openxmlformats.org/drawingml/2006/table">
            <a:tbl>
              <a:tblPr firstRow="1" bandRow="1">
                <a:tableStyleId>{073A0DAA-6AF3-43AB-8588-CEC1D06C72B9}</a:tableStyleId>
              </a:tblPr>
              <a:tblGrid>
                <a:gridCol w="4572000">
                  <a:extLst>
                    <a:ext uri="{9D8B030D-6E8A-4147-A177-3AD203B41FA5}">
                      <a16:colId xmlns:a16="http://schemas.microsoft.com/office/drawing/2014/main" val="3899577134"/>
                    </a:ext>
                  </a:extLst>
                </a:gridCol>
              </a:tblGrid>
              <a:tr h="0">
                <a:tc>
                  <a:txBody>
                    <a:bodyPr/>
                    <a:lstStyle/>
                    <a:p>
                      <a:r>
                        <a:rPr lang="en-US" dirty="0"/>
                        <a:t>Output</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Vector =  tensor([1, 2, 3, 4, 5, 6, 7, 8])</a:t>
                      </a:r>
                    </a:p>
                    <a:p>
                      <a:r>
                        <a:rPr lang="en-US" dirty="0">
                          <a:solidFill>
                            <a:schemeClr val="tx2"/>
                          </a:solidFill>
                          <a:latin typeface="Consolas" panose="020B0609020204030204" pitchFamily="49" charset="0"/>
                        </a:rPr>
                        <a:t>4x2 matrix =  tensor([[1, 2],</a:t>
                      </a:r>
                    </a:p>
                    <a:p>
                      <a:r>
                        <a:rPr lang="en-US" dirty="0">
                          <a:solidFill>
                            <a:schemeClr val="tx2"/>
                          </a:solidFill>
                          <a:latin typeface="Consolas" panose="020B0609020204030204" pitchFamily="49" charset="0"/>
                        </a:rPr>
                        <a:t>        [3, 4],</a:t>
                      </a:r>
                    </a:p>
                    <a:p>
                      <a:r>
                        <a:rPr lang="en-US" dirty="0">
                          <a:solidFill>
                            <a:schemeClr val="tx2"/>
                          </a:solidFill>
                          <a:latin typeface="Consolas" panose="020B0609020204030204" pitchFamily="49" charset="0"/>
                        </a:rPr>
                        <a:t>        [5, 6],</a:t>
                      </a:r>
                    </a:p>
                    <a:p>
                      <a:r>
                        <a:rPr lang="en-US" dirty="0">
                          <a:solidFill>
                            <a:schemeClr val="tx2"/>
                          </a:solidFill>
                          <a:latin typeface="Consolas" panose="020B0609020204030204" pitchFamily="49" charset="0"/>
                        </a:rPr>
                        <a:t>        [7, 8]])</a:t>
                      </a:r>
                    </a:p>
                    <a:p>
                      <a:r>
                        <a:rPr lang="en-US" dirty="0">
                          <a:solidFill>
                            <a:schemeClr val="tx2"/>
                          </a:solidFill>
                          <a:latin typeface="Consolas" panose="020B0609020204030204" pitchFamily="49" charset="0"/>
                        </a:rPr>
                        <a:t>2x2x2 array =  tensor([[[1, 2],</a:t>
                      </a:r>
                    </a:p>
                    <a:p>
                      <a:r>
                        <a:rPr lang="en-US" dirty="0">
                          <a:solidFill>
                            <a:schemeClr val="tx2"/>
                          </a:solidFill>
                          <a:latin typeface="Consolas" panose="020B0609020204030204" pitchFamily="49" charset="0"/>
                        </a:rPr>
                        <a:t>         [3, 4]],</a:t>
                      </a:r>
                    </a:p>
                    <a:p>
                      <a:endParaRPr lang="en-US" dirty="0">
                        <a:solidFill>
                          <a:schemeClr val="tx2"/>
                        </a:solidFill>
                        <a:latin typeface="Consolas" panose="020B0609020204030204" pitchFamily="49" charset="0"/>
                      </a:endParaRPr>
                    </a:p>
                    <a:p>
                      <a:r>
                        <a:rPr lang="en-US" dirty="0">
                          <a:solidFill>
                            <a:schemeClr val="tx2"/>
                          </a:solidFill>
                          <a:latin typeface="Consolas" panose="020B0609020204030204" pitchFamily="49" charset="0"/>
                        </a:rPr>
                        <a:t>        [[5, 6],</a:t>
                      </a:r>
                    </a:p>
                    <a:p>
                      <a:r>
                        <a:rPr lang="en-US" dirty="0">
                          <a:solidFill>
                            <a:schemeClr val="tx2"/>
                          </a:solidFill>
                          <a:latin typeface="Consolas" panose="020B0609020204030204" pitchFamily="49" charset="0"/>
                        </a:rPr>
                        <a:t>         [7, 8]]])</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782184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In the previous example we have used a syntax as follows:</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	</a:t>
            </a:r>
            <a:r>
              <a:rPr lang="en-US" dirty="0" err="1">
                <a:highlight>
                  <a:srgbClr val="C0C0C0"/>
                </a:highlight>
                <a:latin typeface="Arial" panose="020B0604020202020204" pitchFamily="34" charset="0"/>
                <a:cs typeface="Arial" panose="020B0604020202020204" pitchFamily="34" charset="0"/>
              </a:rPr>
              <a:t>new_tensor</a:t>
            </a:r>
            <a:r>
              <a:rPr lang="en-US" dirty="0">
                <a:highlight>
                  <a:srgbClr val="C0C0C0"/>
                </a:highlight>
                <a:latin typeface="Arial" panose="020B0604020202020204" pitchFamily="34" charset="0"/>
                <a:cs typeface="Arial" panose="020B0604020202020204" pitchFamily="34" charset="0"/>
              </a:rPr>
              <a:t> = </a:t>
            </a:r>
            <a:r>
              <a:rPr lang="en-US" dirty="0" err="1">
                <a:highlight>
                  <a:srgbClr val="C0C0C0"/>
                </a:highlight>
                <a:latin typeface="Arial" panose="020B0604020202020204" pitchFamily="34" charset="0"/>
                <a:cs typeface="Arial" panose="020B0604020202020204" pitchFamily="34" charset="0"/>
              </a:rPr>
              <a:t>tensor.view</a:t>
            </a:r>
            <a:r>
              <a:rPr lang="en-US" dirty="0">
                <a:highlight>
                  <a:srgbClr val="C0C0C0"/>
                </a:highlight>
                <a:latin typeface="Arial" panose="020B0604020202020204" pitchFamily="34" charset="0"/>
                <a:cs typeface="Arial" panose="020B0604020202020204" pitchFamily="34" charset="0"/>
              </a:rPr>
              <a:t>(new shape)</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It is important to understand that this </a:t>
            </a:r>
            <a:r>
              <a:rPr lang="en-US" b="1" dirty="0">
                <a:solidFill>
                  <a:srgbClr val="C00000"/>
                </a:solidFill>
                <a:latin typeface="Arial" panose="020B0604020202020204" pitchFamily="34" charset="0"/>
                <a:cs typeface="Arial" panose="020B0604020202020204" pitchFamily="34" charset="0"/>
              </a:rPr>
              <a:t>DOES NOT COPY </a:t>
            </a:r>
            <a:r>
              <a:rPr lang="en-US" dirty="0">
                <a:latin typeface="Arial" panose="020B0604020202020204" pitchFamily="34" charset="0"/>
                <a:cs typeface="Arial" panose="020B0604020202020204" pitchFamily="34" charset="0"/>
              </a:rPr>
              <a:t>the memory, it just returns another tensor that shares the same memory with the original one, but with a different shape.</a:t>
            </a:r>
          </a:p>
          <a:p>
            <a:pPr marL="0" indent="0">
              <a:buNone/>
            </a:pPr>
            <a:r>
              <a:rPr lang="en-US" dirty="0">
                <a:latin typeface="Arial" panose="020B0604020202020204" pitchFamily="34" charset="0"/>
                <a:cs typeface="Arial" panose="020B0604020202020204" pitchFamily="34" charset="0"/>
              </a:rPr>
              <a:t>As a result, a change in the values from the memory will affect both tensors (the original one and the resulted one).</a:t>
            </a:r>
          </a:p>
        </p:txBody>
      </p:sp>
    </p:spTree>
    <p:extLst>
      <p:ext uri="{BB962C8B-B14F-4D97-AF65-F5344CB8AC3E}">
        <p14:creationId xmlns:p14="http://schemas.microsoft.com/office/powerpoint/2010/main" val="2328952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60211" y="1447800"/>
            <a:ext cx="9782801" cy="5410200"/>
          </a:xfrm>
        </p:spPr>
        <p:txBody>
          <a:bodyPr/>
          <a:lstStyle/>
          <a:p>
            <a:r>
              <a:rPr lang="en-US" dirty="0">
                <a:latin typeface="Arial" panose="020B0604020202020204" pitchFamily="34" charset="0"/>
                <a:cs typeface="Arial" panose="020B0604020202020204" pitchFamily="34" charset="0"/>
              </a:rPr>
              <a:t>Let’s see an 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As it can be observed, after we change element with index 3 in the tensor </a:t>
            </a:r>
            <a:r>
              <a:rPr lang="en-US" dirty="0">
                <a:highlight>
                  <a:srgbClr val="00FF00"/>
                </a:highlight>
                <a:latin typeface="Arial" panose="020B0604020202020204" pitchFamily="34" charset="0"/>
                <a:cs typeface="Arial" panose="020B0604020202020204" pitchFamily="34" charset="0"/>
              </a:rPr>
              <a:t>t</a:t>
            </a:r>
            <a:r>
              <a:rPr lang="en-US" dirty="0">
                <a:latin typeface="Arial" panose="020B0604020202020204" pitchFamily="34" charset="0"/>
                <a:cs typeface="Arial" panose="020B0604020202020204" pitchFamily="34" charset="0"/>
              </a:rPr>
              <a:t>, the change is also observable in matrix </a:t>
            </a:r>
            <a:r>
              <a:rPr lang="en-US" dirty="0">
                <a:highlight>
                  <a:srgbClr val="00FFFF"/>
                </a:highlight>
                <a:latin typeface="Arial" panose="020B0604020202020204" pitchFamily="34" charset="0"/>
                <a:cs typeface="Arial" panose="020B0604020202020204" pitchFamily="34" charset="0"/>
              </a:rPr>
              <a:t>m</a:t>
            </a:r>
          </a:p>
        </p:txBody>
      </p:sp>
      <p:sp>
        <p:nvSpPr>
          <p:cNvPr id="2" name="Rectangle 1">
            <a:extLst>
              <a:ext uri="{FF2B5EF4-FFF2-40B4-BE49-F238E27FC236}">
                <a16:creationId xmlns:a16="http://schemas.microsoft.com/office/drawing/2014/main" id="{45FED430-06A4-77E2-798D-E562DBDED8D1}"/>
              </a:ext>
            </a:extLst>
          </p:cNvPr>
          <p:cNvSpPr/>
          <p:nvPr/>
        </p:nvSpPr>
        <p:spPr>
          <a:xfrm>
            <a:off x="1979612" y="2133599"/>
            <a:ext cx="9144000" cy="25790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0" dirty="0">
                <a:solidFill>
                  <a:srgbClr val="B56AA6"/>
                </a:solidFill>
                <a:effectLst/>
                <a:latin typeface="Consolas" panose="020B0609020204030204" pitchFamily="49" charset="0"/>
              </a:rPr>
              <a:t>import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endParaRPr lang="fr-FR" b="0" dirty="0">
              <a:solidFill>
                <a:srgbClr val="DADADA"/>
              </a:solidFill>
              <a:effectLst/>
              <a:latin typeface="Consolas" panose="020B0609020204030204" pitchFamily="49" charset="0"/>
            </a:endParaRPr>
          </a:p>
          <a:p>
            <a:br>
              <a:rPr lang="fr-FR" b="0" dirty="0">
                <a:solidFill>
                  <a:srgbClr val="DADADA"/>
                </a:solidFill>
                <a:effectLst/>
                <a:latin typeface="Consolas" panose="020B0609020204030204" pitchFamily="49" charset="0"/>
              </a:rPr>
            </a:br>
            <a:r>
              <a:rPr lang="fr-FR" b="0" dirty="0">
                <a:solidFill>
                  <a:srgbClr val="229977"/>
                </a:solidFill>
                <a:effectLst/>
                <a:latin typeface="Consolas" panose="020B0609020204030204" pitchFamily="49" charset="0"/>
              </a:rPr>
              <a:t>t</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r>
              <a:rPr lang="fr-FR" b="0" dirty="0" err="1">
                <a:solidFill>
                  <a:srgbClr val="B4B4B4"/>
                </a:solidFill>
                <a:effectLst/>
                <a:latin typeface="Consolas" panose="020B0609020204030204" pitchFamily="49" charset="0"/>
              </a:rPr>
              <a:t>.</a:t>
            </a:r>
            <a:r>
              <a:rPr lang="fr-FR" b="0" dirty="0" err="1">
                <a:solidFill>
                  <a:srgbClr val="A7A774"/>
                </a:solidFill>
                <a:effectLst/>
                <a:latin typeface="Consolas" panose="020B0609020204030204" pitchFamily="49" charset="0"/>
              </a:rPr>
              <a:t>arange</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1</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9</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err="1">
                <a:solidFill>
                  <a:srgbClr val="E68A8A"/>
                </a:solidFill>
                <a:effectLst/>
                <a:latin typeface="Consolas" panose="020B0609020204030204" pitchFamily="49" charset="0"/>
              </a:rPr>
              <a:t>Vector</a:t>
            </a:r>
            <a:r>
              <a:rPr lang="fr-FR" b="0" dirty="0">
                <a:solidFill>
                  <a:srgbClr val="E68A8A"/>
                </a:solidFill>
                <a:effectLst/>
                <a:latin typeface="Consolas" panose="020B0609020204030204" pitchFamily="49" charset="0"/>
              </a:rPr>
              <a:t>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a:solidFill>
                  <a:srgbClr val="229977"/>
                </a:solidFill>
                <a:effectLst/>
                <a:latin typeface="Consolas" panose="020B0609020204030204" pitchFamily="49" charset="0"/>
              </a:rPr>
              <a:t>m</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229977"/>
                </a:solidFill>
                <a:effectLst/>
                <a:latin typeface="Consolas" panose="020B0609020204030204" pitchFamily="49" charset="0"/>
              </a:rPr>
              <a:t>t</a:t>
            </a:r>
            <a:r>
              <a:rPr lang="fr-FR" b="0" dirty="0" err="1">
                <a:solidFill>
                  <a:srgbClr val="B4B4B4"/>
                </a:solidFill>
                <a:effectLst/>
                <a:latin typeface="Consolas" panose="020B0609020204030204" pitchFamily="49" charset="0"/>
              </a:rPr>
              <a:t>.</a:t>
            </a:r>
            <a:r>
              <a:rPr lang="fr-FR" b="0" dirty="0" err="1">
                <a:solidFill>
                  <a:srgbClr val="A7A774"/>
                </a:solidFill>
                <a:effectLst/>
                <a:latin typeface="Consolas" panose="020B0609020204030204" pitchFamily="49" charset="0"/>
              </a:rPr>
              <a:t>view</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4</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2</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4x2 matrix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m</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a:solidFill>
                  <a:srgbClr val="229977"/>
                </a:solidFill>
                <a:effectLst/>
                <a:latin typeface="Consolas" panose="020B0609020204030204" pitchFamily="49" charset="0"/>
              </a:rPr>
              <a:t>t</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3</a:t>
            </a:r>
            <a:r>
              <a:rPr lang="fr-FR" b="0" dirty="0">
                <a:solidFill>
                  <a:srgbClr val="B4B4B4"/>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a:solidFill>
                  <a:srgbClr val="E0EBB2"/>
                </a:solidFill>
                <a:effectLst/>
                <a:latin typeface="Consolas" panose="020B0609020204030204" pitchFamily="49" charset="0"/>
              </a:rPr>
              <a:t>1000</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matrix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m</a:t>
            </a:r>
            <a:r>
              <a:rPr lang="fr-FR" b="0" dirty="0">
                <a:solidFill>
                  <a:srgbClr val="B4B4B4"/>
                </a:solidFill>
                <a:effectLst/>
                <a:latin typeface="Consolas" panose="020B0609020204030204" pitchFamily="49" charset="0"/>
              </a:rPr>
              <a:t>)</a:t>
            </a:r>
          </a:p>
          <a:p>
            <a:endParaRPr lang="fr-FR" dirty="0">
              <a:solidFill>
                <a:srgbClr val="B4B4B4"/>
              </a:solidFill>
              <a:latin typeface="Consolas" panose="020B0609020204030204" pitchFamily="49" charset="0"/>
            </a:endParaRPr>
          </a:p>
          <a:p>
            <a:r>
              <a:rPr lang="fr-FR" dirty="0" err="1">
                <a:solidFill>
                  <a:srgbClr val="A7A774"/>
                </a:solidFill>
                <a:latin typeface="Consolas" panose="020B0609020204030204" pitchFamily="49" charset="0"/>
              </a:rPr>
              <a:t>print</a:t>
            </a:r>
            <a:r>
              <a:rPr lang="fr-FR" dirty="0">
                <a:solidFill>
                  <a:srgbClr val="B4B4B4"/>
                </a:solidFill>
                <a:latin typeface="Consolas" panose="020B0609020204030204" pitchFamily="49" charset="0"/>
              </a:rPr>
              <a:t>(</a:t>
            </a:r>
            <a:r>
              <a:rPr lang="fr-FR" dirty="0">
                <a:solidFill>
                  <a:srgbClr val="E8C9BB"/>
                </a:solidFill>
                <a:latin typeface="Consolas" panose="020B0609020204030204" pitchFamily="49" charset="0"/>
              </a:rPr>
              <a:t>"</a:t>
            </a:r>
            <a:r>
              <a:rPr lang="fr-FR" dirty="0" err="1">
                <a:solidFill>
                  <a:srgbClr val="E68A8A"/>
                </a:solidFill>
                <a:latin typeface="Consolas" panose="020B0609020204030204" pitchFamily="49" charset="0"/>
              </a:rPr>
              <a:t>t.addr</a:t>
            </a:r>
            <a:r>
              <a:rPr lang="fr-FR" dirty="0">
                <a:solidFill>
                  <a:srgbClr val="E68A8A"/>
                </a:solidFill>
                <a:latin typeface="Consolas" panose="020B0609020204030204" pitchFamily="49" charset="0"/>
              </a:rPr>
              <a:t> = </a:t>
            </a:r>
            <a:r>
              <a:rPr lang="fr-FR" dirty="0">
                <a:solidFill>
                  <a:srgbClr val="E8C9BB"/>
                </a:solidFill>
                <a:latin typeface="Consolas" panose="020B0609020204030204" pitchFamily="49" charset="0"/>
              </a:rPr>
              <a:t>"</a:t>
            </a:r>
            <a:r>
              <a:rPr lang="fr-FR" dirty="0">
                <a:solidFill>
                  <a:srgbClr val="B4B4B4"/>
                </a:solidFill>
                <a:latin typeface="Consolas" panose="020B0609020204030204" pitchFamily="49" charset="0"/>
              </a:rPr>
              <a:t>,</a:t>
            </a:r>
            <a:r>
              <a:rPr lang="fr-FR" dirty="0" err="1">
                <a:solidFill>
                  <a:srgbClr val="A7A774"/>
                </a:solidFill>
                <a:latin typeface="Consolas" panose="020B0609020204030204" pitchFamily="49" charset="0"/>
              </a:rPr>
              <a:t>hex</a:t>
            </a:r>
            <a:r>
              <a:rPr lang="fr-FR" dirty="0">
                <a:solidFill>
                  <a:srgbClr val="A7A774"/>
                </a:solidFill>
                <a:latin typeface="Consolas" panose="020B0609020204030204" pitchFamily="49" charset="0"/>
              </a:rPr>
              <a:t>(</a:t>
            </a:r>
            <a:r>
              <a:rPr lang="fr-FR" dirty="0" err="1">
                <a:solidFill>
                  <a:srgbClr val="229977"/>
                </a:solidFill>
                <a:latin typeface="Consolas" panose="020B0609020204030204" pitchFamily="49" charset="0"/>
              </a:rPr>
              <a:t>t.</a:t>
            </a:r>
            <a:r>
              <a:rPr lang="fr-FR" dirty="0" err="1">
                <a:solidFill>
                  <a:srgbClr val="A7A774"/>
                </a:solidFill>
                <a:latin typeface="Consolas" panose="020B0609020204030204" pitchFamily="49" charset="0"/>
              </a:rPr>
              <a:t>data_ptr</a:t>
            </a:r>
            <a:r>
              <a:rPr lang="fr-FR" dirty="0">
                <a:solidFill>
                  <a:srgbClr val="A7A774"/>
                </a:solidFill>
                <a:latin typeface="Consolas" panose="020B0609020204030204" pitchFamily="49" charset="0"/>
              </a:rPr>
              <a:t>())</a:t>
            </a:r>
            <a:r>
              <a:rPr lang="fr-FR" dirty="0">
                <a:solidFill>
                  <a:srgbClr val="B4B4B4"/>
                </a:solidFill>
                <a:latin typeface="Consolas" panose="020B0609020204030204" pitchFamily="49" charset="0"/>
              </a:rPr>
              <a:t>)</a:t>
            </a:r>
          </a:p>
          <a:p>
            <a:r>
              <a:rPr lang="fr-FR" dirty="0" err="1">
                <a:solidFill>
                  <a:srgbClr val="A7A774"/>
                </a:solidFill>
                <a:latin typeface="Consolas" panose="020B0609020204030204" pitchFamily="49" charset="0"/>
              </a:rPr>
              <a:t>print</a:t>
            </a:r>
            <a:r>
              <a:rPr lang="fr-FR" dirty="0">
                <a:solidFill>
                  <a:srgbClr val="B4B4B4"/>
                </a:solidFill>
                <a:latin typeface="Consolas" panose="020B0609020204030204" pitchFamily="49" charset="0"/>
              </a:rPr>
              <a:t>(</a:t>
            </a:r>
            <a:r>
              <a:rPr lang="fr-FR" dirty="0">
                <a:solidFill>
                  <a:srgbClr val="E8C9BB"/>
                </a:solidFill>
                <a:latin typeface="Consolas" panose="020B0609020204030204" pitchFamily="49" charset="0"/>
              </a:rPr>
              <a:t>"</a:t>
            </a:r>
            <a:r>
              <a:rPr lang="fr-FR" dirty="0" err="1">
                <a:solidFill>
                  <a:srgbClr val="E68A8A"/>
                </a:solidFill>
                <a:latin typeface="Consolas" panose="020B0609020204030204" pitchFamily="49" charset="0"/>
              </a:rPr>
              <a:t>m.addr</a:t>
            </a:r>
            <a:r>
              <a:rPr lang="fr-FR" dirty="0">
                <a:solidFill>
                  <a:srgbClr val="E68A8A"/>
                </a:solidFill>
                <a:latin typeface="Consolas" panose="020B0609020204030204" pitchFamily="49" charset="0"/>
              </a:rPr>
              <a:t> = </a:t>
            </a:r>
            <a:r>
              <a:rPr lang="fr-FR" dirty="0">
                <a:solidFill>
                  <a:srgbClr val="E8C9BB"/>
                </a:solidFill>
                <a:latin typeface="Consolas" panose="020B0609020204030204" pitchFamily="49" charset="0"/>
              </a:rPr>
              <a:t>"</a:t>
            </a:r>
            <a:r>
              <a:rPr lang="fr-FR" dirty="0">
                <a:solidFill>
                  <a:srgbClr val="A7A774"/>
                </a:solidFill>
                <a:latin typeface="Consolas" panose="020B0609020204030204" pitchFamily="49" charset="0"/>
              </a:rPr>
              <a:t>,</a:t>
            </a:r>
            <a:r>
              <a:rPr lang="fr-FR" dirty="0" err="1">
                <a:solidFill>
                  <a:srgbClr val="A7A774"/>
                </a:solidFill>
                <a:latin typeface="Consolas" panose="020B0609020204030204" pitchFamily="49" charset="0"/>
              </a:rPr>
              <a:t>hex</a:t>
            </a:r>
            <a:r>
              <a:rPr lang="fr-FR" dirty="0">
                <a:solidFill>
                  <a:srgbClr val="A7A774"/>
                </a:solidFill>
                <a:latin typeface="Consolas" panose="020B0609020204030204" pitchFamily="49" charset="0"/>
              </a:rPr>
              <a:t>(</a:t>
            </a:r>
            <a:r>
              <a:rPr lang="fr-FR" dirty="0" err="1">
                <a:solidFill>
                  <a:srgbClr val="229977"/>
                </a:solidFill>
                <a:latin typeface="Consolas" panose="020B0609020204030204" pitchFamily="49" charset="0"/>
              </a:rPr>
              <a:t>m.</a:t>
            </a:r>
            <a:r>
              <a:rPr lang="fr-FR" dirty="0" err="1">
                <a:solidFill>
                  <a:srgbClr val="A7A774"/>
                </a:solidFill>
                <a:latin typeface="Consolas" panose="020B0609020204030204" pitchFamily="49" charset="0"/>
              </a:rPr>
              <a:t>data_ptr</a:t>
            </a:r>
            <a:r>
              <a:rPr lang="fr-FR" dirty="0">
                <a:solidFill>
                  <a:srgbClr val="A7A774"/>
                </a:solidFill>
                <a:latin typeface="Consolas" panose="020B0609020204030204" pitchFamily="49" charset="0"/>
              </a:rPr>
              <a:t>()</a:t>
            </a:r>
            <a:r>
              <a:rPr lang="fr-FR" dirty="0">
                <a:solidFill>
                  <a:srgbClr val="B4B4B4"/>
                </a:solidFill>
                <a:latin typeface="Consolas" panose="020B0609020204030204" pitchFamily="49" charset="0"/>
              </a:rPr>
              <a:t>))</a:t>
            </a:r>
          </a:p>
          <a:p>
            <a:endParaRPr lang="fr-FR"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extLst>
              <p:ext uri="{D42A27DB-BD31-4B8C-83A1-F6EECF244321}">
                <p14:modId xmlns:p14="http://schemas.microsoft.com/office/powerpoint/2010/main" val="992900917"/>
              </p:ext>
            </p:extLst>
          </p:nvPr>
        </p:nvGraphicFramePr>
        <p:xfrm>
          <a:off x="5942012" y="2514600"/>
          <a:ext cx="5715000" cy="2956560"/>
        </p:xfrm>
        <a:graphic>
          <a:graphicData uri="http://schemas.openxmlformats.org/drawingml/2006/table">
            <a:tbl>
              <a:tblPr firstRow="1" bandRow="1">
                <a:tableStyleId>{073A0DAA-6AF3-43AB-8588-CEC1D06C72B9}</a:tableStyleId>
              </a:tblPr>
              <a:tblGrid>
                <a:gridCol w="5715000">
                  <a:extLst>
                    <a:ext uri="{9D8B030D-6E8A-4147-A177-3AD203B41FA5}">
                      <a16:colId xmlns:a16="http://schemas.microsoft.com/office/drawing/2014/main" val="3899577134"/>
                    </a:ext>
                  </a:extLst>
                </a:gridCol>
              </a:tblGrid>
              <a:tr h="0">
                <a:tc>
                  <a:txBody>
                    <a:bodyPr/>
                    <a:lstStyle/>
                    <a:p>
                      <a:r>
                        <a:rPr lang="en-US" dirty="0"/>
                        <a:t>Output</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Vector =  tensor([1, 2, 3, 4, 5, 6, 7, 8])</a:t>
                      </a:r>
                    </a:p>
                    <a:p>
                      <a:r>
                        <a:rPr lang="en-US" dirty="0">
                          <a:solidFill>
                            <a:schemeClr val="tx2"/>
                          </a:solidFill>
                          <a:latin typeface="Consolas" panose="020B0609020204030204" pitchFamily="49" charset="0"/>
                        </a:rPr>
                        <a:t>4x2 matrix =  tensor([[1, 2],</a:t>
                      </a:r>
                    </a:p>
                    <a:p>
                      <a:r>
                        <a:rPr lang="en-US" dirty="0">
                          <a:solidFill>
                            <a:schemeClr val="tx2"/>
                          </a:solidFill>
                          <a:latin typeface="Consolas" panose="020B0609020204030204" pitchFamily="49" charset="0"/>
                        </a:rPr>
                        <a:t>        [3, 4],</a:t>
                      </a:r>
                    </a:p>
                    <a:p>
                      <a:r>
                        <a:rPr lang="en-US" dirty="0">
                          <a:solidFill>
                            <a:schemeClr val="tx2"/>
                          </a:solidFill>
                          <a:latin typeface="Consolas" panose="020B0609020204030204" pitchFamily="49" charset="0"/>
                        </a:rPr>
                        <a:t>        [5, 6],</a:t>
                      </a:r>
                    </a:p>
                    <a:p>
                      <a:r>
                        <a:rPr lang="en-US" dirty="0">
                          <a:solidFill>
                            <a:schemeClr val="tx2"/>
                          </a:solidFill>
                          <a:latin typeface="Consolas" panose="020B0609020204030204" pitchFamily="49" charset="0"/>
                        </a:rPr>
                        <a:t>        [7, 8]])</a:t>
                      </a:r>
                    </a:p>
                    <a:p>
                      <a:r>
                        <a:rPr lang="en-US" dirty="0">
                          <a:solidFill>
                            <a:schemeClr val="tx2"/>
                          </a:solidFill>
                          <a:latin typeface="Consolas" panose="020B0609020204030204" pitchFamily="49" charset="0"/>
                        </a:rPr>
                        <a:t>matrix =  tensor([[   1,    2],</a:t>
                      </a:r>
                    </a:p>
                    <a:p>
                      <a:r>
                        <a:rPr lang="en-US" dirty="0">
                          <a:solidFill>
                            <a:schemeClr val="tx2"/>
                          </a:solidFill>
                          <a:latin typeface="Consolas" panose="020B0609020204030204" pitchFamily="49" charset="0"/>
                        </a:rPr>
                        <a:t>        [   3, 1000],</a:t>
                      </a:r>
                    </a:p>
                    <a:p>
                      <a:r>
                        <a:rPr lang="en-US" dirty="0">
                          <a:solidFill>
                            <a:schemeClr val="tx2"/>
                          </a:solidFill>
                          <a:latin typeface="Consolas" panose="020B0609020204030204" pitchFamily="49" charset="0"/>
                        </a:rPr>
                        <a:t>        [   5,    6],</a:t>
                      </a:r>
                    </a:p>
                    <a:p>
                      <a:r>
                        <a:rPr lang="en-US" dirty="0">
                          <a:solidFill>
                            <a:schemeClr val="tx2"/>
                          </a:solidFill>
                          <a:latin typeface="Consolas" panose="020B0609020204030204" pitchFamily="49" charset="0"/>
                        </a:rPr>
                        <a:t>        [   7,    8]])</a:t>
                      </a:r>
                    </a:p>
                    <a:p>
                      <a:endParaRPr lang="en-US" dirty="0">
                        <a:solidFill>
                          <a:schemeClr val="tx2"/>
                        </a:solidFill>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err="1">
                          <a:solidFill>
                            <a:schemeClr val="bg2"/>
                          </a:solidFill>
                          <a:effectLst/>
                          <a:latin typeface="+mn-lt"/>
                          <a:ea typeface="+mn-ea"/>
                          <a:cs typeface="+mn-cs"/>
                          <a:sym typeface="Arial"/>
                        </a:rPr>
                        <a:t>t.addr</a:t>
                      </a:r>
                      <a:r>
                        <a:rPr lang="en-US" sz="1400" b="0" i="0" u="none" strike="noStrike" cap="none" dirty="0">
                          <a:solidFill>
                            <a:schemeClr val="bg2"/>
                          </a:solidFill>
                          <a:effectLst/>
                          <a:latin typeface="+mn-lt"/>
                          <a:ea typeface="+mn-ea"/>
                          <a:cs typeface="+mn-cs"/>
                          <a:sym typeface="Arial"/>
                        </a:rPr>
                        <a:t> =  0x15bffff80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err="1">
                          <a:solidFill>
                            <a:schemeClr val="bg2"/>
                          </a:solidFill>
                          <a:effectLst/>
                          <a:latin typeface="+mn-lt"/>
                          <a:ea typeface="+mn-ea"/>
                          <a:cs typeface="+mn-cs"/>
                          <a:sym typeface="Arial"/>
                        </a:rPr>
                        <a:t>m.addr</a:t>
                      </a:r>
                      <a:r>
                        <a:rPr lang="en-US" sz="1400" b="0" i="0" u="none" strike="noStrike" cap="none" dirty="0">
                          <a:solidFill>
                            <a:schemeClr val="bg2"/>
                          </a:solidFill>
                          <a:effectLst/>
                          <a:latin typeface="+mn-lt"/>
                          <a:ea typeface="+mn-ea"/>
                          <a:cs typeface="+mn-cs"/>
                          <a:sym typeface="Arial"/>
                        </a:rPr>
                        <a:t> =  0x15bffff80</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479910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FC23D-FD1B-58B6-FAF6-668AF05D4C8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65FEC99-C6D4-2202-3D59-CAFD585D750D}"/>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BF8A9089-DC5F-E134-B993-B39D6AD1020F}"/>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It is important to understand that this operation only works when the array is contiguous. </a:t>
            </a:r>
          </a:p>
          <a:p>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	</a:t>
            </a:r>
            <a:r>
              <a:rPr lang="en-US" dirty="0" err="1">
                <a:highlight>
                  <a:srgbClr val="C0C0C0"/>
                </a:highlight>
                <a:latin typeface="Arial" panose="020B0604020202020204" pitchFamily="34" charset="0"/>
                <a:cs typeface="Arial" panose="020B0604020202020204" pitchFamily="34" charset="0"/>
              </a:rPr>
              <a:t>new_tensor</a:t>
            </a:r>
            <a:r>
              <a:rPr lang="en-US" dirty="0">
                <a:highlight>
                  <a:srgbClr val="C0C0C0"/>
                </a:highlight>
                <a:latin typeface="Arial" panose="020B0604020202020204" pitchFamily="34" charset="0"/>
                <a:cs typeface="Arial" panose="020B0604020202020204" pitchFamily="34" charset="0"/>
              </a:rPr>
              <a:t> = </a:t>
            </a:r>
            <a:r>
              <a:rPr lang="en-US" dirty="0" err="1">
                <a:highlight>
                  <a:srgbClr val="C0C0C0"/>
                </a:highlight>
                <a:latin typeface="Arial" panose="020B0604020202020204" pitchFamily="34" charset="0"/>
                <a:cs typeface="Arial" panose="020B0604020202020204" pitchFamily="34" charset="0"/>
              </a:rPr>
              <a:t>tensor.view</a:t>
            </a:r>
            <a:r>
              <a:rPr lang="en-US" dirty="0">
                <a:highlight>
                  <a:srgbClr val="C0C0C0"/>
                </a:highlight>
                <a:latin typeface="Arial" panose="020B0604020202020204" pitchFamily="34" charset="0"/>
                <a:cs typeface="Arial" panose="020B0604020202020204" pitchFamily="34" charset="0"/>
              </a:rPr>
              <a:t>(new shape)</a:t>
            </a:r>
          </a:p>
          <a:p>
            <a:pPr marL="0" indent="0">
              <a:buNone/>
            </a:pPr>
            <a:endParaRPr lang="en-US" dirty="0">
              <a:latin typeface="Arial" panose="020B0604020202020204" pitchFamily="34" charset="0"/>
              <a:cs typeface="Arial" panose="020B0604020202020204" pitchFamily="34" charset="0"/>
            </a:endParaRPr>
          </a:p>
          <a:p>
            <a:pPr marL="342900" indent="-342900"/>
            <a:r>
              <a:rPr lang="en-US" dirty="0">
                <a:latin typeface="Arial" panose="020B0604020202020204" pitchFamily="34" charset="0"/>
                <a:cs typeface="Arial" panose="020B0604020202020204" pitchFamily="34" charset="0"/>
              </a:rPr>
              <a:t>An array is contiguous if the rows are stored as contiguous blocks of memory. The next memory address stores the next row value.</a:t>
            </a: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96140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5D8BB-CC6D-48E2-8A80-F18AD3E1C4E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00E421B-E0AE-B50A-E32F-45A8649138EA}"/>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396CD750-E818-DF9D-C235-9E2D87CAA79F}"/>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Contiguous array:</a:t>
            </a:r>
          </a:p>
          <a:p>
            <a:endParaRPr lang="en-US" dirty="0">
              <a:latin typeface="Arial" panose="020B0604020202020204" pitchFamily="34" charset="0"/>
              <a:cs typeface="Arial" panose="020B0604020202020204" pitchFamily="34" charset="0"/>
            </a:endParaRPr>
          </a:p>
          <a:p>
            <a:pPr marL="137160" indent="0">
              <a:buNone/>
            </a:pPr>
            <a:r>
              <a:rPr lang="en-US" dirty="0">
                <a:highlight>
                  <a:srgbClr val="C0C0C0"/>
                </a:highlight>
                <a:latin typeface="Arial" panose="020B0604020202020204" pitchFamily="34" charset="0"/>
                <a:cs typeface="Arial" panose="020B0604020202020204" pitchFamily="34" charset="0"/>
              </a:rPr>
              <a:t>	</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D24CF3F0-8230-478D-7A41-81860F5E3B34}"/>
              </a:ext>
            </a:extLst>
          </p:cNvPr>
          <p:cNvGraphicFramePr>
            <a:graphicFrameLocks noGrp="1"/>
          </p:cNvGraphicFramePr>
          <p:nvPr/>
        </p:nvGraphicFramePr>
        <p:xfrm>
          <a:off x="2242486" y="3509292"/>
          <a:ext cx="6310668" cy="376908"/>
        </p:xfrm>
        <a:graphic>
          <a:graphicData uri="http://schemas.openxmlformats.org/drawingml/2006/table">
            <a:tbl>
              <a:tblPr>
                <a:tableStyleId>{8FD4443E-F989-4FC4-A0C8-D5A2AF1F390B}</a:tableStyleId>
              </a:tblPr>
              <a:tblGrid>
                <a:gridCol w="525889">
                  <a:extLst>
                    <a:ext uri="{9D8B030D-6E8A-4147-A177-3AD203B41FA5}">
                      <a16:colId xmlns:a16="http://schemas.microsoft.com/office/drawing/2014/main" val="2189744800"/>
                    </a:ext>
                  </a:extLst>
                </a:gridCol>
                <a:gridCol w="525889">
                  <a:extLst>
                    <a:ext uri="{9D8B030D-6E8A-4147-A177-3AD203B41FA5}">
                      <a16:colId xmlns:a16="http://schemas.microsoft.com/office/drawing/2014/main" val="2182805313"/>
                    </a:ext>
                  </a:extLst>
                </a:gridCol>
                <a:gridCol w="525889">
                  <a:extLst>
                    <a:ext uri="{9D8B030D-6E8A-4147-A177-3AD203B41FA5}">
                      <a16:colId xmlns:a16="http://schemas.microsoft.com/office/drawing/2014/main" val="3732043253"/>
                    </a:ext>
                  </a:extLst>
                </a:gridCol>
                <a:gridCol w="525889">
                  <a:extLst>
                    <a:ext uri="{9D8B030D-6E8A-4147-A177-3AD203B41FA5}">
                      <a16:colId xmlns:a16="http://schemas.microsoft.com/office/drawing/2014/main" val="2339778948"/>
                    </a:ext>
                  </a:extLst>
                </a:gridCol>
                <a:gridCol w="525889">
                  <a:extLst>
                    <a:ext uri="{9D8B030D-6E8A-4147-A177-3AD203B41FA5}">
                      <a16:colId xmlns:a16="http://schemas.microsoft.com/office/drawing/2014/main" val="4183068152"/>
                    </a:ext>
                  </a:extLst>
                </a:gridCol>
                <a:gridCol w="525889">
                  <a:extLst>
                    <a:ext uri="{9D8B030D-6E8A-4147-A177-3AD203B41FA5}">
                      <a16:colId xmlns:a16="http://schemas.microsoft.com/office/drawing/2014/main" val="2983287411"/>
                    </a:ext>
                  </a:extLst>
                </a:gridCol>
                <a:gridCol w="525889">
                  <a:extLst>
                    <a:ext uri="{9D8B030D-6E8A-4147-A177-3AD203B41FA5}">
                      <a16:colId xmlns:a16="http://schemas.microsoft.com/office/drawing/2014/main" val="3749431850"/>
                    </a:ext>
                  </a:extLst>
                </a:gridCol>
                <a:gridCol w="525889">
                  <a:extLst>
                    <a:ext uri="{9D8B030D-6E8A-4147-A177-3AD203B41FA5}">
                      <a16:colId xmlns:a16="http://schemas.microsoft.com/office/drawing/2014/main" val="450386409"/>
                    </a:ext>
                  </a:extLst>
                </a:gridCol>
                <a:gridCol w="525889">
                  <a:extLst>
                    <a:ext uri="{9D8B030D-6E8A-4147-A177-3AD203B41FA5}">
                      <a16:colId xmlns:a16="http://schemas.microsoft.com/office/drawing/2014/main" val="281969749"/>
                    </a:ext>
                  </a:extLst>
                </a:gridCol>
                <a:gridCol w="525889">
                  <a:extLst>
                    <a:ext uri="{9D8B030D-6E8A-4147-A177-3AD203B41FA5}">
                      <a16:colId xmlns:a16="http://schemas.microsoft.com/office/drawing/2014/main" val="4171685776"/>
                    </a:ext>
                  </a:extLst>
                </a:gridCol>
                <a:gridCol w="525889">
                  <a:extLst>
                    <a:ext uri="{9D8B030D-6E8A-4147-A177-3AD203B41FA5}">
                      <a16:colId xmlns:a16="http://schemas.microsoft.com/office/drawing/2014/main" val="3853505993"/>
                    </a:ext>
                  </a:extLst>
                </a:gridCol>
                <a:gridCol w="525889">
                  <a:extLst>
                    <a:ext uri="{9D8B030D-6E8A-4147-A177-3AD203B41FA5}">
                      <a16:colId xmlns:a16="http://schemas.microsoft.com/office/drawing/2014/main" val="841544476"/>
                    </a:ext>
                  </a:extLst>
                </a:gridCol>
              </a:tblGrid>
              <a:tr h="376908">
                <a:tc>
                  <a:txBody>
                    <a:bodyPr/>
                    <a:lstStyle/>
                    <a:p>
                      <a:pPr algn="ctr"/>
                      <a:r>
                        <a:rPr lang="en-US" dirty="0">
                          <a:solidFill>
                            <a:schemeClr val="bg2"/>
                          </a:solidFill>
                        </a:rPr>
                        <a:t>1</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a:r>
                        <a:rPr lang="en-US" dirty="0">
                          <a:solidFill>
                            <a:schemeClr val="bg2"/>
                          </a:solidFill>
                        </a:rPr>
                        <a:t>2</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a:r>
                        <a:rPr lang="en-US" dirty="0">
                          <a:solidFill>
                            <a:schemeClr val="bg2"/>
                          </a:solidFill>
                        </a:rPr>
                        <a:t>3</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a:r>
                        <a:rPr lang="en-US" dirty="0">
                          <a:solidFill>
                            <a:schemeClr val="bg2"/>
                          </a:solidFill>
                        </a:rPr>
                        <a:t>4</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a:r>
                        <a:rPr lang="en-US" dirty="0">
                          <a:solidFill>
                            <a:schemeClr val="bg2"/>
                          </a:solidFill>
                        </a:rPr>
                        <a:t>5</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lumMod val="60000"/>
                        <a:lumOff val="40000"/>
                      </a:schemeClr>
                    </a:solidFill>
                  </a:tcPr>
                </a:tc>
                <a:tc>
                  <a:txBody>
                    <a:bodyPr/>
                    <a:lstStyle/>
                    <a:p>
                      <a:pPr algn="ctr"/>
                      <a:r>
                        <a:rPr lang="en-US" dirty="0">
                          <a:solidFill>
                            <a:schemeClr val="bg2"/>
                          </a:solidFill>
                        </a:rPr>
                        <a:t>6</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lumMod val="60000"/>
                        <a:lumOff val="40000"/>
                      </a:schemeClr>
                    </a:solidFill>
                  </a:tcPr>
                </a:tc>
                <a:tc>
                  <a:txBody>
                    <a:bodyPr/>
                    <a:lstStyle/>
                    <a:p>
                      <a:pPr algn="ctr"/>
                      <a:r>
                        <a:rPr lang="en-US" dirty="0">
                          <a:solidFill>
                            <a:schemeClr val="bg2"/>
                          </a:solidFill>
                        </a:rPr>
                        <a:t>7</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lumMod val="60000"/>
                        <a:lumOff val="40000"/>
                      </a:schemeClr>
                    </a:solidFill>
                  </a:tcPr>
                </a:tc>
                <a:tc>
                  <a:txBody>
                    <a:bodyPr/>
                    <a:lstStyle/>
                    <a:p>
                      <a:pPr algn="ctr"/>
                      <a:r>
                        <a:rPr lang="en-US" dirty="0">
                          <a:solidFill>
                            <a:schemeClr val="bg2"/>
                          </a:solidFill>
                        </a:rPr>
                        <a:t>8</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lumMod val="60000"/>
                        <a:lumOff val="40000"/>
                      </a:schemeClr>
                    </a:solidFill>
                  </a:tcPr>
                </a:tc>
                <a:tc>
                  <a:txBody>
                    <a:bodyPr/>
                    <a:lstStyle/>
                    <a:p>
                      <a:pPr algn="ctr"/>
                      <a:r>
                        <a:rPr lang="en-US" dirty="0">
                          <a:solidFill>
                            <a:schemeClr val="bg2"/>
                          </a:solidFill>
                        </a:rPr>
                        <a:t>9</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50000"/>
                      </a:schemeClr>
                    </a:solidFill>
                  </a:tcPr>
                </a:tc>
                <a:tc>
                  <a:txBody>
                    <a:bodyPr/>
                    <a:lstStyle/>
                    <a:p>
                      <a:pPr algn="ctr"/>
                      <a:r>
                        <a:rPr lang="en-US" dirty="0">
                          <a:solidFill>
                            <a:schemeClr val="bg2"/>
                          </a:solidFill>
                        </a:rPr>
                        <a:t>10</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50000"/>
                      </a:schemeClr>
                    </a:solidFill>
                  </a:tcPr>
                </a:tc>
                <a:tc>
                  <a:txBody>
                    <a:bodyPr/>
                    <a:lstStyle/>
                    <a:p>
                      <a:pPr algn="ctr"/>
                      <a:r>
                        <a:rPr lang="en-US" dirty="0">
                          <a:solidFill>
                            <a:schemeClr val="bg2"/>
                          </a:solidFill>
                        </a:rPr>
                        <a:t>11</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50000"/>
                      </a:schemeClr>
                    </a:solidFill>
                  </a:tcPr>
                </a:tc>
                <a:tc>
                  <a:txBody>
                    <a:bodyPr/>
                    <a:lstStyle/>
                    <a:p>
                      <a:pPr algn="ctr"/>
                      <a:r>
                        <a:rPr lang="en-US" dirty="0">
                          <a:solidFill>
                            <a:schemeClr val="bg2"/>
                          </a:solidFill>
                        </a:rPr>
                        <a:t>12</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372349874"/>
                  </a:ext>
                </a:extLst>
              </a:tr>
            </a:tbl>
          </a:graphicData>
        </a:graphic>
      </p:graphicFrame>
      <p:sp>
        <p:nvSpPr>
          <p:cNvPr id="4" name="Rectangle 3">
            <a:extLst>
              <a:ext uri="{FF2B5EF4-FFF2-40B4-BE49-F238E27FC236}">
                <a16:creationId xmlns:a16="http://schemas.microsoft.com/office/drawing/2014/main" id="{20DB713E-920A-37E0-9961-89380CA3C460}"/>
              </a:ext>
            </a:extLst>
          </p:cNvPr>
          <p:cNvSpPr/>
          <p:nvPr/>
        </p:nvSpPr>
        <p:spPr>
          <a:xfrm>
            <a:off x="2242486" y="2230758"/>
            <a:ext cx="9144000" cy="973734"/>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fr-FR" b="0" dirty="0">
                <a:solidFill>
                  <a:srgbClr val="DADADA"/>
                </a:solidFill>
                <a:effectLst/>
                <a:latin typeface="Consolas" panose="020B0609020204030204" pitchFamily="49" charset="0"/>
              </a:rPr>
            </a:br>
            <a:r>
              <a:rPr lang="fr-FR" b="0" dirty="0">
                <a:solidFill>
                  <a:srgbClr val="229977"/>
                </a:solidFill>
                <a:effectLst/>
                <a:latin typeface="Consolas" panose="020B0609020204030204" pitchFamily="49" charset="0"/>
              </a:rPr>
              <a:t>t</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r>
              <a:rPr lang="fr-FR" b="0" dirty="0" err="1">
                <a:solidFill>
                  <a:srgbClr val="B4B4B4"/>
                </a:solidFill>
                <a:effectLst/>
                <a:latin typeface="Consolas" panose="020B0609020204030204" pitchFamily="49" charset="0"/>
              </a:rPr>
              <a:t>.</a:t>
            </a:r>
            <a:r>
              <a:rPr lang="fr-FR" b="0" dirty="0" err="1">
                <a:solidFill>
                  <a:srgbClr val="A7A774"/>
                </a:solidFill>
                <a:effectLst/>
                <a:latin typeface="Consolas" panose="020B0609020204030204" pitchFamily="49" charset="0"/>
              </a:rPr>
              <a:t>arange</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1</a:t>
            </a:r>
            <a:r>
              <a:rPr lang="fr-FR" b="0" dirty="0">
                <a:solidFill>
                  <a:srgbClr val="B4B4B4"/>
                </a:solidFill>
                <a:effectLst/>
                <a:latin typeface="Consolas" panose="020B0609020204030204" pitchFamily="49" charset="0"/>
              </a:rPr>
              <a:t>,</a:t>
            </a:r>
            <a:r>
              <a:rPr lang="fr-FR" dirty="0">
                <a:solidFill>
                  <a:srgbClr val="E0EBB2"/>
                </a:solidFill>
                <a:latin typeface="Consolas" panose="020B0609020204030204" pitchFamily="49" charset="0"/>
              </a:rPr>
              <a:t>13</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err="1">
                <a:solidFill>
                  <a:srgbClr val="E68A8A"/>
                </a:solidFill>
                <a:effectLst/>
                <a:latin typeface="Consolas" panose="020B0609020204030204" pitchFamily="49" charset="0"/>
              </a:rPr>
              <a:t>Vector</a:t>
            </a:r>
            <a:r>
              <a:rPr lang="fr-FR" b="0" dirty="0">
                <a:solidFill>
                  <a:srgbClr val="E68A8A"/>
                </a:solidFill>
                <a:effectLst/>
                <a:latin typeface="Consolas" panose="020B0609020204030204" pitchFamily="49" charset="0"/>
              </a:rPr>
              <a:t>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err="1">
                <a:solidFill>
                  <a:srgbClr val="229977"/>
                </a:solidFill>
                <a:effectLst/>
                <a:latin typeface="Consolas" panose="020B0609020204030204" pitchFamily="49" charset="0"/>
              </a:rPr>
              <a:t>t</a:t>
            </a:r>
            <a:r>
              <a:rPr lang="fr-FR" b="0" dirty="0">
                <a:solidFill>
                  <a:srgbClr val="B4B4B4"/>
                </a:solidFill>
                <a:effectLst/>
                <a:latin typeface="Consolas" panose="020B0609020204030204" pitchFamily="49" charset="0"/>
              </a:rPr>
              <a:t>)</a:t>
            </a:r>
          </a:p>
          <a:p>
            <a:r>
              <a:rPr lang="fr-FR" dirty="0" err="1">
                <a:solidFill>
                  <a:srgbClr val="A7A774"/>
                </a:solidFill>
                <a:latin typeface="Consolas" panose="020B0609020204030204" pitchFamily="49" charset="0"/>
              </a:rPr>
              <a:t>print</a:t>
            </a:r>
            <a:r>
              <a:rPr lang="fr-FR" dirty="0">
                <a:solidFill>
                  <a:srgbClr val="B4B4B4"/>
                </a:solidFill>
                <a:latin typeface="Consolas" panose="020B0609020204030204" pitchFamily="49" charset="0"/>
              </a:rPr>
              <a:t>(</a:t>
            </a:r>
            <a:r>
              <a:rPr lang="fr-FR" dirty="0">
                <a:solidFill>
                  <a:srgbClr val="E8C9BB"/>
                </a:solidFill>
                <a:latin typeface="Consolas" panose="020B0609020204030204" pitchFamily="49" charset="0"/>
              </a:rPr>
              <a:t>"</a:t>
            </a:r>
            <a:r>
              <a:rPr lang="fr-FR" dirty="0" err="1">
                <a:solidFill>
                  <a:srgbClr val="E68A8A"/>
                </a:solidFill>
                <a:latin typeface="Consolas" panose="020B0609020204030204" pitchFamily="49" charset="0"/>
              </a:rPr>
              <a:t>is</a:t>
            </a:r>
            <a:r>
              <a:rPr lang="fr-FR" dirty="0">
                <a:solidFill>
                  <a:srgbClr val="E68A8A"/>
                </a:solidFill>
                <a:latin typeface="Consolas" panose="020B0609020204030204" pitchFamily="49" charset="0"/>
              </a:rPr>
              <a:t> </a:t>
            </a:r>
            <a:r>
              <a:rPr lang="fr-FR" dirty="0" err="1">
                <a:solidFill>
                  <a:srgbClr val="E68A8A"/>
                </a:solidFill>
                <a:latin typeface="Consolas" panose="020B0609020204030204" pitchFamily="49" charset="0"/>
              </a:rPr>
              <a:t>contiguous</a:t>
            </a:r>
            <a:r>
              <a:rPr lang="fr-FR" dirty="0">
                <a:solidFill>
                  <a:srgbClr val="E68A8A"/>
                </a:solidFill>
                <a:latin typeface="Consolas" panose="020B0609020204030204" pitchFamily="49" charset="0"/>
              </a:rPr>
              <a:t> = </a:t>
            </a:r>
            <a:r>
              <a:rPr lang="fr-FR" dirty="0">
                <a:solidFill>
                  <a:srgbClr val="E8C9BB"/>
                </a:solidFill>
                <a:latin typeface="Consolas" panose="020B0609020204030204" pitchFamily="49" charset="0"/>
              </a:rPr>
              <a:t>"</a:t>
            </a:r>
            <a:r>
              <a:rPr lang="fr-FR" dirty="0">
                <a:solidFill>
                  <a:srgbClr val="B4B4B4"/>
                </a:solidFill>
                <a:latin typeface="Consolas" panose="020B0609020204030204" pitchFamily="49" charset="0"/>
              </a:rPr>
              <a:t>,</a:t>
            </a:r>
            <a:r>
              <a:rPr lang="fr-FR" dirty="0" err="1">
                <a:solidFill>
                  <a:srgbClr val="229977"/>
                </a:solidFill>
                <a:latin typeface="Consolas" panose="020B0609020204030204" pitchFamily="49" charset="0"/>
              </a:rPr>
              <a:t>t.</a:t>
            </a:r>
            <a:r>
              <a:rPr lang="fr-FR" dirty="0" err="1">
                <a:solidFill>
                  <a:srgbClr val="A7A774"/>
                </a:solidFill>
                <a:latin typeface="Consolas" panose="020B0609020204030204" pitchFamily="49" charset="0"/>
              </a:rPr>
              <a:t>is_contiguous</a:t>
            </a:r>
            <a:r>
              <a:rPr lang="fr-FR" dirty="0">
                <a:solidFill>
                  <a:srgbClr val="A7A774"/>
                </a:solidFill>
                <a:latin typeface="Consolas" panose="020B0609020204030204" pitchFamily="49" charset="0"/>
              </a:rPr>
              <a:t>()</a:t>
            </a:r>
            <a:r>
              <a:rPr lang="fr-FR" dirty="0">
                <a:solidFill>
                  <a:srgbClr val="B4B4B4"/>
                </a:solidFill>
                <a:latin typeface="Consolas" panose="020B0609020204030204" pitchFamily="49" charset="0"/>
              </a:rPr>
              <a:t>)</a:t>
            </a:r>
          </a:p>
          <a:p>
            <a:endParaRPr lang="fr-FR" b="0" dirty="0">
              <a:solidFill>
                <a:srgbClr val="B4B4B4"/>
              </a:solidFill>
              <a:effectLst/>
              <a:latin typeface="Consolas" panose="020B0609020204030204" pitchFamily="49" charset="0"/>
            </a:endParaRPr>
          </a:p>
          <a:p>
            <a:endParaRPr lang="fr-FR" b="0" dirty="0">
              <a:solidFill>
                <a:srgbClr val="DADADA"/>
              </a:solidFill>
              <a:effectLst/>
              <a:latin typeface="Consolas" panose="020B0609020204030204" pitchFamily="49" charset="0"/>
            </a:endParaRPr>
          </a:p>
        </p:txBody>
      </p:sp>
      <p:sp>
        <p:nvSpPr>
          <p:cNvPr id="7" name="Rectangle 6">
            <a:extLst>
              <a:ext uri="{FF2B5EF4-FFF2-40B4-BE49-F238E27FC236}">
                <a16:creationId xmlns:a16="http://schemas.microsoft.com/office/drawing/2014/main" id="{54C813A1-20DB-929F-9D09-97767EC45352}"/>
              </a:ext>
            </a:extLst>
          </p:cNvPr>
          <p:cNvSpPr/>
          <p:nvPr/>
        </p:nvSpPr>
        <p:spPr>
          <a:xfrm>
            <a:off x="2242486" y="4050345"/>
            <a:ext cx="9144000" cy="973734"/>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dirty="0">
                <a:solidFill>
                  <a:srgbClr val="229977"/>
                </a:solidFill>
                <a:latin typeface="Consolas" panose="020B0609020204030204" pitchFamily="49" charset="0"/>
              </a:rPr>
              <a:t>m</a:t>
            </a:r>
            <a:r>
              <a:rPr lang="fr-FR" dirty="0">
                <a:solidFill>
                  <a:srgbClr val="DADADA"/>
                </a:solidFill>
                <a:latin typeface="Consolas" panose="020B0609020204030204" pitchFamily="49" charset="0"/>
              </a:rPr>
              <a:t> </a:t>
            </a:r>
            <a:r>
              <a:rPr lang="fr-FR" dirty="0">
                <a:solidFill>
                  <a:srgbClr val="C0C0C0"/>
                </a:solidFill>
                <a:latin typeface="Consolas" panose="020B0609020204030204" pitchFamily="49" charset="0"/>
              </a:rPr>
              <a:t>=</a:t>
            </a:r>
            <a:r>
              <a:rPr lang="fr-FR" dirty="0">
                <a:solidFill>
                  <a:srgbClr val="DADADA"/>
                </a:solidFill>
                <a:latin typeface="Consolas" panose="020B0609020204030204" pitchFamily="49" charset="0"/>
              </a:rPr>
              <a:t> </a:t>
            </a:r>
            <a:r>
              <a:rPr lang="fr-FR" dirty="0" err="1">
                <a:solidFill>
                  <a:srgbClr val="229977"/>
                </a:solidFill>
                <a:latin typeface="Consolas" panose="020B0609020204030204" pitchFamily="49" charset="0"/>
              </a:rPr>
              <a:t>t</a:t>
            </a:r>
            <a:r>
              <a:rPr lang="fr-FR" dirty="0" err="1">
                <a:solidFill>
                  <a:srgbClr val="B4B4B4"/>
                </a:solidFill>
                <a:latin typeface="Consolas" panose="020B0609020204030204" pitchFamily="49" charset="0"/>
              </a:rPr>
              <a:t>.</a:t>
            </a:r>
            <a:r>
              <a:rPr lang="fr-FR" dirty="0" err="1">
                <a:solidFill>
                  <a:srgbClr val="A7A774"/>
                </a:solidFill>
                <a:latin typeface="Consolas" panose="020B0609020204030204" pitchFamily="49" charset="0"/>
              </a:rPr>
              <a:t>view</a:t>
            </a:r>
            <a:r>
              <a:rPr lang="fr-FR" dirty="0">
                <a:solidFill>
                  <a:srgbClr val="B4B4B4"/>
                </a:solidFill>
                <a:latin typeface="Consolas" panose="020B0609020204030204" pitchFamily="49" charset="0"/>
              </a:rPr>
              <a:t>(</a:t>
            </a:r>
            <a:r>
              <a:rPr lang="fr-FR" dirty="0">
                <a:solidFill>
                  <a:srgbClr val="E0EBB2"/>
                </a:solidFill>
                <a:latin typeface="Consolas" panose="020B0609020204030204" pitchFamily="49" charset="0"/>
              </a:rPr>
              <a:t>4</a:t>
            </a:r>
            <a:r>
              <a:rPr lang="fr-FR" dirty="0">
                <a:solidFill>
                  <a:srgbClr val="B4B4B4"/>
                </a:solidFill>
                <a:latin typeface="Consolas" panose="020B0609020204030204" pitchFamily="49" charset="0"/>
              </a:rPr>
              <a:t>,</a:t>
            </a:r>
            <a:r>
              <a:rPr lang="fr-FR" dirty="0">
                <a:solidFill>
                  <a:srgbClr val="E0EBB2"/>
                </a:solidFill>
                <a:latin typeface="Consolas" panose="020B0609020204030204" pitchFamily="49" charset="0"/>
              </a:rPr>
              <a:t>3</a:t>
            </a:r>
            <a:r>
              <a:rPr lang="fr-FR" dirty="0">
                <a:solidFill>
                  <a:srgbClr val="B4B4B4"/>
                </a:solidFill>
                <a:latin typeface="Consolas" panose="020B0609020204030204" pitchFamily="49" charset="0"/>
              </a:rPr>
              <a:t>)</a:t>
            </a:r>
            <a:endParaRPr lang="fr-FR" dirty="0">
              <a:solidFill>
                <a:srgbClr val="DADADA"/>
              </a:solidFill>
              <a:latin typeface="Consolas" panose="020B0609020204030204" pitchFamily="49" charset="0"/>
            </a:endParaRPr>
          </a:p>
          <a:p>
            <a:r>
              <a:rPr lang="fr-FR" dirty="0" err="1">
                <a:solidFill>
                  <a:srgbClr val="A7A774"/>
                </a:solidFill>
                <a:latin typeface="Consolas" panose="020B0609020204030204" pitchFamily="49" charset="0"/>
              </a:rPr>
              <a:t>print</a:t>
            </a:r>
            <a:r>
              <a:rPr lang="fr-FR" dirty="0">
                <a:solidFill>
                  <a:srgbClr val="B4B4B4"/>
                </a:solidFill>
                <a:latin typeface="Consolas" panose="020B0609020204030204" pitchFamily="49" charset="0"/>
              </a:rPr>
              <a:t>(</a:t>
            </a:r>
            <a:r>
              <a:rPr lang="fr-FR" dirty="0">
                <a:solidFill>
                  <a:srgbClr val="E8C9BB"/>
                </a:solidFill>
                <a:latin typeface="Consolas" panose="020B0609020204030204" pitchFamily="49" charset="0"/>
              </a:rPr>
              <a:t>"</a:t>
            </a:r>
            <a:r>
              <a:rPr lang="fr-FR" dirty="0">
                <a:solidFill>
                  <a:srgbClr val="E68A8A"/>
                </a:solidFill>
                <a:latin typeface="Consolas" panose="020B0609020204030204" pitchFamily="49" charset="0"/>
              </a:rPr>
              <a:t>4x3 matrix = </a:t>
            </a:r>
            <a:r>
              <a:rPr lang="fr-FR" dirty="0">
                <a:solidFill>
                  <a:srgbClr val="E8C9BB"/>
                </a:solidFill>
                <a:latin typeface="Consolas" panose="020B0609020204030204" pitchFamily="49" charset="0"/>
              </a:rPr>
              <a:t>"</a:t>
            </a:r>
            <a:r>
              <a:rPr lang="fr-FR" dirty="0">
                <a:solidFill>
                  <a:srgbClr val="B4B4B4"/>
                </a:solidFill>
                <a:latin typeface="Consolas" panose="020B0609020204030204" pitchFamily="49" charset="0"/>
              </a:rPr>
              <a:t>,</a:t>
            </a:r>
            <a:r>
              <a:rPr lang="fr-FR" dirty="0">
                <a:solidFill>
                  <a:srgbClr val="229977"/>
                </a:solidFill>
                <a:latin typeface="Consolas" panose="020B0609020204030204" pitchFamily="49" charset="0"/>
              </a:rPr>
              <a:t>m</a:t>
            </a:r>
            <a:r>
              <a:rPr lang="fr-FR" dirty="0">
                <a:solidFill>
                  <a:srgbClr val="B4B4B4"/>
                </a:solidFill>
                <a:latin typeface="Consolas" panose="020B0609020204030204" pitchFamily="49" charset="0"/>
              </a:rPr>
              <a:t>)</a:t>
            </a:r>
            <a:endParaRPr lang="fr-FR" dirty="0">
              <a:solidFill>
                <a:srgbClr val="DADADA"/>
              </a:solidFill>
              <a:latin typeface="Consolas" panose="020B0609020204030204" pitchFamily="49" charset="0"/>
            </a:endParaRPr>
          </a:p>
          <a:p>
            <a:r>
              <a:rPr lang="fr-FR" dirty="0" err="1">
                <a:solidFill>
                  <a:srgbClr val="A7A774"/>
                </a:solidFill>
                <a:latin typeface="Consolas" panose="020B0609020204030204" pitchFamily="49" charset="0"/>
              </a:rPr>
              <a:t>print</a:t>
            </a:r>
            <a:r>
              <a:rPr lang="fr-FR" dirty="0">
                <a:solidFill>
                  <a:srgbClr val="B4B4B4"/>
                </a:solidFill>
                <a:latin typeface="Consolas" panose="020B0609020204030204" pitchFamily="49" charset="0"/>
              </a:rPr>
              <a:t>(</a:t>
            </a:r>
            <a:r>
              <a:rPr lang="fr-FR" dirty="0">
                <a:solidFill>
                  <a:srgbClr val="E8C9BB"/>
                </a:solidFill>
                <a:latin typeface="Consolas" panose="020B0609020204030204" pitchFamily="49" charset="0"/>
              </a:rPr>
              <a:t>"</a:t>
            </a:r>
            <a:r>
              <a:rPr lang="fr-FR" dirty="0" err="1">
                <a:solidFill>
                  <a:srgbClr val="E68A8A"/>
                </a:solidFill>
                <a:latin typeface="Consolas" panose="020B0609020204030204" pitchFamily="49" charset="0"/>
              </a:rPr>
              <a:t>is</a:t>
            </a:r>
            <a:r>
              <a:rPr lang="fr-FR" dirty="0">
                <a:solidFill>
                  <a:srgbClr val="E68A8A"/>
                </a:solidFill>
                <a:latin typeface="Consolas" panose="020B0609020204030204" pitchFamily="49" charset="0"/>
              </a:rPr>
              <a:t> </a:t>
            </a:r>
            <a:r>
              <a:rPr lang="fr-FR" dirty="0" err="1">
                <a:solidFill>
                  <a:srgbClr val="E68A8A"/>
                </a:solidFill>
                <a:latin typeface="Consolas" panose="020B0609020204030204" pitchFamily="49" charset="0"/>
              </a:rPr>
              <a:t>contiguous</a:t>
            </a:r>
            <a:r>
              <a:rPr lang="fr-FR" dirty="0">
                <a:solidFill>
                  <a:srgbClr val="E68A8A"/>
                </a:solidFill>
                <a:latin typeface="Consolas" panose="020B0609020204030204" pitchFamily="49" charset="0"/>
              </a:rPr>
              <a:t> = </a:t>
            </a:r>
            <a:r>
              <a:rPr lang="fr-FR" dirty="0">
                <a:solidFill>
                  <a:srgbClr val="E8C9BB"/>
                </a:solidFill>
                <a:latin typeface="Consolas" panose="020B0609020204030204" pitchFamily="49" charset="0"/>
              </a:rPr>
              <a:t>"</a:t>
            </a:r>
            <a:r>
              <a:rPr lang="fr-FR" dirty="0">
                <a:solidFill>
                  <a:srgbClr val="B4B4B4"/>
                </a:solidFill>
                <a:latin typeface="Consolas" panose="020B0609020204030204" pitchFamily="49" charset="0"/>
              </a:rPr>
              <a:t>,</a:t>
            </a:r>
            <a:r>
              <a:rPr lang="fr-FR" dirty="0" err="1">
                <a:solidFill>
                  <a:srgbClr val="229977"/>
                </a:solidFill>
                <a:latin typeface="Consolas" panose="020B0609020204030204" pitchFamily="49" charset="0"/>
              </a:rPr>
              <a:t>m.</a:t>
            </a:r>
            <a:r>
              <a:rPr lang="fr-FR" dirty="0" err="1">
                <a:solidFill>
                  <a:srgbClr val="A7A774"/>
                </a:solidFill>
                <a:latin typeface="Consolas" panose="020B0609020204030204" pitchFamily="49" charset="0"/>
              </a:rPr>
              <a:t>is_contiguous</a:t>
            </a:r>
            <a:r>
              <a:rPr lang="fr-FR" dirty="0">
                <a:solidFill>
                  <a:srgbClr val="A7A774"/>
                </a:solidFill>
                <a:latin typeface="Consolas" panose="020B0609020204030204" pitchFamily="49" charset="0"/>
              </a:rPr>
              <a:t>()</a:t>
            </a:r>
            <a:r>
              <a:rPr lang="fr-FR" dirty="0">
                <a:solidFill>
                  <a:srgbClr val="B4B4B4"/>
                </a:solidFill>
                <a:latin typeface="Consolas" panose="020B0609020204030204" pitchFamily="49" charset="0"/>
              </a:rPr>
              <a:t>)</a:t>
            </a:r>
          </a:p>
          <a:p>
            <a:endParaRPr lang="fr-FR" b="0" dirty="0">
              <a:solidFill>
                <a:srgbClr val="DADADA"/>
              </a:solidFill>
              <a:effectLst/>
              <a:latin typeface="Consolas" panose="020B0609020204030204" pitchFamily="49" charset="0"/>
            </a:endParaRPr>
          </a:p>
        </p:txBody>
      </p:sp>
      <p:graphicFrame>
        <p:nvGraphicFramePr>
          <p:cNvPr id="8" name="Table 7">
            <a:extLst>
              <a:ext uri="{FF2B5EF4-FFF2-40B4-BE49-F238E27FC236}">
                <a16:creationId xmlns:a16="http://schemas.microsoft.com/office/drawing/2014/main" id="{FBE8E4DE-0590-0024-1E41-E203E74FFEC1}"/>
              </a:ext>
            </a:extLst>
          </p:cNvPr>
          <p:cNvGraphicFramePr>
            <a:graphicFrameLocks noGrp="1"/>
          </p:cNvGraphicFramePr>
          <p:nvPr>
            <p:extLst>
              <p:ext uri="{D42A27DB-BD31-4B8C-83A1-F6EECF244321}">
                <p14:modId xmlns:p14="http://schemas.microsoft.com/office/powerpoint/2010/main" val="2550475309"/>
              </p:ext>
            </p:extLst>
          </p:nvPr>
        </p:nvGraphicFramePr>
        <p:xfrm>
          <a:off x="2242486" y="5176479"/>
          <a:ext cx="2442056" cy="1247910"/>
        </p:xfrm>
        <a:graphic>
          <a:graphicData uri="http://schemas.openxmlformats.org/drawingml/2006/table">
            <a:tbl>
              <a:tblPr>
                <a:tableStyleId>{327F97BB-C833-4FB7-BDE5-3F7075034690}</a:tableStyleId>
              </a:tblPr>
              <a:tblGrid>
                <a:gridCol w="610514">
                  <a:extLst>
                    <a:ext uri="{9D8B030D-6E8A-4147-A177-3AD203B41FA5}">
                      <a16:colId xmlns:a16="http://schemas.microsoft.com/office/drawing/2014/main" val="2809171553"/>
                    </a:ext>
                  </a:extLst>
                </a:gridCol>
                <a:gridCol w="610514">
                  <a:extLst>
                    <a:ext uri="{9D8B030D-6E8A-4147-A177-3AD203B41FA5}">
                      <a16:colId xmlns:a16="http://schemas.microsoft.com/office/drawing/2014/main" val="414603765"/>
                    </a:ext>
                  </a:extLst>
                </a:gridCol>
                <a:gridCol w="610514">
                  <a:extLst>
                    <a:ext uri="{9D8B030D-6E8A-4147-A177-3AD203B41FA5}">
                      <a16:colId xmlns:a16="http://schemas.microsoft.com/office/drawing/2014/main" val="3280572551"/>
                    </a:ext>
                  </a:extLst>
                </a:gridCol>
                <a:gridCol w="610514">
                  <a:extLst>
                    <a:ext uri="{9D8B030D-6E8A-4147-A177-3AD203B41FA5}">
                      <a16:colId xmlns:a16="http://schemas.microsoft.com/office/drawing/2014/main" val="3374721981"/>
                    </a:ext>
                  </a:extLst>
                </a:gridCol>
              </a:tblGrid>
              <a:tr h="415970">
                <a:tc>
                  <a:txBody>
                    <a:bodyPr/>
                    <a:lstStyle/>
                    <a:p>
                      <a:pPr algn="ctr"/>
                      <a:r>
                        <a:rPr lang="en-US" dirty="0">
                          <a:solidFill>
                            <a:schemeClr val="bg2"/>
                          </a:solidFill>
                        </a:rPr>
                        <a:t>1</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a:r>
                        <a:rPr lang="en-US" dirty="0">
                          <a:solidFill>
                            <a:schemeClr val="bg2"/>
                          </a:solidFill>
                        </a:rPr>
                        <a:t>2</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a:r>
                        <a:rPr lang="en-US" dirty="0">
                          <a:solidFill>
                            <a:schemeClr val="bg2"/>
                          </a:solidFill>
                        </a:rPr>
                        <a:t>3</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a:r>
                        <a:rPr lang="en-US" dirty="0">
                          <a:solidFill>
                            <a:schemeClr val="bg2"/>
                          </a:solidFill>
                        </a:rPr>
                        <a:t>4</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71613924"/>
                  </a:ext>
                </a:extLst>
              </a:tr>
              <a:tr h="415970">
                <a:tc>
                  <a:txBody>
                    <a:bodyPr/>
                    <a:lstStyle/>
                    <a:p>
                      <a:pPr algn="ctr"/>
                      <a:r>
                        <a:rPr lang="en-US" dirty="0">
                          <a:solidFill>
                            <a:schemeClr val="bg2"/>
                          </a:solidFill>
                        </a:rPr>
                        <a:t>5</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75000"/>
                      </a:schemeClr>
                    </a:solidFill>
                  </a:tcPr>
                </a:tc>
                <a:tc>
                  <a:txBody>
                    <a:bodyPr/>
                    <a:lstStyle/>
                    <a:p>
                      <a:pPr algn="ctr"/>
                      <a:r>
                        <a:rPr lang="en-US" dirty="0">
                          <a:solidFill>
                            <a:schemeClr val="bg2"/>
                          </a:solidFill>
                        </a:rPr>
                        <a:t>6</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75000"/>
                      </a:schemeClr>
                    </a:solidFill>
                  </a:tcPr>
                </a:tc>
                <a:tc>
                  <a:txBody>
                    <a:bodyPr/>
                    <a:lstStyle/>
                    <a:p>
                      <a:pPr algn="ctr"/>
                      <a:r>
                        <a:rPr lang="en-US" dirty="0">
                          <a:solidFill>
                            <a:schemeClr val="bg2"/>
                          </a:solidFill>
                        </a:rPr>
                        <a:t>7</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75000"/>
                      </a:schemeClr>
                    </a:solidFill>
                  </a:tcPr>
                </a:tc>
                <a:tc>
                  <a:txBody>
                    <a:bodyPr/>
                    <a:lstStyle/>
                    <a:p>
                      <a:pPr algn="ctr"/>
                      <a:r>
                        <a:rPr lang="en-US" dirty="0">
                          <a:solidFill>
                            <a:schemeClr val="bg2"/>
                          </a:solidFill>
                        </a:rPr>
                        <a:t>8</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643543184"/>
                  </a:ext>
                </a:extLst>
              </a:tr>
              <a:tr h="415970">
                <a:tc>
                  <a:txBody>
                    <a:bodyPr/>
                    <a:lstStyle/>
                    <a:p>
                      <a:pPr algn="ctr"/>
                      <a:r>
                        <a:rPr lang="en-US" dirty="0">
                          <a:solidFill>
                            <a:schemeClr val="bg2"/>
                          </a:solidFill>
                        </a:rPr>
                        <a:t>9</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50000"/>
                      </a:schemeClr>
                    </a:solidFill>
                  </a:tcPr>
                </a:tc>
                <a:tc>
                  <a:txBody>
                    <a:bodyPr/>
                    <a:lstStyle/>
                    <a:p>
                      <a:pPr algn="ctr"/>
                      <a:r>
                        <a:rPr lang="en-US" dirty="0">
                          <a:solidFill>
                            <a:schemeClr val="bg2"/>
                          </a:solidFill>
                        </a:rPr>
                        <a:t>10</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50000"/>
                      </a:schemeClr>
                    </a:solidFill>
                  </a:tcPr>
                </a:tc>
                <a:tc>
                  <a:txBody>
                    <a:bodyPr/>
                    <a:lstStyle/>
                    <a:p>
                      <a:pPr algn="ctr"/>
                      <a:r>
                        <a:rPr lang="en-US" dirty="0">
                          <a:solidFill>
                            <a:schemeClr val="bg2"/>
                          </a:solidFill>
                        </a:rPr>
                        <a:t>11</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50000"/>
                      </a:schemeClr>
                    </a:solidFill>
                  </a:tcPr>
                </a:tc>
                <a:tc>
                  <a:txBody>
                    <a:bodyPr/>
                    <a:lstStyle/>
                    <a:p>
                      <a:pPr algn="ctr"/>
                      <a:r>
                        <a:rPr lang="en-US" dirty="0">
                          <a:solidFill>
                            <a:schemeClr val="bg2"/>
                          </a:solidFill>
                        </a:rPr>
                        <a:t>12</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613141035"/>
                  </a:ext>
                </a:extLst>
              </a:tr>
            </a:tbl>
          </a:graphicData>
        </a:graphic>
      </p:graphicFrame>
      <p:graphicFrame>
        <p:nvGraphicFramePr>
          <p:cNvPr id="3" name="Table 3">
            <a:extLst>
              <a:ext uri="{FF2B5EF4-FFF2-40B4-BE49-F238E27FC236}">
                <a16:creationId xmlns:a16="http://schemas.microsoft.com/office/drawing/2014/main" id="{6F391560-7D92-486E-01AE-139C1D746541}"/>
              </a:ext>
            </a:extLst>
          </p:cNvPr>
          <p:cNvGraphicFramePr>
            <a:graphicFrameLocks noGrp="1"/>
          </p:cNvGraphicFramePr>
          <p:nvPr>
            <p:extLst>
              <p:ext uri="{D42A27DB-BD31-4B8C-83A1-F6EECF244321}">
                <p14:modId xmlns:p14="http://schemas.microsoft.com/office/powerpoint/2010/main" val="3228812384"/>
              </p:ext>
            </p:extLst>
          </p:nvPr>
        </p:nvGraphicFramePr>
        <p:xfrm>
          <a:off x="6814486" y="2079530"/>
          <a:ext cx="4953000" cy="822960"/>
        </p:xfrm>
        <a:graphic>
          <a:graphicData uri="http://schemas.openxmlformats.org/drawingml/2006/table">
            <a:tbl>
              <a:tblPr firstRow="1" bandRow="1">
                <a:tableStyleId>{073A0DAA-6AF3-43AB-8588-CEC1D06C72B9}</a:tableStyleId>
              </a:tblPr>
              <a:tblGrid>
                <a:gridCol w="4953000">
                  <a:extLst>
                    <a:ext uri="{9D8B030D-6E8A-4147-A177-3AD203B41FA5}">
                      <a16:colId xmlns:a16="http://schemas.microsoft.com/office/drawing/2014/main" val="3899577134"/>
                    </a:ext>
                  </a:extLst>
                </a:gridCol>
              </a:tblGrid>
              <a:tr h="0">
                <a:tc>
                  <a:txBody>
                    <a:bodyPr/>
                    <a:lstStyle/>
                    <a:p>
                      <a:r>
                        <a:rPr lang="en-US" dirty="0"/>
                        <a:t>Output</a:t>
                      </a:r>
                    </a:p>
                  </a:txBody>
                  <a:tcPr/>
                </a:tc>
                <a:extLst>
                  <a:ext uri="{0D108BD9-81ED-4DB2-BD59-A6C34878D82A}">
                    <a16:rowId xmlns:a16="http://schemas.microsoft.com/office/drawing/2014/main" val="11798831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bg2"/>
                          </a:solidFill>
                          <a:effectLst/>
                          <a:latin typeface="+mn-lt"/>
                          <a:ea typeface="+mn-ea"/>
                          <a:cs typeface="+mn-cs"/>
                          <a:sym typeface="Arial"/>
                        </a:rPr>
                        <a:t>Vector =  tensor([ 1,  2,  3,  4,  5,  6,  7,  8,  9, 10, 11, 12])</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bg2"/>
                          </a:solidFill>
                          <a:effectLst/>
                          <a:latin typeface="+mn-lt"/>
                          <a:ea typeface="+mn-ea"/>
                          <a:cs typeface="+mn-cs"/>
                          <a:sym typeface="Arial"/>
                        </a:rPr>
                        <a:t>is contiguous =  True</a:t>
                      </a:r>
                    </a:p>
                  </a:txBody>
                  <a:tcPr/>
                </a:tc>
                <a:extLst>
                  <a:ext uri="{0D108BD9-81ED-4DB2-BD59-A6C34878D82A}">
                    <a16:rowId xmlns:a16="http://schemas.microsoft.com/office/drawing/2014/main" val="4231599274"/>
                  </a:ext>
                </a:extLst>
              </a:tr>
            </a:tbl>
          </a:graphicData>
        </a:graphic>
      </p:graphicFrame>
      <p:graphicFrame>
        <p:nvGraphicFramePr>
          <p:cNvPr id="9" name="Table 3">
            <a:extLst>
              <a:ext uri="{FF2B5EF4-FFF2-40B4-BE49-F238E27FC236}">
                <a16:creationId xmlns:a16="http://schemas.microsoft.com/office/drawing/2014/main" id="{F6D664C8-DD1C-D7C2-166D-D62F90831367}"/>
              </a:ext>
            </a:extLst>
          </p:cNvPr>
          <p:cNvGraphicFramePr>
            <a:graphicFrameLocks noGrp="1"/>
          </p:cNvGraphicFramePr>
          <p:nvPr>
            <p:extLst>
              <p:ext uri="{D42A27DB-BD31-4B8C-83A1-F6EECF244321}">
                <p14:modId xmlns:p14="http://schemas.microsoft.com/office/powerpoint/2010/main" val="1044944092"/>
              </p:ext>
            </p:extLst>
          </p:nvPr>
        </p:nvGraphicFramePr>
        <p:xfrm>
          <a:off x="6814486" y="4125433"/>
          <a:ext cx="4953000" cy="1889760"/>
        </p:xfrm>
        <a:graphic>
          <a:graphicData uri="http://schemas.openxmlformats.org/drawingml/2006/table">
            <a:tbl>
              <a:tblPr firstRow="1" bandRow="1">
                <a:tableStyleId>{073A0DAA-6AF3-43AB-8588-CEC1D06C72B9}</a:tableStyleId>
              </a:tblPr>
              <a:tblGrid>
                <a:gridCol w="4953000">
                  <a:extLst>
                    <a:ext uri="{9D8B030D-6E8A-4147-A177-3AD203B41FA5}">
                      <a16:colId xmlns:a16="http://schemas.microsoft.com/office/drawing/2014/main" val="3899577134"/>
                    </a:ext>
                  </a:extLst>
                </a:gridCol>
              </a:tblGrid>
              <a:tr h="0">
                <a:tc>
                  <a:txBody>
                    <a:bodyPr/>
                    <a:lstStyle/>
                    <a:p>
                      <a:r>
                        <a:rPr lang="en-US" dirty="0"/>
                        <a:t>Output</a:t>
                      </a:r>
                    </a:p>
                  </a:txBody>
                  <a:tcPr/>
                </a:tc>
                <a:extLst>
                  <a:ext uri="{0D108BD9-81ED-4DB2-BD59-A6C34878D82A}">
                    <a16:rowId xmlns:a16="http://schemas.microsoft.com/office/drawing/2014/main" val="117988312"/>
                  </a:ext>
                </a:extLst>
              </a:tr>
              <a:tr h="370840">
                <a:tc>
                  <a:txBody>
                    <a:bodyPr/>
                    <a:lstStyle/>
                    <a:p>
                      <a:r>
                        <a:rPr lang="en-US" sz="1400" b="0" i="0" u="none" strike="noStrike" cap="none" dirty="0">
                          <a:solidFill>
                            <a:schemeClr val="bg2"/>
                          </a:solidFill>
                          <a:effectLst/>
                          <a:latin typeface="+mn-lt"/>
                          <a:ea typeface="+mn-ea"/>
                          <a:cs typeface="+mn-cs"/>
                          <a:sym typeface="Arial"/>
                        </a:rPr>
                        <a:t>4x3 matrix =  tensor([[ 1,  2,  3],</a:t>
                      </a:r>
                    </a:p>
                    <a:p>
                      <a:r>
                        <a:rPr lang="en-US" sz="1400" b="0" i="0" u="none" strike="noStrike" cap="none" dirty="0">
                          <a:solidFill>
                            <a:schemeClr val="bg2"/>
                          </a:solidFill>
                          <a:effectLst/>
                          <a:latin typeface="+mn-lt"/>
                          <a:ea typeface="+mn-ea"/>
                          <a:cs typeface="+mn-cs"/>
                          <a:sym typeface="Arial"/>
                        </a:rPr>
                        <a:t>        [ 4,  5,  6],</a:t>
                      </a:r>
                    </a:p>
                    <a:p>
                      <a:r>
                        <a:rPr lang="en-US" sz="1400" b="0" i="0" u="none" strike="noStrike" cap="none" dirty="0">
                          <a:solidFill>
                            <a:schemeClr val="bg2"/>
                          </a:solidFill>
                          <a:effectLst/>
                          <a:latin typeface="+mn-lt"/>
                          <a:ea typeface="+mn-ea"/>
                          <a:cs typeface="+mn-cs"/>
                          <a:sym typeface="Arial"/>
                        </a:rPr>
                        <a:t>        [ 7,  8,  9],</a:t>
                      </a:r>
                    </a:p>
                    <a:p>
                      <a:r>
                        <a:rPr lang="en-US" sz="1400" b="0" i="0" u="none" strike="noStrike" cap="none" dirty="0">
                          <a:solidFill>
                            <a:schemeClr val="bg2"/>
                          </a:solidFill>
                          <a:effectLst/>
                          <a:latin typeface="+mn-lt"/>
                          <a:ea typeface="+mn-ea"/>
                          <a:cs typeface="+mn-cs"/>
                          <a:sym typeface="Arial"/>
                        </a:rPr>
                        <a:t>        [10, 11, 12]])</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bg2"/>
                          </a:solidFill>
                          <a:effectLst/>
                          <a:latin typeface="+mn-lt"/>
                          <a:ea typeface="+mn-ea"/>
                          <a:cs typeface="+mn-cs"/>
                          <a:sym typeface="Arial"/>
                        </a:rPr>
                        <a:t>is contiguous =  True</a:t>
                      </a:r>
                    </a:p>
                    <a:p>
                      <a:endParaRPr lang="en-US" sz="1400" b="0" i="0" u="none" strike="noStrike" cap="none" dirty="0">
                        <a:solidFill>
                          <a:schemeClr val="dk1"/>
                        </a:solidFill>
                        <a:effectLst/>
                        <a:latin typeface="+mn-lt"/>
                        <a:ea typeface="+mn-ea"/>
                        <a:cs typeface="+mn-cs"/>
                        <a:sym typeface="Arial"/>
                      </a:endParaRPr>
                    </a:p>
                    <a:p>
                      <a:endParaRPr lang="en-US" sz="1400" b="0" i="0" u="none" strike="noStrike" cap="none" dirty="0">
                        <a:solidFill>
                          <a:schemeClr val="dk1"/>
                        </a:solidFill>
                        <a:effectLst/>
                        <a:latin typeface="+mn-lt"/>
                        <a:ea typeface="+mn-ea"/>
                        <a:cs typeface="+mn-cs"/>
                        <a:sym typeface="Arial"/>
                      </a:endParaRP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3758418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A0D0D-9004-1B4D-9B56-566902B6E28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CD5B114-0FB7-EF59-2407-BDEE69A82682}"/>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E4DC65CB-95FC-20F2-D82D-5EE7B3CF4708}"/>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Contiguous array:</a:t>
            </a:r>
          </a:p>
          <a:p>
            <a:endParaRPr lang="en-US" dirty="0">
              <a:latin typeface="Arial" panose="020B0604020202020204" pitchFamily="34" charset="0"/>
              <a:cs typeface="Arial" panose="020B0604020202020204" pitchFamily="34" charset="0"/>
            </a:endParaRPr>
          </a:p>
          <a:p>
            <a:pPr marL="137160" indent="0">
              <a:buNone/>
            </a:pPr>
            <a:r>
              <a:rPr lang="en-US" dirty="0">
                <a:highlight>
                  <a:srgbClr val="C0C0C0"/>
                </a:highlight>
                <a:latin typeface="Arial" panose="020B0604020202020204" pitchFamily="34" charset="0"/>
                <a:cs typeface="Arial" panose="020B0604020202020204" pitchFamily="34" charset="0"/>
              </a:rPr>
              <a:t>	</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D9A0BB32-71E0-91F3-EDF5-83F84C1270CE}"/>
              </a:ext>
            </a:extLst>
          </p:cNvPr>
          <p:cNvSpPr/>
          <p:nvPr/>
        </p:nvSpPr>
        <p:spPr>
          <a:xfrm>
            <a:off x="2200283" y="2304696"/>
            <a:ext cx="9144000" cy="973734"/>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dirty="0">
                <a:solidFill>
                  <a:srgbClr val="229977"/>
                </a:solidFill>
                <a:latin typeface="Consolas" panose="020B0609020204030204" pitchFamily="49" charset="0"/>
              </a:rPr>
              <a:t>mt</a:t>
            </a:r>
            <a:r>
              <a:rPr lang="fr-FR" dirty="0">
                <a:solidFill>
                  <a:srgbClr val="DADADA"/>
                </a:solidFill>
                <a:latin typeface="Consolas" panose="020B0609020204030204" pitchFamily="49" charset="0"/>
              </a:rPr>
              <a:t> </a:t>
            </a:r>
            <a:r>
              <a:rPr lang="fr-FR" dirty="0">
                <a:solidFill>
                  <a:srgbClr val="C0C0C0"/>
                </a:solidFill>
                <a:latin typeface="Consolas" panose="020B0609020204030204" pitchFamily="49" charset="0"/>
              </a:rPr>
              <a:t>=</a:t>
            </a:r>
            <a:r>
              <a:rPr lang="fr-FR" dirty="0">
                <a:solidFill>
                  <a:srgbClr val="DADADA"/>
                </a:solidFill>
                <a:latin typeface="Consolas" panose="020B0609020204030204" pitchFamily="49" charset="0"/>
              </a:rPr>
              <a:t> </a:t>
            </a:r>
            <a:r>
              <a:rPr lang="fr-FR" dirty="0" err="1">
                <a:solidFill>
                  <a:srgbClr val="229977"/>
                </a:solidFill>
                <a:latin typeface="Consolas" panose="020B0609020204030204" pitchFamily="49" charset="0"/>
              </a:rPr>
              <a:t>m</a:t>
            </a:r>
            <a:r>
              <a:rPr lang="fr-FR" dirty="0" err="1">
                <a:solidFill>
                  <a:srgbClr val="B4B4B4"/>
                </a:solidFill>
                <a:latin typeface="Consolas" panose="020B0609020204030204" pitchFamily="49" charset="0"/>
              </a:rPr>
              <a:t>.</a:t>
            </a:r>
            <a:r>
              <a:rPr lang="fr-FR" dirty="0" err="1">
                <a:solidFill>
                  <a:srgbClr val="A7A774"/>
                </a:solidFill>
                <a:latin typeface="Consolas" panose="020B0609020204030204" pitchFamily="49" charset="0"/>
              </a:rPr>
              <a:t>t</a:t>
            </a:r>
            <a:r>
              <a:rPr lang="fr-FR" dirty="0">
                <a:solidFill>
                  <a:srgbClr val="A7A774"/>
                </a:solidFill>
                <a:latin typeface="Consolas" panose="020B0609020204030204" pitchFamily="49" charset="0"/>
              </a:rPr>
              <a:t>() #transpose matrix</a:t>
            </a:r>
            <a:endParaRPr lang="fr-FR" dirty="0">
              <a:solidFill>
                <a:srgbClr val="DADADA"/>
              </a:solidFill>
              <a:latin typeface="Consolas" panose="020B0609020204030204" pitchFamily="49" charset="0"/>
            </a:endParaRPr>
          </a:p>
          <a:p>
            <a:r>
              <a:rPr lang="fr-FR" dirty="0" err="1">
                <a:solidFill>
                  <a:srgbClr val="A7A774"/>
                </a:solidFill>
                <a:latin typeface="Consolas" panose="020B0609020204030204" pitchFamily="49" charset="0"/>
              </a:rPr>
              <a:t>print</a:t>
            </a:r>
            <a:r>
              <a:rPr lang="fr-FR" dirty="0">
                <a:solidFill>
                  <a:srgbClr val="B4B4B4"/>
                </a:solidFill>
                <a:latin typeface="Consolas" panose="020B0609020204030204" pitchFamily="49" charset="0"/>
              </a:rPr>
              <a:t>(</a:t>
            </a:r>
            <a:r>
              <a:rPr lang="fr-FR" dirty="0">
                <a:solidFill>
                  <a:srgbClr val="E8C9BB"/>
                </a:solidFill>
                <a:latin typeface="Consolas" panose="020B0609020204030204" pitchFamily="49" charset="0"/>
              </a:rPr>
              <a:t>"</a:t>
            </a:r>
            <a:r>
              <a:rPr lang="fr-FR" dirty="0">
                <a:solidFill>
                  <a:srgbClr val="E68A8A"/>
                </a:solidFill>
                <a:latin typeface="Consolas" panose="020B0609020204030204" pitchFamily="49" charset="0"/>
              </a:rPr>
              <a:t>3x4 matrix = </a:t>
            </a:r>
            <a:r>
              <a:rPr lang="fr-FR" dirty="0">
                <a:solidFill>
                  <a:srgbClr val="E8C9BB"/>
                </a:solidFill>
                <a:latin typeface="Consolas" panose="020B0609020204030204" pitchFamily="49" charset="0"/>
              </a:rPr>
              <a:t>"</a:t>
            </a:r>
            <a:r>
              <a:rPr lang="fr-FR" dirty="0">
                <a:solidFill>
                  <a:srgbClr val="B4B4B4"/>
                </a:solidFill>
                <a:latin typeface="Consolas" panose="020B0609020204030204" pitchFamily="49" charset="0"/>
              </a:rPr>
              <a:t>,</a:t>
            </a:r>
            <a:r>
              <a:rPr lang="fr-FR" dirty="0">
                <a:solidFill>
                  <a:srgbClr val="229977"/>
                </a:solidFill>
                <a:latin typeface="Consolas" panose="020B0609020204030204" pitchFamily="49" charset="0"/>
              </a:rPr>
              <a:t>mt</a:t>
            </a:r>
            <a:r>
              <a:rPr lang="fr-FR" dirty="0">
                <a:solidFill>
                  <a:srgbClr val="B4B4B4"/>
                </a:solidFill>
                <a:latin typeface="Consolas" panose="020B0609020204030204" pitchFamily="49" charset="0"/>
              </a:rPr>
              <a:t>)</a:t>
            </a:r>
            <a:endParaRPr lang="fr-FR" dirty="0">
              <a:solidFill>
                <a:srgbClr val="DADADA"/>
              </a:solidFill>
              <a:latin typeface="Consolas" panose="020B0609020204030204" pitchFamily="49" charset="0"/>
            </a:endParaRPr>
          </a:p>
          <a:p>
            <a:r>
              <a:rPr lang="fr-FR" dirty="0" err="1">
                <a:solidFill>
                  <a:srgbClr val="A7A774"/>
                </a:solidFill>
                <a:latin typeface="Consolas" panose="020B0609020204030204" pitchFamily="49" charset="0"/>
              </a:rPr>
              <a:t>print</a:t>
            </a:r>
            <a:r>
              <a:rPr lang="fr-FR" dirty="0">
                <a:solidFill>
                  <a:srgbClr val="B4B4B4"/>
                </a:solidFill>
                <a:latin typeface="Consolas" panose="020B0609020204030204" pitchFamily="49" charset="0"/>
              </a:rPr>
              <a:t>(</a:t>
            </a:r>
            <a:r>
              <a:rPr lang="fr-FR" dirty="0">
                <a:solidFill>
                  <a:srgbClr val="E8C9BB"/>
                </a:solidFill>
                <a:latin typeface="Consolas" panose="020B0609020204030204" pitchFamily="49" charset="0"/>
              </a:rPr>
              <a:t>"</a:t>
            </a:r>
            <a:r>
              <a:rPr lang="fr-FR" dirty="0" err="1">
                <a:solidFill>
                  <a:srgbClr val="E68A8A"/>
                </a:solidFill>
                <a:latin typeface="Consolas" panose="020B0609020204030204" pitchFamily="49" charset="0"/>
              </a:rPr>
              <a:t>is</a:t>
            </a:r>
            <a:r>
              <a:rPr lang="fr-FR" dirty="0">
                <a:solidFill>
                  <a:srgbClr val="E68A8A"/>
                </a:solidFill>
                <a:latin typeface="Consolas" panose="020B0609020204030204" pitchFamily="49" charset="0"/>
              </a:rPr>
              <a:t> </a:t>
            </a:r>
            <a:r>
              <a:rPr lang="fr-FR" dirty="0" err="1">
                <a:solidFill>
                  <a:srgbClr val="E68A8A"/>
                </a:solidFill>
                <a:latin typeface="Consolas" panose="020B0609020204030204" pitchFamily="49" charset="0"/>
              </a:rPr>
              <a:t>contiguous</a:t>
            </a:r>
            <a:r>
              <a:rPr lang="fr-FR" dirty="0">
                <a:solidFill>
                  <a:srgbClr val="E68A8A"/>
                </a:solidFill>
                <a:latin typeface="Consolas" panose="020B0609020204030204" pitchFamily="49" charset="0"/>
              </a:rPr>
              <a:t> = </a:t>
            </a:r>
            <a:r>
              <a:rPr lang="fr-FR" dirty="0">
                <a:solidFill>
                  <a:srgbClr val="E8C9BB"/>
                </a:solidFill>
                <a:latin typeface="Consolas" panose="020B0609020204030204" pitchFamily="49" charset="0"/>
              </a:rPr>
              <a:t>"</a:t>
            </a:r>
            <a:r>
              <a:rPr lang="fr-FR" dirty="0">
                <a:solidFill>
                  <a:srgbClr val="B4B4B4"/>
                </a:solidFill>
                <a:latin typeface="Consolas" panose="020B0609020204030204" pitchFamily="49" charset="0"/>
              </a:rPr>
              <a:t>,</a:t>
            </a:r>
            <a:r>
              <a:rPr lang="fr-FR" dirty="0" err="1">
                <a:solidFill>
                  <a:srgbClr val="229977"/>
                </a:solidFill>
                <a:latin typeface="Consolas" panose="020B0609020204030204" pitchFamily="49" charset="0"/>
              </a:rPr>
              <a:t>mt.</a:t>
            </a:r>
            <a:r>
              <a:rPr lang="fr-FR" dirty="0" err="1">
                <a:solidFill>
                  <a:srgbClr val="A7A774"/>
                </a:solidFill>
                <a:latin typeface="Consolas" panose="020B0609020204030204" pitchFamily="49" charset="0"/>
              </a:rPr>
              <a:t>is_contiguous</a:t>
            </a:r>
            <a:r>
              <a:rPr lang="fr-FR" dirty="0">
                <a:solidFill>
                  <a:srgbClr val="A7A774"/>
                </a:solidFill>
                <a:latin typeface="Consolas" panose="020B0609020204030204" pitchFamily="49" charset="0"/>
              </a:rPr>
              <a:t>()</a:t>
            </a:r>
            <a:r>
              <a:rPr lang="fr-FR" dirty="0">
                <a:solidFill>
                  <a:srgbClr val="B4B4B4"/>
                </a:solidFill>
                <a:latin typeface="Consolas" panose="020B0609020204030204" pitchFamily="49" charset="0"/>
              </a:rPr>
              <a:t>)</a:t>
            </a:r>
          </a:p>
          <a:p>
            <a:endParaRPr lang="fr-FR" b="0" dirty="0">
              <a:solidFill>
                <a:srgbClr val="DADADA"/>
              </a:solidFill>
              <a:effectLst/>
              <a:latin typeface="Consolas" panose="020B0609020204030204" pitchFamily="49" charset="0"/>
            </a:endParaRPr>
          </a:p>
        </p:txBody>
      </p:sp>
      <p:graphicFrame>
        <p:nvGraphicFramePr>
          <p:cNvPr id="9" name="Table 3">
            <a:extLst>
              <a:ext uri="{FF2B5EF4-FFF2-40B4-BE49-F238E27FC236}">
                <a16:creationId xmlns:a16="http://schemas.microsoft.com/office/drawing/2014/main" id="{0DD3C314-F5C7-F189-E15E-2A251215DA69}"/>
              </a:ext>
            </a:extLst>
          </p:cNvPr>
          <p:cNvGraphicFramePr>
            <a:graphicFrameLocks noGrp="1"/>
          </p:cNvGraphicFramePr>
          <p:nvPr>
            <p:extLst>
              <p:ext uri="{D42A27DB-BD31-4B8C-83A1-F6EECF244321}">
                <p14:modId xmlns:p14="http://schemas.microsoft.com/office/powerpoint/2010/main" val="196049886"/>
              </p:ext>
            </p:extLst>
          </p:nvPr>
        </p:nvGraphicFramePr>
        <p:xfrm>
          <a:off x="7030084" y="1996440"/>
          <a:ext cx="4953000" cy="1889760"/>
        </p:xfrm>
        <a:graphic>
          <a:graphicData uri="http://schemas.openxmlformats.org/drawingml/2006/table">
            <a:tbl>
              <a:tblPr firstRow="1" bandRow="1">
                <a:tableStyleId>{073A0DAA-6AF3-43AB-8588-CEC1D06C72B9}</a:tableStyleId>
              </a:tblPr>
              <a:tblGrid>
                <a:gridCol w="4953000">
                  <a:extLst>
                    <a:ext uri="{9D8B030D-6E8A-4147-A177-3AD203B41FA5}">
                      <a16:colId xmlns:a16="http://schemas.microsoft.com/office/drawing/2014/main" val="3899577134"/>
                    </a:ext>
                  </a:extLst>
                </a:gridCol>
              </a:tblGrid>
              <a:tr h="0">
                <a:tc>
                  <a:txBody>
                    <a:bodyPr/>
                    <a:lstStyle/>
                    <a:p>
                      <a:r>
                        <a:rPr lang="en-US" dirty="0">
                          <a:solidFill>
                            <a:schemeClr val="bg2"/>
                          </a:solidFill>
                        </a:rPr>
                        <a:t>Output</a:t>
                      </a:r>
                    </a:p>
                  </a:txBody>
                  <a:tcPr/>
                </a:tc>
                <a:extLst>
                  <a:ext uri="{0D108BD9-81ED-4DB2-BD59-A6C34878D82A}">
                    <a16:rowId xmlns:a16="http://schemas.microsoft.com/office/drawing/2014/main" val="117988312"/>
                  </a:ext>
                </a:extLst>
              </a:tr>
              <a:tr h="370840">
                <a:tc>
                  <a:txBody>
                    <a:bodyPr/>
                    <a:lstStyle/>
                    <a:p>
                      <a:r>
                        <a:rPr lang="en-US" sz="1400" b="0" i="0" u="none" strike="noStrike" cap="none" dirty="0">
                          <a:solidFill>
                            <a:schemeClr val="bg2"/>
                          </a:solidFill>
                          <a:effectLst/>
                          <a:latin typeface="+mn-lt"/>
                          <a:ea typeface="+mn-ea"/>
                          <a:cs typeface="+mn-cs"/>
                          <a:sym typeface="Arial"/>
                        </a:rPr>
                        <a:t>3x4 matrix =  tensor([[ 1,  4,  7, 10],</a:t>
                      </a:r>
                    </a:p>
                    <a:p>
                      <a:r>
                        <a:rPr lang="en-US" sz="1400" b="0" i="0" u="none" strike="noStrike" cap="none" dirty="0">
                          <a:solidFill>
                            <a:schemeClr val="bg2"/>
                          </a:solidFill>
                          <a:effectLst/>
                          <a:latin typeface="+mn-lt"/>
                          <a:ea typeface="+mn-ea"/>
                          <a:cs typeface="+mn-cs"/>
                          <a:sym typeface="Arial"/>
                        </a:rPr>
                        <a:t>        [ 2,  5,  8, 11],</a:t>
                      </a:r>
                    </a:p>
                    <a:p>
                      <a:r>
                        <a:rPr lang="en-US" sz="1400" b="0" i="0" u="none" strike="noStrike" cap="none" dirty="0">
                          <a:solidFill>
                            <a:schemeClr val="bg2"/>
                          </a:solidFill>
                          <a:effectLst/>
                          <a:latin typeface="+mn-lt"/>
                          <a:ea typeface="+mn-ea"/>
                          <a:cs typeface="+mn-cs"/>
                          <a:sym typeface="Arial"/>
                        </a:rPr>
                        <a:t>        [ 3,  6,  9, 12]])</a:t>
                      </a:r>
                    </a:p>
                    <a:p>
                      <a:endParaRPr lang="en-US" sz="1400" b="0" i="0" u="none" strike="noStrike" cap="none" dirty="0">
                        <a:solidFill>
                          <a:schemeClr val="bg2"/>
                        </a:solidFill>
                        <a:effectLst/>
                        <a:latin typeface="+mn-lt"/>
                        <a:ea typeface="+mn-ea"/>
                        <a:cs typeface="+mn-cs"/>
                        <a:sym typeface="Arial"/>
                      </a:endParaRPr>
                    </a:p>
                    <a:p>
                      <a:r>
                        <a:rPr lang="en-US" sz="1400" b="0" i="0" u="none" strike="noStrike" cap="none" dirty="0">
                          <a:solidFill>
                            <a:schemeClr val="bg2"/>
                          </a:solidFill>
                          <a:effectLst/>
                          <a:latin typeface="+mn-lt"/>
                          <a:ea typeface="+mn-ea"/>
                          <a:cs typeface="+mn-cs"/>
                          <a:sym typeface="Arial"/>
                        </a:rPr>
                        <a:t>is contiguous =  False</a:t>
                      </a:r>
                    </a:p>
                    <a:p>
                      <a:endParaRPr lang="en-US" sz="1400" b="0" i="0" u="none" strike="noStrike" cap="none" dirty="0">
                        <a:solidFill>
                          <a:schemeClr val="bg2"/>
                        </a:solidFill>
                        <a:effectLst/>
                        <a:latin typeface="+mn-lt"/>
                        <a:ea typeface="+mn-ea"/>
                        <a:cs typeface="+mn-cs"/>
                        <a:sym typeface="Arial"/>
                      </a:endParaRPr>
                    </a:p>
                    <a:p>
                      <a:endParaRPr lang="en-US" sz="1400" b="0" i="0" u="none" strike="noStrike" cap="none" dirty="0">
                        <a:solidFill>
                          <a:schemeClr val="bg2"/>
                        </a:solidFill>
                        <a:effectLst/>
                        <a:latin typeface="+mn-lt"/>
                        <a:ea typeface="+mn-ea"/>
                        <a:cs typeface="+mn-cs"/>
                        <a:sym typeface="Arial"/>
                      </a:endParaRPr>
                    </a:p>
                  </a:txBody>
                  <a:tcPr/>
                </a:tc>
                <a:extLst>
                  <a:ext uri="{0D108BD9-81ED-4DB2-BD59-A6C34878D82A}">
                    <a16:rowId xmlns:a16="http://schemas.microsoft.com/office/drawing/2014/main" val="4231599274"/>
                  </a:ext>
                </a:extLst>
              </a:tr>
            </a:tbl>
          </a:graphicData>
        </a:graphic>
      </p:graphicFrame>
      <p:graphicFrame>
        <p:nvGraphicFramePr>
          <p:cNvPr id="11" name="Table 10">
            <a:extLst>
              <a:ext uri="{FF2B5EF4-FFF2-40B4-BE49-F238E27FC236}">
                <a16:creationId xmlns:a16="http://schemas.microsoft.com/office/drawing/2014/main" id="{99CA3CDD-E6EB-BD1F-BC87-194F662EE227}"/>
              </a:ext>
            </a:extLst>
          </p:cNvPr>
          <p:cNvGraphicFramePr>
            <a:graphicFrameLocks noGrp="1"/>
          </p:cNvGraphicFramePr>
          <p:nvPr>
            <p:extLst>
              <p:ext uri="{D42A27DB-BD31-4B8C-83A1-F6EECF244321}">
                <p14:modId xmlns:p14="http://schemas.microsoft.com/office/powerpoint/2010/main" val="989679439"/>
              </p:ext>
            </p:extLst>
          </p:nvPr>
        </p:nvGraphicFramePr>
        <p:xfrm>
          <a:off x="2242486" y="3429000"/>
          <a:ext cx="1991889" cy="1495292"/>
        </p:xfrm>
        <a:graphic>
          <a:graphicData uri="http://schemas.openxmlformats.org/drawingml/2006/table">
            <a:tbl>
              <a:tblPr>
                <a:tableStyleId>{35758FB7-9AC5-4552-8A53-C91805E547FA}</a:tableStyleId>
              </a:tblPr>
              <a:tblGrid>
                <a:gridCol w="663963">
                  <a:extLst>
                    <a:ext uri="{9D8B030D-6E8A-4147-A177-3AD203B41FA5}">
                      <a16:colId xmlns:a16="http://schemas.microsoft.com/office/drawing/2014/main" val="1850160041"/>
                    </a:ext>
                  </a:extLst>
                </a:gridCol>
                <a:gridCol w="663963">
                  <a:extLst>
                    <a:ext uri="{9D8B030D-6E8A-4147-A177-3AD203B41FA5}">
                      <a16:colId xmlns:a16="http://schemas.microsoft.com/office/drawing/2014/main" val="1506761278"/>
                    </a:ext>
                  </a:extLst>
                </a:gridCol>
                <a:gridCol w="663963">
                  <a:extLst>
                    <a:ext uri="{9D8B030D-6E8A-4147-A177-3AD203B41FA5}">
                      <a16:colId xmlns:a16="http://schemas.microsoft.com/office/drawing/2014/main" val="1966086481"/>
                    </a:ext>
                  </a:extLst>
                </a:gridCol>
              </a:tblGrid>
              <a:tr h="373823">
                <a:tc>
                  <a:txBody>
                    <a:bodyPr/>
                    <a:lstStyle/>
                    <a:p>
                      <a:pPr algn="ctr"/>
                      <a:r>
                        <a:rPr lang="en-US" dirty="0">
                          <a:solidFill>
                            <a:schemeClr val="bg2"/>
                          </a:solidFill>
                        </a:rPr>
                        <a:t>1</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a:r>
                        <a:rPr lang="en-US" dirty="0">
                          <a:solidFill>
                            <a:schemeClr val="bg2"/>
                          </a:solidFill>
                        </a:rPr>
                        <a:t>5</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75000"/>
                      </a:schemeClr>
                    </a:solidFill>
                  </a:tcPr>
                </a:tc>
                <a:tc>
                  <a:txBody>
                    <a:bodyPr/>
                    <a:lstStyle/>
                    <a:p>
                      <a:pPr algn="ctr"/>
                      <a:r>
                        <a:rPr lang="en-US" dirty="0">
                          <a:solidFill>
                            <a:schemeClr val="bg2"/>
                          </a:solidFill>
                        </a:rPr>
                        <a:t>9</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1622587778"/>
                  </a:ext>
                </a:extLst>
              </a:tr>
              <a:tr h="373823">
                <a:tc>
                  <a:txBody>
                    <a:bodyPr/>
                    <a:lstStyle/>
                    <a:p>
                      <a:pPr algn="ctr"/>
                      <a:r>
                        <a:rPr lang="en-US" dirty="0">
                          <a:solidFill>
                            <a:schemeClr val="bg2"/>
                          </a:solidFill>
                        </a:rPr>
                        <a:t>2</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a:r>
                        <a:rPr lang="en-US" dirty="0">
                          <a:solidFill>
                            <a:schemeClr val="bg2"/>
                          </a:solidFill>
                        </a:rPr>
                        <a:t>6</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75000"/>
                      </a:schemeClr>
                    </a:solidFill>
                  </a:tcPr>
                </a:tc>
                <a:tc>
                  <a:txBody>
                    <a:bodyPr/>
                    <a:lstStyle/>
                    <a:p>
                      <a:pPr algn="ctr"/>
                      <a:r>
                        <a:rPr lang="en-US" dirty="0">
                          <a:solidFill>
                            <a:schemeClr val="bg2"/>
                          </a:solidFill>
                        </a:rPr>
                        <a:t>10</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69175236"/>
                  </a:ext>
                </a:extLst>
              </a:tr>
              <a:tr h="373823">
                <a:tc>
                  <a:txBody>
                    <a:bodyPr/>
                    <a:lstStyle/>
                    <a:p>
                      <a:pPr algn="ctr"/>
                      <a:r>
                        <a:rPr lang="en-US" dirty="0">
                          <a:solidFill>
                            <a:schemeClr val="bg2"/>
                          </a:solidFill>
                        </a:rPr>
                        <a:t>3</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a:r>
                        <a:rPr lang="en-US" dirty="0">
                          <a:solidFill>
                            <a:schemeClr val="bg2"/>
                          </a:solidFill>
                        </a:rPr>
                        <a:t>7</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75000"/>
                      </a:schemeClr>
                    </a:solidFill>
                  </a:tcPr>
                </a:tc>
                <a:tc>
                  <a:txBody>
                    <a:bodyPr/>
                    <a:lstStyle/>
                    <a:p>
                      <a:pPr algn="ctr"/>
                      <a:r>
                        <a:rPr lang="en-US" dirty="0">
                          <a:solidFill>
                            <a:schemeClr val="bg2"/>
                          </a:solidFill>
                        </a:rPr>
                        <a:t>11</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1263882859"/>
                  </a:ext>
                </a:extLst>
              </a:tr>
              <a:tr h="373823">
                <a:tc>
                  <a:txBody>
                    <a:bodyPr/>
                    <a:lstStyle/>
                    <a:p>
                      <a:pPr algn="ctr"/>
                      <a:r>
                        <a:rPr lang="en-US" dirty="0">
                          <a:solidFill>
                            <a:schemeClr val="bg2"/>
                          </a:solidFill>
                        </a:rPr>
                        <a:t>4</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a:r>
                        <a:rPr lang="en-US" dirty="0">
                          <a:solidFill>
                            <a:schemeClr val="bg2"/>
                          </a:solidFill>
                        </a:rPr>
                        <a:t>8</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75000"/>
                      </a:schemeClr>
                    </a:solidFill>
                  </a:tcPr>
                </a:tc>
                <a:tc>
                  <a:txBody>
                    <a:bodyPr/>
                    <a:lstStyle/>
                    <a:p>
                      <a:pPr algn="ctr"/>
                      <a:r>
                        <a:rPr lang="en-US" dirty="0">
                          <a:solidFill>
                            <a:schemeClr val="bg2"/>
                          </a:solidFill>
                        </a:rPr>
                        <a:t>12</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1824358328"/>
                  </a:ext>
                </a:extLst>
              </a:tr>
            </a:tbl>
          </a:graphicData>
        </a:graphic>
      </p:graphicFrame>
      <p:sp>
        <p:nvSpPr>
          <p:cNvPr id="12" name="Rectangle 11">
            <a:extLst>
              <a:ext uri="{FF2B5EF4-FFF2-40B4-BE49-F238E27FC236}">
                <a16:creationId xmlns:a16="http://schemas.microsoft.com/office/drawing/2014/main" id="{88FC83F2-E8D4-5A94-DE4C-D07A50297649}"/>
              </a:ext>
            </a:extLst>
          </p:cNvPr>
          <p:cNvSpPr/>
          <p:nvPr/>
        </p:nvSpPr>
        <p:spPr>
          <a:xfrm>
            <a:off x="2200283" y="5194949"/>
            <a:ext cx="9144000" cy="47433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dirty="0">
                <a:solidFill>
                  <a:srgbClr val="229977"/>
                </a:solidFill>
                <a:latin typeface="Consolas" panose="020B0609020204030204" pitchFamily="49" charset="0"/>
              </a:rPr>
              <a:t>t2</a:t>
            </a:r>
            <a:r>
              <a:rPr lang="fr-FR" dirty="0">
                <a:solidFill>
                  <a:srgbClr val="DADADA"/>
                </a:solidFill>
                <a:latin typeface="Consolas" panose="020B0609020204030204" pitchFamily="49" charset="0"/>
              </a:rPr>
              <a:t> </a:t>
            </a:r>
            <a:r>
              <a:rPr lang="fr-FR" dirty="0">
                <a:solidFill>
                  <a:srgbClr val="C0C0C0"/>
                </a:solidFill>
                <a:latin typeface="Consolas" panose="020B0609020204030204" pitchFamily="49" charset="0"/>
              </a:rPr>
              <a:t>=</a:t>
            </a:r>
            <a:r>
              <a:rPr lang="fr-FR" dirty="0">
                <a:solidFill>
                  <a:srgbClr val="DADADA"/>
                </a:solidFill>
                <a:latin typeface="Consolas" panose="020B0609020204030204" pitchFamily="49" charset="0"/>
              </a:rPr>
              <a:t> </a:t>
            </a:r>
            <a:r>
              <a:rPr lang="fr-FR" dirty="0" err="1">
                <a:solidFill>
                  <a:srgbClr val="229977"/>
                </a:solidFill>
                <a:latin typeface="Consolas" panose="020B0609020204030204" pitchFamily="49" charset="0"/>
              </a:rPr>
              <a:t>mt</a:t>
            </a:r>
            <a:r>
              <a:rPr lang="fr-FR" dirty="0" err="1">
                <a:solidFill>
                  <a:srgbClr val="B4B4B4"/>
                </a:solidFill>
                <a:latin typeface="Consolas" panose="020B0609020204030204" pitchFamily="49" charset="0"/>
              </a:rPr>
              <a:t>.</a:t>
            </a:r>
            <a:r>
              <a:rPr lang="fr-FR" dirty="0" err="1">
                <a:solidFill>
                  <a:srgbClr val="A7A774"/>
                </a:solidFill>
                <a:latin typeface="Consolas" panose="020B0609020204030204" pitchFamily="49" charset="0"/>
              </a:rPr>
              <a:t>view</a:t>
            </a:r>
            <a:r>
              <a:rPr lang="fr-FR" dirty="0">
                <a:solidFill>
                  <a:srgbClr val="A7A774"/>
                </a:solidFill>
                <a:latin typeface="Consolas" panose="020B0609020204030204" pitchFamily="49" charset="0"/>
              </a:rPr>
              <a:t>((1,12)) #</a:t>
            </a:r>
            <a:r>
              <a:rPr lang="fr-FR" dirty="0" err="1">
                <a:solidFill>
                  <a:srgbClr val="A7A774"/>
                </a:solidFill>
                <a:latin typeface="Consolas" panose="020B0609020204030204" pitchFamily="49" charset="0"/>
              </a:rPr>
              <a:t>reshape</a:t>
            </a:r>
            <a:r>
              <a:rPr lang="fr-FR" dirty="0">
                <a:solidFill>
                  <a:srgbClr val="A7A774"/>
                </a:solidFill>
                <a:latin typeface="Consolas" panose="020B0609020204030204" pitchFamily="49" charset="0"/>
              </a:rPr>
              <a:t> </a:t>
            </a:r>
            <a:r>
              <a:rPr lang="fr-FR" dirty="0" err="1">
                <a:solidFill>
                  <a:srgbClr val="A7A774"/>
                </a:solidFill>
                <a:latin typeface="Consolas" panose="020B0609020204030204" pitchFamily="49" charset="0"/>
              </a:rPr>
              <a:t>into</a:t>
            </a:r>
            <a:r>
              <a:rPr lang="fr-FR" dirty="0">
                <a:solidFill>
                  <a:srgbClr val="A7A774"/>
                </a:solidFill>
                <a:latin typeface="Consolas" panose="020B0609020204030204" pitchFamily="49" charset="0"/>
              </a:rPr>
              <a:t> </a:t>
            </a:r>
            <a:r>
              <a:rPr lang="fr-FR" dirty="0" err="1">
                <a:solidFill>
                  <a:srgbClr val="A7A774"/>
                </a:solidFill>
                <a:latin typeface="Consolas" panose="020B0609020204030204" pitchFamily="49" charset="0"/>
              </a:rPr>
              <a:t>vector</a:t>
            </a:r>
            <a:endParaRPr lang="fr-FR" dirty="0">
              <a:solidFill>
                <a:srgbClr val="DADADA"/>
              </a:solidFill>
              <a:latin typeface="Consolas" panose="020B0609020204030204" pitchFamily="49" charset="0"/>
            </a:endParaRPr>
          </a:p>
          <a:p>
            <a:endParaRPr lang="fr-FR" b="0" dirty="0">
              <a:solidFill>
                <a:srgbClr val="DADADA"/>
              </a:solidFill>
              <a:effectLst/>
              <a:latin typeface="Consolas" panose="020B0609020204030204" pitchFamily="49" charset="0"/>
            </a:endParaRPr>
          </a:p>
        </p:txBody>
      </p:sp>
      <p:graphicFrame>
        <p:nvGraphicFramePr>
          <p:cNvPr id="13" name="Table 3">
            <a:extLst>
              <a:ext uri="{FF2B5EF4-FFF2-40B4-BE49-F238E27FC236}">
                <a16:creationId xmlns:a16="http://schemas.microsoft.com/office/drawing/2014/main" id="{2A0C0C7B-0860-BC46-58DF-A96091EAABCD}"/>
              </a:ext>
            </a:extLst>
          </p:cNvPr>
          <p:cNvGraphicFramePr>
            <a:graphicFrameLocks noGrp="1"/>
          </p:cNvGraphicFramePr>
          <p:nvPr>
            <p:extLst>
              <p:ext uri="{D42A27DB-BD31-4B8C-83A1-F6EECF244321}">
                <p14:modId xmlns:p14="http://schemas.microsoft.com/office/powerpoint/2010/main" val="4260562741"/>
              </p:ext>
            </p:extLst>
          </p:nvPr>
        </p:nvGraphicFramePr>
        <p:xfrm>
          <a:off x="2242487" y="5802719"/>
          <a:ext cx="9101796" cy="935508"/>
        </p:xfrm>
        <a:graphic>
          <a:graphicData uri="http://schemas.openxmlformats.org/drawingml/2006/table">
            <a:tbl>
              <a:tblPr firstRow="1" bandRow="1">
                <a:tableStyleId>{073A0DAA-6AF3-43AB-8588-CEC1D06C72B9}</a:tableStyleId>
              </a:tblPr>
              <a:tblGrid>
                <a:gridCol w="9101796">
                  <a:extLst>
                    <a:ext uri="{9D8B030D-6E8A-4147-A177-3AD203B41FA5}">
                      <a16:colId xmlns:a16="http://schemas.microsoft.com/office/drawing/2014/main" val="3899577134"/>
                    </a:ext>
                  </a:extLst>
                </a:gridCol>
              </a:tblGrid>
              <a:tr h="262795">
                <a:tc>
                  <a:txBody>
                    <a:bodyPr/>
                    <a:lstStyle/>
                    <a:p>
                      <a:r>
                        <a:rPr lang="en-US" dirty="0">
                          <a:solidFill>
                            <a:schemeClr val="bg2"/>
                          </a:solidFill>
                        </a:rPr>
                        <a:t>Output</a:t>
                      </a:r>
                    </a:p>
                  </a:txBody>
                  <a:tcPr/>
                </a:tc>
                <a:extLst>
                  <a:ext uri="{0D108BD9-81ED-4DB2-BD59-A6C34878D82A}">
                    <a16:rowId xmlns:a16="http://schemas.microsoft.com/office/drawing/2014/main" val="117988312"/>
                  </a:ext>
                </a:extLst>
              </a:tr>
              <a:tr h="630708">
                <a:tc>
                  <a:txBody>
                    <a:bodyPr/>
                    <a:lstStyle/>
                    <a:p>
                      <a:r>
                        <a:rPr lang="en-US" sz="1400" b="0" i="0" u="none" strike="noStrike" cap="none" dirty="0" err="1">
                          <a:solidFill>
                            <a:schemeClr val="bg2"/>
                          </a:solidFill>
                          <a:effectLst/>
                          <a:latin typeface="+mn-lt"/>
                          <a:ea typeface="+mn-ea"/>
                          <a:cs typeface="+mn-cs"/>
                          <a:sym typeface="Arial"/>
                        </a:rPr>
                        <a:t>RuntimeError</a:t>
                      </a:r>
                      <a:r>
                        <a:rPr lang="en-US" sz="1400" b="0" i="0" u="none" strike="noStrike" cap="none" dirty="0">
                          <a:solidFill>
                            <a:schemeClr val="bg2"/>
                          </a:solidFill>
                          <a:effectLst/>
                          <a:latin typeface="+mn-lt"/>
                          <a:ea typeface="+mn-ea"/>
                          <a:cs typeface="+mn-cs"/>
                          <a:sym typeface="Arial"/>
                        </a:rPr>
                        <a:t>: view size is not compatible with input tensor's size and stride (at least </a:t>
                      </a:r>
                      <a:r>
                        <a:rPr lang="en-US" sz="1400" b="1" i="0" u="none" strike="noStrike" cap="none" dirty="0">
                          <a:solidFill>
                            <a:schemeClr val="bg2"/>
                          </a:solidFill>
                          <a:effectLst/>
                          <a:latin typeface="+mn-lt"/>
                          <a:ea typeface="+mn-ea"/>
                          <a:cs typeface="+mn-cs"/>
                          <a:sym typeface="Arial"/>
                        </a:rPr>
                        <a:t>one dimension spans across two contiguous subspaces</a:t>
                      </a:r>
                      <a:r>
                        <a:rPr lang="en-US" sz="1400" b="0" i="0" u="none" strike="noStrike" cap="none" dirty="0">
                          <a:solidFill>
                            <a:schemeClr val="bg2"/>
                          </a:solidFill>
                          <a:effectLst/>
                          <a:latin typeface="+mn-lt"/>
                          <a:ea typeface="+mn-ea"/>
                          <a:cs typeface="+mn-cs"/>
                          <a:sym typeface="Arial"/>
                        </a:rPr>
                        <a:t>). Use .reshape(...) instead</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3142784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FC89A-B684-0FB5-9FAB-12958EAC65B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17C9091-DA3A-A4EA-154A-052F3AE9A11F}"/>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CCB47645-C85D-CDFA-571F-13BC5FB8D691}"/>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Contiguous array:</a:t>
            </a:r>
          </a:p>
          <a:p>
            <a:endParaRPr lang="en-US" dirty="0">
              <a:latin typeface="Arial" panose="020B0604020202020204" pitchFamily="34" charset="0"/>
              <a:cs typeface="Arial" panose="020B0604020202020204" pitchFamily="34" charset="0"/>
            </a:endParaRPr>
          </a:p>
          <a:p>
            <a:pPr marL="137160" indent="0">
              <a:buNone/>
            </a:pPr>
            <a:r>
              <a:rPr lang="en-US" dirty="0">
                <a:highlight>
                  <a:srgbClr val="C0C0C0"/>
                </a:highlight>
                <a:latin typeface="Arial" panose="020B0604020202020204" pitchFamily="34" charset="0"/>
                <a:cs typeface="Arial" panose="020B0604020202020204" pitchFamily="34" charset="0"/>
              </a:rPr>
              <a:t>	</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BDF4A90F-AFCE-A264-AE0C-29347B82D9DB}"/>
              </a:ext>
            </a:extLst>
          </p:cNvPr>
          <p:cNvSpPr/>
          <p:nvPr/>
        </p:nvSpPr>
        <p:spPr>
          <a:xfrm>
            <a:off x="2200283" y="2304695"/>
            <a:ext cx="9144000" cy="181234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dirty="0">
                <a:solidFill>
                  <a:srgbClr val="229977"/>
                </a:solidFill>
                <a:latin typeface="Consolas" panose="020B0609020204030204" pitchFamily="49" charset="0"/>
              </a:rPr>
              <a:t>t2</a:t>
            </a:r>
            <a:r>
              <a:rPr lang="fr-FR" dirty="0">
                <a:solidFill>
                  <a:srgbClr val="DADADA"/>
                </a:solidFill>
                <a:latin typeface="Consolas" panose="020B0609020204030204" pitchFamily="49" charset="0"/>
              </a:rPr>
              <a:t> </a:t>
            </a:r>
            <a:r>
              <a:rPr lang="fr-FR" dirty="0">
                <a:solidFill>
                  <a:srgbClr val="C0C0C0"/>
                </a:solidFill>
                <a:latin typeface="Consolas" panose="020B0609020204030204" pitchFamily="49" charset="0"/>
              </a:rPr>
              <a:t>=</a:t>
            </a:r>
            <a:r>
              <a:rPr lang="fr-FR" dirty="0">
                <a:solidFill>
                  <a:srgbClr val="DADADA"/>
                </a:solidFill>
                <a:latin typeface="Consolas" panose="020B0609020204030204" pitchFamily="49" charset="0"/>
              </a:rPr>
              <a:t> </a:t>
            </a:r>
            <a:r>
              <a:rPr lang="fr-FR" dirty="0" err="1">
                <a:solidFill>
                  <a:srgbClr val="229977"/>
                </a:solidFill>
                <a:latin typeface="Consolas" panose="020B0609020204030204" pitchFamily="49" charset="0"/>
              </a:rPr>
              <a:t>mt</a:t>
            </a:r>
            <a:r>
              <a:rPr lang="fr-FR" dirty="0" err="1">
                <a:solidFill>
                  <a:srgbClr val="B4B4B4"/>
                </a:solidFill>
                <a:latin typeface="Consolas" panose="020B0609020204030204" pitchFamily="49" charset="0"/>
              </a:rPr>
              <a:t>.</a:t>
            </a:r>
            <a:r>
              <a:rPr lang="fr-FR" dirty="0" err="1">
                <a:solidFill>
                  <a:srgbClr val="A7A774"/>
                </a:solidFill>
                <a:latin typeface="Consolas" panose="020B0609020204030204" pitchFamily="49" charset="0"/>
              </a:rPr>
              <a:t>reshape</a:t>
            </a:r>
            <a:r>
              <a:rPr lang="fr-FR" dirty="0">
                <a:solidFill>
                  <a:srgbClr val="A7A774"/>
                </a:solidFill>
                <a:latin typeface="Consolas" panose="020B0609020204030204" pitchFamily="49" charset="0"/>
              </a:rPr>
              <a:t>((1,12)) #</a:t>
            </a:r>
            <a:r>
              <a:rPr lang="fr-FR" dirty="0" err="1">
                <a:solidFill>
                  <a:srgbClr val="A7A774"/>
                </a:solidFill>
                <a:latin typeface="Consolas" panose="020B0609020204030204" pitchFamily="49" charset="0"/>
              </a:rPr>
              <a:t>reshape</a:t>
            </a:r>
            <a:r>
              <a:rPr lang="fr-FR" dirty="0">
                <a:solidFill>
                  <a:srgbClr val="A7A774"/>
                </a:solidFill>
                <a:latin typeface="Consolas" panose="020B0609020204030204" pitchFamily="49" charset="0"/>
              </a:rPr>
              <a:t> </a:t>
            </a:r>
            <a:r>
              <a:rPr lang="fr-FR" dirty="0" err="1">
                <a:solidFill>
                  <a:srgbClr val="A7A774"/>
                </a:solidFill>
                <a:latin typeface="Consolas" panose="020B0609020204030204" pitchFamily="49" charset="0"/>
              </a:rPr>
              <a:t>into</a:t>
            </a:r>
            <a:r>
              <a:rPr lang="fr-FR" dirty="0">
                <a:solidFill>
                  <a:srgbClr val="A7A774"/>
                </a:solidFill>
                <a:latin typeface="Consolas" panose="020B0609020204030204" pitchFamily="49" charset="0"/>
              </a:rPr>
              <a:t> </a:t>
            </a:r>
            <a:r>
              <a:rPr lang="fr-FR" dirty="0" err="1">
                <a:solidFill>
                  <a:srgbClr val="A7A774"/>
                </a:solidFill>
                <a:latin typeface="Consolas" panose="020B0609020204030204" pitchFamily="49" charset="0"/>
              </a:rPr>
              <a:t>vector</a:t>
            </a:r>
            <a:endParaRPr lang="fr-FR" dirty="0">
              <a:solidFill>
                <a:srgbClr val="A7A774"/>
              </a:solidFill>
              <a:latin typeface="Consolas" panose="020B0609020204030204" pitchFamily="49" charset="0"/>
            </a:endParaRPr>
          </a:p>
          <a:p>
            <a:r>
              <a:rPr lang="fr-FR" dirty="0" err="1">
                <a:solidFill>
                  <a:srgbClr val="A7A774"/>
                </a:solidFill>
                <a:latin typeface="Consolas" panose="020B0609020204030204" pitchFamily="49" charset="0"/>
              </a:rPr>
              <a:t>print</a:t>
            </a:r>
            <a:r>
              <a:rPr lang="fr-FR" dirty="0">
                <a:solidFill>
                  <a:srgbClr val="B4B4B4"/>
                </a:solidFill>
                <a:latin typeface="Consolas" panose="020B0609020204030204" pitchFamily="49" charset="0"/>
              </a:rPr>
              <a:t>(</a:t>
            </a:r>
            <a:r>
              <a:rPr lang="fr-FR" dirty="0">
                <a:solidFill>
                  <a:srgbClr val="E8C9BB"/>
                </a:solidFill>
                <a:latin typeface="Consolas" panose="020B0609020204030204" pitchFamily="49" charset="0"/>
              </a:rPr>
              <a:t>"</a:t>
            </a:r>
            <a:r>
              <a:rPr lang="fr-FR" dirty="0" err="1">
                <a:solidFill>
                  <a:srgbClr val="E68A8A"/>
                </a:solidFill>
                <a:latin typeface="Consolas" panose="020B0609020204030204" pitchFamily="49" charset="0"/>
              </a:rPr>
              <a:t>Vector</a:t>
            </a:r>
            <a:r>
              <a:rPr lang="fr-FR" dirty="0">
                <a:solidFill>
                  <a:srgbClr val="E68A8A"/>
                </a:solidFill>
                <a:latin typeface="Consolas" panose="020B0609020204030204" pitchFamily="49" charset="0"/>
              </a:rPr>
              <a:t> = </a:t>
            </a:r>
            <a:r>
              <a:rPr lang="fr-FR" dirty="0">
                <a:solidFill>
                  <a:srgbClr val="E8C9BB"/>
                </a:solidFill>
                <a:latin typeface="Consolas" panose="020B0609020204030204" pitchFamily="49" charset="0"/>
              </a:rPr>
              <a:t>"</a:t>
            </a:r>
            <a:r>
              <a:rPr lang="fr-FR" dirty="0">
                <a:solidFill>
                  <a:srgbClr val="B4B4B4"/>
                </a:solidFill>
                <a:latin typeface="Consolas" panose="020B0609020204030204" pitchFamily="49" charset="0"/>
              </a:rPr>
              <a:t>,</a:t>
            </a:r>
            <a:r>
              <a:rPr lang="fr-FR" dirty="0">
                <a:solidFill>
                  <a:srgbClr val="229977"/>
                </a:solidFill>
                <a:latin typeface="Consolas" panose="020B0609020204030204" pitchFamily="49" charset="0"/>
              </a:rPr>
              <a:t>t2</a:t>
            </a:r>
            <a:r>
              <a:rPr lang="fr-FR" dirty="0">
                <a:solidFill>
                  <a:srgbClr val="B4B4B4"/>
                </a:solidFill>
                <a:latin typeface="Consolas" panose="020B0609020204030204" pitchFamily="49" charset="0"/>
              </a:rPr>
              <a:t>)</a:t>
            </a:r>
          </a:p>
          <a:p>
            <a:r>
              <a:rPr lang="fr-FR" dirty="0" err="1">
                <a:solidFill>
                  <a:srgbClr val="A7A774"/>
                </a:solidFill>
                <a:latin typeface="Consolas" panose="020B0609020204030204" pitchFamily="49" charset="0"/>
              </a:rPr>
              <a:t>print</a:t>
            </a:r>
            <a:r>
              <a:rPr lang="fr-FR" dirty="0">
                <a:solidFill>
                  <a:srgbClr val="B4B4B4"/>
                </a:solidFill>
                <a:latin typeface="Consolas" panose="020B0609020204030204" pitchFamily="49" charset="0"/>
              </a:rPr>
              <a:t>(</a:t>
            </a:r>
            <a:r>
              <a:rPr lang="fr-FR" dirty="0">
                <a:solidFill>
                  <a:srgbClr val="E8C9BB"/>
                </a:solidFill>
                <a:latin typeface="Consolas" panose="020B0609020204030204" pitchFamily="49" charset="0"/>
              </a:rPr>
              <a:t>"</a:t>
            </a:r>
            <a:r>
              <a:rPr lang="fr-FR" dirty="0" err="1">
                <a:solidFill>
                  <a:srgbClr val="E68A8A"/>
                </a:solidFill>
                <a:latin typeface="Consolas" panose="020B0609020204030204" pitchFamily="49" charset="0"/>
              </a:rPr>
              <a:t>is</a:t>
            </a:r>
            <a:r>
              <a:rPr lang="fr-FR" dirty="0">
                <a:solidFill>
                  <a:srgbClr val="E68A8A"/>
                </a:solidFill>
                <a:latin typeface="Consolas" panose="020B0609020204030204" pitchFamily="49" charset="0"/>
              </a:rPr>
              <a:t> </a:t>
            </a:r>
            <a:r>
              <a:rPr lang="fr-FR" dirty="0" err="1">
                <a:solidFill>
                  <a:srgbClr val="E68A8A"/>
                </a:solidFill>
                <a:latin typeface="Consolas" panose="020B0609020204030204" pitchFamily="49" charset="0"/>
              </a:rPr>
              <a:t>contiguous</a:t>
            </a:r>
            <a:r>
              <a:rPr lang="fr-FR" dirty="0">
                <a:solidFill>
                  <a:srgbClr val="E68A8A"/>
                </a:solidFill>
                <a:latin typeface="Consolas" panose="020B0609020204030204" pitchFamily="49" charset="0"/>
              </a:rPr>
              <a:t> = </a:t>
            </a:r>
            <a:r>
              <a:rPr lang="fr-FR" dirty="0">
                <a:solidFill>
                  <a:srgbClr val="E8C9BB"/>
                </a:solidFill>
                <a:latin typeface="Consolas" panose="020B0609020204030204" pitchFamily="49" charset="0"/>
              </a:rPr>
              <a:t>"</a:t>
            </a:r>
            <a:r>
              <a:rPr lang="fr-FR" dirty="0">
                <a:solidFill>
                  <a:srgbClr val="B4B4B4"/>
                </a:solidFill>
                <a:latin typeface="Consolas" panose="020B0609020204030204" pitchFamily="49" charset="0"/>
              </a:rPr>
              <a:t>,</a:t>
            </a:r>
            <a:r>
              <a:rPr lang="fr-FR" dirty="0">
                <a:solidFill>
                  <a:srgbClr val="229977"/>
                </a:solidFill>
                <a:latin typeface="Consolas" panose="020B0609020204030204" pitchFamily="49" charset="0"/>
              </a:rPr>
              <a:t>t2.</a:t>
            </a:r>
            <a:r>
              <a:rPr lang="fr-FR" dirty="0">
                <a:solidFill>
                  <a:srgbClr val="A7A774"/>
                </a:solidFill>
                <a:latin typeface="Consolas" panose="020B0609020204030204" pitchFamily="49" charset="0"/>
              </a:rPr>
              <a:t>is_contiguous()</a:t>
            </a:r>
            <a:r>
              <a:rPr lang="fr-FR" dirty="0">
                <a:solidFill>
                  <a:srgbClr val="B4B4B4"/>
                </a:solidFill>
                <a:latin typeface="Consolas" panose="020B0609020204030204" pitchFamily="49" charset="0"/>
              </a:rPr>
              <a:t>)</a:t>
            </a:r>
          </a:p>
          <a:p>
            <a:endParaRPr lang="fr-FR" dirty="0">
              <a:solidFill>
                <a:srgbClr val="B4B4B4"/>
              </a:solidFill>
              <a:latin typeface="Consolas" panose="020B0609020204030204" pitchFamily="49" charset="0"/>
            </a:endParaRPr>
          </a:p>
          <a:p>
            <a:r>
              <a:rPr lang="fr-FR" dirty="0" err="1">
                <a:solidFill>
                  <a:srgbClr val="A7A774"/>
                </a:solidFill>
                <a:latin typeface="Consolas" panose="020B0609020204030204" pitchFamily="49" charset="0"/>
              </a:rPr>
              <a:t>print</a:t>
            </a:r>
            <a:r>
              <a:rPr lang="fr-FR" dirty="0">
                <a:solidFill>
                  <a:srgbClr val="B4B4B4"/>
                </a:solidFill>
                <a:latin typeface="Consolas" panose="020B0609020204030204" pitchFamily="49" charset="0"/>
              </a:rPr>
              <a:t>(</a:t>
            </a:r>
            <a:r>
              <a:rPr lang="fr-FR" dirty="0">
                <a:solidFill>
                  <a:srgbClr val="E8C9BB"/>
                </a:solidFill>
                <a:latin typeface="Consolas" panose="020B0609020204030204" pitchFamily="49" charset="0"/>
              </a:rPr>
              <a:t>"</a:t>
            </a:r>
            <a:r>
              <a:rPr lang="fr-FR" dirty="0" err="1">
                <a:solidFill>
                  <a:srgbClr val="E68A8A"/>
                </a:solidFill>
                <a:latin typeface="Consolas" panose="020B0609020204030204" pitchFamily="49" charset="0"/>
              </a:rPr>
              <a:t>t.addr</a:t>
            </a:r>
            <a:r>
              <a:rPr lang="fr-FR" dirty="0">
                <a:solidFill>
                  <a:srgbClr val="E68A8A"/>
                </a:solidFill>
                <a:latin typeface="Consolas" panose="020B0609020204030204" pitchFamily="49" charset="0"/>
              </a:rPr>
              <a:t> = </a:t>
            </a:r>
            <a:r>
              <a:rPr lang="fr-FR" dirty="0">
                <a:solidFill>
                  <a:srgbClr val="E8C9BB"/>
                </a:solidFill>
                <a:latin typeface="Consolas" panose="020B0609020204030204" pitchFamily="49" charset="0"/>
              </a:rPr>
              <a:t>"</a:t>
            </a:r>
            <a:r>
              <a:rPr lang="fr-FR" dirty="0">
                <a:solidFill>
                  <a:srgbClr val="B4B4B4"/>
                </a:solidFill>
                <a:latin typeface="Consolas" panose="020B0609020204030204" pitchFamily="49" charset="0"/>
              </a:rPr>
              <a:t>,</a:t>
            </a:r>
            <a:r>
              <a:rPr lang="fr-FR" dirty="0" err="1">
                <a:solidFill>
                  <a:srgbClr val="A7A774"/>
                </a:solidFill>
                <a:latin typeface="Consolas" panose="020B0609020204030204" pitchFamily="49" charset="0"/>
              </a:rPr>
              <a:t>hex</a:t>
            </a:r>
            <a:r>
              <a:rPr lang="fr-FR" dirty="0">
                <a:solidFill>
                  <a:srgbClr val="A7A774"/>
                </a:solidFill>
                <a:latin typeface="Consolas" panose="020B0609020204030204" pitchFamily="49" charset="0"/>
              </a:rPr>
              <a:t>(</a:t>
            </a:r>
            <a:r>
              <a:rPr lang="fr-FR" dirty="0" err="1">
                <a:solidFill>
                  <a:srgbClr val="229977"/>
                </a:solidFill>
                <a:latin typeface="Consolas" panose="020B0609020204030204" pitchFamily="49" charset="0"/>
              </a:rPr>
              <a:t>t.</a:t>
            </a:r>
            <a:r>
              <a:rPr lang="fr-FR" dirty="0" err="1">
                <a:solidFill>
                  <a:srgbClr val="A7A774"/>
                </a:solidFill>
                <a:latin typeface="Consolas" panose="020B0609020204030204" pitchFamily="49" charset="0"/>
              </a:rPr>
              <a:t>data_ptr</a:t>
            </a:r>
            <a:r>
              <a:rPr lang="fr-FR" dirty="0">
                <a:solidFill>
                  <a:srgbClr val="A7A774"/>
                </a:solidFill>
                <a:latin typeface="Consolas" panose="020B0609020204030204" pitchFamily="49" charset="0"/>
              </a:rPr>
              <a:t>())</a:t>
            </a:r>
            <a:r>
              <a:rPr lang="fr-FR" dirty="0">
                <a:solidFill>
                  <a:srgbClr val="B4B4B4"/>
                </a:solidFill>
                <a:latin typeface="Consolas" panose="020B0609020204030204" pitchFamily="49" charset="0"/>
              </a:rPr>
              <a:t>)</a:t>
            </a:r>
            <a:endParaRPr lang="fr-FR" dirty="0">
              <a:solidFill>
                <a:srgbClr val="A7A774"/>
              </a:solidFill>
              <a:latin typeface="Consolas" panose="020B0609020204030204" pitchFamily="49" charset="0"/>
            </a:endParaRPr>
          </a:p>
          <a:p>
            <a:r>
              <a:rPr lang="fr-FR" dirty="0" err="1">
                <a:solidFill>
                  <a:srgbClr val="A7A774"/>
                </a:solidFill>
                <a:latin typeface="Consolas" panose="020B0609020204030204" pitchFamily="49" charset="0"/>
              </a:rPr>
              <a:t>print</a:t>
            </a:r>
            <a:r>
              <a:rPr lang="fr-FR" dirty="0">
                <a:solidFill>
                  <a:srgbClr val="B4B4B4"/>
                </a:solidFill>
                <a:latin typeface="Consolas" panose="020B0609020204030204" pitchFamily="49" charset="0"/>
              </a:rPr>
              <a:t>(</a:t>
            </a:r>
            <a:r>
              <a:rPr lang="fr-FR" dirty="0">
                <a:solidFill>
                  <a:srgbClr val="E8C9BB"/>
                </a:solidFill>
                <a:latin typeface="Consolas" panose="020B0609020204030204" pitchFamily="49" charset="0"/>
              </a:rPr>
              <a:t>"</a:t>
            </a:r>
            <a:r>
              <a:rPr lang="fr-FR" dirty="0" err="1">
                <a:solidFill>
                  <a:srgbClr val="E68A8A"/>
                </a:solidFill>
                <a:latin typeface="Consolas" panose="020B0609020204030204" pitchFamily="49" charset="0"/>
              </a:rPr>
              <a:t>mt.addr</a:t>
            </a:r>
            <a:r>
              <a:rPr lang="fr-FR" dirty="0">
                <a:solidFill>
                  <a:srgbClr val="E68A8A"/>
                </a:solidFill>
                <a:latin typeface="Consolas" panose="020B0609020204030204" pitchFamily="49" charset="0"/>
              </a:rPr>
              <a:t> = </a:t>
            </a:r>
            <a:r>
              <a:rPr lang="fr-FR" dirty="0">
                <a:solidFill>
                  <a:srgbClr val="E8C9BB"/>
                </a:solidFill>
                <a:latin typeface="Consolas" panose="020B0609020204030204" pitchFamily="49" charset="0"/>
              </a:rPr>
              <a:t>"</a:t>
            </a:r>
            <a:r>
              <a:rPr lang="fr-FR" dirty="0">
                <a:solidFill>
                  <a:srgbClr val="B4B4B4"/>
                </a:solidFill>
                <a:latin typeface="Consolas" panose="020B0609020204030204" pitchFamily="49" charset="0"/>
              </a:rPr>
              <a:t>,</a:t>
            </a:r>
            <a:r>
              <a:rPr lang="fr-FR" dirty="0" err="1">
                <a:solidFill>
                  <a:srgbClr val="A7A774"/>
                </a:solidFill>
                <a:latin typeface="Consolas" panose="020B0609020204030204" pitchFamily="49" charset="0"/>
              </a:rPr>
              <a:t>hex</a:t>
            </a:r>
            <a:r>
              <a:rPr lang="fr-FR" dirty="0">
                <a:solidFill>
                  <a:srgbClr val="A7A774"/>
                </a:solidFill>
                <a:latin typeface="Consolas" panose="020B0609020204030204" pitchFamily="49" charset="0"/>
              </a:rPr>
              <a:t>(</a:t>
            </a:r>
            <a:r>
              <a:rPr lang="fr-FR" dirty="0" err="1">
                <a:solidFill>
                  <a:srgbClr val="229977"/>
                </a:solidFill>
                <a:latin typeface="Consolas" panose="020B0609020204030204" pitchFamily="49" charset="0"/>
              </a:rPr>
              <a:t>mt.</a:t>
            </a:r>
            <a:r>
              <a:rPr lang="fr-FR" dirty="0" err="1">
                <a:solidFill>
                  <a:srgbClr val="A7A774"/>
                </a:solidFill>
                <a:latin typeface="Consolas" panose="020B0609020204030204" pitchFamily="49" charset="0"/>
              </a:rPr>
              <a:t>data_ptr</a:t>
            </a:r>
            <a:r>
              <a:rPr lang="fr-FR" dirty="0">
                <a:solidFill>
                  <a:srgbClr val="A7A774"/>
                </a:solidFill>
                <a:latin typeface="Consolas" panose="020B0609020204030204" pitchFamily="49" charset="0"/>
              </a:rPr>
              <a:t>())</a:t>
            </a:r>
            <a:r>
              <a:rPr lang="fr-FR" dirty="0">
                <a:solidFill>
                  <a:srgbClr val="B4B4B4"/>
                </a:solidFill>
                <a:latin typeface="Consolas" panose="020B0609020204030204" pitchFamily="49" charset="0"/>
              </a:rPr>
              <a:t>)</a:t>
            </a:r>
          </a:p>
          <a:p>
            <a:r>
              <a:rPr lang="fr-FR" dirty="0" err="1">
                <a:solidFill>
                  <a:srgbClr val="A7A774"/>
                </a:solidFill>
                <a:latin typeface="Consolas" panose="020B0609020204030204" pitchFamily="49" charset="0"/>
              </a:rPr>
              <a:t>print</a:t>
            </a:r>
            <a:r>
              <a:rPr lang="fr-FR" dirty="0">
                <a:solidFill>
                  <a:srgbClr val="B4B4B4"/>
                </a:solidFill>
                <a:latin typeface="Consolas" panose="020B0609020204030204" pitchFamily="49" charset="0"/>
              </a:rPr>
              <a:t>(</a:t>
            </a:r>
            <a:r>
              <a:rPr lang="fr-FR" dirty="0">
                <a:solidFill>
                  <a:srgbClr val="E8C9BB"/>
                </a:solidFill>
                <a:latin typeface="Consolas" panose="020B0609020204030204" pitchFamily="49" charset="0"/>
              </a:rPr>
              <a:t>"</a:t>
            </a:r>
            <a:r>
              <a:rPr lang="fr-FR" dirty="0">
                <a:solidFill>
                  <a:srgbClr val="E68A8A"/>
                </a:solidFill>
                <a:latin typeface="Consolas" panose="020B0609020204030204" pitchFamily="49" charset="0"/>
              </a:rPr>
              <a:t>t2.addr = </a:t>
            </a:r>
            <a:r>
              <a:rPr lang="fr-FR" dirty="0">
                <a:solidFill>
                  <a:srgbClr val="E8C9BB"/>
                </a:solidFill>
                <a:latin typeface="Consolas" panose="020B0609020204030204" pitchFamily="49" charset="0"/>
              </a:rPr>
              <a:t>"</a:t>
            </a:r>
            <a:r>
              <a:rPr lang="fr-FR" dirty="0">
                <a:solidFill>
                  <a:srgbClr val="A7A774"/>
                </a:solidFill>
                <a:latin typeface="Consolas" panose="020B0609020204030204" pitchFamily="49" charset="0"/>
              </a:rPr>
              <a:t>,</a:t>
            </a:r>
            <a:r>
              <a:rPr lang="fr-FR" dirty="0" err="1">
                <a:solidFill>
                  <a:srgbClr val="A7A774"/>
                </a:solidFill>
                <a:latin typeface="Consolas" panose="020B0609020204030204" pitchFamily="49" charset="0"/>
              </a:rPr>
              <a:t>hex</a:t>
            </a:r>
            <a:r>
              <a:rPr lang="fr-FR" dirty="0">
                <a:solidFill>
                  <a:srgbClr val="A7A774"/>
                </a:solidFill>
                <a:latin typeface="Consolas" panose="020B0609020204030204" pitchFamily="49" charset="0"/>
              </a:rPr>
              <a:t>(</a:t>
            </a:r>
            <a:r>
              <a:rPr lang="fr-FR" dirty="0">
                <a:solidFill>
                  <a:srgbClr val="229977"/>
                </a:solidFill>
                <a:latin typeface="Consolas" panose="020B0609020204030204" pitchFamily="49" charset="0"/>
              </a:rPr>
              <a:t>t2.</a:t>
            </a:r>
            <a:r>
              <a:rPr lang="fr-FR" dirty="0">
                <a:solidFill>
                  <a:srgbClr val="A7A774"/>
                </a:solidFill>
                <a:latin typeface="Consolas" panose="020B0609020204030204" pitchFamily="49" charset="0"/>
              </a:rPr>
              <a:t>data_ptr()</a:t>
            </a:r>
            <a:r>
              <a:rPr lang="fr-FR" dirty="0">
                <a:solidFill>
                  <a:srgbClr val="B4B4B4"/>
                </a:solidFill>
                <a:latin typeface="Consolas" panose="020B0609020204030204" pitchFamily="49" charset="0"/>
              </a:rPr>
              <a:t>))</a:t>
            </a:r>
          </a:p>
          <a:p>
            <a:endParaRPr lang="fr-FR" dirty="0">
              <a:solidFill>
                <a:srgbClr val="B4B4B4"/>
              </a:solidFill>
              <a:latin typeface="Consolas" panose="020B0609020204030204" pitchFamily="49" charset="0"/>
            </a:endParaRPr>
          </a:p>
        </p:txBody>
      </p:sp>
      <p:graphicFrame>
        <p:nvGraphicFramePr>
          <p:cNvPr id="9" name="Table 3">
            <a:extLst>
              <a:ext uri="{FF2B5EF4-FFF2-40B4-BE49-F238E27FC236}">
                <a16:creationId xmlns:a16="http://schemas.microsoft.com/office/drawing/2014/main" id="{E9F3C287-F5DC-3A41-9442-039BC374ECD4}"/>
              </a:ext>
            </a:extLst>
          </p:cNvPr>
          <p:cNvGraphicFramePr>
            <a:graphicFrameLocks noGrp="1"/>
          </p:cNvGraphicFramePr>
          <p:nvPr>
            <p:extLst>
              <p:ext uri="{D42A27DB-BD31-4B8C-83A1-F6EECF244321}">
                <p14:modId xmlns:p14="http://schemas.microsoft.com/office/powerpoint/2010/main" val="1590056738"/>
              </p:ext>
            </p:extLst>
          </p:nvPr>
        </p:nvGraphicFramePr>
        <p:xfrm>
          <a:off x="7030084" y="1996440"/>
          <a:ext cx="4953000" cy="1889760"/>
        </p:xfrm>
        <a:graphic>
          <a:graphicData uri="http://schemas.openxmlformats.org/drawingml/2006/table">
            <a:tbl>
              <a:tblPr firstRow="1" bandRow="1">
                <a:tableStyleId>{073A0DAA-6AF3-43AB-8588-CEC1D06C72B9}</a:tableStyleId>
              </a:tblPr>
              <a:tblGrid>
                <a:gridCol w="4953000">
                  <a:extLst>
                    <a:ext uri="{9D8B030D-6E8A-4147-A177-3AD203B41FA5}">
                      <a16:colId xmlns:a16="http://schemas.microsoft.com/office/drawing/2014/main" val="3899577134"/>
                    </a:ext>
                  </a:extLst>
                </a:gridCol>
              </a:tblGrid>
              <a:tr h="0">
                <a:tc>
                  <a:txBody>
                    <a:bodyPr/>
                    <a:lstStyle/>
                    <a:p>
                      <a:r>
                        <a:rPr lang="en-US" dirty="0">
                          <a:solidFill>
                            <a:schemeClr val="bg2"/>
                          </a:solidFill>
                        </a:rPr>
                        <a:t>Output</a:t>
                      </a:r>
                    </a:p>
                  </a:txBody>
                  <a:tcPr/>
                </a:tc>
                <a:extLst>
                  <a:ext uri="{0D108BD9-81ED-4DB2-BD59-A6C34878D82A}">
                    <a16:rowId xmlns:a16="http://schemas.microsoft.com/office/drawing/2014/main" val="117988312"/>
                  </a:ext>
                </a:extLst>
              </a:tr>
              <a:tr h="370840">
                <a:tc>
                  <a:txBody>
                    <a:bodyPr/>
                    <a:lstStyle/>
                    <a:p>
                      <a:r>
                        <a:rPr lang="en-US" sz="1400" b="0" i="0" u="none" strike="noStrike" cap="none" dirty="0">
                          <a:solidFill>
                            <a:schemeClr val="bg2"/>
                          </a:solidFill>
                          <a:effectLst/>
                          <a:latin typeface="+mn-lt"/>
                          <a:ea typeface="+mn-ea"/>
                          <a:cs typeface="+mn-cs"/>
                          <a:sym typeface="Arial"/>
                        </a:rPr>
                        <a:t>Vector =  tensor([[ 1,  4,  7, 10,  2,  5,  8, 11,  3,  6,  9, 12]])</a:t>
                      </a:r>
                    </a:p>
                    <a:p>
                      <a:endParaRPr lang="en-US" sz="1400" b="0" i="0" u="none" strike="noStrike" cap="none" dirty="0">
                        <a:solidFill>
                          <a:schemeClr val="bg2"/>
                        </a:solidFill>
                        <a:effectLst/>
                        <a:latin typeface="+mn-lt"/>
                        <a:ea typeface="+mn-ea"/>
                        <a:cs typeface="+mn-cs"/>
                        <a:sym typeface="Arial"/>
                      </a:endParaRPr>
                    </a:p>
                    <a:p>
                      <a:r>
                        <a:rPr lang="en-US" sz="1400" b="0" i="0" u="none" strike="noStrike" cap="none" dirty="0">
                          <a:solidFill>
                            <a:schemeClr val="bg2"/>
                          </a:solidFill>
                          <a:effectLst/>
                          <a:latin typeface="+mn-lt"/>
                          <a:ea typeface="+mn-ea"/>
                          <a:cs typeface="+mn-cs"/>
                          <a:sym typeface="Arial"/>
                        </a:rPr>
                        <a:t>is contiguous =  True</a:t>
                      </a:r>
                    </a:p>
                    <a:p>
                      <a:endParaRPr lang="en-US" sz="1400" b="0" i="0" u="none" strike="noStrike" cap="none" dirty="0">
                        <a:solidFill>
                          <a:schemeClr val="bg2"/>
                        </a:solidFill>
                        <a:effectLst/>
                        <a:latin typeface="+mn-lt"/>
                        <a:ea typeface="+mn-ea"/>
                        <a:cs typeface="+mn-cs"/>
                        <a:sym typeface="Arial"/>
                      </a:endParaRPr>
                    </a:p>
                    <a:p>
                      <a:r>
                        <a:rPr lang="en-US" sz="1400" b="0" i="0" u="none" strike="noStrike" cap="none" dirty="0" err="1">
                          <a:solidFill>
                            <a:schemeClr val="bg2"/>
                          </a:solidFill>
                          <a:effectLst/>
                          <a:latin typeface="+mn-lt"/>
                          <a:ea typeface="+mn-ea"/>
                          <a:cs typeface="+mn-cs"/>
                          <a:sym typeface="Arial"/>
                        </a:rPr>
                        <a:t>t.addr</a:t>
                      </a:r>
                      <a:r>
                        <a:rPr lang="en-US" sz="1400" b="0" i="0" u="none" strike="noStrike" cap="none" dirty="0">
                          <a:solidFill>
                            <a:schemeClr val="bg2"/>
                          </a:solidFill>
                          <a:effectLst/>
                          <a:latin typeface="+mn-lt"/>
                          <a:ea typeface="+mn-ea"/>
                          <a:cs typeface="+mn-cs"/>
                          <a:sym typeface="Arial"/>
                        </a:rPr>
                        <a:t> =  0x11bf1b200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err="1">
                          <a:solidFill>
                            <a:schemeClr val="bg2"/>
                          </a:solidFill>
                          <a:effectLst/>
                          <a:latin typeface="+mn-lt"/>
                          <a:ea typeface="+mn-ea"/>
                          <a:cs typeface="+mn-cs"/>
                          <a:sym typeface="Arial"/>
                        </a:rPr>
                        <a:t>mt.addr</a:t>
                      </a:r>
                      <a:r>
                        <a:rPr lang="en-US" sz="1400" b="0" i="0" u="none" strike="noStrike" cap="none" dirty="0">
                          <a:solidFill>
                            <a:schemeClr val="bg2"/>
                          </a:solidFill>
                          <a:effectLst/>
                          <a:latin typeface="+mn-lt"/>
                          <a:ea typeface="+mn-ea"/>
                          <a:cs typeface="+mn-cs"/>
                          <a:sym typeface="Arial"/>
                        </a:rPr>
                        <a:t> =  0x11bf1b200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bg2"/>
                          </a:solidFill>
                          <a:effectLst/>
                          <a:latin typeface="+mn-lt"/>
                          <a:ea typeface="+mn-ea"/>
                          <a:cs typeface="+mn-cs"/>
                          <a:sym typeface="Arial"/>
                        </a:rPr>
                        <a:t>t2.addr =  0x14d83c4c0</a:t>
                      </a:r>
                    </a:p>
                  </a:txBody>
                  <a:tcPr/>
                </a:tc>
                <a:extLst>
                  <a:ext uri="{0D108BD9-81ED-4DB2-BD59-A6C34878D82A}">
                    <a16:rowId xmlns:a16="http://schemas.microsoft.com/office/drawing/2014/main" val="4231599274"/>
                  </a:ext>
                </a:extLst>
              </a:tr>
            </a:tbl>
          </a:graphicData>
        </a:graphic>
      </p:graphicFrame>
      <p:graphicFrame>
        <p:nvGraphicFramePr>
          <p:cNvPr id="2" name="Table 1">
            <a:extLst>
              <a:ext uri="{FF2B5EF4-FFF2-40B4-BE49-F238E27FC236}">
                <a16:creationId xmlns:a16="http://schemas.microsoft.com/office/drawing/2014/main" id="{33C40266-F9BF-8D76-494E-35AA5EADDAE9}"/>
              </a:ext>
            </a:extLst>
          </p:cNvPr>
          <p:cNvGraphicFramePr>
            <a:graphicFrameLocks noGrp="1"/>
          </p:cNvGraphicFramePr>
          <p:nvPr>
            <p:extLst>
              <p:ext uri="{D42A27DB-BD31-4B8C-83A1-F6EECF244321}">
                <p14:modId xmlns:p14="http://schemas.microsoft.com/office/powerpoint/2010/main" val="3112595256"/>
              </p:ext>
            </p:extLst>
          </p:nvPr>
        </p:nvGraphicFramePr>
        <p:xfrm>
          <a:off x="2242487" y="4250478"/>
          <a:ext cx="6310668" cy="376908"/>
        </p:xfrm>
        <a:graphic>
          <a:graphicData uri="http://schemas.openxmlformats.org/drawingml/2006/table">
            <a:tbl>
              <a:tblPr>
                <a:tableStyleId>{8FD4443E-F989-4FC4-A0C8-D5A2AF1F390B}</a:tableStyleId>
              </a:tblPr>
              <a:tblGrid>
                <a:gridCol w="525889">
                  <a:extLst>
                    <a:ext uri="{9D8B030D-6E8A-4147-A177-3AD203B41FA5}">
                      <a16:colId xmlns:a16="http://schemas.microsoft.com/office/drawing/2014/main" val="2189744800"/>
                    </a:ext>
                  </a:extLst>
                </a:gridCol>
                <a:gridCol w="525889">
                  <a:extLst>
                    <a:ext uri="{9D8B030D-6E8A-4147-A177-3AD203B41FA5}">
                      <a16:colId xmlns:a16="http://schemas.microsoft.com/office/drawing/2014/main" val="2182805313"/>
                    </a:ext>
                  </a:extLst>
                </a:gridCol>
                <a:gridCol w="525889">
                  <a:extLst>
                    <a:ext uri="{9D8B030D-6E8A-4147-A177-3AD203B41FA5}">
                      <a16:colId xmlns:a16="http://schemas.microsoft.com/office/drawing/2014/main" val="3732043253"/>
                    </a:ext>
                  </a:extLst>
                </a:gridCol>
                <a:gridCol w="525889">
                  <a:extLst>
                    <a:ext uri="{9D8B030D-6E8A-4147-A177-3AD203B41FA5}">
                      <a16:colId xmlns:a16="http://schemas.microsoft.com/office/drawing/2014/main" val="2339778948"/>
                    </a:ext>
                  </a:extLst>
                </a:gridCol>
                <a:gridCol w="525889">
                  <a:extLst>
                    <a:ext uri="{9D8B030D-6E8A-4147-A177-3AD203B41FA5}">
                      <a16:colId xmlns:a16="http://schemas.microsoft.com/office/drawing/2014/main" val="4183068152"/>
                    </a:ext>
                  </a:extLst>
                </a:gridCol>
                <a:gridCol w="525889">
                  <a:extLst>
                    <a:ext uri="{9D8B030D-6E8A-4147-A177-3AD203B41FA5}">
                      <a16:colId xmlns:a16="http://schemas.microsoft.com/office/drawing/2014/main" val="2983287411"/>
                    </a:ext>
                  </a:extLst>
                </a:gridCol>
                <a:gridCol w="525889">
                  <a:extLst>
                    <a:ext uri="{9D8B030D-6E8A-4147-A177-3AD203B41FA5}">
                      <a16:colId xmlns:a16="http://schemas.microsoft.com/office/drawing/2014/main" val="3749431850"/>
                    </a:ext>
                  </a:extLst>
                </a:gridCol>
                <a:gridCol w="525889">
                  <a:extLst>
                    <a:ext uri="{9D8B030D-6E8A-4147-A177-3AD203B41FA5}">
                      <a16:colId xmlns:a16="http://schemas.microsoft.com/office/drawing/2014/main" val="450386409"/>
                    </a:ext>
                  </a:extLst>
                </a:gridCol>
                <a:gridCol w="525889">
                  <a:extLst>
                    <a:ext uri="{9D8B030D-6E8A-4147-A177-3AD203B41FA5}">
                      <a16:colId xmlns:a16="http://schemas.microsoft.com/office/drawing/2014/main" val="281969749"/>
                    </a:ext>
                  </a:extLst>
                </a:gridCol>
                <a:gridCol w="525889">
                  <a:extLst>
                    <a:ext uri="{9D8B030D-6E8A-4147-A177-3AD203B41FA5}">
                      <a16:colId xmlns:a16="http://schemas.microsoft.com/office/drawing/2014/main" val="4171685776"/>
                    </a:ext>
                  </a:extLst>
                </a:gridCol>
                <a:gridCol w="525889">
                  <a:extLst>
                    <a:ext uri="{9D8B030D-6E8A-4147-A177-3AD203B41FA5}">
                      <a16:colId xmlns:a16="http://schemas.microsoft.com/office/drawing/2014/main" val="3853505993"/>
                    </a:ext>
                  </a:extLst>
                </a:gridCol>
                <a:gridCol w="525889">
                  <a:extLst>
                    <a:ext uri="{9D8B030D-6E8A-4147-A177-3AD203B41FA5}">
                      <a16:colId xmlns:a16="http://schemas.microsoft.com/office/drawing/2014/main" val="841544476"/>
                    </a:ext>
                  </a:extLst>
                </a:gridCol>
              </a:tblGrid>
              <a:tr h="376908">
                <a:tc>
                  <a:txBody>
                    <a:bodyPr/>
                    <a:lstStyle/>
                    <a:p>
                      <a:pPr algn="ctr"/>
                      <a:r>
                        <a:rPr lang="en-US" dirty="0">
                          <a:solidFill>
                            <a:schemeClr val="bg2"/>
                          </a:solidFill>
                        </a:rPr>
                        <a:t>1</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a:r>
                        <a:rPr lang="en-US" dirty="0">
                          <a:solidFill>
                            <a:schemeClr val="bg2"/>
                          </a:solidFill>
                        </a:rPr>
                        <a:t>4</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a:r>
                        <a:rPr lang="en-US" dirty="0">
                          <a:solidFill>
                            <a:schemeClr val="bg2"/>
                          </a:solidFill>
                        </a:rPr>
                        <a:t>7</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a:r>
                        <a:rPr lang="en-US" dirty="0">
                          <a:solidFill>
                            <a:schemeClr val="bg2"/>
                          </a:solidFill>
                        </a:rPr>
                        <a:t>10</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a:r>
                        <a:rPr lang="en-US" dirty="0">
                          <a:solidFill>
                            <a:schemeClr val="bg2"/>
                          </a:solidFill>
                        </a:rPr>
                        <a:t>2</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lumMod val="60000"/>
                        <a:lumOff val="40000"/>
                      </a:schemeClr>
                    </a:solidFill>
                  </a:tcPr>
                </a:tc>
                <a:tc>
                  <a:txBody>
                    <a:bodyPr/>
                    <a:lstStyle/>
                    <a:p>
                      <a:pPr algn="ctr"/>
                      <a:r>
                        <a:rPr lang="en-US" dirty="0">
                          <a:solidFill>
                            <a:schemeClr val="bg2"/>
                          </a:solidFill>
                        </a:rPr>
                        <a:t>5</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lumMod val="60000"/>
                        <a:lumOff val="40000"/>
                      </a:schemeClr>
                    </a:solidFill>
                  </a:tcPr>
                </a:tc>
                <a:tc>
                  <a:txBody>
                    <a:bodyPr/>
                    <a:lstStyle/>
                    <a:p>
                      <a:pPr algn="ctr"/>
                      <a:r>
                        <a:rPr lang="en-US" dirty="0">
                          <a:solidFill>
                            <a:schemeClr val="bg2"/>
                          </a:solidFill>
                        </a:rPr>
                        <a:t>8</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lumMod val="60000"/>
                        <a:lumOff val="40000"/>
                      </a:schemeClr>
                    </a:solidFill>
                  </a:tcPr>
                </a:tc>
                <a:tc>
                  <a:txBody>
                    <a:bodyPr/>
                    <a:lstStyle/>
                    <a:p>
                      <a:pPr algn="ctr"/>
                      <a:r>
                        <a:rPr lang="en-US" dirty="0">
                          <a:solidFill>
                            <a:schemeClr val="bg2"/>
                          </a:solidFill>
                        </a:rPr>
                        <a:t>11</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lumMod val="60000"/>
                        <a:lumOff val="40000"/>
                      </a:schemeClr>
                    </a:solidFill>
                  </a:tcPr>
                </a:tc>
                <a:tc>
                  <a:txBody>
                    <a:bodyPr/>
                    <a:lstStyle/>
                    <a:p>
                      <a:pPr algn="ctr"/>
                      <a:r>
                        <a:rPr lang="en-US" dirty="0">
                          <a:solidFill>
                            <a:schemeClr val="bg2"/>
                          </a:solidFill>
                        </a:rPr>
                        <a:t>3</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50000"/>
                      </a:schemeClr>
                    </a:solidFill>
                  </a:tcPr>
                </a:tc>
                <a:tc>
                  <a:txBody>
                    <a:bodyPr/>
                    <a:lstStyle/>
                    <a:p>
                      <a:pPr algn="ctr"/>
                      <a:r>
                        <a:rPr lang="en-US" dirty="0">
                          <a:solidFill>
                            <a:schemeClr val="bg2"/>
                          </a:solidFill>
                        </a:rPr>
                        <a:t>6</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50000"/>
                      </a:schemeClr>
                    </a:solidFill>
                  </a:tcPr>
                </a:tc>
                <a:tc>
                  <a:txBody>
                    <a:bodyPr/>
                    <a:lstStyle/>
                    <a:p>
                      <a:pPr algn="ctr"/>
                      <a:r>
                        <a:rPr lang="en-US" dirty="0">
                          <a:solidFill>
                            <a:schemeClr val="bg2"/>
                          </a:solidFill>
                        </a:rPr>
                        <a:t>9</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50000"/>
                      </a:schemeClr>
                    </a:solidFill>
                  </a:tcPr>
                </a:tc>
                <a:tc>
                  <a:txBody>
                    <a:bodyPr/>
                    <a:lstStyle/>
                    <a:p>
                      <a:pPr algn="ctr"/>
                      <a:r>
                        <a:rPr lang="en-US" dirty="0">
                          <a:solidFill>
                            <a:schemeClr val="bg2"/>
                          </a:solidFill>
                        </a:rPr>
                        <a:t>12</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372349874"/>
                  </a:ext>
                </a:extLst>
              </a:tr>
            </a:tbl>
          </a:graphicData>
        </a:graphic>
      </p:graphicFrame>
      <p:sp>
        <p:nvSpPr>
          <p:cNvPr id="3" name="TextBox 2">
            <a:extLst>
              <a:ext uri="{FF2B5EF4-FFF2-40B4-BE49-F238E27FC236}">
                <a16:creationId xmlns:a16="http://schemas.microsoft.com/office/drawing/2014/main" id="{6209BF7F-F61C-E390-DA53-89C36BCBAB2D}"/>
              </a:ext>
            </a:extLst>
          </p:cNvPr>
          <p:cNvSpPr txBox="1"/>
          <p:nvPr/>
        </p:nvSpPr>
        <p:spPr>
          <a:xfrm>
            <a:off x="2138683" y="5223257"/>
            <a:ext cx="9782801" cy="1631216"/>
          </a:xfrm>
          <a:prstGeom prst="rect">
            <a:avLst/>
          </a:prstGeom>
          <a:noFill/>
        </p:spPr>
        <p:txBody>
          <a:bodyPr wrap="square">
            <a:spAutoFit/>
          </a:bodyPr>
          <a:lstStyle/>
          <a:p>
            <a:r>
              <a:rPr lang="en-US" sz="2000" dirty="0">
                <a:solidFill>
                  <a:schemeClr val="bg1"/>
                </a:solidFill>
                <a:latin typeface="Arial" panose="020B0604020202020204" pitchFamily="34" charset="0"/>
                <a:cs typeface="Arial" panose="020B0604020202020204" pitchFamily="34" charset="0"/>
              </a:rPr>
              <a:t>Reshape works in a similar fashion to view, but in case the array is not contiguous it will perform a copy. </a:t>
            </a:r>
            <a:br>
              <a:rPr lang="en-US" sz="2000" dirty="0">
                <a:solidFill>
                  <a:schemeClr val="bg1"/>
                </a:solidFill>
                <a:latin typeface="Arial" panose="020B0604020202020204" pitchFamily="34" charset="0"/>
                <a:cs typeface="Arial" panose="020B0604020202020204" pitchFamily="34" charset="0"/>
              </a:rPr>
            </a:br>
            <a:br>
              <a:rPr lang="en-US" sz="2000" dirty="0">
                <a:solidFill>
                  <a:schemeClr val="bg1"/>
                </a:solidFill>
                <a:latin typeface="Arial" panose="020B0604020202020204" pitchFamily="34" charset="0"/>
                <a:cs typeface="Arial" panose="020B0604020202020204" pitchFamily="34" charset="0"/>
              </a:rPr>
            </a:br>
            <a:r>
              <a:rPr lang="en-US" sz="2000" dirty="0">
                <a:solidFill>
                  <a:schemeClr val="bg1"/>
                </a:solidFill>
                <a:latin typeface="Arial" panose="020B0604020202020204" pitchFamily="34" charset="0"/>
                <a:cs typeface="Arial" panose="020B0604020202020204" pitchFamily="34" charset="0"/>
              </a:rPr>
              <a:t>If the array is </a:t>
            </a:r>
            <a:r>
              <a:rPr lang="en-US" sz="2000" dirty="0">
                <a:solidFill>
                  <a:schemeClr val="bg1"/>
                </a:solidFill>
              </a:rPr>
              <a:t>contiguous, it will work as view. </a:t>
            </a:r>
            <a:endParaRPr lang="en-US" sz="2000" dirty="0">
              <a:solidFill>
                <a:schemeClr val="bg1"/>
              </a:solidFill>
              <a:latin typeface="Arial" panose="020B0604020202020204" pitchFamily="34" charset="0"/>
              <a:cs typeface="Arial" panose="020B0604020202020204" pitchFamily="34" charset="0"/>
            </a:endParaRPr>
          </a:p>
          <a:p>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55188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410200"/>
          </a:xfrm>
        </p:spPr>
        <p:txBody>
          <a:bodyPr/>
          <a:lstStyle/>
          <a:p>
            <a:r>
              <a:rPr lang="en-US" dirty="0">
                <a:latin typeface="Arial" panose="020B0604020202020204" pitchFamily="34" charset="0"/>
                <a:cs typeface="Arial" panose="020B0604020202020204" pitchFamily="34" charset="0"/>
              </a:rPr>
              <a:t>Scalar and element-wise operation work in a similar manner</a:t>
            </a:r>
            <a:endParaRPr lang="en-US" dirty="0">
              <a:highlight>
                <a:srgbClr val="00FFFF"/>
              </a:highlight>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2514600"/>
            <a:ext cx="9144000" cy="31242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0" dirty="0">
                <a:solidFill>
                  <a:srgbClr val="B56AA6"/>
                </a:solidFill>
                <a:effectLst/>
                <a:latin typeface="Consolas" panose="020B0609020204030204" pitchFamily="49" charset="0"/>
              </a:rPr>
              <a:t>import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endParaRPr lang="fr-FR" b="0" dirty="0">
              <a:solidFill>
                <a:srgbClr val="DADADA"/>
              </a:solidFill>
              <a:effectLst/>
              <a:latin typeface="Consolas" panose="020B0609020204030204" pitchFamily="49" charset="0"/>
            </a:endParaRPr>
          </a:p>
          <a:p>
            <a:br>
              <a:rPr lang="fr-FR" b="0" dirty="0">
                <a:solidFill>
                  <a:srgbClr val="DADADA"/>
                </a:solidFill>
                <a:effectLst/>
                <a:latin typeface="Consolas" panose="020B0609020204030204" pitchFamily="49" charset="0"/>
              </a:rPr>
            </a:br>
            <a:r>
              <a:rPr lang="fr-FR" b="0" dirty="0">
                <a:solidFill>
                  <a:srgbClr val="229977"/>
                </a:solidFill>
                <a:effectLst/>
                <a:latin typeface="Consolas" panose="020B0609020204030204" pitchFamily="49" charset="0"/>
              </a:rPr>
              <a:t>t</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r>
              <a:rPr lang="fr-FR" b="0" dirty="0" err="1">
                <a:solidFill>
                  <a:srgbClr val="B4B4B4"/>
                </a:solidFill>
                <a:effectLst/>
                <a:latin typeface="Consolas" panose="020B0609020204030204" pitchFamily="49" charset="0"/>
              </a:rPr>
              <a:t>.</a:t>
            </a:r>
            <a:r>
              <a:rPr lang="fr-FR" b="0" dirty="0" err="1">
                <a:solidFill>
                  <a:srgbClr val="A7A774"/>
                </a:solidFill>
                <a:effectLst/>
                <a:latin typeface="Consolas" panose="020B0609020204030204" pitchFamily="49" charset="0"/>
              </a:rPr>
              <a:t>tensor</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1</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2</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3</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4</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5</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6</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a:solidFill>
                  <a:srgbClr val="229977"/>
                </a:solidFill>
                <a:effectLst/>
                <a:latin typeface="Consolas" panose="020B0609020204030204" pitchFamily="49" charset="0"/>
              </a:rPr>
              <a:t>t</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a:solidFill>
                  <a:srgbClr val="229977"/>
                </a:solidFill>
                <a:effectLst/>
                <a:latin typeface="Consolas" panose="020B0609020204030204" pitchFamily="49" charset="0"/>
              </a:rPr>
              <a:t>t</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a:solidFill>
                  <a:srgbClr val="E0EBB2"/>
                </a:solidFill>
                <a:effectLst/>
                <a:latin typeface="Consolas" panose="020B0609020204030204" pitchFamily="49" charset="0"/>
              </a:rPr>
              <a:t>2</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t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a:solidFill>
                  <a:srgbClr val="229977"/>
                </a:solidFill>
                <a:effectLst/>
                <a:latin typeface="Consolas" panose="020B0609020204030204" pitchFamily="49" charset="0"/>
              </a:rPr>
              <a:t>t</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a:solidFill>
                  <a:srgbClr val="229977"/>
                </a:solidFill>
                <a:effectLst/>
                <a:latin typeface="Consolas" panose="020B0609020204030204" pitchFamily="49" charset="0"/>
              </a:rPr>
              <a:t>t</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a:solidFill>
                  <a:srgbClr val="E0EBB2"/>
                </a:solidFill>
                <a:effectLst/>
                <a:latin typeface="Consolas" panose="020B0609020204030204" pitchFamily="49" charset="0"/>
              </a:rPr>
              <a:t>10</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t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a:solidFill>
                  <a:srgbClr val="229977"/>
                </a:solidFill>
                <a:effectLst/>
                <a:latin typeface="Consolas" panose="020B0609020204030204" pitchFamily="49" charset="0"/>
              </a:rPr>
              <a:t>v</a:t>
            </a:r>
            <a:r>
              <a:rPr lang="fr-FR" b="0" dirty="0">
                <a:solidFill>
                  <a:srgbClr val="DADADA"/>
                </a:solidFill>
                <a:effectLst/>
                <a:latin typeface="Consolas" panose="020B0609020204030204" pitchFamily="49" charset="0"/>
              </a:rPr>
              <a:t> </a:t>
            </a:r>
            <a:r>
              <a:rPr lang="fr-FR" b="0" dirty="0">
                <a:solidFill>
                  <a:srgbClr val="C0C0C0"/>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C8C8C8"/>
                </a:solidFill>
                <a:effectLst/>
                <a:latin typeface="Consolas" panose="020B0609020204030204" pitchFamily="49" charset="0"/>
              </a:rPr>
              <a:t>torch</a:t>
            </a:r>
            <a:r>
              <a:rPr lang="fr-FR" b="0" dirty="0" err="1">
                <a:solidFill>
                  <a:srgbClr val="B4B4B4"/>
                </a:solidFill>
                <a:effectLst/>
                <a:latin typeface="Consolas" panose="020B0609020204030204" pitchFamily="49" charset="0"/>
              </a:rPr>
              <a:t>.</a:t>
            </a:r>
            <a:r>
              <a:rPr lang="fr-FR" b="0" dirty="0" err="1">
                <a:solidFill>
                  <a:srgbClr val="A7A774"/>
                </a:solidFill>
                <a:effectLst/>
                <a:latin typeface="Consolas" panose="020B0609020204030204" pitchFamily="49" charset="0"/>
              </a:rPr>
              <a:t>ones</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2</a:t>
            </a:r>
            <a:r>
              <a:rPr lang="fr-FR" b="0" dirty="0">
                <a:solidFill>
                  <a:srgbClr val="B4B4B4"/>
                </a:solidFill>
                <a:effectLst/>
                <a:latin typeface="Consolas" panose="020B0609020204030204" pitchFamily="49" charset="0"/>
              </a:rPr>
              <a:t>,</a:t>
            </a:r>
            <a:r>
              <a:rPr lang="fr-FR" b="0" dirty="0">
                <a:solidFill>
                  <a:srgbClr val="E0EBB2"/>
                </a:solidFill>
                <a:effectLst/>
                <a:latin typeface="Consolas" panose="020B0609020204030204" pitchFamily="49" charset="0"/>
              </a:rPr>
              <a:t>3</a:t>
            </a:r>
            <a:r>
              <a:rPr lang="fr-FR" b="0" dirty="0">
                <a:solidFill>
                  <a:srgbClr val="B4B4B4"/>
                </a:solidFill>
                <a:effectLst/>
                <a:latin typeface="Consolas" panose="020B0609020204030204" pitchFamily="49" charset="0"/>
              </a:rPr>
              <a:t>,</a:t>
            </a:r>
            <a:r>
              <a:rPr lang="fr-FR" b="0" dirty="0">
                <a:solidFill>
                  <a:srgbClr val="DADADA"/>
                </a:solidFill>
                <a:effectLst/>
                <a:latin typeface="Consolas" panose="020B0609020204030204" pitchFamily="49" charset="0"/>
              </a:rPr>
              <a:t> </a:t>
            </a:r>
            <a:r>
              <a:rPr lang="fr-FR" b="0" dirty="0" err="1">
                <a:solidFill>
                  <a:srgbClr val="9A9A9A"/>
                </a:solidFill>
                <a:effectLst/>
                <a:latin typeface="Consolas" panose="020B0609020204030204" pitchFamily="49" charset="0"/>
              </a:rPr>
              <a:t>dtype</a:t>
            </a:r>
            <a:r>
              <a:rPr lang="fr-FR" b="0" dirty="0">
                <a:solidFill>
                  <a:srgbClr val="C0C0C0"/>
                </a:solidFill>
                <a:effectLst/>
                <a:latin typeface="Consolas" panose="020B0609020204030204" pitchFamily="49" charset="0"/>
              </a:rPr>
              <a:t>=</a:t>
            </a:r>
            <a:r>
              <a:rPr lang="fr-FR" b="0" dirty="0">
                <a:solidFill>
                  <a:srgbClr val="C8C8C8"/>
                </a:solidFill>
                <a:effectLst/>
                <a:latin typeface="Consolas" panose="020B0609020204030204" pitchFamily="49" charset="0"/>
              </a:rPr>
              <a:t>torch</a:t>
            </a:r>
            <a:r>
              <a:rPr lang="fr-FR" b="0" dirty="0">
                <a:solidFill>
                  <a:srgbClr val="B4B4B4"/>
                </a:solidFill>
                <a:effectLst/>
                <a:latin typeface="Consolas" panose="020B0609020204030204" pitchFamily="49" charset="0"/>
              </a:rPr>
              <a:t>.</a:t>
            </a:r>
            <a:r>
              <a:rPr lang="fr-FR" b="0" dirty="0">
                <a:solidFill>
                  <a:srgbClr val="DADADA"/>
                </a:solidFill>
                <a:effectLst/>
                <a:latin typeface="Consolas" panose="020B0609020204030204" pitchFamily="49" charset="0"/>
              </a:rPr>
              <a:t>int</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v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v</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a:p>
            <a:r>
              <a:rPr lang="fr-FR" b="0" dirty="0">
                <a:solidFill>
                  <a:srgbClr val="229977"/>
                </a:solidFill>
                <a:effectLst/>
                <a:latin typeface="Consolas" panose="020B0609020204030204" pitchFamily="49" charset="0"/>
              </a:rPr>
              <a:t>t </a:t>
            </a:r>
            <a:r>
              <a:rPr lang="fr-FR" b="0" dirty="0">
                <a:solidFill>
                  <a:srgbClr val="C0C0C0"/>
                </a:solidFill>
                <a:effectLst/>
                <a:latin typeface="Consolas" panose="020B0609020204030204" pitchFamily="49" charset="0"/>
              </a:rPr>
              <a:t>+= </a:t>
            </a:r>
            <a:r>
              <a:rPr lang="fr-FR" b="0" dirty="0">
                <a:solidFill>
                  <a:srgbClr val="229977"/>
                </a:solidFill>
                <a:effectLst/>
                <a:latin typeface="Consolas" panose="020B0609020204030204" pitchFamily="49" charset="0"/>
              </a:rPr>
              <a:t>v</a:t>
            </a:r>
            <a:endParaRPr lang="fr-FR" b="0" dirty="0">
              <a:solidFill>
                <a:srgbClr val="DADADA"/>
              </a:solidFill>
              <a:effectLst/>
              <a:latin typeface="Consolas" panose="020B0609020204030204" pitchFamily="49" charset="0"/>
            </a:endParaRPr>
          </a:p>
          <a:p>
            <a:r>
              <a:rPr lang="fr-FR" b="0" dirty="0" err="1">
                <a:solidFill>
                  <a:srgbClr val="A7A774"/>
                </a:solidFill>
                <a:effectLst/>
                <a:latin typeface="Consolas" panose="020B0609020204030204" pitchFamily="49" charset="0"/>
              </a:rPr>
              <a:t>print</a:t>
            </a:r>
            <a:r>
              <a:rPr lang="fr-FR" b="0" dirty="0">
                <a:solidFill>
                  <a:srgbClr val="B4B4B4"/>
                </a:solidFill>
                <a:effectLst/>
                <a:latin typeface="Consolas" panose="020B0609020204030204" pitchFamily="49" charset="0"/>
              </a:rPr>
              <a:t>(</a:t>
            </a:r>
            <a:r>
              <a:rPr lang="fr-FR" b="0" dirty="0">
                <a:solidFill>
                  <a:srgbClr val="E8C9BB"/>
                </a:solidFill>
                <a:effectLst/>
                <a:latin typeface="Consolas" panose="020B0609020204030204" pitchFamily="49" charset="0"/>
              </a:rPr>
              <a:t>"</a:t>
            </a:r>
            <a:r>
              <a:rPr lang="fr-FR" b="0" dirty="0">
                <a:solidFill>
                  <a:srgbClr val="E68A8A"/>
                </a:solidFill>
                <a:effectLst/>
                <a:latin typeface="Consolas" panose="020B0609020204030204" pitchFamily="49" charset="0"/>
              </a:rPr>
              <a:t>t = </a:t>
            </a:r>
            <a:r>
              <a:rPr lang="fr-FR" b="0" dirty="0">
                <a:solidFill>
                  <a:srgbClr val="E8C9BB"/>
                </a:solidFill>
                <a:effectLst/>
                <a:latin typeface="Consolas" panose="020B0609020204030204" pitchFamily="49" charset="0"/>
              </a:rPr>
              <a:t>"</a:t>
            </a:r>
            <a:r>
              <a:rPr lang="fr-FR" b="0" dirty="0">
                <a:solidFill>
                  <a:srgbClr val="B4B4B4"/>
                </a:solidFill>
                <a:effectLst/>
                <a:latin typeface="Consolas" panose="020B0609020204030204" pitchFamily="49" charset="0"/>
              </a:rPr>
              <a:t>,</a:t>
            </a:r>
            <a:r>
              <a:rPr lang="fr-FR" b="0" dirty="0">
                <a:solidFill>
                  <a:srgbClr val="229977"/>
                </a:solidFill>
                <a:effectLst/>
                <a:latin typeface="Consolas" panose="020B0609020204030204" pitchFamily="49" charset="0"/>
              </a:rPr>
              <a:t>t</a:t>
            </a:r>
            <a:r>
              <a:rPr lang="fr-FR" b="0" dirty="0">
                <a:solidFill>
                  <a:srgbClr val="B4B4B4"/>
                </a:solidFill>
                <a:effectLst/>
                <a:latin typeface="Consolas" panose="020B0609020204030204" pitchFamily="49" charset="0"/>
              </a:rPr>
              <a:t>)</a:t>
            </a:r>
            <a:endParaRPr lang="fr-FR"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extLst>
              <p:ext uri="{D42A27DB-BD31-4B8C-83A1-F6EECF244321}">
                <p14:modId xmlns:p14="http://schemas.microsoft.com/office/powerpoint/2010/main" val="3872976212"/>
              </p:ext>
            </p:extLst>
          </p:nvPr>
        </p:nvGraphicFramePr>
        <p:xfrm>
          <a:off x="6780212" y="3642360"/>
          <a:ext cx="4953000" cy="2103120"/>
        </p:xfrm>
        <a:graphic>
          <a:graphicData uri="http://schemas.openxmlformats.org/drawingml/2006/table">
            <a:tbl>
              <a:tblPr firstRow="1" bandRow="1">
                <a:tableStyleId>{073A0DAA-6AF3-43AB-8588-CEC1D06C72B9}</a:tableStyleId>
              </a:tblPr>
              <a:tblGrid>
                <a:gridCol w="4953000">
                  <a:extLst>
                    <a:ext uri="{9D8B030D-6E8A-4147-A177-3AD203B41FA5}">
                      <a16:colId xmlns:a16="http://schemas.microsoft.com/office/drawing/2014/main" val="3899577134"/>
                    </a:ext>
                  </a:extLst>
                </a:gridCol>
              </a:tblGrid>
              <a:tr h="0">
                <a:tc>
                  <a:txBody>
                    <a:bodyPr/>
                    <a:lstStyle/>
                    <a:p>
                      <a:r>
                        <a:rPr lang="en-US" dirty="0"/>
                        <a:t>Output</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t =  tensor([[ 2,  4,  6],</a:t>
                      </a:r>
                    </a:p>
                    <a:p>
                      <a:r>
                        <a:rPr lang="en-US" dirty="0">
                          <a:solidFill>
                            <a:schemeClr val="tx2"/>
                          </a:solidFill>
                          <a:latin typeface="Consolas" panose="020B0609020204030204" pitchFamily="49" charset="0"/>
                        </a:rPr>
                        <a:t>        [ 8, 10, 12]])</a:t>
                      </a:r>
                    </a:p>
                    <a:p>
                      <a:r>
                        <a:rPr lang="en-US" dirty="0">
                          <a:solidFill>
                            <a:schemeClr val="tx2"/>
                          </a:solidFill>
                          <a:latin typeface="Consolas" panose="020B0609020204030204" pitchFamily="49" charset="0"/>
                        </a:rPr>
                        <a:t>t =  tensor([[12, 14, 16],</a:t>
                      </a:r>
                    </a:p>
                    <a:p>
                      <a:r>
                        <a:rPr lang="en-US" dirty="0">
                          <a:solidFill>
                            <a:schemeClr val="tx2"/>
                          </a:solidFill>
                          <a:latin typeface="Consolas" panose="020B0609020204030204" pitchFamily="49" charset="0"/>
                        </a:rPr>
                        <a:t>        [18, 20, 22]])</a:t>
                      </a:r>
                    </a:p>
                    <a:p>
                      <a:r>
                        <a:rPr lang="en-US" dirty="0">
                          <a:solidFill>
                            <a:schemeClr val="tx2"/>
                          </a:solidFill>
                          <a:latin typeface="Consolas" panose="020B0609020204030204" pitchFamily="49" charset="0"/>
                        </a:rPr>
                        <a:t>v =  tensor([[1, 1, 1],</a:t>
                      </a:r>
                    </a:p>
                    <a:p>
                      <a:r>
                        <a:rPr lang="en-US" dirty="0">
                          <a:solidFill>
                            <a:schemeClr val="tx2"/>
                          </a:solidFill>
                          <a:latin typeface="Consolas" panose="020B0609020204030204" pitchFamily="49" charset="0"/>
                        </a:rPr>
                        <a:t>        [1, 1, 1]], </a:t>
                      </a:r>
                      <a:r>
                        <a:rPr lang="en-US" dirty="0" err="1">
                          <a:solidFill>
                            <a:schemeClr val="tx2"/>
                          </a:solidFill>
                          <a:latin typeface="Consolas" panose="020B0609020204030204" pitchFamily="49" charset="0"/>
                        </a:rPr>
                        <a:t>dtype</a:t>
                      </a:r>
                      <a:r>
                        <a:rPr lang="en-US" dirty="0">
                          <a:solidFill>
                            <a:schemeClr val="tx2"/>
                          </a:solidFill>
                          <a:latin typeface="Consolas" panose="020B0609020204030204" pitchFamily="49" charset="0"/>
                        </a:rPr>
                        <a:t>=torch.int32)</a:t>
                      </a:r>
                    </a:p>
                    <a:p>
                      <a:r>
                        <a:rPr lang="en-US" dirty="0">
                          <a:solidFill>
                            <a:schemeClr val="tx2"/>
                          </a:solidFill>
                          <a:latin typeface="Consolas" panose="020B0609020204030204" pitchFamily="49" charset="0"/>
                        </a:rPr>
                        <a:t>t =  tensor([[13, 15, 17],</a:t>
                      </a:r>
                    </a:p>
                    <a:p>
                      <a:r>
                        <a:rPr lang="en-US" dirty="0">
                          <a:solidFill>
                            <a:schemeClr val="tx2"/>
                          </a:solidFill>
                          <a:latin typeface="Consolas" panose="020B0609020204030204" pitchFamily="49" charset="0"/>
                        </a:rPr>
                        <a:t>        [19, 21, 23]])</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325581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410200"/>
          </a:xfrm>
        </p:spPr>
        <p:txBody>
          <a:bodyPr/>
          <a:lstStyle/>
          <a:p>
            <a:r>
              <a:rPr lang="en-US" sz="2000" dirty="0">
                <a:latin typeface="Arial" panose="020B0604020202020204" pitchFamily="34" charset="0"/>
                <a:cs typeface="Arial" panose="020B0604020202020204" pitchFamily="34" charset="0"/>
              </a:rPr>
              <a:t>There are also several simple statistical functions that can be used (like sum, median, mean, </a:t>
            </a:r>
            <a:r>
              <a:rPr lang="en-US" sz="2000" dirty="0" err="1">
                <a:latin typeface="Arial" panose="020B0604020202020204" pitchFamily="34" charset="0"/>
                <a:cs typeface="Arial" panose="020B0604020202020204" pitchFamily="34" charset="0"/>
              </a:rPr>
              <a:t>etc</a:t>
            </a:r>
            <a:r>
              <a:rPr lang="en-US" sz="2000" dirty="0">
                <a:latin typeface="Arial" panose="020B0604020202020204" pitchFamily="34" charset="0"/>
                <a:cs typeface="Arial" panose="020B0604020202020204" pitchFamily="34" charset="0"/>
              </a:rPr>
              <a:t>). Its important to notice that the result of these function is a tensor (and not necessarily a scalar value) – even if the tensor is a vector with one element (containing just one scalar).</a:t>
            </a: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To get the scalar value, use .item()</a:t>
            </a:r>
            <a:endParaRPr lang="en-US" sz="2000" dirty="0">
              <a:highlight>
                <a:srgbClr val="00FFFF"/>
              </a:highlight>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2055812" y="3642519"/>
            <a:ext cx="9144000" cy="2438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r>
              <a:rPr lang="en-US" b="0" dirty="0" err="1">
                <a:solidFill>
                  <a:srgbClr val="9A9A9A"/>
                </a:solidFill>
                <a:effectLst/>
                <a:latin typeface="Consolas" panose="020B0609020204030204" pitchFamily="49" charset="0"/>
              </a:rPr>
              <a:t>dtype</a:t>
            </a:r>
            <a:r>
              <a:rPr lang="en-US" b="0" dirty="0">
                <a:solidFill>
                  <a:srgbClr val="C0C0C0"/>
                </a:solidFill>
                <a:effectLst/>
                <a:latin typeface="Consolas" panose="020B0609020204030204" pitchFamily="49" charset="0"/>
              </a:rPr>
              <a:t>=</a:t>
            </a:r>
            <a:r>
              <a:rPr lang="en-US" b="0" dirty="0">
                <a:solidFill>
                  <a:srgbClr val="C8C8C8"/>
                </a:solidFill>
                <a:effectLst/>
                <a:latin typeface="Consolas" panose="020B0609020204030204" pitchFamily="49" charset="0"/>
              </a:rPr>
              <a:t>torch</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float32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sum(t)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sum</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mean(t)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mean</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median(t)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median</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min(t)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min</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max(t)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max</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a:t>
            </a:r>
            <a:r>
              <a:rPr lang="en-US" b="0" dirty="0">
                <a:solidFill>
                  <a:srgbClr val="B4B4B4"/>
                </a:solidFill>
                <a:effectLst/>
                <a:latin typeface="Consolas" panose="020B0609020204030204" pitchFamily="49" charset="0"/>
              </a:rPr>
              <a:t>))</a:t>
            </a: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max(t)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max</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a:t>
            </a:r>
            <a:r>
              <a:rPr lang="en-US" b="0" dirty="0">
                <a:solidFill>
                  <a:srgbClr val="B4B4B4"/>
                </a:solidFill>
                <a:effectLst/>
                <a:latin typeface="Consolas" panose="020B0609020204030204" pitchFamily="49" charset="0"/>
              </a:rPr>
              <a:t>).item())</a:t>
            </a:r>
            <a:endParaRPr lang="en-US" b="0" dirty="0">
              <a:solidFill>
                <a:srgbClr val="DADADA"/>
              </a:solidFill>
              <a:effectLst/>
              <a:latin typeface="Consolas" panose="020B0609020204030204" pitchFamily="49" charset="0"/>
            </a:endParaRPr>
          </a:p>
          <a:p>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extLst>
              <p:ext uri="{D42A27DB-BD31-4B8C-83A1-F6EECF244321}">
                <p14:modId xmlns:p14="http://schemas.microsoft.com/office/powerpoint/2010/main" val="1871968774"/>
              </p:ext>
            </p:extLst>
          </p:nvPr>
        </p:nvGraphicFramePr>
        <p:xfrm>
          <a:off x="7389812" y="4953000"/>
          <a:ext cx="3581400" cy="1676400"/>
        </p:xfrm>
        <a:graphic>
          <a:graphicData uri="http://schemas.openxmlformats.org/drawingml/2006/table">
            <a:tbl>
              <a:tblPr firstRow="1" bandRow="1">
                <a:tableStyleId>{073A0DAA-6AF3-43AB-8588-CEC1D06C72B9}</a:tableStyleId>
              </a:tblPr>
              <a:tblGrid>
                <a:gridCol w="3581400">
                  <a:extLst>
                    <a:ext uri="{9D8B030D-6E8A-4147-A177-3AD203B41FA5}">
                      <a16:colId xmlns:a16="http://schemas.microsoft.com/office/drawing/2014/main" val="3899577134"/>
                    </a:ext>
                  </a:extLst>
                </a:gridCol>
              </a:tblGrid>
              <a:tr h="0">
                <a:tc>
                  <a:txBody>
                    <a:bodyPr/>
                    <a:lstStyle/>
                    <a:p>
                      <a:r>
                        <a:rPr lang="en-US" dirty="0"/>
                        <a:t>Output</a:t>
                      </a:r>
                    </a:p>
                  </a:txBody>
                  <a:tcPr/>
                </a:tc>
                <a:extLst>
                  <a:ext uri="{0D108BD9-81ED-4DB2-BD59-A6C34878D82A}">
                    <a16:rowId xmlns:a16="http://schemas.microsoft.com/office/drawing/2014/main" val="117988312"/>
                  </a:ext>
                </a:extLst>
              </a:tr>
              <a:tr h="370840">
                <a:tc>
                  <a:txBody>
                    <a:bodyPr/>
                    <a:lstStyle/>
                    <a:p>
                      <a:r>
                        <a:rPr lang="de-DE" dirty="0" err="1">
                          <a:solidFill>
                            <a:schemeClr val="tx2"/>
                          </a:solidFill>
                          <a:latin typeface="Consolas" panose="020B0609020204030204" pitchFamily="49" charset="0"/>
                        </a:rPr>
                        <a:t>sum</a:t>
                      </a:r>
                      <a:r>
                        <a:rPr lang="de-DE" dirty="0">
                          <a:solidFill>
                            <a:schemeClr val="tx2"/>
                          </a:solidFill>
                          <a:latin typeface="Consolas" panose="020B0609020204030204" pitchFamily="49" charset="0"/>
                        </a:rPr>
                        <a:t>(t)    =  </a:t>
                      </a:r>
                      <a:r>
                        <a:rPr lang="de-DE" dirty="0" err="1">
                          <a:solidFill>
                            <a:schemeClr val="tx2"/>
                          </a:solidFill>
                          <a:latin typeface="Consolas" panose="020B0609020204030204" pitchFamily="49" charset="0"/>
                        </a:rPr>
                        <a:t>tensor</a:t>
                      </a:r>
                      <a:r>
                        <a:rPr lang="de-DE" dirty="0">
                          <a:solidFill>
                            <a:schemeClr val="tx2"/>
                          </a:solidFill>
                          <a:latin typeface="Consolas" panose="020B0609020204030204" pitchFamily="49" charset="0"/>
                        </a:rPr>
                        <a:t>(21.)</a:t>
                      </a:r>
                    </a:p>
                    <a:p>
                      <a:r>
                        <a:rPr lang="de-DE" dirty="0" err="1">
                          <a:solidFill>
                            <a:schemeClr val="tx2"/>
                          </a:solidFill>
                          <a:latin typeface="Consolas" panose="020B0609020204030204" pitchFamily="49" charset="0"/>
                        </a:rPr>
                        <a:t>mean</a:t>
                      </a:r>
                      <a:r>
                        <a:rPr lang="de-DE" dirty="0">
                          <a:solidFill>
                            <a:schemeClr val="tx2"/>
                          </a:solidFill>
                          <a:latin typeface="Consolas" panose="020B0609020204030204" pitchFamily="49" charset="0"/>
                        </a:rPr>
                        <a:t>(t)   =  </a:t>
                      </a:r>
                      <a:r>
                        <a:rPr lang="de-DE" dirty="0" err="1">
                          <a:solidFill>
                            <a:schemeClr val="tx2"/>
                          </a:solidFill>
                          <a:latin typeface="Consolas" panose="020B0609020204030204" pitchFamily="49" charset="0"/>
                        </a:rPr>
                        <a:t>tensor</a:t>
                      </a:r>
                      <a:r>
                        <a:rPr lang="de-DE" dirty="0">
                          <a:solidFill>
                            <a:schemeClr val="tx2"/>
                          </a:solidFill>
                          <a:latin typeface="Consolas" panose="020B0609020204030204" pitchFamily="49" charset="0"/>
                        </a:rPr>
                        <a:t>(3.5000)</a:t>
                      </a:r>
                    </a:p>
                    <a:p>
                      <a:r>
                        <a:rPr lang="de-DE" dirty="0">
                          <a:solidFill>
                            <a:schemeClr val="tx2"/>
                          </a:solidFill>
                          <a:latin typeface="Consolas" panose="020B0609020204030204" pitchFamily="49" charset="0"/>
                        </a:rPr>
                        <a:t>median(t) =  </a:t>
                      </a:r>
                      <a:r>
                        <a:rPr lang="de-DE" dirty="0" err="1">
                          <a:solidFill>
                            <a:schemeClr val="tx2"/>
                          </a:solidFill>
                          <a:latin typeface="Consolas" panose="020B0609020204030204" pitchFamily="49" charset="0"/>
                        </a:rPr>
                        <a:t>tensor</a:t>
                      </a:r>
                      <a:r>
                        <a:rPr lang="de-DE" dirty="0">
                          <a:solidFill>
                            <a:schemeClr val="tx2"/>
                          </a:solidFill>
                          <a:latin typeface="Consolas" panose="020B0609020204030204" pitchFamily="49" charset="0"/>
                        </a:rPr>
                        <a:t>(3.)</a:t>
                      </a:r>
                    </a:p>
                    <a:p>
                      <a:r>
                        <a:rPr lang="de-DE" dirty="0">
                          <a:solidFill>
                            <a:schemeClr val="tx2"/>
                          </a:solidFill>
                          <a:latin typeface="Consolas" panose="020B0609020204030204" pitchFamily="49" charset="0"/>
                        </a:rPr>
                        <a:t>min(t)    =  </a:t>
                      </a:r>
                      <a:r>
                        <a:rPr lang="de-DE" dirty="0" err="1">
                          <a:solidFill>
                            <a:schemeClr val="tx2"/>
                          </a:solidFill>
                          <a:latin typeface="Consolas" panose="020B0609020204030204" pitchFamily="49" charset="0"/>
                        </a:rPr>
                        <a:t>tensor</a:t>
                      </a:r>
                      <a:r>
                        <a:rPr lang="de-DE" dirty="0">
                          <a:solidFill>
                            <a:schemeClr val="tx2"/>
                          </a:solidFill>
                          <a:latin typeface="Consolas" panose="020B0609020204030204" pitchFamily="49" charset="0"/>
                        </a:rPr>
                        <a:t>(1.)</a:t>
                      </a:r>
                    </a:p>
                    <a:p>
                      <a:r>
                        <a:rPr lang="de-DE" dirty="0" err="1">
                          <a:solidFill>
                            <a:schemeClr val="tx2"/>
                          </a:solidFill>
                          <a:latin typeface="Consolas" panose="020B0609020204030204" pitchFamily="49" charset="0"/>
                        </a:rPr>
                        <a:t>max</a:t>
                      </a:r>
                      <a:r>
                        <a:rPr lang="de-DE" dirty="0">
                          <a:solidFill>
                            <a:schemeClr val="tx2"/>
                          </a:solidFill>
                          <a:latin typeface="Consolas" panose="020B0609020204030204" pitchFamily="49" charset="0"/>
                        </a:rPr>
                        <a:t>(t)    =  </a:t>
                      </a:r>
                      <a:r>
                        <a:rPr lang="de-DE" dirty="0" err="1">
                          <a:solidFill>
                            <a:schemeClr val="tx2"/>
                          </a:solidFill>
                          <a:latin typeface="Consolas" panose="020B0609020204030204" pitchFamily="49" charset="0"/>
                        </a:rPr>
                        <a:t>tensor</a:t>
                      </a:r>
                      <a:r>
                        <a:rPr lang="de-DE" dirty="0">
                          <a:solidFill>
                            <a:schemeClr val="tx2"/>
                          </a:solidFill>
                          <a:latin typeface="Consolas" panose="020B0609020204030204" pitchFamily="49" charset="0"/>
                        </a:rPr>
                        <a:t>(6.)</a:t>
                      </a:r>
                      <a:br>
                        <a:rPr lang="de-DE" dirty="0">
                          <a:solidFill>
                            <a:schemeClr val="tx2"/>
                          </a:solidFill>
                          <a:latin typeface="Consolas" panose="020B0609020204030204" pitchFamily="49" charset="0"/>
                        </a:rPr>
                      </a:br>
                      <a:r>
                        <a:rPr lang="de-DE" dirty="0" err="1">
                          <a:solidFill>
                            <a:schemeClr val="tx2"/>
                          </a:solidFill>
                          <a:latin typeface="Consolas" panose="020B0609020204030204" pitchFamily="49" charset="0"/>
                        </a:rPr>
                        <a:t>max</a:t>
                      </a:r>
                      <a:r>
                        <a:rPr lang="de-DE" dirty="0">
                          <a:solidFill>
                            <a:schemeClr val="tx2"/>
                          </a:solidFill>
                          <a:latin typeface="Consolas" panose="020B0609020204030204" pitchFamily="49" charset="0"/>
                        </a:rPr>
                        <a:t>(t)    =  6.0</a:t>
                      </a:r>
                      <a:endParaRPr lang="en-US" dirty="0">
                        <a:solidFill>
                          <a:schemeClr val="tx2"/>
                        </a:solidFill>
                        <a:latin typeface="Consolas" panose="020B0609020204030204" pitchFamily="49" charset="0"/>
                      </a:endParaRP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810729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410200"/>
          </a:xfrm>
        </p:spPr>
        <p:txBody>
          <a:bodyPr/>
          <a:lstStyle/>
          <a:p>
            <a:r>
              <a:rPr lang="en-US" dirty="0">
                <a:latin typeface="Arial" panose="020B0604020202020204" pitchFamily="34" charset="0"/>
                <a:cs typeface="Arial" panose="020B0604020202020204" pitchFamily="34" charset="0"/>
              </a:rPr>
              <a:t>There is also a method called .dot that performs the dot product between two tensors. </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 this case the dot product is: 1x10 + 2x20 + 3x30 = 10+40+90 = 140</a:t>
            </a:r>
            <a:endParaRPr lang="en-US" dirty="0">
              <a:highlight>
                <a:srgbClr val="00FFFF"/>
              </a:highlight>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2545159"/>
            <a:ext cx="9144000" cy="176768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v1</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v2</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result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v1</a:t>
            </a:r>
            <a:r>
              <a:rPr lang="en-US" b="0" dirty="0">
                <a:solidFill>
                  <a:srgbClr val="B4B4B4"/>
                </a:solidFill>
                <a:effectLst/>
                <a:latin typeface="Consolas" panose="020B0609020204030204" pitchFamily="49" charset="0"/>
              </a:rPr>
              <a:t>.</a:t>
            </a:r>
            <a:r>
              <a:rPr lang="en-US" b="0" dirty="0">
                <a:solidFill>
                  <a:srgbClr val="A7A774"/>
                </a:solidFill>
                <a:effectLst/>
                <a:latin typeface="Consolas" panose="020B0609020204030204" pitchFamily="49" charset="0"/>
              </a:rPr>
              <a:t>dot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v1 . v2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result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extLst>
              <p:ext uri="{D42A27DB-BD31-4B8C-83A1-F6EECF244321}">
                <p14:modId xmlns:p14="http://schemas.microsoft.com/office/powerpoint/2010/main" val="2242882087"/>
              </p:ext>
            </p:extLst>
          </p:nvPr>
        </p:nvGraphicFramePr>
        <p:xfrm>
          <a:off x="7389812" y="2743200"/>
          <a:ext cx="3581400" cy="675640"/>
        </p:xfrm>
        <a:graphic>
          <a:graphicData uri="http://schemas.openxmlformats.org/drawingml/2006/table">
            <a:tbl>
              <a:tblPr firstRow="1" bandRow="1">
                <a:tableStyleId>{073A0DAA-6AF3-43AB-8588-CEC1D06C72B9}</a:tableStyleId>
              </a:tblPr>
              <a:tblGrid>
                <a:gridCol w="3581400">
                  <a:extLst>
                    <a:ext uri="{9D8B030D-6E8A-4147-A177-3AD203B41FA5}">
                      <a16:colId xmlns:a16="http://schemas.microsoft.com/office/drawing/2014/main" val="3899577134"/>
                    </a:ext>
                  </a:extLst>
                </a:gridCol>
              </a:tblGrid>
              <a:tr h="0">
                <a:tc>
                  <a:txBody>
                    <a:bodyPr/>
                    <a:lstStyle/>
                    <a:p>
                      <a:r>
                        <a:rPr lang="en-US" dirty="0"/>
                        <a:t>Output</a:t>
                      </a:r>
                    </a:p>
                  </a:txBody>
                  <a:tcPr/>
                </a:tc>
                <a:extLst>
                  <a:ext uri="{0D108BD9-81ED-4DB2-BD59-A6C34878D82A}">
                    <a16:rowId xmlns:a16="http://schemas.microsoft.com/office/drawing/2014/main" val="117988312"/>
                  </a:ext>
                </a:extLst>
              </a:tr>
              <a:tr h="370840">
                <a:tc>
                  <a:txBody>
                    <a:bodyPr/>
                    <a:lstStyle/>
                    <a:p>
                      <a:r>
                        <a:rPr lang="de-DE" dirty="0">
                          <a:solidFill>
                            <a:schemeClr val="tx2"/>
                          </a:solidFill>
                          <a:latin typeface="Consolas" panose="020B0609020204030204" pitchFamily="49" charset="0"/>
                        </a:rPr>
                        <a:t>v1 . v2 =  </a:t>
                      </a:r>
                      <a:r>
                        <a:rPr lang="de-DE" dirty="0" err="1">
                          <a:solidFill>
                            <a:schemeClr val="tx2"/>
                          </a:solidFill>
                          <a:latin typeface="Consolas" panose="020B0609020204030204" pitchFamily="49" charset="0"/>
                        </a:rPr>
                        <a:t>tensor</a:t>
                      </a:r>
                      <a:r>
                        <a:rPr lang="de-DE" dirty="0">
                          <a:solidFill>
                            <a:schemeClr val="tx2"/>
                          </a:solidFill>
                          <a:latin typeface="Consolas" panose="020B0609020204030204" pitchFamily="49" charset="0"/>
                        </a:rPr>
                        <a:t>(140)</a:t>
                      </a:r>
                      <a:endParaRPr lang="en-US" dirty="0">
                        <a:solidFill>
                          <a:schemeClr val="tx2"/>
                        </a:solidFill>
                        <a:latin typeface="Consolas" panose="020B0609020204030204" pitchFamily="49" charset="0"/>
                      </a:endParaRP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159992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410200"/>
          </a:xfrm>
        </p:spPr>
        <p:txBody>
          <a:bodyPr/>
          <a:lstStyle/>
          <a:p>
            <a:r>
              <a:rPr lang="en-US" dirty="0">
                <a:latin typeface="Arial" panose="020B0604020202020204" pitchFamily="34" charset="0"/>
                <a:cs typeface="Arial" panose="020B0604020202020204" pitchFamily="34" charset="0"/>
              </a:rPr>
              <a:t>However, while the method .dot can be used in NumPy to multiply matrixes as well:</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   in </a:t>
            </a: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it only works with vectors:</a:t>
            </a:r>
          </a:p>
        </p:txBody>
      </p:sp>
      <p:sp>
        <p:nvSpPr>
          <p:cNvPr id="2" name="Rectangle 1">
            <a:extLst>
              <a:ext uri="{FF2B5EF4-FFF2-40B4-BE49-F238E27FC236}">
                <a16:creationId xmlns:a16="http://schemas.microsoft.com/office/drawing/2014/main" id="{45FED430-06A4-77E2-798D-E562DBDED8D1}"/>
              </a:ext>
            </a:extLst>
          </p:cNvPr>
          <p:cNvSpPr/>
          <p:nvPr/>
        </p:nvSpPr>
        <p:spPr>
          <a:xfrm>
            <a:off x="1979612" y="2545159"/>
            <a:ext cx="9144000" cy="149344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v1</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v2</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result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v1</a:t>
            </a:r>
            <a:r>
              <a:rPr lang="en-US" b="0" dirty="0">
                <a:solidFill>
                  <a:srgbClr val="B4B4B4"/>
                </a:solidFill>
                <a:effectLst/>
                <a:latin typeface="Consolas" panose="020B0609020204030204" pitchFamily="49" charset="0"/>
              </a:rPr>
              <a:t>.</a:t>
            </a:r>
            <a:r>
              <a:rPr lang="en-US" b="0" dirty="0">
                <a:solidFill>
                  <a:srgbClr val="A7A774"/>
                </a:solidFill>
                <a:effectLst/>
                <a:latin typeface="Consolas" panose="020B0609020204030204" pitchFamily="49" charset="0"/>
              </a:rPr>
              <a:t>dot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v1 . v2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result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extLst>
              <p:ext uri="{D42A27DB-BD31-4B8C-83A1-F6EECF244321}">
                <p14:modId xmlns:p14="http://schemas.microsoft.com/office/powerpoint/2010/main" val="1828847917"/>
              </p:ext>
            </p:extLst>
          </p:nvPr>
        </p:nvGraphicFramePr>
        <p:xfrm>
          <a:off x="8228012" y="2743200"/>
          <a:ext cx="2743200" cy="675640"/>
        </p:xfrm>
        <a:graphic>
          <a:graphicData uri="http://schemas.openxmlformats.org/drawingml/2006/table">
            <a:tbl>
              <a:tblPr firstRow="1" bandRow="1">
                <a:tableStyleId>{073A0DAA-6AF3-43AB-8588-CEC1D06C72B9}</a:tableStyleId>
              </a:tblPr>
              <a:tblGrid>
                <a:gridCol w="2743200">
                  <a:extLst>
                    <a:ext uri="{9D8B030D-6E8A-4147-A177-3AD203B41FA5}">
                      <a16:colId xmlns:a16="http://schemas.microsoft.com/office/drawing/2014/main" val="3899577134"/>
                    </a:ext>
                  </a:extLst>
                </a:gridCol>
              </a:tblGrid>
              <a:tr h="0">
                <a:tc>
                  <a:txBody>
                    <a:bodyPr/>
                    <a:lstStyle/>
                    <a:p>
                      <a:r>
                        <a:rPr lang="en-US" dirty="0"/>
                        <a:t>Output</a:t>
                      </a:r>
                    </a:p>
                  </a:txBody>
                  <a:tcPr/>
                </a:tc>
                <a:extLst>
                  <a:ext uri="{0D108BD9-81ED-4DB2-BD59-A6C34878D82A}">
                    <a16:rowId xmlns:a16="http://schemas.microsoft.com/office/drawing/2014/main" val="117988312"/>
                  </a:ext>
                </a:extLst>
              </a:tr>
              <a:tr h="370840">
                <a:tc>
                  <a:txBody>
                    <a:bodyPr/>
                    <a:lstStyle/>
                    <a:p>
                      <a:r>
                        <a:rPr lang="de-DE" dirty="0">
                          <a:solidFill>
                            <a:schemeClr val="tx2"/>
                          </a:solidFill>
                          <a:latin typeface="Consolas" panose="020B0609020204030204" pitchFamily="49" charset="0"/>
                        </a:rPr>
                        <a:t>v1 . v2 =  [ 85 118]</a:t>
                      </a:r>
                      <a:endParaRPr lang="en-US" dirty="0">
                        <a:solidFill>
                          <a:schemeClr val="tx2"/>
                        </a:solidFill>
                        <a:latin typeface="Consolas" panose="020B0609020204030204" pitchFamily="49" charset="0"/>
                      </a:endParaRP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974A8BF3-CCBB-0D1C-B597-1A64808E294C}"/>
              </a:ext>
            </a:extLst>
          </p:cNvPr>
          <p:cNvSpPr/>
          <p:nvPr/>
        </p:nvSpPr>
        <p:spPr>
          <a:xfrm>
            <a:off x="2003424" y="4803179"/>
            <a:ext cx="9144000" cy="149344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v1</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v2</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result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v1</a:t>
            </a:r>
            <a:r>
              <a:rPr lang="en-US" b="0" dirty="0">
                <a:solidFill>
                  <a:srgbClr val="B4B4B4"/>
                </a:solidFill>
                <a:effectLst/>
                <a:latin typeface="Consolas" panose="020B0609020204030204" pitchFamily="49" charset="0"/>
              </a:rPr>
              <a:t>.</a:t>
            </a:r>
            <a:r>
              <a:rPr lang="en-US" b="0" dirty="0">
                <a:solidFill>
                  <a:srgbClr val="A7A774"/>
                </a:solidFill>
                <a:effectLst/>
                <a:latin typeface="Consolas" panose="020B0609020204030204" pitchFamily="49" charset="0"/>
              </a:rPr>
              <a:t>dot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v1 . v2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result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7" name="Table 3">
            <a:extLst>
              <a:ext uri="{FF2B5EF4-FFF2-40B4-BE49-F238E27FC236}">
                <a16:creationId xmlns:a16="http://schemas.microsoft.com/office/drawing/2014/main" id="{DB3FDDFB-C975-70FB-6E3D-B85FBA3743FE}"/>
              </a:ext>
            </a:extLst>
          </p:cNvPr>
          <p:cNvGraphicFramePr>
            <a:graphicFrameLocks noGrp="1"/>
          </p:cNvGraphicFramePr>
          <p:nvPr/>
        </p:nvGraphicFramePr>
        <p:xfrm>
          <a:off x="7770812" y="4973399"/>
          <a:ext cx="3986741" cy="1742440"/>
        </p:xfrm>
        <a:graphic>
          <a:graphicData uri="http://schemas.openxmlformats.org/drawingml/2006/table">
            <a:tbl>
              <a:tblPr firstRow="1" bandRow="1">
                <a:tableStyleId>{7DF18680-E054-41AD-8BC1-D1AEF772440D}</a:tableStyleId>
              </a:tblPr>
              <a:tblGrid>
                <a:gridCol w="3986741">
                  <a:extLst>
                    <a:ext uri="{9D8B030D-6E8A-4147-A177-3AD203B41FA5}">
                      <a16:colId xmlns:a16="http://schemas.microsoft.com/office/drawing/2014/main" val="3899577134"/>
                    </a:ext>
                  </a:extLst>
                </a:gridCol>
              </a:tblGrid>
              <a:tr h="370840">
                <a:tc>
                  <a:txBody>
                    <a:bodyPr/>
                    <a:lstStyle/>
                    <a:p>
                      <a:r>
                        <a:rPr lang="en-US" dirty="0"/>
                        <a:t>Error</a:t>
                      </a:r>
                    </a:p>
                  </a:txBody>
                  <a:tcPr/>
                </a:tc>
                <a:extLst>
                  <a:ext uri="{0D108BD9-81ED-4DB2-BD59-A6C34878D82A}">
                    <a16:rowId xmlns:a16="http://schemas.microsoft.com/office/drawing/2014/main" val="117988312"/>
                  </a:ext>
                </a:extLst>
              </a:tr>
              <a:tr h="370840">
                <a:tc>
                  <a:txBody>
                    <a:bodyPr/>
                    <a:lstStyle/>
                    <a:p>
                      <a:r>
                        <a:rPr lang="en-US" sz="1400" dirty="0"/>
                        <a:t>Traceback (most recent call last):</a:t>
                      </a:r>
                    </a:p>
                    <a:p>
                      <a:r>
                        <a:rPr lang="en-US" sz="1400" dirty="0"/>
                        <a:t>  File "e:\Lucru\RN\teste\a.py", line 5, in &lt;module&gt;</a:t>
                      </a:r>
                    </a:p>
                    <a:p>
                      <a:r>
                        <a:rPr lang="en-US" sz="1400" dirty="0"/>
                        <a:t>    result = v1.dot(v2)</a:t>
                      </a:r>
                    </a:p>
                    <a:p>
                      <a:r>
                        <a:rPr lang="en-US" sz="1400" b="1" dirty="0" err="1"/>
                        <a:t>RuntimeError</a:t>
                      </a:r>
                      <a:r>
                        <a:rPr lang="en-US" sz="1400" b="1" dirty="0"/>
                        <a:t>: 1D tensors expected, but got 1D and 2D tensors</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531563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410200"/>
          </a:xfrm>
        </p:spPr>
        <p:txBody>
          <a:bodyPr/>
          <a:lstStyle/>
          <a:p>
            <a:r>
              <a:rPr lang="en-US" dirty="0">
                <a:latin typeface="Arial" panose="020B0604020202020204" pitchFamily="34" charset="0"/>
                <a:cs typeface="Arial" panose="020B0604020202020204" pitchFamily="34" charset="0"/>
              </a:rPr>
              <a:t>We can multiply two matrixes using </a:t>
            </a:r>
            <a:r>
              <a:rPr lang="en-US" dirty="0">
                <a:highlight>
                  <a:srgbClr val="00FF00"/>
                </a:highlight>
                <a:latin typeface="Arial" panose="020B0604020202020204" pitchFamily="34" charset="0"/>
                <a:cs typeface="Arial" panose="020B0604020202020204" pitchFamily="34" charset="0"/>
              </a:rPr>
              <a:t>torch.mm(M</a:t>
            </a:r>
            <a:r>
              <a:rPr lang="en-US" baseline="-25000" dirty="0">
                <a:highlight>
                  <a:srgbClr val="00FF00"/>
                </a:highlight>
                <a:latin typeface="Arial" panose="020B0604020202020204" pitchFamily="34" charset="0"/>
                <a:cs typeface="Arial" panose="020B0604020202020204" pitchFamily="34" charset="0"/>
              </a:rPr>
              <a:t>1</a:t>
            </a:r>
            <a:r>
              <a:rPr lang="en-US" dirty="0">
                <a:highlight>
                  <a:srgbClr val="00FF00"/>
                </a:highlight>
                <a:latin typeface="Arial" panose="020B0604020202020204" pitchFamily="34" charset="0"/>
                <a:cs typeface="Arial" panose="020B0604020202020204" pitchFamily="34" charset="0"/>
              </a:rPr>
              <a:t>,M</a:t>
            </a:r>
            <a:r>
              <a:rPr lang="en-US" baseline="-25000" dirty="0">
                <a:highlight>
                  <a:srgbClr val="00FF00"/>
                </a:highlight>
                <a:latin typeface="Arial" panose="020B0604020202020204" pitchFamily="34" charset="0"/>
                <a:cs typeface="Arial" panose="020B0604020202020204" pitchFamily="34" charset="0"/>
              </a:rPr>
              <a:t>2</a:t>
            </a:r>
            <a:r>
              <a:rPr lang="en-US" dirty="0">
                <a:highlight>
                  <a:srgbClr val="00FF0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method (mm stands for </a:t>
            </a:r>
            <a:r>
              <a:rPr lang="en-US" b="1" u="sng" dirty="0">
                <a:latin typeface="Arial" panose="020B0604020202020204" pitchFamily="34" charset="0"/>
                <a:cs typeface="Arial" panose="020B0604020202020204" pitchFamily="34" charset="0"/>
              </a:rPr>
              <a:t>m</a:t>
            </a:r>
            <a:r>
              <a:rPr lang="en-US" dirty="0">
                <a:latin typeface="Arial" panose="020B0604020202020204" pitchFamily="34" charset="0"/>
                <a:cs typeface="Arial" panose="020B0604020202020204" pitchFamily="34" charset="0"/>
              </a:rPr>
              <a:t>atrix </a:t>
            </a:r>
            <a:r>
              <a:rPr lang="en-US" b="1" u="sng" dirty="0">
                <a:latin typeface="Arial" panose="020B0604020202020204" pitchFamily="34" charset="0"/>
                <a:cs typeface="Arial" panose="020B0604020202020204" pitchFamily="34" charset="0"/>
              </a:rPr>
              <a:t>m</a:t>
            </a:r>
            <a:r>
              <a:rPr lang="en-US" dirty="0">
                <a:latin typeface="Arial" panose="020B0604020202020204" pitchFamily="34" charset="0"/>
                <a:cs typeface="Arial" panose="020B0604020202020204" pitchFamily="34" charset="0"/>
              </a:rPr>
              <a:t>ultiplication). Its important to highlight that both parameters M</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and M</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must be matrixes – bi-dimensional arrays). </a:t>
            </a:r>
          </a:p>
        </p:txBody>
      </p:sp>
      <p:sp>
        <p:nvSpPr>
          <p:cNvPr id="4" name="Rectangle 3">
            <a:extLst>
              <a:ext uri="{FF2B5EF4-FFF2-40B4-BE49-F238E27FC236}">
                <a16:creationId xmlns:a16="http://schemas.microsoft.com/office/drawing/2014/main" id="{974A8BF3-CCBB-0D1C-B597-1A64808E294C}"/>
              </a:ext>
            </a:extLst>
          </p:cNvPr>
          <p:cNvSpPr/>
          <p:nvPr/>
        </p:nvSpPr>
        <p:spPr>
          <a:xfrm>
            <a:off x="1965011" y="3352800"/>
            <a:ext cx="9144000" cy="180082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dirty="0">
                <a:solidFill>
                  <a:srgbClr val="229977"/>
                </a:solidFill>
                <a:latin typeface="Consolas" panose="020B0609020204030204" pitchFamily="49" charset="0"/>
              </a:rPr>
              <a:t>m</a:t>
            </a:r>
            <a:r>
              <a:rPr lang="en-US" b="0" dirty="0">
                <a:solidFill>
                  <a:srgbClr val="229977"/>
                </a:solidFill>
                <a:effectLst/>
                <a:latin typeface="Consolas" panose="020B0609020204030204" pitchFamily="49" charset="0"/>
              </a:rPr>
              <a:t>1</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dirty="0">
                <a:solidFill>
                  <a:srgbClr val="229977"/>
                </a:solidFill>
                <a:latin typeface="Consolas" panose="020B0609020204030204" pitchFamily="49" charset="0"/>
              </a:rPr>
              <a:t>m</a:t>
            </a:r>
            <a:r>
              <a:rPr lang="en-US" b="0" dirty="0">
                <a:solidFill>
                  <a:srgbClr val="229977"/>
                </a:solidFill>
                <a:effectLst/>
                <a:latin typeface="Consolas" panose="020B0609020204030204" pitchFamily="49" charset="0"/>
              </a:rPr>
              <a:t>2</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result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r>
              <a:rPr lang="en-US" b="0" dirty="0">
                <a:solidFill>
                  <a:srgbClr val="B4B4B4"/>
                </a:solidFill>
                <a:effectLst/>
                <a:latin typeface="Consolas" panose="020B0609020204030204" pitchFamily="49" charset="0"/>
              </a:rPr>
              <a:t>.</a:t>
            </a:r>
            <a:r>
              <a:rPr lang="en-US" b="0" dirty="0">
                <a:solidFill>
                  <a:srgbClr val="A7A774"/>
                </a:solidFill>
                <a:effectLst/>
                <a:latin typeface="Consolas" panose="020B0609020204030204" pitchFamily="49" charset="0"/>
              </a:rPr>
              <a:t>mm</a:t>
            </a:r>
            <a:r>
              <a:rPr lang="en-US" b="0" dirty="0">
                <a:solidFill>
                  <a:srgbClr val="B4B4B4"/>
                </a:solidFill>
                <a:effectLst/>
                <a:latin typeface="Consolas" panose="020B0609020204030204" pitchFamily="49" charset="0"/>
              </a:rPr>
              <a:t>(</a:t>
            </a:r>
            <a:r>
              <a:rPr lang="en-US" dirty="0">
                <a:solidFill>
                  <a:srgbClr val="229977"/>
                </a:solidFill>
                <a:latin typeface="Consolas" panose="020B0609020204030204" pitchFamily="49" charset="0"/>
              </a:rPr>
              <a:t>m</a:t>
            </a:r>
            <a:r>
              <a:rPr lang="en-US" b="0" dirty="0">
                <a:solidFill>
                  <a:srgbClr val="229977"/>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dirty="0">
                <a:solidFill>
                  <a:srgbClr val="229977"/>
                </a:solidFill>
                <a:latin typeface="Consolas" panose="020B0609020204030204" pitchFamily="49" charset="0"/>
              </a:rPr>
              <a:t>m</a:t>
            </a:r>
            <a:r>
              <a:rPr lang="en-US" b="0" dirty="0">
                <a:solidFill>
                  <a:srgbClr val="229977"/>
                </a:solidFill>
                <a:effectLst/>
                <a:latin typeface="Consolas" panose="020B0609020204030204" pitchFamily="49" charset="0"/>
              </a:rPr>
              <a:t>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dirty="0">
                <a:solidFill>
                  <a:srgbClr val="E68A8A"/>
                </a:solidFill>
                <a:latin typeface="Consolas" panose="020B0609020204030204" pitchFamily="49" charset="0"/>
              </a:rPr>
              <a:t>m</a:t>
            </a:r>
            <a:r>
              <a:rPr lang="en-US" b="0" dirty="0">
                <a:solidFill>
                  <a:srgbClr val="E68A8A"/>
                </a:solidFill>
                <a:effectLst/>
                <a:latin typeface="Consolas" panose="020B0609020204030204" pitchFamily="49" charset="0"/>
              </a:rPr>
              <a:t>1 x m2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result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extLst>
              <p:ext uri="{D42A27DB-BD31-4B8C-83A1-F6EECF244321}">
                <p14:modId xmlns:p14="http://schemas.microsoft.com/office/powerpoint/2010/main" val="1042311942"/>
              </p:ext>
            </p:extLst>
          </p:nvPr>
        </p:nvGraphicFramePr>
        <p:xfrm>
          <a:off x="7313612" y="3170237"/>
          <a:ext cx="4146381" cy="675640"/>
        </p:xfrm>
        <a:graphic>
          <a:graphicData uri="http://schemas.openxmlformats.org/drawingml/2006/table">
            <a:tbl>
              <a:tblPr firstRow="1" bandRow="1">
                <a:tableStyleId>{073A0DAA-6AF3-43AB-8588-CEC1D06C72B9}</a:tableStyleId>
              </a:tblPr>
              <a:tblGrid>
                <a:gridCol w="4146381">
                  <a:extLst>
                    <a:ext uri="{9D8B030D-6E8A-4147-A177-3AD203B41FA5}">
                      <a16:colId xmlns:a16="http://schemas.microsoft.com/office/drawing/2014/main" val="3899577134"/>
                    </a:ext>
                  </a:extLst>
                </a:gridCol>
              </a:tblGrid>
              <a:tr h="0">
                <a:tc>
                  <a:txBody>
                    <a:bodyPr/>
                    <a:lstStyle/>
                    <a:p>
                      <a:r>
                        <a:rPr lang="en-US" dirty="0"/>
                        <a:t>Output</a:t>
                      </a:r>
                    </a:p>
                  </a:txBody>
                  <a:tcPr/>
                </a:tc>
                <a:extLst>
                  <a:ext uri="{0D108BD9-81ED-4DB2-BD59-A6C34878D82A}">
                    <a16:rowId xmlns:a16="http://schemas.microsoft.com/office/drawing/2014/main" val="117988312"/>
                  </a:ext>
                </a:extLst>
              </a:tr>
              <a:tr h="370840">
                <a:tc>
                  <a:txBody>
                    <a:bodyPr/>
                    <a:lstStyle/>
                    <a:p>
                      <a:r>
                        <a:rPr lang="de-DE" dirty="0">
                          <a:solidFill>
                            <a:schemeClr val="tx2"/>
                          </a:solidFill>
                          <a:latin typeface="Consolas" panose="020B0609020204030204" pitchFamily="49" charset="0"/>
                        </a:rPr>
                        <a:t>m1 x m2 =  </a:t>
                      </a:r>
                      <a:r>
                        <a:rPr lang="de-DE" dirty="0" err="1">
                          <a:solidFill>
                            <a:schemeClr val="tx2"/>
                          </a:solidFill>
                          <a:latin typeface="Consolas" panose="020B0609020204030204" pitchFamily="49" charset="0"/>
                        </a:rPr>
                        <a:t>tensor</a:t>
                      </a:r>
                      <a:r>
                        <a:rPr lang="de-DE" dirty="0">
                          <a:solidFill>
                            <a:schemeClr val="tx2"/>
                          </a:solidFill>
                          <a:latin typeface="Consolas" panose="020B0609020204030204" pitchFamily="49" charset="0"/>
                        </a:rPr>
                        <a:t>([[ 85, 118]])</a:t>
                      </a:r>
                      <a:endParaRPr lang="en-US" dirty="0">
                        <a:solidFill>
                          <a:schemeClr val="tx2"/>
                        </a:solidFill>
                        <a:latin typeface="Consolas" panose="020B0609020204030204" pitchFamily="49" charset="0"/>
                      </a:endParaRPr>
                    </a:p>
                  </a:txBody>
                  <a:tcPr/>
                </a:tc>
                <a:extLst>
                  <a:ext uri="{0D108BD9-81ED-4DB2-BD59-A6C34878D82A}">
                    <a16:rowId xmlns:a16="http://schemas.microsoft.com/office/drawing/2014/main" val="4231599274"/>
                  </a:ext>
                </a:extLst>
              </a:tr>
            </a:tbl>
          </a:graphicData>
        </a:graphic>
      </p:graphicFrame>
      <p:sp>
        <p:nvSpPr>
          <p:cNvPr id="9" name="TextBox 8">
            <a:extLst>
              <a:ext uri="{FF2B5EF4-FFF2-40B4-BE49-F238E27FC236}">
                <a16:creationId xmlns:a16="http://schemas.microsoft.com/office/drawing/2014/main" id="{8A5B4C15-62EA-14EA-F093-AF5CD0B4434C}"/>
              </a:ext>
            </a:extLst>
          </p:cNvPr>
          <p:cNvSpPr txBox="1"/>
          <p:nvPr/>
        </p:nvSpPr>
        <p:spPr>
          <a:xfrm>
            <a:off x="1965010" y="5444588"/>
            <a:ext cx="9143999" cy="707886"/>
          </a:xfrm>
          <a:prstGeom prst="rect">
            <a:avLst/>
          </a:prstGeom>
          <a:noFill/>
        </p:spPr>
        <p:txBody>
          <a:bodyPr wrap="square">
            <a:spAutoFit/>
          </a:bodyPr>
          <a:lstStyle/>
          <a:p>
            <a:r>
              <a:rPr lang="en-US" sz="2000" dirty="0">
                <a:solidFill>
                  <a:schemeClr val="bg1"/>
                </a:solidFill>
                <a:latin typeface="Arial" panose="020B0604020202020204" pitchFamily="34" charset="0"/>
                <a:cs typeface="Arial" panose="020B0604020202020204" pitchFamily="34" charset="0"/>
              </a:rPr>
              <a:t>There is also a similar operation, for 3d tensors, called </a:t>
            </a:r>
            <a:r>
              <a:rPr lang="en-US" sz="2000" dirty="0" err="1">
                <a:solidFill>
                  <a:schemeClr val="bg1"/>
                </a:solidFill>
                <a:latin typeface="Arial" panose="020B0604020202020204" pitchFamily="34" charset="0"/>
                <a:cs typeface="Arial" panose="020B0604020202020204" pitchFamily="34" charset="0"/>
              </a:rPr>
              <a:t>bmm</a:t>
            </a:r>
            <a:r>
              <a:rPr lang="en-US" sz="2000" dirty="0">
                <a:solidFill>
                  <a:schemeClr val="bg1"/>
                </a:solidFill>
                <a:latin typeface="Arial" panose="020B0604020202020204" pitchFamily="34" charset="0"/>
                <a:cs typeface="Arial" panose="020B0604020202020204" pitchFamily="34" charset="0"/>
              </a:rPr>
              <a:t>. (batch matrix </a:t>
            </a:r>
            <a:r>
              <a:rPr lang="en-US" sz="2000" dirty="0" err="1">
                <a:solidFill>
                  <a:schemeClr val="bg1"/>
                </a:solidFill>
                <a:latin typeface="Arial" panose="020B0604020202020204" pitchFamily="34" charset="0"/>
                <a:cs typeface="Arial" panose="020B0604020202020204" pitchFamily="34" charset="0"/>
              </a:rPr>
              <a:t>multiplicaton</a:t>
            </a:r>
            <a:r>
              <a:rPr lang="en-US" sz="2000" dirty="0">
                <a:solidFill>
                  <a:schemeClr val="bg1"/>
                </a:solidFill>
                <a:latin typeface="Arial" panose="020B0604020202020204" pitchFamily="34" charset="0"/>
                <a:cs typeface="Arial" panose="020B0604020202020204" pitchFamily="34" charset="0"/>
              </a:rPr>
              <a:t>)</a:t>
            </a:r>
            <a:endParaRPr lang="en-US" sz="2000" dirty="0">
              <a:solidFill>
                <a:schemeClr val="bg1"/>
              </a:solidFill>
            </a:endParaRPr>
          </a:p>
        </p:txBody>
      </p:sp>
    </p:spTree>
    <p:extLst>
      <p:ext uri="{BB962C8B-B14F-4D97-AF65-F5344CB8AC3E}">
        <p14:creationId xmlns:p14="http://schemas.microsoft.com/office/powerpoint/2010/main" val="199519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1B2FA-02A3-DD04-6BBC-CDA9382E663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7C9CD03-D03F-C679-CD0C-343EC946BDDF}"/>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47A2F476-C22A-C828-25C7-B2C34540C0F8}"/>
              </a:ext>
            </a:extLst>
          </p:cNvPr>
          <p:cNvSpPr>
            <a:spLocks noGrp="1"/>
          </p:cNvSpPr>
          <p:nvPr>
            <p:ph idx="1"/>
          </p:nvPr>
        </p:nvSpPr>
        <p:spPr>
          <a:xfrm>
            <a:off x="1645611" y="1600200"/>
            <a:ext cx="9782801" cy="5410200"/>
          </a:xfrm>
        </p:spPr>
        <p:txBody>
          <a:bodyPr/>
          <a:lstStyle/>
          <a:p>
            <a:r>
              <a:rPr lang="en-US" dirty="0">
                <a:latin typeface="Arial" panose="020B0604020202020204" pitchFamily="34" charset="0"/>
                <a:cs typeface="Arial" panose="020B0604020202020204" pitchFamily="34" charset="0"/>
              </a:rPr>
              <a:t>If M1 and M2 have more than 2 dimensions, we need to use </a:t>
            </a:r>
            <a:r>
              <a:rPr lang="en-US" dirty="0" err="1">
                <a:highlight>
                  <a:srgbClr val="00FF00"/>
                </a:highlight>
                <a:latin typeface="Arial" panose="020B0604020202020204" pitchFamily="34" charset="0"/>
                <a:cs typeface="Arial" panose="020B0604020202020204" pitchFamily="34" charset="0"/>
              </a:rPr>
              <a:t>torch.bmm</a:t>
            </a:r>
            <a:r>
              <a:rPr lang="en-US" dirty="0">
                <a:highlight>
                  <a:srgbClr val="00FF00"/>
                </a:highlight>
                <a:latin typeface="Arial" panose="020B0604020202020204" pitchFamily="34" charset="0"/>
                <a:cs typeface="Arial" panose="020B0604020202020204" pitchFamily="34" charset="0"/>
              </a:rPr>
              <a:t>(M</a:t>
            </a:r>
            <a:r>
              <a:rPr lang="en-US" baseline="-25000" dirty="0">
                <a:highlight>
                  <a:srgbClr val="00FF00"/>
                </a:highlight>
                <a:latin typeface="Arial" panose="020B0604020202020204" pitchFamily="34" charset="0"/>
                <a:cs typeface="Arial" panose="020B0604020202020204" pitchFamily="34" charset="0"/>
              </a:rPr>
              <a:t>1</a:t>
            </a:r>
            <a:r>
              <a:rPr lang="en-US" dirty="0">
                <a:highlight>
                  <a:srgbClr val="00FF00"/>
                </a:highlight>
                <a:latin typeface="Arial" panose="020B0604020202020204" pitchFamily="34" charset="0"/>
                <a:cs typeface="Arial" panose="020B0604020202020204" pitchFamily="34" charset="0"/>
              </a:rPr>
              <a:t>,M</a:t>
            </a:r>
            <a:r>
              <a:rPr lang="en-US" baseline="-25000" dirty="0">
                <a:highlight>
                  <a:srgbClr val="00FF00"/>
                </a:highlight>
                <a:latin typeface="Arial" panose="020B0604020202020204" pitchFamily="34" charset="0"/>
                <a:cs typeface="Arial" panose="020B0604020202020204" pitchFamily="34" charset="0"/>
              </a:rPr>
              <a:t>2</a:t>
            </a:r>
            <a:r>
              <a:rPr lang="en-US" dirty="0">
                <a:highlight>
                  <a:srgbClr val="00FF0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method (</a:t>
            </a:r>
            <a:r>
              <a:rPr lang="en-US" dirty="0" err="1">
                <a:latin typeface="Arial" panose="020B0604020202020204" pitchFamily="34" charset="0"/>
                <a:cs typeface="Arial" panose="020B0604020202020204" pitchFamily="34" charset="0"/>
              </a:rPr>
              <a:t>bmm</a:t>
            </a:r>
            <a:r>
              <a:rPr lang="en-US" dirty="0">
                <a:latin typeface="Arial" panose="020B0604020202020204" pitchFamily="34" charset="0"/>
                <a:cs typeface="Arial" panose="020B0604020202020204" pitchFamily="34" charset="0"/>
              </a:rPr>
              <a:t> stands for batch </a:t>
            </a:r>
            <a:r>
              <a:rPr lang="en-US" b="1" u="sng" dirty="0">
                <a:latin typeface="Arial" panose="020B0604020202020204" pitchFamily="34" charset="0"/>
                <a:cs typeface="Arial" panose="020B0604020202020204" pitchFamily="34" charset="0"/>
              </a:rPr>
              <a:t>m</a:t>
            </a:r>
            <a:r>
              <a:rPr lang="en-US" dirty="0">
                <a:latin typeface="Arial" panose="020B0604020202020204" pitchFamily="34" charset="0"/>
                <a:cs typeface="Arial" panose="020B0604020202020204" pitchFamily="34" charset="0"/>
              </a:rPr>
              <a:t>atrix </a:t>
            </a:r>
            <a:r>
              <a:rPr lang="en-US" b="1" u="sng" dirty="0">
                <a:latin typeface="Arial" panose="020B0604020202020204" pitchFamily="34" charset="0"/>
                <a:cs typeface="Arial" panose="020B0604020202020204" pitchFamily="34" charset="0"/>
              </a:rPr>
              <a:t>m</a:t>
            </a:r>
            <a:r>
              <a:rPr lang="en-US" dirty="0">
                <a:latin typeface="Arial" panose="020B0604020202020204" pitchFamily="34" charset="0"/>
                <a:cs typeface="Arial" panose="020B0604020202020204" pitchFamily="34" charset="0"/>
              </a:rPr>
              <a:t>ultiplication). </a:t>
            </a:r>
          </a:p>
        </p:txBody>
      </p:sp>
      <p:sp>
        <p:nvSpPr>
          <p:cNvPr id="4" name="Rectangle 3">
            <a:extLst>
              <a:ext uri="{FF2B5EF4-FFF2-40B4-BE49-F238E27FC236}">
                <a16:creationId xmlns:a16="http://schemas.microsoft.com/office/drawing/2014/main" id="{474E18E7-1271-7D1F-A284-85328E016E5E}"/>
              </a:ext>
            </a:extLst>
          </p:cNvPr>
          <p:cNvSpPr/>
          <p:nvPr/>
        </p:nvSpPr>
        <p:spPr>
          <a:xfrm>
            <a:off x="1965011" y="3352800"/>
            <a:ext cx="5719157" cy="237423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endParaRPr lang="en-US" b="0" dirty="0">
              <a:solidFill>
                <a:srgbClr val="DADADA"/>
              </a:solidFill>
              <a:effectLst/>
              <a:latin typeface="Consolas" panose="020B0609020204030204" pitchFamily="49" charset="0"/>
            </a:endParaRPr>
          </a:p>
          <a:p>
            <a:pPr>
              <a:lnSpc>
                <a:spcPts val="1725"/>
              </a:lnSpc>
              <a:spcAft>
                <a:spcPts val="800"/>
              </a:spcAft>
            </a:pPr>
            <a:br>
              <a:rPr lang="en-US" b="0" dirty="0">
                <a:solidFill>
                  <a:srgbClr val="DADADA"/>
                </a:solidFill>
                <a:effectLst/>
                <a:latin typeface="Consolas" panose="020B0609020204030204" pitchFamily="49" charset="0"/>
              </a:rPr>
            </a:br>
            <a:r>
              <a:rPr lang="fr-FR" dirty="0">
                <a:solidFill>
                  <a:srgbClr val="A7A774"/>
                </a:solidFill>
                <a:latin typeface="Consolas" panose="020B0609020204030204" pitchFamily="49" charset="0"/>
              </a:rPr>
              <a:t>#</a:t>
            </a:r>
            <a:r>
              <a:rPr lang="fr-FR" dirty="0" err="1">
                <a:solidFill>
                  <a:srgbClr val="A7A774"/>
                </a:solidFill>
                <a:latin typeface="Consolas" panose="020B0609020204030204" pitchFamily="49" charset="0"/>
              </a:rPr>
              <a:t>create</a:t>
            </a:r>
            <a:r>
              <a:rPr lang="fr-FR" dirty="0">
                <a:solidFill>
                  <a:srgbClr val="A7A774"/>
                </a:solidFill>
                <a:latin typeface="Consolas" panose="020B0609020204030204" pitchFamily="49" charset="0"/>
              </a:rPr>
              <a:t> a 4d </a:t>
            </a:r>
            <a:r>
              <a:rPr lang="fr-FR" dirty="0" err="1">
                <a:solidFill>
                  <a:srgbClr val="A7A774"/>
                </a:solidFill>
                <a:latin typeface="Consolas" panose="020B0609020204030204" pitchFamily="49" charset="0"/>
              </a:rPr>
              <a:t>tensor</a:t>
            </a:r>
            <a:r>
              <a:rPr lang="fr-FR" dirty="0">
                <a:solidFill>
                  <a:srgbClr val="A7A774"/>
                </a:solidFill>
                <a:latin typeface="Consolas" panose="020B0609020204030204" pitchFamily="49" charset="0"/>
              </a:rPr>
              <a:t> of </a:t>
            </a:r>
            <a:r>
              <a:rPr lang="fr-FR" dirty="0" err="1">
                <a:solidFill>
                  <a:srgbClr val="A7A774"/>
                </a:solidFill>
                <a:latin typeface="Consolas" panose="020B0609020204030204" pitchFamily="49" charset="0"/>
              </a:rPr>
              <a:t>shape</a:t>
            </a:r>
            <a:r>
              <a:rPr lang="fr-FR" dirty="0">
                <a:solidFill>
                  <a:srgbClr val="A7A774"/>
                </a:solidFill>
                <a:latin typeface="Consolas" panose="020B0609020204030204" pitchFamily="49" charset="0"/>
              </a:rPr>
              <a:t> (2,2,2,3)</a:t>
            </a:r>
            <a:br>
              <a:rPr lang="en-US" dirty="0">
                <a:solidFill>
                  <a:srgbClr val="DADADA"/>
                </a:solidFill>
                <a:latin typeface="Consolas" panose="020B0609020204030204" pitchFamily="49" charset="0"/>
              </a:rPr>
            </a:br>
            <a:r>
              <a:rPr lang="en-US" dirty="0">
                <a:solidFill>
                  <a:srgbClr val="9CDCFE"/>
                </a:solidFill>
                <a:latin typeface="Menlo" panose="020B0609030804020204" pitchFamily="49" charset="0"/>
                <a:ea typeface="Times New Roman" panose="02020603050405020304" pitchFamily="18" charset="0"/>
                <a:cs typeface="Times New Roman" panose="02020603050405020304" pitchFamily="18" charset="0"/>
              </a:rPr>
              <a:t>m1</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 </a:t>
            </a:r>
            <a:r>
              <a:rPr lang="en-US" dirty="0">
                <a:solidFill>
                  <a:srgbClr val="D4D4D4"/>
                </a:solidFill>
                <a:latin typeface="Menlo" panose="020B0609030804020204" pitchFamily="49" charset="0"/>
                <a:ea typeface="Times New Roman" panose="02020603050405020304" pitchFamily="18" charset="0"/>
                <a:cs typeface="Times New Roman" panose="02020603050405020304" pitchFamily="18" charset="0"/>
              </a:rPr>
              <a:t>=</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 </a:t>
            </a:r>
            <a:r>
              <a:rPr lang="en-US" dirty="0" err="1">
                <a:solidFill>
                  <a:srgbClr val="4EC9B0"/>
                </a:solidFill>
                <a:latin typeface="Menlo" panose="020B0609030804020204" pitchFamily="49" charset="0"/>
                <a:ea typeface="Times New Roman" panose="02020603050405020304" pitchFamily="18" charset="0"/>
                <a:cs typeface="Times New Roman" panose="02020603050405020304" pitchFamily="18" charset="0"/>
              </a:rPr>
              <a:t>torch</a:t>
            </a:r>
            <a:r>
              <a:rPr lang="en-US" dirty="0" err="1">
                <a:solidFill>
                  <a:srgbClr val="CCCCCC"/>
                </a:solidFill>
                <a:latin typeface="Menlo" panose="020B0609030804020204" pitchFamily="49" charset="0"/>
                <a:ea typeface="Times New Roman" panose="02020603050405020304" pitchFamily="18" charset="0"/>
                <a:cs typeface="Times New Roman" panose="02020603050405020304" pitchFamily="18" charset="0"/>
              </a:rPr>
              <a:t>.arange</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a:t>
            </a:r>
            <a:r>
              <a:rPr lang="en-US" dirty="0">
                <a:solidFill>
                  <a:srgbClr val="B5CEA8"/>
                </a:solidFill>
                <a:latin typeface="Menlo" panose="020B0609030804020204" pitchFamily="49" charset="0"/>
                <a:ea typeface="Times New Roman" panose="02020603050405020304" pitchFamily="18" charset="0"/>
                <a:cs typeface="Times New Roman" panose="02020603050405020304" pitchFamily="18" charset="0"/>
              </a:rPr>
              <a:t>1</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a:t>
            </a:r>
            <a:r>
              <a:rPr lang="en-US" dirty="0">
                <a:solidFill>
                  <a:srgbClr val="B5CEA8"/>
                </a:solidFill>
                <a:latin typeface="Menlo" panose="020B0609030804020204" pitchFamily="49" charset="0"/>
                <a:ea typeface="Times New Roman" panose="02020603050405020304" pitchFamily="18" charset="0"/>
                <a:cs typeface="Times New Roman" panose="02020603050405020304" pitchFamily="18" charset="0"/>
              </a:rPr>
              <a:t>2*2*2*3+1</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).view((2,</a:t>
            </a:r>
            <a:r>
              <a:rPr lang="en-US" dirty="0">
                <a:solidFill>
                  <a:srgbClr val="B5CEA8"/>
                </a:solidFill>
                <a:latin typeface="Menlo" panose="020B0609030804020204" pitchFamily="49" charset="0"/>
                <a:ea typeface="Times New Roman" panose="02020603050405020304" pitchFamily="18" charset="0"/>
                <a:cs typeface="Times New Roman" panose="02020603050405020304" pitchFamily="18" charset="0"/>
              </a:rPr>
              <a:t>2</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a:t>
            </a:r>
            <a:r>
              <a:rPr lang="en-US" dirty="0">
                <a:solidFill>
                  <a:srgbClr val="B5CEA8"/>
                </a:solidFill>
                <a:latin typeface="Menlo" panose="020B0609030804020204" pitchFamily="49" charset="0"/>
                <a:ea typeface="Times New Roman" panose="02020603050405020304" pitchFamily="18" charset="0"/>
                <a:cs typeface="Times New Roman" panose="02020603050405020304" pitchFamily="18" charset="0"/>
              </a:rPr>
              <a:t>2</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a:t>
            </a:r>
            <a:r>
              <a:rPr lang="en-US" dirty="0">
                <a:solidFill>
                  <a:srgbClr val="B5CEA8"/>
                </a:solidFill>
                <a:latin typeface="Menlo" panose="020B0609030804020204" pitchFamily="49" charset="0"/>
                <a:ea typeface="Times New Roman" panose="02020603050405020304" pitchFamily="18" charset="0"/>
                <a:cs typeface="Times New Roman" panose="02020603050405020304" pitchFamily="18" charset="0"/>
              </a:rPr>
              <a:t>3</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 </a:t>
            </a:r>
            <a:b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br>
            <a:b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br>
            <a:r>
              <a:rPr lang="fr-FR" dirty="0">
                <a:solidFill>
                  <a:srgbClr val="A7A774"/>
                </a:solidFill>
                <a:latin typeface="Consolas" panose="020B0609020204030204" pitchFamily="49" charset="0"/>
              </a:rPr>
              <a:t>#</a:t>
            </a:r>
            <a:r>
              <a:rPr lang="fr-FR" dirty="0" err="1">
                <a:solidFill>
                  <a:srgbClr val="A7A774"/>
                </a:solidFill>
                <a:latin typeface="Consolas" panose="020B0609020204030204" pitchFamily="49" charset="0"/>
              </a:rPr>
              <a:t>create</a:t>
            </a:r>
            <a:r>
              <a:rPr lang="fr-FR" dirty="0">
                <a:solidFill>
                  <a:srgbClr val="A7A774"/>
                </a:solidFill>
                <a:latin typeface="Consolas" panose="020B0609020204030204" pitchFamily="49" charset="0"/>
              </a:rPr>
              <a:t> a 4d </a:t>
            </a:r>
            <a:r>
              <a:rPr lang="fr-FR" dirty="0" err="1">
                <a:solidFill>
                  <a:srgbClr val="A7A774"/>
                </a:solidFill>
                <a:latin typeface="Consolas" panose="020B0609020204030204" pitchFamily="49" charset="0"/>
              </a:rPr>
              <a:t>tensor</a:t>
            </a:r>
            <a:r>
              <a:rPr lang="fr-FR" dirty="0">
                <a:solidFill>
                  <a:srgbClr val="A7A774"/>
                </a:solidFill>
                <a:latin typeface="Consolas" panose="020B0609020204030204" pitchFamily="49" charset="0"/>
              </a:rPr>
              <a:t> of </a:t>
            </a:r>
            <a:r>
              <a:rPr lang="fr-FR" dirty="0" err="1">
                <a:solidFill>
                  <a:srgbClr val="A7A774"/>
                </a:solidFill>
                <a:latin typeface="Consolas" panose="020B0609020204030204" pitchFamily="49" charset="0"/>
              </a:rPr>
              <a:t>shape</a:t>
            </a:r>
            <a:r>
              <a:rPr lang="fr-FR" dirty="0">
                <a:solidFill>
                  <a:srgbClr val="A7A774"/>
                </a:solidFill>
                <a:latin typeface="Consolas" panose="020B0609020204030204" pitchFamily="49" charset="0"/>
              </a:rPr>
              <a:t> (2,2,3,4)</a:t>
            </a:r>
            <a:br>
              <a:rPr lang="en-US" dirty="0">
                <a:solidFill>
                  <a:srgbClr val="CCCCCC"/>
                </a:solidFill>
                <a:latin typeface="Menlo" panose="020B0609030804020204" pitchFamily="49" charset="0"/>
                <a:cs typeface="Times New Roman" panose="02020603050405020304" pitchFamily="18" charset="0"/>
              </a:rPr>
            </a:br>
            <a:r>
              <a:rPr lang="en-US" dirty="0">
                <a:solidFill>
                  <a:srgbClr val="9CDCFE"/>
                </a:solidFill>
                <a:latin typeface="Menlo" panose="020B0609030804020204" pitchFamily="49" charset="0"/>
                <a:ea typeface="Times New Roman" panose="02020603050405020304" pitchFamily="18" charset="0"/>
                <a:cs typeface="Times New Roman" panose="02020603050405020304" pitchFamily="18" charset="0"/>
              </a:rPr>
              <a:t>m2</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 </a:t>
            </a:r>
            <a:r>
              <a:rPr lang="en-US" dirty="0">
                <a:solidFill>
                  <a:srgbClr val="D4D4D4"/>
                </a:solidFill>
                <a:latin typeface="Menlo" panose="020B0609030804020204" pitchFamily="49" charset="0"/>
                <a:ea typeface="Times New Roman" panose="02020603050405020304" pitchFamily="18" charset="0"/>
                <a:cs typeface="Times New Roman" panose="02020603050405020304" pitchFamily="18" charset="0"/>
              </a:rPr>
              <a:t>=</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 </a:t>
            </a:r>
            <a:r>
              <a:rPr lang="en-US" dirty="0" err="1">
                <a:solidFill>
                  <a:srgbClr val="4EC9B0"/>
                </a:solidFill>
                <a:latin typeface="Menlo" panose="020B0609030804020204" pitchFamily="49" charset="0"/>
                <a:ea typeface="Times New Roman" panose="02020603050405020304" pitchFamily="18" charset="0"/>
                <a:cs typeface="Times New Roman" panose="02020603050405020304" pitchFamily="18" charset="0"/>
              </a:rPr>
              <a:t>torch</a:t>
            </a:r>
            <a:r>
              <a:rPr lang="en-US" dirty="0" err="1">
                <a:solidFill>
                  <a:srgbClr val="CCCCCC"/>
                </a:solidFill>
                <a:latin typeface="Menlo" panose="020B0609030804020204" pitchFamily="49" charset="0"/>
                <a:ea typeface="Times New Roman" panose="02020603050405020304" pitchFamily="18" charset="0"/>
                <a:cs typeface="Times New Roman" panose="02020603050405020304" pitchFamily="18" charset="0"/>
              </a:rPr>
              <a:t>.arange</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a:t>
            </a:r>
            <a:r>
              <a:rPr lang="en-US" dirty="0">
                <a:solidFill>
                  <a:srgbClr val="B5CEA8"/>
                </a:solidFill>
                <a:latin typeface="Menlo" panose="020B0609030804020204" pitchFamily="49" charset="0"/>
                <a:ea typeface="Times New Roman" panose="02020603050405020304" pitchFamily="18" charset="0"/>
                <a:cs typeface="Times New Roman" panose="02020603050405020304" pitchFamily="18" charset="0"/>
              </a:rPr>
              <a:t>1</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,2*2*3</a:t>
            </a:r>
            <a:r>
              <a:rPr lang="en-US" dirty="0">
                <a:solidFill>
                  <a:srgbClr val="B5CEA8"/>
                </a:solidFill>
                <a:latin typeface="Menlo" panose="020B0609030804020204" pitchFamily="49" charset="0"/>
                <a:ea typeface="Times New Roman" panose="02020603050405020304" pitchFamily="18" charset="0"/>
                <a:cs typeface="Times New Roman" panose="02020603050405020304" pitchFamily="18" charset="0"/>
              </a:rPr>
              <a:t>*4+1</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).view((</a:t>
            </a:r>
            <a:r>
              <a:rPr lang="en-US" dirty="0">
                <a:solidFill>
                  <a:srgbClr val="B5CEA8"/>
                </a:solidFill>
                <a:latin typeface="Menlo" panose="020B0609030804020204" pitchFamily="49" charset="0"/>
                <a:ea typeface="Times New Roman" panose="02020603050405020304" pitchFamily="18" charset="0"/>
                <a:cs typeface="Times New Roman" panose="02020603050405020304" pitchFamily="18" charset="0"/>
              </a:rPr>
              <a:t>2,2</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a:t>
            </a:r>
            <a:r>
              <a:rPr lang="en-US" dirty="0">
                <a:solidFill>
                  <a:srgbClr val="B5CEA8"/>
                </a:solidFill>
                <a:latin typeface="Menlo" panose="020B0609030804020204" pitchFamily="49" charset="0"/>
                <a:ea typeface="Times New Roman" panose="02020603050405020304" pitchFamily="18" charset="0"/>
                <a:cs typeface="Times New Roman" panose="02020603050405020304" pitchFamily="18" charset="0"/>
              </a:rPr>
              <a:t>3</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a:t>
            </a:r>
            <a:r>
              <a:rPr lang="en-US" dirty="0">
                <a:solidFill>
                  <a:srgbClr val="B5CEA8"/>
                </a:solidFill>
                <a:latin typeface="Menlo" panose="020B0609030804020204" pitchFamily="49" charset="0"/>
                <a:ea typeface="Times New Roman" panose="02020603050405020304" pitchFamily="18" charset="0"/>
                <a:cs typeface="Times New Roman" panose="02020603050405020304" pitchFamily="18" charset="0"/>
              </a:rPr>
              <a:t>4</a:t>
            </a:r>
            <a:r>
              <a:rPr lang="en-US" dirty="0">
                <a:solidFill>
                  <a:srgbClr val="CCCCCC"/>
                </a:solidFill>
                <a:latin typeface="Menlo" panose="020B0609030804020204" pitchFamily="49" charset="0"/>
                <a:ea typeface="Times New Roman" panose="02020603050405020304" pitchFamily="18" charset="0"/>
                <a:cs typeface="Times New Roman" panose="02020603050405020304" pitchFamily="18" charset="0"/>
              </a:rPr>
              <a:t>))</a:t>
            </a:r>
            <a:r>
              <a:rPr lang="fr-FR" dirty="0">
                <a:solidFill>
                  <a:srgbClr val="A7A774"/>
                </a:solidFill>
                <a:latin typeface="Consolas" panose="020B0609020204030204" pitchFamily="49" charset="0"/>
              </a:rPr>
              <a:t> </a:t>
            </a:r>
            <a:br>
              <a:rPr lang="fr-FR" dirty="0">
                <a:solidFill>
                  <a:srgbClr val="A7A774"/>
                </a:solidFill>
                <a:latin typeface="Consolas" panose="020B0609020204030204" pitchFamily="49" charset="0"/>
              </a:rPr>
            </a:br>
            <a:br>
              <a:rPr lang="en-US" kern="100" dirty="0">
                <a:latin typeface="Aptos" panose="020B0004020202020204" pitchFamily="34" charset="0"/>
                <a:cs typeface="Times New Roman" panose="02020603050405020304" pitchFamily="18" charset="0"/>
              </a:rPr>
            </a:br>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dirty="0">
                <a:solidFill>
                  <a:srgbClr val="E68A8A"/>
                </a:solidFill>
                <a:latin typeface="Consolas" panose="020B0609020204030204" pitchFamily="49" charset="0"/>
              </a:rPr>
              <a:t>m</a:t>
            </a:r>
            <a:r>
              <a:rPr lang="en-US" b="0" dirty="0">
                <a:solidFill>
                  <a:srgbClr val="E68A8A"/>
                </a:solidFill>
                <a:effectLst/>
                <a:latin typeface="Consolas" panose="020B0609020204030204" pitchFamily="49" charset="0"/>
              </a:rPr>
              <a:t>1 x m2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dirty="0" err="1">
                <a:solidFill>
                  <a:srgbClr val="C8C8C8"/>
                </a:solidFill>
                <a:latin typeface="Consolas" panose="020B0609020204030204" pitchFamily="49" charset="0"/>
              </a:rPr>
              <a:t>torch</a:t>
            </a:r>
            <a:r>
              <a:rPr lang="en-US" dirty="0" err="1">
                <a:solidFill>
                  <a:srgbClr val="B4B4B4"/>
                </a:solidFill>
                <a:latin typeface="Consolas" panose="020B0609020204030204" pitchFamily="49" charset="0"/>
              </a:rPr>
              <a:t>.matmul</a:t>
            </a:r>
            <a:r>
              <a:rPr lang="en-US" dirty="0">
                <a:solidFill>
                  <a:srgbClr val="B4B4B4"/>
                </a:solidFill>
                <a:latin typeface="Consolas" panose="020B0609020204030204" pitchFamily="49" charset="0"/>
              </a:rPr>
              <a:t>(</a:t>
            </a:r>
            <a:r>
              <a:rPr lang="en-US" dirty="0">
                <a:solidFill>
                  <a:srgbClr val="229977"/>
                </a:solidFill>
                <a:latin typeface="Consolas" panose="020B0609020204030204" pitchFamily="49" charset="0"/>
              </a:rPr>
              <a:t>m1</a:t>
            </a:r>
            <a:r>
              <a:rPr lang="en-US" dirty="0">
                <a:solidFill>
                  <a:srgbClr val="B4B4B4"/>
                </a:solidFill>
                <a:latin typeface="Consolas" panose="020B0609020204030204" pitchFamily="49" charset="0"/>
              </a:rPr>
              <a:t>,</a:t>
            </a:r>
            <a:r>
              <a:rPr lang="en-US" dirty="0">
                <a:solidFill>
                  <a:srgbClr val="229977"/>
                </a:solidFill>
                <a:latin typeface="Consolas" panose="020B0609020204030204" pitchFamily="49" charset="0"/>
              </a:rPr>
              <a:t>m2</a:t>
            </a:r>
            <a:r>
              <a:rPr lang="en-US" dirty="0">
                <a:solidFill>
                  <a:srgbClr val="B4B4B4"/>
                </a:solidFill>
                <a:latin typeface="Consolas" panose="020B0609020204030204" pitchFamily="49" charset="0"/>
              </a:rPr>
              <a: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9" name="Table 3">
            <a:extLst>
              <a:ext uri="{FF2B5EF4-FFF2-40B4-BE49-F238E27FC236}">
                <a16:creationId xmlns:a16="http://schemas.microsoft.com/office/drawing/2014/main" id="{5D4149ED-A909-502A-5D73-EC61C8284E5C}"/>
              </a:ext>
            </a:extLst>
          </p:cNvPr>
          <p:cNvGraphicFramePr>
            <a:graphicFrameLocks noGrp="1"/>
          </p:cNvGraphicFramePr>
          <p:nvPr>
            <p:extLst>
              <p:ext uri="{D42A27DB-BD31-4B8C-83A1-F6EECF244321}">
                <p14:modId xmlns:p14="http://schemas.microsoft.com/office/powerpoint/2010/main" val="2138239150"/>
              </p:ext>
            </p:extLst>
          </p:nvPr>
        </p:nvGraphicFramePr>
        <p:xfrm>
          <a:off x="7860988" y="2560002"/>
          <a:ext cx="4146381" cy="4023360"/>
        </p:xfrm>
        <a:graphic>
          <a:graphicData uri="http://schemas.openxmlformats.org/drawingml/2006/table">
            <a:tbl>
              <a:tblPr firstRow="1" bandRow="1">
                <a:tableStyleId>{073A0DAA-6AF3-43AB-8588-CEC1D06C72B9}</a:tableStyleId>
              </a:tblPr>
              <a:tblGrid>
                <a:gridCol w="4146381">
                  <a:extLst>
                    <a:ext uri="{9D8B030D-6E8A-4147-A177-3AD203B41FA5}">
                      <a16:colId xmlns:a16="http://schemas.microsoft.com/office/drawing/2014/main" val="3899577134"/>
                    </a:ext>
                  </a:extLst>
                </a:gridCol>
              </a:tblGrid>
              <a:tr h="0">
                <a:tc>
                  <a:txBody>
                    <a:bodyPr/>
                    <a:lstStyle/>
                    <a:p>
                      <a:r>
                        <a:rPr lang="en-US" dirty="0">
                          <a:solidFill>
                            <a:schemeClr val="tx2"/>
                          </a:solidFill>
                        </a:rPr>
                        <a:t>Output</a:t>
                      </a:r>
                    </a:p>
                  </a:txBody>
                  <a:tcPr/>
                </a:tc>
                <a:extLst>
                  <a:ext uri="{0D108BD9-81ED-4DB2-BD59-A6C34878D82A}">
                    <a16:rowId xmlns:a16="http://schemas.microsoft.com/office/drawing/2014/main" val="117988312"/>
                  </a:ext>
                </a:extLst>
              </a:tr>
              <a:tr h="370840">
                <a:tc>
                  <a:txBody>
                    <a:bodyPr/>
                    <a:lstStyle/>
                    <a:p>
                      <a:r>
                        <a:rPr lang="de-DE" dirty="0">
                          <a:solidFill>
                            <a:schemeClr val="tx2"/>
                          </a:solidFill>
                          <a:latin typeface="Consolas" panose="020B0609020204030204" pitchFamily="49" charset="0"/>
                        </a:rPr>
                        <a:t>m1 x m2 =  t</a:t>
                      </a:r>
                      <a:r>
                        <a:rPr lang="en-US" sz="1400" b="0" i="0" u="none" strike="noStrike" cap="none" dirty="0" err="1">
                          <a:solidFill>
                            <a:schemeClr val="tx2"/>
                          </a:solidFill>
                          <a:effectLst/>
                          <a:latin typeface="+mn-lt"/>
                          <a:ea typeface="+mn-ea"/>
                          <a:cs typeface="+mn-cs"/>
                          <a:sym typeface="Arial"/>
                        </a:rPr>
                        <a:t>ensor</a:t>
                      </a:r>
                      <a:r>
                        <a:rPr lang="en-US" sz="1400" b="0" i="0" u="none" strike="noStrike" cap="none" dirty="0">
                          <a:solidFill>
                            <a:schemeClr val="tx2"/>
                          </a:solidFill>
                          <a:effectLst/>
                          <a:latin typeface="+mn-lt"/>
                          <a:ea typeface="+mn-ea"/>
                          <a:cs typeface="+mn-cs"/>
                          <a:sym typeface="Arial"/>
                        </a:rPr>
                        <a:t>([[[[  38,   44,   50,   56],</a:t>
                      </a:r>
                    </a:p>
                    <a:p>
                      <a:r>
                        <a:rPr lang="en-US" sz="1400" b="0" i="0" u="none" strike="noStrike" cap="none" dirty="0">
                          <a:solidFill>
                            <a:schemeClr val="tx2"/>
                          </a:solidFill>
                          <a:effectLst/>
                          <a:latin typeface="+mn-lt"/>
                          <a:ea typeface="+mn-ea"/>
                          <a:cs typeface="+mn-cs"/>
                          <a:sym typeface="Arial"/>
                        </a:rPr>
                        <a:t>          [  83,   98,  113,  128]],</a:t>
                      </a:r>
                    </a:p>
                    <a:p>
                      <a:br>
                        <a:rPr lang="en-US" sz="1400" b="0" i="0" u="none" strike="noStrike" cap="none" dirty="0">
                          <a:solidFill>
                            <a:schemeClr val="tx2"/>
                          </a:solidFill>
                          <a:effectLst/>
                          <a:latin typeface="+mn-lt"/>
                          <a:ea typeface="+mn-ea"/>
                          <a:cs typeface="+mn-cs"/>
                          <a:sym typeface="Arial"/>
                        </a:rPr>
                      </a:br>
                      <a:endParaRPr lang="en-US" sz="1400" b="0" i="0" u="none" strike="noStrike" cap="none" dirty="0">
                        <a:solidFill>
                          <a:schemeClr val="tx2"/>
                        </a:solidFill>
                        <a:effectLst/>
                        <a:latin typeface="+mn-lt"/>
                        <a:ea typeface="+mn-ea"/>
                        <a:cs typeface="+mn-cs"/>
                        <a:sym typeface="Arial"/>
                      </a:endParaRPr>
                    </a:p>
                    <a:p>
                      <a:r>
                        <a:rPr lang="en-US" sz="1400" b="0" i="0" u="none" strike="noStrike" cap="none" dirty="0">
                          <a:solidFill>
                            <a:schemeClr val="tx2"/>
                          </a:solidFill>
                          <a:effectLst/>
                          <a:latin typeface="+mn-lt"/>
                          <a:ea typeface="+mn-ea"/>
                          <a:cs typeface="+mn-cs"/>
                          <a:sym typeface="Arial"/>
                        </a:rPr>
                        <a:t>         [[ 416,  440,  464,  488],</a:t>
                      </a:r>
                    </a:p>
                    <a:p>
                      <a:r>
                        <a:rPr lang="en-US" sz="1400" b="0" i="0" u="none" strike="noStrike" cap="none" dirty="0">
                          <a:solidFill>
                            <a:schemeClr val="tx2"/>
                          </a:solidFill>
                          <a:effectLst/>
                          <a:latin typeface="+mn-lt"/>
                          <a:ea typeface="+mn-ea"/>
                          <a:cs typeface="+mn-cs"/>
                          <a:sym typeface="Arial"/>
                        </a:rPr>
                        <a:t>          [ 569,  602,  635,  668]]],</a:t>
                      </a:r>
                    </a:p>
                    <a:p>
                      <a:br>
                        <a:rPr lang="en-US" sz="1400" b="0" i="0" u="none" strike="noStrike" cap="none" dirty="0">
                          <a:solidFill>
                            <a:schemeClr val="tx2"/>
                          </a:solidFill>
                          <a:effectLst/>
                          <a:latin typeface="+mn-lt"/>
                          <a:ea typeface="+mn-ea"/>
                          <a:cs typeface="+mn-cs"/>
                          <a:sym typeface="Arial"/>
                        </a:rPr>
                      </a:br>
                      <a:endParaRPr lang="en-US" sz="1400" b="0" i="0" u="none" strike="noStrike" cap="none" dirty="0">
                        <a:solidFill>
                          <a:schemeClr val="tx2"/>
                        </a:solidFill>
                        <a:effectLst/>
                        <a:latin typeface="+mn-lt"/>
                        <a:ea typeface="+mn-ea"/>
                        <a:cs typeface="+mn-cs"/>
                        <a:sym typeface="Arial"/>
                      </a:endParaRPr>
                    </a:p>
                    <a:p>
                      <a:br>
                        <a:rPr lang="en-US" sz="1400" b="0" i="0" u="none" strike="noStrike" cap="none" dirty="0">
                          <a:solidFill>
                            <a:schemeClr val="tx2"/>
                          </a:solidFill>
                          <a:effectLst/>
                          <a:latin typeface="+mn-lt"/>
                          <a:ea typeface="+mn-ea"/>
                          <a:cs typeface="+mn-cs"/>
                          <a:sym typeface="Arial"/>
                        </a:rPr>
                      </a:br>
                      <a:endParaRPr lang="en-US" sz="1400" b="0" i="0" u="none" strike="noStrike" cap="none" dirty="0">
                        <a:solidFill>
                          <a:schemeClr val="tx2"/>
                        </a:solidFill>
                        <a:effectLst/>
                        <a:latin typeface="+mn-lt"/>
                        <a:ea typeface="+mn-ea"/>
                        <a:cs typeface="+mn-cs"/>
                        <a:sym typeface="Arial"/>
                      </a:endParaRPr>
                    </a:p>
                    <a:p>
                      <a:r>
                        <a:rPr lang="en-US" sz="1400" b="0" i="0" u="none" strike="noStrike" cap="none" dirty="0">
                          <a:solidFill>
                            <a:schemeClr val="tx2"/>
                          </a:solidFill>
                          <a:effectLst/>
                          <a:latin typeface="+mn-lt"/>
                          <a:ea typeface="+mn-ea"/>
                          <a:cs typeface="+mn-cs"/>
                          <a:sym typeface="Arial"/>
                        </a:rPr>
                        <a:t>        [[[1226, 1268, 1310, 1352],</a:t>
                      </a:r>
                    </a:p>
                    <a:p>
                      <a:r>
                        <a:rPr lang="en-US" sz="1400" b="0" i="0" u="none" strike="noStrike" cap="none" dirty="0">
                          <a:solidFill>
                            <a:schemeClr val="tx2"/>
                          </a:solidFill>
                          <a:effectLst/>
                          <a:latin typeface="+mn-lt"/>
                          <a:ea typeface="+mn-ea"/>
                          <a:cs typeface="+mn-cs"/>
                          <a:sym typeface="Arial"/>
                        </a:rPr>
                        <a:t>          [1487, 1538, 1589, 1640]],</a:t>
                      </a:r>
                    </a:p>
                    <a:p>
                      <a:br>
                        <a:rPr lang="en-US" sz="1400" b="0" i="0" u="none" strike="noStrike" cap="none" dirty="0">
                          <a:solidFill>
                            <a:schemeClr val="tx2"/>
                          </a:solidFill>
                          <a:effectLst/>
                          <a:latin typeface="+mn-lt"/>
                          <a:ea typeface="+mn-ea"/>
                          <a:cs typeface="+mn-cs"/>
                          <a:sym typeface="Arial"/>
                        </a:rPr>
                      </a:br>
                      <a:endParaRPr lang="en-US" sz="1400" b="0" i="0" u="none" strike="noStrike" cap="none" dirty="0">
                        <a:solidFill>
                          <a:schemeClr val="tx2"/>
                        </a:solidFill>
                        <a:effectLst/>
                        <a:latin typeface="+mn-lt"/>
                        <a:ea typeface="+mn-ea"/>
                        <a:cs typeface="+mn-cs"/>
                        <a:sym typeface="Arial"/>
                      </a:endParaRPr>
                    </a:p>
                    <a:p>
                      <a:r>
                        <a:rPr lang="en-US" sz="1400" b="0" i="0" u="none" strike="noStrike" cap="none" dirty="0">
                          <a:solidFill>
                            <a:schemeClr val="tx2"/>
                          </a:solidFill>
                          <a:effectLst/>
                          <a:latin typeface="+mn-lt"/>
                          <a:ea typeface="+mn-ea"/>
                          <a:cs typeface="+mn-cs"/>
                          <a:sym typeface="Arial"/>
                        </a:rPr>
                        <a:t>         [[2468, 2528, 2588, 2648],</a:t>
                      </a:r>
                    </a:p>
                    <a:p>
                      <a:r>
                        <a:rPr lang="en-US" sz="1400" b="0" i="0" u="none" strike="noStrike" cap="none" dirty="0">
                          <a:solidFill>
                            <a:schemeClr val="tx2"/>
                          </a:solidFill>
                          <a:effectLst/>
                          <a:latin typeface="+mn-lt"/>
                          <a:ea typeface="+mn-ea"/>
                          <a:cs typeface="+mn-cs"/>
                          <a:sym typeface="Arial"/>
                        </a:rPr>
                        <a:t>          [2837, 2906, 2975, 3044]]]])</a:t>
                      </a:r>
                    </a:p>
                    <a:p>
                      <a:endParaRPr lang="en-US" dirty="0">
                        <a:solidFill>
                          <a:schemeClr val="tx2"/>
                        </a:solidFill>
                        <a:latin typeface="Consolas" panose="020B0609020204030204" pitchFamily="49" charset="0"/>
                      </a:endParaRP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9324475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8A76F-BB81-6B87-7D5B-47BFE09F8A5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0AD7408-A1DA-D37C-4238-0969F280D279}"/>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A0F1526D-0F73-B653-F9BE-6145BB6BD561}"/>
              </a:ext>
            </a:extLst>
          </p:cNvPr>
          <p:cNvSpPr>
            <a:spLocks noGrp="1"/>
          </p:cNvSpPr>
          <p:nvPr>
            <p:ph idx="1"/>
          </p:nvPr>
        </p:nvSpPr>
        <p:spPr>
          <a:xfrm>
            <a:off x="1645611" y="1600200"/>
            <a:ext cx="9782801" cy="5410200"/>
          </a:xfrm>
        </p:spPr>
        <p:txBody>
          <a:bodyPr/>
          <a:lstStyle/>
          <a:p>
            <a:r>
              <a:rPr lang="en-US" dirty="0">
                <a:latin typeface="Arial" panose="020B0604020202020204" pitchFamily="34" charset="0"/>
                <a:cs typeface="Arial" panose="020B0604020202020204" pitchFamily="34" charset="0"/>
              </a:rPr>
              <a:t>When performing operations that use multiple tensors, the tensors must be on the same device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2FF22D18-2DCC-F380-5C2D-B584CE7FEEF5}"/>
              </a:ext>
            </a:extLst>
          </p:cNvPr>
          <p:cNvSpPr/>
          <p:nvPr/>
        </p:nvSpPr>
        <p:spPr>
          <a:xfrm>
            <a:off x="1965011" y="2747367"/>
            <a:ext cx="9144000" cy="213895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725"/>
              </a:lnSpc>
            </a:pPr>
            <a:r>
              <a:rPr lang="en-US" b="0" dirty="0">
                <a:solidFill>
                  <a:srgbClr val="C586C0"/>
                </a:solidFill>
                <a:effectLst/>
                <a:latin typeface="Menlo" panose="020B0609030804020204" pitchFamily="49" charset="0"/>
              </a:rPr>
              <a:t>import</a:t>
            </a:r>
            <a:r>
              <a:rPr lang="en-US" b="0" dirty="0">
                <a:solidFill>
                  <a:srgbClr val="CCCCCC"/>
                </a:solidFill>
                <a:effectLst/>
                <a:latin typeface="Menlo" panose="020B0609030804020204" pitchFamily="49" charset="0"/>
              </a:rPr>
              <a:t> </a:t>
            </a:r>
            <a:r>
              <a:rPr lang="en-US" b="0" dirty="0">
                <a:solidFill>
                  <a:srgbClr val="4EC9B0"/>
                </a:solidFill>
                <a:effectLst/>
                <a:latin typeface="Menlo" panose="020B0609030804020204" pitchFamily="49" charset="0"/>
              </a:rPr>
              <a:t>torch</a:t>
            </a:r>
            <a:endParaRPr lang="en-US" b="0" dirty="0">
              <a:solidFill>
                <a:srgbClr val="CCCCCC"/>
              </a:solidFill>
              <a:effectLst/>
              <a:latin typeface="Menlo" panose="020B0609030804020204" pitchFamily="49" charset="0"/>
            </a:endParaRPr>
          </a:p>
          <a:p>
            <a:pPr>
              <a:lnSpc>
                <a:spcPts val="1725"/>
              </a:lnSpc>
            </a:pPr>
            <a:r>
              <a:rPr lang="en-US" b="0" dirty="0">
                <a:solidFill>
                  <a:srgbClr val="9CDCFE"/>
                </a:solidFill>
                <a:effectLst/>
                <a:latin typeface="Menlo" panose="020B0609030804020204" pitchFamily="49" charset="0"/>
              </a:rPr>
              <a:t>tensor</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.tensor</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2</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3</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4</a:t>
            </a:r>
            <a:r>
              <a:rPr lang="en-US" b="0" dirty="0">
                <a:solidFill>
                  <a:srgbClr val="CCCCCC"/>
                </a:solidFill>
                <a:effectLst/>
                <a:latin typeface="Menlo" panose="020B0609030804020204" pitchFamily="49" charset="0"/>
              </a:rPr>
              <a:t>])</a:t>
            </a:r>
          </a:p>
          <a:p>
            <a:pPr>
              <a:lnSpc>
                <a:spcPts val="1725"/>
              </a:lnSpc>
            </a:pPr>
            <a:r>
              <a:rPr lang="en-US" b="0" dirty="0">
                <a:solidFill>
                  <a:srgbClr val="9CDCFE"/>
                </a:solidFill>
                <a:effectLst/>
                <a:latin typeface="Menlo" panose="020B0609030804020204" pitchFamily="49" charset="0"/>
              </a:rPr>
              <a:t>x</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.tensor</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11</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12</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13</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14</a:t>
            </a:r>
            <a:r>
              <a:rPr lang="en-US" b="0" dirty="0">
                <a:solidFill>
                  <a:srgbClr val="CCCCCC"/>
                </a:solidFill>
                <a:effectLst/>
                <a:latin typeface="Menlo" panose="020B0609030804020204" pitchFamily="49" charset="0"/>
              </a:rPr>
              <a:t>])</a:t>
            </a:r>
          </a:p>
          <a:p>
            <a:pPr>
              <a:lnSpc>
                <a:spcPts val="1725"/>
              </a:lnSpc>
            </a:pPr>
            <a:endParaRPr lang="en-US" b="0" dirty="0">
              <a:solidFill>
                <a:srgbClr val="CCCCCC"/>
              </a:solidFill>
              <a:effectLst/>
              <a:latin typeface="Menlo" panose="020B0609030804020204" pitchFamily="49" charset="0"/>
            </a:endParaRPr>
          </a:p>
          <a:p>
            <a:pPr>
              <a:lnSpc>
                <a:spcPts val="1725"/>
              </a:lnSpc>
            </a:pPr>
            <a:r>
              <a:rPr lang="en-US" b="0" dirty="0">
                <a:solidFill>
                  <a:srgbClr val="C586C0"/>
                </a:solidFill>
                <a:effectLst/>
                <a:latin typeface="Menlo" panose="020B0609030804020204" pitchFamily="49" charset="0"/>
              </a:rPr>
              <a:t>if</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.cuda.is_available</a:t>
            </a:r>
            <a:r>
              <a:rPr lang="en-US" b="0" dirty="0">
                <a:solidFill>
                  <a:srgbClr val="CCCCCC"/>
                </a:solidFill>
                <a:effectLst/>
                <a:latin typeface="Menlo" panose="020B0609030804020204" pitchFamily="49" charset="0"/>
              </a:rPr>
              <a:t>():</a:t>
            </a:r>
          </a:p>
          <a:p>
            <a:pPr>
              <a:lnSpc>
                <a:spcPts val="1725"/>
              </a:lnSpc>
            </a:pPr>
            <a:r>
              <a:rPr lang="en-US" b="0" dirty="0">
                <a:solidFill>
                  <a:srgbClr val="9CDCFE"/>
                </a:solidFill>
                <a:effectLst/>
                <a:latin typeface="Menlo" panose="020B0609030804020204" pitchFamily="49" charset="0"/>
              </a:rPr>
              <a:t>   device</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.device</a:t>
            </a:r>
            <a:r>
              <a:rPr lang="en-US" b="0" dirty="0">
                <a:solidFill>
                  <a:srgbClr val="CCCCCC"/>
                </a:solidFill>
                <a:effectLst/>
                <a:latin typeface="Menlo" panose="020B0609030804020204" pitchFamily="49" charset="0"/>
              </a:rPr>
              <a:t>(</a:t>
            </a:r>
            <a:r>
              <a:rPr lang="en-US" b="0" dirty="0">
                <a:solidFill>
                  <a:srgbClr val="CE9178"/>
                </a:solidFill>
                <a:effectLst/>
                <a:latin typeface="Menlo" panose="020B0609030804020204" pitchFamily="49" charset="0"/>
              </a:rPr>
              <a:t>"cuda:0"</a:t>
            </a:r>
            <a:r>
              <a:rPr lang="en-US" b="0" dirty="0">
                <a:solidFill>
                  <a:srgbClr val="CCCCCC"/>
                </a:solidFill>
                <a:effectLst/>
                <a:latin typeface="Menlo" panose="020B0609030804020204" pitchFamily="49" charset="0"/>
              </a:rPr>
              <a:t>) </a:t>
            </a:r>
          </a:p>
          <a:p>
            <a:pPr>
              <a:lnSpc>
                <a:spcPts val="1725"/>
              </a:lnSpc>
            </a:pPr>
            <a:r>
              <a:rPr lang="en-US" b="0" dirty="0">
                <a:solidFill>
                  <a:srgbClr val="9CDCFE"/>
                </a:solidFill>
                <a:effectLst/>
                <a:latin typeface="Menlo" panose="020B0609030804020204" pitchFamily="49" charset="0"/>
              </a:rPr>
              <a:t>   </a:t>
            </a:r>
            <a:r>
              <a:rPr lang="en-US" b="0" dirty="0" err="1">
                <a:solidFill>
                  <a:srgbClr val="9CDCFE"/>
                </a:solidFill>
                <a:effectLst/>
                <a:latin typeface="Menlo" panose="020B0609030804020204" pitchFamily="49" charset="0"/>
              </a:rPr>
              <a:t>tensor_gpu</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9CDCFE"/>
                </a:solidFill>
                <a:effectLst/>
                <a:latin typeface="Menlo" panose="020B0609030804020204" pitchFamily="49" charset="0"/>
              </a:rPr>
              <a:t>tensor</a:t>
            </a:r>
            <a:r>
              <a:rPr lang="en-US" b="0" dirty="0" err="1">
                <a:solidFill>
                  <a:srgbClr val="CCCCCC"/>
                </a:solidFill>
                <a:effectLst/>
                <a:latin typeface="Menlo" panose="020B0609030804020204" pitchFamily="49" charset="0"/>
              </a:rPr>
              <a:t>.to</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device</a:t>
            </a:r>
            <a:r>
              <a:rPr lang="en-US" b="0" dirty="0">
                <a:solidFill>
                  <a:srgbClr val="CCCCCC"/>
                </a:solidFill>
                <a:effectLst/>
                <a:latin typeface="Menlo" panose="020B0609030804020204" pitchFamily="49" charset="0"/>
              </a:rPr>
              <a:t>)</a:t>
            </a:r>
          </a:p>
          <a:p>
            <a:pPr>
              <a:lnSpc>
                <a:spcPts val="1725"/>
              </a:lnSpc>
            </a:pPr>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   </a:t>
            </a:r>
            <a:r>
              <a:rPr lang="en-US" b="0" dirty="0">
                <a:solidFill>
                  <a:srgbClr val="DCDCAA"/>
                </a:solidFill>
                <a:effectLst/>
                <a:latin typeface="Menlo" panose="020B0609030804020204" pitchFamily="49" charset="0"/>
              </a:rPr>
              <a:t>print</a:t>
            </a:r>
            <a:r>
              <a:rPr lang="en-US" b="0" dirty="0">
                <a:solidFill>
                  <a:srgbClr val="CCCCCC"/>
                </a:solidFill>
                <a:effectLst/>
                <a:latin typeface="Menlo" panose="020B0609030804020204" pitchFamily="49" charset="0"/>
              </a:rPr>
              <a:t>(</a:t>
            </a:r>
            <a:r>
              <a:rPr lang="en-US" b="0" dirty="0" err="1">
                <a:solidFill>
                  <a:srgbClr val="9CDCFE"/>
                </a:solidFill>
                <a:effectLst/>
                <a:latin typeface="Menlo" panose="020B0609030804020204" pitchFamily="49" charset="0"/>
              </a:rPr>
              <a:t>x+tensor_gpu</a:t>
            </a:r>
            <a:r>
              <a:rPr lang="en-US" b="0" dirty="0">
                <a:solidFill>
                  <a:srgbClr val="CCCCCC"/>
                </a:solidFill>
                <a:effectLst/>
                <a:latin typeface="Menlo" panose="020B0609030804020204" pitchFamily="49" charset="0"/>
              </a:rPr>
              <a:t>)</a:t>
            </a:r>
          </a:p>
        </p:txBody>
      </p:sp>
      <p:graphicFrame>
        <p:nvGraphicFramePr>
          <p:cNvPr id="2" name="Table 3">
            <a:extLst>
              <a:ext uri="{FF2B5EF4-FFF2-40B4-BE49-F238E27FC236}">
                <a16:creationId xmlns:a16="http://schemas.microsoft.com/office/drawing/2014/main" id="{E95E3E91-9FEF-A700-C85D-BEEF1A7A5AC4}"/>
              </a:ext>
            </a:extLst>
          </p:cNvPr>
          <p:cNvGraphicFramePr>
            <a:graphicFrameLocks noGrp="1"/>
          </p:cNvGraphicFramePr>
          <p:nvPr>
            <p:extLst>
              <p:ext uri="{D42A27DB-BD31-4B8C-83A1-F6EECF244321}">
                <p14:modId xmlns:p14="http://schemas.microsoft.com/office/powerpoint/2010/main" val="3889282897"/>
              </p:ext>
            </p:extLst>
          </p:nvPr>
        </p:nvGraphicFramePr>
        <p:xfrm>
          <a:off x="5639426" y="4732880"/>
          <a:ext cx="6108386" cy="1716089"/>
        </p:xfrm>
        <a:graphic>
          <a:graphicData uri="http://schemas.openxmlformats.org/drawingml/2006/table">
            <a:tbl>
              <a:tblPr firstRow="1" bandRow="1">
                <a:tableStyleId>{073A0DAA-6AF3-43AB-8588-CEC1D06C72B9}</a:tableStyleId>
              </a:tblPr>
              <a:tblGrid>
                <a:gridCol w="6108386">
                  <a:extLst>
                    <a:ext uri="{9D8B030D-6E8A-4147-A177-3AD203B41FA5}">
                      <a16:colId xmlns:a16="http://schemas.microsoft.com/office/drawing/2014/main" val="3899577134"/>
                    </a:ext>
                  </a:extLst>
                </a:gridCol>
              </a:tblGrid>
              <a:tr h="344489">
                <a:tc>
                  <a:txBody>
                    <a:bodyPr/>
                    <a:lstStyle/>
                    <a:p>
                      <a:r>
                        <a:rPr lang="en-US" dirty="0"/>
                        <a:t>Output</a:t>
                      </a:r>
                    </a:p>
                  </a:txBody>
                  <a:tcPr/>
                </a:tc>
                <a:extLst>
                  <a:ext uri="{0D108BD9-81ED-4DB2-BD59-A6C34878D82A}">
                    <a16:rowId xmlns:a16="http://schemas.microsoft.com/office/drawing/2014/main" val="117988312"/>
                  </a:ext>
                </a:extLst>
              </a:tr>
              <a:tr h="1239909">
                <a:tc>
                  <a:txBody>
                    <a:bodyPr/>
                    <a:lstStyle/>
                    <a:p>
                      <a:r>
                        <a:rPr lang="en-US" sz="1400" b="0" i="0" u="none" strike="noStrike" cap="none" dirty="0">
                          <a:solidFill>
                            <a:schemeClr val="tx2"/>
                          </a:solidFill>
                          <a:effectLst/>
                          <a:latin typeface="+mn-lt"/>
                          <a:ea typeface="+mn-ea"/>
                          <a:cs typeface="+mn-cs"/>
                          <a:sym typeface="Arial"/>
                        </a:rPr>
                        <a:t>Traceback (most recent call last):</a:t>
                      </a:r>
                    </a:p>
                    <a:p>
                      <a:r>
                        <a:rPr lang="en-US" sz="1400" b="0" i="0" u="none" strike="noStrike" cap="none" dirty="0">
                          <a:solidFill>
                            <a:schemeClr val="tx2"/>
                          </a:solidFill>
                          <a:effectLst/>
                          <a:latin typeface="+mn-lt"/>
                          <a:ea typeface="+mn-ea"/>
                          <a:cs typeface="+mn-cs"/>
                          <a:sym typeface="Arial"/>
                        </a:rPr>
                        <a:t>  File "/root/</a:t>
                      </a:r>
                      <a:r>
                        <a:rPr lang="en-US" sz="1400" b="0" i="0" u="none" strike="noStrike" cap="none" dirty="0" err="1">
                          <a:solidFill>
                            <a:schemeClr val="tx2"/>
                          </a:solidFill>
                          <a:effectLst/>
                          <a:latin typeface="+mn-lt"/>
                          <a:ea typeface="+mn-ea"/>
                          <a:cs typeface="+mn-cs"/>
                          <a:sym typeface="Arial"/>
                        </a:rPr>
                        <a:t>wdir</a:t>
                      </a:r>
                      <a:r>
                        <a:rPr lang="en-US" sz="1400" b="0" i="0" u="none" strike="noStrike" cap="none" dirty="0">
                          <a:solidFill>
                            <a:schemeClr val="tx2"/>
                          </a:solidFill>
                          <a:effectLst/>
                          <a:latin typeface="+mn-lt"/>
                          <a:ea typeface="+mn-ea"/>
                          <a:cs typeface="+mn-cs"/>
                          <a:sym typeface="Arial"/>
                        </a:rPr>
                        <a:t>/</a:t>
                      </a:r>
                      <a:r>
                        <a:rPr lang="en-US" sz="1400" b="0" i="0" u="none" strike="noStrike" cap="none" dirty="0" err="1">
                          <a:solidFill>
                            <a:schemeClr val="tx2"/>
                          </a:solidFill>
                          <a:effectLst/>
                          <a:latin typeface="+mn-lt"/>
                          <a:ea typeface="+mn-ea"/>
                          <a:cs typeface="+mn-cs"/>
                          <a:sym typeface="Arial"/>
                        </a:rPr>
                        <a:t>rbenchea</a:t>
                      </a:r>
                      <a:r>
                        <a:rPr lang="en-US" sz="1400" b="0" i="0" u="none" strike="noStrike" cap="none" dirty="0">
                          <a:solidFill>
                            <a:schemeClr val="tx2"/>
                          </a:solidFill>
                          <a:effectLst/>
                          <a:latin typeface="+mn-lt"/>
                          <a:ea typeface="+mn-ea"/>
                          <a:cs typeface="+mn-cs"/>
                          <a:sym typeface="Arial"/>
                        </a:rPr>
                        <a:t>/</a:t>
                      </a:r>
                      <a:r>
                        <a:rPr lang="en-US" sz="1400" b="0" i="0" u="none" strike="noStrike" cap="none" dirty="0" err="1">
                          <a:solidFill>
                            <a:schemeClr val="tx2"/>
                          </a:solidFill>
                          <a:effectLst/>
                          <a:latin typeface="+mn-lt"/>
                          <a:ea typeface="+mn-ea"/>
                          <a:cs typeface="+mn-cs"/>
                          <a:sym typeface="Arial"/>
                        </a:rPr>
                        <a:t>tmp</a:t>
                      </a:r>
                      <a:r>
                        <a:rPr lang="en-US" sz="1400" b="0" i="0" u="none" strike="noStrike" cap="none" dirty="0">
                          <a:solidFill>
                            <a:schemeClr val="tx2"/>
                          </a:solidFill>
                          <a:effectLst/>
                          <a:latin typeface="+mn-lt"/>
                          <a:ea typeface="+mn-ea"/>
                          <a:cs typeface="+mn-cs"/>
                          <a:sym typeface="Arial"/>
                        </a:rPr>
                        <a:t>/</a:t>
                      </a:r>
                      <a:r>
                        <a:rPr lang="en-US" sz="1400" b="0" i="0" u="none" strike="noStrike" cap="none" dirty="0" err="1">
                          <a:solidFill>
                            <a:schemeClr val="tx2"/>
                          </a:solidFill>
                          <a:effectLst/>
                          <a:latin typeface="+mn-lt"/>
                          <a:ea typeface="+mn-ea"/>
                          <a:cs typeface="+mn-cs"/>
                          <a:sym typeface="Arial"/>
                        </a:rPr>
                        <a:t>tmp_curs.py</a:t>
                      </a:r>
                      <a:r>
                        <a:rPr lang="en-US" sz="1400" b="0" i="0" u="none" strike="noStrike" cap="none" dirty="0">
                          <a:solidFill>
                            <a:schemeClr val="tx2"/>
                          </a:solidFill>
                          <a:effectLst/>
                          <a:latin typeface="+mn-lt"/>
                          <a:ea typeface="+mn-ea"/>
                          <a:cs typeface="+mn-cs"/>
                          <a:sym typeface="Arial"/>
                        </a:rPr>
                        <a:t>", line 8, in &lt;module&gt;</a:t>
                      </a:r>
                    </a:p>
                    <a:p>
                      <a:r>
                        <a:rPr lang="en-US" sz="1400" b="0" i="0" u="none" strike="noStrike" cap="none" dirty="0">
                          <a:solidFill>
                            <a:schemeClr val="tx2"/>
                          </a:solidFill>
                          <a:effectLst/>
                          <a:latin typeface="+mn-lt"/>
                          <a:ea typeface="+mn-ea"/>
                          <a:cs typeface="+mn-cs"/>
                          <a:sym typeface="Arial"/>
                        </a:rPr>
                        <a:t>    print(</a:t>
                      </a:r>
                      <a:r>
                        <a:rPr lang="en-US" sz="1400" b="0" i="0" u="none" strike="noStrike" cap="none" dirty="0" err="1">
                          <a:solidFill>
                            <a:schemeClr val="tx2"/>
                          </a:solidFill>
                          <a:effectLst/>
                          <a:latin typeface="+mn-lt"/>
                          <a:ea typeface="+mn-ea"/>
                          <a:cs typeface="+mn-cs"/>
                          <a:sym typeface="Arial"/>
                        </a:rPr>
                        <a:t>x+tensor_gpu</a:t>
                      </a:r>
                      <a:r>
                        <a:rPr lang="en-US" sz="1400" b="0" i="0" u="none" strike="noStrike" cap="none" dirty="0">
                          <a:solidFill>
                            <a:schemeClr val="tx2"/>
                          </a:solidFill>
                          <a:effectLst/>
                          <a:latin typeface="+mn-lt"/>
                          <a:ea typeface="+mn-ea"/>
                          <a:cs typeface="+mn-cs"/>
                          <a:sym typeface="Arial"/>
                        </a:rPr>
                        <a:t>)</a:t>
                      </a:r>
                    </a:p>
                    <a:p>
                      <a:r>
                        <a:rPr lang="en-US" sz="1400" b="0" i="0" u="none" strike="noStrike" cap="none" dirty="0">
                          <a:solidFill>
                            <a:schemeClr val="tx2"/>
                          </a:solidFill>
                          <a:effectLst/>
                          <a:latin typeface="+mn-lt"/>
                          <a:ea typeface="+mn-ea"/>
                          <a:cs typeface="+mn-cs"/>
                          <a:sym typeface="Arial"/>
                        </a:rPr>
                        <a:t>          ~^~~~~~~~~~~</a:t>
                      </a:r>
                    </a:p>
                    <a:p>
                      <a:r>
                        <a:rPr lang="en-US" sz="1400" b="0" i="0" u="none" strike="noStrike" cap="none" dirty="0" err="1">
                          <a:solidFill>
                            <a:schemeClr val="tx2"/>
                          </a:solidFill>
                          <a:effectLst/>
                          <a:latin typeface="+mn-lt"/>
                          <a:ea typeface="+mn-ea"/>
                          <a:cs typeface="+mn-cs"/>
                          <a:sym typeface="Arial"/>
                        </a:rPr>
                        <a:t>RuntimeError</a:t>
                      </a:r>
                      <a:r>
                        <a:rPr lang="en-US" sz="1400" b="0" i="0" u="none" strike="noStrike" cap="none" dirty="0">
                          <a:solidFill>
                            <a:schemeClr val="tx2"/>
                          </a:solidFill>
                          <a:effectLst/>
                          <a:latin typeface="+mn-lt"/>
                          <a:ea typeface="+mn-ea"/>
                          <a:cs typeface="+mn-cs"/>
                          <a:sym typeface="Arial"/>
                        </a:rPr>
                        <a:t>: Expected all tensors to be on the same device, but found at least two devices, cuda:0 and </a:t>
                      </a:r>
                      <a:r>
                        <a:rPr lang="en-US" sz="1400" b="0" i="0" u="none" strike="noStrike" cap="none" dirty="0" err="1">
                          <a:solidFill>
                            <a:schemeClr val="tx2"/>
                          </a:solidFill>
                          <a:effectLst/>
                          <a:latin typeface="+mn-lt"/>
                          <a:ea typeface="+mn-ea"/>
                          <a:cs typeface="+mn-cs"/>
                          <a:sym typeface="Arial"/>
                        </a:rPr>
                        <a:t>cpu</a:t>
                      </a:r>
                      <a:r>
                        <a:rPr lang="en-US" sz="1400" b="0" i="0" u="none" strike="noStrike" cap="none" dirty="0">
                          <a:solidFill>
                            <a:schemeClr val="tx2"/>
                          </a:solidFill>
                          <a:effectLst/>
                          <a:latin typeface="+mn-lt"/>
                          <a:ea typeface="+mn-ea"/>
                          <a:cs typeface="+mn-cs"/>
                          <a:sym typeface="Arial"/>
                        </a:rPr>
                        <a:t>!</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447483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B295-8017-13AB-018F-DA726EF52AA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BCA612-45D2-92BB-AA63-4D57439CE38E}"/>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BDA769AB-4E7D-C1B4-EAEE-02D80FA5E41A}"/>
              </a:ext>
            </a:extLst>
          </p:cNvPr>
          <p:cNvSpPr>
            <a:spLocks noGrp="1"/>
          </p:cNvSpPr>
          <p:nvPr>
            <p:ph idx="1"/>
          </p:nvPr>
        </p:nvSpPr>
        <p:spPr>
          <a:xfrm>
            <a:off x="1645611" y="1600200"/>
            <a:ext cx="9782801" cy="5410200"/>
          </a:xfrm>
        </p:spPr>
        <p:txBody>
          <a:bodyPr/>
          <a:lstStyle/>
          <a:p>
            <a:r>
              <a:rPr lang="en-US" dirty="0">
                <a:latin typeface="Arial" panose="020B0604020202020204" pitchFamily="34" charset="0"/>
                <a:cs typeface="Arial" panose="020B0604020202020204" pitchFamily="34" charset="0"/>
              </a:rPr>
              <a:t>When performing operations that use multiple tensors, the tensors must be on the same device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CEA8C321-F1B1-CD8A-9697-A67D1EFB0332}"/>
              </a:ext>
            </a:extLst>
          </p:cNvPr>
          <p:cNvSpPr/>
          <p:nvPr/>
        </p:nvSpPr>
        <p:spPr>
          <a:xfrm>
            <a:off x="1965011" y="2747367"/>
            <a:ext cx="9144000" cy="213895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725"/>
              </a:lnSpc>
            </a:pPr>
            <a:r>
              <a:rPr lang="en-US" b="0" dirty="0">
                <a:solidFill>
                  <a:srgbClr val="C586C0"/>
                </a:solidFill>
                <a:effectLst/>
                <a:latin typeface="Menlo" panose="020B0609030804020204" pitchFamily="49" charset="0"/>
              </a:rPr>
              <a:t>import</a:t>
            </a:r>
            <a:r>
              <a:rPr lang="en-US" b="0" dirty="0">
                <a:solidFill>
                  <a:srgbClr val="CCCCCC"/>
                </a:solidFill>
                <a:effectLst/>
                <a:latin typeface="Menlo" panose="020B0609030804020204" pitchFamily="49" charset="0"/>
              </a:rPr>
              <a:t> </a:t>
            </a:r>
            <a:r>
              <a:rPr lang="en-US" b="0" dirty="0">
                <a:solidFill>
                  <a:srgbClr val="4EC9B0"/>
                </a:solidFill>
                <a:effectLst/>
                <a:latin typeface="Menlo" panose="020B0609030804020204" pitchFamily="49" charset="0"/>
              </a:rPr>
              <a:t>torch</a:t>
            </a:r>
            <a:endParaRPr lang="en-US" b="0" dirty="0">
              <a:solidFill>
                <a:srgbClr val="CCCCCC"/>
              </a:solidFill>
              <a:effectLst/>
              <a:latin typeface="Menlo" panose="020B0609030804020204" pitchFamily="49" charset="0"/>
            </a:endParaRPr>
          </a:p>
          <a:p>
            <a:pPr>
              <a:lnSpc>
                <a:spcPts val="1725"/>
              </a:lnSpc>
            </a:pPr>
            <a:r>
              <a:rPr lang="en-US" b="0" dirty="0">
                <a:solidFill>
                  <a:srgbClr val="9CDCFE"/>
                </a:solidFill>
                <a:effectLst/>
                <a:latin typeface="Menlo" panose="020B0609030804020204" pitchFamily="49" charset="0"/>
              </a:rPr>
              <a:t>tensor</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.tensor</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2</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3</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4</a:t>
            </a:r>
            <a:r>
              <a:rPr lang="en-US" b="0" dirty="0">
                <a:solidFill>
                  <a:srgbClr val="CCCCCC"/>
                </a:solidFill>
                <a:effectLst/>
                <a:latin typeface="Menlo" panose="020B0609030804020204" pitchFamily="49" charset="0"/>
              </a:rPr>
              <a:t>])</a:t>
            </a:r>
          </a:p>
          <a:p>
            <a:pPr>
              <a:lnSpc>
                <a:spcPts val="1725"/>
              </a:lnSpc>
            </a:pPr>
            <a:r>
              <a:rPr lang="en-US" b="0" dirty="0">
                <a:solidFill>
                  <a:srgbClr val="9CDCFE"/>
                </a:solidFill>
                <a:effectLst/>
                <a:latin typeface="Menlo" panose="020B0609030804020204" pitchFamily="49" charset="0"/>
              </a:rPr>
              <a:t>x</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.tensor</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11</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12</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13</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14</a:t>
            </a:r>
            <a:r>
              <a:rPr lang="en-US" b="0" dirty="0">
                <a:solidFill>
                  <a:srgbClr val="CCCCCC"/>
                </a:solidFill>
                <a:effectLst/>
                <a:latin typeface="Menlo" panose="020B0609030804020204" pitchFamily="49" charset="0"/>
              </a:rPr>
              <a:t>])</a:t>
            </a:r>
          </a:p>
          <a:p>
            <a:pPr>
              <a:lnSpc>
                <a:spcPts val="1725"/>
              </a:lnSpc>
            </a:pPr>
            <a:endParaRPr lang="en-US" b="0" dirty="0">
              <a:solidFill>
                <a:srgbClr val="CCCCCC"/>
              </a:solidFill>
              <a:effectLst/>
              <a:latin typeface="Menlo" panose="020B0609030804020204" pitchFamily="49" charset="0"/>
            </a:endParaRPr>
          </a:p>
          <a:p>
            <a:pPr>
              <a:lnSpc>
                <a:spcPts val="1725"/>
              </a:lnSpc>
            </a:pPr>
            <a:r>
              <a:rPr lang="en-US" b="0" dirty="0">
                <a:solidFill>
                  <a:srgbClr val="C586C0"/>
                </a:solidFill>
                <a:effectLst/>
                <a:latin typeface="Menlo" panose="020B0609030804020204" pitchFamily="49" charset="0"/>
              </a:rPr>
              <a:t>if</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.cuda.is_available</a:t>
            </a:r>
            <a:r>
              <a:rPr lang="en-US" b="0" dirty="0">
                <a:solidFill>
                  <a:srgbClr val="CCCCCC"/>
                </a:solidFill>
                <a:effectLst/>
                <a:latin typeface="Menlo" panose="020B0609030804020204" pitchFamily="49" charset="0"/>
              </a:rPr>
              <a:t>():</a:t>
            </a:r>
          </a:p>
          <a:p>
            <a:pPr>
              <a:lnSpc>
                <a:spcPts val="1725"/>
              </a:lnSpc>
            </a:pPr>
            <a:r>
              <a:rPr lang="en-US" b="0" dirty="0">
                <a:solidFill>
                  <a:srgbClr val="9CDCFE"/>
                </a:solidFill>
                <a:effectLst/>
                <a:latin typeface="Menlo" panose="020B0609030804020204" pitchFamily="49" charset="0"/>
              </a:rPr>
              <a:t>   device</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.device</a:t>
            </a:r>
            <a:r>
              <a:rPr lang="en-US" b="0" dirty="0">
                <a:solidFill>
                  <a:srgbClr val="CCCCCC"/>
                </a:solidFill>
                <a:effectLst/>
                <a:latin typeface="Menlo" panose="020B0609030804020204" pitchFamily="49" charset="0"/>
              </a:rPr>
              <a:t>(</a:t>
            </a:r>
            <a:r>
              <a:rPr lang="en-US" b="0" dirty="0">
                <a:solidFill>
                  <a:srgbClr val="CE9178"/>
                </a:solidFill>
                <a:effectLst/>
                <a:latin typeface="Menlo" panose="020B0609030804020204" pitchFamily="49" charset="0"/>
              </a:rPr>
              <a:t>"cuda:0"</a:t>
            </a:r>
            <a:r>
              <a:rPr lang="en-US" b="0" dirty="0">
                <a:solidFill>
                  <a:srgbClr val="CCCCCC"/>
                </a:solidFill>
                <a:effectLst/>
                <a:latin typeface="Menlo" panose="020B0609030804020204" pitchFamily="49" charset="0"/>
              </a:rPr>
              <a:t>) </a:t>
            </a:r>
          </a:p>
          <a:p>
            <a:pPr>
              <a:lnSpc>
                <a:spcPts val="1725"/>
              </a:lnSpc>
            </a:pPr>
            <a:r>
              <a:rPr lang="en-US" b="0" dirty="0">
                <a:solidFill>
                  <a:srgbClr val="9CDCFE"/>
                </a:solidFill>
                <a:effectLst/>
                <a:latin typeface="Menlo" panose="020B0609030804020204" pitchFamily="49" charset="0"/>
              </a:rPr>
              <a:t>   </a:t>
            </a:r>
            <a:r>
              <a:rPr lang="en-US" b="0" dirty="0" err="1">
                <a:solidFill>
                  <a:srgbClr val="9CDCFE"/>
                </a:solidFill>
                <a:effectLst/>
                <a:latin typeface="Menlo" panose="020B0609030804020204" pitchFamily="49" charset="0"/>
              </a:rPr>
              <a:t>tensor_gpu</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9CDCFE"/>
                </a:solidFill>
                <a:effectLst/>
                <a:latin typeface="Menlo" panose="020B0609030804020204" pitchFamily="49" charset="0"/>
              </a:rPr>
              <a:t>tensor</a:t>
            </a:r>
            <a:r>
              <a:rPr lang="en-US" b="0" dirty="0" err="1">
                <a:solidFill>
                  <a:srgbClr val="CCCCCC"/>
                </a:solidFill>
                <a:effectLst/>
                <a:latin typeface="Menlo" panose="020B0609030804020204" pitchFamily="49" charset="0"/>
              </a:rPr>
              <a:t>.to</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device</a:t>
            </a:r>
            <a:r>
              <a:rPr lang="en-US" b="0" dirty="0">
                <a:solidFill>
                  <a:srgbClr val="CCCCCC"/>
                </a:solidFill>
                <a:effectLst/>
                <a:latin typeface="Menlo" panose="020B0609030804020204" pitchFamily="49" charset="0"/>
              </a:rPr>
              <a:t>)</a:t>
            </a:r>
          </a:p>
          <a:p>
            <a:pPr>
              <a:lnSpc>
                <a:spcPts val="1725"/>
              </a:lnSpc>
            </a:pPr>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   </a:t>
            </a:r>
            <a:r>
              <a:rPr lang="en-US" b="0" dirty="0">
                <a:solidFill>
                  <a:srgbClr val="DCDCAA"/>
                </a:solidFill>
                <a:effectLst/>
                <a:latin typeface="Menlo" panose="020B0609030804020204" pitchFamily="49" charset="0"/>
              </a:rPr>
              <a:t>print</a:t>
            </a:r>
            <a:r>
              <a:rPr lang="en-US" b="0" dirty="0">
                <a:solidFill>
                  <a:srgbClr val="CCCCCC"/>
                </a:solidFill>
                <a:effectLst/>
                <a:latin typeface="Menlo" panose="020B0609030804020204" pitchFamily="49" charset="0"/>
              </a:rPr>
              <a:t>(</a:t>
            </a:r>
            <a:r>
              <a:rPr lang="en-US" b="0" dirty="0" err="1">
                <a:solidFill>
                  <a:srgbClr val="9CDCFE"/>
                </a:solidFill>
                <a:effectLst/>
                <a:latin typeface="Menlo" panose="020B0609030804020204" pitchFamily="49" charset="0"/>
              </a:rPr>
              <a:t>x.to</a:t>
            </a:r>
            <a:r>
              <a:rPr lang="en-US" b="0" dirty="0">
                <a:solidFill>
                  <a:srgbClr val="9CDCFE"/>
                </a:solidFill>
                <a:effectLst/>
                <a:latin typeface="Menlo" panose="020B0609030804020204" pitchFamily="49" charset="0"/>
              </a:rPr>
              <a:t>(device)</a:t>
            </a:r>
            <a:r>
              <a:rPr lang="en-US" b="0" dirty="0">
                <a:solidFill>
                  <a:srgbClr val="D4D4D4"/>
                </a:solidFill>
                <a:effectLst/>
                <a:latin typeface="Menlo" panose="020B0609030804020204" pitchFamily="49" charset="0"/>
              </a:rPr>
              <a:t>+</a:t>
            </a:r>
            <a:r>
              <a:rPr lang="en-US" b="0" dirty="0" err="1">
                <a:solidFill>
                  <a:srgbClr val="9CDCFE"/>
                </a:solidFill>
                <a:effectLst/>
                <a:latin typeface="Menlo" panose="020B0609030804020204" pitchFamily="49" charset="0"/>
              </a:rPr>
              <a:t>tensor_gpu</a:t>
            </a:r>
            <a:r>
              <a:rPr lang="en-US" b="0" dirty="0">
                <a:solidFill>
                  <a:srgbClr val="CCCCCC"/>
                </a:solidFill>
                <a:effectLst/>
                <a:latin typeface="Menlo" panose="020B0609030804020204" pitchFamily="49" charset="0"/>
              </a:rPr>
              <a:t>)</a:t>
            </a:r>
          </a:p>
        </p:txBody>
      </p:sp>
      <p:graphicFrame>
        <p:nvGraphicFramePr>
          <p:cNvPr id="2" name="Table 3">
            <a:extLst>
              <a:ext uri="{FF2B5EF4-FFF2-40B4-BE49-F238E27FC236}">
                <a16:creationId xmlns:a16="http://schemas.microsoft.com/office/drawing/2014/main" id="{DA823434-3085-D4CF-F806-7D064D096FA2}"/>
              </a:ext>
            </a:extLst>
          </p:cNvPr>
          <p:cNvGraphicFramePr>
            <a:graphicFrameLocks noGrp="1"/>
          </p:cNvGraphicFramePr>
          <p:nvPr>
            <p:extLst>
              <p:ext uri="{D42A27DB-BD31-4B8C-83A1-F6EECF244321}">
                <p14:modId xmlns:p14="http://schemas.microsoft.com/office/powerpoint/2010/main" val="2881853643"/>
              </p:ext>
            </p:extLst>
          </p:nvPr>
        </p:nvGraphicFramePr>
        <p:xfrm>
          <a:off x="6094412" y="4560665"/>
          <a:ext cx="6108386" cy="925131"/>
        </p:xfrm>
        <a:graphic>
          <a:graphicData uri="http://schemas.openxmlformats.org/drawingml/2006/table">
            <a:tbl>
              <a:tblPr firstRow="1" bandRow="1">
                <a:tableStyleId>{073A0DAA-6AF3-43AB-8588-CEC1D06C72B9}</a:tableStyleId>
              </a:tblPr>
              <a:tblGrid>
                <a:gridCol w="6108386">
                  <a:extLst>
                    <a:ext uri="{9D8B030D-6E8A-4147-A177-3AD203B41FA5}">
                      <a16:colId xmlns:a16="http://schemas.microsoft.com/office/drawing/2014/main" val="3899577134"/>
                    </a:ext>
                  </a:extLst>
                </a:gridCol>
              </a:tblGrid>
              <a:tr h="271050">
                <a:tc>
                  <a:txBody>
                    <a:bodyPr/>
                    <a:lstStyle/>
                    <a:p>
                      <a:r>
                        <a:rPr lang="en-US" dirty="0"/>
                        <a:t>Output</a:t>
                      </a:r>
                    </a:p>
                  </a:txBody>
                  <a:tcPr/>
                </a:tc>
                <a:extLst>
                  <a:ext uri="{0D108BD9-81ED-4DB2-BD59-A6C34878D82A}">
                    <a16:rowId xmlns:a16="http://schemas.microsoft.com/office/drawing/2014/main" val="117988312"/>
                  </a:ext>
                </a:extLst>
              </a:tr>
              <a:tr h="620331">
                <a:tc>
                  <a:txBody>
                    <a:bodyPr/>
                    <a:lstStyle/>
                    <a:p>
                      <a:r>
                        <a:rPr lang="en-US" sz="1400" b="0" i="0" u="none" strike="noStrike" cap="none" dirty="0">
                          <a:solidFill>
                            <a:schemeClr val="tx2"/>
                          </a:solidFill>
                          <a:effectLst/>
                          <a:latin typeface="+mn-lt"/>
                          <a:ea typeface="+mn-ea"/>
                          <a:cs typeface="+mn-cs"/>
                          <a:sym typeface="Arial"/>
                        </a:rPr>
                        <a:t>tensor([12, 14, 16, 18], device='cuda:0')</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058744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51520-74A6-BF0D-5677-260FE0586CF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0332AD3-721C-4B40-9C1E-89612AAC7792}"/>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527DFD5D-6780-E292-1FA8-93DEAE757B2B}"/>
              </a:ext>
            </a:extLst>
          </p:cNvPr>
          <p:cNvSpPr>
            <a:spLocks noGrp="1"/>
          </p:cNvSpPr>
          <p:nvPr>
            <p:ph idx="1"/>
          </p:nvPr>
        </p:nvSpPr>
        <p:spPr>
          <a:xfrm>
            <a:off x="1645611" y="1600200"/>
            <a:ext cx="9782801" cy="5410200"/>
          </a:xfrm>
        </p:spPr>
        <p:txBody>
          <a:bodyPr/>
          <a:lstStyle/>
          <a:p>
            <a:r>
              <a:rPr lang="en-US" dirty="0">
                <a:latin typeface="Arial" panose="020B0604020202020204" pitchFamily="34" charset="0"/>
                <a:cs typeface="Arial" panose="020B0604020202020204" pitchFamily="34" charset="0"/>
              </a:rPr>
              <a:t>The device of a tensor can be obtained by using .device attribute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88398C0-A000-36C8-1D03-90643BB2C8AD}"/>
              </a:ext>
            </a:extLst>
          </p:cNvPr>
          <p:cNvSpPr/>
          <p:nvPr/>
        </p:nvSpPr>
        <p:spPr>
          <a:xfrm>
            <a:off x="1965011" y="2435419"/>
            <a:ext cx="9144000" cy="369391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add_random</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r</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.rand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.shape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return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r</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.to</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.device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tensor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.tensor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2</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4</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.tensor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11</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12</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14</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p>
          <a:p>
            <a:pPr marL="0" marR="0"/>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if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.cuda.is_available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device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.device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27E65"/>
                </a:solidFill>
                <a:effectLst/>
                <a:latin typeface="Consolas" panose="020B0609020204030204" pitchFamily="49" charset="0"/>
                <a:ea typeface="Aptos" panose="020B0004020202020204" pitchFamily="34" charset="0"/>
                <a:cs typeface="Consolas" panose="020B0609020204030204" pitchFamily="49" charset="0"/>
              </a:rPr>
              <a:t>"cuda:0"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tensor_gpu</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tensor</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.to</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device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print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27E65"/>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C27E65"/>
                </a:solidFill>
                <a:effectLst/>
                <a:latin typeface="Consolas" panose="020B0609020204030204" pitchFamily="49" charset="0"/>
                <a:ea typeface="Aptos" panose="020B0004020202020204" pitchFamily="34" charset="0"/>
                <a:cs typeface="Consolas" panose="020B0609020204030204" pitchFamily="49" charset="0"/>
              </a:rPr>
              <a:t>tensor_gpu+random</a:t>
            </a:r>
            <a:r>
              <a:rPr lang="en-US" kern="0" dirty="0">
                <a:solidFill>
                  <a:srgbClr val="C27E65"/>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add_random</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tensor_gpu</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print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27E65"/>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C27E65"/>
                </a:solidFill>
                <a:effectLst/>
                <a:latin typeface="Consolas" panose="020B0609020204030204" pitchFamily="49" charset="0"/>
                <a:ea typeface="Aptos" panose="020B0004020202020204" pitchFamily="34" charset="0"/>
                <a:cs typeface="Consolas" panose="020B0609020204030204" pitchFamily="49" charset="0"/>
              </a:rPr>
              <a:t>tensor_cpu+random</a:t>
            </a:r>
            <a:r>
              <a:rPr lang="en-US" kern="0" dirty="0">
                <a:solidFill>
                  <a:srgbClr val="C27E65"/>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add_random</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100" dirty="0">
                <a:effectLst/>
                <a:latin typeface="Consolas" panose="020B0609020204030204" pitchFamily="49" charset="0"/>
                <a:ea typeface="Times New Roman" panose="02020603050405020304" pitchFamily="18" charset="0"/>
                <a:cs typeface="Consolas" panose="020B0609020204030204" pitchFamily="49" charset="0"/>
              </a:rPr>
              <a:t> </a:t>
            </a:r>
          </a:p>
        </p:txBody>
      </p:sp>
      <p:graphicFrame>
        <p:nvGraphicFramePr>
          <p:cNvPr id="2" name="Table 3">
            <a:extLst>
              <a:ext uri="{FF2B5EF4-FFF2-40B4-BE49-F238E27FC236}">
                <a16:creationId xmlns:a16="http://schemas.microsoft.com/office/drawing/2014/main" id="{87530CCE-E027-DAB9-58A6-399D6C526C40}"/>
              </a:ext>
            </a:extLst>
          </p:cNvPr>
          <p:cNvGraphicFramePr>
            <a:graphicFrameLocks noGrp="1"/>
          </p:cNvGraphicFramePr>
          <p:nvPr>
            <p:extLst>
              <p:ext uri="{D42A27DB-BD31-4B8C-83A1-F6EECF244321}">
                <p14:modId xmlns:p14="http://schemas.microsoft.com/office/powerpoint/2010/main" val="2021113534"/>
              </p:ext>
            </p:extLst>
          </p:nvPr>
        </p:nvGraphicFramePr>
        <p:xfrm>
          <a:off x="5429564" y="2503869"/>
          <a:ext cx="6500498" cy="925131"/>
        </p:xfrm>
        <a:graphic>
          <a:graphicData uri="http://schemas.openxmlformats.org/drawingml/2006/table">
            <a:tbl>
              <a:tblPr firstRow="1" bandRow="1">
                <a:tableStyleId>{073A0DAA-6AF3-43AB-8588-CEC1D06C72B9}</a:tableStyleId>
              </a:tblPr>
              <a:tblGrid>
                <a:gridCol w="6500498">
                  <a:extLst>
                    <a:ext uri="{9D8B030D-6E8A-4147-A177-3AD203B41FA5}">
                      <a16:colId xmlns:a16="http://schemas.microsoft.com/office/drawing/2014/main" val="3899577134"/>
                    </a:ext>
                  </a:extLst>
                </a:gridCol>
              </a:tblGrid>
              <a:tr h="271050">
                <a:tc>
                  <a:txBody>
                    <a:bodyPr/>
                    <a:lstStyle/>
                    <a:p>
                      <a:r>
                        <a:rPr lang="en-US" dirty="0"/>
                        <a:t>Output</a:t>
                      </a:r>
                    </a:p>
                  </a:txBody>
                  <a:tcPr/>
                </a:tc>
                <a:extLst>
                  <a:ext uri="{0D108BD9-81ED-4DB2-BD59-A6C34878D82A}">
                    <a16:rowId xmlns:a16="http://schemas.microsoft.com/office/drawing/2014/main" val="117988312"/>
                  </a:ext>
                </a:extLst>
              </a:tr>
              <a:tr h="620331">
                <a:tc>
                  <a:txBody>
                    <a:bodyPr/>
                    <a:lstStyle/>
                    <a:p>
                      <a:r>
                        <a:rPr lang="en-US" sz="1400" b="0" i="0" u="none" strike="noStrike" cap="none" dirty="0" err="1">
                          <a:solidFill>
                            <a:schemeClr val="tx2"/>
                          </a:solidFill>
                          <a:effectLst/>
                          <a:latin typeface="+mn-lt"/>
                          <a:ea typeface="+mn-ea"/>
                          <a:cs typeface="+mn-cs"/>
                          <a:sym typeface="Arial"/>
                        </a:rPr>
                        <a:t>tensor_gpu+random</a:t>
                      </a:r>
                      <a:r>
                        <a:rPr lang="en-US" sz="1400" b="0" i="0" u="none" strike="noStrike" cap="none" dirty="0">
                          <a:solidFill>
                            <a:schemeClr val="tx2"/>
                          </a:solidFill>
                          <a:effectLst/>
                          <a:latin typeface="+mn-lt"/>
                          <a:ea typeface="+mn-ea"/>
                          <a:cs typeface="+mn-cs"/>
                          <a:sym typeface="Arial"/>
                        </a:rPr>
                        <a:t>= tensor([1.7553, 2.4051, 3.2121, 4.4488], device='cuda:0')</a:t>
                      </a:r>
                    </a:p>
                    <a:p>
                      <a:r>
                        <a:rPr lang="en-US" sz="1400" b="0" i="0" u="none" strike="noStrike" cap="none" dirty="0" err="1">
                          <a:solidFill>
                            <a:schemeClr val="tx2"/>
                          </a:solidFill>
                          <a:effectLst/>
                          <a:latin typeface="+mn-lt"/>
                          <a:ea typeface="+mn-ea"/>
                          <a:cs typeface="+mn-cs"/>
                          <a:sym typeface="Arial"/>
                        </a:rPr>
                        <a:t>tensor_cpu+random</a:t>
                      </a:r>
                      <a:r>
                        <a:rPr lang="en-US" sz="1400" b="0" i="0" u="none" strike="noStrike" cap="none" dirty="0">
                          <a:solidFill>
                            <a:schemeClr val="tx2"/>
                          </a:solidFill>
                          <a:effectLst/>
                          <a:latin typeface="+mn-lt"/>
                          <a:ea typeface="+mn-ea"/>
                          <a:cs typeface="+mn-cs"/>
                          <a:sym typeface="Arial"/>
                        </a:rPr>
                        <a:t>= tensor([11.6101, 12.3621, 13.2859, 14.1753])</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69794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DAE9E-891F-70BF-B237-0A8C5C127FB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3804DD7-1917-32BB-3ADF-4D6E0BC64B77}"/>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BA62FAB6-1F84-7560-5784-C46935689366}"/>
              </a:ext>
            </a:extLst>
          </p:cNvPr>
          <p:cNvSpPr>
            <a:spLocks noGrp="1"/>
          </p:cNvSpPr>
          <p:nvPr>
            <p:ph idx="1"/>
          </p:nvPr>
        </p:nvSpPr>
        <p:spPr>
          <a:xfrm>
            <a:off x="1645611" y="1600200"/>
            <a:ext cx="9782801" cy="5410200"/>
          </a:xfrm>
        </p:spPr>
        <p:txBody>
          <a:bodyPr/>
          <a:lstStyle/>
          <a:p>
            <a:r>
              <a:rPr lang="en-US" dirty="0" err="1">
                <a:latin typeface="Arial" panose="020B0604020202020204" pitchFamily="34" charset="0"/>
                <a:cs typeface="Arial" panose="020B0604020202020204" pitchFamily="34" charset="0"/>
              </a:rPr>
              <a:t>Torch.squeeze</a:t>
            </a:r>
            <a:r>
              <a:rPr lang="en-US" dirty="0">
                <a:latin typeface="Arial" panose="020B0604020202020204" pitchFamily="34" charset="0"/>
                <a:cs typeface="Arial" panose="020B0604020202020204" pitchFamily="34" charset="0"/>
              </a:rPr>
              <a:t> is used to remove dimensions of size 1 from a tensor.</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93CD592E-CF75-0C44-162C-642A320659BD}"/>
              </a:ext>
            </a:extLst>
          </p:cNvPr>
          <p:cNvSpPr/>
          <p:nvPr/>
        </p:nvSpPr>
        <p:spPr>
          <a:xfrm>
            <a:off x="1965011" y="2747367"/>
            <a:ext cx="9144000" cy="213895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725"/>
              </a:lnSpc>
            </a:pPr>
            <a:r>
              <a:rPr lang="en-US" b="0" dirty="0">
                <a:solidFill>
                  <a:srgbClr val="C586C0"/>
                </a:solidFill>
                <a:effectLst/>
                <a:latin typeface="Menlo" panose="020B0609030804020204" pitchFamily="49" charset="0"/>
              </a:rPr>
              <a:t>import</a:t>
            </a:r>
            <a:r>
              <a:rPr lang="en-US" b="0" dirty="0">
                <a:solidFill>
                  <a:srgbClr val="CCCCCC"/>
                </a:solidFill>
                <a:effectLst/>
                <a:latin typeface="Menlo" panose="020B0609030804020204" pitchFamily="49" charset="0"/>
              </a:rPr>
              <a:t> </a:t>
            </a:r>
            <a:r>
              <a:rPr lang="en-US" b="0" dirty="0">
                <a:solidFill>
                  <a:srgbClr val="4EC9B0"/>
                </a:solidFill>
                <a:effectLst/>
                <a:latin typeface="Menlo" panose="020B0609030804020204" pitchFamily="49" charset="0"/>
              </a:rPr>
              <a:t>torch</a:t>
            </a:r>
            <a:endParaRPr lang="en-US" b="0" dirty="0">
              <a:solidFill>
                <a:srgbClr val="CCCCCC"/>
              </a:solidFill>
              <a:effectLst/>
              <a:latin typeface="Menlo" panose="020B0609030804020204" pitchFamily="49" charset="0"/>
            </a:endParaRPr>
          </a:p>
          <a:p>
            <a:pPr>
              <a:lnSpc>
                <a:spcPts val="1725"/>
              </a:lnSpc>
            </a:pPr>
            <a:r>
              <a:rPr lang="en-US" b="0" dirty="0">
                <a:solidFill>
                  <a:srgbClr val="9CDCFE"/>
                </a:solidFill>
                <a:effectLst/>
                <a:latin typeface="Menlo" panose="020B0609030804020204" pitchFamily="49" charset="0"/>
              </a:rPr>
              <a:t>x</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.tensor</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2</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3</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4</a:t>
            </a:r>
            <a:r>
              <a:rPr lang="en-US" b="0" dirty="0">
                <a:solidFill>
                  <a:srgbClr val="CCCCCC"/>
                </a:solidFill>
                <a:effectLst/>
                <a:latin typeface="Menlo" panose="020B0609030804020204" pitchFamily="49" charset="0"/>
              </a:rPr>
              <a:t>]])</a:t>
            </a:r>
          </a:p>
          <a:p>
            <a:pPr>
              <a:lnSpc>
                <a:spcPts val="1725"/>
              </a:lnSpc>
            </a:pPr>
            <a:r>
              <a:rPr lang="en-US" b="0" dirty="0">
                <a:solidFill>
                  <a:srgbClr val="DCDCAA"/>
                </a:solidFill>
                <a:effectLst/>
                <a:latin typeface="Menlo" panose="020B0609030804020204" pitchFamily="49" charset="0"/>
              </a:rPr>
              <a:t>print</a:t>
            </a:r>
            <a:r>
              <a:rPr lang="en-US" b="0" dirty="0">
                <a:solidFill>
                  <a:srgbClr val="CCCCCC"/>
                </a:solidFill>
                <a:effectLst/>
                <a:latin typeface="Menlo" panose="020B0609030804020204" pitchFamily="49" charset="0"/>
              </a:rPr>
              <a:t>(</a:t>
            </a:r>
            <a:r>
              <a:rPr lang="en-US" b="0" dirty="0" err="1">
                <a:solidFill>
                  <a:srgbClr val="9CDCFE"/>
                </a:solidFill>
                <a:effectLst/>
                <a:latin typeface="Menlo" panose="020B0609030804020204" pitchFamily="49" charset="0"/>
              </a:rPr>
              <a:t>x</a:t>
            </a:r>
            <a:r>
              <a:rPr lang="en-US" b="0" dirty="0" err="1">
                <a:solidFill>
                  <a:srgbClr val="CCCCCC"/>
                </a:solidFill>
                <a:effectLst/>
                <a:latin typeface="Menlo" panose="020B0609030804020204" pitchFamily="49" charset="0"/>
              </a:rPr>
              <a:t>.shape</a:t>
            </a:r>
            <a:r>
              <a:rPr lang="en-US" b="0" dirty="0">
                <a:solidFill>
                  <a:srgbClr val="CCCCCC"/>
                </a:solidFill>
                <a:effectLst/>
                <a:latin typeface="Menlo" panose="020B0609030804020204" pitchFamily="49" charset="0"/>
              </a:rPr>
              <a:t>)</a:t>
            </a:r>
          </a:p>
          <a:p>
            <a:pPr>
              <a:lnSpc>
                <a:spcPts val="1725"/>
              </a:lnSpc>
            </a:pPr>
            <a:r>
              <a:rPr lang="en-US" b="0" dirty="0">
                <a:solidFill>
                  <a:srgbClr val="DCDCAA"/>
                </a:solidFill>
                <a:effectLst/>
                <a:latin typeface="Menlo" panose="020B0609030804020204" pitchFamily="49" charset="0"/>
              </a:rPr>
              <a:t>print</a:t>
            </a:r>
            <a:r>
              <a:rPr lang="en-US" b="0" dirty="0">
                <a:solidFill>
                  <a:srgbClr val="CCCCCC"/>
                </a:solidFill>
                <a:effectLst/>
                <a:latin typeface="Menlo" panose="020B0609030804020204" pitchFamily="49" charset="0"/>
              </a:rPr>
              <a:t>(</a:t>
            </a:r>
            <a:r>
              <a:rPr lang="en-US" b="0" dirty="0">
                <a:solidFill>
                  <a:srgbClr val="CE9178"/>
                </a:solidFill>
                <a:effectLst/>
                <a:latin typeface="Menlo" panose="020B0609030804020204" pitchFamily="49" charset="0"/>
              </a:rPr>
              <a:t>"After squeeze"</a:t>
            </a:r>
            <a:r>
              <a:rPr lang="en-US" b="0" dirty="0">
                <a:solidFill>
                  <a:srgbClr val="CCCCCC"/>
                </a:solidFill>
                <a:effectLst/>
                <a:latin typeface="Menlo" panose="020B0609030804020204" pitchFamily="49" charset="0"/>
              </a:rPr>
              <a:t>)</a:t>
            </a:r>
          </a:p>
          <a:p>
            <a:pPr>
              <a:lnSpc>
                <a:spcPts val="1725"/>
              </a:lnSpc>
            </a:pPr>
            <a:r>
              <a:rPr lang="en-US" b="0" dirty="0">
                <a:solidFill>
                  <a:srgbClr val="9CDCFE"/>
                </a:solidFill>
                <a:effectLst/>
                <a:latin typeface="Menlo" panose="020B0609030804020204" pitchFamily="49" charset="0"/>
              </a:rPr>
              <a:t>x</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.squeeze</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x</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a:t>
            </a:r>
            <a:r>
              <a:rPr lang="en-US" b="0" dirty="0">
                <a:solidFill>
                  <a:srgbClr val="CCCCCC"/>
                </a:solidFill>
                <a:effectLst/>
                <a:latin typeface="Menlo" panose="020B0609030804020204" pitchFamily="49" charset="0"/>
              </a:rPr>
              <a:t>)</a:t>
            </a:r>
          </a:p>
          <a:p>
            <a:pPr>
              <a:lnSpc>
                <a:spcPts val="1725"/>
              </a:lnSpc>
            </a:pPr>
            <a:r>
              <a:rPr lang="en-US" b="0" dirty="0">
                <a:solidFill>
                  <a:srgbClr val="DCDCAA"/>
                </a:solidFill>
                <a:effectLst/>
                <a:latin typeface="Menlo" panose="020B0609030804020204" pitchFamily="49" charset="0"/>
              </a:rPr>
              <a:t>print</a:t>
            </a:r>
            <a:r>
              <a:rPr lang="en-US" b="0" dirty="0">
                <a:solidFill>
                  <a:srgbClr val="CCCCCC"/>
                </a:solidFill>
                <a:effectLst/>
                <a:latin typeface="Menlo" panose="020B0609030804020204" pitchFamily="49" charset="0"/>
              </a:rPr>
              <a:t>(</a:t>
            </a:r>
            <a:r>
              <a:rPr lang="en-US" b="0" dirty="0" err="1">
                <a:solidFill>
                  <a:srgbClr val="9CDCFE"/>
                </a:solidFill>
                <a:effectLst/>
                <a:latin typeface="Menlo" panose="020B0609030804020204" pitchFamily="49" charset="0"/>
              </a:rPr>
              <a:t>x</a:t>
            </a:r>
            <a:r>
              <a:rPr lang="en-US" b="0" dirty="0" err="1">
                <a:solidFill>
                  <a:srgbClr val="CCCCCC"/>
                </a:solidFill>
                <a:effectLst/>
                <a:latin typeface="Menlo" panose="020B0609030804020204" pitchFamily="49" charset="0"/>
              </a:rPr>
              <a:t>.shape</a:t>
            </a:r>
            <a:r>
              <a:rPr lang="en-US" b="0" dirty="0">
                <a:solidFill>
                  <a:srgbClr val="CCCCCC"/>
                </a:solidFill>
                <a:effectLst/>
                <a:latin typeface="Menlo" panose="020B0609030804020204" pitchFamily="49" charset="0"/>
              </a:rPr>
              <a:t>)</a:t>
            </a:r>
          </a:p>
          <a:p>
            <a:pPr>
              <a:lnSpc>
                <a:spcPts val="1725"/>
              </a:lnSpc>
            </a:pPr>
            <a:r>
              <a:rPr lang="en-US" b="0" dirty="0">
                <a:solidFill>
                  <a:srgbClr val="DCDCAA"/>
                </a:solidFill>
                <a:effectLst/>
                <a:latin typeface="Menlo" panose="020B0609030804020204" pitchFamily="49" charset="0"/>
              </a:rPr>
              <a:t>print</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x</a:t>
            </a:r>
            <a:r>
              <a:rPr lang="en-US" b="0" dirty="0">
                <a:solidFill>
                  <a:srgbClr val="CCCCCC"/>
                </a:solidFill>
                <a:effectLst/>
                <a:latin typeface="Menlo" panose="020B0609030804020204" pitchFamily="49" charset="0"/>
              </a:rPr>
              <a:t>)</a:t>
            </a:r>
          </a:p>
        </p:txBody>
      </p:sp>
      <p:graphicFrame>
        <p:nvGraphicFramePr>
          <p:cNvPr id="2" name="Table 3">
            <a:extLst>
              <a:ext uri="{FF2B5EF4-FFF2-40B4-BE49-F238E27FC236}">
                <a16:creationId xmlns:a16="http://schemas.microsoft.com/office/drawing/2014/main" id="{71E29EB3-A9D7-B6ED-C276-FE7D37F2770F}"/>
              </a:ext>
            </a:extLst>
          </p:cNvPr>
          <p:cNvGraphicFramePr>
            <a:graphicFrameLocks noGrp="1"/>
          </p:cNvGraphicFramePr>
          <p:nvPr>
            <p:extLst>
              <p:ext uri="{D42A27DB-BD31-4B8C-83A1-F6EECF244321}">
                <p14:modId xmlns:p14="http://schemas.microsoft.com/office/powerpoint/2010/main" val="1102647613"/>
              </p:ext>
            </p:extLst>
          </p:nvPr>
        </p:nvGraphicFramePr>
        <p:xfrm>
          <a:off x="6094412" y="4560665"/>
          <a:ext cx="6108386" cy="1249680"/>
        </p:xfrm>
        <a:graphic>
          <a:graphicData uri="http://schemas.openxmlformats.org/drawingml/2006/table">
            <a:tbl>
              <a:tblPr firstRow="1" bandRow="1">
                <a:tableStyleId>{073A0DAA-6AF3-43AB-8588-CEC1D06C72B9}</a:tableStyleId>
              </a:tblPr>
              <a:tblGrid>
                <a:gridCol w="6108386">
                  <a:extLst>
                    <a:ext uri="{9D8B030D-6E8A-4147-A177-3AD203B41FA5}">
                      <a16:colId xmlns:a16="http://schemas.microsoft.com/office/drawing/2014/main" val="3899577134"/>
                    </a:ext>
                  </a:extLst>
                </a:gridCol>
              </a:tblGrid>
              <a:tr h="271050">
                <a:tc>
                  <a:txBody>
                    <a:bodyPr/>
                    <a:lstStyle/>
                    <a:p>
                      <a:r>
                        <a:rPr lang="en-US" dirty="0"/>
                        <a:t>Output</a:t>
                      </a:r>
                    </a:p>
                  </a:txBody>
                  <a:tcPr/>
                </a:tc>
                <a:extLst>
                  <a:ext uri="{0D108BD9-81ED-4DB2-BD59-A6C34878D82A}">
                    <a16:rowId xmlns:a16="http://schemas.microsoft.com/office/drawing/2014/main" val="117988312"/>
                  </a:ext>
                </a:extLst>
              </a:tr>
              <a:tr h="620331">
                <a:tc>
                  <a:txBody>
                    <a:bodyPr/>
                    <a:lstStyle/>
                    <a:p>
                      <a:r>
                        <a:rPr lang="en-US" sz="1400" b="0" i="0" u="none" strike="noStrike" cap="none" dirty="0" err="1">
                          <a:solidFill>
                            <a:schemeClr val="tx2"/>
                          </a:solidFill>
                          <a:effectLst/>
                          <a:latin typeface="+mn-lt"/>
                          <a:ea typeface="+mn-ea"/>
                          <a:cs typeface="+mn-cs"/>
                          <a:sym typeface="Arial"/>
                        </a:rPr>
                        <a:t>torch.Size</a:t>
                      </a:r>
                      <a:r>
                        <a:rPr lang="en-US" sz="1400" b="0" i="0" u="none" strike="noStrike" cap="none" dirty="0">
                          <a:solidFill>
                            <a:schemeClr val="tx2"/>
                          </a:solidFill>
                          <a:effectLst/>
                          <a:latin typeface="+mn-lt"/>
                          <a:ea typeface="+mn-ea"/>
                          <a:cs typeface="+mn-cs"/>
                          <a:sym typeface="Arial"/>
                        </a:rPr>
                        <a:t>([4, 1])</a:t>
                      </a:r>
                    </a:p>
                    <a:p>
                      <a:r>
                        <a:rPr lang="en-US" sz="1400" b="0" i="0" u="none" strike="noStrike" cap="none" dirty="0">
                          <a:solidFill>
                            <a:schemeClr val="tx2"/>
                          </a:solidFill>
                          <a:effectLst/>
                          <a:latin typeface="+mn-lt"/>
                          <a:ea typeface="+mn-ea"/>
                          <a:cs typeface="+mn-cs"/>
                          <a:sym typeface="Arial"/>
                        </a:rPr>
                        <a:t>After squeeze</a:t>
                      </a:r>
                    </a:p>
                    <a:p>
                      <a:r>
                        <a:rPr lang="en-US" sz="1400" b="0" i="0" u="none" strike="noStrike" cap="none" dirty="0" err="1">
                          <a:solidFill>
                            <a:schemeClr val="tx2"/>
                          </a:solidFill>
                          <a:effectLst/>
                          <a:latin typeface="+mn-lt"/>
                          <a:ea typeface="+mn-ea"/>
                          <a:cs typeface="+mn-cs"/>
                          <a:sym typeface="Arial"/>
                        </a:rPr>
                        <a:t>torch.Size</a:t>
                      </a:r>
                      <a:r>
                        <a:rPr lang="en-US" sz="1400" b="0" i="0" u="none" strike="noStrike" cap="none" dirty="0">
                          <a:solidFill>
                            <a:schemeClr val="tx2"/>
                          </a:solidFill>
                          <a:effectLst/>
                          <a:latin typeface="+mn-lt"/>
                          <a:ea typeface="+mn-ea"/>
                          <a:cs typeface="+mn-cs"/>
                          <a:sym typeface="Arial"/>
                        </a:rPr>
                        <a:t>([4])</a:t>
                      </a:r>
                    </a:p>
                    <a:p>
                      <a:r>
                        <a:rPr lang="en-US" sz="1400" b="0" i="0" u="none" strike="noStrike" cap="none" dirty="0">
                          <a:solidFill>
                            <a:schemeClr val="tx2"/>
                          </a:solidFill>
                          <a:effectLst/>
                          <a:latin typeface="+mn-lt"/>
                          <a:ea typeface="+mn-ea"/>
                          <a:cs typeface="+mn-cs"/>
                          <a:sym typeface="Arial"/>
                        </a:rPr>
                        <a:t>tensor([1, 2, 3, 4])</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935018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09565-E1D1-986F-00FB-06CED80AB00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814105-5F63-1704-9D4F-8BA1D42A5540}"/>
              </a:ext>
            </a:extLst>
          </p:cNvPr>
          <p:cNvSpPr>
            <a:spLocks noGrp="1"/>
          </p:cNvSpPr>
          <p:nvPr>
            <p:ph type="title"/>
          </p:nvPr>
        </p:nvSpPr>
        <p:spPr/>
        <p:txBody>
          <a:bodyPr/>
          <a:lstStyle/>
          <a:p>
            <a:r>
              <a:rPr lang="en-US" dirty="0"/>
              <a:t>Tensors</a:t>
            </a:r>
          </a:p>
        </p:txBody>
      </p:sp>
      <p:sp>
        <p:nvSpPr>
          <p:cNvPr id="6" name="Content Placeholder 5">
            <a:extLst>
              <a:ext uri="{FF2B5EF4-FFF2-40B4-BE49-F238E27FC236}">
                <a16:creationId xmlns:a16="http://schemas.microsoft.com/office/drawing/2014/main" id="{FCDA2B0F-0AC3-A8FF-0124-787FAC65334B}"/>
              </a:ext>
            </a:extLst>
          </p:cNvPr>
          <p:cNvSpPr>
            <a:spLocks noGrp="1"/>
          </p:cNvSpPr>
          <p:nvPr>
            <p:ph idx="1"/>
          </p:nvPr>
        </p:nvSpPr>
        <p:spPr>
          <a:xfrm>
            <a:off x="1645611" y="1600200"/>
            <a:ext cx="9782801" cy="5410200"/>
          </a:xfrm>
        </p:spPr>
        <p:txBody>
          <a:bodyPr/>
          <a:lstStyle/>
          <a:p>
            <a:r>
              <a:rPr lang="en-US" dirty="0">
                <a:latin typeface="Arial" panose="020B0604020202020204" pitchFamily="34" charset="0"/>
                <a:cs typeface="Arial" panose="020B0604020202020204" pitchFamily="34" charset="0"/>
              </a:rPr>
              <a:t>Similar, you can add another dimension to the tensor using </a:t>
            </a:r>
            <a:r>
              <a:rPr lang="en-US" dirty="0" err="1">
                <a:latin typeface="Arial" panose="020B0604020202020204" pitchFamily="34" charset="0"/>
                <a:cs typeface="Arial" panose="020B0604020202020204" pitchFamily="34" charset="0"/>
              </a:rPr>
              <a:t>unsqueeze</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9BC4719-51C2-19FA-0733-D86AB31B5EA7}"/>
              </a:ext>
            </a:extLst>
          </p:cNvPr>
          <p:cNvSpPr/>
          <p:nvPr/>
        </p:nvSpPr>
        <p:spPr>
          <a:xfrm>
            <a:off x="1965011" y="2747367"/>
            <a:ext cx="9144000" cy="336768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725"/>
              </a:lnSpc>
            </a:pPr>
            <a:r>
              <a:rPr lang="en-US" b="0" dirty="0">
                <a:solidFill>
                  <a:srgbClr val="C586C0"/>
                </a:solidFill>
                <a:effectLst/>
                <a:latin typeface="Menlo" panose="020B0609030804020204" pitchFamily="49" charset="0"/>
              </a:rPr>
              <a:t>import</a:t>
            </a:r>
            <a:r>
              <a:rPr lang="en-US" b="0" dirty="0">
                <a:solidFill>
                  <a:srgbClr val="CCCCCC"/>
                </a:solidFill>
                <a:effectLst/>
                <a:latin typeface="Menlo" panose="020B0609030804020204" pitchFamily="49" charset="0"/>
              </a:rPr>
              <a:t> </a:t>
            </a:r>
            <a:r>
              <a:rPr lang="en-US" b="0" dirty="0">
                <a:solidFill>
                  <a:srgbClr val="4EC9B0"/>
                </a:solidFill>
                <a:effectLst/>
                <a:latin typeface="Menlo" panose="020B0609030804020204" pitchFamily="49" charset="0"/>
              </a:rPr>
              <a:t>torch</a:t>
            </a:r>
            <a:endParaRPr lang="en-US" b="0" dirty="0">
              <a:solidFill>
                <a:srgbClr val="CCCCCC"/>
              </a:solidFill>
              <a:effectLst/>
              <a:latin typeface="Menlo" panose="020B0609030804020204" pitchFamily="49" charset="0"/>
            </a:endParaRPr>
          </a:p>
          <a:p>
            <a:pPr>
              <a:lnSpc>
                <a:spcPts val="1725"/>
              </a:lnSpc>
            </a:pPr>
            <a:r>
              <a:rPr lang="en-US" b="0" dirty="0">
                <a:solidFill>
                  <a:srgbClr val="9CDCFE"/>
                </a:solidFill>
                <a:effectLst/>
                <a:latin typeface="Menlo" panose="020B0609030804020204" pitchFamily="49" charset="0"/>
              </a:rPr>
              <a:t>x</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.tensor</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2</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3</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4</a:t>
            </a:r>
            <a:r>
              <a:rPr lang="en-US" b="0" dirty="0">
                <a:solidFill>
                  <a:srgbClr val="CCCCCC"/>
                </a:solidFill>
                <a:effectLst/>
                <a:latin typeface="Menlo" panose="020B0609030804020204" pitchFamily="49" charset="0"/>
              </a:rPr>
              <a:t>])</a:t>
            </a:r>
          </a:p>
          <a:p>
            <a:pPr>
              <a:lnSpc>
                <a:spcPts val="1725"/>
              </a:lnSpc>
            </a:pPr>
            <a:r>
              <a:rPr lang="en-US" b="0" dirty="0">
                <a:solidFill>
                  <a:srgbClr val="9CDCFE"/>
                </a:solidFill>
                <a:effectLst/>
                <a:latin typeface="Menlo" panose="020B0609030804020204" pitchFamily="49" charset="0"/>
              </a:rPr>
              <a:t>y</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.tensor</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11</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12</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13</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14</a:t>
            </a:r>
            <a:r>
              <a:rPr lang="en-US" b="0" dirty="0">
                <a:solidFill>
                  <a:srgbClr val="CCCCCC"/>
                </a:solidFill>
                <a:effectLst/>
                <a:latin typeface="Menlo" panose="020B0609030804020204" pitchFamily="49" charset="0"/>
              </a:rPr>
              <a:t>])</a:t>
            </a:r>
            <a:br>
              <a:rPr lang="en-US" b="0" dirty="0">
                <a:solidFill>
                  <a:srgbClr val="CCCCCC"/>
                </a:solidFill>
                <a:effectLst/>
                <a:latin typeface="Menlo" panose="020B0609030804020204" pitchFamily="49" charset="0"/>
              </a:rPr>
            </a:br>
            <a:r>
              <a:rPr lang="en-US" b="0" dirty="0">
                <a:solidFill>
                  <a:srgbClr val="9CDCFE"/>
                </a:solidFill>
                <a:effectLst/>
                <a:latin typeface="Menlo" panose="020B0609030804020204" pitchFamily="49" charset="0"/>
              </a:rPr>
              <a:t>z</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.concat</a:t>
            </a:r>
            <a:r>
              <a:rPr lang="en-US" b="0" dirty="0">
                <a:solidFill>
                  <a:srgbClr val="CCCCCC"/>
                </a:solidFill>
                <a:effectLst/>
                <a:latin typeface="Menlo" panose="020B0609030804020204" pitchFamily="49" charset="0"/>
              </a:rPr>
              <a:t>((</a:t>
            </a:r>
            <a:r>
              <a:rPr lang="en-US" b="0" dirty="0" err="1">
                <a:solidFill>
                  <a:srgbClr val="9CDCFE"/>
                </a:solidFill>
                <a:effectLst/>
                <a:latin typeface="Menlo" panose="020B0609030804020204" pitchFamily="49" charset="0"/>
              </a:rPr>
              <a:t>x</a:t>
            </a:r>
            <a:r>
              <a:rPr lang="en-US" b="0" dirty="0" err="1">
                <a:solidFill>
                  <a:srgbClr val="CCCCCC"/>
                </a:solidFill>
                <a:effectLst/>
                <a:latin typeface="Menlo" panose="020B0609030804020204" pitchFamily="49" charset="0"/>
              </a:rPr>
              <a:t>,</a:t>
            </a:r>
            <a:r>
              <a:rPr lang="en-US" b="0" dirty="0" err="1">
                <a:solidFill>
                  <a:srgbClr val="9CDCFE"/>
                </a:solidFill>
                <a:effectLst/>
                <a:latin typeface="Menlo" panose="020B0609030804020204" pitchFamily="49" charset="0"/>
              </a:rPr>
              <a:t>y</a:t>
            </a:r>
            <a:r>
              <a:rPr lang="en-US" b="0" dirty="0">
                <a:solidFill>
                  <a:srgbClr val="CCCCCC"/>
                </a:solidFill>
                <a:effectLst/>
                <a:latin typeface="Menlo" panose="020B0609030804020204" pitchFamily="49" charset="0"/>
              </a:rPr>
              <a:t>))</a:t>
            </a:r>
          </a:p>
          <a:p>
            <a:pPr>
              <a:lnSpc>
                <a:spcPts val="1725"/>
              </a:lnSpc>
            </a:pPr>
            <a:r>
              <a:rPr lang="en-US" b="0" dirty="0">
                <a:solidFill>
                  <a:srgbClr val="DCDCAA"/>
                </a:solidFill>
                <a:effectLst/>
                <a:latin typeface="Menlo" panose="020B0609030804020204" pitchFamily="49" charset="0"/>
              </a:rPr>
              <a:t>print</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z</a:t>
            </a:r>
            <a:r>
              <a:rPr lang="en-US" b="0" dirty="0">
                <a:solidFill>
                  <a:srgbClr val="CCCCCC"/>
                </a:solidFill>
                <a:effectLst/>
                <a:latin typeface="Menlo" panose="020B0609030804020204" pitchFamily="49" charset="0"/>
              </a:rPr>
              <a:t>)</a:t>
            </a:r>
          </a:p>
          <a:p>
            <a:pPr>
              <a:lnSpc>
                <a:spcPts val="1725"/>
              </a:lnSpc>
            </a:pPr>
            <a:br>
              <a:rPr lang="en-US" b="0" dirty="0">
                <a:solidFill>
                  <a:srgbClr val="CCCCCC"/>
                </a:solidFill>
                <a:effectLst/>
                <a:latin typeface="Menlo" panose="020B0609030804020204" pitchFamily="49" charset="0"/>
              </a:rPr>
            </a:br>
            <a:r>
              <a:rPr lang="en-US" b="0" dirty="0">
                <a:solidFill>
                  <a:srgbClr val="9CDCFE"/>
                </a:solidFill>
                <a:effectLst/>
                <a:latin typeface="Menlo" panose="020B0609030804020204" pitchFamily="49" charset="0"/>
              </a:rPr>
              <a:t>x1</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.unsqueeze</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x</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0</a:t>
            </a:r>
            <a:r>
              <a:rPr lang="en-US" b="0" dirty="0">
                <a:solidFill>
                  <a:srgbClr val="CCCCCC"/>
                </a:solidFill>
                <a:effectLst/>
                <a:latin typeface="Menlo" panose="020B0609030804020204" pitchFamily="49" charset="0"/>
              </a:rPr>
              <a:t>)</a:t>
            </a:r>
          </a:p>
          <a:p>
            <a:pPr>
              <a:lnSpc>
                <a:spcPts val="1725"/>
              </a:lnSpc>
            </a:pPr>
            <a:r>
              <a:rPr lang="en-US" b="0" dirty="0">
                <a:solidFill>
                  <a:srgbClr val="9CDCFE"/>
                </a:solidFill>
                <a:effectLst/>
                <a:latin typeface="Menlo" panose="020B0609030804020204" pitchFamily="49" charset="0"/>
              </a:rPr>
              <a:t>y1</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.unsqueeze</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y</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0</a:t>
            </a:r>
            <a:r>
              <a:rPr lang="en-US" b="0" dirty="0">
                <a:solidFill>
                  <a:srgbClr val="CCCCCC"/>
                </a:solidFill>
                <a:effectLst/>
                <a:latin typeface="Menlo" panose="020B0609030804020204" pitchFamily="49" charset="0"/>
              </a:rPr>
              <a:t>)</a:t>
            </a:r>
          </a:p>
          <a:p>
            <a:pPr>
              <a:lnSpc>
                <a:spcPts val="1725"/>
              </a:lnSpc>
            </a:pPr>
            <a:r>
              <a:rPr lang="en-US" b="0" dirty="0">
                <a:solidFill>
                  <a:srgbClr val="9CDCFE"/>
                </a:solidFill>
                <a:effectLst/>
                <a:latin typeface="Menlo" panose="020B0609030804020204" pitchFamily="49" charset="0"/>
              </a:rPr>
              <a:t>z</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.concat</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x1</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y1</a:t>
            </a:r>
            <a:r>
              <a:rPr lang="en-US" b="0" dirty="0">
                <a:solidFill>
                  <a:srgbClr val="CCCCCC"/>
                </a:solidFill>
                <a:effectLst/>
                <a:latin typeface="Menlo" panose="020B0609030804020204" pitchFamily="49" charset="0"/>
              </a:rPr>
              <a:t>))</a:t>
            </a:r>
          </a:p>
          <a:p>
            <a:pPr>
              <a:lnSpc>
                <a:spcPts val="1725"/>
              </a:lnSpc>
            </a:pPr>
            <a:r>
              <a:rPr lang="en-US" b="0" dirty="0">
                <a:solidFill>
                  <a:srgbClr val="DCDCAA"/>
                </a:solidFill>
                <a:effectLst/>
                <a:latin typeface="Menlo" panose="020B0609030804020204" pitchFamily="49" charset="0"/>
              </a:rPr>
              <a:t>print</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x1</a:t>
            </a:r>
            <a:r>
              <a:rPr lang="en-US" b="0" dirty="0">
                <a:solidFill>
                  <a:srgbClr val="CCCCCC"/>
                </a:solidFill>
                <a:effectLst/>
                <a:latin typeface="Menlo" panose="020B0609030804020204" pitchFamily="49" charset="0"/>
              </a:rPr>
              <a:t>, </a:t>
            </a:r>
            <a:r>
              <a:rPr lang="en-US" b="0" dirty="0">
                <a:solidFill>
                  <a:srgbClr val="9CDCFE"/>
                </a:solidFill>
                <a:effectLst/>
                <a:latin typeface="Menlo" panose="020B0609030804020204" pitchFamily="49" charset="0"/>
              </a:rPr>
              <a:t>y1</a:t>
            </a:r>
            <a:r>
              <a:rPr lang="en-US" b="0" dirty="0">
                <a:solidFill>
                  <a:srgbClr val="CCCCCC"/>
                </a:solidFill>
                <a:effectLst/>
                <a:latin typeface="Menlo" panose="020B0609030804020204" pitchFamily="49" charset="0"/>
              </a:rPr>
              <a:t>)</a:t>
            </a:r>
          </a:p>
          <a:p>
            <a:pPr>
              <a:lnSpc>
                <a:spcPts val="1725"/>
              </a:lnSpc>
            </a:pPr>
            <a:r>
              <a:rPr lang="en-US" b="0" dirty="0">
                <a:solidFill>
                  <a:srgbClr val="DCDCAA"/>
                </a:solidFill>
                <a:effectLst/>
                <a:latin typeface="Menlo" panose="020B0609030804020204" pitchFamily="49" charset="0"/>
              </a:rPr>
              <a:t>print</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z</a:t>
            </a:r>
            <a:r>
              <a:rPr lang="en-US" b="0" dirty="0">
                <a:solidFill>
                  <a:srgbClr val="CCCCCC"/>
                </a:solidFill>
                <a:effectLst/>
                <a:latin typeface="Menlo" panose="020B0609030804020204" pitchFamily="49" charset="0"/>
              </a:rPr>
              <a:t>)</a:t>
            </a:r>
          </a:p>
        </p:txBody>
      </p:sp>
      <p:graphicFrame>
        <p:nvGraphicFramePr>
          <p:cNvPr id="2" name="Table 3">
            <a:extLst>
              <a:ext uri="{FF2B5EF4-FFF2-40B4-BE49-F238E27FC236}">
                <a16:creationId xmlns:a16="http://schemas.microsoft.com/office/drawing/2014/main" id="{8BD93EAC-8358-963B-4E75-8B969C863A1C}"/>
              </a:ext>
            </a:extLst>
          </p:cNvPr>
          <p:cNvGraphicFramePr>
            <a:graphicFrameLocks noGrp="1"/>
          </p:cNvGraphicFramePr>
          <p:nvPr>
            <p:extLst>
              <p:ext uri="{D42A27DB-BD31-4B8C-83A1-F6EECF244321}">
                <p14:modId xmlns:p14="http://schemas.microsoft.com/office/powerpoint/2010/main" val="4285763272"/>
              </p:ext>
            </p:extLst>
          </p:nvPr>
        </p:nvGraphicFramePr>
        <p:xfrm>
          <a:off x="6222999" y="3917727"/>
          <a:ext cx="4572000" cy="1463040"/>
        </p:xfrm>
        <a:graphic>
          <a:graphicData uri="http://schemas.openxmlformats.org/drawingml/2006/table">
            <a:tbl>
              <a:tblPr firstRow="1" bandRow="1">
                <a:tableStyleId>{073A0DAA-6AF3-43AB-8588-CEC1D06C72B9}</a:tableStyleId>
              </a:tblPr>
              <a:tblGrid>
                <a:gridCol w="4572000">
                  <a:extLst>
                    <a:ext uri="{9D8B030D-6E8A-4147-A177-3AD203B41FA5}">
                      <a16:colId xmlns:a16="http://schemas.microsoft.com/office/drawing/2014/main" val="3899577134"/>
                    </a:ext>
                  </a:extLst>
                </a:gridCol>
              </a:tblGrid>
              <a:tr h="271050">
                <a:tc>
                  <a:txBody>
                    <a:bodyPr/>
                    <a:lstStyle/>
                    <a:p>
                      <a:r>
                        <a:rPr lang="en-US" dirty="0"/>
                        <a:t>Output</a:t>
                      </a:r>
                    </a:p>
                  </a:txBody>
                  <a:tcPr/>
                </a:tc>
                <a:extLst>
                  <a:ext uri="{0D108BD9-81ED-4DB2-BD59-A6C34878D82A}">
                    <a16:rowId xmlns:a16="http://schemas.microsoft.com/office/drawing/2014/main" val="117988312"/>
                  </a:ext>
                </a:extLst>
              </a:tr>
              <a:tr h="620331">
                <a:tc>
                  <a:txBody>
                    <a:bodyPr/>
                    <a:lstStyle/>
                    <a:p>
                      <a:r>
                        <a:rPr lang="en-US" sz="1400" b="0" i="0" u="none" strike="noStrike" cap="none" dirty="0">
                          <a:solidFill>
                            <a:schemeClr val="tx2"/>
                          </a:solidFill>
                          <a:effectLst/>
                          <a:latin typeface="+mn-lt"/>
                          <a:ea typeface="+mn-ea"/>
                          <a:cs typeface="+mn-cs"/>
                          <a:sym typeface="Arial"/>
                        </a:rPr>
                        <a:t>z= tensor([ 1,  2,  3,  4, 11, 12, 13, 14])</a:t>
                      </a:r>
                    </a:p>
                    <a:p>
                      <a:r>
                        <a:rPr lang="en-US" sz="1400" b="0" i="0" u="none" strike="noStrike" cap="none" dirty="0">
                          <a:solidFill>
                            <a:schemeClr val="tx2"/>
                          </a:solidFill>
                          <a:effectLst/>
                          <a:latin typeface="+mn-lt"/>
                          <a:ea typeface="+mn-ea"/>
                          <a:cs typeface="+mn-cs"/>
                          <a:sym typeface="Arial"/>
                        </a:rPr>
                        <a:t>x1= tensor([[1, 2, 3, 4]])</a:t>
                      </a:r>
                    </a:p>
                    <a:p>
                      <a:r>
                        <a:rPr lang="en-US" sz="1400" b="0" i="0" u="none" strike="noStrike" cap="none" dirty="0">
                          <a:solidFill>
                            <a:schemeClr val="tx2"/>
                          </a:solidFill>
                          <a:effectLst/>
                          <a:latin typeface="+mn-lt"/>
                          <a:ea typeface="+mn-ea"/>
                          <a:cs typeface="+mn-cs"/>
                          <a:sym typeface="Arial"/>
                        </a:rPr>
                        <a:t>y1= tensor([[11, 12, 13, 14]])</a:t>
                      </a:r>
                    </a:p>
                    <a:p>
                      <a:r>
                        <a:rPr lang="en-US" sz="1400" b="0" i="0" u="none" strike="noStrike" cap="none" dirty="0">
                          <a:solidFill>
                            <a:schemeClr val="tx2"/>
                          </a:solidFill>
                          <a:effectLst/>
                          <a:latin typeface="+mn-lt"/>
                          <a:ea typeface="+mn-ea"/>
                          <a:cs typeface="+mn-cs"/>
                          <a:sym typeface="Arial"/>
                        </a:rPr>
                        <a:t>z1= tensor([[ 1,  2,  3,  4],</a:t>
                      </a:r>
                    </a:p>
                    <a:p>
                      <a:r>
                        <a:rPr lang="en-US" sz="1400" b="0" i="0" u="none" strike="noStrike" cap="none" dirty="0">
                          <a:solidFill>
                            <a:schemeClr val="tx2"/>
                          </a:solidFill>
                          <a:effectLst/>
                          <a:latin typeface="+mn-lt"/>
                          <a:ea typeface="+mn-ea"/>
                          <a:cs typeface="+mn-cs"/>
                          <a:sym typeface="Arial"/>
                        </a:rPr>
                        <a:t>        [11, 12, 13, 14]])</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121270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Layers</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75575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Layers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p:txBody>
          <a:bodyPr/>
          <a:lstStyle/>
          <a:p>
            <a:r>
              <a:rPr lang="en-US" dirty="0"/>
              <a:t>In a previous course we have defied a simple neuronal network as follows:</a:t>
            </a:r>
          </a:p>
        </p:txBody>
      </p:sp>
      <p:grpSp>
        <p:nvGrpSpPr>
          <p:cNvPr id="3" name="Group 2">
            <a:extLst>
              <a:ext uri="{FF2B5EF4-FFF2-40B4-BE49-F238E27FC236}">
                <a16:creationId xmlns:a16="http://schemas.microsoft.com/office/drawing/2014/main" id="{8D4BFC7E-FDBF-AB24-DB7F-01C4DACC2320}"/>
              </a:ext>
            </a:extLst>
          </p:cNvPr>
          <p:cNvGrpSpPr/>
          <p:nvPr/>
        </p:nvGrpSpPr>
        <p:grpSpPr>
          <a:xfrm>
            <a:off x="1674811" y="3200400"/>
            <a:ext cx="10013751" cy="2766014"/>
            <a:chOff x="1414661" y="3195791"/>
            <a:chExt cx="10013751" cy="2766014"/>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F3CF88F-D7FB-FBC6-972C-F328E6207B88}"/>
                    </a:ext>
                  </a:extLst>
                </p:cNvPr>
                <p:cNvSpPr txBox="1"/>
                <p:nvPr/>
              </p:nvSpPr>
              <p:spPr>
                <a:xfrm>
                  <a:off x="1414661" y="3742870"/>
                  <a:ext cx="793551" cy="8228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b="1" i="1" smtClean="0">
                                <a:latin typeface="Cambria Math" panose="02040503050406030204" pitchFamily="18" charset="0"/>
                              </a:rPr>
                            </m:ctrlPr>
                          </m:dPr>
                          <m:e>
                            <m:m>
                              <m:mPr>
                                <m:mcs>
                                  <m:mc>
                                    <m:mcPr>
                                      <m:count m:val="1"/>
                                      <m:mcJc m:val="center"/>
                                    </m:mcPr>
                                  </m:mc>
                                </m:mcs>
                                <m:ctrlPr>
                                  <a:rPr lang="en-US" sz="1400" b="1" i="1">
                                    <a:latin typeface="Cambria Math" panose="02040503050406030204" pitchFamily="18" charset="0"/>
                                  </a:rPr>
                                </m:ctrlPr>
                              </m:mP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𝒊𝒏𝒑𝒖𝒕</m:t>
                                      </m:r>
                                    </m:e>
                                    <m:sub>
                                      <m:r>
                                        <a:rPr lang="en-US" sz="1400" b="1" i="1">
                                          <a:latin typeface="Cambria Math" panose="02040503050406030204" pitchFamily="18" charset="0"/>
                                        </a:rPr>
                                        <m:t>𝟏</m:t>
                                      </m:r>
                                    </m:sub>
                                  </m:sSub>
                                </m:e>
                              </m:m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𝒊𝒏𝒑𝒖𝒕</m:t>
                                      </m:r>
                                    </m:e>
                                    <m:sub>
                                      <m:r>
                                        <a:rPr lang="en-US" sz="1400" b="1" i="1">
                                          <a:latin typeface="Cambria Math" panose="02040503050406030204" pitchFamily="18" charset="0"/>
                                        </a:rPr>
                                        <m:t>𝟐</m:t>
                                      </m:r>
                                    </m:sub>
                                  </m:sSub>
                                </m:e>
                              </m:mr>
                              <m:mr>
                                <m:e>
                                  <m:eqArr>
                                    <m:eqArrPr>
                                      <m:ctrlPr>
                                        <a:rPr lang="en-US" sz="1400" b="1" i="1">
                                          <a:latin typeface="Cambria Math" panose="02040503050406030204" pitchFamily="18" charset="0"/>
                                        </a:rPr>
                                      </m:ctrlPr>
                                    </m:eqArrPr>
                                    <m:e>
                                      <m:r>
                                        <a:rPr lang="en-US" sz="1400" b="1" i="1">
                                          <a:latin typeface="Cambria Math" panose="02040503050406030204" pitchFamily="18" charset="0"/>
                                          <a:ea typeface="Cambria Math" panose="02040503050406030204" pitchFamily="18" charset="0"/>
                                        </a:rPr>
                                        <m:t>⋮</m:t>
                                      </m:r>
                                    </m:e>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𝒊𝒏𝒑𝒖𝒕</m:t>
                                          </m:r>
                                        </m:e>
                                        <m:sub>
                                          <m:r>
                                            <a:rPr lang="en-US" sz="1400" b="1" i="1">
                                              <a:latin typeface="Cambria Math" panose="02040503050406030204" pitchFamily="18" charset="0"/>
                                            </a:rPr>
                                            <m:t>𝒏</m:t>
                                          </m:r>
                                        </m:sub>
                                      </m:sSub>
                                    </m:e>
                                  </m:eqArr>
                                </m:e>
                              </m:mr>
                            </m:m>
                          </m:e>
                        </m:d>
                      </m:oMath>
                    </m:oMathPara>
                  </a14:m>
                  <a:endParaRPr lang="en-US" sz="1400" b="1" dirty="0"/>
                </a:p>
              </p:txBody>
            </p:sp>
          </mc:Choice>
          <mc:Fallback xmlns="">
            <p:sp>
              <p:nvSpPr>
                <p:cNvPr id="6" name="TextBox 5">
                  <a:extLst>
                    <a:ext uri="{FF2B5EF4-FFF2-40B4-BE49-F238E27FC236}">
                      <a16:creationId xmlns:a16="http://schemas.microsoft.com/office/drawing/2014/main" id="{955A3287-B38B-DF24-EF32-7CBB1C5C21F3}"/>
                    </a:ext>
                  </a:extLst>
                </p:cNvPr>
                <p:cNvSpPr txBox="1">
                  <a:spLocks noRot="1" noChangeAspect="1" noMove="1" noResize="1" noEditPoints="1" noAdjustHandles="1" noChangeArrowheads="1" noChangeShapeType="1" noTextEdit="1"/>
                </p:cNvSpPr>
                <p:nvPr/>
              </p:nvSpPr>
              <p:spPr>
                <a:xfrm>
                  <a:off x="1414661" y="3742870"/>
                  <a:ext cx="793551" cy="822854"/>
                </a:xfrm>
                <a:prstGeom prst="rect">
                  <a:avLst/>
                </a:prstGeom>
                <a:blipFill>
                  <a:blip r:embed="rId2"/>
                  <a:stretch>
                    <a:fillRect/>
                  </a:stretch>
                </a:blipFill>
              </p:spPr>
              <p:txBody>
                <a:bodyPr/>
                <a:lstStyle/>
                <a:p>
                  <a:r>
                    <a:rPr lang="en-US">
                      <a:noFill/>
                    </a:rPr>
                    <a:t> </a:t>
                  </a:r>
                </a:p>
              </p:txBody>
            </p:sp>
          </mc:Fallback>
        </mc:AlternateContent>
        <p:sp>
          <p:nvSpPr>
            <p:cNvPr id="7" name="Arrow: Right 6">
              <a:extLst>
                <a:ext uri="{FF2B5EF4-FFF2-40B4-BE49-F238E27FC236}">
                  <a16:creationId xmlns:a16="http://schemas.microsoft.com/office/drawing/2014/main" id="{3E5BD630-44CF-B014-8E35-79A2296A4E7A}"/>
                </a:ext>
              </a:extLst>
            </p:cNvPr>
            <p:cNvSpPr/>
            <p:nvPr/>
          </p:nvSpPr>
          <p:spPr>
            <a:xfrm>
              <a:off x="10191832" y="4055763"/>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3C35F55-730B-DBA3-CEEB-53F770AC26FD}"/>
                    </a:ext>
                  </a:extLst>
                </p:cNvPr>
                <p:cNvSpPr txBox="1"/>
                <p:nvPr/>
              </p:nvSpPr>
              <p:spPr>
                <a:xfrm>
                  <a:off x="10501812" y="3742849"/>
                  <a:ext cx="926600" cy="8033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b="1" i="1" smtClean="0">
                                <a:latin typeface="Cambria Math" panose="02040503050406030204" pitchFamily="18" charset="0"/>
                              </a:rPr>
                            </m:ctrlPr>
                          </m:dPr>
                          <m:e>
                            <m:m>
                              <m:mPr>
                                <m:mcs>
                                  <m:mc>
                                    <m:mcPr>
                                      <m:count m:val="1"/>
                                      <m:mcJc m:val="center"/>
                                    </m:mcPr>
                                  </m:mc>
                                </m:mcs>
                                <m:ctrlPr>
                                  <a:rPr lang="en-US" sz="1400" b="1" i="1">
                                    <a:latin typeface="Cambria Math" panose="02040503050406030204" pitchFamily="18" charset="0"/>
                                  </a:rPr>
                                </m:ctrlPr>
                              </m:mP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𝒐𝒖𝒕𝒑𝒖𝒕</m:t>
                                      </m:r>
                                    </m:e>
                                    <m:sub>
                                      <m:r>
                                        <a:rPr lang="en-US" sz="1400" b="1" i="1">
                                          <a:latin typeface="Cambria Math" panose="02040503050406030204" pitchFamily="18" charset="0"/>
                                        </a:rPr>
                                        <m:t>𝟏</m:t>
                                      </m:r>
                                    </m:sub>
                                  </m:sSub>
                                </m:e>
                              </m:m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𝒐𝒖𝒕𝒑𝒖𝒕</m:t>
                                      </m:r>
                                    </m:e>
                                    <m:sub>
                                      <m:r>
                                        <a:rPr lang="en-US" sz="1400" b="1" i="1">
                                          <a:latin typeface="Cambria Math" panose="02040503050406030204" pitchFamily="18" charset="0"/>
                                        </a:rPr>
                                        <m:t>𝟐</m:t>
                                      </m:r>
                                    </m:sub>
                                  </m:sSub>
                                </m:e>
                              </m:mr>
                              <m:mr>
                                <m:e>
                                  <m:eqArr>
                                    <m:eqArrPr>
                                      <m:ctrlPr>
                                        <a:rPr lang="en-US" sz="1400" b="1" i="1">
                                          <a:latin typeface="Cambria Math" panose="02040503050406030204" pitchFamily="18" charset="0"/>
                                        </a:rPr>
                                      </m:ctrlPr>
                                    </m:eqArrPr>
                                    <m:e>
                                      <m:r>
                                        <a:rPr lang="en-US" sz="1400" b="1" i="1">
                                          <a:latin typeface="Cambria Math" panose="02040503050406030204" pitchFamily="18" charset="0"/>
                                          <a:ea typeface="Cambria Math" panose="02040503050406030204" pitchFamily="18" charset="0"/>
                                        </a:rPr>
                                        <m:t>⋮</m:t>
                                      </m:r>
                                    </m:e>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𝒐𝒖𝒕𝒑𝒖𝒕</m:t>
                                          </m:r>
                                        </m:e>
                                        <m:sub>
                                          <m:r>
                                            <a:rPr lang="en-US" sz="1400" b="1" i="1" smtClean="0">
                                              <a:latin typeface="Cambria Math" panose="02040503050406030204" pitchFamily="18" charset="0"/>
                                            </a:rPr>
                                            <m:t>𝒌</m:t>
                                          </m:r>
                                        </m:sub>
                                      </m:sSub>
                                    </m:e>
                                  </m:eqArr>
                                </m:e>
                              </m:mr>
                            </m:m>
                          </m:e>
                        </m:d>
                      </m:oMath>
                    </m:oMathPara>
                  </a14:m>
                  <a:endParaRPr lang="en-US" sz="1400" b="1" dirty="0"/>
                </a:p>
              </p:txBody>
            </p:sp>
          </mc:Choice>
          <mc:Fallback xmlns="">
            <p:sp>
              <p:nvSpPr>
                <p:cNvPr id="8" name="TextBox 7">
                  <a:extLst>
                    <a:ext uri="{FF2B5EF4-FFF2-40B4-BE49-F238E27FC236}">
                      <a16:creationId xmlns:a16="http://schemas.microsoft.com/office/drawing/2014/main" id="{73C5D088-5129-CCCE-DB30-DE054AE28A50}"/>
                    </a:ext>
                  </a:extLst>
                </p:cNvPr>
                <p:cNvSpPr txBox="1">
                  <a:spLocks noRot="1" noChangeAspect="1" noMove="1" noResize="1" noEditPoints="1" noAdjustHandles="1" noChangeArrowheads="1" noChangeShapeType="1" noTextEdit="1"/>
                </p:cNvSpPr>
                <p:nvPr/>
              </p:nvSpPr>
              <p:spPr>
                <a:xfrm>
                  <a:off x="10501812" y="3742849"/>
                  <a:ext cx="926600" cy="803361"/>
                </a:xfrm>
                <a:prstGeom prst="rect">
                  <a:avLst/>
                </a:prstGeom>
                <a:blipFill>
                  <a:blip r:embed="rId3"/>
                  <a:stretch>
                    <a:fillRect/>
                  </a:stretch>
                </a:blipFill>
              </p:spPr>
              <p:txBody>
                <a:bodyPr/>
                <a:lstStyle/>
                <a:p>
                  <a:r>
                    <a:rPr lang="en-US">
                      <a:noFill/>
                    </a:rPr>
                    <a:t> </a:t>
                  </a:r>
                </a:p>
              </p:txBody>
            </p:sp>
          </mc:Fallback>
        </mc:AlternateContent>
        <p:sp>
          <p:nvSpPr>
            <p:cNvPr id="9" name="Arrow: Right 8">
              <a:extLst>
                <a:ext uri="{FF2B5EF4-FFF2-40B4-BE49-F238E27FC236}">
                  <a16:creationId xmlns:a16="http://schemas.microsoft.com/office/drawing/2014/main" id="{C6900869-155E-B321-91D1-0C37950F4744}"/>
                </a:ext>
              </a:extLst>
            </p:cNvPr>
            <p:cNvSpPr/>
            <p:nvPr/>
          </p:nvSpPr>
          <p:spPr>
            <a:xfrm>
              <a:off x="2243325" y="4055763"/>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sp>
          <p:nvSpPr>
            <p:cNvPr id="10" name="Arrow: Right 9">
              <a:extLst>
                <a:ext uri="{FF2B5EF4-FFF2-40B4-BE49-F238E27FC236}">
                  <a16:creationId xmlns:a16="http://schemas.microsoft.com/office/drawing/2014/main" id="{78CBA689-0B7F-B853-FB0C-5CAFA42F20F8}"/>
                </a:ext>
              </a:extLst>
            </p:cNvPr>
            <p:cNvSpPr/>
            <p:nvPr/>
          </p:nvSpPr>
          <p:spPr>
            <a:xfrm>
              <a:off x="3667426" y="4058959"/>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sp>
          <p:nvSpPr>
            <p:cNvPr id="11" name="Arrow: Right 10">
              <a:extLst>
                <a:ext uri="{FF2B5EF4-FFF2-40B4-BE49-F238E27FC236}">
                  <a16:creationId xmlns:a16="http://schemas.microsoft.com/office/drawing/2014/main" id="{03105DCB-5462-3404-E15C-0D10295DDB40}"/>
                </a:ext>
              </a:extLst>
            </p:cNvPr>
            <p:cNvSpPr/>
            <p:nvPr/>
          </p:nvSpPr>
          <p:spPr>
            <a:xfrm>
              <a:off x="5037760" y="4064907"/>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12" name="Group 11">
              <a:extLst>
                <a:ext uri="{FF2B5EF4-FFF2-40B4-BE49-F238E27FC236}">
                  <a16:creationId xmlns:a16="http://schemas.microsoft.com/office/drawing/2014/main" id="{FECCB582-7F0E-BEFB-9163-65923EB54A72}"/>
                </a:ext>
              </a:extLst>
            </p:cNvPr>
            <p:cNvGrpSpPr/>
            <p:nvPr/>
          </p:nvGrpSpPr>
          <p:grpSpPr>
            <a:xfrm>
              <a:off x="6426624" y="4064907"/>
              <a:ext cx="1254159" cy="128872"/>
              <a:chOff x="7036224" y="4064907"/>
              <a:chExt cx="1254159" cy="128872"/>
            </a:xfrm>
          </p:grpSpPr>
          <p:sp>
            <p:nvSpPr>
              <p:cNvPr id="65" name="Arrow: Right 64">
                <a:extLst>
                  <a:ext uri="{FF2B5EF4-FFF2-40B4-BE49-F238E27FC236}">
                    <a16:creationId xmlns:a16="http://schemas.microsoft.com/office/drawing/2014/main" id="{F175B76F-F567-DB2E-ED85-DA84D91B12D4}"/>
                  </a:ext>
                </a:extLst>
              </p:cNvPr>
              <p:cNvSpPr/>
              <p:nvPr/>
            </p:nvSpPr>
            <p:spPr>
              <a:xfrm>
                <a:off x="7036224" y="4064907"/>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sp>
            <p:nvSpPr>
              <p:cNvPr id="66" name="Arrow: Right 65">
                <a:extLst>
                  <a:ext uri="{FF2B5EF4-FFF2-40B4-BE49-F238E27FC236}">
                    <a16:creationId xmlns:a16="http://schemas.microsoft.com/office/drawing/2014/main" id="{74684094-FF79-A6F3-AE42-1630EC27CD57}"/>
                  </a:ext>
                </a:extLst>
              </p:cNvPr>
              <p:cNvSpPr/>
              <p:nvPr/>
            </p:nvSpPr>
            <p:spPr>
              <a:xfrm>
                <a:off x="7968203" y="4064907"/>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cxnSp>
            <p:nvCxnSpPr>
              <p:cNvPr id="67" name="Straight Connector 66">
                <a:extLst>
                  <a:ext uri="{FF2B5EF4-FFF2-40B4-BE49-F238E27FC236}">
                    <a16:creationId xmlns:a16="http://schemas.microsoft.com/office/drawing/2014/main" id="{C752A77A-C892-F7BE-0A26-A8EEAE3B7A24}"/>
                  </a:ext>
                </a:extLst>
              </p:cNvPr>
              <p:cNvCxnSpPr>
                <a:stCxn id="65" idx="3"/>
                <a:endCxn id="66" idx="1"/>
              </p:cNvCxnSpPr>
              <p:nvPr/>
            </p:nvCxnSpPr>
            <p:spPr>
              <a:xfrm>
                <a:off x="7358404" y="4129343"/>
                <a:ext cx="609799" cy="0"/>
              </a:xfrm>
              <a:prstGeom prst="line">
                <a:avLst/>
              </a:prstGeom>
              <a:ln>
                <a:prstDash val="sysDot"/>
              </a:ln>
            </p:spPr>
            <p:style>
              <a:lnRef idx="3">
                <a:schemeClr val="dk1"/>
              </a:lnRef>
              <a:fillRef idx="0">
                <a:schemeClr val="dk1"/>
              </a:fillRef>
              <a:effectRef idx="2">
                <a:schemeClr val="dk1"/>
              </a:effectRef>
              <a:fontRef idx="minor">
                <a:schemeClr val="tx1"/>
              </a:fontRef>
            </p:style>
          </p:cxnSp>
        </p:grpSp>
        <p:sp>
          <p:nvSpPr>
            <p:cNvPr id="13" name="Arrow: Right 12">
              <a:extLst>
                <a:ext uri="{FF2B5EF4-FFF2-40B4-BE49-F238E27FC236}">
                  <a16:creationId xmlns:a16="http://schemas.microsoft.com/office/drawing/2014/main" id="{9343164B-F61A-F8EB-8BEA-EB188C45C7E8}"/>
                </a:ext>
              </a:extLst>
            </p:cNvPr>
            <p:cNvSpPr/>
            <p:nvPr/>
          </p:nvSpPr>
          <p:spPr>
            <a:xfrm>
              <a:off x="8744032" y="4062663"/>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sp>
          <p:nvSpPr>
            <p:cNvPr id="14" name="Right Brace 13">
              <a:extLst>
                <a:ext uri="{FF2B5EF4-FFF2-40B4-BE49-F238E27FC236}">
                  <a16:creationId xmlns:a16="http://schemas.microsoft.com/office/drawing/2014/main" id="{B19BAE39-E474-917B-065A-BFFA0A62F977}"/>
                </a:ext>
              </a:extLst>
            </p:cNvPr>
            <p:cNvSpPr/>
            <p:nvPr/>
          </p:nvSpPr>
          <p:spPr>
            <a:xfrm rot="5400000">
              <a:off x="2985339" y="4891928"/>
              <a:ext cx="228600" cy="1112745"/>
            </a:xfrm>
            <a:prstGeom prst="rightBrace">
              <a:avLst>
                <a:gd name="adj1" fmla="val 40833"/>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26B33FB-DD59-C9CE-B800-4E16F830550B}"/>
                </a:ext>
              </a:extLst>
            </p:cNvPr>
            <p:cNvSpPr/>
            <p:nvPr/>
          </p:nvSpPr>
          <p:spPr>
            <a:xfrm>
              <a:off x="2565505" y="5629679"/>
              <a:ext cx="1101921" cy="3273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latin typeface="Arial" panose="020B0604020202020204" pitchFamily="34" charset="0"/>
                  <a:cs typeface="Arial" panose="020B0604020202020204" pitchFamily="34" charset="0"/>
                </a:rPr>
                <a:t>Input Layer</a:t>
              </a:r>
            </a:p>
          </p:txBody>
        </p:sp>
        <p:sp>
          <p:nvSpPr>
            <p:cNvPr id="16" name="Right Brace 15">
              <a:extLst>
                <a:ext uri="{FF2B5EF4-FFF2-40B4-BE49-F238E27FC236}">
                  <a16:creationId xmlns:a16="http://schemas.microsoft.com/office/drawing/2014/main" id="{EEA02C66-7F89-055D-33DE-C4FCF53D9D29}"/>
                </a:ext>
              </a:extLst>
            </p:cNvPr>
            <p:cNvSpPr/>
            <p:nvPr/>
          </p:nvSpPr>
          <p:spPr>
            <a:xfrm rot="5400000">
              <a:off x="6273792" y="3079804"/>
              <a:ext cx="228600" cy="4746639"/>
            </a:xfrm>
            <a:prstGeom prst="rightBrace">
              <a:avLst>
                <a:gd name="adj1" fmla="val 30832"/>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BEDA71E1-B5E8-6EC9-4645-9FC9118445C6}"/>
                </a:ext>
              </a:extLst>
            </p:cNvPr>
            <p:cNvSpPr/>
            <p:nvPr/>
          </p:nvSpPr>
          <p:spPr>
            <a:xfrm>
              <a:off x="4037012" y="5634502"/>
              <a:ext cx="4700467" cy="3273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latin typeface="Arial" panose="020B0604020202020204" pitchFamily="34" charset="0"/>
                  <a:cs typeface="Arial" panose="020B0604020202020204" pitchFamily="34" charset="0"/>
                </a:rPr>
                <a:t>Hidden Layers</a:t>
              </a:r>
            </a:p>
          </p:txBody>
        </p:sp>
        <p:sp>
          <p:nvSpPr>
            <p:cNvPr id="18" name="Right Brace 17">
              <a:extLst>
                <a:ext uri="{FF2B5EF4-FFF2-40B4-BE49-F238E27FC236}">
                  <a16:creationId xmlns:a16="http://schemas.microsoft.com/office/drawing/2014/main" id="{F91F7956-975B-C323-9D98-CD16E1EB08DE}"/>
                </a:ext>
              </a:extLst>
            </p:cNvPr>
            <p:cNvSpPr/>
            <p:nvPr/>
          </p:nvSpPr>
          <p:spPr>
            <a:xfrm rot="5400000">
              <a:off x="9508861" y="4891928"/>
              <a:ext cx="228600" cy="1112745"/>
            </a:xfrm>
            <a:prstGeom prst="rightBrace">
              <a:avLst>
                <a:gd name="adj1" fmla="val 40833"/>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D93AA511-804C-800D-5E69-FDA01F314682}"/>
                </a:ext>
              </a:extLst>
            </p:cNvPr>
            <p:cNvSpPr/>
            <p:nvPr/>
          </p:nvSpPr>
          <p:spPr>
            <a:xfrm>
              <a:off x="8994564" y="5629679"/>
              <a:ext cx="1290848" cy="3273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latin typeface="Arial" panose="020B0604020202020204" pitchFamily="34" charset="0"/>
                  <a:cs typeface="Arial" panose="020B0604020202020204" pitchFamily="34" charset="0"/>
                </a:rPr>
                <a:t>Output Layer</a:t>
              </a:r>
            </a:p>
          </p:txBody>
        </p:sp>
        <p:grpSp>
          <p:nvGrpSpPr>
            <p:cNvPr id="20" name="Group 19">
              <a:extLst>
                <a:ext uri="{FF2B5EF4-FFF2-40B4-BE49-F238E27FC236}">
                  <a16:creationId xmlns:a16="http://schemas.microsoft.com/office/drawing/2014/main" id="{2A2EE819-085B-671C-14E5-CA12AE188F25}"/>
                </a:ext>
              </a:extLst>
            </p:cNvPr>
            <p:cNvGrpSpPr/>
            <p:nvPr/>
          </p:nvGrpSpPr>
          <p:grpSpPr>
            <a:xfrm>
              <a:off x="2577728" y="3195791"/>
              <a:ext cx="962824" cy="1984079"/>
              <a:chOff x="8717209" y="3197521"/>
              <a:chExt cx="962824" cy="1984079"/>
            </a:xfrm>
          </p:grpSpPr>
          <p:grpSp>
            <p:nvGrpSpPr>
              <p:cNvPr id="57" name="Group 56">
                <a:extLst>
                  <a:ext uri="{FF2B5EF4-FFF2-40B4-BE49-F238E27FC236}">
                    <a16:creationId xmlns:a16="http://schemas.microsoft.com/office/drawing/2014/main" id="{973F5211-D99A-0427-E311-692B87A75D26}"/>
                  </a:ext>
                </a:extLst>
              </p:cNvPr>
              <p:cNvGrpSpPr/>
              <p:nvPr/>
            </p:nvGrpSpPr>
            <p:grpSpPr>
              <a:xfrm>
                <a:off x="8717209" y="3410643"/>
                <a:ext cx="962824" cy="1770957"/>
                <a:chOff x="8717209" y="3410643"/>
                <a:chExt cx="962824" cy="1770957"/>
              </a:xfrm>
            </p:grpSpPr>
            <p:sp>
              <p:nvSpPr>
                <p:cNvPr id="59" name="Rectangle: Rounded Corners 58">
                  <a:extLst>
                    <a:ext uri="{FF2B5EF4-FFF2-40B4-BE49-F238E27FC236}">
                      <a16:creationId xmlns:a16="http://schemas.microsoft.com/office/drawing/2014/main" id="{D29CF70F-DBB0-A47D-5979-DF5990117E18}"/>
                    </a:ext>
                  </a:extLst>
                </p:cNvPr>
                <p:cNvSpPr/>
                <p:nvPr/>
              </p:nvSpPr>
              <p:spPr>
                <a:xfrm>
                  <a:off x="8717209" y="3410643"/>
                  <a:ext cx="962824" cy="1770957"/>
                </a:xfrm>
                <a:prstGeom prst="roundRect">
                  <a:avLst>
                    <a:gd name="adj" fmla="val 1407"/>
                  </a:avLst>
                </a:prstGeom>
                <a:solidFill>
                  <a:schemeClr val="accent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2"/>
                    </a:solidFill>
                  </a:endParaRPr>
                </a:p>
              </p:txBody>
            </p:sp>
            <p:sp>
              <p:nvSpPr>
                <p:cNvPr id="60" name="Rectangle 59">
                  <a:extLst>
                    <a:ext uri="{FF2B5EF4-FFF2-40B4-BE49-F238E27FC236}">
                      <a16:creationId xmlns:a16="http://schemas.microsoft.com/office/drawing/2014/main" id="{FEEACBEB-320A-B46B-B876-3035CDDEA8D6}"/>
                    </a:ext>
                  </a:extLst>
                </p:cNvPr>
                <p:cNvSpPr/>
                <p:nvPr/>
              </p:nvSpPr>
              <p:spPr>
                <a:xfrm>
                  <a:off x="8960081" y="3559509"/>
                  <a:ext cx="455287" cy="416321"/>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pic>
              <p:nvPicPr>
                <p:cNvPr id="61" name="Graphic 60" descr="Branching diagram with solid fill">
                  <a:extLst>
                    <a:ext uri="{FF2B5EF4-FFF2-40B4-BE49-F238E27FC236}">
                      <a16:creationId xmlns:a16="http://schemas.microsoft.com/office/drawing/2014/main" id="{BF9665AF-139B-0DF9-C89F-0803C93E8EB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8957692" y="3519704"/>
                  <a:ext cx="489520" cy="489520"/>
                </a:xfrm>
                <a:prstGeom prst="rect">
                  <a:avLst/>
                </a:prstGeom>
              </p:spPr>
            </p:pic>
            <p:sp>
              <p:nvSpPr>
                <p:cNvPr id="62" name="Rectangle 61">
                  <a:extLst>
                    <a:ext uri="{FF2B5EF4-FFF2-40B4-BE49-F238E27FC236}">
                      <a16:creationId xmlns:a16="http://schemas.microsoft.com/office/drawing/2014/main" id="{7CE16C4A-DCF8-F31F-BF61-B82852272451}"/>
                    </a:ext>
                  </a:extLst>
                </p:cNvPr>
                <p:cNvSpPr/>
                <p:nvPr/>
              </p:nvSpPr>
              <p:spPr>
                <a:xfrm>
                  <a:off x="8939133" y="4595265"/>
                  <a:ext cx="497182" cy="458984"/>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a:p>
              </p:txBody>
            </p:sp>
            <p:pic>
              <p:nvPicPr>
                <p:cNvPr id="63" name="Graphic 62" descr="Normal Distribution with solid fill">
                  <a:extLst>
                    <a:ext uri="{FF2B5EF4-FFF2-40B4-BE49-F238E27FC236}">
                      <a16:creationId xmlns:a16="http://schemas.microsoft.com/office/drawing/2014/main" id="{77B22BAF-2975-1AAC-CBAA-D4D1B537B12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45904" y="4582937"/>
                  <a:ext cx="483640" cy="483640"/>
                </a:xfrm>
                <a:prstGeom prst="rect">
                  <a:avLst/>
                </a:prstGeom>
              </p:spPr>
            </p:pic>
            <p:cxnSp>
              <p:nvCxnSpPr>
                <p:cNvPr id="64" name="Connector: Elbow 63">
                  <a:extLst>
                    <a:ext uri="{FF2B5EF4-FFF2-40B4-BE49-F238E27FC236}">
                      <a16:creationId xmlns:a16="http://schemas.microsoft.com/office/drawing/2014/main" id="{4C266924-C9FC-C1CA-D269-5E73221F96CC}"/>
                    </a:ext>
                  </a:extLst>
                </p:cNvPr>
                <p:cNvCxnSpPr>
                  <a:stCxn id="60" idx="3"/>
                  <a:endCxn id="62" idx="1"/>
                </p:cNvCxnSpPr>
                <p:nvPr/>
              </p:nvCxnSpPr>
              <p:spPr>
                <a:xfrm flipH="1">
                  <a:off x="8939133" y="3767670"/>
                  <a:ext cx="476235" cy="1057087"/>
                </a:xfrm>
                <a:prstGeom prst="bentConnector5">
                  <a:avLst>
                    <a:gd name="adj1" fmla="val -25601"/>
                    <a:gd name="adj2" fmla="val 48991"/>
                    <a:gd name="adj3" fmla="val 127201"/>
                  </a:avLst>
                </a:prstGeom>
                <a:ln>
                  <a:solidFill>
                    <a:schemeClr val="tx2"/>
                  </a:solidFill>
                  <a:tailEnd type="triangle"/>
                </a:ln>
              </p:spPr>
              <p:style>
                <a:lnRef idx="3">
                  <a:schemeClr val="dk1"/>
                </a:lnRef>
                <a:fillRef idx="0">
                  <a:schemeClr val="dk1"/>
                </a:fillRef>
                <a:effectRef idx="2">
                  <a:schemeClr val="dk1"/>
                </a:effectRef>
                <a:fontRef idx="minor">
                  <a:schemeClr val="tx1"/>
                </a:fontRef>
              </p:style>
            </p:cxnSp>
          </p:grpSp>
          <p:sp>
            <p:nvSpPr>
              <p:cNvPr id="58" name="Rectangle 57">
                <a:extLst>
                  <a:ext uri="{FF2B5EF4-FFF2-40B4-BE49-F238E27FC236}">
                    <a16:creationId xmlns:a16="http://schemas.microsoft.com/office/drawing/2014/main" id="{EC0A8910-99BE-91A1-C841-7BACEBD68034}"/>
                  </a:ext>
                </a:extLst>
              </p:cNvPr>
              <p:cNvSpPr/>
              <p:nvPr/>
            </p:nvSpPr>
            <p:spPr>
              <a:xfrm>
                <a:off x="8717209" y="3197521"/>
                <a:ext cx="962824" cy="207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2"/>
                    </a:solidFill>
                    <a:latin typeface="Cambria Math" panose="02040503050406030204" pitchFamily="18" charset="0"/>
                    <a:ea typeface="Cambria Math" panose="02040503050406030204" pitchFamily="18" charset="0"/>
                  </a:rPr>
                  <a:t>n</a:t>
                </a:r>
                <a:r>
                  <a:rPr lang="en-US" sz="1400" b="1" dirty="0">
                    <a:solidFill>
                      <a:schemeClr val="tx2"/>
                    </a:solidFill>
                    <a:latin typeface="Cambria Math" panose="02040503050406030204" pitchFamily="18" charset="0"/>
                    <a:ea typeface="Cambria Math" panose="02040503050406030204" pitchFamily="18" charset="0"/>
                    <a:sym typeface="Wingdings" panose="05000000000000000000" pitchFamily="2" charset="2"/>
                  </a:rPr>
                  <a:t>m</a:t>
                </a:r>
                <a:r>
                  <a:rPr lang="en-US" sz="1400" b="1" baseline="-25000" dirty="0">
                    <a:solidFill>
                      <a:schemeClr val="tx2"/>
                    </a:solidFill>
                    <a:latin typeface="Cambria Math" panose="02040503050406030204" pitchFamily="18" charset="0"/>
                    <a:ea typeface="Cambria Math" panose="02040503050406030204" pitchFamily="18" charset="0"/>
                    <a:sym typeface="Wingdings" panose="05000000000000000000" pitchFamily="2" charset="2"/>
                  </a:rPr>
                  <a:t>1</a:t>
                </a:r>
                <a:endParaRPr lang="en-US" sz="1400" b="1" dirty="0">
                  <a:solidFill>
                    <a:schemeClr val="tx2"/>
                  </a:solidFill>
                  <a:latin typeface="Cambria Math" panose="02040503050406030204" pitchFamily="18" charset="0"/>
                  <a:ea typeface="Cambria Math" panose="02040503050406030204" pitchFamily="18" charset="0"/>
                </a:endParaRPr>
              </a:p>
            </p:txBody>
          </p:sp>
        </p:grpSp>
        <p:grpSp>
          <p:nvGrpSpPr>
            <p:cNvPr id="21" name="Group 20">
              <a:extLst>
                <a:ext uri="{FF2B5EF4-FFF2-40B4-BE49-F238E27FC236}">
                  <a16:creationId xmlns:a16="http://schemas.microsoft.com/office/drawing/2014/main" id="{C07D9835-69B5-1D72-7800-FE5466E4DD81}"/>
                </a:ext>
              </a:extLst>
            </p:cNvPr>
            <p:cNvGrpSpPr/>
            <p:nvPr/>
          </p:nvGrpSpPr>
          <p:grpSpPr>
            <a:xfrm>
              <a:off x="4023006" y="3199495"/>
              <a:ext cx="962824" cy="1984079"/>
              <a:chOff x="8717209" y="3197521"/>
              <a:chExt cx="962824" cy="1984079"/>
            </a:xfrm>
          </p:grpSpPr>
          <p:grpSp>
            <p:nvGrpSpPr>
              <p:cNvPr id="49" name="Group 48">
                <a:extLst>
                  <a:ext uri="{FF2B5EF4-FFF2-40B4-BE49-F238E27FC236}">
                    <a16:creationId xmlns:a16="http://schemas.microsoft.com/office/drawing/2014/main" id="{46FCFB26-5C77-9188-6B46-804867D9AAA8}"/>
                  </a:ext>
                </a:extLst>
              </p:cNvPr>
              <p:cNvGrpSpPr/>
              <p:nvPr/>
            </p:nvGrpSpPr>
            <p:grpSpPr>
              <a:xfrm>
                <a:off x="8717209" y="3410643"/>
                <a:ext cx="962824" cy="1770957"/>
                <a:chOff x="8717209" y="3410643"/>
                <a:chExt cx="962824" cy="1770957"/>
              </a:xfrm>
            </p:grpSpPr>
            <p:sp>
              <p:nvSpPr>
                <p:cNvPr id="51" name="Rectangle: Rounded Corners 50">
                  <a:extLst>
                    <a:ext uri="{FF2B5EF4-FFF2-40B4-BE49-F238E27FC236}">
                      <a16:creationId xmlns:a16="http://schemas.microsoft.com/office/drawing/2014/main" id="{2530BE01-FB60-9CB1-6BCA-13023BF6C3B0}"/>
                    </a:ext>
                  </a:extLst>
                </p:cNvPr>
                <p:cNvSpPr/>
                <p:nvPr/>
              </p:nvSpPr>
              <p:spPr>
                <a:xfrm>
                  <a:off x="8717209" y="3410643"/>
                  <a:ext cx="962824" cy="1770957"/>
                </a:xfrm>
                <a:prstGeom prst="roundRect">
                  <a:avLst>
                    <a:gd name="adj" fmla="val 1407"/>
                  </a:avLst>
                </a:prstGeom>
                <a:solidFill>
                  <a:schemeClr val="accent4">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2"/>
                    </a:solidFill>
                  </a:endParaRPr>
                </a:p>
              </p:txBody>
            </p:sp>
            <p:sp>
              <p:nvSpPr>
                <p:cNvPr id="52" name="Rectangle 51">
                  <a:extLst>
                    <a:ext uri="{FF2B5EF4-FFF2-40B4-BE49-F238E27FC236}">
                      <a16:creationId xmlns:a16="http://schemas.microsoft.com/office/drawing/2014/main" id="{29302E42-4CC6-A5EA-90A3-026E849C86EF}"/>
                    </a:ext>
                  </a:extLst>
                </p:cNvPr>
                <p:cNvSpPr/>
                <p:nvPr/>
              </p:nvSpPr>
              <p:spPr>
                <a:xfrm>
                  <a:off x="8960081" y="3559509"/>
                  <a:ext cx="455287" cy="416321"/>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pic>
              <p:nvPicPr>
                <p:cNvPr id="53" name="Graphic 52" descr="Branching diagram with solid fill">
                  <a:extLst>
                    <a:ext uri="{FF2B5EF4-FFF2-40B4-BE49-F238E27FC236}">
                      <a16:creationId xmlns:a16="http://schemas.microsoft.com/office/drawing/2014/main" id="{C348E057-1956-7CC1-25E7-2F8AF7AC2D3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8957692" y="3519704"/>
                  <a:ext cx="489520" cy="489520"/>
                </a:xfrm>
                <a:prstGeom prst="rect">
                  <a:avLst/>
                </a:prstGeom>
              </p:spPr>
            </p:pic>
            <p:sp>
              <p:nvSpPr>
                <p:cNvPr id="54" name="Rectangle 53">
                  <a:extLst>
                    <a:ext uri="{FF2B5EF4-FFF2-40B4-BE49-F238E27FC236}">
                      <a16:creationId xmlns:a16="http://schemas.microsoft.com/office/drawing/2014/main" id="{5F073440-1719-D3F0-556C-14A7BF875899}"/>
                    </a:ext>
                  </a:extLst>
                </p:cNvPr>
                <p:cNvSpPr/>
                <p:nvPr/>
              </p:nvSpPr>
              <p:spPr>
                <a:xfrm>
                  <a:off x="8939133" y="4595265"/>
                  <a:ext cx="497182" cy="458984"/>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a:p>
              </p:txBody>
            </p:sp>
            <p:pic>
              <p:nvPicPr>
                <p:cNvPr id="55" name="Graphic 54" descr="Normal Distribution with solid fill">
                  <a:extLst>
                    <a:ext uri="{FF2B5EF4-FFF2-40B4-BE49-F238E27FC236}">
                      <a16:creationId xmlns:a16="http://schemas.microsoft.com/office/drawing/2014/main" id="{8892D7E6-B5C8-4C18-3F49-47A406C259E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45904" y="4582937"/>
                  <a:ext cx="483640" cy="483640"/>
                </a:xfrm>
                <a:prstGeom prst="rect">
                  <a:avLst/>
                </a:prstGeom>
              </p:spPr>
            </p:pic>
            <p:cxnSp>
              <p:nvCxnSpPr>
                <p:cNvPr id="56" name="Connector: Elbow 55">
                  <a:extLst>
                    <a:ext uri="{FF2B5EF4-FFF2-40B4-BE49-F238E27FC236}">
                      <a16:creationId xmlns:a16="http://schemas.microsoft.com/office/drawing/2014/main" id="{9EAC0344-FB7F-447F-CFF9-0C39C83C09B7}"/>
                    </a:ext>
                  </a:extLst>
                </p:cNvPr>
                <p:cNvCxnSpPr>
                  <a:stCxn id="52" idx="3"/>
                  <a:endCxn id="54" idx="1"/>
                </p:cNvCxnSpPr>
                <p:nvPr/>
              </p:nvCxnSpPr>
              <p:spPr>
                <a:xfrm flipH="1">
                  <a:off x="8939133" y="3767670"/>
                  <a:ext cx="476235" cy="1057087"/>
                </a:xfrm>
                <a:prstGeom prst="bentConnector5">
                  <a:avLst>
                    <a:gd name="adj1" fmla="val -25601"/>
                    <a:gd name="adj2" fmla="val 48991"/>
                    <a:gd name="adj3" fmla="val 127201"/>
                  </a:avLst>
                </a:prstGeom>
                <a:ln>
                  <a:solidFill>
                    <a:schemeClr val="tx2"/>
                  </a:solidFill>
                  <a:tailEnd type="triangle"/>
                </a:ln>
              </p:spPr>
              <p:style>
                <a:lnRef idx="3">
                  <a:schemeClr val="dk1"/>
                </a:lnRef>
                <a:fillRef idx="0">
                  <a:schemeClr val="dk1"/>
                </a:fillRef>
                <a:effectRef idx="2">
                  <a:schemeClr val="dk1"/>
                </a:effectRef>
                <a:fontRef idx="minor">
                  <a:schemeClr val="tx1"/>
                </a:fontRef>
              </p:style>
            </p:cxnSp>
          </p:grpSp>
          <p:sp>
            <p:nvSpPr>
              <p:cNvPr id="50" name="Rectangle 49">
                <a:extLst>
                  <a:ext uri="{FF2B5EF4-FFF2-40B4-BE49-F238E27FC236}">
                    <a16:creationId xmlns:a16="http://schemas.microsoft.com/office/drawing/2014/main" id="{846F11C2-3527-0A3D-C09F-38F9C1C4B8AD}"/>
                  </a:ext>
                </a:extLst>
              </p:cNvPr>
              <p:cNvSpPr/>
              <p:nvPr/>
            </p:nvSpPr>
            <p:spPr>
              <a:xfrm>
                <a:off x="8717209" y="3197521"/>
                <a:ext cx="962824" cy="207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2"/>
                    </a:solidFill>
                    <a:latin typeface="Cambria Math" panose="02040503050406030204" pitchFamily="18" charset="0"/>
                    <a:ea typeface="Cambria Math" panose="02040503050406030204" pitchFamily="18" charset="0"/>
                    <a:sym typeface="Wingdings" panose="05000000000000000000" pitchFamily="2" charset="2"/>
                  </a:rPr>
                  <a:t>m</a:t>
                </a:r>
                <a:r>
                  <a:rPr lang="en-US" sz="1400" b="1" baseline="-25000" dirty="0">
                    <a:solidFill>
                      <a:schemeClr val="tx2"/>
                    </a:solidFill>
                    <a:latin typeface="Cambria Math" panose="02040503050406030204" pitchFamily="18" charset="0"/>
                    <a:ea typeface="Cambria Math" panose="02040503050406030204" pitchFamily="18" charset="0"/>
                    <a:sym typeface="Wingdings" panose="05000000000000000000" pitchFamily="2" charset="2"/>
                  </a:rPr>
                  <a:t>1</a:t>
                </a:r>
                <a:r>
                  <a:rPr lang="en-US" sz="1400" b="1" dirty="0">
                    <a:solidFill>
                      <a:schemeClr val="tx2"/>
                    </a:solidFill>
                    <a:latin typeface="Cambria Math" panose="02040503050406030204" pitchFamily="18" charset="0"/>
                    <a:ea typeface="Cambria Math" panose="02040503050406030204" pitchFamily="18" charset="0"/>
                    <a:sym typeface="Wingdings" panose="05000000000000000000" pitchFamily="2" charset="2"/>
                  </a:rPr>
                  <a:t>m</a:t>
                </a:r>
                <a:r>
                  <a:rPr lang="en-US" sz="1400" b="1" baseline="-25000" dirty="0">
                    <a:solidFill>
                      <a:schemeClr val="tx2"/>
                    </a:solidFill>
                    <a:latin typeface="Cambria Math" panose="02040503050406030204" pitchFamily="18" charset="0"/>
                    <a:ea typeface="Cambria Math" panose="02040503050406030204" pitchFamily="18" charset="0"/>
                    <a:sym typeface="Wingdings" panose="05000000000000000000" pitchFamily="2" charset="2"/>
                  </a:rPr>
                  <a:t>2</a:t>
                </a:r>
                <a:endParaRPr lang="en-US" sz="1400" b="1" dirty="0">
                  <a:solidFill>
                    <a:schemeClr val="tx2"/>
                  </a:solidFill>
                  <a:latin typeface="Cambria Math" panose="02040503050406030204" pitchFamily="18" charset="0"/>
                  <a:ea typeface="Cambria Math" panose="02040503050406030204" pitchFamily="18" charset="0"/>
                </a:endParaRPr>
              </a:p>
            </p:txBody>
          </p:sp>
        </p:grpSp>
        <p:grpSp>
          <p:nvGrpSpPr>
            <p:cNvPr id="22" name="Group 21">
              <a:extLst>
                <a:ext uri="{FF2B5EF4-FFF2-40B4-BE49-F238E27FC236}">
                  <a16:creationId xmlns:a16="http://schemas.microsoft.com/office/drawing/2014/main" id="{C47016E1-27A8-0A8E-9370-338F75A9E602}"/>
                </a:ext>
              </a:extLst>
            </p:cNvPr>
            <p:cNvGrpSpPr/>
            <p:nvPr/>
          </p:nvGrpSpPr>
          <p:grpSpPr>
            <a:xfrm>
              <a:off x="5425206" y="3195791"/>
              <a:ext cx="962824" cy="1984079"/>
              <a:chOff x="8717209" y="3197521"/>
              <a:chExt cx="962824" cy="1984079"/>
            </a:xfrm>
          </p:grpSpPr>
          <p:grpSp>
            <p:nvGrpSpPr>
              <p:cNvPr id="41" name="Group 40">
                <a:extLst>
                  <a:ext uri="{FF2B5EF4-FFF2-40B4-BE49-F238E27FC236}">
                    <a16:creationId xmlns:a16="http://schemas.microsoft.com/office/drawing/2014/main" id="{00C4BE03-1762-E4A0-AB3D-98FC1287C198}"/>
                  </a:ext>
                </a:extLst>
              </p:cNvPr>
              <p:cNvGrpSpPr/>
              <p:nvPr/>
            </p:nvGrpSpPr>
            <p:grpSpPr>
              <a:xfrm>
                <a:off x="8717209" y="3410643"/>
                <a:ext cx="962824" cy="1770957"/>
                <a:chOff x="8717209" y="3410643"/>
                <a:chExt cx="962824" cy="1770957"/>
              </a:xfrm>
            </p:grpSpPr>
            <p:sp>
              <p:nvSpPr>
                <p:cNvPr id="43" name="Rectangle: Rounded Corners 42">
                  <a:extLst>
                    <a:ext uri="{FF2B5EF4-FFF2-40B4-BE49-F238E27FC236}">
                      <a16:creationId xmlns:a16="http://schemas.microsoft.com/office/drawing/2014/main" id="{871D9445-E53E-D89E-73A1-90E0467AC8DE}"/>
                    </a:ext>
                  </a:extLst>
                </p:cNvPr>
                <p:cNvSpPr/>
                <p:nvPr/>
              </p:nvSpPr>
              <p:spPr>
                <a:xfrm>
                  <a:off x="8717209" y="3410643"/>
                  <a:ext cx="962824" cy="1770957"/>
                </a:xfrm>
                <a:prstGeom prst="roundRect">
                  <a:avLst>
                    <a:gd name="adj" fmla="val 1407"/>
                  </a:avLst>
                </a:prstGeom>
                <a:solidFill>
                  <a:schemeClr val="accent4">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2"/>
                    </a:solidFill>
                  </a:endParaRPr>
                </a:p>
              </p:txBody>
            </p:sp>
            <p:sp>
              <p:nvSpPr>
                <p:cNvPr id="44" name="Rectangle 43">
                  <a:extLst>
                    <a:ext uri="{FF2B5EF4-FFF2-40B4-BE49-F238E27FC236}">
                      <a16:creationId xmlns:a16="http://schemas.microsoft.com/office/drawing/2014/main" id="{87E753C0-F6B8-A77A-6189-831214F6CBF7}"/>
                    </a:ext>
                  </a:extLst>
                </p:cNvPr>
                <p:cNvSpPr/>
                <p:nvPr/>
              </p:nvSpPr>
              <p:spPr>
                <a:xfrm>
                  <a:off x="8960081" y="3559509"/>
                  <a:ext cx="455287" cy="416321"/>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pic>
              <p:nvPicPr>
                <p:cNvPr id="45" name="Graphic 44" descr="Branching diagram with solid fill">
                  <a:extLst>
                    <a:ext uri="{FF2B5EF4-FFF2-40B4-BE49-F238E27FC236}">
                      <a16:creationId xmlns:a16="http://schemas.microsoft.com/office/drawing/2014/main" id="{91997B5E-06B0-BB78-D53F-90D9921ACCA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8957692" y="3519704"/>
                  <a:ext cx="489520" cy="489520"/>
                </a:xfrm>
                <a:prstGeom prst="rect">
                  <a:avLst/>
                </a:prstGeom>
              </p:spPr>
            </p:pic>
            <p:sp>
              <p:nvSpPr>
                <p:cNvPr id="46" name="Rectangle 45">
                  <a:extLst>
                    <a:ext uri="{FF2B5EF4-FFF2-40B4-BE49-F238E27FC236}">
                      <a16:creationId xmlns:a16="http://schemas.microsoft.com/office/drawing/2014/main" id="{BF9CD12D-E632-7CDC-08A9-DD4E78FE1247}"/>
                    </a:ext>
                  </a:extLst>
                </p:cNvPr>
                <p:cNvSpPr/>
                <p:nvPr/>
              </p:nvSpPr>
              <p:spPr>
                <a:xfrm>
                  <a:off x="8939133" y="4595265"/>
                  <a:ext cx="497182" cy="458984"/>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a:p>
              </p:txBody>
            </p:sp>
            <p:pic>
              <p:nvPicPr>
                <p:cNvPr id="47" name="Graphic 46" descr="Normal Distribution with solid fill">
                  <a:extLst>
                    <a:ext uri="{FF2B5EF4-FFF2-40B4-BE49-F238E27FC236}">
                      <a16:creationId xmlns:a16="http://schemas.microsoft.com/office/drawing/2014/main" id="{63170CE6-CD81-712B-1762-7DA023D32F3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45904" y="4582937"/>
                  <a:ext cx="483640" cy="483640"/>
                </a:xfrm>
                <a:prstGeom prst="rect">
                  <a:avLst/>
                </a:prstGeom>
              </p:spPr>
            </p:pic>
            <p:cxnSp>
              <p:nvCxnSpPr>
                <p:cNvPr id="48" name="Connector: Elbow 47">
                  <a:extLst>
                    <a:ext uri="{FF2B5EF4-FFF2-40B4-BE49-F238E27FC236}">
                      <a16:creationId xmlns:a16="http://schemas.microsoft.com/office/drawing/2014/main" id="{794045FB-6B71-D9DF-8F29-B4DA53280819}"/>
                    </a:ext>
                  </a:extLst>
                </p:cNvPr>
                <p:cNvCxnSpPr>
                  <a:stCxn id="44" idx="3"/>
                  <a:endCxn id="46" idx="1"/>
                </p:cNvCxnSpPr>
                <p:nvPr/>
              </p:nvCxnSpPr>
              <p:spPr>
                <a:xfrm flipH="1">
                  <a:off x="8939133" y="3767670"/>
                  <a:ext cx="476235" cy="1057087"/>
                </a:xfrm>
                <a:prstGeom prst="bentConnector5">
                  <a:avLst>
                    <a:gd name="adj1" fmla="val -25601"/>
                    <a:gd name="adj2" fmla="val 48991"/>
                    <a:gd name="adj3" fmla="val 127201"/>
                  </a:avLst>
                </a:prstGeom>
                <a:ln>
                  <a:solidFill>
                    <a:schemeClr val="tx2"/>
                  </a:solidFill>
                  <a:tailEnd type="triangle"/>
                </a:ln>
              </p:spPr>
              <p:style>
                <a:lnRef idx="3">
                  <a:schemeClr val="dk1"/>
                </a:lnRef>
                <a:fillRef idx="0">
                  <a:schemeClr val="dk1"/>
                </a:fillRef>
                <a:effectRef idx="2">
                  <a:schemeClr val="dk1"/>
                </a:effectRef>
                <a:fontRef idx="minor">
                  <a:schemeClr val="tx1"/>
                </a:fontRef>
              </p:style>
            </p:cxnSp>
          </p:grpSp>
          <p:sp>
            <p:nvSpPr>
              <p:cNvPr id="42" name="Rectangle 41">
                <a:extLst>
                  <a:ext uri="{FF2B5EF4-FFF2-40B4-BE49-F238E27FC236}">
                    <a16:creationId xmlns:a16="http://schemas.microsoft.com/office/drawing/2014/main" id="{67B3E73C-27EE-71F7-A3A7-FEA99F1C3797}"/>
                  </a:ext>
                </a:extLst>
              </p:cNvPr>
              <p:cNvSpPr/>
              <p:nvPr/>
            </p:nvSpPr>
            <p:spPr>
              <a:xfrm>
                <a:off x="8717209" y="3197521"/>
                <a:ext cx="962824" cy="207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2"/>
                    </a:solidFill>
                    <a:latin typeface="Cambria Math" panose="02040503050406030204" pitchFamily="18" charset="0"/>
                    <a:ea typeface="Cambria Math" panose="02040503050406030204" pitchFamily="18" charset="0"/>
                    <a:sym typeface="Wingdings" panose="05000000000000000000" pitchFamily="2" charset="2"/>
                  </a:rPr>
                  <a:t>m</a:t>
                </a:r>
                <a:r>
                  <a:rPr lang="en-US" sz="1400" b="1" baseline="-25000" dirty="0">
                    <a:solidFill>
                      <a:schemeClr val="tx2"/>
                    </a:solidFill>
                    <a:latin typeface="Cambria Math" panose="02040503050406030204" pitchFamily="18" charset="0"/>
                    <a:ea typeface="Cambria Math" panose="02040503050406030204" pitchFamily="18" charset="0"/>
                    <a:sym typeface="Wingdings" panose="05000000000000000000" pitchFamily="2" charset="2"/>
                  </a:rPr>
                  <a:t>2</a:t>
                </a:r>
                <a:r>
                  <a:rPr lang="en-US" sz="1400" b="1" dirty="0">
                    <a:solidFill>
                      <a:schemeClr val="tx2"/>
                    </a:solidFill>
                    <a:latin typeface="Cambria Math" panose="02040503050406030204" pitchFamily="18" charset="0"/>
                    <a:ea typeface="Cambria Math" panose="02040503050406030204" pitchFamily="18" charset="0"/>
                    <a:sym typeface="Wingdings" panose="05000000000000000000" pitchFamily="2" charset="2"/>
                  </a:rPr>
                  <a:t>m</a:t>
                </a:r>
                <a:r>
                  <a:rPr lang="en-US" sz="1400" b="1" baseline="-25000" dirty="0">
                    <a:solidFill>
                      <a:schemeClr val="tx2"/>
                    </a:solidFill>
                    <a:latin typeface="Cambria Math" panose="02040503050406030204" pitchFamily="18" charset="0"/>
                    <a:ea typeface="Cambria Math" panose="02040503050406030204" pitchFamily="18" charset="0"/>
                    <a:sym typeface="Wingdings" panose="05000000000000000000" pitchFamily="2" charset="2"/>
                  </a:rPr>
                  <a:t>3</a:t>
                </a:r>
                <a:endParaRPr lang="en-US" sz="1400" b="1" dirty="0">
                  <a:solidFill>
                    <a:schemeClr val="tx2"/>
                  </a:solidFill>
                  <a:latin typeface="Cambria Math" panose="02040503050406030204" pitchFamily="18" charset="0"/>
                  <a:ea typeface="Cambria Math" panose="02040503050406030204" pitchFamily="18" charset="0"/>
                </a:endParaRPr>
              </a:p>
            </p:txBody>
          </p:sp>
        </p:grpSp>
        <p:grpSp>
          <p:nvGrpSpPr>
            <p:cNvPr id="23" name="Group 22">
              <a:extLst>
                <a:ext uri="{FF2B5EF4-FFF2-40B4-BE49-F238E27FC236}">
                  <a16:creationId xmlns:a16="http://schemas.microsoft.com/office/drawing/2014/main" id="{9660E4AE-83BC-8997-51D4-65E9092C51F3}"/>
                </a:ext>
              </a:extLst>
            </p:cNvPr>
            <p:cNvGrpSpPr/>
            <p:nvPr/>
          </p:nvGrpSpPr>
          <p:grpSpPr>
            <a:xfrm>
              <a:off x="7714625" y="3199495"/>
              <a:ext cx="962824" cy="1984079"/>
              <a:chOff x="8717209" y="3197521"/>
              <a:chExt cx="962824" cy="1984079"/>
            </a:xfrm>
          </p:grpSpPr>
          <p:grpSp>
            <p:nvGrpSpPr>
              <p:cNvPr id="33" name="Group 32">
                <a:extLst>
                  <a:ext uri="{FF2B5EF4-FFF2-40B4-BE49-F238E27FC236}">
                    <a16:creationId xmlns:a16="http://schemas.microsoft.com/office/drawing/2014/main" id="{D3BB6F22-2B18-D8B9-97A4-B094D647E905}"/>
                  </a:ext>
                </a:extLst>
              </p:cNvPr>
              <p:cNvGrpSpPr/>
              <p:nvPr/>
            </p:nvGrpSpPr>
            <p:grpSpPr>
              <a:xfrm>
                <a:off x="8717209" y="3410643"/>
                <a:ext cx="962824" cy="1770957"/>
                <a:chOff x="8717209" y="3410643"/>
                <a:chExt cx="962824" cy="1770957"/>
              </a:xfrm>
            </p:grpSpPr>
            <p:sp>
              <p:nvSpPr>
                <p:cNvPr id="35" name="Rectangle: Rounded Corners 34">
                  <a:extLst>
                    <a:ext uri="{FF2B5EF4-FFF2-40B4-BE49-F238E27FC236}">
                      <a16:creationId xmlns:a16="http://schemas.microsoft.com/office/drawing/2014/main" id="{2BAE1E6D-FBE3-B5C3-1128-551A423D795E}"/>
                    </a:ext>
                  </a:extLst>
                </p:cNvPr>
                <p:cNvSpPr/>
                <p:nvPr/>
              </p:nvSpPr>
              <p:spPr>
                <a:xfrm>
                  <a:off x="8717209" y="3410643"/>
                  <a:ext cx="962824" cy="1770957"/>
                </a:xfrm>
                <a:prstGeom prst="roundRect">
                  <a:avLst>
                    <a:gd name="adj" fmla="val 1407"/>
                  </a:avLst>
                </a:prstGeom>
                <a:solidFill>
                  <a:schemeClr val="accent4">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2"/>
                    </a:solidFill>
                  </a:endParaRPr>
                </a:p>
              </p:txBody>
            </p:sp>
            <p:sp>
              <p:nvSpPr>
                <p:cNvPr id="36" name="Rectangle 35">
                  <a:extLst>
                    <a:ext uri="{FF2B5EF4-FFF2-40B4-BE49-F238E27FC236}">
                      <a16:creationId xmlns:a16="http://schemas.microsoft.com/office/drawing/2014/main" id="{64F1736C-686F-6BB5-63B3-47E15B88DB02}"/>
                    </a:ext>
                  </a:extLst>
                </p:cNvPr>
                <p:cNvSpPr/>
                <p:nvPr/>
              </p:nvSpPr>
              <p:spPr>
                <a:xfrm>
                  <a:off x="8960081" y="3559509"/>
                  <a:ext cx="455287" cy="416321"/>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pic>
              <p:nvPicPr>
                <p:cNvPr id="37" name="Graphic 36" descr="Branching diagram with solid fill">
                  <a:extLst>
                    <a:ext uri="{FF2B5EF4-FFF2-40B4-BE49-F238E27FC236}">
                      <a16:creationId xmlns:a16="http://schemas.microsoft.com/office/drawing/2014/main" id="{DFFB0982-A721-673A-A66A-1D39F2B3E9B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8957692" y="3519704"/>
                  <a:ext cx="489520" cy="489520"/>
                </a:xfrm>
                <a:prstGeom prst="rect">
                  <a:avLst/>
                </a:prstGeom>
              </p:spPr>
            </p:pic>
            <p:sp>
              <p:nvSpPr>
                <p:cNvPr id="38" name="Rectangle 37">
                  <a:extLst>
                    <a:ext uri="{FF2B5EF4-FFF2-40B4-BE49-F238E27FC236}">
                      <a16:creationId xmlns:a16="http://schemas.microsoft.com/office/drawing/2014/main" id="{AF328A97-98C5-8655-A71E-506FDDBA9EE5}"/>
                    </a:ext>
                  </a:extLst>
                </p:cNvPr>
                <p:cNvSpPr/>
                <p:nvPr/>
              </p:nvSpPr>
              <p:spPr>
                <a:xfrm>
                  <a:off x="8939133" y="4595265"/>
                  <a:ext cx="497182" cy="458984"/>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a:p>
              </p:txBody>
            </p:sp>
            <p:pic>
              <p:nvPicPr>
                <p:cNvPr id="39" name="Graphic 38" descr="Normal Distribution with solid fill">
                  <a:extLst>
                    <a:ext uri="{FF2B5EF4-FFF2-40B4-BE49-F238E27FC236}">
                      <a16:creationId xmlns:a16="http://schemas.microsoft.com/office/drawing/2014/main" id="{5BBE1E4B-DB7D-C610-4874-581BDE1277F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45904" y="4582937"/>
                  <a:ext cx="483640" cy="483640"/>
                </a:xfrm>
                <a:prstGeom prst="rect">
                  <a:avLst/>
                </a:prstGeom>
              </p:spPr>
            </p:pic>
            <p:cxnSp>
              <p:nvCxnSpPr>
                <p:cNvPr id="40" name="Connector: Elbow 39">
                  <a:extLst>
                    <a:ext uri="{FF2B5EF4-FFF2-40B4-BE49-F238E27FC236}">
                      <a16:creationId xmlns:a16="http://schemas.microsoft.com/office/drawing/2014/main" id="{DDEEBA15-6015-9241-45BB-405A1DC358EB}"/>
                    </a:ext>
                  </a:extLst>
                </p:cNvPr>
                <p:cNvCxnSpPr>
                  <a:stCxn id="36" idx="3"/>
                  <a:endCxn id="38" idx="1"/>
                </p:cNvCxnSpPr>
                <p:nvPr/>
              </p:nvCxnSpPr>
              <p:spPr>
                <a:xfrm flipH="1">
                  <a:off x="8939133" y="3767670"/>
                  <a:ext cx="476235" cy="1057087"/>
                </a:xfrm>
                <a:prstGeom prst="bentConnector5">
                  <a:avLst>
                    <a:gd name="adj1" fmla="val -25601"/>
                    <a:gd name="adj2" fmla="val 48991"/>
                    <a:gd name="adj3" fmla="val 127201"/>
                  </a:avLst>
                </a:prstGeom>
                <a:ln>
                  <a:solidFill>
                    <a:schemeClr val="tx2"/>
                  </a:solidFill>
                  <a:tailEnd type="triangle"/>
                </a:ln>
              </p:spPr>
              <p:style>
                <a:lnRef idx="3">
                  <a:schemeClr val="dk1"/>
                </a:lnRef>
                <a:fillRef idx="0">
                  <a:schemeClr val="dk1"/>
                </a:fillRef>
                <a:effectRef idx="2">
                  <a:schemeClr val="dk1"/>
                </a:effectRef>
                <a:fontRef idx="minor">
                  <a:schemeClr val="tx1"/>
                </a:fontRef>
              </p:style>
            </p:cxnSp>
          </p:grpSp>
          <p:sp>
            <p:nvSpPr>
              <p:cNvPr id="34" name="Rectangle 33">
                <a:extLst>
                  <a:ext uri="{FF2B5EF4-FFF2-40B4-BE49-F238E27FC236}">
                    <a16:creationId xmlns:a16="http://schemas.microsoft.com/office/drawing/2014/main" id="{F59FDDEA-5401-B8B5-C6D8-0D2E33D0C845}"/>
                  </a:ext>
                </a:extLst>
              </p:cNvPr>
              <p:cNvSpPr/>
              <p:nvPr/>
            </p:nvSpPr>
            <p:spPr>
              <a:xfrm>
                <a:off x="8717209" y="3197521"/>
                <a:ext cx="962824" cy="207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2"/>
                    </a:solidFill>
                    <a:latin typeface="Cambria Math" panose="02040503050406030204" pitchFamily="18" charset="0"/>
                    <a:ea typeface="Cambria Math" panose="02040503050406030204" pitchFamily="18" charset="0"/>
                    <a:sym typeface="Wingdings" panose="05000000000000000000" pitchFamily="2" charset="2"/>
                  </a:rPr>
                  <a:t>m</a:t>
                </a:r>
                <a:r>
                  <a:rPr lang="en-US" sz="1400" b="1" baseline="-25000" dirty="0">
                    <a:solidFill>
                      <a:schemeClr val="tx2"/>
                    </a:solidFill>
                    <a:latin typeface="Cambria Math" panose="02040503050406030204" pitchFamily="18" charset="0"/>
                    <a:ea typeface="Cambria Math" panose="02040503050406030204" pitchFamily="18" charset="0"/>
                    <a:sym typeface="Wingdings" panose="05000000000000000000" pitchFamily="2" charset="2"/>
                  </a:rPr>
                  <a:t>p-1</a:t>
                </a:r>
                <a:r>
                  <a:rPr lang="en-US" sz="1400" b="1" dirty="0">
                    <a:solidFill>
                      <a:schemeClr val="tx2"/>
                    </a:solidFill>
                    <a:latin typeface="Cambria Math" panose="02040503050406030204" pitchFamily="18" charset="0"/>
                    <a:ea typeface="Cambria Math" panose="02040503050406030204" pitchFamily="18" charset="0"/>
                    <a:sym typeface="Wingdings" panose="05000000000000000000" pitchFamily="2" charset="2"/>
                  </a:rPr>
                  <a:t>m</a:t>
                </a:r>
                <a:r>
                  <a:rPr lang="en-US" sz="1400" b="1" baseline="-25000" dirty="0">
                    <a:solidFill>
                      <a:schemeClr val="tx2"/>
                    </a:solidFill>
                    <a:latin typeface="Cambria Math" panose="02040503050406030204" pitchFamily="18" charset="0"/>
                    <a:ea typeface="Cambria Math" panose="02040503050406030204" pitchFamily="18" charset="0"/>
                    <a:sym typeface="Wingdings" panose="05000000000000000000" pitchFamily="2" charset="2"/>
                  </a:rPr>
                  <a:t>p</a:t>
                </a:r>
                <a:endParaRPr lang="en-US" sz="1400" b="1" dirty="0">
                  <a:solidFill>
                    <a:schemeClr val="tx2"/>
                  </a:solidFill>
                  <a:latin typeface="Cambria Math" panose="02040503050406030204" pitchFamily="18" charset="0"/>
                  <a:ea typeface="Cambria Math" panose="02040503050406030204" pitchFamily="18" charset="0"/>
                </a:endParaRPr>
              </a:p>
            </p:txBody>
          </p:sp>
        </p:grpSp>
        <p:grpSp>
          <p:nvGrpSpPr>
            <p:cNvPr id="24" name="Group 23">
              <a:extLst>
                <a:ext uri="{FF2B5EF4-FFF2-40B4-BE49-F238E27FC236}">
                  <a16:creationId xmlns:a16="http://schemas.microsoft.com/office/drawing/2014/main" id="{85CE9042-EFED-D88F-46F0-BB418E1B628F}"/>
                </a:ext>
              </a:extLst>
            </p:cNvPr>
            <p:cNvGrpSpPr/>
            <p:nvPr/>
          </p:nvGrpSpPr>
          <p:grpSpPr>
            <a:xfrm>
              <a:off x="9160460" y="3199495"/>
              <a:ext cx="962824" cy="1984079"/>
              <a:chOff x="8717209" y="3197521"/>
              <a:chExt cx="962824" cy="1984079"/>
            </a:xfrm>
          </p:grpSpPr>
          <p:grpSp>
            <p:nvGrpSpPr>
              <p:cNvPr id="25" name="Group 24">
                <a:extLst>
                  <a:ext uri="{FF2B5EF4-FFF2-40B4-BE49-F238E27FC236}">
                    <a16:creationId xmlns:a16="http://schemas.microsoft.com/office/drawing/2014/main" id="{1391A566-6403-C91D-FAC2-86486D5045BB}"/>
                  </a:ext>
                </a:extLst>
              </p:cNvPr>
              <p:cNvGrpSpPr/>
              <p:nvPr/>
            </p:nvGrpSpPr>
            <p:grpSpPr>
              <a:xfrm>
                <a:off x="8717209" y="3410643"/>
                <a:ext cx="962824" cy="1770957"/>
                <a:chOff x="8717209" y="3410643"/>
                <a:chExt cx="962824" cy="1770957"/>
              </a:xfrm>
            </p:grpSpPr>
            <p:sp>
              <p:nvSpPr>
                <p:cNvPr id="27" name="Rectangle: Rounded Corners 26">
                  <a:extLst>
                    <a:ext uri="{FF2B5EF4-FFF2-40B4-BE49-F238E27FC236}">
                      <a16:creationId xmlns:a16="http://schemas.microsoft.com/office/drawing/2014/main" id="{A2A0A1E7-CB06-1A44-2FDC-FD895E37C379}"/>
                    </a:ext>
                  </a:extLst>
                </p:cNvPr>
                <p:cNvSpPr/>
                <p:nvPr/>
              </p:nvSpPr>
              <p:spPr>
                <a:xfrm>
                  <a:off x="8717209" y="3410643"/>
                  <a:ext cx="962824" cy="1770957"/>
                </a:xfrm>
                <a:prstGeom prst="roundRect">
                  <a:avLst>
                    <a:gd name="adj" fmla="val 1407"/>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2"/>
                    </a:solidFill>
                  </a:endParaRPr>
                </a:p>
              </p:txBody>
            </p:sp>
            <p:sp>
              <p:nvSpPr>
                <p:cNvPr id="28" name="Rectangle 27">
                  <a:extLst>
                    <a:ext uri="{FF2B5EF4-FFF2-40B4-BE49-F238E27FC236}">
                      <a16:creationId xmlns:a16="http://schemas.microsoft.com/office/drawing/2014/main" id="{25675749-A872-6BB5-C586-732A6259E982}"/>
                    </a:ext>
                  </a:extLst>
                </p:cNvPr>
                <p:cNvSpPr/>
                <p:nvPr/>
              </p:nvSpPr>
              <p:spPr>
                <a:xfrm>
                  <a:off x="8960081" y="3559509"/>
                  <a:ext cx="455287" cy="416321"/>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pic>
              <p:nvPicPr>
                <p:cNvPr id="29" name="Graphic 28" descr="Branching diagram with solid fill">
                  <a:extLst>
                    <a:ext uri="{FF2B5EF4-FFF2-40B4-BE49-F238E27FC236}">
                      <a16:creationId xmlns:a16="http://schemas.microsoft.com/office/drawing/2014/main" id="{E43703AB-A768-6D70-4A99-5C29136BD59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8957692" y="3519704"/>
                  <a:ext cx="489520" cy="489520"/>
                </a:xfrm>
                <a:prstGeom prst="rect">
                  <a:avLst/>
                </a:prstGeom>
              </p:spPr>
            </p:pic>
            <p:sp>
              <p:nvSpPr>
                <p:cNvPr id="30" name="Rectangle 29">
                  <a:extLst>
                    <a:ext uri="{FF2B5EF4-FFF2-40B4-BE49-F238E27FC236}">
                      <a16:creationId xmlns:a16="http://schemas.microsoft.com/office/drawing/2014/main" id="{967FF48D-EA7B-1A99-29A9-E6DAEA48E819}"/>
                    </a:ext>
                  </a:extLst>
                </p:cNvPr>
                <p:cNvSpPr/>
                <p:nvPr/>
              </p:nvSpPr>
              <p:spPr>
                <a:xfrm>
                  <a:off x="8939133" y="4595265"/>
                  <a:ext cx="497182" cy="458984"/>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a:p>
              </p:txBody>
            </p:sp>
            <p:pic>
              <p:nvPicPr>
                <p:cNvPr id="31" name="Graphic 30" descr="Normal Distribution with solid fill">
                  <a:extLst>
                    <a:ext uri="{FF2B5EF4-FFF2-40B4-BE49-F238E27FC236}">
                      <a16:creationId xmlns:a16="http://schemas.microsoft.com/office/drawing/2014/main" id="{48DCA648-93E0-578F-5C5D-CB3C176678E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45904" y="4582937"/>
                  <a:ext cx="483640" cy="483640"/>
                </a:xfrm>
                <a:prstGeom prst="rect">
                  <a:avLst/>
                </a:prstGeom>
              </p:spPr>
            </p:pic>
            <p:cxnSp>
              <p:nvCxnSpPr>
                <p:cNvPr id="32" name="Connector: Elbow 31">
                  <a:extLst>
                    <a:ext uri="{FF2B5EF4-FFF2-40B4-BE49-F238E27FC236}">
                      <a16:creationId xmlns:a16="http://schemas.microsoft.com/office/drawing/2014/main" id="{F7AEB7B8-5818-9AF6-863D-A3374BCB1F0C}"/>
                    </a:ext>
                  </a:extLst>
                </p:cNvPr>
                <p:cNvCxnSpPr>
                  <a:stCxn id="28" idx="3"/>
                  <a:endCxn id="30" idx="1"/>
                </p:cNvCxnSpPr>
                <p:nvPr/>
              </p:nvCxnSpPr>
              <p:spPr>
                <a:xfrm flipH="1">
                  <a:off x="8939133" y="3767670"/>
                  <a:ext cx="476235" cy="1057087"/>
                </a:xfrm>
                <a:prstGeom prst="bentConnector5">
                  <a:avLst>
                    <a:gd name="adj1" fmla="val -25601"/>
                    <a:gd name="adj2" fmla="val 48991"/>
                    <a:gd name="adj3" fmla="val 127201"/>
                  </a:avLst>
                </a:prstGeom>
                <a:ln>
                  <a:solidFill>
                    <a:schemeClr val="tx2"/>
                  </a:solidFill>
                  <a:tailEnd type="triangle"/>
                </a:ln>
              </p:spPr>
              <p:style>
                <a:lnRef idx="3">
                  <a:schemeClr val="dk1"/>
                </a:lnRef>
                <a:fillRef idx="0">
                  <a:schemeClr val="dk1"/>
                </a:fillRef>
                <a:effectRef idx="2">
                  <a:schemeClr val="dk1"/>
                </a:effectRef>
                <a:fontRef idx="minor">
                  <a:schemeClr val="tx1"/>
                </a:fontRef>
              </p:style>
            </p:cxnSp>
          </p:grpSp>
          <p:sp>
            <p:nvSpPr>
              <p:cNvPr id="26" name="Rectangle 25">
                <a:extLst>
                  <a:ext uri="{FF2B5EF4-FFF2-40B4-BE49-F238E27FC236}">
                    <a16:creationId xmlns:a16="http://schemas.microsoft.com/office/drawing/2014/main" id="{F10F6D54-8C01-0772-FC6D-81FF62CAC002}"/>
                  </a:ext>
                </a:extLst>
              </p:cNvPr>
              <p:cNvSpPr/>
              <p:nvPr/>
            </p:nvSpPr>
            <p:spPr>
              <a:xfrm>
                <a:off x="8717209" y="3197521"/>
                <a:ext cx="962824" cy="207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tx2"/>
                    </a:solidFill>
                    <a:latin typeface="Cambria Math" panose="02040503050406030204" pitchFamily="18" charset="0"/>
                    <a:ea typeface="Cambria Math" panose="02040503050406030204" pitchFamily="18" charset="0"/>
                    <a:sym typeface="Wingdings" panose="05000000000000000000" pitchFamily="2" charset="2"/>
                  </a:rPr>
                  <a:t>m</a:t>
                </a:r>
                <a:r>
                  <a:rPr lang="en-US" sz="1400" b="1" baseline="-25000" dirty="0" err="1">
                    <a:solidFill>
                      <a:schemeClr val="tx2"/>
                    </a:solidFill>
                    <a:latin typeface="Cambria Math" panose="02040503050406030204" pitchFamily="18" charset="0"/>
                    <a:ea typeface="Cambria Math" panose="02040503050406030204" pitchFamily="18" charset="0"/>
                    <a:sym typeface="Wingdings" panose="05000000000000000000" pitchFamily="2" charset="2"/>
                  </a:rPr>
                  <a:t>p</a:t>
                </a:r>
                <a:r>
                  <a:rPr lang="en-US" sz="1400" b="1" dirty="0" err="1">
                    <a:solidFill>
                      <a:schemeClr val="tx2"/>
                    </a:solidFill>
                    <a:latin typeface="Cambria Math" panose="02040503050406030204" pitchFamily="18" charset="0"/>
                    <a:ea typeface="Cambria Math" panose="02040503050406030204" pitchFamily="18" charset="0"/>
                    <a:sym typeface="Wingdings" panose="05000000000000000000" pitchFamily="2" charset="2"/>
                  </a:rPr>
                  <a:t>k</a:t>
                </a:r>
                <a:endParaRPr lang="en-US" sz="1400" b="1" dirty="0">
                  <a:solidFill>
                    <a:schemeClr val="tx2"/>
                  </a:solidFill>
                  <a:latin typeface="Cambria Math" panose="02040503050406030204" pitchFamily="18" charset="0"/>
                  <a:ea typeface="Cambria Math" panose="02040503050406030204" pitchFamily="18" charset="0"/>
                </a:endParaRPr>
              </a:p>
            </p:txBody>
          </p:sp>
        </p:grpSp>
      </p:grpSp>
      <p:sp>
        <p:nvSpPr>
          <p:cNvPr id="68" name="Rectangle 67">
            <a:extLst>
              <a:ext uri="{FF2B5EF4-FFF2-40B4-BE49-F238E27FC236}">
                <a16:creationId xmlns:a16="http://schemas.microsoft.com/office/drawing/2014/main" id="{CAAD23C4-B4D0-A452-C7A5-A9198700665F}"/>
              </a:ext>
            </a:extLst>
          </p:cNvPr>
          <p:cNvSpPr/>
          <p:nvPr/>
        </p:nvSpPr>
        <p:spPr>
          <a:xfrm>
            <a:off x="2665411" y="2971800"/>
            <a:ext cx="8001000" cy="3200400"/>
          </a:xfrm>
          <a:prstGeom prst="rect">
            <a:avLst/>
          </a:prstGeom>
          <a:noFill/>
          <a:ln w="76200">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5549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Layers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p:txBody>
          <a:bodyPr/>
          <a:lstStyle/>
          <a:p>
            <a:r>
              <a:rPr lang="en-US" dirty="0"/>
              <a:t>In practice we can describe the same architecture in more details: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F3CF88F-D7FB-FBC6-972C-F328E6207B88}"/>
                  </a:ext>
                </a:extLst>
              </p:cNvPr>
              <p:cNvSpPr txBox="1"/>
              <p:nvPr/>
            </p:nvSpPr>
            <p:spPr>
              <a:xfrm>
                <a:off x="1217612" y="3290279"/>
                <a:ext cx="793551" cy="8228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b="1" i="1" smtClean="0">
                              <a:latin typeface="Cambria Math" panose="02040503050406030204" pitchFamily="18" charset="0"/>
                            </a:rPr>
                          </m:ctrlPr>
                        </m:dPr>
                        <m:e>
                          <m:m>
                            <m:mPr>
                              <m:mcs>
                                <m:mc>
                                  <m:mcPr>
                                    <m:count m:val="1"/>
                                    <m:mcJc m:val="center"/>
                                  </m:mcPr>
                                </m:mc>
                              </m:mcs>
                              <m:ctrlPr>
                                <a:rPr lang="en-US" sz="1400" b="1" i="1">
                                  <a:latin typeface="Cambria Math" panose="02040503050406030204" pitchFamily="18" charset="0"/>
                                </a:rPr>
                              </m:ctrlPr>
                            </m:mP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𝒊𝒏𝒑𝒖𝒕</m:t>
                                    </m:r>
                                  </m:e>
                                  <m:sub>
                                    <m:r>
                                      <a:rPr lang="en-US" sz="1400" b="1" i="1">
                                        <a:latin typeface="Cambria Math" panose="02040503050406030204" pitchFamily="18" charset="0"/>
                                      </a:rPr>
                                      <m:t>𝟏</m:t>
                                    </m:r>
                                  </m:sub>
                                </m:sSub>
                              </m:e>
                            </m:m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𝒊𝒏𝒑𝒖𝒕</m:t>
                                    </m:r>
                                  </m:e>
                                  <m:sub>
                                    <m:r>
                                      <a:rPr lang="en-US" sz="1400" b="1" i="1">
                                        <a:latin typeface="Cambria Math" panose="02040503050406030204" pitchFamily="18" charset="0"/>
                                      </a:rPr>
                                      <m:t>𝟐</m:t>
                                    </m:r>
                                  </m:sub>
                                </m:sSub>
                              </m:e>
                            </m:mr>
                            <m:mr>
                              <m:e>
                                <m:eqArr>
                                  <m:eqArrPr>
                                    <m:ctrlPr>
                                      <a:rPr lang="en-US" sz="1400" b="1" i="1">
                                        <a:latin typeface="Cambria Math" panose="02040503050406030204" pitchFamily="18" charset="0"/>
                                      </a:rPr>
                                    </m:ctrlPr>
                                  </m:eqArrPr>
                                  <m:e>
                                    <m:r>
                                      <a:rPr lang="en-US" sz="1400" b="1" i="1">
                                        <a:latin typeface="Cambria Math" panose="02040503050406030204" pitchFamily="18" charset="0"/>
                                        <a:ea typeface="Cambria Math" panose="02040503050406030204" pitchFamily="18" charset="0"/>
                                      </a:rPr>
                                      <m:t>⋮</m:t>
                                    </m:r>
                                  </m:e>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𝒊𝒏𝒑𝒖𝒕</m:t>
                                        </m:r>
                                      </m:e>
                                      <m:sub>
                                        <m:r>
                                          <a:rPr lang="en-US" sz="1400" b="1" i="1">
                                            <a:latin typeface="Cambria Math" panose="02040503050406030204" pitchFamily="18" charset="0"/>
                                          </a:rPr>
                                          <m:t>𝒏</m:t>
                                        </m:r>
                                      </m:sub>
                                    </m:sSub>
                                  </m:e>
                                </m:eqArr>
                              </m:e>
                            </m:mr>
                          </m:m>
                        </m:e>
                      </m:d>
                    </m:oMath>
                  </m:oMathPara>
                </a14:m>
                <a:endParaRPr lang="en-US" sz="1400" b="1" dirty="0"/>
              </a:p>
            </p:txBody>
          </p:sp>
        </mc:Choice>
        <mc:Fallback xmlns="">
          <p:sp>
            <p:nvSpPr>
              <p:cNvPr id="6" name="TextBox 5">
                <a:extLst>
                  <a:ext uri="{FF2B5EF4-FFF2-40B4-BE49-F238E27FC236}">
                    <a16:creationId xmlns:a16="http://schemas.microsoft.com/office/drawing/2014/main" id="{1F3CF88F-D7FB-FBC6-972C-F328E6207B88}"/>
                  </a:ext>
                </a:extLst>
              </p:cNvPr>
              <p:cNvSpPr txBox="1">
                <a:spLocks noRot="1" noChangeAspect="1" noMove="1" noResize="1" noEditPoints="1" noAdjustHandles="1" noChangeArrowheads="1" noChangeShapeType="1" noTextEdit="1"/>
              </p:cNvSpPr>
              <p:nvPr/>
            </p:nvSpPr>
            <p:spPr>
              <a:xfrm>
                <a:off x="1217612" y="3290279"/>
                <a:ext cx="793551" cy="822854"/>
              </a:xfrm>
              <a:prstGeom prst="rect">
                <a:avLst/>
              </a:prstGeom>
              <a:blipFill>
                <a:blip r:embed="rId2"/>
                <a:stretch>
                  <a:fillRect/>
                </a:stretch>
              </a:blipFill>
            </p:spPr>
            <p:txBody>
              <a:bodyPr/>
              <a:lstStyle/>
              <a:p>
                <a:r>
                  <a:rPr lang="en-US">
                    <a:noFill/>
                  </a:rPr>
                  <a:t> </a:t>
                </a:r>
              </a:p>
            </p:txBody>
          </p:sp>
        </mc:Fallback>
      </mc:AlternateContent>
      <p:sp>
        <p:nvSpPr>
          <p:cNvPr id="7" name="Arrow: Right 6">
            <a:extLst>
              <a:ext uri="{FF2B5EF4-FFF2-40B4-BE49-F238E27FC236}">
                <a16:creationId xmlns:a16="http://schemas.microsoft.com/office/drawing/2014/main" id="{3E5BD630-44CF-B014-8E35-79A2296A4E7A}"/>
              </a:ext>
            </a:extLst>
          </p:cNvPr>
          <p:cNvSpPr/>
          <p:nvPr/>
        </p:nvSpPr>
        <p:spPr>
          <a:xfrm>
            <a:off x="10572832" y="36031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3C35F55-730B-DBA3-CEEB-53F770AC26FD}"/>
                  </a:ext>
                </a:extLst>
              </p:cNvPr>
              <p:cNvSpPr txBox="1"/>
              <p:nvPr/>
            </p:nvSpPr>
            <p:spPr>
              <a:xfrm>
                <a:off x="10882812" y="3290258"/>
                <a:ext cx="926600" cy="8033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b="1" i="1" smtClean="0">
                              <a:latin typeface="Cambria Math" panose="02040503050406030204" pitchFamily="18" charset="0"/>
                            </a:rPr>
                          </m:ctrlPr>
                        </m:dPr>
                        <m:e>
                          <m:m>
                            <m:mPr>
                              <m:mcs>
                                <m:mc>
                                  <m:mcPr>
                                    <m:count m:val="1"/>
                                    <m:mcJc m:val="center"/>
                                  </m:mcPr>
                                </m:mc>
                              </m:mcs>
                              <m:ctrlPr>
                                <a:rPr lang="en-US" sz="1400" b="1" i="1">
                                  <a:latin typeface="Cambria Math" panose="02040503050406030204" pitchFamily="18" charset="0"/>
                                </a:rPr>
                              </m:ctrlPr>
                            </m:mP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𝒐𝒖𝒕𝒑𝒖𝒕</m:t>
                                    </m:r>
                                  </m:e>
                                  <m:sub>
                                    <m:r>
                                      <a:rPr lang="en-US" sz="1400" b="1" i="1">
                                        <a:latin typeface="Cambria Math" panose="02040503050406030204" pitchFamily="18" charset="0"/>
                                      </a:rPr>
                                      <m:t>𝟏</m:t>
                                    </m:r>
                                  </m:sub>
                                </m:sSub>
                              </m:e>
                            </m:m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𝒐𝒖𝒕𝒑𝒖𝒕</m:t>
                                    </m:r>
                                  </m:e>
                                  <m:sub>
                                    <m:r>
                                      <a:rPr lang="en-US" sz="1400" b="1" i="1">
                                        <a:latin typeface="Cambria Math" panose="02040503050406030204" pitchFamily="18" charset="0"/>
                                      </a:rPr>
                                      <m:t>𝟐</m:t>
                                    </m:r>
                                  </m:sub>
                                </m:sSub>
                              </m:e>
                            </m:mr>
                            <m:mr>
                              <m:e>
                                <m:eqArr>
                                  <m:eqArrPr>
                                    <m:ctrlPr>
                                      <a:rPr lang="en-US" sz="1400" b="1" i="1">
                                        <a:latin typeface="Cambria Math" panose="02040503050406030204" pitchFamily="18" charset="0"/>
                                      </a:rPr>
                                    </m:ctrlPr>
                                  </m:eqArrPr>
                                  <m:e>
                                    <m:r>
                                      <a:rPr lang="en-US" sz="1400" b="1" i="1">
                                        <a:latin typeface="Cambria Math" panose="02040503050406030204" pitchFamily="18" charset="0"/>
                                        <a:ea typeface="Cambria Math" panose="02040503050406030204" pitchFamily="18" charset="0"/>
                                      </a:rPr>
                                      <m:t>⋮</m:t>
                                    </m:r>
                                  </m:e>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𝒐𝒖𝒕𝒑𝒖𝒕</m:t>
                                        </m:r>
                                      </m:e>
                                      <m:sub>
                                        <m:r>
                                          <a:rPr lang="en-US" sz="1400" b="1" i="1" smtClean="0">
                                            <a:latin typeface="Cambria Math" panose="02040503050406030204" pitchFamily="18" charset="0"/>
                                          </a:rPr>
                                          <m:t>𝒌</m:t>
                                        </m:r>
                                      </m:sub>
                                    </m:sSub>
                                  </m:e>
                                </m:eqArr>
                              </m:e>
                            </m:mr>
                          </m:m>
                        </m:e>
                      </m:d>
                    </m:oMath>
                  </m:oMathPara>
                </a14:m>
                <a:endParaRPr lang="en-US" sz="1400" b="1" dirty="0"/>
              </a:p>
            </p:txBody>
          </p:sp>
        </mc:Choice>
        <mc:Fallback xmlns="">
          <p:sp>
            <p:nvSpPr>
              <p:cNvPr id="8" name="TextBox 7">
                <a:extLst>
                  <a:ext uri="{FF2B5EF4-FFF2-40B4-BE49-F238E27FC236}">
                    <a16:creationId xmlns:a16="http://schemas.microsoft.com/office/drawing/2014/main" id="{43C35F55-730B-DBA3-CEEB-53F770AC26FD}"/>
                  </a:ext>
                </a:extLst>
              </p:cNvPr>
              <p:cNvSpPr txBox="1">
                <a:spLocks noRot="1" noChangeAspect="1" noMove="1" noResize="1" noEditPoints="1" noAdjustHandles="1" noChangeArrowheads="1" noChangeShapeType="1" noTextEdit="1"/>
              </p:cNvSpPr>
              <p:nvPr/>
            </p:nvSpPr>
            <p:spPr>
              <a:xfrm>
                <a:off x="10882812" y="3290258"/>
                <a:ext cx="926600" cy="803361"/>
              </a:xfrm>
              <a:prstGeom prst="rect">
                <a:avLst/>
              </a:prstGeom>
              <a:blipFill>
                <a:blip r:embed="rId3"/>
                <a:stretch>
                  <a:fillRect/>
                </a:stretch>
              </a:blipFill>
            </p:spPr>
            <p:txBody>
              <a:bodyPr/>
              <a:lstStyle/>
              <a:p>
                <a:r>
                  <a:rPr lang="en-US">
                    <a:noFill/>
                  </a:rPr>
                  <a:t> </a:t>
                </a:r>
              </a:p>
            </p:txBody>
          </p:sp>
        </mc:Fallback>
      </mc:AlternateContent>
      <p:sp>
        <p:nvSpPr>
          <p:cNvPr id="9" name="Arrow: Right 8">
            <a:extLst>
              <a:ext uri="{FF2B5EF4-FFF2-40B4-BE49-F238E27FC236}">
                <a16:creationId xmlns:a16="http://schemas.microsoft.com/office/drawing/2014/main" id="{C6900869-155E-B321-91D1-0C37950F4744}"/>
              </a:ext>
            </a:extLst>
          </p:cNvPr>
          <p:cNvSpPr/>
          <p:nvPr/>
        </p:nvSpPr>
        <p:spPr>
          <a:xfrm>
            <a:off x="2046276" y="36031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sp>
        <p:nvSpPr>
          <p:cNvPr id="11" name="Arrow: Right 10">
            <a:extLst>
              <a:ext uri="{FF2B5EF4-FFF2-40B4-BE49-F238E27FC236}">
                <a16:creationId xmlns:a16="http://schemas.microsoft.com/office/drawing/2014/main" id="{03105DCB-5462-3404-E15C-0D10295DDB40}"/>
              </a:ext>
            </a:extLst>
          </p:cNvPr>
          <p:cNvSpPr/>
          <p:nvPr/>
        </p:nvSpPr>
        <p:spPr>
          <a:xfrm>
            <a:off x="4019632" y="3612316"/>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12" name="Group 11">
            <a:extLst>
              <a:ext uri="{FF2B5EF4-FFF2-40B4-BE49-F238E27FC236}">
                <a16:creationId xmlns:a16="http://schemas.microsoft.com/office/drawing/2014/main" id="{FECCB582-7F0E-BEFB-9163-65923EB54A72}"/>
              </a:ext>
            </a:extLst>
          </p:cNvPr>
          <p:cNvGrpSpPr/>
          <p:nvPr/>
        </p:nvGrpSpPr>
        <p:grpSpPr>
          <a:xfrm>
            <a:off x="6018212" y="3612316"/>
            <a:ext cx="1007980" cy="128872"/>
            <a:chOff x="7036224" y="4064907"/>
            <a:chExt cx="1007980" cy="128872"/>
          </a:xfrm>
        </p:grpSpPr>
        <p:sp>
          <p:nvSpPr>
            <p:cNvPr id="65" name="Arrow: Right 64">
              <a:extLst>
                <a:ext uri="{FF2B5EF4-FFF2-40B4-BE49-F238E27FC236}">
                  <a16:creationId xmlns:a16="http://schemas.microsoft.com/office/drawing/2014/main" id="{F175B76F-F567-DB2E-ED85-DA84D91B12D4}"/>
                </a:ext>
              </a:extLst>
            </p:cNvPr>
            <p:cNvSpPr/>
            <p:nvPr/>
          </p:nvSpPr>
          <p:spPr>
            <a:xfrm>
              <a:off x="7036224" y="4064907"/>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sp>
          <p:nvSpPr>
            <p:cNvPr id="66" name="Arrow: Right 65">
              <a:extLst>
                <a:ext uri="{FF2B5EF4-FFF2-40B4-BE49-F238E27FC236}">
                  <a16:creationId xmlns:a16="http://schemas.microsoft.com/office/drawing/2014/main" id="{74684094-FF79-A6F3-AE42-1630EC27CD57}"/>
                </a:ext>
              </a:extLst>
            </p:cNvPr>
            <p:cNvSpPr/>
            <p:nvPr/>
          </p:nvSpPr>
          <p:spPr>
            <a:xfrm>
              <a:off x="7722024" y="4064907"/>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cxnSp>
          <p:nvCxnSpPr>
            <p:cNvPr id="67" name="Straight Connector 66">
              <a:extLst>
                <a:ext uri="{FF2B5EF4-FFF2-40B4-BE49-F238E27FC236}">
                  <a16:creationId xmlns:a16="http://schemas.microsoft.com/office/drawing/2014/main" id="{C752A77A-C892-F7BE-0A26-A8EEAE3B7A24}"/>
                </a:ext>
              </a:extLst>
            </p:cNvPr>
            <p:cNvCxnSpPr>
              <a:stCxn id="65" idx="3"/>
              <a:endCxn id="66" idx="1"/>
            </p:cNvCxnSpPr>
            <p:nvPr/>
          </p:nvCxnSpPr>
          <p:spPr>
            <a:xfrm>
              <a:off x="7358404" y="4129343"/>
              <a:ext cx="363620" cy="0"/>
            </a:xfrm>
            <a:prstGeom prst="line">
              <a:avLst/>
            </a:prstGeom>
            <a:ln>
              <a:prstDash val="sysDot"/>
            </a:ln>
          </p:spPr>
          <p:style>
            <a:lnRef idx="3">
              <a:schemeClr val="dk1"/>
            </a:lnRef>
            <a:fillRef idx="0">
              <a:schemeClr val="dk1"/>
            </a:fillRef>
            <a:effectRef idx="2">
              <a:schemeClr val="dk1"/>
            </a:effectRef>
            <a:fontRef idx="minor">
              <a:schemeClr val="tx1"/>
            </a:fontRef>
          </p:style>
        </p:cxnSp>
      </p:grpSp>
      <p:sp>
        <p:nvSpPr>
          <p:cNvPr id="13" name="Arrow: Right 12">
            <a:extLst>
              <a:ext uri="{FF2B5EF4-FFF2-40B4-BE49-F238E27FC236}">
                <a16:creationId xmlns:a16="http://schemas.microsoft.com/office/drawing/2014/main" id="{9343164B-F61A-F8EB-8BEA-EB188C45C7E8}"/>
              </a:ext>
            </a:extLst>
          </p:cNvPr>
          <p:cNvSpPr/>
          <p:nvPr/>
        </p:nvSpPr>
        <p:spPr>
          <a:xfrm>
            <a:off x="8609012" y="36100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sp>
        <p:nvSpPr>
          <p:cNvPr id="14" name="Right Brace 13">
            <a:extLst>
              <a:ext uri="{FF2B5EF4-FFF2-40B4-BE49-F238E27FC236}">
                <a16:creationId xmlns:a16="http://schemas.microsoft.com/office/drawing/2014/main" id="{B19BAE39-E474-917B-065A-BFFA0A62F977}"/>
              </a:ext>
            </a:extLst>
          </p:cNvPr>
          <p:cNvSpPr/>
          <p:nvPr/>
        </p:nvSpPr>
        <p:spPr>
          <a:xfrm rot="5400000">
            <a:off x="3110708" y="3959062"/>
            <a:ext cx="228600" cy="1624011"/>
          </a:xfrm>
          <a:prstGeom prst="rightBrace">
            <a:avLst>
              <a:gd name="adj1" fmla="val 40833"/>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26B33FB-DD59-C9CE-B800-4E16F830550B}"/>
              </a:ext>
            </a:extLst>
          </p:cNvPr>
          <p:cNvSpPr/>
          <p:nvPr/>
        </p:nvSpPr>
        <p:spPr>
          <a:xfrm>
            <a:off x="2413002" y="4952446"/>
            <a:ext cx="1646251" cy="3273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latin typeface="Arial" panose="020B0604020202020204" pitchFamily="34" charset="0"/>
                <a:cs typeface="Arial" panose="020B0604020202020204" pitchFamily="34" charset="0"/>
              </a:rPr>
              <a:t>Input Layer</a:t>
            </a:r>
          </a:p>
        </p:txBody>
      </p:sp>
      <p:sp>
        <p:nvSpPr>
          <p:cNvPr id="16" name="Right Brace 15">
            <a:extLst>
              <a:ext uri="{FF2B5EF4-FFF2-40B4-BE49-F238E27FC236}">
                <a16:creationId xmlns:a16="http://schemas.microsoft.com/office/drawing/2014/main" id="{EEA02C66-7F89-055D-33DE-C4FCF53D9D29}"/>
              </a:ext>
            </a:extLst>
          </p:cNvPr>
          <p:cNvSpPr/>
          <p:nvPr/>
        </p:nvSpPr>
        <p:spPr>
          <a:xfrm rot="5400000">
            <a:off x="6342065" y="2533654"/>
            <a:ext cx="228600" cy="4457694"/>
          </a:xfrm>
          <a:prstGeom prst="rightBrace">
            <a:avLst>
              <a:gd name="adj1" fmla="val 30832"/>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BEDA71E1-B5E8-6EC9-4645-9FC9118445C6}"/>
              </a:ext>
            </a:extLst>
          </p:cNvPr>
          <p:cNvSpPr/>
          <p:nvPr/>
        </p:nvSpPr>
        <p:spPr>
          <a:xfrm>
            <a:off x="4249758" y="4943879"/>
            <a:ext cx="4457694" cy="3273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latin typeface="Arial" panose="020B0604020202020204" pitchFamily="34" charset="0"/>
                <a:cs typeface="Arial" panose="020B0604020202020204" pitchFamily="34" charset="0"/>
              </a:rPr>
              <a:t>Hidden Layers</a:t>
            </a:r>
          </a:p>
        </p:txBody>
      </p:sp>
      <p:sp>
        <p:nvSpPr>
          <p:cNvPr id="18" name="Right Brace 17">
            <a:extLst>
              <a:ext uri="{FF2B5EF4-FFF2-40B4-BE49-F238E27FC236}">
                <a16:creationId xmlns:a16="http://schemas.microsoft.com/office/drawing/2014/main" id="{F91F7956-975B-C323-9D98-CD16E1EB08DE}"/>
              </a:ext>
            </a:extLst>
          </p:cNvPr>
          <p:cNvSpPr/>
          <p:nvPr/>
        </p:nvSpPr>
        <p:spPr>
          <a:xfrm rot="5400000">
            <a:off x="9692856" y="3886536"/>
            <a:ext cx="228600" cy="1751930"/>
          </a:xfrm>
          <a:prstGeom prst="rightBrace">
            <a:avLst>
              <a:gd name="adj1" fmla="val 40833"/>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D93AA511-804C-800D-5E69-FDA01F314682}"/>
              </a:ext>
            </a:extLst>
          </p:cNvPr>
          <p:cNvSpPr/>
          <p:nvPr/>
        </p:nvSpPr>
        <p:spPr>
          <a:xfrm>
            <a:off x="8931190" y="4943879"/>
            <a:ext cx="1751929" cy="3273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latin typeface="Arial" panose="020B0604020202020204" pitchFamily="34" charset="0"/>
                <a:cs typeface="Arial" panose="020B0604020202020204" pitchFamily="34" charset="0"/>
              </a:rPr>
              <a:t>Output Layer</a:t>
            </a:r>
          </a:p>
        </p:txBody>
      </p:sp>
      <p:grpSp>
        <p:nvGrpSpPr>
          <p:cNvPr id="116" name="Group 115">
            <a:extLst>
              <a:ext uri="{FF2B5EF4-FFF2-40B4-BE49-F238E27FC236}">
                <a16:creationId xmlns:a16="http://schemas.microsoft.com/office/drawing/2014/main" id="{9E09C339-3105-16DE-91D2-45B52F79533E}"/>
              </a:ext>
            </a:extLst>
          </p:cNvPr>
          <p:cNvGrpSpPr/>
          <p:nvPr/>
        </p:nvGrpSpPr>
        <p:grpSpPr>
          <a:xfrm>
            <a:off x="2339560" y="3129172"/>
            <a:ext cx="1798346" cy="1484611"/>
            <a:chOff x="2796760" y="3129172"/>
            <a:chExt cx="1798346" cy="1484611"/>
          </a:xfrm>
        </p:grpSpPr>
        <p:sp>
          <p:nvSpPr>
            <p:cNvPr id="10" name="Arrow: Right 9">
              <a:extLst>
                <a:ext uri="{FF2B5EF4-FFF2-40B4-BE49-F238E27FC236}">
                  <a16:creationId xmlns:a16="http://schemas.microsoft.com/office/drawing/2014/main" id="{78CBA689-0B7F-B853-FB0C-5CAFA42F20F8}"/>
                </a:ext>
              </a:extLst>
            </p:cNvPr>
            <p:cNvSpPr/>
            <p:nvPr/>
          </p:nvSpPr>
          <p:spPr>
            <a:xfrm>
              <a:off x="3593806" y="36031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72" name="Group 71">
              <a:extLst>
                <a:ext uri="{FF2B5EF4-FFF2-40B4-BE49-F238E27FC236}">
                  <a16:creationId xmlns:a16="http://schemas.microsoft.com/office/drawing/2014/main" id="{C5072F89-D139-8519-FE2B-D0E24AEBB64F}"/>
                </a:ext>
              </a:extLst>
            </p:cNvPr>
            <p:cNvGrpSpPr/>
            <p:nvPr/>
          </p:nvGrpSpPr>
          <p:grpSpPr>
            <a:xfrm>
              <a:off x="3983804" y="3129694"/>
              <a:ext cx="385117" cy="1084493"/>
              <a:chOff x="4355646" y="2933574"/>
              <a:chExt cx="385117" cy="1463040"/>
            </a:xfrm>
          </p:grpSpPr>
          <p:sp>
            <p:nvSpPr>
              <p:cNvPr id="71" name="Rectangle 70">
                <a:extLst>
                  <a:ext uri="{FF2B5EF4-FFF2-40B4-BE49-F238E27FC236}">
                    <a16:creationId xmlns:a16="http://schemas.microsoft.com/office/drawing/2014/main" id="{75626010-B7F5-BF07-0F5F-C3E35B19E3AE}"/>
                  </a:ext>
                </a:extLst>
              </p:cNvPr>
              <p:cNvSpPr/>
              <p:nvPr/>
            </p:nvSpPr>
            <p:spPr>
              <a:xfrm>
                <a:off x="4358443" y="2933574"/>
                <a:ext cx="382320" cy="146304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0" name="Graphic 69" descr="Normal Distribution with solid fill">
                <a:extLst>
                  <a:ext uri="{FF2B5EF4-FFF2-40B4-BE49-F238E27FC236}">
                    <a16:creationId xmlns:a16="http://schemas.microsoft.com/office/drawing/2014/main" id="{63E8417B-DAE4-FAEF-96EF-BDB2882CA49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5646" y="2953360"/>
                <a:ext cx="378536" cy="378536"/>
              </a:xfrm>
              <a:prstGeom prst="rect">
                <a:avLst/>
              </a:prstGeom>
            </p:spPr>
          </p:pic>
        </p:grpSp>
        <p:sp>
          <p:nvSpPr>
            <p:cNvPr id="73" name="TextBox 72">
              <a:extLst>
                <a:ext uri="{FF2B5EF4-FFF2-40B4-BE49-F238E27FC236}">
                  <a16:creationId xmlns:a16="http://schemas.microsoft.com/office/drawing/2014/main" id="{7BDF186D-23A7-6901-2D46-46E648DD1BDD}"/>
                </a:ext>
              </a:extLst>
            </p:cNvPr>
            <p:cNvSpPr txBox="1"/>
            <p:nvPr/>
          </p:nvSpPr>
          <p:spPr>
            <a:xfrm>
              <a:off x="2796760" y="4212155"/>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Weight</a:t>
              </a:r>
            </a:p>
            <a:p>
              <a:pPr algn="ctr"/>
              <a:r>
                <a:rPr lang="en-US" sz="1000" b="1" dirty="0">
                  <a:latin typeface="Arial" panose="020B0604020202020204" pitchFamily="34" charset="0"/>
                  <a:cs typeface="Arial" panose="020B0604020202020204" pitchFamily="34" charset="0"/>
                </a:rPr>
                <a:t>Matrix</a:t>
              </a:r>
            </a:p>
          </p:txBody>
        </p:sp>
        <p:sp>
          <p:nvSpPr>
            <p:cNvPr id="74" name="TextBox 73">
              <a:extLst>
                <a:ext uri="{FF2B5EF4-FFF2-40B4-BE49-F238E27FC236}">
                  <a16:creationId xmlns:a16="http://schemas.microsoft.com/office/drawing/2014/main" id="{9D3579D9-5E65-5C26-8545-750327BBF7C4}"/>
                </a:ext>
              </a:extLst>
            </p:cNvPr>
            <p:cNvSpPr txBox="1"/>
            <p:nvPr/>
          </p:nvSpPr>
          <p:spPr>
            <a:xfrm>
              <a:off x="3761985" y="4213673"/>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Activation</a:t>
              </a:r>
            </a:p>
            <a:p>
              <a:pPr algn="ctr"/>
              <a:r>
                <a:rPr lang="en-US" sz="1000" b="1" dirty="0">
                  <a:latin typeface="Arial" panose="020B0604020202020204" pitchFamily="34" charset="0"/>
                  <a:cs typeface="Arial" panose="020B0604020202020204" pitchFamily="34" charset="0"/>
                </a:rPr>
                <a:t>Function</a:t>
              </a:r>
            </a:p>
          </p:txBody>
        </p:sp>
        <p:grpSp>
          <p:nvGrpSpPr>
            <p:cNvPr id="115" name="Group 114">
              <a:extLst>
                <a:ext uri="{FF2B5EF4-FFF2-40B4-BE49-F238E27FC236}">
                  <a16:creationId xmlns:a16="http://schemas.microsoft.com/office/drawing/2014/main" id="{8D4A059F-5B56-0F56-4E71-C93F2D6A9E0D}"/>
                </a:ext>
              </a:extLst>
            </p:cNvPr>
            <p:cNvGrpSpPr/>
            <p:nvPr/>
          </p:nvGrpSpPr>
          <p:grpSpPr>
            <a:xfrm>
              <a:off x="2892441" y="3129172"/>
              <a:ext cx="642606" cy="1087393"/>
              <a:chOff x="989012" y="2774253"/>
              <a:chExt cx="642606" cy="1087393"/>
            </a:xfrm>
          </p:grpSpPr>
          <p:grpSp>
            <p:nvGrpSpPr>
              <p:cNvPr id="88" name="Group 87">
                <a:extLst>
                  <a:ext uri="{FF2B5EF4-FFF2-40B4-BE49-F238E27FC236}">
                    <a16:creationId xmlns:a16="http://schemas.microsoft.com/office/drawing/2014/main" id="{9B38D120-AFBD-2B0E-6F54-5C8D89C52FE1}"/>
                  </a:ext>
                </a:extLst>
              </p:cNvPr>
              <p:cNvGrpSpPr/>
              <p:nvPr/>
            </p:nvGrpSpPr>
            <p:grpSpPr>
              <a:xfrm>
                <a:off x="989012" y="2774253"/>
                <a:ext cx="642606" cy="363242"/>
                <a:chOff x="760130" y="3429000"/>
                <a:chExt cx="642606" cy="363242"/>
              </a:xfrm>
            </p:grpSpPr>
            <p:grpSp>
              <p:nvGrpSpPr>
                <p:cNvPr id="80" name="Group 79">
                  <a:extLst>
                    <a:ext uri="{FF2B5EF4-FFF2-40B4-BE49-F238E27FC236}">
                      <a16:creationId xmlns:a16="http://schemas.microsoft.com/office/drawing/2014/main" id="{E051DA29-4AEB-E95C-56DF-AACB9DA1A2EE}"/>
                    </a:ext>
                  </a:extLst>
                </p:cNvPr>
                <p:cNvGrpSpPr/>
                <p:nvPr/>
              </p:nvGrpSpPr>
              <p:grpSpPr>
                <a:xfrm>
                  <a:off x="760412" y="3429000"/>
                  <a:ext cx="642324" cy="181072"/>
                  <a:chOff x="760412" y="3429000"/>
                  <a:chExt cx="642324" cy="181072"/>
                </a:xfrm>
              </p:grpSpPr>
              <p:sp>
                <p:nvSpPr>
                  <p:cNvPr id="75" name="Rectangle 74">
                    <a:extLst>
                      <a:ext uri="{FF2B5EF4-FFF2-40B4-BE49-F238E27FC236}">
                        <a16:creationId xmlns:a16="http://schemas.microsoft.com/office/drawing/2014/main" id="{84CBA0A3-1C6A-55C5-13C4-F50CC6F614BA}"/>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05109116-DE17-66B0-F638-ADCD259AF61A}"/>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AD941925-50DF-796D-F291-678DB72D311E}"/>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7400EB0B-77EF-2831-F01A-B9CB151C622F}"/>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8A7C643F-2956-FE8A-F610-DB38B360B444}"/>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BF7FD31E-0F14-D90E-1334-577D9061D3CF}"/>
                    </a:ext>
                  </a:extLst>
                </p:cNvPr>
                <p:cNvGrpSpPr/>
                <p:nvPr/>
              </p:nvGrpSpPr>
              <p:grpSpPr>
                <a:xfrm>
                  <a:off x="760130" y="3611170"/>
                  <a:ext cx="642324" cy="181072"/>
                  <a:chOff x="760412" y="3429000"/>
                  <a:chExt cx="642324" cy="181072"/>
                </a:xfrm>
              </p:grpSpPr>
              <p:sp>
                <p:nvSpPr>
                  <p:cNvPr id="83" name="Rectangle 82">
                    <a:extLst>
                      <a:ext uri="{FF2B5EF4-FFF2-40B4-BE49-F238E27FC236}">
                        <a16:creationId xmlns:a16="http://schemas.microsoft.com/office/drawing/2014/main" id="{D200DECE-3373-F4F0-3BE9-FC8696016E24}"/>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3264A7A6-FDD3-6BBA-D2CD-CF9F02C0D680}"/>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EB035ACD-AF98-F05C-A8A0-DC2156A36AA2}"/>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60E86261-5D84-AD1F-DBE6-4447B62FE545}"/>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11EFD0FC-3499-F578-8895-232474D3C50A}"/>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9" name="Group 88">
                <a:extLst>
                  <a:ext uri="{FF2B5EF4-FFF2-40B4-BE49-F238E27FC236}">
                    <a16:creationId xmlns:a16="http://schemas.microsoft.com/office/drawing/2014/main" id="{19F36C65-F2EE-1FCE-A3CD-F8734BDAEDB0}"/>
                  </a:ext>
                </a:extLst>
              </p:cNvPr>
              <p:cNvGrpSpPr/>
              <p:nvPr/>
            </p:nvGrpSpPr>
            <p:grpSpPr>
              <a:xfrm>
                <a:off x="989012" y="3138474"/>
                <a:ext cx="642606" cy="363242"/>
                <a:chOff x="760130" y="3429000"/>
                <a:chExt cx="642606" cy="363242"/>
              </a:xfrm>
            </p:grpSpPr>
            <p:grpSp>
              <p:nvGrpSpPr>
                <p:cNvPr id="90" name="Group 89">
                  <a:extLst>
                    <a:ext uri="{FF2B5EF4-FFF2-40B4-BE49-F238E27FC236}">
                      <a16:creationId xmlns:a16="http://schemas.microsoft.com/office/drawing/2014/main" id="{0EFBAEBC-F38A-F799-DFE0-F2018900CB9A}"/>
                    </a:ext>
                  </a:extLst>
                </p:cNvPr>
                <p:cNvGrpSpPr/>
                <p:nvPr/>
              </p:nvGrpSpPr>
              <p:grpSpPr>
                <a:xfrm>
                  <a:off x="760412" y="3429000"/>
                  <a:ext cx="642324" cy="181072"/>
                  <a:chOff x="760412" y="3429000"/>
                  <a:chExt cx="642324" cy="181072"/>
                </a:xfrm>
              </p:grpSpPr>
              <p:sp>
                <p:nvSpPr>
                  <p:cNvPr id="97" name="Rectangle 96">
                    <a:extLst>
                      <a:ext uri="{FF2B5EF4-FFF2-40B4-BE49-F238E27FC236}">
                        <a16:creationId xmlns:a16="http://schemas.microsoft.com/office/drawing/2014/main" id="{EBCDAA2E-381D-BD65-ACAF-11E31BB53F34}"/>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92701CC3-B8A6-B0CF-2A03-E935002D8931}"/>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D7EF977C-3A1F-E2C8-290C-059B8E5740DB}"/>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C0ABB8C4-4C43-7F16-4887-7D2ADDA9443F}"/>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ECF14550-72CE-E91E-1888-1995AF34AA40}"/>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90">
                  <a:extLst>
                    <a:ext uri="{FF2B5EF4-FFF2-40B4-BE49-F238E27FC236}">
                      <a16:creationId xmlns:a16="http://schemas.microsoft.com/office/drawing/2014/main" id="{767E7C82-EEBC-2EA9-9C05-7755E4B9DD07}"/>
                    </a:ext>
                  </a:extLst>
                </p:cNvPr>
                <p:cNvGrpSpPr/>
                <p:nvPr/>
              </p:nvGrpSpPr>
              <p:grpSpPr>
                <a:xfrm>
                  <a:off x="760130" y="3611170"/>
                  <a:ext cx="642324" cy="181072"/>
                  <a:chOff x="760412" y="3429000"/>
                  <a:chExt cx="642324" cy="181072"/>
                </a:xfrm>
              </p:grpSpPr>
              <p:sp>
                <p:nvSpPr>
                  <p:cNvPr id="92" name="Rectangle 91">
                    <a:extLst>
                      <a:ext uri="{FF2B5EF4-FFF2-40B4-BE49-F238E27FC236}">
                        <a16:creationId xmlns:a16="http://schemas.microsoft.com/office/drawing/2014/main" id="{31EB8D3F-5F74-A0BC-30E8-B197036573BF}"/>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E422F8FC-485F-76FF-C8AF-8813B3DD5834}"/>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DD39791D-78D0-1CB7-1CA4-64FB96ABD349}"/>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13BF593A-8DC7-86D6-DD29-9619D492AB74}"/>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E6C70310-A1F0-D8C3-12EA-8B404A7F2071}"/>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2" name="Group 101">
                <a:extLst>
                  <a:ext uri="{FF2B5EF4-FFF2-40B4-BE49-F238E27FC236}">
                    <a16:creationId xmlns:a16="http://schemas.microsoft.com/office/drawing/2014/main" id="{9F5172FA-5952-0BAE-F16B-DAEA7B83A19A}"/>
                  </a:ext>
                </a:extLst>
              </p:cNvPr>
              <p:cNvGrpSpPr/>
              <p:nvPr/>
            </p:nvGrpSpPr>
            <p:grpSpPr>
              <a:xfrm>
                <a:off x="989012" y="3498404"/>
                <a:ext cx="642606" cy="363242"/>
                <a:chOff x="760130" y="3429000"/>
                <a:chExt cx="642606" cy="363242"/>
              </a:xfrm>
            </p:grpSpPr>
            <p:grpSp>
              <p:nvGrpSpPr>
                <p:cNvPr id="103" name="Group 102">
                  <a:extLst>
                    <a:ext uri="{FF2B5EF4-FFF2-40B4-BE49-F238E27FC236}">
                      <a16:creationId xmlns:a16="http://schemas.microsoft.com/office/drawing/2014/main" id="{EC0AD4FF-2CF6-D43B-F38C-BFE01239624B}"/>
                    </a:ext>
                  </a:extLst>
                </p:cNvPr>
                <p:cNvGrpSpPr/>
                <p:nvPr/>
              </p:nvGrpSpPr>
              <p:grpSpPr>
                <a:xfrm>
                  <a:off x="760412" y="3429000"/>
                  <a:ext cx="642324" cy="181072"/>
                  <a:chOff x="760412" y="3429000"/>
                  <a:chExt cx="642324" cy="181072"/>
                </a:xfrm>
              </p:grpSpPr>
              <p:sp>
                <p:nvSpPr>
                  <p:cNvPr id="110" name="Rectangle 109">
                    <a:extLst>
                      <a:ext uri="{FF2B5EF4-FFF2-40B4-BE49-F238E27FC236}">
                        <a16:creationId xmlns:a16="http://schemas.microsoft.com/office/drawing/2014/main" id="{A15603D8-9D80-6E2F-D114-18E117594C7E}"/>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AB1207C9-FA73-FB58-FBA3-EC224DA69DE4}"/>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C24F85AC-00FA-A572-EE36-2164F5150045}"/>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F367395A-D6F4-DB6F-AF28-9AC5D39838B8}"/>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923CEE85-7B16-DB8A-7489-1DE283CAD49F}"/>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 name="Group 103">
                  <a:extLst>
                    <a:ext uri="{FF2B5EF4-FFF2-40B4-BE49-F238E27FC236}">
                      <a16:creationId xmlns:a16="http://schemas.microsoft.com/office/drawing/2014/main" id="{EA71513B-C415-5625-E8B9-5FBC30ED688A}"/>
                    </a:ext>
                  </a:extLst>
                </p:cNvPr>
                <p:cNvGrpSpPr/>
                <p:nvPr/>
              </p:nvGrpSpPr>
              <p:grpSpPr>
                <a:xfrm>
                  <a:off x="760130" y="3611170"/>
                  <a:ext cx="642324" cy="181072"/>
                  <a:chOff x="760412" y="3429000"/>
                  <a:chExt cx="642324" cy="181072"/>
                </a:xfrm>
              </p:grpSpPr>
              <p:sp>
                <p:nvSpPr>
                  <p:cNvPr id="105" name="Rectangle 104">
                    <a:extLst>
                      <a:ext uri="{FF2B5EF4-FFF2-40B4-BE49-F238E27FC236}">
                        <a16:creationId xmlns:a16="http://schemas.microsoft.com/office/drawing/2014/main" id="{7CFE1CA3-04F3-D7A9-21F5-01C637B4F0CB}"/>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D5E0D7FA-63CC-8305-14DB-21DAB8040636}"/>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C0FCC902-F4D3-0DC7-5C45-50F6F9C3CCE5}"/>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3F8ECA4B-0B09-7971-3CC6-135011BC0F23}"/>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60A545A1-3A18-B0DB-957B-846C6BF83019}"/>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17" name="Group 116">
            <a:extLst>
              <a:ext uri="{FF2B5EF4-FFF2-40B4-BE49-F238E27FC236}">
                <a16:creationId xmlns:a16="http://schemas.microsoft.com/office/drawing/2014/main" id="{82D1FB56-75D2-7F5F-1E38-8AB1DC16B7A2}"/>
              </a:ext>
            </a:extLst>
          </p:cNvPr>
          <p:cNvGrpSpPr/>
          <p:nvPr/>
        </p:nvGrpSpPr>
        <p:grpSpPr>
          <a:xfrm>
            <a:off x="4346941" y="3129172"/>
            <a:ext cx="1798346" cy="1484611"/>
            <a:chOff x="2796760" y="3129172"/>
            <a:chExt cx="1798346" cy="1484611"/>
          </a:xfrm>
        </p:grpSpPr>
        <p:sp>
          <p:nvSpPr>
            <p:cNvPr id="118" name="Arrow: Right 117">
              <a:extLst>
                <a:ext uri="{FF2B5EF4-FFF2-40B4-BE49-F238E27FC236}">
                  <a16:creationId xmlns:a16="http://schemas.microsoft.com/office/drawing/2014/main" id="{E5DA92B5-87CC-05FF-1B6B-0B7EE089EA5F}"/>
                </a:ext>
              </a:extLst>
            </p:cNvPr>
            <p:cNvSpPr/>
            <p:nvPr/>
          </p:nvSpPr>
          <p:spPr>
            <a:xfrm>
              <a:off x="3593806" y="36031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119" name="Group 118">
              <a:extLst>
                <a:ext uri="{FF2B5EF4-FFF2-40B4-BE49-F238E27FC236}">
                  <a16:creationId xmlns:a16="http://schemas.microsoft.com/office/drawing/2014/main" id="{3C8FBC5D-E309-053D-7BE1-82B552CBDC85}"/>
                </a:ext>
              </a:extLst>
            </p:cNvPr>
            <p:cNvGrpSpPr/>
            <p:nvPr/>
          </p:nvGrpSpPr>
          <p:grpSpPr>
            <a:xfrm>
              <a:off x="3983804" y="3129694"/>
              <a:ext cx="385117" cy="1084493"/>
              <a:chOff x="4355646" y="2933574"/>
              <a:chExt cx="385117" cy="1463040"/>
            </a:xfrm>
          </p:grpSpPr>
          <p:sp>
            <p:nvSpPr>
              <p:cNvPr id="162" name="Rectangle 161">
                <a:extLst>
                  <a:ext uri="{FF2B5EF4-FFF2-40B4-BE49-F238E27FC236}">
                    <a16:creationId xmlns:a16="http://schemas.microsoft.com/office/drawing/2014/main" id="{03534481-DEEC-5803-E262-B231257DBD01}"/>
                  </a:ext>
                </a:extLst>
              </p:cNvPr>
              <p:cNvSpPr/>
              <p:nvPr/>
            </p:nvSpPr>
            <p:spPr>
              <a:xfrm>
                <a:off x="4358443" y="2933574"/>
                <a:ext cx="382320" cy="146304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 name="Graphic 162" descr="Normal Distribution with solid fill">
                <a:extLst>
                  <a:ext uri="{FF2B5EF4-FFF2-40B4-BE49-F238E27FC236}">
                    <a16:creationId xmlns:a16="http://schemas.microsoft.com/office/drawing/2014/main" id="{3846EDC0-86BF-530A-E9C1-A8431B6F0C6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5646" y="2953360"/>
                <a:ext cx="378536" cy="378536"/>
              </a:xfrm>
              <a:prstGeom prst="rect">
                <a:avLst/>
              </a:prstGeom>
            </p:spPr>
          </p:pic>
        </p:grpSp>
        <p:sp>
          <p:nvSpPr>
            <p:cNvPr id="120" name="TextBox 119">
              <a:extLst>
                <a:ext uri="{FF2B5EF4-FFF2-40B4-BE49-F238E27FC236}">
                  <a16:creationId xmlns:a16="http://schemas.microsoft.com/office/drawing/2014/main" id="{215833F6-7147-2A1D-AE52-2DBBA04A6D53}"/>
                </a:ext>
              </a:extLst>
            </p:cNvPr>
            <p:cNvSpPr txBox="1"/>
            <p:nvPr/>
          </p:nvSpPr>
          <p:spPr>
            <a:xfrm>
              <a:off x="2796760" y="4212155"/>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Weight</a:t>
              </a:r>
            </a:p>
            <a:p>
              <a:pPr algn="ctr"/>
              <a:r>
                <a:rPr lang="en-US" sz="1000" b="1" dirty="0">
                  <a:latin typeface="Arial" panose="020B0604020202020204" pitchFamily="34" charset="0"/>
                  <a:cs typeface="Arial" panose="020B0604020202020204" pitchFamily="34" charset="0"/>
                </a:rPr>
                <a:t>Matrix</a:t>
              </a:r>
            </a:p>
          </p:txBody>
        </p:sp>
        <p:sp>
          <p:nvSpPr>
            <p:cNvPr id="121" name="TextBox 120">
              <a:extLst>
                <a:ext uri="{FF2B5EF4-FFF2-40B4-BE49-F238E27FC236}">
                  <a16:creationId xmlns:a16="http://schemas.microsoft.com/office/drawing/2014/main" id="{B1E9A57B-3971-D292-9789-FFD63F2628BB}"/>
                </a:ext>
              </a:extLst>
            </p:cNvPr>
            <p:cNvSpPr txBox="1"/>
            <p:nvPr/>
          </p:nvSpPr>
          <p:spPr>
            <a:xfrm>
              <a:off x="3761985" y="4213673"/>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Activation</a:t>
              </a:r>
            </a:p>
            <a:p>
              <a:pPr algn="ctr"/>
              <a:r>
                <a:rPr lang="en-US" sz="1000" b="1" dirty="0">
                  <a:latin typeface="Arial" panose="020B0604020202020204" pitchFamily="34" charset="0"/>
                  <a:cs typeface="Arial" panose="020B0604020202020204" pitchFamily="34" charset="0"/>
                </a:rPr>
                <a:t>Function</a:t>
              </a:r>
            </a:p>
          </p:txBody>
        </p:sp>
        <p:grpSp>
          <p:nvGrpSpPr>
            <p:cNvPr id="122" name="Group 121">
              <a:extLst>
                <a:ext uri="{FF2B5EF4-FFF2-40B4-BE49-F238E27FC236}">
                  <a16:creationId xmlns:a16="http://schemas.microsoft.com/office/drawing/2014/main" id="{6A484210-8B61-F9A4-A357-8644768E90FC}"/>
                </a:ext>
              </a:extLst>
            </p:cNvPr>
            <p:cNvGrpSpPr/>
            <p:nvPr/>
          </p:nvGrpSpPr>
          <p:grpSpPr>
            <a:xfrm>
              <a:off x="2892441" y="3129172"/>
              <a:ext cx="642606" cy="1087393"/>
              <a:chOff x="989012" y="2774253"/>
              <a:chExt cx="642606" cy="1087393"/>
            </a:xfrm>
          </p:grpSpPr>
          <p:grpSp>
            <p:nvGrpSpPr>
              <p:cNvPr id="123" name="Group 122">
                <a:extLst>
                  <a:ext uri="{FF2B5EF4-FFF2-40B4-BE49-F238E27FC236}">
                    <a16:creationId xmlns:a16="http://schemas.microsoft.com/office/drawing/2014/main" id="{B660D957-8614-0086-6898-3A4CCC47DC93}"/>
                  </a:ext>
                </a:extLst>
              </p:cNvPr>
              <p:cNvGrpSpPr/>
              <p:nvPr/>
            </p:nvGrpSpPr>
            <p:grpSpPr>
              <a:xfrm>
                <a:off x="989012" y="2774253"/>
                <a:ext cx="642606" cy="363242"/>
                <a:chOff x="760130" y="3429000"/>
                <a:chExt cx="642606" cy="363242"/>
              </a:xfrm>
            </p:grpSpPr>
            <p:grpSp>
              <p:nvGrpSpPr>
                <p:cNvPr id="150" name="Group 149">
                  <a:extLst>
                    <a:ext uri="{FF2B5EF4-FFF2-40B4-BE49-F238E27FC236}">
                      <a16:creationId xmlns:a16="http://schemas.microsoft.com/office/drawing/2014/main" id="{77047349-FE28-D8FE-467F-A0608F0C5BFC}"/>
                    </a:ext>
                  </a:extLst>
                </p:cNvPr>
                <p:cNvGrpSpPr/>
                <p:nvPr/>
              </p:nvGrpSpPr>
              <p:grpSpPr>
                <a:xfrm>
                  <a:off x="760412" y="3429000"/>
                  <a:ext cx="642324" cy="181072"/>
                  <a:chOff x="760412" y="3429000"/>
                  <a:chExt cx="642324" cy="181072"/>
                </a:xfrm>
              </p:grpSpPr>
              <p:sp>
                <p:nvSpPr>
                  <p:cNvPr id="157" name="Rectangle 156">
                    <a:extLst>
                      <a:ext uri="{FF2B5EF4-FFF2-40B4-BE49-F238E27FC236}">
                        <a16:creationId xmlns:a16="http://schemas.microsoft.com/office/drawing/2014/main" id="{E9C3CA84-D72E-86F7-1435-AC0324D511C2}"/>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14C7E625-AD03-86E6-2EF6-599FD7B599E2}"/>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E4A6C8C5-FBD2-F989-7B99-5E4EA0AC033E}"/>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AE1FE546-D8E0-7B2A-A809-01B76858CAC7}"/>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4DC09B0D-A2C1-3757-6361-B83CD28DC80C}"/>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150">
                  <a:extLst>
                    <a:ext uri="{FF2B5EF4-FFF2-40B4-BE49-F238E27FC236}">
                      <a16:creationId xmlns:a16="http://schemas.microsoft.com/office/drawing/2014/main" id="{0898396C-6425-AE10-34C0-693851D8E52A}"/>
                    </a:ext>
                  </a:extLst>
                </p:cNvPr>
                <p:cNvGrpSpPr/>
                <p:nvPr/>
              </p:nvGrpSpPr>
              <p:grpSpPr>
                <a:xfrm>
                  <a:off x="760130" y="3611170"/>
                  <a:ext cx="642324" cy="181072"/>
                  <a:chOff x="760412" y="3429000"/>
                  <a:chExt cx="642324" cy="181072"/>
                </a:xfrm>
              </p:grpSpPr>
              <p:sp>
                <p:nvSpPr>
                  <p:cNvPr id="152" name="Rectangle 151">
                    <a:extLst>
                      <a:ext uri="{FF2B5EF4-FFF2-40B4-BE49-F238E27FC236}">
                        <a16:creationId xmlns:a16="http://schemas.microsoft.com/office/drawing/2014/main" id="{A2B3BCCF-AC24-6F19-15AD-81A2D00563B4}"/>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C4DBD40D-9357-23BE-8B69-13A0904C8FBB}"/>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44B1FB24-D306-D558-9ED4-711AB36A0BBD}"/>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5C830E4B-3481-094B-9329-7462E75A2D29}"/>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37EB7F29-99A0-669A-1866-3DE1EF83E790}"/>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4" name="Group 123">
                <a:extLst>
                  <a:ext uri="{FF2B5EF4-FFF2-40B4-BE49-F238E27FC236}">
                    <a16:creationId xmlns:a16="http://schemas.microsoft.com/office/drawing/2014/main" id="{A1F3D919-2F48-1D1D-AFA7-07FBDAE350AE}"/>
                  </a:ext>
                </a:extLst>
              </p:cNvPr>
              <p:cNvGrpSpPr/>
              <p:nvPr/>
            </p:nvGrpSpPr>
            <p:grpSpPr>
              <a:xfrm>
                <a:off x="989012" y="3138474"/>
                <a:ext cx="642606" cy="363242"/>
                <a:chOff x="760130" y="3429000"/>
                <a:chExt cx="642606" cy="363242"/>
              </a:xfrm>
            </p:grpSpPr>
            <p:grpSp>
              <p:nvGrpSpPr>
                <p:cNvPr id="138" name="Group 137">
                  <a:extLst>
                    <a:ext uri="{FF2B5EF4-FFF2-40B4-BE49-F238E27FC236}">
                      <a16:creationId xmlns:a16="http://schemas.microsoft.com/office/drawing/2014/main" id="{A92DDE91-6825-682F-0B61-EC1280BFF3BA}"/>
                    </a:ext>
                  </a:extLst>
                </p:cNvPr>
                <p:cNvGrpSpPr/>
                <p:nvPr/>
              </p:nvGrpSpPr>
              <p:grpSpPr>
                <a:xfrm>
                  <a:off x="760412" y="3429000"/>
                  <a:ext cx="642324" cy="181072"/>
                  <a:chOff x="760412" y="3429000"/>
                  <a:chExt cx="642324" cy="181072"/>
                </a:xfrm>
              </p:grpSpPr>
              <p:sp>
                <p:nvSpPr>
                  <p:cNvPr id="145" name="Rectangle 144">
                    <a:extLst>
                      <a:ext uri="{FF2B5EF4-FFF2-40B4-BE49-F238E27FC236}">
                        <a16:creationId xmlns:a16="http://schemas.microsoft.com/office/drawing/2014/main" id="{3AF95E21-348D-CEC3-99C7-2ACDA88C894B}"/>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501DDF1A-EF4E-DB42-82CA-0876F64CCABD}"/>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E26EDBBE-B1F7-AC6E-0DBA-7735150933DE}"/>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9DA3D3FE-2A86-F71D-B413-0A628F71552A}"/>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A2F47E46-7E45-A692-56B6-6CB6DEA4B823}"/>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 name="Group 138">
                  <a:extLst>
                    <a:ext uri="{FF2B5EF4-FFF2-40B4-BE49-F238E27FC236}">
                      <a16:creationId xmlns:a16="http://schemas.microsoft.com/office/drawing/2014/main" id="{426370ED-33B0-F611-1CEF-FC461E150AC1}"/>
                    </a:ext>
                  </a:extLst>
                </p:cNvPr>
                <p:cNvGrpSpPr/>
                <p:nvPr/>
              </p:nvGrpSpPr>
              <p:grpSpPr>
                <a:xfrm>
                  <a:off x="760130" y="3611170"/>
                  <a:ext cx="642324" cy="181072"/>
                  <a:chOff x="760412" y="3429000"/>
                  <a:chExt cx="642324" cy="181072"/>
                </a:xfrm>
              </p:grpSpPr>
              <p:sp>
                <p:nvSpPr>
                  <p:cNvPr id="140" name="Rectangle 139">
                    <a:extLst>
                      <a:ext uri="{FF2B5EF4-FFF2-40B4-BE49-F238E27FC236}">
                        <a16:creationId xmlns:a16="http://schemas.microsoft.com/office/drawing/2014/main" id="{38040B28-39CB-EFE5-D5A9-C3C3393BC60D}"/>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12EBA159-F56E-5F9E-BDF8-CAC21A45CC88}"/>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16512AF1-A4A1-004D-3000-2196A9209F65}"/>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EA2DF90D-632E-7CAC-FB03-DE1AE0EB0307}"/>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8FF95C38-D2DC-9B18-9CFE-AEFB80099351}"/>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5" name="Group 124">
                <a:extLst>
                  <a:ext uri="{FF2B5EF4-FFF2-40B4-BE49-F238E27FC236}">
                    <a16:creationId xmlns:a16="http://schemas.microsoft.com/office/drawing/2014/main" id="{3AFF61BF-7855-116B-FF1A-8E3AE191B66D}"/>
                  </a:ext>
                </a:extLst>
              </p:cNvPr>
              <p:cNvGrpSpPr/>
              <p:nvPr/>
            </p:nvGrpSpPr>
            <p:grpSpPr>
              <a:xfrm>
                <a:off x="989012" y="3498404"/>
                <a:ext cx="642606" cy="363242"/>
                <a:chOff x="760130" y="3429000"/>
                <a:chExt cx="642606" cy="363242"/>
              </a:xfrm>
            </p:grpSpPr>
            <p:grpSp>
              <p:nvGrpSpPr>
                <p:cNvPr id="126" name="Group 125">
                  <a:extLst>
                    <a:ext uri="{FF2B5EF4-FFF2-40B4-BE49-F238E27FC236}">
                      <a16:creationId xmlns:a16="http://schemas.microsoft.com/office/drawing/2014/main" id="{1BAC1892-DB94-5278-7D99-34776BEE4D3A}"/>
                    </a:ext>
                  </a:extLst>
                </p:cNvPr>
                <p:cNvGrpSpPr/>
                <p:nvPr/>
              </p:nvGrpSpPr>
              <p:grpSpPr>
                <a:xfrm>
                  <a:off x="760412" y="3429000"/>
                  <a:ext cx="642324" cy="181072"/>
                  <a:chOff x="760412" y="3429000"/>
                  <a:chExt cx="642324" cy="181072"/>
                </a:xfrm>
              </p:grpSpPr>
              <p:sp>
                <p:nvSpPr>
                  <p:cNvPr id="133" name="Rectangle 132">
                    <a:extLst>
                      <a:ext uri="{FF2B5EF4-FFF2-40B4-BE49-F238E27FC236}">
                        <a16:creationId xmlns:a16="http://schemas.microsoft.com/office/drawing/2014/main" id="{035E63E0-933B-C9BA-DBC5-D3CF4526E605}"/>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9C42D39B-66B7-4E9B-0CA8-7A65A303D8B7}"/>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ECF900AE-1F43-470B-EC58-3C027509A769}"/>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CA2596E5-B3C4-EC87-8A0F-0B8D949A200B}"/>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A9ADD11E-3B77-46B5-CB01-A38BE893ED0B}"/>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a:extLst>
                    <a:ext uri="{FF2B5EF4-FFF2-40B4-BE49-F238E27FC236}">
                      <a16:creationId xmlns:a16="http://schemas.microsoft.com/office/drawing/2014/main" id="{47527ABA-6A75-DE3F-2F8E-8173A3402F28}"/>
                    </a:ext>
                  </a:extLst>
                </p:cNvPr>
                <p:cNvGrpSpPr/>
                <p:nvPr/>
              </p:nvGrpSpPr>
              <p:grpSpPr>
                <a:xfrm>
                  <a:off x="760130" y="3611170"/>
                  <a:ext cx="642324" cy="181072"/>
                  <a:chOff x="760412" y="3429000"/>
                  <a:chExt cx="642324" cy="181072"/>
                </a:xfrm>
              </p:grpSpPr>
              <p:sp>
                <p:nvSpPr>
                  <p:cNvPr id="128" name="Rectangle 127">
                    <a:extLst>
                      <a:ext uri="{FF2B5EF4-FFF2-40B4-BE49-F238E27FC236}">
                        <a16:creationId xmlns:a16="http://schemas.microsoft.com/office/drawing/2014/main" id="{12DC830D-70D2-6A91-D2D3-57610712B932}"/>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A327CEF6-35CE-5CF4-CEC4-48042E1E5754}"/>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F22ECCDE-C23D-3C77-D721-073C4DCAF7B7}"/>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EBA237CB-5440-2B2A-E5A9-6C7D44BCAF21}"/>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23EB4EF9-65BE-3D4C-CBE3-0CC6333EA932}"/>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64" name="Group 163">
            <a:extLst>
              <a:ext uri="{FF2B5EF4-FFF2-40B4-BE49-F238E27FC236}">
                <a16:creationId xmlns:a16="http://schemas.microsoft.com/office/drawing/2014/main" id="{4D05AA3E-978A-98A9-A004-A62FEA56F11A}"/>
              </a:ext>
            </a:extLst>
          </p:cNvPr>
          <p:cNvGrpSpPr/>
          <p:nvPr/>
        </p:nvGrpSpPr>
        <p:grpSpPr>
          <a:xfrm>
            <a:off x="6963066" y="3129172"/>
            <a:ext cx="1798346" cy="1484611"/>
            <a:chOff x="2796760" y="3129172"/>
            <a:chExt cx="1798346" cy="1484611"/>
          </a:xfrm>
        </p:grpSpPr>
        <p:sp>
          <p:nvSpPr>
            <p:cNvPr id="165" name="Arrow: Right 164">
              <a:extLst>
                <a:ext uri="{FF2B5EF4-FFF2-40B4-BE49-F238E27FC236}">
                  <a16:creationId xmlns:a16="http://schemas.microsoft.com/office/drawing/2014/main" id="{F506F327-A963-0EAA-368E-7B6BCA46408D}"/>
                </a:ext>
              </a:extLst>
            </p:cNvPr>
            <p:cNvSpPr/>
            <p:nvPr/>
          </p:nvSpPr>
          <p:spPr>
            <a:xfrm>
              <a:off x="3593806" y="36031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166" name="Group 165">
              <a:extLst>
                <a:ext uri="{FF2B5EF4-FFF2-40B4-BE49-F238E27FC236}">
                  <a16:creationId xmlns:a16="http://schemas.microsoft.com/office/drawing/2014/main" id="{72C3E0B3-322D-8412-251C-825C3EE58B0E}"/>
                </a:ext>
              </a:extLst>
            </p:cNvPr>
            <p:cNvGrpSpPr/>
            <p:nvPr/>
          </p:nvGrpSpPr>
          <p:grpSpPr>
            <a:xfrm>
              <a:off x="3983804" y="3129694"/>
              <a:ext cx="385117" cy="1084493"/>
              <a:chOff x="4355646" y="2933574"/>
              <a:chExt cx="385117" cy="1463040"/>
            </a:xfrm>
          </p:grpSpPr>
          <p:sp>
            <p:nvSpPr>
              <p:cNvPr id="209" name="Rectangle 208">
                <a:extLst>
                  <a:ext uri="{FF2B5EF4-FFF2-40B4-BE49-F238E27FC236}">
                    <a16:creationId xmlns:a16="http://schemas.microsoft.com/office/drawing/2014/main" id="{97755282-E849-9015-AF26-E24C4FE66616}"/>
                  </a:ext>
                </a:extLst>
              </p:cNvPr>
              <p:cNvSpPr/>
              <p:nvPr/>
            </p:nvSpPr>
            <p:spPr>
              <a:xfrm>
                <a:off x="4358443" y="2933574"/>
                <a:ext cx="382320" cy="146304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0" name="Graphic 209" descr="Normal Distribution with solid fill">
                <a:extLst>
                  <a:ext uri="{FF2B5EF4-FFF2-40B4-BE49-F238E27FC236}">
                    <a16:creationId xmlns:a16="http://schemas.microsoft.com/office/drawing/2014/main" id="{20356F08-E826-749D-6B52-7D8EB245B6D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5646" y="2953360"/>
                <a:ext cx="378536" cy="378536"/>
              </a:xfrm>
              <a:prstGeom prst="rect">
                <a:avLst/>
              </a:prstGeom>
            </p:spPr>
          </p:pic>
        </p:grpSp>
        <p:sp>
          <p:nvSpPr>
            <p:cNvPr id="167" name="TextBox 166">
              <a:extLst>
                <a:ext uri="{FF2B5EF4-FFF2-40B4-BE49-F238E27FC236}">
                  <a16:creationId xmlns:a16="http://schemas.microsoft.com/office/drawing/2014/main" id="{C1E0956A-AB41-793A-F361-B5DE990BDA3D}"/>
                </a:ext>
              </a:extLst>
            </p:cNvPr>
            <p:cNvSpPr txBox="1"/>
            <p:nvPr/>
          </p:nvSpPr>
          <p:spPr>
            <a:xfrm>
              <a:off x="2796760" y="4212155"/>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Weight</a:t>
              </a:r>
            </a:p>
            <a:p>
              <a:pPr algn="ctr"/>
              <a:r>
                <a:rPr lang="en-US" sz="1000" b="1" dirty="0">
                  <a:latin typeface="Arial" panose="020B0604020202020204" pitchFamily="34" charset="0"/>
                  <a:cs typeface="Arial" panose="020B0604020202020204" pitchFamily="34" charset="0"/>
                </a:rPr>
                <a:t>Matrix</a:t>
              </a:r>
            </a:p>
          </p:txBody>
        </p:sp>
        <p:sp>
          <p:nvSpPr>
            <p:cNvPr id="168" name="TextBox 167">
              <a:extLst>
                <a:ext uri="{FF2B5EF4-FFF2-40B4-BE49-F238E27FC236}">
                  <a16:creationId xmlns:a16="http://schemas.microsoft.com/office/drawing/2014/main" id="{26FEF74F-050C-F5C7-CAB1-613751973C8E}"/>
                </a:ext>
              </a:extLst>
            </p:cNvPr>
            <p:cNvSpPr txBox="1"/>
            <p:nvPr/>
          </p:nvSpPr>
          <p:spPr>
            <a:xfrm>
              <a:off x="3761985" y="4213673"/>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Activation</a:t>
              </a:r>
            </a:p>
            <a:p>
              <a:pPr algn="ctr"/>
              <a:r>
                <a:rPr lang="en-US" sz="1000" b="1" dirty="0">
                  <a:latin typeface="Arial" panose="020B0604020202020204" pitchFamily="34" charset="0"/>
                  <a:cs typeface="Arial" panose="020B0604020202020204" pitchFamily="34" charset="0"/>
                </a:rPr>
                <a:t>Function</a:t>
              </a:r>
            </a:p>
          </p:txBody>
        </p:sp>
        <p:grpSp>
          <p:nvGrpSpPr>
            <p:cNvPr id="169" name="Group 168">
              <a:extLst>
                <a:ext uri="{FF2B5EF4-FFF2-40B4-BE49-F238E27FC236}">
                  <a16:creationId xmlns:a16="http://schemas.microsoft.com/office/drawing/2014/main" id="{B774911B-13EB-84FC-3A48-AEC4DD155AF3}"/>
                </a:ext>
              </a:extLst>
            </p:cNvPr>
            <p:cNvGrpSpPr/>
            <p:nvPr/>
          </p:nvGrpSpPr>
          <p:grpSpPr>
            <a:xfrm>
              <a:off x="2892441" y="3129172"/>
              <a:ext cx="642606" cy="1087393"/>
              <a:chOff x="989012" y="2774253"/>
              <a:chExt cx="642606" cy="1087393"/>
            </a:xfrm>
          </p:grpSpPr>
          <p:grpSp>
            <p:nvGrpSpPr>
              <p:cNvPr id="170" name="Group 169">
                <a:extLst>
                  <a:ext uri="{FF2B5EF4-FFF2-40B4-BE49-F238E27FC236}">
                    <a16:creationId xmlns:a16="http://schemas.microsoft.com/office/drawing/2014/main" id="{294BE68E-83F3-A52A-4BFD-86B75856F1E9}"/>
                  </a:ext>
                </a:extLst>
              </p:cNvPr>
              <p:cNvGrpSpPr/>
              <p:nvPr/>
            </p:nvGrpSpPr>
            <p:grpSpPr>
              <a:xfrm>
                <a:off x="989012" y="2774253"/>
                <a:ext cx="642606" cy="363242"/>
                <a:chOff x="760130" y="3429000"/>
                <a:chExt cx="642606" cy="363242"/>
              </a:xfrm>
            </p:grpSpPr>
            <p:grpSp>
              <p:nvGrpSpPr>
                <p:cNvPr id="197" name="Group 196">
                  <a:extLst>
                    <a:ext uri="{FF2B5EF4-FFF2-40B4-BE49-F238E27FC236}">
                      <a16:creationId xmlns:a16="http://schemas.microsoft.com/office/drawing/2014/main" id="{283F091A-09DF-58C6-3BAF-EE274B40287D}"/>
                    </a:ext>
                  </a:extLst>
                </p:cNvPr>
                <p:cNvGrpSpPr/>
                <p:nvPr/>
              </p:nvGrpSpPr>
              <p:grpSpPr>
                <a:xfrm>
                  <a:off x="760412" y="3429000"/>
                  <a:ext cx="642324" cy="181072"/>
                  <a:chOff x="760412" y="3429000"/>
                  <a:chExt cx="642324" cy="181072"/>
                </a:xfrm>
              </p:grpSpPr>
              <p:sp>
                <p:nvSpPr>
                  <p:cNvPr id="204" name="Rectangle 203">
                    <a:extLst>
                      <a:ext uri="{FF2B5EF4-FFF2-40B4-BE49-F238E27FC236}">
                        <a16:creationId xmlns:a16="http://schemas.microsoft.com/office/drawing/2014/main" id="{AB65F6FB-30F6-0656-1C8A-F395BE998252}"/>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42283FB3-F413-67CA-A51A-F54A2ECDAAA8}"/>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4762630C-1AA7-EF8C-AF80-F452F69635B1}"/>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5B997ACA-50A1-8FAC-4041-39E82915D893}"/>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ECEAB84E-E666-E8C8-F02A-3988F6DFB826}"/>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8" name="Group 197">
                  <a:extLst>
                    <a:ext uri="{FF2B5EF4-FFF2-40B4-BE49-F238E27FC236}">
                      <a16:creationId xmlns:a16="http://schemas.microsoft.com/office/drawing/2014/main" id="{2A39F897-219B-B2B3-820C-E9A23BAA9113}"/>
                    </a:ext>
                  </a:extLst>
                </p:cNvPr>
                <p:cNvGrpSpPr/>
                <p:nvPr/>
              </p:nvGrpSpPr>
              <p:grpSpPr>
                <a:xfrm>
                  <a:off x="760130" y="3611170"/>
                  <a:ext cx="642324" cy="181072"/>
                  <a:chOff x="760412" y="3429000"/>
                  <a:chExt cx="642324" cy="181072"/>
                </a:xfrm>
              </p:grpSpPr>
              <p:sp>
                <p:nvSpPr>
                  <p:cNvPr id="199" name="Rectangle 198">
                    <a:extLst>
                      <a:ext uri="{FF2B5EF4-FFF2-40B4-BE49-F238E27FC236}">
                        <a16:creationId xmlns:a16="http://schemas.microsoft.com/office/drawing/2014/main" id="{B65E8BFA-070E-E313-FC38-1A698C83D981}"/>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7541F11D-0F1A-5B84-50E3-732D91A94F17}"/>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0F2F7AA3-312D-93E9-9A7F-E3B91428CC50}"/>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F7A7AAE5-7B88-845F-ADB2-A645319E3996}"/>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B2FF5233-DD44-5DE4-A4AE-07ABEC6AA113}"/>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1" name="Group 170">
                <a:extLst>
                  <a:ext uri="{FF2B5EF4-FFF2-40B4-BE49-F238E27FC236}">
                    <a16:creationId xmlns:a16="http://schemas.microsoft.com/office/drawing/2014/main" id="{B878547E-8E77-56D6-2DF8-2FC2C47F536B}"/>
                  </a:ext>
                </a:extLst>
              </p:cNvPr>
              <p:cNvGrpSpPr/>
              <p:nvPr/>
            </p:nvGrpSpPr>
            <p:grpSpPr>
              <a:xfrm>
                <a:off x="989012" y="3138474"/>
                <a:ext cx="642606" cy="363242"/>
                <a:chOff x="760130" y="3429000"/>
                <a:chExt cx="642606" cy="363242"/>
              </a:xfrm>
            </p:grpSpPr>
            <p:grpSp>
              <p:nvGrpSpPr>
                <p:cNvPr id="185" name="Group 184">
                  <a:extLst>
                    <a:ext uri="{FF2B5EF4-FFF2-40B4-BE49-F238E27FC236}">
                      <a16:creationId xmlns:a16="http://schemas.microsoft.com/office/drawing/2014/main" id="{C4C51B18-A73D-9E0A-B471-A7ED7AAF5438}"/>
                    </a:ext>
                  </a:extLst>
                </p:cNvPr>
                <p:cNvGrpSpPr/>
                <p:nvPr/>
              </p:nvGrpSpPr>
              <p:grpSpPr>
                <a:xfrm>
                  <a:off x="760412" y="3429000"/>
                  <a:ext cx="642324" cy="181072"/>
                  <a:chOff x="760412" y="3429000"/>
                  <a:chExt cx="642324" cy="181072"/>
                </a:xfrm>
              </p:grpSpPr>
              <p:sp>
                <p:nvSpPr>
                  <p:cNvPr id="192" name="Rectangle 191">
                    <a:extLst>
                      <a:ext uri="{FF2B5EF4-FFF2-40B4-BE49-F238E27FC236}">
                        <a16:creationId xmlns:a16="http://schemas.microsoft.com/office/drawing/2014/main" id="{70D1AB69-23F6-3A79-2D68-6F8984E04499}"/>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087F77D1-5747-8EF6-257A-BFE3090DAE13}"/>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DC724A33-D958-22D2-76A9-BF494D00F838}"/>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E79D9C99-B0AE-D373-496B-BD5F8E9A27B4}"/>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607D0E7B-85ED-A749-FC6A-605F78512A84}"/>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6" name="Group 185">
                  <a:extLst>
                    <a:ext uri="{FF2B5EF4-FFF2-40B4-BE49-F238E27FC236}">
                      <a16:creationId xmlns:a16="http://schemas.microsoft.com/office/drawing/2014/main" id="{D363E27C-8A51-9B24-EBA3-075FE151A075}"/>
                    </a:ext>
                  </a:extLst>
                </p:cNvPr>
                <p:cNvGrpSpPr/>
                <p:nvPr/>
              </p:nvGrpSpPr>
              <p:grpSpPr>
                <a:xfrm>
                  <a:off x="760130" y="3611170"/>
                  <a:ext cx="642324" cy="181072"/>
                  <a:chOff x="760412" y="3429000"/>
                  <a:chExt cx="642324" cy="181072"/>
                </a:xfrm>
              </p:grpSpPr>
              <p:sp>
                <p:nvSpPr>
                  <p:cNvPr id="187" name="Rectangle 186">
                    <a:extLst>
                      <a:ext uri="{FF2B5EF4-FFF2-40B4-BE49-F238E27FC236}">
                        <a16:creationId xmlns:a16="http://schemas.microsoft.com/office/drawing/2014/main" id="{D06FC8B1-73D8-669A-AF47-F59585C35823}"/>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4BA3B1B1-701D-ACE3-36AC-F2D8AD3ADC85}"/>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D64EA272-ACF8-BBF0-3B89-0FB42303DC02}"/>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3CDA87EF-D739-A48A-48A4-0E96CC466B81}"/>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3565FC2E-412E-6958-E94D-B86AB1582280}"/>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2" name="Group 171">
                <a:extLst>
                  <a:ext uri="{FF2B5EF4-FFF2-40B4-BE49-F238E27FC236}">
                    <a16:creationId xmlns:a16="http://schemas.microsoft.com/office/drawing/2014/main" id="{852B6F9E-68FD-D346-BD5F-9440EA673F6D}"/>
                  </a:ext>
                </a:extLst>
              </p:cNvPr>
              <p:cNvGrpSpPr/>
              <p:nvPr/>
            </p:nvGrpSpPr>
            <p:grpSpPr>
              <a:xfrm>
                <a:off x="989012" y="3498404"/>
                <a:ext cx="642606" cy="363242"/>
                <a:chOff x="760130" y="3429000"/>
                <a:chExt cx="642606" cy="363242"/>
              </a:xfrm>
            </p:grpSpPr>
            <p:grpSp>
              <p:nvGrpSpPr>
                <p:cNvPr id="173" name="Group 172">
                  <a:extLst>
                    <a:ext uri="{FF2B5EF4-FFF2-40B4-BE49-F238E27FC236}">
                      <a16:creationId xmlns:a16="http://schemas.microsoft.com/office/drawing/2014/main" id="{CD130249-375F-B04D-6B8A-0011B4EEEC6B}"/>
                    </a:ext>
                  </a:extLst>
                </p:cNvPr>
                <p:cNvGrpSpPr/>
                <p:nvPr/>
              </p:nvGrpSpPr>
              <p:grpSpPr>
                <a:xfrm>
                  <a:off x="760412" y="3429000"/>
                  <a:ext cx="642324" cy="181072"/>
                  <a:chOff x="760412" y="3429000"/>
                  <a:chExt cx="642324" cy="181072"/>
                </a:xfrm>
              </p:grpSpPr>
              <p:sp>
                <p:nvSpPr>
                  <p:cNvPr id="180" name="Rectangle 179">
                    <a:extLst>
                      <a:ext uri="{FF2B5EF4-FFF2-40B4-BE49-F238E27FC236}">
                        <a16:creationId xmlns:a16="http://schemas.microsoft.com/office/drawing/2014/main" id="{DC120822-C7AA-581F-7CD4-F65B5F5EE2B5}"/>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0BC35533-5E84-3304-FAFE-46D5E9DAAF9D}"/>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CD5DE2F5-8ACF-8831-59D8-D160010429D5}"/>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7F929126-DA1B-8AE9-785B-8068D1DD19E9}"/>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F3B8CE9E-FE40-668F-BE0F-E68D5D299B90}"/>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 name="Group 173">
                  <a:extLst>
                    <a:ext uri="{FF2B5EF4-FFF2-40B4-BE49-F238E27FC236}">
                      <a16:creationId xmlns:a16="http://schemas.microsoft.com/office/drawing/2014/main" id="{75A6D28A-60D2-501A-785E-D27F80BBFADE}"/>
                    </a:ext>
                  </a:extLst>
                </p:cNvPr>
                <p:cNvGrpSpPr/>
                <p:nvPr/>
              </p:nvGrpSpPr>
              <p:grpSpPr>
                <a:xfrm>
                  <a:off x="760130" y="3611170"/>
                  <a:ext cx="642324" cy="181072"/>
                  <a:chOff x="760412" y="3429000"/>
                  <a:chExt cx="642324" cy="181072"/>
                </a:xfrm>
              </p:grpSpPr>
              <p:sp>
                <p:nvSpPr>
                  <p:cNvPr id="175" name="Rectangle 174">
                    <a:extLst>
                      <a:ext uri="{FF2B5EF4-FFF2-40B4-BE49-F238E27FC236}">
                        <a16:creationId xmlns:a16="http://schemas.microsoft.com/office/drawing/2014/main" id="{4CB4E896-F820-EFA5-7182-FFA849805C2C}"/>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FD47019E-DFCA-AAC7-AD89-E1E009D1DBC4}"/>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EE85CEE9-CCAA-9D5C-47F8-E5FEF46AE982}"/>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604E7555-8F18-5CC8-C067-ABF1803F80AD}"/>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9D24BEC8-97CC-F7AF-6388-DEEA1A3C545A}"/>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258" name="Group 257">
            <a:extLst>
              <a:ext uri="{FF2B5EF4-FFF2-40B4-BE49-F238E27FC236}">
                <a16:creationId xmlns:a16="http://schemas.microsoft.com/office/drawing/2014/main" id="{699CDD0C-AEC1-628E-7174-579E9434E132}"/>
              </a:ext>
            </a:extLst>
          </p:cNvPr>
          <p:cNvGrpSpPr/>
          <p:nvPr/>
        </p:nvGrpSpPr>
        <p:grpSpPr>
          <a:xfrm>
            <a:off x="8884776" y="3144361"/>
            <a:ext cx="1798346" cy="1484611"/>
            <a:chOff x="2796760" y="3129172"/>
            <a:chExt cx="1798346" cy="1484611"/>
          </a:xfrm>
        </p:grpSpPr>
        <p:sp>
          <p:nvSpPr>
            <p:cNvPr id="259" name="Arrow: Right 258">
              <a:extLst>
                <a:ext uri="{FF2B5EF4-FFF2-40B4-BE49-F238E27FC236}">
                  <a16:creationId xmlns:a16="http://schemas.microsoft.com/office/drawing/2014/main" id="{FFDD3013-473B-C484-5F0B-9203A49AE903}"/>
                </a:ext>
              </a:extLst>
            </p:cNvPr>
            <p:cNvSpPr/>
            <p:nvPr/>
          </p:nvSpPr>
          <p:spPr>
            <a:xfrm>
              <a:off x="3593806" y="36031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260" name="Group 259">
              <a:extLst>
                <a:ext uri="{FF2B5EF4-FFF2-40B4-BE49-F238E27FC236}">
                  <a16:creationId xmlns:a16="http://schemas.microsoft.com/office/drawing/2014/main" id="{9B1A9405-D7A0-BDF1-8A72-F591E01EB90D}"/>
                </a:ext>
              </a:extLst>
            </p:cNvPr>
            <p:cNvGrpSpPr/>
            <p:nvPr/>
          </p:nvGrpSpPr>
          <p:grpSpPr>
            <a:xfrm>
              <a:off x="3983804" y="3129694"/>
              <a:ext cx="385117" cy="1084493"/>
              <a:chOff x="4355646" y="2933574"/>
              <a:chExt cx="385117" cy="1463040"/>
            </a:xfrm>
          </p:grpSpPr>
          <p:sp>
            <p:nvSpPr>
              <p:cNvPr id="303" name="Rectangle 302">
                <a:extLst>
                  <a:ext uri="{FF2B5EF4-FFF2-40B4-BE49-F238E27FC236}">
                    <a16:creationId xmlns:a16="http://schemas.microsoft.com/office/drawing/2014/main" id="{0491F592-FE72-4BA7-1C48-804A881910C0}"/>
                  </a:ext>
                </a:extLst>
              </p:cNvPr>
              <p:cNvSpPr/>
              <p:nvPr/>
            </p:nvSpPr>
            <p:spPr>
              <a:xfrm>
                <a:off x="4358443" y="2933574"/>
                <a:ext cx="382320" cy="1463040"/>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4" name="Graphic 303" descr="Normal Distribution with solid fill">
                <a:extLst>
                  <a:ext uri="{FF2B5EF4-FFF2-40B4-BE49-F238E27FC236}">
                    <a16:creationId xmlns:a16="http://schemas.microsoft.com/office/drawing/2014/main" id="{75B7C1E6-DC55-49E1-3BAC-BF6083B50E0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5646" y="2953360"/>
                <a:ext cx="378536" cy="378536"/>
              </a:xfrm>
              <a:prstGeom prst="rect">
                <a:avLst/>
              </a:prstGeom>
            </p:spPr>
          </p:pic>
        </p:grpSp>
        <p:sp>
          <p:nvSpPr>
            <p:cNvPr id="261" name="TextBox 260">
              <a:extLst>
                <a:ext uri="{FF2B5EF4-FFF2-40B4-BE49-F238E27FC236}">
                  <a16:creationId xmlns:a16="http://schemas.microsoft.com/office/drawing/2014/main" id="{BF82BD21-E3E8-530E-0589-A896828FB562}"/>
                </a:ext>
              </a:extLst>
            </p:cNvPr>
            <p:cNvSpPr txBox="1"/>
            <p:nvPr/>
          </p:nvSpPr>
          <p:spPr>
            <a:xfrm>
              <a:off x="2796760" y="4212155"/>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Weight</a:t>
              </a:r>
            </a:p>
            <a:p>
              <a:pPr algn="ctr"/>
              <a:r>
                <a:rPr lang="en-US" sz="1000" b="1" dirty="0">
                  <a:latin typeface="Arial" panose="020B0604020202020204" pitchFamily="34" charset="0"/>
                  <a:cs typeface="Arial" panose="020B0604020202020204" pitchFamily="34" charset="0"/>
                </a:rPr>
                <a:t>Matrix</a:t>
              </a:r>
            </a:p>
          </p:txBody>
        </p:sp>
        <p:sp>
          <p:nvSpPr>
            <p:cNvPr id="262" name="TextBox 261">
              <a:extLst>
                <a:ext uri="{FF2B5EF4-FFF2-40B4-BE49-F238E27FC236}">
                  <a16:creationId xmlns:a16="http://schemas.microsoft.com/office/drawing/2014/main" id="{588CD75D-93EA-BE1F-410A-283CCEE4A26F}"/>
                </a:ext>
              </a:extLst>
            </p:cNvPr>
            <p:cNvSpPr txBox="1"/>
            <p:nvPr/>
          </p:nvSpPr>
          <p:spPr>
            <a:xfrm>
              <a:off x="3761985" y="4213673"/>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Activation</a:t>
              </a:r>
            </a:p>
            <a:p>
              <a:pPr algn="ctr"/>
              <a:r>
                <a:rPr lang="en-US" sz="1000" b="1" dirty="0">
                  <a:latin typeface="Arial" panose="020B0604020202020204" pitchFamily="34" charset="0"/>
                  <a:cs typeface="Arial" panose="020B0604020202020204" pitchFamily="34" charset="0"/>
                </a:rPr>
                <a:t>Function</a:t>
              </a:r>
            </a:p>
          </p:txBody>
        </p:sp>
        <p:grpSp>
          <p:nvGrpSpPr>
            <p:cNvPr id="263" name="Group 262">
              <a:extLst>
                <a:ext uri="{FF2B5EF4-FFF2-40B4-BE49-F238E27FC236}">
                  <a16:creationId xmlns:a16="http://schemas.microsoft.com/office/drawing/2014/main" id="{D4B22E8E-1D52-EDD7-3B1B-45331B762390}"/>
                </a:ext>
              </a:extLst>
            </p:cNvPr>
            <p:cNvGrpSpPr/>
            <p:nvPr/>
          </p:nvGrpSpPr>
          <p:grpSpPr>
            <a:xfrm>
              <a:off x="2892441" y="3129172"/>
              <a:ext cx="642606" cy="1087393"/>
              <a:chOff x="989012" y="2774253"/>
              <a:chExt cx="642606" cy="1087393"/>
            </a:xfrm>
          </p:grpSpPr>
          <p:grpSp>
            <p:nvGrpSpPr>
              <p:cNvPr id="264" name="Group 263">
                <a:extLst>
                  <a:ext uri="{FF2B5EF4-FFF2-40B4-BE49-F238E27FC236}">
                    <a16:creationId xmlns:a16="http://schemas.microsoft.com/office/drawing/2014/main" id="{248BE2F9-B4CC-8006-2BCE-286CD0228613}"/>
                  </a:ext>
                </a:extLst>
              </p:cNvPr>
              <p:cNvGrpSpPr/>
              <p:nvPr/>
            </p:nvGrpSpPr>
            <p:grpSpPr>
              <a:xfrm>
                <a:off x="989012" y="2774253"/>
                <a:ext cx="642606" cy="363242"/>
                <a:chOff x="760130" y="3429000"/>
                <a:chExt cx="642606" cy="363242"/>
              </a:xfrm>
            </p:grpSpPr>
            <p:grpSp>
              <p:nvGrpSpPr>
                <p:cNvPr id="291" name="Group 290">
                  <a:extLst>
                    <a:ext uri="{FF2B5EF4-FFF2-40B4-BE49-F238E27FC236}">
                      <a16:creationId xmlns:a16="http://schemas.microsoft.com/office/drawing/2014/main" id="{E432772B-5328-0797-A0B2-09AEF0951B17}"/>
                    </a:ext>
                  </a:extLst>
                </p:cNvPr>
                <p:cNvGrpSpPr/>
                <p:nvPr/>
              </p:nvGrpSpPr>
              <p:grpSpPr>
                <a:xfrm>
                  <a:off x="760412" y="3429000"/>
                  <a:ext cx="642324" cy="181072"/>
                  <a:chOff x="760412" y="3429000"/>
                  <a:chExt cx="642324" cy="181072"/>
                </a:xfrm>
              </p:grpSpPr>
              <p:sp>
                <p:nvSpPr>
                  <p:cNvPr id="298" name="Rectangle 297">
                    <a:extLst>
                      <a:ext uri="{FF2B5EF4-FFF2-40B4-BE49-F238E27FC236}">
                        <a16:creationId xmlns:a16="http://schemas.microsoft.com/office/drawing/2014/main" id="{23D799E1-AC09-00D9-C201-0666F4220AF5}"/>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BC706A24-7485-A1F1-2298-73C0751AB1F0}"/>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11D1E28F-5DBF-4674-C853-B21D8757A144}"/>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E0FDF097-3C2A-04A1-1A77-704DBEF7101A}"/>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0C6128B8-008A-BC75-B2F9-7F47141B680D}"/>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2" name="Group 291">
                  <a:extLst>
                    <a:ext uri="{FF2B5EF4-FFF2-40B4-BE49-F238E27FC236}">
                      <a16:creationId xmlns:a16="http://schemas.microsoft.com/office/drawing/2014/main" id="{4CF4D1BC-BD8C-1C06-7EF0-C34F5C18B0AC}"/>
                    </a:ext>
                  </a:extLst>
                </p:cNvPr>
                <p:cNvGrpSpPr/>
                <p:nvPr/>
              </p:nvGrpSpPr>
              <p:grpSpPr>
                <a:xfrm>
                  <a:off x="760130" y="3611170"/>
                  <a:ext cx="642324" cy="181072"/>
                  <a:chOff x="760412" y="3429000"/>
                  <a:chExt cx="642324" cy="181072"/>
                </a:xfrm>
              </p:grpSpPr>
              <p:sp>
                <p:nvSpPr>
                  <p:cNvPr id="293" name="Rectangle 292">
                    <a:extLst>
                      <a:ext uri="{FF2B5EF4-FFF2-40B4-BE49-F238E27FC236}">
                        <a16:creationId xmlns:a16="http://schemas.microsoft.com/office/drawing/2014/main" id="{D4C68C83-3019-77B2-33B5-3731BD8E8789}"/>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AF9839CB-1752-2C74-E756-9EFC27948BA0}"/>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2C0C3A2A-AEE4-F7A2-650B-DE41531B47E3}"/>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E609A4EA-D1FE-600F-8C3A-10431D43C419}"/>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5AC03334-8F1C-6219-323E-B1F3C7EE2EEF}"/>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65" name="Group 264">
                <a:extLst>
                  <a:ext uri="{FF2B5EF4-FFF2-40B4-BE49-F238E27FC236}">
                    <a16:creationId xmlns:a16="http://schemas.microsoft.com/office/drawing/2014/main" id="{5F9416C9-B4E3-E227-A8F0-007854F9EAEE}"/>
                  </a:ext>
                </a:extLst>
              </p:cNvPr>
              <p:cNvGrpSpPr/>
              <p:nvPr/>
            </p:nvGrpSpPr>
            <p:grpSpPr>
              <a:xfrm>
                <a:off x="989012" y="3138474"/>
                <a:ext cx="642606" cy="363242"/>
                <a:chOff x="760130" y="3429000"/>
                <a:chExt cx="642606" cy="363242"/>
              </a:xfrm>
            </p:grpSpPr>
            <p:grpSp>
              <p:nvGrpSpPr>
                <p:cNvPr id="279" name="Group 278">
                  <a:extLst>
                    <a:ext uri="{FF2B5EF4-FFF2-40B4-BE49-F238E27FC236}">
                      <a16:creationId xmlns:a16="http://schemas.microsoft.com/office/drawing/2014/main" id="{707E2140-6882-33A1-E568-C210B04811F3}"/>
                    </a:ext>
                  </a:extLst>
                </p:cNvPr>
                <p:cNvGrpSpPr/>
                <p:nvPr/>
              </p:nvGrpSpPr>
              <p:grpSpPr>
                <a:xfrm>
                  <a:off x="760412" y="3429000"/>
                  <a:ext cx="642324" cy="181072"/>
                  <a:chOff x="760412" y="3429000"/>
                  <a:chExt cx="642324" cy="181072"/>
                </a:xfrm>
              </p:grpSpPr>
              <p:sp>
                <p:nvSpPr>
                  <p:cNvPr id="286" name="Rectangle 285">
                    <a:extLst>
                      <a:ext uri="{FF2B5EF4-FFF2-40B4-BE49-F238E27FC236}">
                        <a16:creationId xmlns:a16="http://schemas.microsoft.com/office/drawing/2014/main" id="{04AC52E5-7ED1-7033-4E2E-97EF788474BB}"/>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3F4507DC-365B-4EB7-38F6-858587228A71}"/>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98DC3177-43CA-92C1-EFC4-3862BDE65F5C}"/>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F0A5BB3E-E6C0-4C32-FBCC-928BE6199872}"/>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21B36C11-FFCA-4C53-397E-06A70350066D}"/>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0" name="Group 279">
                  <a:extLst>
                    <a:ext uri="{FF2B5EF4-FFF2-40B4-BE49-F238E27FC236}">
                      <a16:creationId xmlns:a16="http://schemas.microsoft.com/office/drawing/2014/main" id="{A28BF558-FB4A-2E73-3905-B52B25F130C9}"/>
                    </a:ext>
                  </a:extLst>
                </p:cNvPr>
                <p:cNvGrpSpPr/>
                <p:nvPr/>
              </p:nvGrpSpPr>
              <p:grpSpPr>
                <a:xfrm>
                  <a:off x="760130" y="3611170"/>
                  <a:ext cx="642324" cy="181072"/>
                  <a:chOff x="760412" y="3429000"/>
                  <a:chExt cx="642324" cy="181072"/>
                </a:xfrm>
              </p:grpSpPr>
              <p:sp>
                <p:nvSpPr>
                  <p:cNvPr id="281" name="Rectangle 280">
                    <a:extLst>
                      <a:ext uri="{FF2B5EF4-FFF2-40B4-BE49-F238E27FC236}">
                        <a16:creationId xmlns:a16="http://schemas.microsoft.com/office/drawing/2014/main" id="{C968C16B-7ED6-7FBD-5C6B-03770A6FCA98}"/>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178236FD-C120-6905-5D25-42762DFEECB8}"/>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C2430247-DC3F-07A6-ED3A-EFEAA776083F}"/>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A2B53B0B-563A-9ECF-19B3-8ABF2DD32B1A}"/>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552DC122-FAC2-F404-A0C4-A7CFAA6E2739}"/>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66" name="Group 265">
                <a:extLst>
                  <a:ext uri="{FF2B5EF4-FFF2-40B4-BE49-F238E27FC236}">
                    <a16:creationId xmlns:a16="http://schemas.microsoft.com/office/drawing/2014/main" id="{BDE0BDAC-3D4C-4B5D-361A-8FB4ED8EEF5F}"/>
                  </a:ext>
                </a:extLst>
              </p:cNvPr>
              <p:cNvGrpSpPr/>
              <p:nvPr/>
            </p:nvGrpSpPr>
            <p:grpSpPr>
              <a:xfrm>
                <a:off x="989012" y="3498404"/>
                <a:ext cx="642606" cy="363242"/>
                <a:chOff x="760130" y="3429000"/>
                <a:chExt cx="642606" cy="363242"/>
              </a:xfrm>
            </p:grpSpPr>
            <p:grpSp>
              <p:nvGrpSpPr>
                <p:cNvPr id="267" name="Group 266">
                  <a:extLst>
                    <a:ext uri="{FF2B5EF4-FFF2-40B4-BE49-F238E27FC236}">
                      <a16:creationId xmlns:a16="http://schemas.microsoft.com/office/drawing/2014/main" id="{A2435FD0-5FBA-EAC8-99A0-3E52D96326BE}"/>
                    </a:ext>
                  </a:extLst>
                </p:cNvPr>
                <p:cNvGrpSpPr/>
                <p:nvPr/>
              </p:nvGrpSpPr>
              <p:grpSpPr>
                <a:xfrm>
                  <a:off x="760412" y="3429000"/>
                  <a:ext cx="642324" cy="181072"/>
                  <a:chOff x="760412" y="3429000"/>
                  <a:chExt cx="642324" cy="181072"/>
                </a:xfrm>
              </p:grpSpPr>
              <p:sp>
                <p:nvSpPr>
                  <p:cNvPr id="274" name="Rectangle 273">
                    <a:extLst>
                      <a:ext uri="{FF2B5EF4-FFF2-40B4-BE49-F238E27FC236}">
                        <a16:creationId xmlns:a16="http://schemas.microsoft.com/office/drawing/2014/main" id="{00EBA9ED-A60E-528E-73A4-C527B9E1A76B}"/>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CE01B0C3-9856-1AA2-96BC-8BE1DE7FAB29}"/>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56790761-77E7-B977-7AA1-AF9EC4ABEDC1}"/>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CD91A032-5F58-DFCD-A9E0-D22FF6ACFA0E}"/>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51C9A498-BC7A-B1CD-DC9D-4FF39C57AA43}"/>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 name="Group 267">
                  <a:extLst>
                    <a:ext uri="{FF2B5EF4-FFF2-40B4-BE49-F238E27FC236}">
                      <a16:creationId xmlns:a16="http://schemas.microsoft.com/office/drawing/2014/main" id="{EA21BAAA-E7A3-3DCB-EB64-2FBE959B458A}"/>
                    </a:ext>
                  </a:extLst>
                </p:cNvPr>
                <p:cNvGrpSpPr/>
                <p:nvPr/>
              </p:nvGrpSpPr>
              <p:grpSpPr>
                <a:xfrm>
                  <a:off x="760130" y="3611170"/>
                  <a:ext cx="642324" cy="181072"/>
                  <a:chOff x="760412" y="3429000"/>
                  <a:chExt cx="642324" cy="181072"/>
                </a:xfrm>
              </p:grpSpPr>
              <p:sp>
                <p:nvSpPr>
                  <p:cNvPr id="269" name="Rectangle 268">
                    <a:extLst>
                      <a:ext uri="{FF2B5EF4-FFF2-40B4-BE49-F238E27FC236}">
                        <a16:creationId xmlns:a16="http://schemas.microsoft.com/office/drawing/2014/main" id="{87A3FAF8-FCAA-51AA-53E1-B940FDC78909}"/>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A5B8D81B-2E98-A74C-D702-32CF5BE771A7}"/>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2FAC62BA-0B4E-827E-FB63-2C83C0524788}"/>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6F0D1DF3-55DC-59AD-E096-CE70308DF71F}"/>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9E7C08FB-0135-1167-E847-24A7C76CF4C5}"/>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spTree>
    <p:extLst>
      <p:ext uri="{BB962C8B-B14F-4D97-AF65-F5344CB8AC3E}">
        <p14:creationId xmlns:p14="http://schemas.microsoft.com/office/powerpoint/2010/main" val="2614452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Layers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05703" y="1613633"/>
            <a:ext cx="9144000" cy="4267200"/>
          </a:xfrm>
        </p:spPr>
        <p:txBody>
          <a:bodyPr/>
          <a:lstStyle/>
          <a:p>
            <a:r>
              <a:rPr lang="en-US" dirty="0"/>
              <a:t>In practice we can describe the same architecture in more details: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F3CF88F-D7FB-FBC6-972C-F328E6207B88}"/>
                  </a:ext>
                </a:extLst>
              </p:cNvPr>
              <p:cNvSpPr txBox="1"/>
              <p:nvPr/>
            </p:nvSpPr>
            <p:spPr>
              <a:xfrm>
                <a:off x="1217612" y="3290279"/>
                <a:ext cx="793551" cy="8228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b="1" i="1" smtClean="0">
                              <a:latin typeface="Cambria Math" panose="02040503050406030204" pitchFamily="18" charset="0"/>
                            </a:rPr>
                          </m:ctrlPr>
                        </m:dPr>
                        <m:e>
                          <m:m>
                            <m:mPr>
                              <m:mcs>
                                <m:mc>
                                  <m:mcPr>
                                    <m:count m:val="1"/>
                                    <m:mcJc m:val="center"/>
                                  </m:mcPr>
                                </m:mc>
                              </m:mcs>
                              <m:ctrlPr>
                                <a:rPr lang="en-US" sz="1400" b="1" i="1">
                                  <a:latin typeface="Cambria Math" panose="02040503050406030204" pitchFamily="18" charset="0"/>
                                </a:rPr>
                              </m:ctrlPr>
                            </m:mP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𝒊𝒏𝒑𝒖𝒕</m:t>
                                    </m:r>
                                  </m:e>
                                  <m:sub>
                                    <m:r>
                                      <a:rPr lang="en-US" sz="1400" b="1" i="1">
                                        <a:latin typeface="Cambria Math" panose="02040503050406030204" pitchFamily="18" charset="0"/>
                                      </a:rPr>
                                      <m:t>𝟏</m:t>
                                    </m:r>
                                  </m:sub>
                                </m:sSub>
                              </m:e>
                            </m:m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𝒊𝒏𝒑𝒖𝒕</m:t>
                                    </m:r>
                                  </m:e>
                                  <m:sub>
                                    <m:r>
                                      <a:rPr lang="en-US" sz="1400" b="1" i="1">
                                        <a:latin typeface="Cambria Math" panose="02040503050406030204" pitchFamily="18" charset="0"/>
                                      </a:rPr>
                                      <m:t>𝟐</m:t>
                                    </m:r>
                                  </m:sub>
                                </m:sSub>
                              </m:e>
                            </m:mr>
                            <m:mr>
                              <m:e>
                                <m:eqArr>
                                  <m:eqArrPr>
                                    <m:ctrlPr>
                                      <a:rPr lang="en-US" sz="1400" b="1" i="1">
                                        <a:latin typeface="Cambria Math" panose="02040503050406030204" pitchFamily="18" charset="0"/>
                                      </a:rPr>
                                    </m:ctrlPr>
                                  </m:eqArrPr>
                                  <m:e>
                                    <m:r>
                                      <a:rPr lang="en-US" sz="1400" b="1" i="1">
                                        <a:latin typeface="Cambria Math" panose="02040503050406030204" pitchFamily="18" charset="0"/>
                                        <a:ea typeface="Cambria Math" panose="02040503050406030204" pitchFamily="18" charset="0"/>
                                      </a:rPr>
                                      <m:t>⋮</m:t>
                                    </m:r>
                                  </m:e>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𝒊𝒏𝒑𝒖𝒕</m:t>
                                        </m:r>
                                      </m:e>
                                      <m:sub>
                                        <m:r>
                                          <a:rPr lang="en-US" sz="1400" b="1" i="1">
                                            <a:latin typeface="Cambria Math" panose="02040503050406030204" pitchFamily="18" charset="0"/>
                                          </a:rPr>
                                          <m:t>𝒏</m:t>
                                        </m:r>
                                      </m:sub>
                                    </m:sSub>
                                  </m:e>
                                </m:eqArr>
                              </m:e>
                            </m:mr>
                          </m:m>
                        </m:e>
                      </m:d>
                    </m:oMath>
                  </m:oMathPara>
                </a14:m>
                <a:endParaRPr lang="en-US" sz="1400" b="1" dirty="0"/>
              </a:p>
            </p:txBody>
          </p:sp>
        </mc:Choice>
        <mc:Fallback xmlns="">
          <p:sp>
            <p:nvSpPr>
              <p:cNvPr id="6" name="TextBox 5">
                <a:extLst>
                  <a:ext uri="{FF2B5EF4-FFF2-40B4-BE49-F238E27FC236}">
                    <a16:creationId xmlns:a16="http://schemas.microsoft.com/office/drawing/2014/main" id="{1F3CF88F-D7FB-FBC6-972C-F328E6207B88}"/>
                  </a:ext>
                </a:extLst>
              </p:cNvPr>
              <p:cNvSpPr txBox="1">
                <a:spLocks noRot="1" noChangeAspect="1" noMove="1" noResize="1" noEditPoints="1" noAdjustHandles="1" noChangeArrowheads="1" noChangeShapeType="1" noTextEdit="1"/>
              </p:cNvSpPr>
              <p:nvPr/>
            </p:nvSpPr>
            <p:spPr>
              <a:xfrm>
                <a:off x="1217612" y="3290279"/>
                <a:ext cx="793551" cy="822854"/>
              </a:xfrm>
              <a:prstGeom prst="rect">
                <a:avLst/>
              </a:prstGeom>
              <a:blipFill>
                <a:blip r:embed="rId2"/>
                <a:stretch>
                  <a:fillRect/>
                </a:stretch>
              </a:blipFill>
            </p:spPr>
            <p:txBody>
              <a:bodyPr/>
              <a:lstStyle/>
              <a:p>
                <a:r>
                  <a:rPr lang="en-US">
                    <a:noFill/>
                  </a:rPr>
                  <a:t> </a:t>
                </a:r>
              </a:p>
            </p:txBody>
          </p:sp>
        </mc:Fallback>
      </mc:AlternateContent>
      <p:sp>
        <p:nvSpPr>
          <p:cNvPr id="7" name="Arrow: Right 6">
            <a:extLst>
              <a:ext uri="{FF2B5EF4-FFF2-40B4-BE49-F238E27FC236}">
                <a16:creationId xmlns:a16="http://schemas.microsoft.com/office/drawing/2014/main" id="{3E5BD630-44CF-B014-8E35-79A2296A4E7A}"/>
              </a:ext>
            </a:extLst>
          </p:cNvPr>
          <p:cNvSpPr/>
          <p:nvPr/>
        </p:nvSpPr>
        <p:spPr>
          <a:xfrm>
            <a:off x="10572832" y="36031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3C35F55-730B-DBA3-CEEB-53F770AC26FD}"/>
                  </a:ext>
                </a:extLst>
              </p:cNvPr>
              <p:cNvSpPr txBox="1"/>
              <p:nvPr/>
            </p:nvSpPr>
            <p:spPr>
              <a:xfrm>
                <a:off x="10882812" y="3290258"/>
                <a:ext cx="926600" cy="8033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b="1" i="1" smtClean="0">
                              <a:latin typeface="Cambria Math" panose="02040503050406030204" pitchFamily="18" charset="0"/>
                            </a:rPr>
                          </m:ctrlPr>
                        </m:dPr>
                        <m:e>
                          <m:m>
                            <m:mPr>
                              <m:mcs>
                                <m:mc>
                                  <m:mcPr>
                                    <m:count m:val="1"/>
                                    <m:mcJc m:val="center"/>
                                  </m:mcPr>
                                </m:mc>
                              </m:mcs>
                              <m:ctrlPr>
                                <a:rPr lang="en-US" sz="1400" b="1" i="1">
                                  <a:latin typeface="Cambria Math" panose="02040503050406030204" pitchFamily="18" charset="0"/>
                                </a:rPr>
                              </m:ctrlPr>
                            </m:mP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𝒐𝒖𝒕𝒑𝒖𝒕</m:t>
                                    </m:r>
                                  </m:e>
                                  <m:sub>
                                    <m:r>
                                      <a:rPr lang="en-US" sz="1400" b="1" i="1">
                                        <a:latin typeface="Cambria Math" panose="02040503050406030204" pitchFamily="18" charset="0"/>
                                      </a:rPr>
                                      <m:t>𝟏</m:t>
                                    </m:r>
                                  </m:sub>
                                </m:sSub>
                              </m:e>
                            </m:m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𝒐𝒖𝒕𝒑𝒖𝒕</m:t>
                                    </m:r>
                                  </m:e>
                                  <m:sub>
                                    <m:r>
                                      <a:rPr lang="en-US" sz="1400" b="1" i="1">
                                        <a:latin typeface="Cambria Math" panose="02040503050406030204" pitchFamily="18" charset="0"/>
                                      </a:rPr>
                                      <m:t>𝟐</m:t>
                                    </m:r>
                                  </m:sub>
                                </m:sSub>
                              </m:e>
                            </m:mr>
                            <m:mr>
                              <m:e>
                                <m:eqArr>
                                  <m:eqArrPr>
                                    <m:ctrlPr>
                                      <a:rPr lang="en-US" sz="1400" b="1" i="1">
                                        <a:latin typeface="Cambria Math" panose="02040503050406030204" pitchFamily="18" charset="0"/>
                                      </a:rPr>
                                    </m:ctrlPr>
                                  </m:eqArrPr>
                                  <m:e>
                                    <m:r>
                                      <a:rPr lang="en-US" sz="1400" b="1" i="1">
                                        <a:latin typeface="Cambria Math" panose="02040503050406030204" pitchFamily="18" charset="0"/>
                                        <a:ea typeface="Cambria Math" panose="02040503050406030204" pitchFamily="18" charset="0"/>
                                      </a:rPr>
                                      <m:t>⋮</m:t>
                                    </m:r>
                                  </m:e>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𝒐𝒖𝒕𝒑𝒖𝒕</m:t>
                                        </m:r>
                                      </m:e>
                                      <m:sub>
                                        <m:r>
                                          <a:rPr lang="en-US" sz="1400" b="1" i="1" smtClean="0">
                                            <a:latin typeface="Cambria Math" panose="02040503050406030204" pitchFamily="18" charset="0"/>
                                          </a:rPr>
                                          <m:t>𝒌</m:t>
                                        </m:r>
                                      </m:sub>
                                    </m:sSub>
                                  </m:e>
                                </m:eqArr>
                              </m:e>
                            </m:mr>
                          </m:m>
                        </m:e>
                      </m:d>
                    </m:oMath>
                  </m:oMathPara>
                </a14:m>
                <a:endParaRPr lang="en-US" sz="1400" b="1" dirty="0"/>
              </a:p>
            </p:txBody>
          </p:sp>
        </mc:Choice>
        <mc:Fallback xmlns="">
          <p:sp>
            <p:nvSpPr>
              <p:cNvPr id="8" name="TextBox 7">
                <a:extLst>
                  <a:ext uri="{FF2B5EF4-FFF2-40B4-BE49-F238E27FC236}">
                    <a16:creationId xmlns:a16="http://schemas.microsoft.com/office/drawing/2014/main" id="{43C35F55-730B-DBA3-CEEB-53F770AC26FD}"/>
                  </a:ext>
                </a:extLst>
              </p:cNvPr>
              <p:cNvSpPr txBox="1">
                <a:spLocks noRot="1" noChangeAspect="1" noMove="1" noResize="1" noEditPoints="1" noAdjustHandles="1" noChangeArrowheads="1" noChangeShapeType="1" noTextEdit="1"/>
              </p:cNvSpPr>
              <p:nvPr/>
            </p:nvSpPr>
            <p:spPr>
              <a:xfrm>
                <a:off x="10882812" y="3290258"/>
                <a:ext cx="926600" cy="803361"/>
              </a:xfrm>
              <a:prstGeom prst="rect">
                <a:avLst/>
              </a:prstGeom>
              <a:blipFill>
                <a:blip r:embed="rId3"/>
                <a:stretch>
                  <a:fillRect/>
                </a:stretch>
              </a:blipFill>
            </p:spPr>
            <p:txBody>
              <a:bodyPr/>
              <a:lstStyle/>
              <a:p>
                <a:r>
                  <a:rPr lang="en-US">
                    <a:noFill/>
                  </a:rPr>
                  <a:t> </a:t>
                </a:r>
              </a:p>
            </p:txBody>
          </p:sp>
        </mc:Fallback>
      </mc:AlternateContent>
      <p:sp>
        <p:nvSpPr>
          <p:cNvPr id="9" name="Arrow: Right 8">
            <a:extLst>
              <a:ext uri="{FF2B5EF4-FFF2-40B4-BE49-F238E27FC236}">
                <a16:creationId xmlns:a16="http://schemas.microsoft.com/office/drawing/2014/main" id="{C6900869-155E-B321-91D1-0C37950F4744}"/>
              </a:ext>
            </a:extLst>
          </p:cNvPr>
          <p:cNvSpPr/>
          <p:nvPr/>
        </p:nvSpPr>
        <p:spPr>
          <a:xfrm>
            <a:off x="2046276" y="36031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sp>
        <p:nvSpPr>
          <p:cNvPr id="11" name="Arrow: Right 10">
            <a:extLst>
              <a:ext uri="{FF2B5EF4-FFF2-40B4-BE49-F238E27FC236}">
                <a16:creationId xmlns:a16="http://schemas.microsoft.com/office/drawing/2014/main" id="{03105DCB-5462-3404-E15C-0D10295DDB40}"/>
              </a:ext>
            </a:extLst>
          </p:cNvPr>
          <p:cNvSpPr/>
          <p:nvPr/>
        </p:nvSpPr>
        <p:spPr>
          <a:xfrm>
            <a:off x="4019632" y="3612316"/>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12" name="Group 11">
            <a:extLst>
              <a:ext uri="{FF2B5EF4-FFF2-40B4-BE49-F238E27FC236}">
                <a16:creationId xmlns:a16="http://schemas.microsoft.com/office/drawing/2014/main" id="{FECCB582-7F0E-BEFB-9163-65923EB54A72}"/>
              </a:ext>
            </a:extLst>
          </p:cNvPr>
          <p:cNvGrpSpPr/>
          <p:nvPr/>
        </p:nvGrpSpPr>
        <p:grpSpPr>
          <a:xfrm>
            <a:off x="6018212" y="3612316"/>
            <a:ext cx="1007980" cy="128872"/>
            <a:chOff x="7036224" y="4064907"/>
            <a:chExt cx="1007980" cy="128872"/>
          </a:xfrm>
        </p:grpSpPr>
        <p:sp>
          <p:nvSpPr>
            <p:cNvPr id="65" name="Arrow: Right 64">
              <a:extLst>
                <a:ext uri="{FF2B5EF4-FFF2-40B4-BE49-F238E27FC236}">
                  <a16:creationId xmlns:a16="http://schemas.microsoft.com/office/drawing/2014/main" id="{F175B76F-F567-DB2E-ED85-DA84D91B12D4}"/>
                </a:ext>
              </a:extLst>
            </p:cNvPr>
            <p:cNvSpPr/>
            <p:nvPr/>
          </p:nvSpPr>
          <p:spPr>
            <a:xfrm>
              <a:off x="7036224" y="4064907"/>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sp>
          <p:nvSpPr>
            <p:cNvPr id="66" name="Arrow: Right 65">
              <a:extLst>
                <a:ext uri="{FF2B5EF4-FFF2-40B4-BE49-F238E27FC236}">
                  <a16:creationId xmlns:a16="http://schemas.microsoft.com/office/drawing/2014/main" id="{74684094-FF79-A6F3-AE42-1630EC27CD57}"/>
                </a:ext>
              </a:extLst>
            </p:cNvPr>
            <p:cNvSpPr/>
            <p:nvPr/>
          </p:nvSpPr>
          <p:spPr>
            <a:xfrm>
              <a:off x="7722024" y="4064907"/>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cxnSp>
          <p:nvCxnSpPr>
            <p:cNvPr id="67" name="Straight Connector 66">
              <a:extLst>
                <a:ext uri="{FF2B5EF4-FFF2-40B4-BE49-F238E27FC236}">
                  <a16:creationId xmlns:a16="http://schemas.microsoft.com/office/drawing/2014/main" id="{C752A77A-C892-F7BE-0A26-A8EEAE3B7A24}"/>
                </a:ext>
              </a:extLst>
            </p:cNvPr>
            <p:cNvCxnSpPr>
              <a:stCxn id="65" idx="3"/>
              <a:endCxn id="66" idx="1"/>
            </p:cNvCxnSpPr>
            <p:nvPr/>
          </p:nvCxnSpPr>
          <p:spPr>
            <a:xfrm>
              <a:off x="7358404" y="4129343"/>
              <a:ext cx="363620" cy="0"/>
            </a:xfrm>
            <a:prstGeom prst="line">
              <a:avLst/>
            </a:prstGeom>
            <a:ln>
              <a:prstDash val="sysDot"/>
            </a:ln>
          </p:spPr>
          <p:style>
            <a:lnRef idx="3">
              <a:schemeClr val="dk1"/>
            </a:lnRef>
            <a:fillRef idx="0">
              <a:schemeClr val="dk1"/>
            </a:fillRef>
            <a:effectRef idx="2">
              <a:schemeClr val="dk1"/>
            </a:effectRef>
            <a:fontRef idx="minor">
              <a:schemeClr val="tx1"/>
            </a:fontRef>
          </p:style>
        </p:cxnSp>
      </p:grpSp>
      <p:sp>
        <p:nvSpPr>
          <p:cNvPr id="13" name="Arrow: Right 12">
            <a:extLst>
              <a:ext uri="{FF2B5EF4-FFF2-40B4-BE49-F238E27FC236}">
                <a16:creationId xmlns:a16="http://schemas.microsoft.com/office/drawing/2014/main" id="{9343164B-F61A-F8EB-8BEA-EB188C45C7E8}"/>
              </a:ext>
            </a:extLst>
          </p:cNvPr>
          <p:cNvSpPr/>
          <p:nvPr/>
        </p:nvSpPr>
        <p:spPr>
          <a:xfrm>
            <a:off x="8609012" y="36100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sp>
        <p:nvSpPr>
          <p:cNvPr id="14" name="Right Brace 13">
            <a:extLst>
              <a:ext uri="{FF2B5EF4-FFF2-40B4-BE49-F238E27FC236}">
                <a16:creationId xmlns:a16="http://schemas.microsoft.com/office/drawing/2014/main" id="{B19BAE39-E474-917B-065A-BFFA0A62F977}"/>
              </a:ext>
            </a:extLst>
          </p:cNvPr>
          <p:cNvSpPr/>
          <p:nvPr/>
        </p:nvSpPr>
        <p:spPr>
          <a:xfrm rot="5400000">
            <a:off x="3110708" y="3959062"/>
            <a:ext cx="228600" cy="1624011"/>
          </a:xfrm>
          <a:prstGeom prst="rightBrace">
            <a:avLst>
              <a:gd name="adj1" fmla="val 40833"/>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26B33FB-DD59-C9CE-B800-4E16F830550B}"/>
              </a:ext>
            </a:extLst>
          </p:cNvPr>
          <p:cNvSpPr/>
          <p:nvPr/>
        </p:nvSpPr>
        <p:spPr>
          <a:xfrm>
            <a:off x="2413002" y="4952446"/>
            <a:ext cx="1646251" cy="3273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latin typeface="Arial" panose="020B0604020202020204" pitchFamily="34" charset="0"/>
                <a:cs typeface="Arial" panose="020B0604020202020204" pitchFamily="34" charset="0"/>
              </a:rPr>
              <a:t>Input Layer</a:t>
            </a:r>
          </a:p>
        </p:txBody>
      </p:sp>
      <p:sp>
        <p:nvSpPr>
          <p:cNvPr id="16" name="Right Brace 15">
            <a:extLst>
              <a:ext uri="{FF2B5EF4-FFF2-40B4-BE49-F238E27FC236}">
                <a16:creationId xmlns:a16="http://schemas.microsoft.com/office/drawing/2014/main" id="{EEA02C66-7F89-055D-33DE-C4FCF53D9D29}"/>
              </a:ext>
            </a:extLst>
          </p:cNvPr>
          <p:cNvSpPr/>
          <p:nvPr/>
        </p:nvSpPr>
        <p:spPr>
          <a:xfrm rot="5400000">
            <a:off x="6342065" y="2533654"/>
            <a:ext cx="228600" cy="4457694"/>
          </a:xfrm>
          <a:prstGeom prst="rightBrace">
            <a:avLst>
              <a:gd name="adj1" fmla="val 30832"/>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BEDA71E1-B5E8-6EC9-4645-9FC9118445C6}"/>
              </a:ext>
            </a:extLst>
          </p:cNvPr>
          <p:cNvSpPr/>
          <p:nvPr/>
        </p:nvSpPr>
        <p:spPr>
          <a:xfrm>
            <a:off x="4249758" y="4943879"/>
            <a:ext cx="4457694" cy="3273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latin typeface="Arial" panose="020B0604020202020204" pitchFamily="34" charset="0"/>
                <a:cs typeface="Arial" panose="020B0604020202020204" pitchFamily="34" charset="0"/>
              </a:rPr>
              <a:t>Hidden Layers</a:t>
            </a:r>
          </a:p>
        </p:txBody>
      </p:sp>
      <p:sp>
        <p:nvSpPr>
          <p:cNvPr id="18" name="Right Brace 17">
            <a:extLst>
              <a:ext uri="{FF2B5EF4-FFF2-40B4-BE49-F238E27FC236}">
                <a16:creationId xmlns:a16="http://schemas.microsoft.com/office/drawing/2014/main" id="{F91F7956-975B-C323-9D98-CD16E1EB08DE}"/>
              </a:ext>
            </a:extLst>
          </p:cNvPr>
          <p:cNvSpPr/>
          <p:nvPr/>
        </p:nvSpPr>
        <p:spPr>
          <a:xfrm rot="5400000">
            <a:off x="9692856" y="3886536"/>
            <a:ext cx="228600" cy="1751930"/>
          </a:xfrm>
          <a:prstGeom prst="rightBrace">
            <a:avLst>
              <a:gd name="adj1" fmla="val 40833"/>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D93AA511-804C-800D-5E69-FDA01F314682}"/>
              </a:ext>
            </a:extLst>
          </p:cNvPr>
          <p:cNvSpPr/>
          <p:nvPr/>
        </p:nvSpPr>
        <p:spPr>
          <a:xfrm>
            <a:off x="8931190" y="4943879"/>
            <a:ext cx="1751929" cy="3273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latin typeface="Arial" panose="020B0604020202020204" pitchFamily="34" charset="0"/>
                <a:cs typeface="Arial" panose="020B0604020202020204" pitchFamily="34" charset="0"/>
              </a:rPr>
              <a:t>Output Layer</a:t>
            </a:r>
          </a:p>
        </p:txBody>
      </p:sp>
      <p:grpSp>
        <p:nvGrpSpPr>
          <p:cNvPr id="116" name="Group 115">
            <a:extLst>
              <a:ext uri="{FF2B5EF4-FFF2-40B4-BE49-F238E27FC236}">
                <a16:creationId xmlns:a16="http://schemas.microsoft.com/office/drawing/2014/main" id="{9E09C339-3105-16DE-91D2-45B52F79533E}"/>
              </a:ext>
            </a:extLst>
          </p:cNvPr>
          <p:cNvGrpSpPr/>
          <p:nvPr/>
        </p:nvGrpSpPr>
        <p:grpSpPr>
          <a:xfrm>
            <a:off x="2339560" y="3129172"/>
            <a:ext cx="1798346" cy="1484611"/>
            <a:chOff x="2796760" y="3129172"/>
            <a:chExt cx="1798346" cy="1484611"/>
          </a:xfrm>
        </p:grpSpPr>
        <p:sp>
          <p:nvSpPr>
            <p:cNvPr id="10" name="Arrow: Right 9">
              <a:extLst>
                <a:ext uri="{FF2B5EF4-FFF2-40B4-BE49-F238E27FC236}">
                  <a16:creationId xmlns:a16="http://schemas.microsoft.com/office/drawing/2014/main" id="{78CBA689-0B7F-B853-FB0C-5CAFA42F20F8}"/>
                </a:ext>
              </a:extLst>
            </p:cNvPr>
            <p:cNvSpPr/>
            <p:nvPr/>
          </p:nvSpPr>
          <p:spPr>
            <a:xfrm>
              <a:off x="3593806" y="36031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72" name="Group 71">
              <a:extLst>
                <a:ext uri="{FF2B5EF4-FFF2-40B4-BE49-F238E27FC236}">
                  <a16:creationId xmlns:a16="http://schemas.microsoft.com/office/drawing/2014/main" id="{C5072F89-D139-8519-FE2B-D0E24AEBB64F}"/>
                </a:ext>
              </a:extLst>
            </p:cNvPr>
            <p:cNvGrpSpPr/>
            <p:nvPr/>
          </p:nvGrpSpPr>
          <p:grpSpPr>
            <a:xfrm>
              <a:off x="3983804" y="3129694"/>
              <a:ext cx="385117" cy="1084493"/>
              <a:chOff x="4355646" y="2933574"/>
              <a:chExt cx="385117" cy="1463040"/>
            </a:xfrm>
          </p:grpSpPr>
          <p:sp>
            <p:nvSpPr>
              <p:cNvPr id="71" name="Rectangle 70">
                <a:extLst>
                  <a:ext uri="{FF2B5EF4-FFF2-40B4-BE49-F238E27FC236}">
                    <a16:creationId xmlns:a16="http://schemas.microsoft.com/office/drawing/2014/main" id="{75626010-B7F5-BF07-0F5F-C3E35B19E3AE}"/>
                  </a:ext>
                </a:extLst>
              </p:cNvPr>
              <p:cNvSpPr/>
              <p:nvPr/>
            </p:nvSpPr>
            <p:spPr>
              <a:xfrm>
                <a:off x="4358443" y="2933574"/>
                <a:ext cx="382320" cy="146304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0" name="Graphic 69" descr="Normal Distribution with solid fill">
                <a:extLst>
                  <a:ext uri="{FF2B5EF4-FFF2-40B4-BE49-F238E27FC236}">
                    <a16:creationId xmlns:a16="http://schemas.microsoft.com/office/drawing/2014/main" id="{63E8417B-DAE4-FAEF-96EF-BDB2882CA49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5646" y="2953360"/>
                <a:ext cx="378536" cy="378536"/>
              </a:xfrm>
              <a:prstGeom prst="rect">
                <a:avLst/>
              </a:prstGeom>
            </p:spPr>
          </p:pic>
        </p:grpSp>
        <p:sp>
          <p:nvSpPr>
            <p:cNvPr id="73" name="TextBox 72">
              <a:extLst>
                <a:ext uri="{FF2B5EF4-FFF2-40B4-BE49-F238E27FC236}">
                  <a16:creationId xmlns:a16="http://schemas.microsoft.com/office/drawing/2014/main" id="{7BDF186D-23A7-6901-2D46-46E648DD1BDD}"/>
                </a:ext>
              </a:extLst>
            </p:cNvPr>
            <p:cNvSpPr txBox="1"/>
            <p:nvPr/>
          </p:nvSpPr>
          <p:spPr>
            <a:xfrm>
              <a:off x="2796760" y="4212155"/>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Weight</a:t>
              </a:r>
            </a:p>
            <a:p>
              <a:pPr algn="ctr"/>
              <a:r>
                <a:rPr lang="en-US" sz="1000" b="1" dirty="0">
                  <a:latin typeface="Arial" panose="020B0604020202020204" pitchFamily="34" charset="0"/>
                  <a:cs typeface="Arial" panose="020B0604020202020204" pitchFamily="34" charset="0"/>
                </a:rPr>
                <a:t>Matrix</a:t>
              </a:r>
            </a:p>
          </p:txBody>
        </p:sp>
        <p:sp>
          <p:nvSpPr>
            <p:cNvPr id="74" name="TextBox 73">
              <a:extLst>
                <a:ext uri="{FF2B5EF4-FFF2-40B4-BE49-F238E27FC236}">
                  <a16:creationId xmlns:a16="http://schemas.microsoft.com/office/drawing/2014/main" id="{9D3579D9-5E65-5C26-8545-750327BBF7C4}"/>
                </a:ext>
              </a:extLst>
            </p:cNvPr>
            <p:cNvSpPr txBox="1"/>
            <p:nvPr/>
          </p:nvSpPr>
          <p:spPr>
            <a:xfrm>
              <a:off x="3761985" y="4213673"/>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Activation</a:t>
              </a:r>
            </a:p>
            <a:p>
              <a:pPr algn="ctr"/>
              <a:r>
                <a:rPr lang="en-US" sz="1000" b="1" dirty="0">
                  <a:latin typeface="Arial" panose="020B0604020202020204" pitchFamily="34" charset="0"/>
                  <a:cs typeface="Arial" panose="020B0604020202020204" pitchFamily="34" charset="0"/>
                </a:rPr>
                <a:t>Function</a:t>
              </a:r>
            </a:p>
          </p:txBody>
        </p:sp>
        <p:grpSp>
          <p:nvGrpSpPr>
            <p:cNvPr id="115" name="Group 114">
              <a:extLst>
                <a:ext uri="{FF2B5EF4-FFF2-40B4-BE49-F238E27FC236}">
                  <a16:creationId xmlns:a16="http://schemas.microsoft.com/office/drawing/2014/main" id="{8D4A059F-5B56-0F56-4E71-C93F2D6A9E0D}"/>
                </a:ext>
              </a:extLst>
            </p:cNvPr>
            <p:cNvGrpSpPr/>
            <p:nvPr/>
          </p:nvGrpSpPr>
          <p:grpSpPr>
            <a:xfrm>
              <a:off x="2892441" y="3129172"/>
              <a:ext cx="642606" cy="1087393"/>
              <a:chOff x="989012" y="2774253"/>
              <a:chExt cx="642606" cy="1087393"/>
            </a:xfrm>
          </p:grpSpPr>
          <p:grpSp>
            <p:nvGrpSpPr>
              <p:cNvPr id="88" name="Group 87">
                <a:extLst>
                  <a:ext uri="{FF2B5EF4-FFF2-40B4-BE49-F238E27FC236}">
                    <a16:creationId xmlns:a16="http://schemas.microsoft.com/office/drawing/2014/main" id="{9B38D120-AFBD-2B0E-6F54-5C8D89C52FE1}"/>
                  </a:ext>
                </a:extLst>
              </p:cNvPr>
              <p:cNvGrpSpPr/>
              <p:nvPr/>
            </p:nvGrpSpPr>
            <p:grpSpPr>
              <a:xfrm>
                <a:off x="989012" y="2774253"/>
                <a:ext cx="642606" cy="363242"/>
                <a:chOff x="760130" y="3429000"/>
                <a:chExt cx="642606" cy="363242"/>
              </a:xfrm>
            </p:grpSpPr>
            <p:grpSp>
              <p:nvGrpSpPr>
                <p:cNvPr id="80" name="Group 79">
                  <a:extLst>
                    <a:ext uri="{FF2B5EF4-FFF2-40B4-BE49-F238E27FC236}">
                      <a16:creationId xmlns:a16="http://schemas.microsoft.com/office/drawing/2014/main" id="{E051DA29-4AEB-E95C-56DF-AACB9DA1A2EE}"/>
                    </a:ext>
                  </a:extLst>
                </p:cNvPr>
                <p:cNvGrpSpPr/>
                <p:nvPr/>
              </p:nvGrpSpPr>
              <p:grpSpPr>
                <a:xfrm>
                  <a:off x="760412" y="3429000"/>
                  <a:ext cx="642324" cy="181072"/>
                  <a:chOff x="760412" y="3429000"/>
                  <a:chExt cx="642324" cy="181072"/>
                </a:xfrm>
              </p:grpSpPr>
              <p:sp>
                <p:nvSpPr>
                  <p:cNvPr id="75" name="Rectangle 74">
                    <a:extLst>
                      <a:ext uri="{FF2B5EF4-FFF2-40B4-BE49-F238E27FC236}">
                        <a16:creationId xmlns:a16="http://schemas.microsoft.com/office/drawing/2014/main" id="{84CBA0A3-1C6A-55C5-13C4-F50CC6F614BA}"/>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05109116-DE17-66B0-F638-ADCD259AF61A}"/>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AD941925-50DF-796D-F291-678DB72D311E}"/>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7400EB0B-77EF-2831-F01A-B9CB151C622F}"/>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8A7C643F-2956-FE8A-F610-DB38B360B444}"/>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BF7FD31E-0F14-D90E-1334-577D9061D3CF}"/>
                    </a:ext>
                  </a:extLst>
                </p:cNvPr>
                <p:cNvGrpSpPr/>
                <p:nvPr/>
              </p:nvGrpSpPr>
              <p:grpSpPr>
                <a:xfrm>
                  <a:off x="760130" y="3611170"/>
                  <a:ext cx="642324" cy="181072"/>
                  <a:chOff x="760412" y="3429000"/>
                  <a:chExt cx="642324" cy="181072"/>
                </a:xfrm>
              </p:grpSpPr>
              <p:sp>
                <p:nvSpPr>
                  <p:cNvPr id="83" name="Rectangle 82">
                    <a:extLst>
                      <a:ext uri="{FF2B5EF4-FFF2-40B4-BE49-F238E27FC236}">
                        <a16:creationId xmlns:a16="http://schemas.microsoft.com/office/drawing/2014/main" id="{D200DECE-3373-F4F0-3BE9-FC8696016E24}"/>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3264A7A6-FDD3-6BBA-D2CD-CF9F02C0D680}"/>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EB035ACD-AF98-F05C-A8A0-DC2156A36AA2}"/>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60E86261-5D84-AD1F-DBE6-4447B62FE545}"/>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11EFD0FC-3499-F578-8895-232474D3C50A}"/>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9" name="Group 88">
                <a:extLst>
                  <a:ext uri="{FF2B5EF4-FFF2-40B4-BE49-F238E27FC236}">
                    <a16:creationId xmlns:a16="http://schemas.microsoft.com/office/drawing/2014/main" id="{19F36C65-F2EE-1FCE-A3CD-F8734BDAEDB0}"/>
                  </a:ext>
                </a:extLst>
              </p:cNvPr>
              <p:cNvGrpSpPr/>
              <p:nvPr/>
            </p:nvGrpSpPr>
            <p:grpSpPr>
              <a:xfrm>
                <a:off x="989012" y="3138474"/>
                <a:ext cx="642606" cy="363242"/>
                <a:chOff x="760130" y="3429000"/>
                <a:chExt cx="642606" cy="363242"/>
              </a:xfrm>
            </p:grpSpPr>
            <p:grpSp>
              <p:nvGrpSpPr>
                <p:cNvPr id="90" name="Group 89">
                  <a:extLst>
                    <a:ext uri="{FF2B5EF4-FFF2-40B4-BE49-F238E27FC236}">
                      <a16:creationId xmlns:a16="http://schemas.microsoft.com/office/drawing/2014/main" id="{0EFBAEBC-F38A-F799-DFE0-F2018900CB9A}"/>
                    </a:ext>
                  </a:extLst>
                </p:cNvPr>
                <p:cNvGrpSpPr/>
                <p:nvPr/>
              </p:nvGrpSpPr>
              <p:grpSpPr>
                <a:xfrm>
                  <a:off x="760412" y="3429000"/>
                  <a:ext cx="642324" cy="181072"/>
                  <a:chOff x="760412" y="3429000"/>
                  <a:chExt cx="642324" cy="181072"/>
                </a:xfrm>
              </p:grpSpPr>
              <p:sp>
                <p:nvSpPr>
                  <p:cNvPr id="97" name="Rectangle 96">
                    <a:extLst>
                      <a:ext uri="{FF2B5EF4-FFF2-40B4-BE49-F238E27FC236}">
                        <a16:creationId xmlns:a16="http://schemas.microsoft.com/office/drawing/2014/main" id="{EBCDAA2E-381D-BD65-ACAF-11E31BB53F34}"/>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92701CC3-B8A6-B0CF-2A03-E935002D8931}"/>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D7EF977C-3A1F-E2C8-290C-059B8E5740DB}"/>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C0ABB8C4-4C43-7F16-4887-7D2ADDA9443F}"/>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ECF14550-72CE-E91E-1888-1995AF34AA40}"/>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90">
                  <a:extLst>
                    <a:ext uri="{FF2B5EF4-FFF2-40B4-BE49-F238E27FC236}">
                      <a16:creationId xmlns:a16="http://schemas.microsoft.com/office/drawing/2014/main" id="{767E7C82-EEBC-2EA9-9C05-7755E4B9DD07}"/>
                    </a:ext>
                  </a:extLst>
                </p:cNvPr>
                <p:cNvGrpSpPr/>
                <p:nvPr/>
              </p:nvGrpSpPr>
              <p:grpSpPr>
                <a:xfrm>
                  <a:off x="760130" y="3611170"/>
                  <a:ext cx="642324" cy="181072"/>
                  <a:chOff x="760412" y="3429000"/>
                  <a:chExt cx="642324" cy="181072"/>
                </a:xfrm>
              </p:grpSpPr>
              <p:sp>
                <p:nvSpPr>
                  <p:cNvPr id="92" name="Rectangle 91">
                    <a:extLst>
                      <a:ext uri="{FF2B5EF4-FFF2-40B4-BE49-F238E27FC236}">
                        <a16:creationId xmlns:a16="http://schemas.microsoft.com/office/drawing/2014/main" id="{31EB8D3F-5F74-A0BC-30E8-B197036573BF}"/>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E422F8FC-485F-76FF-C8AF-8813B3DD5834}"/>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DD39791D-78D0-1CB7-1CA4-64FB96ABD349}"/>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13BF593A-8DC7-86D6-DD29-9619D492AB74}"/>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E6C70310-A1F0-D8C3-12EA-8B404A7F2071}"/>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2" name="Group 101">
                <a:extLst>
                  <a:ext uri="{FF2B5EF4-FFF2-40B4-BE49-F238E27FC236}">
                    <a16:creationId xmlns:a16="http://schemas.microsoft.com/office/drawing/2014/main" id="{9F5172FA-5952-0BAE-F16B-DAEA7B83A19A}"/>
                  </a:ext>
                </a:extLst>
              </p:cNvPr>
              <p:cNvGrpSpPr/>
              <p:nvPr/>
            </p:nvGrpSpPr>
            <p:grpSpPr>
              <a:xfrm>
                <a:off x="989012" y="3498404"/>
                <a:ext cx="642606" cy="363242"/>
                <a:chOff x="760130" y="3429000"/>
                <a:chExt cx="642606" cy="363242"/>
              </a:xfrm>
            </p:grpSpPr>
            <p:grpSp>
              <p:nvGrpSpPr>
                <p:cNvPr id="103" name="Group 102">
                  <a:extLst>
                    <a:ext uri="{FF2B5EF4-FFF2-40B4-BE49-F238E27FC236}">
                      <a16:creationId xmlns:a16="http://schemas.microsoft.com/office/drawing/2014/main" id="{EC0AD4FF-2CF6-D43B-F38C-BFE01239624B}"/>
                    </a:ext>
                  </a:extLst>
                </p:cNvPr>
                <p:cNvGrpSpPr/>
                <p:nvPr/>
              </p:nvGrpSpPr>
              <p:grpSpPr>
                <a:xfrm>
                  <a:off x="760412" y="3429000"/>
                  <a:ext cx="642324" cy="181072"/>
                  <a:chOff x="760412" y="3429000"/>
                  <a:chExt cx="642324" cy="181072"/>
                </a:xfrm>
              </p:grpSpPr>
              <p:sp>
                <p:nvSpPr>
                  <p:cNvPr id="110" name="Rectangle 109">
                    <a:extLst>
                      <a:ext uri="{FF2B5EF4-FFF2-40B4-BE49-F238E27FC236}">
                        <a16:creationId xmlns:a16="http://schemas.microsoft.com/office/drawing/2014/main" id="{A15603D8-9D80-6E2F-D114-18E117594C7E}"/>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AB1207C9-FA73-FB58-FBA3-EC224DA69DE4}"/>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C24F85AC-00FA-A572-EE36-2164F5150045}"/>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F367395A-D6F4-DB6F-AF28-9AC5D39838B8}"/>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923CEE85-7B16-DB8A-7489-1DE283CAD49F}"/>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 name="Group 103">
                  <a:extLst>
                    <a:ext uri="{FF2B5EF4-FFF2-40B4-BE49-F238E27FC236}">
                      <a16:creationId xmlns:a16="http://schemas.microsoft.com/office/drawing/2014/main" id="{EA71513B-C415-5625-E8B9-5FBC30ED688A}"/>
                    </a:ext>
                  </a:extLst>
                </p:cNvPr>
                <p:cNvGrpSpPr/>
                <p:nvPr/>
              </p:nvGrpSpPr>
              <p:grpSpPr>
                <a:xfrm>
                  <a:off x="760130" y="3611170"/>
                  <a:ext cx="642324" cy="181072"/>
                  <a:chOff x="760412" y="3429000"/>
                  <a:chExt cx="642324" cy="181072"/>
                </a:xfrm>
              </p:grpSpPr>
              <p:sp>
                <p:nvSpPr>
                  <p:cNvPr id="105" name="Rectangle 104">
                    <a:extLst>
                      <a:ext uri="{FF2B5EF4-FFF2-40B4-BE49-F238E27FC236}">
                        <a16:creationId xmlns:a16="http://schemas.microsoft.com/office/drawing/2014/main" id="{7CFE1CA3-04F3-D7A9-21F5-01C637B4F0CB}"/>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D5E0D7FA-63CC-8305-14DB-21DAB8040636}"/>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C0FCC902-F4D3-0DC7-5C45-50F6F9C3CCE5}"/>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3F8ECA4B-0B09-7971-3CC6-135011BC0F23}"/>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60A545A1-3A18-B0DB-957B-846C6BF83019}"/>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17" name="Group 116">
            <a:extLst>
              <a:ext uri="{FF2B5EF4-FFF2-40B4-BE49-F238E27FC236}">
                <a16:creationId xmlns:a16="http://schemas.microsoft.com/office/drawing/2014/main" id="{82D1FB56-75D2-7F5F-1E38-8AB1DC16B7A2}"/>
              </a:ext>
            </a:extLst>
          </p:cNvPr>
          <p:cNvGrpSpPr/>
          <p:nvPr/>
        </p:nvGrpSpPr>
        <p:grpSpPr>
          <a:xfrm>
            <a:off x="4346941" y="3129172"/>
            <a:ext cx="1798346" cy="1484611"/>
            <a:chOff x="2796760" y="3129172"/>
            <a:chExt cx="1798346" cy="1484611"/>
          </a:xfrm>
        </p:grpSpPr>
        <p:sp>
          <p:nvSpPr>
            <p:cNvPr id="118" name="Arrow: Right 117">
              <a:extLst>
                <a:ext uri="{FF2B5EF4-FFF2-40B4-BE49-F238E27FC236}">
                  <a16:creationId xmlns:a16="http://schemas.microsoft.com/office/drawing/2014/main" id="{E5DA92B5-87CC-05FF-1B6B-0B7EE089EA5F}"/>
                </a:ext>
              </a:extLst>
            </p:cNvPr>
            <p:cNvSpPr/>
            <p:nvPr/>
          </p:nvSpPr>
          <p:spPr>
            <a:xfrm>
              <a:off x="3593806" y="36031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119" name="Group 118">
              <a:extLst>
                <a:ext uri="{FF2B5EF4-FFF2-40B4-BE49-F238E27FC236}">
                  <a16:creationId xmlns:a16="http://schemas.microsoft.com/office/drawing/2014/main" id="{3C8FBC5D-E309-053D-7BE1-82B552CBDC85}"/>
                </a:ext>
              </a:extLst>
            </p:cNvPr>
            <p:cNvGrpSpPr/>
            <p:nvPr/>
          </p:nvGrpSpPr>
          <p:grpSpPr>
            <a:xfrm>
              <a:off x="3983804" y="3129694"/>
              <a:ext cx="385117" cy="1084493"/>
              <a:chOff x="4355646" y="2933574"/>
              <a:chExt cx="385117" cy="1463040"/>
            </a:xfrm>
          </p:grpSpPr>
          <p:sp>
            <p:nvSpPr>
              <p:cNvPr id="162" name="Rectangle 161">
                <a:extLst>
                  <a:ext uri="{FF2B5EF4-FFF2-40B4-BE49-F238E27FC236}">
                    <a16:creationId xmlns:a16="http://schemas.microsoft.com/office/drawing/2014/main" id="{03534481-DEEC-5803-E262-B231257DBD01}"/>
                  </a:ext>
                </a:extLst>
              </p:cNvPr>
              <p:cNvSpPr/>
              <p:nvPr/>
            </p:nvSpPr>
            <p:spPr>
              <a:xfrm>
                <a:off x="4358443" y="2933574"/>
                <a:ext cx="382320" cy="146304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 name="Graphic 162" descr="Normal Distribution with solid fill">
                <a:extLst>
                  <a:ext uri="{FF2B5EF4-FFF2-40B4-BE49-F238E27FC236}">
                    <a16:creationId xmlns:a16="http://schemas.microsoft.com/office/drawing/2014/main" id="{3846EDC0-86BF-530A-E9C1-A8431B6F0C6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5646" y="2953360"/>
                <a:ext cx="378536" cy="378536"/>
              </a:xfrm>
              <a:prstGeom prst="rect">
                <a:avLst/>
              </a:prstGeom>
            </p:spPr>
          </p:pic>
        </p:grpSp>
        <p:sp>
          <p:nvSpPr>
            <p:cNvPr id="120" name="TextBox 119">
              <a:extLst>
                <a:ext uri="{FF2B5EF4-FFF2-40B4-BE49-F238E27FC236}">
                  <a16:creationId xmlns:a16="http://schemas.microsoft.com/office/drawing/2014/main" id="{215833F6-7147-2A1D-AE52-2DBBA04A6D53}"/>
                </a:ext>
              </a:extLst>
            </p:cNvPr>
            <p:cNvSpPr txBox="1"/>
            <p:nvPr/>
          </p:nvSpPr>
          <p:spPr>
            <a:xfrm>
              <a:off x="2796760" y="4212155"/>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Weight</a:t>
              </a:r>
            </a:p>
            <a:p>
              <a:pPr algn="ctr"/>
              <a:r>
                <a:rPr lang="en-US" sz="1000" b="1" dirty="0">
                  <a:latin typeface="Arial" panose="020B0604020202020204" pitchFamily="34" charset="0"/>
                  <a:cs typeface="Arial" panose="020B0604020202020204" pitchFamily="34" charset="0"/>
                </a:rPr>
                <a:t>Matrix</a:t>
              </a:r>
            </a:p>
          </p:txBody>
        </p:sp>
        <p:sp>
          <p:nvSpPr>
            <p:cNvPr id="121" name="TextBox 120">
              <a:extLst>
                <a:ext uri="{FF2B5EF4-FFF2-40B4-BE49-F238E27FC236}">
                  <a16:creationId xmlns:a16="http://schemas.microsoft.com/office/drawing/2014/main" id="{B1E9A57B-3971-D292-9789-FFD63F2628BB}"/>
                </a:ext>
              </a:extLst>
            </p:cNvPr>
            <p:cNvSpPr txBox="1"/>
            <p:nvPr/>
          </p:nvSpPr>
          <p:spPr>
            <a:xfrm>
              <a:off x="3761985" y="4213673"/>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Activation</a:t>
              </a:r>
            </a:p>
            <a:p>
              <a:pPr algn="ctr"/>
              <a:r>
                <a:rPr lang="en-US" sz="1000" b="1" dirty="0">
                  <a:latin typeface="Arial" panose="020B0604020202020204" pitchFamily="34" charset="0"/>
                  <a:cs typeface="Arial" panose="020B0604020202020204" pitchFamily="34" charset="0"/>
                </a:rPr>
                <a:t>Function</a:t>
              </a:r>
            </a:p>
          </p:txBody>
        </p:sp>
        <p:grpSp>
          <p:nvGrpSpPr>
            <p:cNvPr id="122" name="Group 121">
              <a:extLst>
                <a:ext uri="{FF2B5EF4-FFF2-40B4-BE49-F238E27FC236}">
                  <a16:creationId xmlns:a16="http://schemas.microsoft.com/office/drawing/2014/main" id="{6A484210-8B61-F9A4-A357-8644768E90FC}"/>
                </a:ext>
              </a:extLst>
            </p:cNvPr>
            <p:cNvGrpSpPr/>
            <p:nvPr/>
          </p:nvGrpSpPr>
          <p:grpSpPr>
            <a:xfrm>
              <a:off x="2892441" y="3129172"/>
              <a:ext cx="642606" cy="1087393"/>
              <a:chOff x="989012" y="2774253"/>
              <a:chExt cx="642606" cy="1087393"/>
            </a:xfrm>
          </p:grpSpPr>
          <p:grpSp>
            <p:nvGrpSpPr>
              <p:cNvPr id="123" name="Group 122">
                <a:extLst>
                  <a:ext uri="{FF2B5EF4-FFF2-40B4-BE49-F238E27FC236}">
                    <a16:creationId xmlns:a16="http://schemas.microsoft.com/office/drawing/2014/main" id="{B660D957-8614-0086-6898-3A4CCC47DC93}"/>
                  </a:ext>
                </a:extLst>
              </p:cNvPr>
              <p:cNvGrpSpPr/>
              <p:nvPr/>
            </p:nvGrpSpPr>
            <p:grpSpPr>
              <a:xfrm>
                <a:off x="989012" y="2774253"/>
                <a:ext cx="642606" cy="363242"/>
                <a:chOff x="760130" y="3429000"/>
                <a:chExt cx="642606" cy="363242"/>
              </a:xfrm>
            </p:grpSpPr>
            <p:grpSp>
              <p:nvGrpSpPr>
                <p:cNvPr id="150" name="Group 149">
                  <a:extLst>
                    <a:ext uri="{FF2B5EF4-FFF2-40B4-BE49-F238E27FC236}">
                      <a16:creationId xmlns:a16="http://schemas.microsoft.com/office/drawing/2014/main" id="{77047349-FE28-D8FE-467F-A0608F0C5BFC}"/>
                    </a:ext>
                  </a:extLst>
                </p:cNvPr>
                <p:cNvGrpSpPr/>
                <p:nvPr/>
              </p:nvGrpSpPr>
              <p:grpSpPr>
                <a:xfrm>
                  <a:off x="760412" y="3429000"/>
                  <a:ext cx="642324" cy="181072"/>
                  <a:chOff x="760412" y="3429000"/>
                  <a:chExt cx="642324" cy="181072"/>
                </a:xfrm>
              </p:grpSpPr>
              <p:sp>
                <p:nvSpPr>
                  <p:cNvPr id="157" name="Rectangle 156">
                    <a:extLst>
                      <a:ext uri="{FF2B5EF4-FFF2-40B4-BE49-F238E27FC236}">
                        <a16:creationId xmlns:a16="http://schemas.microsoft.com/office/drawing/2014/main" id="{E9C3CA84-D72E-86F7-1435-AC0324D511C2}"/>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14C7E625-AD03-86E6-2EF6-599FD7B599E2}"/>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E4A6C8C5-FBD2-F989-7B99-5E4EA0AC033E}"/>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AE1FE546-D8E0-7B2A-A809-01B76858CAC7}"/>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4DC09B0D-A2C1-3757-6361-B83CD28DC80C}"/>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150">
                  <a:extLst>
                    <a:ext uri="{FF2B5EF4-FFF2-40B4-BE49-F238E27FC236}">
                      <a16:creationId xmlns:a16="http://schemas.microsoft.com/office/drawing/2014/main" id="{0898396C-6425-AE10-34C0-693851D8E52A}"/>
                    </a:ext>
                  </a:extLst>
                </p:cNvPr>
                <p:cNvGrpSpPr/>
                <p:nvPr/>
              </p:nvGrpSpPr>
              <p:grpSpPr>
                <a:xfrm>
                  <a:off x="760130" y="3611170"/>
                  <a:ext cx="642324" cy="181072"/>
                  <a:chOff x="760412" y="3429000"/>
                  <a:chExt cx="642324" cy="181072"/>
                </a:xfrm>
              </p:grpSpPr>
              <p:sp>
                <p:nvSpPr>
                  <p:cNvPr id="152" name="Rectangle 151">
                    <a:extLst>
                      <a:ext uri="{FF2B5EF4-FFF2-40B4-BE49-F238E27FC236}">
                        <a16:creationId xmlns:a16="http://schemas.microsoft.com/office/drawing/2014/main" id="{A2B3BCCF-AC24-6F19-15AD-81A2D00563B4}"/>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C4DBD40D-9357-23BE-8B69-13A0904C8FBB}"/>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44B1FB24-D306-D558-9ED4-711AB36A0BBD}"/>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5C830E4B-3481-094B-9329-7462E75A2D29}"/>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37EB7F29-99A0-669A-1866-3DE1EF83E790}"/>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4" name="Group 123">
                <a:extLst>
                  <a:ext uri="{FF2B5EF4-FFF2-40B4-BE49-F238E27FC236}">
                    <a16:creationId xmlns:a16="http://schemas.microsoft.com/office/drawing/2014/main" id="{A1F3D919-2F48-1D1D-AFA7-07FBDAE350AE}"/>
                  </a:ext>
                </a:extLst>
              </p:cNvPr>
              <p:cNvGrpSpPr/>
              <p:nvPr/>
            </p:nvGrpSpPr>
            <p:grpSpPr>
              <a:xfrm>
                <a:off x="989012" y="3138474"/>
                <a:ext cx="642606" cy="363242"/>
                <a:chOff x="760130" y="3429000"/>
                <a:chExt cx="642606" cy="363242"/>
              </a:xfrm>
            </p:grpSpPr>
            <p:grpSp>
              <p:nvGrpSpPr>
                <p:cNvPr id="138" name="Group 137">
                  <a:extLst>
                    <a:ext uri="{FF2B5EF4-FFF2-40B4-BE49-F238E27FC236}">
                      <a16:creationId xmlns:a16="http://schemas.microsoft.com/office/drawing/2014/main" id="{A92DDE91-6825-682F-0B61-EC1280BFF3BA}"/>
                    </a:ext>
                  </a:extLst>
                </p:cNvPr>
                <p:cNvGrpSpPr/>
                <p:nvPr/>
              </p:nvGrpSpPr>
              <p:grpSpPr>
                <a:xfrm>
                  <a:off x="760412" y="3429000"/>
                  <a:ext cx="642324" cy="181072"/>
                  <a:chOff x="760412" y="3429000"/>
                  <a:chExt cx="642324" cy="181072"/>
                </a:xfrm>
              </p:grpSpPr>
              <p:sp>
                <p:nvSpPr>
                  <p:cNvPr id="145" name="Rectangle 144">
                    <a:extLst>
                      <a:ext uri="{FF2B5EF4-FFF2-40B4-BE49-F238E27FC236}">
                        <a16:creationId xmlns:a16="http://schemas.microsoft.com/office/drawing/2014/main" id="{3AF95E21-348D-CEC3-99C7-2ACDA88C894B}"/>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501DDF1A-EF4E-DB42-82CA-0876F64CCABD}"/>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E26EDBBE-B1F7-AC6E-0DBA-7735150933DE}"/>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9DA3D3FE-2A86-F71D-B413-0A628F71552A}"/>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A2F47E46-7E45-A692-56B6-6CB6DEA4B823}"/>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 name="Group 138">
                  <a:extLst>
                    <a:ext uri="{FF2B5EF4-FFF2-40B4-BE49-F238E27FC236}">
                      <a16:creationId xmlns:a16="http://schemas.microsoft.com/office/drawing/2014/main" id="{426370ED-33B0-F611-1CEF-FC461E150AC1}"/>
                    </a:ext>
                  </a:extLst>
                </p:cNvPr>
                <p:cNvGrpSpPr/>
                <p:nvPr/>
              </p:nvGrpSpPr>
              <p:grpSpPr>
                <a:xfrm>
                  <a:off x="760130" y="3611170"/>
                  <a:ext cx="642324" cy="181072"/>
                  <a:chOff x="760412" y="3429000"/>
                  <a:chExt cx="642324" cy="181072"/>
                </a:xfrm>
              </p:grpSpPr>
              <p:sp>
                <p:nvSpPr>
                  <p:cNvPr id="140" name="Rectangle 139">
                    <a:extLst>
                      <a:ext uri="{FF2B5EF4-FFF2-40B4-BE49-F238E27FC236}">
                        <a16:creationId xmlns:a16="http://schemas.microsoft.com/office/drawing/2014/main" id="{38040B28-39CB-EFE5-D5A9-C3C3393BC60D}"/>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12EBA159-F56E-5F9E-BDF8-CAC21A45CC88}"/>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16512AF1-A4A1-004D-3000-2196A9209F65}"/>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EA2DF90D-632E-7CAC-FB03-DE1AE0EB0307}"/>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8FF95C38-D2DC-9B18-9CFE-AEFB80099351}"/>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5" name="Group 124">
                <a:extLst>
                  <a:ext uri="{FF2B5EF4-FFF2-40B4-BE49-F238E27FC236}">
                    <a16:creationId xmlns:a16="http://schemas.microsoft.com/office/drawing/2014/main" id="{3AFF61BF-7855-116B-FF1A-8E3AE191B66D}"/>
                  </a:ext>
                </a:extLst>
              </p:cNvPr>
              <p:cNvGrpSpPr/>
              <p:nvPr/>
            </p:nvGrpSpPr>
            <p:grpSpPr>
              <a:xfrm>
                <a:off x="989012" y="3498404"/>
                <a:ext cx="642606" cy="363242"/>
                <a:chOff x="760130" y="3429000"/>
                <a:chExt cx="642606" cy="363242"/>
              </a:xfrm>
            </p:grpSpPr>
            <p:grpSp>
              <p:nvGrpSpPr>
                <p:cNvPr id="126" name="Group 125">
                  <a:extLst>
                    <a:ext uri="{FF2B5EF4-FFF2-40B4-BE49-F238E27FC236}">
                      <a16:creationId xmlns:a16="http://schemas.microsoft.com/office/drawing/2014/main" id="{1BAC1892-DB94-5278-7D99-34776BEE4D3A}"/>
                    </a:ext>
                  </a:extLst>
                </p:cNvPr>
                <p:cNvGrpSpPr/>
                <p:nvPr/>
              </p:nvGrpSpPr>
              <p:grpSpPr>
                <a:xfrm>
                  <a:off x="760412" y="3429000"/>
                  <a:ext cx="642324" cy="181072"/>
                  <a:chOff x="760412" y="3429000"/>
                  <a:chExt cx="642324" cy="181072"/>
                </a:xfrm>
              </p:grpSpPr>
              <p:sp>
                <p:nvSpPr>
                  <p:cNvPr id="133" name="Rectangle 132">
                    <a:extLst>
                      <a:ext uri="{FF2B5EF4-FFF2-40B4-BE49-F238E27FC236}">
                        <a16:creationId xmlns:a16="http://schemas.microsoft.com/office/drawing/2014/main" id="{035E63E0-933B-C9BA-DBC5-D3CF4526E605}"/>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9C42D39B-66B7-4E9B-0CA8-7A65A303D8B7}"/>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ECF900AE-1F43-470B-EC58-3C027509A769}"/>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CA2596E5-B3C4-EC87-8A0F-0B8D949A200B}"/>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A9ADD11E-3B77-46B5-CB01-A38BE893ED0B}"/>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a:extLst>
                    <a:ext uri="{FF2B5EF4-FFF2-40B4-BE49-F238E27FC236}">
                      <a16:creationId xmlns:a16="http://schemas.microsoft.com/office/drawing/2014/main" id="{47527ABA-6A75-DE3F-2F8E-8173A3402F28}"/>
                    </a:ext>
                  </a:extLst>
                </p:cNvPr>
                <p:cNvGrpSpPr/>
                <p:nvPr/>
              </p:nvGrpSpPr>
              <p:grpSpPr>
                <a:xfrm>
                  <a:off x="760130" y="3611170"/>
                  <a:ext cx="642324" cy="181072"/>
                  <a:chOff x="760412" y="3429000"/>
                  <a:chExt cx="642324" cy="181072"/>
                </a:xfrm>
              </p:grpSpPr>
              <p:sp>
                <p:nvSpPr>
                  <p:cNvPr id="128" name="Rectangle 127">
                    <a:extLst>
                      <a:ext uri="{FF2B5EF4-FFF2-40B4-BE49-F238E27FC236}">
                        <a16:creationId xmlns:a16="http://schemas.microsoft.com/office/drawing/2014/main" id="{12DC830D-70D2-6A91-D2D3-57610712B932}"/>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A327CEF6-35CE-5CF4-CEC4-48042E1E5754}"/>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F22ECCDE-C23D-3C77-D721-073C4DCAF7B7}"/>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EBA237CB-5440-2B2A-E5A9-6C7D44BCAF21}"/>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23EB4EF9-65BE-3D4C-CBE3-0CC6333EA932}"/>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64" name="Group 163">
            <a:extLst>
              <a:ext uri="{FF2B5EF4-FFF2-40B4-BE49-F238E27FC236}">
                <a16:creationId xmlns:a16="http://schemas.microsoft.com/office/drawing/2014/main" id="{4D05AA3E-978A-98A9-A004-A62FEA56F11A}"/>
              </a:ext>
            </a:extLst>
          </p:cNvPr>
          <p:cNvGrpSpPr/>
          <p:nvPr/>
        </p:nvGrpSpPr>
        <p:grpSpPr>
          <a:xfrm>
            <a:off x="6963066" y="3129172"/>
            <a:ext cx="1798346" cy="1484611"/>
            <a:chOff x="2796760" y="3129172"/>
            <a:chExt cx="1798346" cy="1484611"/>
          </a:xfrm>
        </p:grpSpPr>
        <p:sp>
          <p:nvSpPr>
            <p:cNvPr id="165" name="Arrow: Right 164">
              <a:extLst>
                <a:ext uri="{FF2B5EF4-FFF2-40B4-BE49-F238E27FC236}">
                  <a16:creationId xmlns:a16="http://schemas.microsoft.com/office/drawing/2014/main" id="{F506F327-A963-0EAA-368E-7B6BCA46408D}"/>
                </a:ext>
              </a:extLst>
            </p:cNvPr>
            <p:cNvSpPr/>
            <p:nvPr/>
          </p:nvSpPr>
          <p:spPr>
            <a:xfrm>
              <a:off x="3593806" y="36031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166" name="Group 165">
              <a:extLst>
                <a:ext uri="{FF2B5EF4-FFF2-40B4-BE49-F238E27FC236}">
                  <a16:creationId xmlns:a16="http://schemas.microsoft.com/office/drawing/2014/main" id="{72C3E0B3-322D-8412-251C-825C3EE58B0E}"/>
                </a:ext>
              </a:extLst>
            </p:cNvPr>
            <p:cNvGrpSpPr/>
            <p:nvPr/>
          </p:nvGrpSpPr>
          <p:grpSpPr>
            <a:xfrm>
              <a:off x="3983804" y="3129694"/>
              <a:ext cx="385117" cy="1084493"/>
              <a:chOff x="4355646" y="2933574"/>
              <a:chExt cx="385117" cy="1463040"/>
            </a:xfrm>
          </p:grpSpPr>
          <p:sp>
            <p:nvSpPr>
              <p:cNvPr id="209" name="Rectangle 208">
                <a:extLst>
                  <a:ext uri="{FF2B5EF4-FFF2-40B4-BE49-F238E27FC236}">
                    <a16:creationId xmlns:a16="http://schemas.microsoft.com/office/drawing/2014/main" id="{97755282-E849-9015-AF26-E24C4FE66616}"/>
                  </a:ext>
                </a:extLst>
              </p:cNvPr>
              <p:cNvSpPr/>
              <p:nvPr/>
            </p:nvSpPr>
            <p:spPr>
              <a:xfrm>
                <a:off x="4358443" y="2933574"/>
                <a:ext cx="382320" cy="146304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0" name="Graphic 209" descr="Normal Distribution with solid fill">
                <a:extLst>
                  <a:ext uri="{FF2B5EF4-FFF2-40B4-BE49-F238E27FC236}">
                    <a16:creationId xmlns:a16="http://schemas.microsoft.com/office/drawing/2014/main" id="{20356F08-E826-749D-6B52-7D8EB245B6D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5646" y="2953360"/>
                <a:ext cx="378536" cy="378536"/>
              </a:xfrm>
              <a:prstGeom prst="rect">
                <a:avLst/>
              </a:prstGeom>
            </p:spPr>
          </p:pic>
        </p:grpSp>
        <p:sp>
          <p:nvSpPr>
            <p:cNvPr id="167" name="TextBox 166">
              <a:extLst>
                <a:ext uri="{FF2B5EF4-FFF2-40B4-BE49-F238E27FC236}">
                  <a16:creationId xmlns:a16="http://schemas.microsoft.com/office/drawing/2014/main" id="{C1E0956A-AB41-793A-F361-B5DE990BDA3D}"/>
                </a:ext>
              </a:extLst>
            </p:cNvPr>
            <p:cNvSpPr txBox="1"/>
            <p:nvPr/>
          </p:nvSpPr>
          <p:spPr>
            <a:xfrm>
              <a:off x="2796760" y="4212155"/>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Weight</a:t>
              </a:r>
            </a:p>
            <a:p>
              <a:pPr algn="ctr"/>
              <a:r>
                <a:rPr lang="en-US" sz="1000" b="1" dirty="0">
                  <a:latin typeface="Arial" panose="020B0604020202020204" pitchFamily="34" charset="0"/>
                  <a:cs typeface="Arial" panose="020B0604020202020204" pitchFamily="34" charset="0"/>
                </a:rPr>
                <a:t>Matrix</a:t>
              </a:r>
            </a:p>
          </p:txBody>
        </p:sp>
        <p:sp>
          <p:nvSpPr>
            <p:cNvPr id="168" name="TextBox 167">
              <a:extLst>
                <a:ext uri="{FF2B5EF4-FFF2-40B4-BE49-F238E27FC236}">
                  <a16:creationId xmlns:a16="http://schemas.microsoft.com/office/drawing/2014/main" id="{26FEF74F-050C-F5C7-CAB1-613751973C8E}"/>
                </a:ext>
              </a:extLst>
            </p:cNvPr>
            <p:cNvSpPr txBox="1"/>
            <p:nvPr/>
          </p:nvSpPr>
          <p:spPr>
            <a:xfrm>
              <a:off x="3761985" y="4213673"/>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Activation</a:t>
              </a:r>
            </a:p>
            <a:p>
              <a:pPr algn="ctr"/>
              <a:r>
                <a:rPr lang="en-US" sz="1000" b="1" dirty="0">
                  <a:latin typeface="Arial" panose="020B0604020202020204" pitchFamily="34" charset="0"/>
                  <a:cs typeface="Arial" panose="020B0604020202020204" pitchFamily="34" charset="0"/>
                </a:rPr>
                <a:t>Function</a:t>
              </a:r>
            </a:p>
          </p:txBody>
        </p:sp>
        <p:grpSp>
          <p:nvGrpSpPr>
            <p:cNvPr id="169" name="Group 168">
              <a:extLst>
                <a:ext uri="{FF2B5EF4-FFF2-40B4-BE49-F238E27FC236}">
                  <a16:creationId xmlns:a16="http://schemas.microsoft.com/office/drawing/2014/main" id="{B774911B-13EB-84FC-3A48-AEC4DD155AF3}"/>
                </a:ext>
              </a:extLst>
            </p:cNvPr>
            <p:cNvGrpSpPr/>
            <p:nvPr/>
          </p:nvGrpSpPr>
          <p:grpSpPr>
            <a:xfrm>
              <a:off x="2892441" y="3129172"/>
              <a:ext cx="642606" cy="1087393"/>
              <a:chOff x="989012" y="2774253"/>
              <a:chExt cx="642606" cy="1087393"/>
            </a:xfrm>
          </p:grpSpPr>
          <p:grpSp>
            <p:nvGrpSpPr>
              <p:cNvPr id="170" name="Group 169">
                <a:extLst>
                  <a:ext uri="{FF2B5EF4-FFF2-40B4-BE49-F238E27FC236}">
                    <a16:creationId xmlns:a16="http://schemas.microsoft.com/office/drawing/2014/main" id="{294BE68E-83F3-A52A-4BFD-86B75856F1E9}"/>
                  </a:ext>
                </a:extLst>
              </p:cNvPr>
              <p:cNvGrpSpPr/>
              <p:nvPr/>
            </p:nvGrpSpPr>
            <p:grpSpPr>
              <a:xfrm>
                <a:off x="989012" y="2774253"/>
                <a:ext cx="642606" cy="363242"/>
                <a:chOff x="760130" y="3429000"/>
                <a:chExt cx="642606" cy="363242"/>
              </a:xfrm>
            </p:grpSpPr>
            <p:grpSp>
              <p:nvGrpSpPr>
                <p:cNvPr id="197" name="Group 196">
                  <a:extLst>
                    <a:ext uri="{FF2B5EF4-FFF2-40B4-BE49-F238E27FC236}">
                      <a16:creationId xmlns:a16="http://schemas.microsoft.com/office/drawing/2014/main" id="{283F091A-09DF-58C6-3BAF-EE274B40287D}"/>
                    </a:ext>
                  </a:extLst>
                </p:cNvPr>
                <p:cNvGrpSpPr/>
                <p:nvPr/>
              </p:nvGrpSpPr>
              <p:grpSpPr>
                <a:xfrm>
                  <a:off x="760412" y="3429000"/>
                  <a:ext cx="642324" cy="181072"/>
                  <a:chOff x="760412" y="3429000"/>
                  <a:chExt cx="642324" cy="181072"/>
                </a:xfrm>
              </p:grpSpPr>
              <p:sp>
                <p:nvSpPr>
                  <p:cNvPr id="204" name="Rectangle 203">
                    <a:extLst>
                      <a:ext uri="{FF2B5EF4-FFF2-40B4-BE49-F238E27FC236}">
                        <a16:creationId xmlns:a16="http://schemas.microsoft.com/office/drawing/2014/main" id="{AB65F6FB-30F6-0656-1C8A-F395BE998252}"/>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42283FB3-F413-67CA-A51A-F54A2ECDAAA8}"/>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4762630C-1AA7-EF8C-AF80-F452F69635B1}"/>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5B997ACA-50A1-8FAC-4041-39E82915D893}"/>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ECEAB84E-E666-E8C8-F02A-3988F6DFB826}"/>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8" name="Group 197">
                  <a:extLst>
                    <a:ext uri="{FF2B5EF4-FFF2-40B4-BE49-F238E27FC236}">
                      <a16:creationId xmlns:a16="http://schemas.microsoft.com/office/drawing/2014/main" id="{2A39F897-219B-B2B3-820C-E9A23BAA9113}"/>
                    </a:ext>
                  </a:extLst>
                </p:cNvPr>
                <p:cNvGrpSpPr/>
                <p:nvPr/>
              </p:nvGrpSpPr>
              <p:grpSpPr>
                <a:xfrm>
                  <a:off x="760130" y="3611170"/>
                  <a:ext cx="642324" cy="181072"/>
                  <a:chOff x="760412" y="3429000"/>
                  <a:chExt cx="642324" cy="181072"/>
                </a:xfrm>
              </p:grpSpPr>
              <p:sp>
                <p:nvSpPr>
                  <p:cNvPr id="199" name="Rectangle 198">
                    <a:extLst>
                      <a:ext uri="{FF2B5EF4-FFF2-40B4-BE49-F238E27FC236}">
                        <a16:creationId xmlns:a16="http://schemas.microsoft.com/office/drawing/2014/main" id="{B65E8BFA-070E-E313-FC38-1A698C83D981}"/>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7541F11D-0F1A-5B84-50E3-732D91A94F17}"/>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0F2F7AA3-312D-93E9-9A7F-E3B91428CC50}"/>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F7A7AAE5-7B88-845F-ADB2-A645319E3996}"/>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B2FF5233-DD44-5DE4-A4AE-07ABEC6AA113}"/>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1" name="Group 170">
                <a:extLst>
                  <a:ext uri="{FF2B5EF4-FFF2-40B4-BE49-F238E27FC236}">
                    <a16:creationId xmlns:a16="http://schemas.microsoft.com/office/drawing/2014/main" id="{B878547E-8E77-56D6-2DF8-2FC2C47F536B}"/>
                  </a:ext>
                </a:extLst>
              </p:cNvPr>
              <p:cNvGrpSpPr/>
              <p:nvPr/>
            </p:nvGrpSpPr>
            <p:grpSpPr>
              <a:xfrm>
                <a:off x="989012" y="3138474"/>
                <a:ext cx="642606" cy="363242"/>
                <a:chOff x="760130" y="3429000"/>
                <a:chExt cx="642606" cy="363242"/>
              </a:xfrm>
            </p:grpSpPr>
            <p:grpSp>
              <p:nvGrpSpPr>
                <p:cNvPr id="185" name="Group 184">
                  <a:extLst>
                    <a:ext uri="{FF2B5EF4-FFF2-40B4-BE49-F238E27FC236}">
                      <a16:creationId xmlns:a16="http://schemas.microsoft.com/office/drawing/2014/main" id="{C4C51B18-A73D-9E0A-B471-A7ED7AAF5438}"/>
                    </a:ext>
                  </a:extLst>
                </p:cNvPr>
                <p:cNvGrpSpPr/>
                <p:nvPr/>
              </p:nvGrpSpPr>
              <p:grpSpPr>
                <a:xfrm>
                  <a:off x="760412" y="3429000"/>
                  <a:ext cx="642324" cy="181072"/>
                  <a:chOff x="760412" y="3429000"/>
                  <a:chExt cx="642324" cy="181072"/>
                </a:xfrm>
              </p:grpSpPr>
              <p:sp>
                <p:nvSpPr>
                  <p:cNvPr id="192" name="Rectangle 191">
                    <a:extLst>
                      <a:ext uri="{FF2B5EF4-FFF2-40B4-BE49-F238E27FC236}">
                        <a16:creationId xmlns:a16="http://schemas.microsoft.com/office/drawing/2014/main" id="{70D1AB69-23F6-3A79-2D68-6F8984E04499}"/>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087F77D1-5747-8EF6-257A-BFE3090DAE13}"/>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DC724A33-D958-22D2-76A9-BF494D00F838}"/>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E79D9C99-B0AE-D373-496B-BD5F8E9A27B4}"/>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607D0E7B-85ED-A749-FC6A-605F78512A84}"/>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6" name="Group 185">
                  <a:extLst>
                    <a:ext uri="{FF2B5EF4-FFF2-40B4-BE49-F238E27FC236}">
                      <a16:creationId xmlns:a16="http://schemas.microsoft.com/office/drawing/2014/main" id="{D363E27C-8A51-9B24-EBA3-075FE151A075}"/>
                    </a:ext>
                  </a:extLst>
                </p:cNvPr>
                <p:cNvGrpSpPr/>
                <p:nvPr/>
              </p:nvGrpSpPr>
              <p:grpSpPr>
                <a:xfrm>
                  <a:off x="760130" y="3611170"/>
                  <a:ext cx="642324" cy="181072"/>
                  <a:chOff x="760412" y="3429000"/>
                  <a:chExt cx="642324" cy="181072"/>
                </a:xfrm>
              </p:grpSpPr>
              <p:sp>
                <p:nvSpPr>
                  <p:cNvPr id="187" name="Rectangle 186">
                    <a:extLst>
                      <a:ext uri="{FF2B5EF4-FFF2-40B4-BE49-F238E27FC236}">
                        <a16:creationId xmlns:a16="http://schemas.microsoft.com/office/drawing/2014/main" id="{D06FC8B1-73D8-669A-AF47-F59585C35823}"/>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4BA3B1B1-701D-ACE3-36AC-F2D8AD3ADC85}"/>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D64EA272-ACF8-BBF0-3B89-0FB42303DC02}"/>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3CDA87EF-D739-A48A-48A4-0E96CC466B81}"/>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3565FC2E-412E-6958-E94D-B86AB1582280}"/>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2" name="Group 171">
                <a:extLst>
                  <a:ext uri="{FF2B5EF4-FFF2-40B4-BE49-F238E27FC236}">
                    <a16:creationId xmlns:a16="http://schemas.microsoft.com/office/drawing/2014/main" id="{852B6F9E-68FD-D346-BD5F-9440EA673F6D}"/>
                  </a:ext>
                </a:extLst>
              </p:cNvPr>
              <p:cNvGrpSpPr/>
              <p:nvPr/>
            </p:nvGrpSpPr>
            <p:grpSpPr>
              <a:xfrm>
                <a:off x="989012" y="3498404"/>
                <a:ext cx="642606" cy="363242"/>
                <a:chOff x="760130" y="3429000"/>
                <a:chExt cx="642606" cy="363242"/>
              </a:xfrm>
            </p:grpSpPr>
            <p:grpSp>
              <p:nvGrpSpPr>
                <p:cNvPr id="173" name="Group 172">
                  <a:extLst>
                    <a:ext uri="{FF2B5EF4-FFF2-40B4-BE49-F238E27FC236}">
                      <a16:creationId xmlns:a16="http://schemas.microsoft.com/office/drawing/2014/main" id="{CD130249-375F-B04D-6B8A-0011B4EEEC6B}"/>
                    </a:ext>
                  </a:extLst>
                </p:cNvPr>
                <p:cNvGrpSpPr/>
                <p:nvPr/>
              </p:nvGrpSpPr>
              <p:grpSpPr>
                <a:xfrm>
                  <a:off x="760412" y="3429000"/>
                  <a:ext cx="642324" cy="181072"/>
                  <a:chOff x="760412" y="3429000"/>
                  <a:chExt cx="642324" cy="181072"/>
                </a:xfrm>
              </p:grpSpPr>
              <p:sp>
                <p:nvSpPr>
                  <p:cNvPr id="180" name="Rectangle 179">
                    <a:extLst>
                      <a:ext uri="{FF2B5EF4-FFF2-40B4-BE49-F238E27FC236}">
                        <a16:creationId xmlns:a16="http://schemas.microsoft.com/office/drawing/2014/main" id="{DC120822-C7AA-581F-7CD4-F65B5F5EE2B5}"/>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0BC35533-5E84-3304-FAFE-46D5E9DAAF9D}"/>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CD5DE2F5-8ACF-8831-59D8-D160010429D5}"/>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7F929126-DA1B-8AE9-785B-8068D1DD19E9}"/>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F3B8CE9E-FE40-668F-BE0F-E68D5D299B90}"/>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 name="Group 173">
                  <a:extLst>
                    <a:ext uri="{FF2B5EF4-FFF2-40B4-BE49-F238E27FC236}">
                      <a16:creationId xmlns:a16="http://schemas.microsoft.com/office/drawing/2014/main" id="{75A6D28A-60D2-501A-785E-D27F80BBFADE}"/>
                    </a:ext>
                  </a:extLst>
                </p:cNvPr>
                <p:cNvGrpSpPr/>
                <p:nvPr/>
              </p:nvGrpSpPr>
              <p:grpSpPr>
                <a:xfrm>
                  <a:off x="760130" y="3611170"/>
                  <a:ext cx="642324" cy="181072"/>
                  <a:chOff x="760412" y="3429000"/>
                  <a:chExt cx="642324" cy="181072"/>
                </a:xfrm>
              </p:grpSpPr>
              <p:sp>
                <p:nvSpPr>
                  <p:cNvPr id="175" name="Rectangle 174">
                    <a:extLst>
                      <a:ext uri="{FF2B5EF4-FFF2-40B4-BE49-F238E27FC236}">
                        <a16:creationId xmlns:a16="http://schemas.microsoft.com/office/drawing/2014/main" id="{4CB4E896-F820-EFA5-7182-FFA849805C2C}"/>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FD47019E-DFCA-AAC7-AD89-E1E009D1DBC4}"/>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EE85CEE9-CCAA-9D5C-47F8-E5FEF46AE982}"/>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604E7555-8F18-5CC8-C067-ABF1803F80AD}"/>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9D24BEC8-97CC-F7AF-6388-DEEA1A3C545A}"/>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258" name="Group 257">
            <a:extLst>
              <a:ext uri="{FF2B5EF4-FFF2-40B4-BE49-F238E27FC236}">
                <a16:creationId xmlns:a16="http://schemas.microsoft.com/office/drawing/2014/main" id="{699CDD0C-AEC1-628E-7174-579E9434E132}"/>
              </a:ext>
            </a:extLst>
          </p:cNvPr>
          <p:cNvGrpSpPr/>
          <p:nvPr/>
        </p:nvGrpSpPr>
        <p:grpSpPr>
          <a:xfrm>
            <a:off x="8884776" y="3144361"/>
            <a:ext cx="1798346" cy="1484611"/>
            <a:chOff x="2796760" y="3129172"/>
            <a:chExt cx="1798346" cy="1484611"/>
          </a:xfrm>
        </p:grpSpPr>
        <p:sp>
          <p:nvSpPr>
            <p:cNvPr id="259" name="Arrow: Right 258">
              <a:extLst>
                <a:ext uri="{FF2B5EF4-FFF2-40B4-BE49-F238E27FC236}">
                  <a16:creationId xmlns:a16="http://schemas.microsoft.com/office/drawing/2014/main" id="{FFDD3013-473B-C484-5F0B-9203A49AE903}"/>
                </a:ext>
              </a:extLst>
            </p:cNvPr>
            <p:cNvSpPr/>
            <p:nvPr/>
          </p:nvSpPr>
          <p:spPr>
            <a:xfrm>
              <a:off x="3593806" y="36031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260" name="Group 259">
              <a:extLst>
                <a:ext uri="{FF2B5EF4-FFF2-40B4-BE49-F238E27FC236}">
                  <a16:creationId xmlns:a16="http://schemas.microsoft.com/office/drawing/2014/main" id="{9B1A9405-D7A0-BDF1-8A72-F591E01EB90D}"/>
                </a:ext>
              </a:extLst>
            </p:cNvPr>
            <p:cNvGrpSpPr/>
            <p:nvPr/>
          </p:nvGrpSpPr>
          <p:grpSpPr>
            <a:xfrm>
              <a:off x="3983804" y="3129694"/>
              <a:ext cx="385117" cy="1084493"/>
              <a:chOff x="4355646" y="2933574"/>
              <a:chExt cx="385117" cy="1463040"/>
            </a:xfrm>
          </p:grpSpPr>
          <p:sp>
            <p:nvSpPr>
              <p:cNvPr id="303" name="Rectangle 302">
                <a:extLst>
                  <a:ext uri="{FF2B5EF4-FFF2-40B4-BE49-F238E27FC236}">
                    <a16:creationId xmlns:a16="http://schemas.microsoft.com/office/drawing/2014/main" id="{0491F592-FE72-4BA7-1C48-804A881910C0}"/>
                  </a:ext>
                </a:extLst>
              </p:cNvPr>
              <p:cNvSpPr/>
              <p:nvPr/>
            </p:nvSpPr>
            <p:spPr>
              <a:xfrm>
                <a:off x="4358443" y="2933574"/>
                <a:ext cx="382320" cy="1463040"/>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4" name="Graphic 303" descr="Normal Distribution with solid fill">
                <a:extLst>
                  <a:ext uri="{FF2B5EF4-FFF2-40B4-BE49-F238E27FC236}">
                    <a16:creationId xmlns:a16="http://schemas.microsoft.com/office/drawing/2014/main" id="{75B7C1E6-DC55-49E1-3BAC-BF6083B50E0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5646" y="2953360"/>
                <a:ext cx="378536" cy="378536"/>
              </a:xfrm>
              <a:prstGeom prst="rect">
                <a:avLst/>
              </a:prstGeom>
            </p:spPr>
          </p:pic>
        </p:grpSp>
        <p:sp>
          <p:nvSpPr>
            <p:cNvPr id="261" name="TextBox 260">
              <a:extLst>
                <a:ext uri="{FF2B5EF4-FFF2-40B4-BE49-F238E27FC236}">
                  <a16:creationId xmlns:a16="http://schemas.microsoft.com/office/drawing/2014/main" id="{BF82BD21-E3E8-530E-0589-A896828FB562}"/>
                </a:ext>
              </a:extLst>
            </p:cNvPr>
            <p:cNvSpPr txBox="1"/>
            <p:nvPr/>
          </p:nvSpPr>
          <p:spPr>
            <a:xfrm>
              <a:off x="2796760" y="4212155"/>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Weight</a:t>
              </a:r>
            </a:p>
            <a:p>
              <a:pPr algn="ctr"/>
              <a:r>
                <a:rPr lang="en-US" sz="1000" b="1" dirty="0">
                  <a:latin typeface="Arial" panose="020B0604020202020204" pitchFamily="34" charset="0"/>
                  <a:cs typeface="Arial" panose="020B0604020202020204" pitchFamily="34" charset="0"/>
                </a:rPr>
                <a:t>Matrix</a:t>
              </a:r>
            </a:p>
          </p:txBody>
        </p:sp>
        <p:sp>
          <p:nvSpPr>
            <p:cNvPr id="262" name="TextBox 261">
              <a:extLst>
                <a:ext uri="{FF2B5EF4-FFF2-40B4-BE49-F238E27FC236}">
                  <a16:creationId xmlns:a16="http://schemas.microsoft.com/office/drawing/2014/main" id="{588CD75D-93EA-BE1F-410A-283CCEE4A26F}"/>
                </a:ext>
              </a:extLst>
            </p:cNvPr>
            <p:cNvSpPr txBox="1"/>
            <p:nvPr/>
          </p:nvSpPr>
          <p:spPr>
            <a:xfrm>
              <a:off x="3761985" y="4213673"/>
              <a:ext cx="83312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Activation</a:t>
              </a:r>
            </a:p>
            <a:p>
              <a:pPr algn="ctr"/>
              <a:r>
                <a:rPr lang="en-US" sz="1000" b="1" dirty="0">
                  <a:latin typeface="Arial" panose="020B0604020202020204" pitchFamily="34" charset="0"/>
                  <a:cs typeface="Arial" panose="020B0604020202020204" pitchFamily="34" charset="0"/>
                </a:rPr>
                <a:t>Function</a:t>
              </a:r>
            </a:p>
          </p:txBody>
        </p:sp>
        <p:grpSp>
          <p:nvGrpSpPr>
            <p:cNvPr id="263" name="Group 262">
              <a:extLst>
                <a:ext uri="{FF2B5EF4-FFF2-40B4-BE49-F238E27FC236}">
                  <a16:creationId xmlns:a16="http://schemas.microsoft.com/office/drawing/2014/main" id="{D4B22E8E-1D52-EDD7-3B1B-45331B762390}"/>
                </a:ext>
              </a:extLst>
            </p:cNvPr>
            <p:cNvGrpSpPr/>
            <p:nvPr/>
          </p:nvGrpSpPr>
          <p:grpSpPr>
            <a:xfrm>
              <a:off x="2892441" y="3129172"/>
              <a:ext cx="642606" cy="1087393"/>
              <a:chOff x="989012" y="2774253"/>
              <a:chExt cx="642606" cy="1087393"/>
            </a:xfrm>
          </p:grpSpPr>
          <p:grpSp>
            <p:nvGrpSpPr>
              <p:cNvPr id="264" name="Group 263">
                <a:extLst>
                  <a:ext uri="{FF2B5EF4-FFF2-40B4-BE49-F238E27FC236}">
                    <a16:creationId xmlns:a16="http://schemas.microsoft.com/office/drawing/2014/main" id="{248BE2F9-B4CC-8006-2BCE-286CD0228613}"/>
                  </a:ext>
                </a:extLst>
              </p:cNvPr>
              <p:cNvGrpSpPr/>
              <p:nvPr/>
            </p:nvGrpSpPr>
            <p:grpSpPr>
              <a:xfrm>
                <a:off x="989012" y="2774253"/>
                <a:ext cx="642606" cy="363242"/>
                <a:chOff x="760130" y="3429000"/>
                <a:chExt cx="642606" cy="363242"/>
              </a:xfrm>
            </p:grpSpPr>
            <p:grpSp>
              <p:nvGrpSpPr>
                <p:cNvPr id="291" name="Group 290">
                  <a:extLst>
                    <a:ext uri="{FF2B5EF4-FFF2-40B4-BE49-F238E27FC236}">
                      <a16:creationId xmlns:a16="http://schemas.microsoft.com/office/drawing/2014/main" id="{E432772B-5328-0797-A0B2-09AEF0951B17}"/>
                    </a:ext>
                  </a:extLst>
                </p:cNvPr>
                <p:cNvGrpSpPr/>
                <p:nvPr/>
              </p:nvGrpSpPr>
              <p:grpSpPr>
                <a:xfrm>
                  <a:off x="760412" y="3429000"/>
                  <a:ext cx="642324" cy="181072"/>
                  <a:chOff x="760412" y="3429000"/>
                  <a:chExt cx="642324" cy="181072"/>
                </a:xfrm>
              </p:grpSpPr>
              <p:sp>
                <p:nvSpPr>
                  <p:cNvPr id="298" name="Rectangle 297">
                    <a:extLst>
                      <a:ext uri="{FF2B5EF4-FFF2-40B4-BE49-F238E27FC236}">
                        <a16:creationId xmlns:a16="http://schemas.microsoft.com/office/drawing/2014/main" id="{23D799E1-AC09-00D9-C201-0666F4220AF5}"/>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BC706A24-7485-A1F1-2298-73C0751AB1F0}"/>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11D1E28F-5DBF-4674-C853-B21D8757A144}"/>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E0FDF097-3C2A-04A1-1A77-704DBEF7101A}"/>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0C6128B8-008A-BC75-B2F9-7F47141B680D}"/>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2" name="Group 291">
                  <a:extLst>
                    <a:ext uri="{FF2B5EF4-FFF2-40B4-BE49-F238E27FC236}">
                      <a16:creationId xmlns:a16="http://schemas.microsoft.com/office/drawing/2014/main" id="{4CF4D1BC-BD8C-1C06-7EF0-C34F5C18B0AC}"/>
                    </a:ext>
                  </a:extLst>
                </p:cNvPr>
                <p:cNvGrpSpPr/>
                <p:nvPr/>
              </p:nvGrpSpPr>
              <p:grpSpPr>
                <a:xfrm>
                  <a:off x="760130" y="3611170"/>
                  <a:ext cx="642324" cy="181072"/>
                  <a:chOff x="760412" y="3429000"/>
                  <a:chExt cx="642324" cy="181072"/>
                </a:xfrm>
              </p:grpSpPr>
              <p:sp>
                <p:nvSpPr>
                  <p:cNvPr id="293" name="Rectangle 292">
                    <a:extLst>
                      <a:ext uri="{FF2B5EF4-FFF2-40B4-BE49-F238E27FC236}">
                        <a16:creationId xmlns:a16="http://schemas.microsoft.com/office/drawing/2014/main" id="{D4C68C83-3019-77B2-33B5-3731BD8E8789}"/>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AF9839CB-1752-2C74-E756-9EFC27948BA0}"/>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2C0C3A2A-AEE4-F7A2-650B-DE41531B47E3}"/>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E609A4EA-D1FE-600F-8C3A-10431D43C419}"/>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5AC03334-8F1C-6219-323E-B1F3C7EE2EEF}"/>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65" name="Group 264">
                <a:extLst>
                  <a:ext uri="{FF2B5EF4-FFF2-40B4-BE49-F238E27FC236}">
                    <a16:creationId xmlns:a16="http://schemas.microsoft.com/office/drawing/2014/main" id="{5F9416C9-B4E3-E227-A8F0-007854F9EAEE}"/>
                  </a:ext>
                </a:extLst>
              </p:cNvPr>
              <p:cNvGrpSpPr/>
              <p:nvPr/>
            </p:nvGrpSpPr>
            <p:grpSpPr>
              <a:xfrm>
                <a:off x="989012" y="3138474"/>
                <a:ext cx="642606" cy="363242"/>
                <a:chOff x="760130" y="3429000"/>
                <a:chExt cx="642606" cy="363242"/>
              </a:xfrm>
            </p:grpSpPr>
            <p:grpSp>
              <p:nvGrpSpPr>
                <p:cNvPr id="279" name="Group 278">
                  <a:extLst>
                    <a:ext uri="{FF2B5EF4-FFF2-40B4-BE49-F238E27FC236}">
                      <a16:creationId xmlns:a16="http://schemas.microsoft.com/office/drawing/2014/main" id="{707E2140-6882-33A1-E568-C210B04811F3}"/>
                    </a:ext>
                  </a:extLst>
                </p:cNvPr>
                <p:cNvGrpSpPr/>
                <p:nvPr/>
              </p:nvGrpSpPr>
              <p:grpSpPr>
                <a:xfrm>
                  <a:off x="760412" y="3429000"/>
                  <a:ext cx="642324" cy="181072"/>
                  <a:chOff x="760412" y="3429000"/>
                  <a:chExt cx="642324" cy="181072"/>
                </a:xfrm>
              </p:grpSpPr>
              <p:sp>
                <p:nvSpPr>
                  <p:cNvPr id="286" name="Rectangle 285">
                    <a:extLst>
                      <a:ext uri="{FF2B5EF4-FFF2-40B4-BE49-F238E27FC236}">
                        <a16:creationId xmlns:a16="http://schemas.microsoft.com/office/drawing/2014/main" id="{04AC52E5-7ED1-7033-4E2E-97EF788474BB}"/>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3F4507DC-365B-4EB7-38F6-858587228A71}"/>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98DC3177-43CA-92C1-EFC4-3862BDE65F5C}"/>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F0A5BB3E-E6C0-4C32-FBCC-928BE6199872}"/>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21B36C11-FFCA-4C53-397E-06A70350066D}"/>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0" name="Group 279">
                  <a:extLst>
                    <a:ext uri="{FF2B5EF4-FFF2-40B4-BE49-F238E27FC236}">
                      <a16:creationId xmlns:a16="http://schemas.microsoft.com/office/drawing/2014/main" id="{A28BF558-FB4A-2E73-3905-B52B25F130C9}"/>
                    </a:ext>
                  </a:extLst>
                </p:cNvPr>
                <p:cNvGrpSpPr/>
                <p:nvPr/>
              </p:nvGrpSpPr>
              <p:grpSpPr>
                <a:xfrm>
                  <a:off x="760130" y="3611170"/>
                  <a:ext cx="642324" cy="181072"/>
                  <a:chOff x="760412" y="3429000"/>
                  <a:chExt cx="642324" cy="181072"/>
                </a:xfrm>
              </p:grpSpPr>
              <p:sp>
                <p:nvSpPr>
                  <p:cNvPr id="281" name="Rectangle 280">
                    <a:extLst>
                      <a:ext uri="{FF2B5EF4-FFF2-40B4-BE49-F238E27FC236}">
                        <a16:creationId xmlns:a16="http://schemas.microsoft.com/office/drawing/2014/main" id="{C968C16B-7ED6-7FBD-5C6B-03770A6FCA98}"/>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178236FD-C120-6905-5D25-42762DFEECB8}"/>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C2430247-DC3F-07A6-ED3A-EFEAA776083F}"/>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A2B53B0B-563A-9ECF-19B3-8ABF2DD32B1A}"/>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552DC122-FAC2-F404-A0C4-A7CFAA6E2739}"/>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66" name="Group 265">
                <a:extLst>
                  <a:ext uri="{FF2B5EF4-FFF2-40B4-BE49-F238E27FC236}">
                    <a16:creationId xmlns:a16="http://schemas.microsoft.com/office/drawing/2014/main" id="{BDE0BDAC-3D4C-4B5D-361A-8FB4ED8EEF5F}"/>
                  </a:ext>
                </a:extLst>
              </p:cNvPr>
              <p:cNvGrpSpPr/>
              <p:nvPr/>
            </p:nvGrpSpPr>
            <p:grpSpPr>
              <a:xfrm>
                <a:off x="989012" y="3498404"/>
                <a:ext cx="642606" cy="363242"/>
                <a:chOff x="760130" y="3429000"/>
                <a:chExt cx="642606" cy="363242"/>
              </a:xfrm>
            </p:grpSpPr>
            <p:grpSp>
              <p:nvGrpSpPr>
                <p:cNvPr id="267" name="Group 266">
                  <a:extLst>
                    <a:ext uri="{FF2B5EF4-FFF2-40B4-BE49-F238E27FC236}">
                      <a16:creationId xmlns:a16="http://schemas.microsoft.com/office/drawing/2014/main" id="{A2435FD0-5FBA-EAC8-99A0-3E52D96326BE}"/>
                    </a:ext>
                  </a:extLst>
                </p:cNvPr>
                <p:cNvGrpSpPr/>
                <p:nvPr/>
              </p:nvGrpSpPr>
              <p:grpSpPr>
                <a:xfrm>
                  <a:off x="760412" y="3429000"/>
                  <a:ext cx="642324" cy="181072"/>
                  <a:chOff x="760412" y="3429000"/>
                  <a:chExt cx="642324" cy="181072"/>
                </a:xfrm>
              </p:grpSpPr>
              <p:sp>
                <p:nvSpPr>
                  <p:cNvPr id="274" name="Rectangle 273">
                    <a:extLst>
                      <a:ext uri="{FF2B5EF4-FFF2-40B4-BE49-F238E27FC236}">
                        <a16:creationId xmlns:a16="http://schemas.microsoft.com/office/drawing/2014/main" id="{00EBA9ED-A60E-528E-73A4-C527B9E1A76B}"/>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CE01B0C3-9856-1AA2-96BC-8BE1DE7FAB29}"/>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56790761-77E7-B977-7AA1-AF9EC4ABEDC1}"/>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CD91A032-5F58-DFCD-A9E0-D22FF6ACFA0E}"/>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51C9A498-BC7A-B1CD-DC9D-4FF39C57AA43}"/>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 name="Group 267">
                  <a:extLst>
                    <a:ext uri="{FF2B5EF4-FFF2-40B4-BE49-F238E27FC236}">
                      <a16:creationId xmlns:a16="http://schemas.microsoft.com/office/drawing/2014/main" id="{EA21BAAA-E7A3-3DCB-EB64-2FBE959B458A}"/>
                    </a:ext>
                  </a:extLst>
                </p:cNvPr>
                <p:cNvGrpSpPr/>
                <p:nvPr/>
              </p:nvGrpSpPr>
              <p:grpSpPr>
                <a:xfrm>
                  <a:off x="760130" y="3611170"/>
                  <a:ext cx="642324" cy="181072"/>
                  <a:chOff x="760412" y="3429000"/>
                  <a:chExt cx="642324" cy="181072"/>
                </a:xfrm>
              </p:grpSpPr>
              <p:sp>
                <p:nvSpPr>
                  <p:cNvPr id="269" name="Rectangle 268">
                    <a:extLst>
                      <a:ext uri="{FF2B5EF4-FFF2-40B4-BE49-F238E27FC236}">
                        <a16:creationId xmlns:a16="http://schemas.microsoft.com/office/drawing/2014/main" id="{87A3FAF8-FCAA-51AA-53E1-B940FDC78909}"/>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A5B8D81B-2E98-A74C-D702-32CF5BE771A7}"/>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2FAC62BA-0B4E-827E-FB63-2C83C0524788}"/>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6F0D1DF3-55DC-59AD-E096-CE70308DF71F}"/>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9E7C08FB-0135-1167-E847-24A7C76CF4C5}"/>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sp>
        <p:nvSpPr>
          <p:cNvPr id="3" name="Rectangle 2">
            <a:extLst>
              <a:ext uri="{FF2B5EF4-FFF2-40B4-BE49-F238E27FC236}">
                <a16:creationId xmlns:a16="http://schemas.microsoft.com/office/drawing/2014/main" id="{B8DE219F-39C4-A434-725C-CAE8E3F767CB}"/>
              </a:ext>
            </a:extLst>
          </p:cNvPr>
          <p:cNvSpPr/>
          <p:nvPr/>
        </p:nvSpPr>
        <p:spPr>
          <a:xfrm>
            <a:off x="5413908" y="2667000"/>
            <a:ext cx="6386408" cy="3505200"/>
          </a:xfrm>
          <a:prstGeom prst="rect">
            <a:avLst/>
          </a:prstGeom>
          <a:solidFill>
            <a:srgbClr val="FFFFFF">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BE3F6FA-E088-4169-6CF5-07E49BC13831}"/>
              </a:ext>
            </a:extLst>
          </p:cNvPr>
          <p:cNvSpPr/>
          <p:nvPr/>
        </p:nvSpPr>
        <p:spPr>
          <a:xfrm>
            <a:off x="1229774" y="2590800"/>
            <a:ext cx="2751765" cy="3505200"/>
          </a:xfrm>
          <a:prstGeom prst="rect">
            <a:avLst/>
          </a:prstGeom>
          <a:solidFill>
            <a:srgbClr val="FFFFFF">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6C297AC-A274-9F8E-3562-90CB517FC2B9}"/>
              </a:ext>
            </a:extLst>
          </p:cNvPr>
          <p:cNvSpPr/>
          <p:nvPr/>
        </p:nvSpPr>
        <p:spPr>
          <a:xfrm>
            <a:off x="3905140" y="4621430"/>
            <a:ext cx="1508767" cy="1824067"/>
          </a:xfrm>
          <a:prstGeom prst="rect">
            <a:avLst/>
          </a:prstGeom>
          <a:solidFill>
            <a:srgbClr val="FFFFFF">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1C75E0A-1FDC-3069-7664-42CAADCD03EB}"/>
              </a:ext>
            </a:extLst>
          </p:cNvPr>
          <p:cNvSpPr/>
          <p:nvPr/>
        </p:nvSpPr>
        <p:spPr>
          <a:xfrm>
            <a:off x="4174007" y="2916756"/>
            <a:ext cx="1163502" cy="1731445"/>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allout: Left Arrow 21">
            <a:extLst>
              <a:ext uri="{FF2B5EF4-FFF2-40B4-BE49-F238E27FC236}">
                <a16:creationId xmlns:a16="http://schemas.microsoft.com/office/drawing/2014/main" id="{80917E2F-4EFE-6116-5D81-A2A4C608A9C2}"/>
              </a:ext>
            </a:extLst>
          </p:cNvPr>
          <p:cNvSpPr/>
          <p:nvPr/>
        </p:nvSpPr>
        <p:spPr>
          <a:xfrm>
            <a:off x="5401754" y="3169726"/>
            <a:ext cx="5257800" cy="1372109"/>
          </a:xfrm>
          <a:prstGeom prst="leftArrowCallout">
            <a:avLst>
              <a:gd name="adj1" fmla="val 25000"/>
              <a:gd name="adj2" fmla="val 25000"/>
              <a:gd name="adj3" fmla="val 25000"/>
              <a:gd name="adj4" fmla="val 8990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If we are to generalize, each one of these bocks is just a function that receives an input (e.g. a vector of scalars) and returns an output that will further be feed into the next function.</a:t>
            </a:r>
          </a:p>
        </p:txBody>
      </p:sp>
      <mc:AlternateContent xmlns:mc="http://schemas.openxmlformats.org/markup-compatibility/2006" xmlns:a14="http://schemas.microsoft.com/office/drawing/2010/main">
        <mc:Choice Requires="a14">
          <p:sp>
            <p:nvSpPr>
              <p:cNvPr id="23" name="Callout: Up Arrow 22">
                <a:extLst>
                  <a:ext uri="{FF2B5EF4-FFF2-40B4-BE49-F238E27FC236}">
                    <a16:creationId xmlns:a16="http://schemas.microsoft.com/office/drawing/2014/main" id="{4AE89CD2-D08A-9A2E-7F62-F1847F8B9CCB}"/>
                  </a:ext>
                </a:extLst>
              </p:cNvPr>
              <p:cNvSpPr/>
              <p:nvPr/>
            </p:nvSpPr>
            <p:spPr>
              <a:xfrm>
                <a:off x="3135138" y="4747206"/>
                <a:ext cx="3321227" cy="1962684"/>
              </a:xfrm>
              <a:prstGeom prst="upArrowCallout">
                <a:avLst>
                  <a:gd name="adj1" fmla="val 8306"/>
                  <a:gd name="adj2" fmla="val 13353"/>
                  <a:gd name="adj3" fmla="val 9082"/>
                  <a:gd name="adj4" fmla="val 8264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This means that generically, we can define these building blocks as follows:</a:t>
                </a:r>
              </a:p>
              <a:p>
                <a:pPr algn="ctr"/>
                <a:endParaRPr lang="en-US" dirty="0"/>
              </a:p>
              <a:p>
                <a:pPr algn="ctr"/>
                <a14:m>
                  <m:oMath xmlns:m="http://schemas.openxmlformats.org/officeDocument/2006/math">
                    <m:r>
                      <a:rPr lang="en-US" b="1" i="1" smtClean="0">
                        <a:solidFill>
                          <a:srgbClr val="FFC000"/>
                        </a:solidFill>
                        <a:latin typeface="Cambria Math" panose="02040503050406030204" pitchFamily="18" charset="0"/>
                      </a:rPr>
                      <m:t>𝒇</m:t>
                    </m:r>
                    <m:d>
                      <m:dPr>
                        <m:ctrlPr>
                          <a:rPr lang="en-US" b="1" i="1" smtClean="0">
                            <a:solidFill>
                              <a:srgbClr val="FFC000"/>
                            </a:solidFill>
                            <a:latin typeface="Cambria Math" panose="02040503050406030204" pitchFamily="18" charset="0"/>
                          </a:rPr>
                        </m:ctrlPr>
                      </m:dPr>
                      <m:e>
                        <m:r>
                          <a:rPr lang="en-US" b="1" i="1" smtClean="0">
                            <a:solidFill>
                              <a:srgbClr val="FFC000"/>
                            </a:solidFill>
                            <a:latin typeface="Cambria Math" panose="02040503050406030204" pitchFamily="18" charset="0"/>
                          </a:rPr>
                          <m:t>𝒕𝒆𝒏𝒔𝒐𝒓</m:t>
                        </m:r>
                      </m:e>
                    </m:d>
                    <m:r>
                      <a:rPr lang="en-US" b="1" i="1" smtClean="0">
                        <a:solidFill>
                          <a:srgbClr val="FFC000"/>
                        </a:solidFill>
                        <a:latin typeface="Cambria Math" panose="02040503050406030204" pitchFamily="18" charset="0"/>
                      </a:rPr>
                      <m:t>=</m:t>
                    </m:r>
                    <m:r>
                      <a:rPr lang="en-US" b="1" i="1" smtClean="0">
                        <a:solidFill>
                          <a:srgbClr val="FFC000"/>
                        </a:solidFill>
                        <a:latin typeface="Cambria Math" panose="02040503050406030204" pitchFamily="18" charset="0"/>
                      </a:rPr>
                      <m:t>𝒕𝒆𝒏𝒔𝒐𝒓</m:t>
                    </m:r>
                  </m:oMath>
                </a14:m>
                <a:r>
                  <a:rPr lang="en-US" b="1" dirty="0">
                    <a:solidFill>
                      <a:srgbClr val="FFC000"/>
                    </a:solidFill>
                  </a:rPr>
                  <a:t> </a:t>
                </a:r>
              </a:p>
            </p:txBody>
          </p:sp>
        </mc:Choice>
        <mc:Fallback xmlns="">
          <p:sp>
            <p:nvSpPr>
              <p:cNvPr id="23" name="Callout: Up Arrow 22">
                <a:extLst>
                  <a:ext uri="{FF2B5EF4-FFF2-40B4-BE49-F238E27FC236}">
                    <a16:creationId xmlns:a16="http://schemas.microsoft.com/office/drawing/2014/main" id="{4AE89CD2-D08A-9A2E-7F62-F1847F8B9CCB}"/>
                  </a:ext>
                </a:extLst>
              </p:cNvPr>
              <p:cNvSpPr>
                <a:spLocks noRot="1" noChangeAspect="1" noMove="1" noResize="1" noEditPoints="1" noAdjustHandles="1" noChangeArrowheads="1" noChangeShapeType="1" noTextEdit="1"/>
              </p:cNvSpPr>
              <p:nvPr/>
            </p:nvSpPr>
            <p:spPr>
              <a:xfrm>
                <a:off x="3135138" y="4747206"/>
                <a:ext cx="3321227" cy="1962684"/>
              </a:xfrm>
              <a:prstGeom prst="upArrowCallout">
                <a:avLst>
                  <a:gd name="adj1" fmla="val 8306"/>
                  <a:gd name="adj2" fmla="val 13353"/>
                  <a:gd name="adj3" fmla="val 9082"/>
                  <a:gd name="adj4" fmla="val 82642"/>
                </a:avLst>
              </a:prstGeom>
              <a:blipFill>
                <a:blip r:embed="rId6"/>
                <a:stretch>
                  <a:fillRect r="-1463"/>
                </a:stretch>
              </a:blipFill>
            </p:spPr>
            <p:txBody>
              <a:bodyPr/>
              <a:lstStyle/>
              <a:p>
                <a:r>
                  <a:rPr lang="en-US">
                    <a:noFill/>
                  </a:rPr>
                  <a:t> </a:t>
                </a:r>
              </a:p>
            </p:txBody>
          </p:sp>
        </mc:Fallback>
      </mc:AlternateContent>
    </p:spTree>
    <p:extLst>
      <p:ext uri="{BB962C8B-B14F-4D97-AF65-F5344CB8AC3E}">
        <p14:creationId xmlns:p14="http://schemas.microsoft.com/office/powerpoint/2010/main" val="3519665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Layers</a:t>
            </a:r>
          </a:p>
        </p:txBody>
      </p:sp>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181600"/>
              </a:xfrm>
            </p:spPr>
            <p:txBody>
              <a:bodyPr>
                <a:normAutofit lnSpcReduction="10000"/>
              </a:bodyPr>
              <a:lstStyle/>
              <a:p>
                <a:r>
                  <a:rPr lang="en-US" dirty="0"/>
                  <a:t>PyTorch has multiple such functions defined (that receive a tensor and return another one: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𝑡𝑒𝑛𝑠𝑜𝑟</m:t>
                        </m:r>
                      </m:e>
                    </m:d>
                    <m:r>
                      <a:rPr lang="en-US" b="0" i="1" smtClean="0">
                        <a:latin typeface="Cambria Math" panose="02040503050406030204" pitchFamily="18" charset="0"/>
                      </a:rPr>
                      <m:t>=</m:t>
                    </m:r>
                    <m:r>
                      <a:rPr lang="en-US" b="0" i="1" smtClean="0">
                        <a:latin typeface="Cambria Math" panose="02040503050406030204" pitchFamily="18" charset="0"/>
                      </a:rPr>
                      <m:t>𝑡𝑒𝑛𝑠𝑜𝑟</m:t>
                    </m:r>
                  </m:oMath>
                </a14:m>
                <a:endParaRPr lang="en-US" dirty="0"/>
              </a:p>
              <a:p>
                <a:r>
                  <a:rPr lang="en-US" dirty="0"/>
                  <a:t>These functions are referred to by </a:t>
                </a:r>
                <a:r>
                  <a:rPr lang="en-US" dirty="0" err="1"/>
                  <a:t>PyTorch</a:t>
                </a:r>
                <a:r>
                  <a:rPr lang="en-US" dirty="0"/>
                  <a:t> as </a:t>
                </a:r>
                <a:r>
                  <a:rPr lang="en-US" b="1" dirty="0"/>
                  <a:t>layers</a:t>
                </a:r>
                <a:r>
                  <a:rPr lang="en-US" dirty="0"/>
                  <a:t> and can be grouped in the following categories:</a:t>
                </a:r>
              </a:p>
              <a:p>
                <a:pPr lvl="1"/>
                <a:r>
                  <a:rPr lang="en-US" dirty="0"/>
                  <a:t>Containers</a:t>
                </a:r>
              </a:p>
              <a:p>
                <a:pPr lvl="1"/>
                <a:r>
                  <a:rPr lang="en-US" dirty="0"/>
                  <a:t>Non-linear activations</a:t>
                </a:r>
              </a:p>
              <a:p>
                <a:pPr lvl="1"/>
                <a:r>
                  <a:rPr lang="en-US" dirty="0"/>
                  <a:t>Linear layers</a:t>
                </a:r>
              </a:p>
              <a:p>
                <a:pPr lvl="1"/>
                <a:r>
                  <a:rPr lang="en-US" dirty="0"/>
                  <a:t>Sparse layers</a:t>
                </a:r>
              </a:p>
              <a:p>
                <a:pPr lvl="1"/>
                <a:r>
                  <a:rPr lang="en-US" dirty="0"/>
                  <a:t>Shuffle layers</a:t>
                </a:r>
              </a:p>
              <a:p>
                <a:pPr lvl="1"/>
                <a:r>
                  <a:rPr lang="en-US" dirty="0"/>
                  <a:t>Normalization layers</a:t>
                </a:r>
              </a:p>
              <a:p>
                <a:pPr lvl="1"/>
                <a:r>
                  <a:rPr lang="en-US" dirty="0"/>
                  <a:t>…</a:t>
                </a:r>
              </a:p>
              <a:p>
                <a:r>
                  <a:rPr lang="en-US" dirty="0"/>
                  <a:t>There are more than 100+ such layers defined in the latest version of </a:t>
                </a:r>
                <a:r>
                  <a:rPr lang="en-US" dirty="0" err="1"/>
                  <a:t>PyTorch</a:t>
                </a:r>
                <a:r>
                  <a:rPr lang="en-US" dirty="0"/>
                  <a:t>.</a:t>
                </a:r>
              </a:p>
              <a:p>
                <a:pPr marL="365760" lvl="1" indent="0">
                  <a:buNone/>
                </a:pPr>
                <a:endParaRPr lang="en-US" dirty="0"/>
              </a:p>
            </p:txBody>
          </p:sp>
        </mc:Choice>
        <mc:Fallback>
          <p:sp>
            <p:nvSpPr>
              <p:cNvPr id="2" name="Content Placeholder 1">
                <a:extLst>
                  <a:ext uri="{FF2B5EF4-FFF2-40B4-BE49-F238E27FC236}">
                    <a16:creationId xmlns:a16="http://schemas.microsoft.com/office/drawing/2014/main" id="{52727B5D-7A91-2533-EA3E-736CE4025086}"/>
                  </a:ext>
                </a:extLst>
              </p:cNvPr>
              <p:cNvSpPr>
                <a:spLocks noGrp="1" noRot="1" noChangeAspect="1" noMove="1" noResize="1" noEditPoints="1" noAdjustHandles="1" noChangeArrowheads="1" noChangeShapeType="1" noTextEdit="1"/>
              </p:cNvSpPr>
              <p:nvPr>
                <p:ph idx="1"/>
              </p:nvPr>
            </p:nvSpPr>
            <p:spPr>
              <a:xfrm>
                <a:off x="1593436" y="1600200"/>
                <a:ext cx="9782801" cy="5181600"/>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83724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Layers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181600"/>
          </a:xfrm>
        </p:spPr>
        <p:txBody>
          <a:bodyPr>
            <a:normAutofit/>
          </a:bodyPr>
          <a:lstStyle/>
          <a:p>
            <a:r>
              <a:rPr lang="en-US" dirty="0"/>
              <a:t>Let’s see some examples of most common activation functions:</a:t>
            </a:r>
          </a:p>
          <a:p>
            <a:pPr lvl="1"/>
            <a:r>
              <a:rPr lang="en-US" dirty="0" err="1"/>
              <a:t>softmax</a:t>
            </a:r>
            <a:r>
              <a:rPr lang="en-US" dirty="0"/>
              <a:t> (</a:t>
            </a:r>
            <a:r>
              <a:rPr lang="en-US" dirty="0" err="1"/>
              <a:t>torch.nn.Softmax</a:t>
            </a:r>
            <a:r>
              <a:rPr lang="en-US" dirty="0"/>
              <a:t>)</a:t>
            </a:r>
          </a:p>
          <a:p>
            <a:pPr lvl="1"/>
            <a:r>
              <a:rPr lang="en-US" dirty="0" err="1"/>
              <a:t>ReLU</a:t>
            </a:r>
            <a:r>
              <a:rPr lang="en-US" dirty="0"/>
              <a:t> (</a:t>
            </a:r>
            <a:r>
              <a:rPr lang="en-US" dirty="0" err="1"/>
              <a:t>torch.nn.RelU</a:t>
            </a:r>
            <a:r>
              <a:rPr lang="en-US" dirty="0"/>
              <a:t>)</a:t>
            </a:r>
          </a:p>
          <a:p>
            <a:pPr lvl="1"/>
            <a:r>
              <a:rPr lang="en-US" dirty="0"/>
              <a:t>Sigmoid (</a:t>
            </a:r>
            <a:r>
              <a:rPr lang="en-US" dirty="0" err="1"/>
              <a:t>torch.nn.Sigmoid</a:t>
            </a:r>
            <a:r>
              <a:rPr lang="en-US" dirty="0"/>
              <a:t>)</a:t>
            </a:r>
          </a:p>
          <a:p>
            <a:pPr lvl="1"/>
            <a:r>
              <a:rPr lang="en-US" dirty="0"/>
              <a:t>Tanh (</a:t>
            </a:r>
            <a:r>
              <a:rPr lang="en-US" dirty="0" err="1"/>
              <a:t>torch.nn.Tanh</a:t>
            </a:r>
            <a:r>
              <a:rPr lang="en-US" dirty="0"/>
              <a:t>)</a:t>
            </a:r>
          </a:p>
          <a:p>
            <a:pPr lvl="1"/>
            <a:r>
              <a:rPr lang="en-US" dirty="0"/>
              <a:t>Threshold (</a:t>
            </a:r>
            <a:r>
              <a:rPr lang="en-US" dirty="0" err="1"/>
              <a:t>torch.nn.Threshold</a:t>
            </a:r>
            <a:r>
              <a:rPr lang="en-US" dirty="0"/>
              <a:t>)</a:t>
            </a:r>
          </a:p>
          <a:p>
            <a:pPr lvl="1"/>
            <a:endParaRPr lang="en-US" dirty="0"/>
          </a:p>
          <a:p>
            <a:pPr marL="365760" lvl="1" indent="0">
              <a:buNone/>
            </a:pPr>
            <a:endParaRPr lang="en-US" dirty="0"/>
          </a:p>
        </p:txBody>
      </p:sp>
    </p:spTree>
    <p:extLst>
      <p:ext uri="{BB962C8B-B14F-4D97-AF65-F5344CB8AC3E}">
        <p14:creationId xmlns:p14="http://schemas.microsoft.com/office/powerpoint/2010/main" val="35824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Layers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Let’s see some examples on how activation functions can be used.</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2438400"/>
            <a:ext cx="9144000" cy="3657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tensor</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E0EBB2"/>
                </a:solidFill>
                <a:effectLst/>
                <a:latin typeface="Consolas" panose="020B0609020204030204" pitchFamily="49" charset="0"/>
              </a:rPr>
              <a:t>0</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err="1">
                <a:solidFill>
                  <a:srgbClr val="9A9A9A"/>
                </a:solidFill>
                <a:effectLst/>
                <a:latin typeface="Consolas" panose="020B0609020204030204" pitchFamily="49" charset="0"/>
              </a:rPr>
              <a:t>dtype</a:t>
            </a:r>
            <a:r>
              <a:rPr lang="en-US" b="0" dirty="0">
                <a:solidFill>
                  <a:srgbClr val="C0C0C0"/>
                </a:solidFill>
                <a:effectLst/>
                <a:latin typeface="Consolas" panose="020B0609020204030204" pitchFamily="49" charset="0"/>
              </a:rPr>
              <a:t>=</a:t>
            </a:r>
            <a:r>
              <a:rPr lang="en-US" b="0" dirty="0">
                <a:solidFill>
                  <a:srgbClr val="5DA963"/>
                </a:solidFill>
                <a:effectLst/>
                <a:latin typeface="Consolas" panose="020B0609020204030204" pitchFamily="49" charset="0"/>
              </a:rPr>
              <a:t>float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err="1">
                <a:solidFill>
                  <a:srgbClr val="229977"/>
                </a:solidFill>
                <a:effectLst/>
                <a:latin typeface="Consolas" panose="020B0609020204030204" pitchFamily="49" charset="0"/>
              </a:rPr>
              <a:t>softmax</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Softmax</a:t>
            </a:r>
            <a:r>
              <a:rPr lang="en-US" b="0" dirty="0">
                <a:solidFill>
                  <a:srgbClr val="B4B4B4"/>
                </a:solidFill>
                <a:effectLst/>
                <a:latin typeface="Consolas" panose="020B0609020204030204" pitchFamily="49" charset="0"/>
              </a:rPr>
              <a:t>(</a:t>
            </a:r>
            <a:r>
              <a:rPr lang="en-US" b="0" dirty="0">
                <a:solidFill>
                  <a:srgbClr val="9A9A9A"/>
                </a:solidFill>
                <a:effectLst/>
                <a:latin typeface="Consolas" panose="020B0609020204030204" pitchFamily="49" charset="0"/>
              </a:rPr>
              <a:t>dim</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err="1">
                <a:solidFill>
                  <a:srgbClr val="229977"/>
                </a:solidFill>
                <a:effectLst/>
                <a:latin typeface="Consolas" panose="020B0609020204030204" pitchFamily="49" charset="0"/>
              </a:rPr>
              <a:t>relu</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ReLU</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sigmoid</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Sigmoid</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tanh</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Tanh</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Softmax</a:t>
            </a:r>
            <a:r>
              <a:rPr lang="en-US" b="0" dirty="0">
                <a:solidFill>
                  <a:srgbClr val="E68A8A"/>
                </a:solidFill>
                <a:effectLst/>
                <a:latin typeface="Consolas" panose="020B0609020204030204" pitchFamily="49" charset="0"/>
              </a:rPr>
              <a: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softmax</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ReLU</a:t>
            </a:r>
            <a:r>
              <a:rPr lang="en-US" b="0" dirty="0">
                <a:solidFill>
                  <a:srgbClr val="E68A8A"/>
                </a:solidFill>
                <a:effectLst/>
                <a:latin typeface="Consolas" panose="020B0609020204030204" pitchFamily="49" charset="0"/>
              </a:rPr>
              <a: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relu</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Sigmoid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sigmoid</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tanh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tanh</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extLst>
              <p:ext uri="{D42A27DB-BD31-4B8C-83A1-F6EECF244321}">
                <p14:modId xmlns:p14="http://schemas.microsoft.com/office/powerpoint/2010/main" val="3142830473"/>
              </p:ext>
            </p:extLst>
          </p:nvPr>
        </p:nvGraphicFramePr>
        <p:xfrm>
          <a:off x="6718828" y="3534410"/>
          <a:ext cx="5019776" cy="1742440"/>
        </p:xfrm>
        <a:graphic>
          <a:graphicData uri="http://schemas.openxmlformats.org/drawingml/2006/table">
            <a:tbl>
              <a:tblPr firstRow="1" bandRow="1">
                <a:tableStyleId>{073A0DAA-6AF3-43AB-8588-CEC1D06C72B9}</a:tableStyleId>
              </a:tblPr>
              <a:tblGrid>
                <a:gridCol w="5019776">
                  <a:extLst>
                    <a:ext uri="{9D8B030D-6E8A-4147-A177-3AD203B41FA5}">
                      <a16:colId xmlns:a16="http://schemas.microsoft.com/office/drawing/2014/main" val="3899577134"/>
                    </a:ext>
                  </a:extLst>
                </a:gridCol>
              </a:tblGrid>
              <a:tr h="370840">
                <a:tc>
                  <a:txBody>
                    <a:bodyPr/>
                    <a:lstStyle/>
                    <a:p>
                      <a:r>
                        <a:rPr lang="en-US" sz="1600" dirty="0"/>
                        <a:t>Output</a:t>
                      </a:r>
                    </a:p>
                  </a:txBody>
                  <a:tcPr/>
                </a:tc>
                <a:extLst>
                  <a:ext uri="{0D108BD9-81ED-4DB2-BD59-A6C34878D82A}">
                    <a16:rowId xmlns:a16="http://schemas.microsoft.com/office/drawing/2014/main" val="117988312"/>
                  </a:ext>
                </a:extLst>
              </a:tr>
              <a:tr h="370840">
                <a:tc>
                  <a:txBody>
                    <a:bodyPr/>
                    <a:lstStyle/>
                    <a:p>
                      <a:r>
                        <a:rPr lang="en-US" sz="1200" dirty="0" err="1">
                          <a:solidFill>
                            <a:schemeClr val="tx2">
                              <a:lumMod val="95000"/>
                              <a:lumOff val="5000"/>
                            </a:schemeClr>
                          </a:solidFill>
                          <a:latin typeface="Consolas" panose="020B0609020204030204" pitchFamily="49" charset="0"/>
                        </a:rPr>
                        <a:t>Softmax</a:t>
                      </a:r>
                      <a:r>
                        <a:rPr lang="en-US" sz="1200" dirty="0">
                          <a:solidFill>
                            <a:schemeClr val="tx2">
                              <a:lumMod val="95000"/>
                              <a:lumOff val="5000"/>
                            </a:schemeClr>
                          </a:solidFill>
                          <a:latin typeface="Consolas" panose="020B0609020204030204" pitchFamily="49" charset="0"/>
                        </a:rPr>
                        <a:t> =  tensor([0.0321, 0.0871, 0.2369, 0.6439], </a:t>
                      </a:r>
                      <a:r>
                        <a:rPr lang="en-US" sz="1200" dirty="0" err="1">
                          <a:solidFill>
                            <a:schemeClr val="tx2">
                              <a:lumMod val="95000"/>
                              <a:lumOff val="5000"/>
                            </a:schemeClr>
                          </a:solidFill>
                          <a:latin typeface="Consolas" panose="020B0609020204030204" pitchFamily="49" charset="0"/>
                        </a:rPr>
                        <a:t>dtype</a:t>
                      </a:r>
                      <a:r>
                        <a:rPr lang="en-US" sz="1200" dirty="0">
                          <a:solidFill>
                            <a:schemeClr val="tx2">
                              <a:lumMod val="95000"/>
                              <a:lumOff val="5000"/>
                            </a:schemeClr>
                          </a:solidFill>
                          <a:latin typeface="Consolas" panose="020B0609020204030204" pitchFamily="49" charset="0"/>
                        </a:rPr>
                        <a:t>=torch.float64)</a:t>
                      </a:r>
                    </a:p>
                    <a:p>
                      <a:r>
                        <a:rPr lang="en-US" sz="1200" dirty="0" err="1">
                          <a:solidFill>
                            <a:schemeClr val="tx2">
                              <a:lumMod val="95000"/>
                              <a:lumOff val="5000"/>
                            </a:schemeClr>
                          </a:solidFill>
                          <a:latin typeface="Consolas" panose="020B0609020204030204" pitchFamily="49" charset="0"/>
                        </a:rPr>
                        <a:t>ReLU</a:t>
                      </a:r>
                      <a:r>
                        <a:rPr lang="en-US" sz="1200" dirty="0">
                          <a:solidFill>
                            <a:schemeClr val="tx2">
                              <a:lumMod val="95000"/>
                              <a:lumOff val="5000"/>
                            </a:schemeClr>
                          </a:solidFill>
                          <a:latin typeface="Consolas" panose="020B0609020204030204" pitchFamily="49" charset="0"/>
                        </a:rPr>
                        <a:t>    =  tensor([0., 0., 1., 2.], </a:t>
                      </a:r>
                      <a:r>
                        <a:rPr lang="en-US" sz="1200" dirty="0" err="1">
                          <a:solidFill>
                            <a:schemeClr val="tx2">
                              <a:lumMod val="95000"/>
                              <a:lumOff val="5000"/>
                            </a:schemeClr>
                          </a:solidFill>
                          <a:latin typeface="Consolas" panose="020B0609020204030204" pitchFamily="49" charset="0"/>
                        </a:rPr>
                        <a:t>dtype</a:t>
                      </a:r>
                      <a:r>
                        <a:rPr lang="en-US" sz="1200" dirty="0">
                          <a:solidFill>
                            <a:schemeClr val="tx2">
                              <a:lumMod val="95000"/>
                              <a:lumOff val="5000"/>
                            </a:schemeClr>
                          </a:solidFill>
                          <a:latin typeface="Consolas" panose="020B0609020204030204" pitchFamily="49" charset="0"/>
                        </a:rPr>
                        <a:t>=torch.float64)</a:t>
                      </a:r>
                    </a:p>
                    <a:p>
                      <a:r>
                        <a:rPr lang="en-US" sz="1200" dirty="0">
                          <a:solidFill>
                            <a:schemeClr val="tx2">
                              <a:lumMod val="95000"/>
                              <a:lumOff val="5000"/>
                            </a:schemeClr>
                          </a:solidFill>
                          <a:latin typeface="Consolas" panose="020B0609020204030204" pitchFamily="49" charset="0"/>
                        </a:rPr>
                        <a:t>Sigmoid =  tensor([0.2689, 0.5000, 0.7311, 0.8808], </a:t>
                      </a:r>
                      <a:r>
                        <a:rPr lang="en-US" sz="1200" dirty="0" err="1">
                          <a:solidFill>
                            <a:schemeClr val="tx2">
                              <a:lumMod val="95000"/>
                              <a:lumOff val="5000"/>
                            </a:schemeClr>
                          </a:solidFill>
                          <a:latin typeface="Consolas" panose="020B0609020204030204" pitchFamily="49" charset="0"/>
                        </a:rPr>
                        <a:t>dtype</a:t>
                      </a:r>
                      <a:r>
                        <a:rPr lang="en-US" sz="1200" dirty="0">
                          <a:solidFill>
                            <a:schemeClr val="tx2">
                              <a:lumMod val="95000"/>
                              <a:lumOff val="5000"/>
                            </a:schemeClr>
                          </a:solidFill>
                          <a:latin typeface="Consolas" panose="020B0609020204030204" pitchFamily="49" charset="0"/>
                        </a:rPr>
                        <a:t>=torch.float64)</a:t>
                      </a:r>
                    </a:p>
                    <a:p>
                      <a:r>
                        <a:rPr lang="en-US" sz="1200" dirty="0">
                          <a:solidFill>
                            <a:schemeClr val="tx2">
                              <a:lumMod val="95000"/>
                              <a:lumOff val="5000"/>
                            </a:schemeClr>
                          </a:solidFill>
                          <a:latin typeface="Consolas" panose="020B0609020204030204" pitchFamily="49" charset="0"/>
                        </a:rPr>
                        <a:t>tanh    =  tensor([-0.7616,  0.0000,  0.7616,  0.9640], </a:t>
                      </a:r>
                      <a:r>
                        <a:rPr lang="en-US" sz="1200" dirty="0" err="1">
                          <a:solidFill>
                            <a:schemeClr val="tx2">
                              <a:lumMod val="95000"/>
                              <a:lumOff val="5000"/>
                            </a:schemeClr>
                          </a:solidFill>
                          <a:latin typeface="Consolas" panose="020B0609020204030204" pitchFamily="49" charset="0"/>
                        </a:rPr>
                        <a:t>dtype</a:t>
                      </a:r>
                      <a:r>
                        <a:rPr lang="en-US" sz="1200" dirty="0">
                          <a:solidFill>
                            <a:schemeClr val="tx2">
                              <a:lumMod val="95000"/>
                              <a:lumOff val="5000"/>
                            </a:schemeClr>
                          </a:solidFill>
                          <a:latin typeface="Consolas" panose="020B0609020204030204" pitchFamily="49" charset="0"/>
                        </a:rPr>
                        <a:t>=torch.float64)</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506164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Layers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Let’s see some examples on how activation functions can be used.</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2438400"/>
            <a:ext cx="9144000" cy="3657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chemeClr val="tx2">
                    <a:lumMod val="75000"/>
                    <a:lumOff val="25000"/>
                  </a:schemeClr>
                </a:solidFill>
                <a:effectLst/>
                <a:latin typeface="Consolas" panose="020B0609020204030204" pitchFamily="49" charset="0"/>
              </a:rPr>
              <a:t>import torch</a:t>
            </a:r>
          </a:p>
          <a:p>
            <a:br>
              <a:rPr lang="en-US" b="0" dirty="0">
                <a:solidFill>
                  <a:schemeClr val="tx2">
                    <a:lumMod val="75000"/>
                    <a:lumOff val="25000"/>
                  </a:schemeClr>
                </a:solidFill>
                <a:effectLst/>
                <a:latin typeface="Consolas" panose="020B0609020204030204" pitchFamily="49" charset="0"/>
              </a:rPr>
            </a:br>
            <a:r>
              <a:rPr lang="en-US" b="0" dirty="0">
                <a:solidFill>
                  <a:schemeClr val="tx2">
                    <a:lumMod val="75000"/>
                    <a:lumOff val="25000"/>
                  </a:schemeClr>
                </a:solidFill>
                <a:effectLst/>
                <a:latin typeface="Consolas" panose="020B0609020204030204" pitchFamily="49" charset="0"/>
              </a:rPr>
              <a:t>tensor = </a:t>
            </a:r>
            <a:r>
              <a:rPr lang="en-US" b="0" dirty="0" err="1">
                <a:solidFill>
                  <a:schemeClr val="tx2">
                    <a:lumMod val="75000"/>
                    <a:lumOff val="25000"/>
                  </a:schemeClr>
                </a:solidFill>
                <a:effectLst/>
                <a:latin typeface="Consolas" panose="020B0609020204030204" pitchFamily="49" charset="0"/>
              </a:rPr>
              <a:t>torch.tensor</a:t>
            </a:r>
            <a:r>
              <a:rPr lang="en-US" b="0" dirty="0">
                <a:solidFill>
                  <a:schemeClr val="tx2">
                    <a:lumMod val="75000"/>
                    <a:lumOff val="25000"/>
                  </a:schemeClr>
                </a:solidFill>
                <a:effectLst/>
                <a:latin typeface="Consolas" panose="020B0609020204030204" pitchFamily="49" charset="0"/>
              </a:rPr>
              <a:t>([-1, 0, 1, 2],</a:t>
            </a:r>
            <a:r>
              <a:rPr lang="en-US" b="0" dirty="0" err="1">
                <a:solidFill>
                  <a:schemeClr val="tx2">
                    <a:lumMod val="75000"/>
                    <a:lumOff val="25000"/>
                  </a:schemeClr>
                </a:solidFill>
                <a:effectLst/>
                <a:latin typeface="Consolas" panose="020B0609020204030204" pitchFamily="49" charset="0"/>
              </a:rPr>
              <a:t>dtype</a:t>
            </a:r>
            <a:r>
              <a:rPr lang="en-US" b="0" dirty="0">
                <a:solidFill>
                  <a:schemeClr val="tx2">
                    <a:lumMod val="75000"/>
                    <a:lumOff val="25000"/>
                  </a:schemeClr>
                </a:solidFill>
                <a:effectLst/>
                <a:latin typeface="Consolas" panose="020B0609020204030204" pitchFamily="49" charset="0"/>
              </a:rPr>
              <a:t>=float)</a:t>
            </a:r>
          </a:p>
          <a:p>
            <a:br>
              <a:rPr lang="en-US" b="0" dirty="0">
                <a:solidFill>
                  <a:schemeClr val="tx2">
                    <a:lumMod val="75000"/>
                    <a:lumOff val="25000"/>
                  </a:schemeClr>
                </a:solidFill>
                <a:effectLst/>
                <a:latin typeface="Consolas" panose="020B0609020204030204" pitchFamily="49" charset="0"/>
              </a:rPr>
            </a:br>
            <a:r>
              <a:rPr lang="en-US" b="0" dirty="0" err="1">
                <a:solidFill>
                  <a:schemeClr val="tx2">
                    <a:lumMod val="75000"/>
                    <a:lumOff val="25000"/>
                  </a:schemeClr>
                </a:solidFill>
                <a:effectLst/>
                <a:latin typeface="Consolas" panose="020B0609020204030204" pitchFamily="49" charset="0"/>
              </a:rPr>
              <a:t>softmax</a:t>
            </a:r>
            <a:r>
              <a:rPr lang="en-US" b="0" dirty="0">
                <a:solidFill>
                  <a:schemeClr val="tx2">
                    <a:lumMod val="75000"/>
                    <a:lumOff val="25000"/>
                  </a:schemeClr>
                </a:solidFill>
                <a:effectLst/>
                <a:latin typeface="Consolas" panose="020B0609020204030204" pitchFamily="49" charset="0"/>
              </a:rPr>
              <a:t> = </a:t>
            </a:r>
            <a:r>
              <a:rPr lang="en-US" b="0" dirty="0" err="1">
                <a:solidFill>
                  <a:schemeClr val="tx2">
                    <a:lumMod val="75000"/>
                    <a:lumOff val="25000"/>
                  </a:schemeClr>
                </a:solidFill>
                <a:effectLst/>
                <a:latin typeface="Consolas" panose="020B0609020204030204" pitchFamily="49" charset="0"/>
              </a:rPr>
              <a:t>torch.nn.Softmax</a:t>
            </a:r>
            <a:r>
              <a:rPr lang="en-US" b="0" dirty="0">
                <a:solidFill>
                  <a:schemeClr val="tx2">
                    <a:lumMod val="75000"/>
                    <a:lumOff val="25000"/>
                  </a:schemeClr>
                </a:solidFill>
                <a:effectLst/>
                <a:latin typeface="Consolas" panose="020B0609020204030204" pitchFamily="49" charset="0"/>
              </a:rPr>
              <a:t>(dim=0)</a:t>
            </a:r>
          </a:p>
          <a:p>
            <a:r>
              <a:rPr lang="en-US" b="0" dirty="0" err="1">
                <a:solidFill>
                  <a:schemeClr val="tx2">
                    <a:lumMod val="75000"/>
                    <a:lumOff val="25000"/>
                  </a:schemeClr>
                </a:solidFill>
                <a:effectLst/>
                <a:latin typeface="Consolas" panose="020B0609020204030204" pitchFamily="49" charset="0"/>
              </a:rPr>
              <a:t>relu</a:t>
            </a:r>
            <a:r>
              <a:rPr lang="en-US" b="0" dirty="0">
                <a:solidFill>
                  <a:schemeClr val="tx2">
                    <a:lumMod val="75000"/>
                    <a:lumOff val="25000"/>
                  </a:schemeClr>
                </a:solidFill>
                <a:effectLst/>
                <a:latin typeface="Consolas" panose="020B0609020204030204" pitchFamily="49" charset="0"/>
              </a:rPr>
              <a:t> = </a:t>
            </a:r>
            <a:r>
              <a:rPr lang="en-US" b="0" dirty="0" err="1">
                <a:solidFill>
                  <a:schemeClr val="tx2">
                    <a:lumMod val="75000"/>
                    <a:lumOff val="25000"/>
                  </a:schemeClr>
                </a:solidFill>
                <a:effectLst/>
                <a:latin typeface="Consolas" panose="020B0609020204030204" pitchFamily="49" charset="0"/>
              </a:rPr>
              <a:t>torch.nn.ReLU</a:t>
            </a:r>
            <a:r>
              <a:rPr lang="en-US" b="0" dirty="0">
                <a:solidFill>
                  <a:schemeClr val="tx2">
                    <a:lumMod val="75000"/>
                    <a:lumOff val="25000"/>
                  </a:schemeClr>
                </a:solidFill>
                <a:effectLst/>
                <a:latin typeface="Consolas" panose="020B0609020204030204" pitchFamily="49" charset="0"/>
              </a:rPr>
              <a:t>()</a:t>
            </a:r>
          </a:p>
          <a:p>
            <a:r>
              <a:rPr lang="en-US" b="0" dirty="0">
                <a:solidFill>
                  <a:schemeClr val="tx2">
                    <a:lumMod val="75000"/>
                    <a:lumOff val="25000"/>
                  </a:schemeClr>
                </a:solidFill>
                <a:effectLst/>
                <a:latin typeface="Consolas" panose="020B0609020204030204" pitchFamily="49" charset="0"/>
              </a:rPr>
              <a:t>sigmoid = </a:t>
            </a:r>
            <a:r>
              <a:rPr lang="en-US" b="0" dirty="0" err="1">
                <a:solidFill>
                  <a:schemeClr val="tx2">
                    <a:lumMod val="75000"/>
                    <a:lumOff val="25000"/>
                  </a:schemeClr>
                </a:solidFill>
                <a:effectLst/>
                <a:latin typeface="Consolas" panose="020B0609020204030204" pitchFamily="49" charset="0"/>
              </a:rPr>
              <a:t>torch.nn.Sigmoid</a:t>
            </a:r>
            <a:r>
              <a:rPr lang="en-US" b="0" dirty="0">
                <a:solidFill>
                  <a:schemeClr val="tx2">
                    <a:lumMod val="75000"/>
                    <a:lumOff val="25000"/>
                  </a:schemeClr>
                </a:solidFill>
                <a:effectLst/>
                <a:latin typeface="Consolas" panose="020B0609020204030204" pitchFamily="49" charset="0"/>
              </a:rPr>
              <a:t>()</a:t>
            </a:r>
          </a:p>
          <a:p>
            <a:r>
              <a:rPr lang="en-US" b="0" dirty="0">
                <a:solidFill>
                  <a:schemeClr val="tx2">
                    <a:lumMod val="75000"/>
                    <a:lumOff val="25000"/>
                  </a:schemeClr>
                </a:solidFill>
                <a:effectLst/>
                <a:latin typeface="Consolas" panose="020B0609020204030204" pitchFamily="49" charset="0"/>
              </a:rPr>
              <a:t>tanh = </a:t>
            </a:r>
            <a:r>
              <a:rPr lang="en-US" b="0" dirty="0" err="1">
                <a:solidFill>
                  <a:schemeClr val="tx2">
                    <a:lumMod val="75000"/>
                    <a:lumOff val="25000"/>
                  </a:schemeClr>
                </a:solidFill>
                <a:effectLst/>
                <a:latin typeface="Consolas" panose="020B0609020204030204" pitchFamily="49" charset="0"/>
              </a:rPr>
              <a:t>torch.nn.Tanh</a:t>
            </a:r>
            <a:r>
              <a:rPr lang="en-US" b="0" dirty="0">
                <a:solidFill>
                  <a:schemeClr val="tx2">
                    <a:lumMod val="75000"/>
                    <a:lumOff val="25000"/>
                  </a:schemeClr>
                </a:solidFill>
                <a:effectLst/>
                <a:latin typeface="Consolas" panose="020B0609020204030204" pitchFamily="49" charset="0"/>
              </a:rPr>
              <a:t>()</a:t>
            </a:r>
          </a:p>
          <a:p>
            <a:br>
              <a:rPr lang="en-US" b="0" dirty="0">
                <a:solidFill>
                  <a:schemeClr val="tx2">
                    <a:lumMod val="75000"/>
                    <a:lumOff val="25000"/>
                  </a:schemeClr>
                </a:solidFill>
                <a:effectLst/>
                <a:latin typeface="Consolas" panose="020B0609020204030204" pitchFamily="49" charset="0"/>
              </a:rPr>
            </a:br>
            <a:r>
              <a:rPr lang="en-US" b="0" dirty="0">
                <a:solidFill>
                  <a:schemeClr val="tx2">
                    <a:lumMod val="75000"/>
                    <a:lumOff val="25000"/>
                  </a:schemeClr>
                </a:solidFill>
                <a:effectLst/>
                <a:latin typeface="Consolas" panose="020B0609020204030204" pitchFamily="49" charset="0"/>
              </a:rPr>
              <a:t>print("</a:t>
            </a:r>
            <a:r>
              <a:rPr lang="en-US" b="0" dirty="0" err="1">
                <a:solidFill>
                  <a:schemeClr val="tx2">
                    <a:lumMod val="75000"/>
                    <a:lumOff val="25000"/>
                  </a:schemeClr>
                </a:solidFill>
                <a:effectLst/>
                <a:latin typeface="Consolas" panose="020B0609020204030204" pitchFamily="49" charset="0"/>
              </a:rPr>
              <a:t>Softmax</a:t>
            </a:r>
            <a:r>
              <a:rPr lang="en-US" b="0" dirty="0">
                <a:solidFill>
                  <a:schemeClr val="tx2">
                    <a:lumMod val="75000"/>
                    <a:lumOff val="25000"/>
                  </a:schemeClr>
                </a:solidFill>
                <a:effectLst/>
                <a:latin typeface="Consolas" panose="020B0609020204030204" pitchFamily="49" charset="0"/>
              </a:rPr>
              <a:t> = ",</a:t>
            </a:r>
            <a:r>
              <a:rPr lang="en-US" b="0" dirty="0" err="1">
                <a:solidFill>
                  <a:schemeClr val="tx2">
                    <a:lumMod val="75000"/>
                    <a:lumOff val="25000"/>
                  </a:schemeClr>
                </a:solidFill>
                <a:effectLst/>
                <a:latin typeface="Consolas" panose="020B0609020204030204" pitchFamily="49" charset="0"/>
              </a:rPr>
              <a:t>softmax</a:t>
            </a:r>
            <a:r>
              <a:rPr lang="en-US" b="0" dirty="0">
                <a:solidFill>
                  <a:schemeClr val="tx2">
                    <a:lumMod val="75000"/>
                    <a:lumOff val="25000"/>
                  </a:schemeClr>
                </a:solidFill>
                <a:effectLst/>
                <a:latin typeface="Consolas" panose="020B0609020204030204" pitchFamily="49" charset="0"/>
              </a:rPr>
              <a:t>(tensor))</a:t>
            </a: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ReLU</a:t>
            </a:r>
            <a:r>
              <a:rPr lang="en-US" b="0" dirty="0">
                <a:solidFill>
                  <a:srgbClr val="E68A8A"/>
                </a:solidFill>
                <a:effectLst/>
                <a:latin typeface="Consolas" panose="020B0609020204030204" pitchFamily="49" charset="0"/>
              </a:rPr>
              <a: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relu</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chemeClr val="tx2">
                    <a:lumMod val="75000"/>
                    <a:lumOff val="25000"/>
                  </a:schemeClr>
                </a:solidFill>
                <a:effectLst/>
                <a:latin typeface="Consolas" panose="020B0609020204030204" pitchFamily="49" charset="0"/>
              </a:rPr>
              <a:t>print("Sigmoid = ",sigmoid(tensor))</a:t>
            </a:r>
          </a:p>
          <a:p>
            <a:r>
              <a:rPr lang="en-US" b="0" dirty="0">
                <a:solidFill>
                  <a:schemeClr val="tx2">
                    <a:lumMod val="75000"/>
                    <a:lumOff val="25000"/>
                  </a:schemeClr>
                </a:solidFill>
                <a:effectLst/>
                <a:latin typeface="Consolas" panose="020B0609020204030204" pitchFamily="49" charset="0"/>
              </a:rPr>
              <a:t>print("tanh    = ",tanh(tensor))</a:t>
            </a: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extLst>
              <p:ext uri="{D42A27DB-BD31-4B8C-83A1-F6EECF244321}">
                <p14:modId xmlns:p14="http://schemas.microsoft.com/office/powerpoint/2010/main" val="2724779732"/>
              </p:ext>
            </p:extLst>
          </p:nvPr>
        </p:nvGraphicFramePr>
        <p:xfrm>
          <a:off x="6718828" y="3534410"/>
          <a:ext cx="5019776" cy="1742440"/>
        </p:xfrm>
        <a:graphic>
          <a:graphicData uri="http://schemas.openxmlformats.org/drawingml/2006/table">
            <a:tbl>
              <a:tblPr firstRow="1" bandRow="1">
                <a:tableStyleId>{073A0DAA-6AF3-43AB-8588-CEC1D06C72B9}</a:tableStyleId>
              </a:tblPr>
              <a:tblGrid>
                <a:gridCol w="5019776">
                  <a:extLst>
                    <a:ext uri="{9D8B030D-6E8A-4147-A177-3AD203B41FA5}">
                      <a16:colId xmlns:a16="http://schemas.microsoft.com/office/drawing/2014/main" val="3899577134"/>
                    </a:ext>
                  </a:extLst>
                </a:gridCol>
              </a:tblGrid>
              <a:tr h="370840">
                <a:tc>
                  <a:txBody>
                    <a:bodyPr/>
                    <a:lstStyle/>
                    <a:p>
                      <a:r>
                        <a:rPr lang="en-US" sz="1600" dirty="0"/>
                        <a:t>Output</a:t>
                      </a:r>
                    </a:p>
                  </a:txBody>
                  <a:tcPr/>
                </a:tc>
                <a:extLst>
                  <a:ext uri="{0D108BD9-81ED-4DB2-BD59-A6C34878D82A}">
                    <a16:rowId xmlns:a16="http://schemas.microsoft.com/office/drawing/2014/main" val="117988312"/>
                  </a:ext>
                </a:extLst>
              </a:tr>
              <a:tr h="370840">
                <a:tc>
                  <a:txBody>
                    <a:bodyPr/>
                    <a:lstStyle/>
                    <a:p>
                      <a:r>
                        <a:rPr lang="en-US" sz="1200" dirty="0" err="1">
                          <a:solidFill>
                            <a:schemeClr val="tx2">
                              <a:lumMod val="95000"/>
                              <a:lumOff val="5000"/>
                            </a:schemeClr>
                          </a:solidFill>
                          <a:latin typeface="Consolas" panose="020B0609020204030204" pitchFamily="49" charset="0"/>
                        </a:rPr>
                        <a:t>Softmax</a:t>
                      </a:r>
                      <a:r>
                        <a:rPr lang="en-US" sz="1200" dirty="0">
                          <a:solidFill>
                            <a:schemeClr val="tx2">
                              <a:lumMod val="95000"/>
                              <a:lumOff val="5000"/>
                            </a:schemeClr>
                          </a:solidFill>
                          <a:latin typeface="Consolas" panose="020B0609020204030204" pitchFamily="49" charset="0"/>
                        </a:rPr>
                        <a:t> =  tensor([0.0321, 0.0871, 0.2369, 0.6439], </a:t>
                      </a:r>
                      <a:r>
                        <a:rPr lang="en-US" sz="1200" dirty="0" err="1">
                          <a:solidFill>
                            <a:schemeClr val="tx2">
                              <a:lumMod val="95000"/>
                              <a:lumOff val="5000"/>
                            </a:schemeClr>
                          </a:solidFill>
                          <a:latin typeface="Consolas" panose="020B0609020204030204" pitchFamily="49" charset="0"/>
                        </a:rPr>
                        <a:t>dtype</a:t>
                      </a:r>
                      <a:r>
                        <a:rPr lang="en-US" sz="1200" dirty="0">
                          <a:solidFill>
                            <a:schemeClr val="tx2">
                              <a:lumMod val="95000"/>
                              <a:lumOff val="5000"/>
                            </a:schemeClr>
                          </a:solidFill>
                          <a:latin typeface="Consolas" panose="020B0609020204030204" pitchFamily="49" charset="0"/>
                        </a:rPr>
                        <a:t>=torch.float64)</a:t>
                      </a:r>
                    </a:p>
                    <a:p>
                      <a:r>
                        <a:rPr lang="en-US" sz="1200" dirty="0" err="1">
                          <a:solidFill>
                            <a:schemeClr val="tx2">
                              <a:lumMod val="95000"/>
                              <a:lumOff val="5000"/>
                            </a:schemeClr>
                          </a:solidFill>
                          <a:latin typeface="Consolas" panose="020B0609020204030204" pitchFamily="49" charset="0"/>
                        </a:rPr>
                        <a:t>ReLU</a:t>
                      </a:r>
                      <a:r>
                        <a:rPr lang="en-US" sz="1200" dirty="0">
                          <a:solidFill>
                            <a:schemeClr val="tx2">
                              <a:lumMod val="95000"/>
                              <a:lumOff val="5000"/>
                            </a:schemeClr>
                          </a:solidFill>
                          <a:latin typeface="Consolas" panose="020B0609020204030204" pitchFamily="49" charset="0"/>
                        </a:rPr>
                        <a:t>    =  </a:t>
                      </a:r>
                      <a:r>
                        <a:rPr lang="en-US" sz="1200" b="1" dirty="0">
                          <a:solidFill>
                            <a:schemeClr val="tx2">
                              <a:lumMod val="95000"/>
                              <a:lumOff val="5000"/>
                            </a:schemeClr>
                          </a:solidFill>
                          <a:latin typeface="Consolas" panose="020B0609020204030204" pitchFamily="49" charset="0"/>
                        </a:rPr>
                        <a:t>tensor([0., 0., 1., 2.],</a:t>
                      </a:r>
                      <a:r>
                        <a:rPr lang="en-US" sz="1200" dirty="0">
                          <a:solidFill>
                            <a:schemeClr val="tx2">
                              <a:lumMod val="95000"/>
                              <a:lumOff val="5000"/>
                            </a:schemeClr>
                          </a:solidFill>
                          <a:latin typeface="Consolas" panose="020B0609020204030204" pitchFamily="49" charset="0"/>
                        </a:rPr>
                        <a:t> </a:t>
                      </a:r>
                      <a:r>
                        <a:rPr lang="en-US" sz="1200" dirty="0" err="1">
                          <a:solidFill>
                            <a:schemeClr val="tx2">
                              <a:lumMod val="95000"/>
                              <a:lumOff val="5000"/>
                            </a:schemeClr>
                          </a:solidFill>
                          <a:latin typeface="Consolas" panose="020B0609020204030204" pitchFamily="49" charset="0"/>
                        </a:rPr>
                        <a:t>dtype</a:t>
                      </a:r>
                      <a:r>
                        <a:rPr lang="en-US" sz="1200" dirty="0">
                          <a:solidFill>
                            <a:schemeClr val="tx2">
                              <a:lumMod val="95000"/>
                              <a:lumOff val="5000"/>
                            </a:schemeClr>
                          </a:solidFill>
                          <a:latin typeface="Consolas" panose="020B0609020204030204" pitchFamily="49" charset="0"/>
                        </a:rPr>
                        <a:t>=torch.float64)</a:t>
                      </a:r>
                    </a:p>
                    <a:p>
                      <a:r>
                        <a:rPr lang="en-US" sz="1200" dirty="0">
                          <a:solidFill>
                            <a:schemeClr val="tx2">
                              <a:lumMod val="95000"/>
                              <a:lumOff val="5000"/>
                            </a:schemeClr>
                          </a:solidFill>
                          <a:latin typeface="Consolas" panose="020B0609020204030204" pitchFamily="49" charset="0"/>
                        </a:rPr>
                        <a:t>Sigmoid =  tensor([0.2689, 0.5000, 0.7311, 0.8808], </a:t>
                      </a:r>
                      <a:r>
                        <a:rPr lang="en-US" sz="1200" dirty="0" err="1">
                          <a:solidFill>
                            <a:schemeClr val="tx2">
                              <a:lumMod val="95000"/>
                              <a:lumOff val="5000"/>
                            </a:schemeClr>
                          </a:solidFill>
                          <a:latin typeface="Consolas" panose="020B0609020204030204" pitchFamily="49" charset="0"/>
                        </a:rPr>
                        <a:t>dtype</a:t>
                      </a:r>
                      <a:r>
                        <a:rPr lang="en-US" sz="1200" dirty="0">
                          <a:solidFill>
                            <a:schemeClr val="tx2">
                              <a:lumMod val="95000"/>
                              <a:lumOff val="5000"/>
                            </a:schemeClr>
                          </a:solidFill>
                          <a:latin typeface="Consolas" panose="020B0609020204030204" pitchFamily="49" charset="0"/>
                        </a:rPr>
                        <a:t>=torch.float64)</a:t>
                      </a:r>
                    </a:p>
                    <a:p>
                      <a:r>
                        <a:rPr lang="en-US" sz="1200" dirty="0">
                          <a:solidFill>
                            <a:schemeClr val="tx2">
                              <a:lumMod val="95000"/>
                              <a:lumOff val="5000"/>
                            </a:schemeClr>
                          </a:solidFill>
                          <a:latin typeface="Consolas" panose="020B0609020204030204" pitchFamily="49" charset="0"/>
                        </a:rPr>
                        <a:t>tanh    =  tensor([-0.7616,  0.0000,  0.7616,  0.9640], </a:t>
                      </a:r>
                      <a:r>
                        <a:rPr lang="en-US" sz="1200" dirty="0" err="1">
                          <a:solidFill>
                            <a:schemeClr val="tx2">
                              <a:lumMod val="95000"/>
                              <a:lumOff val="5000"/>
                            </a:schemeClr>
                          </a:solidFill>
                          <a:latin typeface="Consolas" panose="020B0609020204030204" pitchFamily="49" charset="0"/>
                        </a:rPr>
                        <a:t>dtype</a:t>
                      </a:r>
                      <a:r>
                        <a:rPr lang="en-US" sz="1200" dirty="0">
                          <a:solidFill>
                            <a:schemeClr val="tx2">
                              <a:lumMod val="95000"/>
                              <a:lumOff val="5000"/>
                            </a:schemeClr>
                          </a:solidFill>
                          <a:latin typeface="Consolas" panose="020B0609020204030204" pitchFamily="49" charset="0"/>
                        </a:rPr>
                        <a:t>=torch.float64)</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1BD2C872-73A9-A09D-C9DC-EFE26CB35287}"/>
              </a:ext>
            </a:extLst>
          </p:cNvPr>
          <p:cNvSpPr/>
          <p:nvPr/>
        </p:nvSpPr>
        <p:spPr>
          <a:xfrm>
            <a:off x="7694612" y="4274820"/>
            <a:ext cx="2057400" cy="29718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51E0AAF-2F85-904D-B538-F741570410D2}"/>
              </a:ext>
            </a:extLst>
          </p:cNvPr>
          <p:cNvSpPr/>
          <p:nvPr/>
        </p:nvSpPr>
        <p:spPr>
          <a:xfrm>
            <a:off x="1965011" y="4895850"/>
            <a:ext cx="4172899" cy="3810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Elbow 9">
            <a:extLst>
              <a:ext uri="{FF2B5EF4-FFF2-40B4-BE49-F238E27FC236}">
                <a16:creationId xmlns:a16="http://schemas.microsoft.com/office/drawing/2014/main" id="{7480DF2B-4BBF-3449-9667-13ADDEE850B1}"/>
              </a:ext>
            </a:extLst>
          </p:cNvPr>
          <p:cNvCxnSpPr>
            <a:stCxn id="8" idx="0"/>
            <a:endCxn id="4" idx="1"/>
          </p:cNvCxnSpPr>
          <p:nvPr/>
        </p:nvCxnSpPr>
        <p:spPr>
          <a:xfrm rot="5400000" flipH="1" flipV="1">
            <a:off x="5636816" y="2838055"/>
            <a:ext cx="472440" cy="3643151"/>
          </a:xfrm>
          <a:prstGeom prst="bentConnector2">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Callout: Down Arrow 10">
            <a:extLst>
              <a:ext uri="{FF2B5EF4-FFF2-40B4-BE49-F238E27FC236}">
                <a16:creationId xmlns:a16="http://schemas.microsoft.com/office/drawing/2014/main" id="{CAABAE54-5CA7-16B9-91B2-95B71BCB4812}"/>
              </a:ext>
            </a:extLst>
          </p:cNvPr>
          <p:cNvSpPr/>
          <p:nvPr/>
        </p:nvSpPr>
        <p:spPr>
          <a:xfrm>
            <a:off x="2344736" y="2865120"/>
            <a:ext cx="3886200" cy="1524000"/>
          </a:xfrm>
          <a:prstGeom prst="downArrowCallout">
            <a:avLst>
              <a:gd name="adj1" fmla="val 15500"/>
              <a:gd name="adj2" fmla="val 18000"/>
              <a:gd name="adj3" fmla="val 12000"/>
              <a:gd name="adj4" fmla="val 80227"/>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For example, in this case, the </a:t>
            </a:r>
            <a:r>
              <a:rPr lang="en-US" sz="1600" dirty="0" err="1">
                <a:latin typeface="Arial" panose="020B0604020202020204" pitchFamily="34" charset="0"/>
                <a:cs typeface="Arial" panose="020B0604020202020204" pitchFamily="34" charset="0"/>
              </a:rPr>
              <a:t>ReLU</a:t>
            </a:r>
            <a:r>
              <a:rPr lang="en-US" sz="1600" dirty="0">
                <a:latin typeface="Arial" panose="020B0604020202020204" pitchFamily="34" charset="0"/>
                <a:cs typeface="Arial" panose="020B0604020202020204" pitchFamily="34" charset="0"/>
              </a:rPr>
              <a:t> function is called on every element in the vector. </a:t>
            </a:r>
            <a:r>
              <a:rPr lang="en-US" sz="1600" dirty="0" err="1">
                <a:highlight>
                  <a:srgbClr val="000000"/>
                </a:highlight>
                <a:latin typeface="Arial" panose="020B0604020202020204" pitchFamily="34" charset="0"/>
                <a:cs typeface="Arial" panose="020B0604020202020204" pitchFamily="34" charset="0"/>
              </a:rPr>
              <a:t>ReLU</a:t>
            </a:r>
            <a:r>
              <a:rPr lang="en-US" sz="1600" dirty="0">
                <a:highlight>
                  <a:srgbClr val="000000"/>
                </a:highlight>
                <a:latin typeface="Arial" panose="020B0604020202020204" pitchFamily="34" charset="0"/>
                <a:cs typeface="Arial" panose="020B0604020202020204" pitchFamily="34" charset="0"/>
              </a:rPr>
              <a:t>(x) = max(0,x)</a:t>
            </a:r>
            <a:r>
              <a:rPr lang="en-US" sz="1600" dirty="0">
                <a:latin typeface="Arial" panose="020B0604020202020204" pitchFamily="34" charset="0"/>
                <a:cs typeface="Arial" panose="020B0604020202020204" pitchFamily="34" charset="0"/>
              </a:rPr>
              <a:t> so, </a:t>
            </a:r>
            <a:br>
              <a:rPr lang="en-US" sz="1600" dirty="0">
                <a:latin typeface="Arial" panose="020B0604020202020204" pitchFamily="34" charset="0"/>
                <a:cs typeface="Arial" panose="020B0604020202020204" pitchFamily="34" charset="0"/>
              </a:rPr>
            </a:br>
            <a:r>
              <a:rPr lang="en-US" sz="1600" b="1" dirty="0" err="1">
                <a:solidFill>
                  <a:srgbClr val="FFC000"/>
                </a:solidFill>
                <a:latin typeface="Arial" panose="020B0604020202020204" pitchFamily="34" charset="0"/>
                <a:cs typeface="Arial" panose="020B0604020202020204" pitchFamily="34" charset="0"/>
              </a:rPr>
              <a:t>ReLU</a:t>
            </a:r>
            <a:r>
              <a:rPr lang="en-US" sz="1600" b="1" dirty="0">
                <a:solidFill>
                  <a:srgbClr val="FFC000"/>
                </a:solidFill>
                <a:latin typeface="Arial" panose="020B0604020202020204" pitchFamily="34" charset="0"/>
                <a:cs typeface="Arial" panose="020B0604020202020204" pitchFamily="34" charset="0"/>
              </a:rPr>
              <a:t>([-1,0,1,2]) </a:t>
            </a:r>
            <a:r>
              <a:rPr lang="en-US" sz="1600" b="1" dirty="0">
                <a:solidFill>
                  <a:srgbClr val="FFC000"/>
                </a:solidFill>
                <a:latin typeface="Arial" panose="020B0604020202020204" pitchFamily="34" charset="0"/>
                <a:cs typeface="Arial" panose="020B0604020202020204" pitchFamily="34" charset="0"/>
                <a:sym typeface="Wingdings" panose="05000000000000000000" pitchFamily="2" charset="2"/>
              </a:rPr>
              <a:t> [0,0,1,2]</a:t>
            </a:r>
            <a:endParaRPr lang="en-US" sz="1600" b="1" dirty="0">
              <a:solidFill>
                <a:srgbClr val="FFC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0733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Layers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181600"/>
          </a:xfrm>
        </p:spPr>
        <p:txBody>
          <a:bodyPr>
            <a:normAutofit/>
          </a:bodyPr>
          <a:lstStyle/>
          <a:p>
            <a:r>
              <a:rPr lang="en-US" dirty="0" err="1"/>
              <a:t>torch.nn.Linear</a:t>
            </a:r>
            <a:r>
              <a:rPr lang="en-US" dirty="0"/>
              <a:t> is the component for matrix multiplication, that is organized as follows:</a:t>
            </a:r>
          </a:p>
          <a:p>
            <a:pPr marL="365760" lvl="1" indent="0">
              <a:buNone/>
            </a:pP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2F8207-62AD-BE09-0B07-D54EF8D83F1C}"/>
                  </a:ext>
                </a:extLst>
              </p:cNvPr>
              <p:cNvSpPr txBox="1"/>
              <p:nvPr/>
            </p:nvSpPr>
            <p:spPr>
              <a:xfrm>
                <a:off x="2458262" y="3736047"/>
                <a:ext cx="907171" cy="94038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b="1" i="1" smtClean="0">
                              <a:latin typeface="Cambria Math" panose="02040503050406030204" pitchFamily="18" charset="0"/>
                            </a:rPr>
                          </m:ctrlPr>
                        </m:dPr>
                        <m:e>
                          <m:m>
                            <m:mPr>
                              <m:mcs>
                                <m:mc>
                                  <m:mcPr>
                                    <m:count m:val="1"/>
                                    <m:mcJc m:val="center"/>
                                  </m:mcPr>
                                </m:mc>
                              </m:mcs>
                              <m:ctrlPr>
                                <a:rPr lang="en-US" sz="1600" b="1" i="1">
                                  <a:latin typeface="Cambria Math" panose="02040503050406030204" pitchFamily="18" charset="0"/>
                                </a:rPr>
                              </m:ctrlPr>
                            </m:mPr>
                            <m:mr>
                              <m:e>
                                <m:sSub>
                                  <m:sSubPr>
                                    <m:ctrlPr>
                                      <a:rPr lang="en-US" sz="1600" b="1" i="1">
                                        <a:latin typeface="Cambria Math" panose="02040503050406030204" pitchFamily="18" charset="0"/>
                                      </a:rPr>
                                    </m:ctrlPr>
                                  </m:sSubPr>
                                  <m:e>
                                    <m:r>
                                      <a:rPr lang="en-US" sz="1600" b="1" i="1" smtClean="0">
                                        <a:latin typeface="Cambria Math" panose="02040503050406030204" pitchFamily="18" charset="0"/>
                                      </a:rPr>
                                      <m:t>𝒊𝒏𝒑𝒖𝒕</m:t>
                                    </m:r>
                                  </m:e>
                                  <m:sub>
                                    <m:r>
                                      <a:rPr lang="en-US" sz="1600" b="1" i="1">
                                        <a:latin typeface="Cambria Math" panose="02040503050406030204" pitchFamily="18" charset="0"/>
                                      </a:rPr>
                                      <m:t>𝟏</m:t>
                                    </m:r>
                                  </m:sub>
                                </m:sSub>
                              </m:e>
                            </m:mr>
                            <m:mr>
                              <m:e>
                                <m:sSub>
                                  <m:sSubPr>
                                    <m:ctrlPr>
                                      <a:rPr lang="en-US" sz="1600" b="1" i="1">
                                        <a:latin typeface="Cambria Math" panose="02040503050406030204" pitchFamily="18" charset="0"/>
                                      </a:rPr>
                                    </m:ctrlPr>
                                  </m:sSubPr>
                                  <m:e>
                                    <m:r>
                                      <a:rPr lang="en-US" sz="1600" b="1" i="1" smtClean="0">
                                        <a:latin typeface="Cambria Math" panose="02040503050406030204" pitchFamily="18" charset="0"/>
                                      </a:rPr>
                                      <m:t>𝒊𝒏𝒑𝒖𝒕</m:t>
                                    </m:r>
                                  </m:e>
                                  <m:sub>
                                    <m:r>
                                      <a:rPr lang="en-US" sz="1600" b="1" i="1">
                                        <a:latin typeface="Cambria Math" panose="02040503050406030204" pitchFamily="18" charset="0"/>
                                      </a:rPr>
                                      <m:t>𝟐</m:t>
                                    </m:r>
                                  </m:sub>
                                </m:sSub>
                              </m:e>
                            </m:mr>
                            <m:mr>
                              <m:e>
                                <m:eqArr>
                                  <m:eqArrPr>
                                    <m:ctrlPr>
                                      <a:rPr lang="en-US" sz="1600" b="1" i="1">
                                        <a:latin typeface="Cambria Math" panose="02040503050406030204" pitchFamily="18" charset="0"/>
                                      </a:rPr>
                                    </m:ctrlPr>
                                  </m:eqArrPr>
                                  <m:e>
                                    <m:r>
                                      <a:rPr lang="en-US" sz="1600" b="1" i="1">
                                        <a:latin typeface="Cambria Math" panose="02040503050406030204" pitchFamily="18" charset="0"/>
                                        <a:ea typeface="Cambria Math" panose="02040503050406030204" pitchFamily="18" charset="0"/>
                                      </a:rPr>
                                      <m:t>⋮</m:t>
                                    </m:r>
                                  </m:e>
                                  <m:e>
                                    <m:sSub>
                                      <m:sSubPr>
                                        <m:ctrlPr>
                                          <a:rPr lang="en-US" sz="1600" b="1" i="1">
                                            <a:latin typeface="Cambria Math" panose="02040503050406030204" pitchFamily="18" charset="0"/>
                                          </a:rPr>
                                        </m:ctrlPr>
                                      </m:sSubPr>
                                      <m:e>
                                        <m:r>
                                          <a:rPr lang="en-US" sz="1600" b="1" i="1" smtClean="0">
                                            <a:latin typeface="Cambria Math" panose="02040503050406030204" pitchFamily="18" charset="0"/>
                                          </a:rPr>
                                          <m:t>𝒊𝒏𝒑𝒖𝒕</m:t>
                                        </m:r>
                                      </m:e>
                                      <m:sub>
                                        <m:r>
                                          <a:rPr lang="en-US" sz="1600" b="1" i="1">
                                            <a:latin typeface="Cambria Math" panose="02040503050406030204" pitchFamily="18" charset="0"/>
                                          </a:rPr>
                                          <m:t>𝒏</m:t>
                                        </m:r>
                                      </m:sub>
                                    </m:sSub>
                                  </m:e>
                                </m:eqArr>
                              </m:e>
                            </m:mr>
                          </m:m>
                        </m:e>
                      </m:d>
                    </m:oMath>
                  </m:oMathPara>
                </a14:m>
                <a:endParaRPr lang="en-US" sz="1600" b="1" dirty="0"/>
              </a:p>
            </p:txBody>
          </p:sp>
        </mc:Choice>
        <mc:Fallback xmlns="">
          <p:sp>
            <p:nvSpPr>
              <p:cNvPr id="5" name="TextBox 4">
                <a:extLst>
                  <a:ext uri="{FF2B5EF4-FFF2-40B4-BE49-F238E27FC236}">
                    <a16:creationId xmlns:a16="http://schemas.microsoft.com/office/drawing/2014/main" id="{A72F8207-62AD-BE09-0B07-D54EF8D83F1C}"/>
                  </a:ext>
                </a:extLst>
              </p:cNvPr>
              <p:cNvSpPr txBox="1">
                <a:spLocks noRot="1" noChangeAspect="1" noMove="1" noResize="1" noEditPoints="1" noAdjustHandles="1" noChangeArrowheads="1" noChangeShapeType="1" noTextEdit="1"/>
              </p:cNvSpPr>
              <p:nvPr/>
            </p:nvSpPr>
            <p:spPr>
              <a:xfrm>
                <a:off x="2458262" y="3736047"/>
                <a:ext cx="907171" cy="940386"/>
              </a:xfrm>
              <a:prstGeom prst="rect">
                <a:avLst/>
              </a:prstGeom>
              <a:blipFill>
                <a:blip r:embed="rId2"/>
                <a:stretch>
                  <a:fillRect/>
                </a:stretch>
              </a:blipFill>
            </p:spPr>
            <p:txBody>
              <a:bodyPr/>
              <a:lstStyle/>
              <a:p>
                <a:r>
                  <a:rPr lang="en-US">
                    <a:noFill/>
                  </a:rPr>
                  <a:t> </a:t>
                </a:r>
              </a:p>
            </p:txBody>
          </p:sp>
        </mc:Fallback>
      </mc:AlternateContent>
      <p:graphicFrame>
        <p:nvGraphicFramePr>
          <p:cNvPr id="6" name="Table 5">
            <a:extLst>
              <a:ext uri="{FF2B5EF4-FFF2-40B4-BE49-F238E27FC236}">
                <a16:creationId xmlns:a16="http://schemas.microsoft.com/office/drawing/2014/main" id="{51CBD623-E473-0705-6B26-65724A274502}"/>
              </a:ext>
            </a:extLst>
          </p:cNvPr>
          <p:cNvGraphicFramePr>
            <a:graphicFrameLocks noGrp="1"/>
          </p:cNvGraphicFramePr>
          <p:nvPr>
            <p:extLst>
              <p:ext uri="{D42A27DB-BD31-4B8C-83A1-F6EECF244321}">
                <p14:modId xmlns:p14="http://schemas.microsoft.com/office/powerpoint/2010/main" val="2104345162"/>
              </p:ext>
            </p:extLst>
          </p:nvPr>
        </p:nvGraphicFramePr>
        <p:xfrm>
          <a:off x="4037012" y="2743200"/>
          <a:ext cx="2478775" cy="2438400"/>
        </p:xfrm>
        <a:graphic>
          <a:graphicData uri="http://schemas.openxmlformats.org/drawingml/2006/table">
            <a:tbl>
              <a:tblPr firstRow="1" bandRow="1">
                <a:tableStyleId>{073A0DAA-6AF3-43AB-8588-CEC1D06C72B9}</a:tableStyleId>
              </a:tblPr>
              <a:tblGrid>
                <a:gridCol w="495755">
                  <a:extLst>
                    <a:ext uri="{9D8B030D-6E8A-4147-A177-3AD203B41FA5}">
                      <a16:colId xmlns:a16="http://schemas.microsoft.com/office/drawing/2014/main" val="2461208935"/>
                    </a:ext>
                  </a:extLst>
                </a:gridCol>
                <a:gridCol w="495755">
                  <a:extLst>
                    <a:ext uri="{9D8B030D-6E8A-4147-A177-3AD203B41FA5}">
                      <a16:colId xmlns:a16="http://schemas.microsoft.com/office/drawing/2014/main" val="3995971565"/>
                    </a:ext>
                  </a:extLst>
                </a:gridCol>
                <a:gridCol w="495755">
                  <a:extLst>
                    <a:ext uri="{9D8B030D-6E8A-4147-A177-3AD203B41FA5}">
                      <a16:colId xmlns:a16="http://schemas.microsoft.com/office/drawing/2014/main" val="2822411257"/>
                    </a:ext>
                  </a:extLst>
                </a:gridCol>
                <a:gridCol w="495755">
                  <a:extLst>
                    <a:ext uri="{9D8B030D-6E8A-4147-A177-3AD203B41FA5}">
                      <a16:colId xmlns:a16="http://schemas.microsoft.com/office/drawing/2014/main" val="1672555938"/>
                    </a:ext>
                  </a:extLst>
                </a:gridCol>
                <a:gridCol w="495755">
                  <a:extLst>
                    <a:ext uri="{9D8B030D-6E8A-4147-A177-3AD203B41FA5}">
                      <a16:colId xmlns:a16="http://schemas.microsoft.com/office/drawing/2014/main" val="348449006"/>
                    </a:ext>
                  </a:extLst>
                </a:gridCol>
              </a:tblGrid>
              <a:tr h="290010">
                <a:tc>
                  <a:txBody>
                    <a:bodyPr/>
                    <a:lstStyle/>
                    <a:p>
                      <a:endParaRPr lang="en-US">
                        <a:solidFill>
                          <a:schemeClr val="tx2">
                            <a:lumMod val="95000"/>
                            <a:lumOff val="5000"/>
                          </a:schemeClr>
                        </a:solidFill>
                      </a:endParaRPr>
                    </a:p>
                  </a:txBody>
                  <a:tcPr/>
                </a:tc>
                <a:tc>
                  <a:txBody>
                    <a:bodyPr/>
                    <a:lstStyle/>
                    <a:p>
                      <a:pPr algn="ctr"/>
                      <a:r>
                        <a:rPr lang="en-US" dirty="0">
                          <a:solidFill>
                            <a:schemeClr val="tx2">
                              <a:lumMod val="95000"/>
                              <a:lumOff val="5000"/>
                            </a:schemeClr>
                          </a:solidFill>
                        </a:rPr>
                        <a:t>1</a:t>
                      </a:r>
                    </a:p>
                  </a:txBody>
                  <a:tcPr/>
                </a:tc>
                <a:tc>
                  <a:txBody>
                    <a:bodyPr/>
                    <a:lstStyle/>
                    <a:p>
                      <a:pPr algn="ctr"/>
                      <a:r>
                        <a:rPr lang="en-US" dirty="0">
                          <a:solidFill>
                            <a:schemeClr val="tx2">
                              <a:lumMod val="95000"/>
                              <a:lumOff val="5000"/>
                            </a:schemeClr>
                          </a:solidFill>
                        </a:rPr>
                        <a:t>2</a:t>
                      </a:r>
                    </a:p>
                  </a:txBody>
                  <a:tcPr/>
                </a:tc>
                <a:tc>
                  <a:txBody>
                    <a:bodyPr/>
                    <a:lstStyle/>
                    <a:p>
                      <a:pPr algn="ctr"/>
                      <a:r>
                        <a:rPr lang="en-US" dirty="0">
                          <a:solidFill>
                            <a:schemeClr val="tx2">
                              <a:lumMod val="95000"/>
                              <a:lumOff val="5000"/>
                            </a:schemeClr>
                          </a:solidFill>
                        </a:rPr>
                        <a:t>…</a:t>
                      </a:r>
                    </a:p>
                  </a:txBody>
                  <a:tcPr/>
                </a:tc>
                <a:tc>
                  <a:txBody>
                    <a:bodyPr/>
                    <a:lstStyle/>
                    <a:p>
                      <a:pPr algn="ctr"/>
                      <a:r>
                        <a:rPr lang="en-US" dirty="0">
                          <a:solidFill>
                            <a:schemeClr val="tx2">
                              <a:lumMod val="95000"/>
                              <a:lumOff val="5000"/>
                            </a:schemeClr>
                          </a:solidFill>
                        </a:rPr>
                        <a:t>n</a:t>
                      </a:r>
                    </a:p>
                  </a:txBody>
                  <a:tcPr/>
                </a:tc>
                <a:extLst>
                  <a:ext uri="{0D108BD9-81ED-4DB2-BD59-A6C34878D82A}">
                    <a16:rowId xmlns:a16="http://schemas.microsoft.com/office/drawing/2014/main" val="39794624"/>
                  </a:ext>
                </a:extLst>
              </a:tr>
              <a:tr h="290010">
                <a:tc>
                  <a:txBody>
                    <a:bodyPr/>
                    <a:lstStyle/>
                    <a:p>
                      <a:r>
                        <a:rPr lang="en-US" dirty="0">
                          <a:solidFill>
                            <a:schemeClr val="tx2">
                              <a:lumMod val="95000"/>
                              <a:lumOff val="5000"/>
                            </a:schemeClr>
                          </a:solidFill>
                        </a:rPr>
                        <a:t>1</a:t>
                      </a:r>
                    </a:p>
                  </a:txBody>
                  <a:tcPr>
                    <a:solidFill>
                      <a:schemeClr val="tx1"/>
                    </a:solidFill>
                  </a:tcP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1,1</a:t>
                      </a:r>
                      <a:endParaRPr lang="en-US" sz="1200" baseline="-25000" dirty="0">
                        <a:solidFill>
                          <a:schemeClr val="tx2">
                            <a:lumMod val="95000"/>
                            <a:lumOff val="5000"/>
                          </a:schemeClr>
                        </a:solidFill>
                        <a:latin typeface="Arial" panose="020B0604020202020204" pitchFamily="34" charset="0"/>
                        <a:cs typeface="Arial" panose="020B0604020202020204" pitchFamily="34" charset="0"/>
                      </a:endParaRPr>
                    </a:p>
                  </a:txBody>
                  <a:tcPr anchor="ct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1,2</a:t>
                      </a:r>
                      <a:endParaRPr lang="en-US" sz="1200" b="1" dirty="0">
                        <a:solidFill>
                          <a:schemeClr val="tx2">
                            <a:lumMod val="95000"/>
                            <a:lumOff val="5000"/>
                          </a:schemeClr>
                        </a:solidFill>
                        <a:latin typeface="Arial" panose="020B0604020202020204" pitchFamily="34" charset="0"/>
                        <a:cs typeface="Arial" panose="020B0604020202020204" pitchFamily="34" charset="0"/>
                      </a:endParaRPr>
                    </a:p>
                  </a:txBody>
                  <a:tcPr anchor="ctr"/>
                </a:tc>
                <a:tc>
                  <a:txBody>
                    <a:bodyPr/>
                    <a:lstStyle/>
                    <a:p>
                      <a:pPr algn="ctr"/>
                      <a:r>
                        <a:rPr lang="en-US" sz="1200" dirty="0">
                          <a:solidFill>
                            <a:schemeClr val="tx2">
                              <a:lumMod val="95000"/>
                              <a:lumOff val="5000"/>
                            </a:schemeClr>
                          </a:solidFill>
                          <a:latin typeface="Arial" panose="020B0604020202020204" pitchFamily="34" charset="0"/>
                          <a:cs typeface="Arial" panose="020B0604020202020204" pitchFamily="34" charset="0"/>
                        </a:rPr>
                        <a:t>…</a:t>
                      </a:r>
                    </a:p>
                  </a:txBody>
                  <a:tcPr anchor="ct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1,n</a:t>
                      </a:r>
                      <a:endParaRPr lang="en-US" sz="1200" dirty="0">
                        <a:solidFill>
                          <a:schemeClr val="tx2">
                            <a:lumMod val="95000"/>
                            <a:lumOff val="5000"/>
                          </a:schemeClr>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236308587"/>
                  </a:ext>
                </a:extLst>
              </a:tr>
              <a:tr h="290010">
                <a:tc>
                  <a:txBody>
                    <a:bodyPr/>
                    <a:lstStyle/>
                    <a:p>
                      <a:r>
                        <a:rPr lang="en-US" dirty="0">
                          <a:solidFill>
                            <a:schemeClr val="tx2">
                              <a:lumMod val="95000"/>
                              <a:lumOff val="5000"/>
                            </a:schemeClr>
                          </a:solidFill>
                        </a:rPr>
                        <a:t>2</a:t>
                      </a:r>
                    </a:p>
                  </a:txBody>
                  <a:tcPr>
                    <a:solidFill>
                      <a:schemeClr val="tx1"/>
                    </a:solidFill>
                  </a:tcP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2,1</a:t>
                      </a:r>
                      <a:endParaRPr lang="en-US" sz="1200" baseline="-25000" dirty="0">
                        <a:solidFill>
                          <a:schemeClr val="tx2">
                            <a:lumMod val="95000"/>
                            <a:lumOff val="5000"/>
                          </a:schemeClr>
                        </a:solidFill>
                        <a:latin typeface="Arial" panose="020B0604020202020204" pitchFamily="34" charset="0"/>
                        <a:cs typeface="Arial" panose="020B0604020202020204" pitchFamily="34" charset="0"/>
                      </a:endParaRPr>
                    </a:p>
                  </a:txBody>
                  <a:tcPr anchor="ct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2,2</a:t>
                      </a:r>
                      <a:endParaRPr lang="en-US" sz="1200" b="1" dirty="0">
                        <a:solidFill>
                          <a:schemeClr val="tx2">
                            <a:lumMod val="95000"/>
                            <a:lumOff val="5000"/>
                          </a:schemeClr>
                        </a:solidFill>
                        <a:latin typeface="Arial" panose="020B0604020202020204" pitchFamily="34" charset="0"/>
                        <a:cs typeface="Arial" panose="020B0604020202020204" pitchFamily="34" charset="0"/>
                      </a:endParaRPr>
                    </a:p>
                  </a:txBody>
                  <a:tcPr anchor="ctr"/>
                </a:tc>
                <a:tc>
                  <a:txBody>
                    <a:bodyPr/>
                    <a:lstStyle/>
                    <a:p>
                      <a:pPr algn="ctr"/>
                      <a:r>
                        <a:rPr lang="en-US" sz="1200" dirty="0">
                          <a:solidFill>
                            <a:schemeClr val="tx2">
                              <a:lumMod val="95000"/>
                              <a:lumOff val="5000"/>
                            </a:schemeClr>
                          </a:solidFill>
                          <a:latin typeface="Arial" panose="020B0604020202020204" pitchFamily="34" charset="0"/>
                          <a:cs typeface="Arial" panose="020B0604020202020204" pitchFamily="34" charset="0"/>
                        </a:rPr>
                        <a:t>…</a:t>
                      </a:r>
                    </a:p>
                  </a:txBody>
                  <a:tcPr anchor="ct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2,n</a:t>
                      </a:r>
                      <a:endParaRPr lang="en-US" sz="1200" dirty="0">
                        <a:solidFill>
                          <a:schemeClr val="tx2">
                            <a:lumMod val="95000"/>
                            <a:lumOff val="5000"/>
                          </a:schemeClr>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24575868"/>
                  </a:ext>
                </a:extLst>
              </a:tr>
              <a:tr h="290010">
                <a:tc>
                  <a:txBody>
                    <a:bodyPr/>
                    <a:lstStyle/>
                    <a:p>
                      <a:r>
                        <a:rPr lang="en-US" dirty="0">
                          <a:solidFill>
                            <a:schemeClr val="tx2">
                              <a:lumMod val="95000"/>
                              <a:lumOff val="5000"/>
                            </a:schemeClr>
                          </a:solidFill>
                        </a:rPr>
                        <a:t>3</a:t>
                      </a:r>
                    </a:p>
                  </a:txBody>
                  <a:tcPr>
                    <a:solidFill>
                      <a:schemeClr val="tx1"/>
                    </a:solidFill>
                  </a:tcP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3,1</a:t>
                      </a:r>
                      <a:endParaRPr lang="en-US" sz="1200" baseline="-25000" dirty="0">
                        <a:solidFill>
                          <a:schemeClr val="tx2">
                            <a:lumMod val="95000"/>
                            <a:lumOff val="5000"/>
                          </a:schemeClr>
                        </a:solidFill>
                        <a:latin typeface="Arial" panose="020B0604020202020204" pitchFamily="34" charset="0"/>
                        <a:cs typeface="Arial" panose="020B0604020202020204" pitchFamily="34" charset="0"/>
                      </a:endParaRPr>
                    </a:p>
                  </a:txBody>
                  <a:tcPr anchor="ct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3,2</a:t>
                      </a:r>
                      <a:endParaRPr lang="en-US" sz="1200" b="1" dirty="0">
                        <a:solidFill>
                          <a:schemeClr val="tx2">
                            <a:lumMod val="95000"/>
                            <a:lumOff val="5000"/>
                          </a:schemeClr>
                        </a:solidFill>
                        <a:latin typeface="Arial" panose="020B0604020202020204" pitchFamily="34" charset="0"/>
                        <a:cs typeface="Arial" panose="020B0604020202020204" pitchFamily="34" charset="0"/>
                      </a:endParaRPr>
                    </a:p>
                  </a:txBody>
                  <a:tcPr anchor="ctr"/>
                </a:tc>
                <a:tc>
                  <a:txBody>
                    <a:bodyPr/>
                    <a:lstStyle/>
                    <a:p>
                      <a:pPr algn="ctr"/>
                      <a:r>
                        <a:rPr lang="en-US" sz="1200" dirty="0">
                          <a:solidFill>
                            <a:schemeClr val="tx2">
                              <a:lumMod val="95000"/>
                              <a:lumOff val="5000"/>
                            </a:schemeClr>
                          </a:solidFill>
                          <a:latin typeface="Arial" panose="020B0604020202020204" pitchFamily="34" charset="0"/>
                          <a:cs typeface="Arial" panose="020B0604020202020204" pitchFamily="34" charset="0"/>
                        </a:rPr>
                        <a:t>…</a:t>
                      </a:r>
                    </a:p>
                  </a:txBody>
                  <a:tcPr anchor="ct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2,n</a:t>
                      </a:r>
                      <a:endParaRPr lang="en-US" sz="1200" dirty="0">
                        <a:solidFill>
                          <a:schemeClr val="tx2">
                            <a:lumMod val="95000"/>
                            <a:lumOff val="5000"/>
                          </a:schemeClr>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966741110"/>
                  </a:ext>
                </a:extLst>
              </a:tr>
              <a:tr h="290010">
                <a:tc>
                  <a:txBody>
                    <a:bodyPr/>
                    <a:lstStyle/>
                    <a:p>
                      <a:r>
                        <a:rPr lang="en-US" dirty="0">
                          <a:solidFill>
                            <a:schemeClr val="tx2">
                              <a:lumMod val="95000"/>
                              <a:lumOff val="5000"/>
                            </a:schemeClr>
                          </a:solidFill>
                        </a:rPr>
                        <a:t>4</a:t>
                      </a:r>
                    </a:p>
                  </a:txBody>
                  <a:tcPr>
                    <a:solidFill>
                      <a:schemeClr val="tx1"/>
                    </a:solidFill>
                  </a:tcP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4,1</a:t>
                      </a:r>
                      <a:endParaRPr lang="en-US" sz="1200" baseline="-25000" dirty="0">
                        <a:solidFill>
                          <a:schemeClr val="tx2">
                            <a:lumMod val="95000"/>
                            <a:lumOff val="5000"/>
                          </a:schemeClr>
                        </a:solidFill>
                        <a:latin typeface="Arial" panose="020B0604020202020204" pitchFamily="34" charset="0"/>
                        <a:cs typeface="Arial" panose="020B0604020202020204" pitchFamily="34" charset="0"/>
                      </a:endParaRPr>
                    </a:p>
                  </a:txBody>
                  <a:tcPr anchor="ct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4,2</a:t>
                      </a:r>
                      <a:endParaRPr lang="en-US" sz="1200" b="1" dirty="0">
                        <a:solidFill>
                          <a:schemeClr val="tx2">
                            <a:lumMod val="95000"/>
                            <a:lumOff val="5000"/>
                          </a:schemeClr>
                        </a:solidFill>
                        <a:latin typeface="Arial" panose="020B0604020202020204" pitchFamily="34" charset="0"/>
                        <a:cs typeface="Arial" panose="020B0604020202020204" pitchFamily="34" charset="0"/>
                      </a:endParaRPr>
                    </a:p>
                  </a:txBody>
                  <a:tcPr anchor="ctr"/>
                </a:tc>
                <a:tc>
                  <a:txBody>
                    <a:bodyPr/>
                    <a:lstStyle/>
                    <a:p>
                      <a:pPr algn="ctr"/>
                      <a:r>
                        <a:rPr lang="en-US" sz="1200" dirty="0">
                          <a:solidFill>
                            <a:schemeClr val="tx2">
                              <a:lumMod val="95000"/>
                              <a:lumOff val="5000"/>
                            </a:schemeClr>
                          </a:solidFill>
                          <a:latin typeface="Arial" panose="020B0604020202020204" pitchFamily="34" charset="0"/>
                          <a:cs typeface="Arial" panose="020B0604020202020204" pitchFamily="34" charset="0"/>
                        </a:rPr>
                        <a:t>…</a:t>
                      </a:r>
                    </a:p>
                  </a:txBody>
                  <a:tcPr anchor="ct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3,n</a:t>
                      </a:r>
                      <a:endParaRPr lang="en-US" sz="1200" dirty="0">
                        <a:solidFill>
                          <a:schemeClr val="tx2">
                            <a:lumMod val="95000"/>
                            <a:lumOff val="5000"/>
                          </a:schemeClr>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41940045"/>
                  </a:ext>
                </a:extLst>
              </a:tr>
              <a:tr h="290010">
                <a:tc>
                  <a:txBody>
                    <a:bodyPr/>
                    <a:lstStyle/>
                    <a:p>
                      <a:r>
                        <a:rPr lang="en-US" dirty="0">
                          <a:solidFill>
                            <a:schemeClr val="tx2">
                              <a:lumMod val="95000"/>
                              <a:lumOff val="5000"/>
                            </a:schemeClr>
                          </a:solidFill>
                        </a:rPr>
                        <a:t>5</a:t>
                      </a:r>
                    </a:p>
                  </a:txBody>
                  <a:tcPr>
                    <a:solidFill>
                      <a:schemeClr val="tx1"/>
                    </a:solidFill>
                  </a:tcP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5,1</a:t>
                      </a:r>
                      <a:endParaRPr lang="en-US" sz="1200" baseline="-25000" dirty="0">
                        <a:solidFill>
                          <a:schemeClr val="tx2">
                            <a:lumMod val="95000"/>
                            <a:lumOff val="5000"/>
                          </a:schemeClr>
                        </a:solidFill>
                        <a:latin typeface="Arial" panose="020B0604020202020204" pitchFamily="34" charset="0"/>
                        <a:cs typeface="Arial" panose="020B0604020202020204" pitchFamily="34" charset="0"/>
                      </a:endParaRPr>
                    </a:p>
                  </a:txBody>
                  <a:tcPr anchor="ct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5,2</a:t>
                      </a:r>
                      <a:endParaRPr lang="en-US" sz="1200" b="1" dirty="0">
                        <a:solidFill>
                          <a:schemeClr val="tx2">
                            <a:lumMod val="95000"/>
                            <a:lumOff val="5000"/>
                          </a:schemeClr>
                        </a:solidFill>
                        <a:latin typeface="Arial" panose="020B0604020202020204" pitchFamily="34" charset="0"/>
                        <a:cs typeface="Arial" panose="020B0604020202020204" pitchFamily="34" charset="0"/>
                      </a:endParaRPr>
                    </a:p>
                  </a:txBody>
                  <a:tcPr anchor="ctr"/>
                </a:tc>
                <a:tc>
                  <a:txBody>
                    <a:bodyPr/>
                    <a:lstStyle/>
                    <a:p>
                      <a:pPr algn="ctr"/>
                      <a:r>
                        <a:rPr lang="en-US" sz="1200" dirty="0">
                          <a:solidFill>
                            <a:schemeClr val="tx2">
                              <a:lumMod val="95000"/>
                              <a:lumOff val="5000"/>
                            </a:schemeClr>
                          </a:solidFill>
                          <a:latin typeface="Arial" panose="020B0604020202020204" pitchFamily="34" charset="0"/>
                          <a:cs typeface="Arial" panose="020B0604020202020204" pitchFamily="34" charset="0"/>
                        </a:rPr>
                        <a:t>…</a:t>
                      </a:r>
                    </a:p>
                  </a:txBody>
                  <a:tcPr anchor="ct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4,n</a:t>
                      </a:r>
                      <a:endParaRPr lang="en-US" sz="1200" dirty="0">
                        <a:solidFill>
                          <a:schemeClr val="tx2">
                            <a:lumMod val="95000"/>
                            <a:lumOff val="5000"/>
                          </a:schemeClr>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617917177"/>
                  </a:ext>
                </a:extLst>
              </a:tr>
              <a:tr h="290010">
                <a:tc gridSpan="5">
                  <a:txBody>
                    <a:bodyPr/>
                    <a:lstStyle/>
                    <a:p>
                      <a:pPr algn="ctr"/>
                      <a:r>
                        <a:rPr lang="en-US" dirty="0">
                          <a:solidFill>
                            <a:schemeClr val="tx2">
                              <a:lumMod val="95000"/>
                              <a:lumOff val="5000"/>
                            </a:schemeClr>
                          </a:solidFill>
                        </a:rPr>
                        <a:t>…</a:t>
                      </a:r>
                    </a:p>
                  </a:txBody>
                  <a:tcPr/>
                </a:tc>
                <a:tc hMerge="1">
                  <a:txBody>
                    <a:bodyPr/>
                    <a:lstStyle/>
                    <a:p>
                      <a:pPr algn="ctr"/>
                      <a:endParaRPr lang="en-US" sz="1200" dirty="0">
                        <a:latin typeface="Arial" panose="020B0604020202020204" pitchFamily="34" charset="0"/>
                        <a:cs typeface="Arial" panose="020B0604020202020204" pitchFamily="34" charset="0"/>
                      </a:endParaRPr>
                    </a:p>
                  </a:txBody>
                  <a:tcPr anchor="ctr"/>
                </a:tc>
                <a:tc hMerge="1">
                  <a:txBody>
                    <a:bodyPr/>
                    <a:lstStyle/>
                    <a:p>
                      <a:pPr algn="ctr"/>
                      <a:endParaRPr lang="en-US" sz="1200">
                        <a:latin typeface="Arial" panose="020B0604020202020204" pitchFamily="34" charset="0"/>
                        <a:cs typeface="Arial" panose="020B0604020202020204" pitchFamily="34" charset="0"/>
                      </a:endParaRPr>
                    </a:p>
                  </a:txBody>
                  <a:tcPr anchor="ctr"/>
                </a:tc>
                <a:tc hMerge="1">
                  <a:txBody>
                    <a:bodyPr/>
                    <a:lstStyle/>
                    <a:p>
                      <a:pPr algn="ctr"/>
                      <a:endParaRPr lang="en-US" sz="1200">
                        <a:latin typeface="Arial" panose="020B0604020202020204" pitchFamily="34" charset="0"/>
                        <a:cs typeface="Arial" panose="020B0604020202020204" pitchFamily="34" charset="0"/>
                      </a:endParaRPr>
                    </a:p>
                  </a:txBody>
                  <a:tcPr anchor="ctr"/>
                </a:tc>
                <a:tc hMerge="1">
                  <a:txBody>
                    <a:bodyPr/>
                    <a:lstStyle/>
                    <a:p>
                      <a:pPr algn="ctr"/>
                      <a:endParaRPr lang="en-US" sz="12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814939326"/>
                  </a:ext>
                </a:extLst>
              </a:tr>
              <a:tr h="290010">
                <a:tc>
                  <a:txBody>
                    <a:bodyPr/>
                    <a:lstStyle/>
                    <a:p>
                      <a:r>
                        <a:rPr lang="en-US" dirty="0">
                          <a:solidFill>
                            <a:schemeClr val="tx2">
                              <a:lumMod val="95000"/>
                              <a:lumOff val="5000"/>
                            </a:schemeClr>
                          </a:solidFill>
                        </a:rPr>
                        <a:t>k</a:t>
                      </a:r>
                    </a:p>
                  </a:txBody>
                  <a:tcPr>
                    <a:solidFill>
                      <a:schemeClr val="tx1"/>
                    </a:solidFill>
                  </a:tcP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k,1</a:t>
                      </a:r>
                      <a:endParaRPr lang="en-US" sz="1200" baseline="-25000" dirty="0">
                        <a:solidFill>
                          <a:schemeClr val="tx2">
                            <a:lumMod val="95000"/>
                            <a:lumOff val="5000"/>
                          </a:schemeClr>
                        </a:solidFill>
                        <a:latin typeface="Arial" panose="020B0604020202020204" pitchFamily="34" charset="0"/>
                        <a:cs typeface="Arial" panose="020B0604020202020204" pitchFamily="34" charset="0"/>
                      </a:endParaRPr>
                    </a:p>
                  </a:txBody>
                  <a:tcPr anchor="ct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k,2</a:t>
                      </a:r>
                      <a:endParaRPr lang="en-US" sz="1200" b="1" dirty="0">
                        <a:solidFill>
                          <a:schemeClr val="tx2">
                            <a:lumMod val="95000"/>
                            <a:lumOff val="5000"/>
                          </a:schemeClr>
                        </a:solidFill>
                        <a:latin typeface="Arial" panose="020B0604020202020204" pitchFamily="34" charset="0"/>
                        <a:cs typeface="Arial" panose="020B0604020202020204" pitchFamily="34" charset="0"/>
                      </a:endParaRPr>
                    </a:p>
                  </a:txBody>
                  <a:tcPr anchor="ctr"/>
                </a:tc>
                <a:tc>
                  <a:txBody>
                    <a:bodyPr/>
                    <a:lstStyle/>
                    <a:p>
                      <a:pPr algn="ctr"/>
                      <a:r>
                        <a:rPr lang="en-US" sz="1200" dirty="0">
                          <a:solidFill>
                            <a:schemeClr val="tx2">
                              <a:lumMod val="95000"/>
                              <a:lumOff val="5000"/>
                            </a:schemeClr>
                          </a:solidFill>
                          <a:latin typeface="Arial" panose="020B0604020202020204" pitchFamily="34" charset="0"/>
                          <a:cs typeface="Arial" panose="020B0604020202020204" pitchFamily="34" charset="0"/>
                        </a:rPr>
                        <a:t>…</a:t>
                      </a:r>
                    </a:p>
                  </a:txBody>
                  <a:tcPr anchor="ctr"/>
                </a:tc>
                <a:tc>
                  <a:txBody>
                    <a:bodyPr/>
                    <a:lstStyle/>
                    <a:p>
                      <a:pPr algn="ctr"/>
                      <a:r>
                        <a:rPr lang="en-US" sz="1200" b="1" dirty="0" err="1">
                          <a:solidFill>
                            <a:schemeClr val="tx2">
                              <a:lumMod val="95000"/>
                              <a:lumOff val="5000"/>
                            </a:schemeClr>
                          </a:solidFill>
                          <a:latin typeface="Arial" panose="020B0604020202020204" pitchFamily="34" charset="0"/>
                          <a:cs typeface="Arial" panose="020B0604020202020204" pitchFamily="34" charset="0"/>
                        </a:rPr>
                        <a:t>W</a:t>
                      </a:r>
                      <a:r>
                        <a:rPr lang="en-US" sz="1200" b="1" baseline="-25000" dirty="0" err="1">
                          <a:solidFill>
                            <a:schemeClr val="tx2">
                              <a:lumMod val="95000"/>
                              <a:lumOff val="5000"/>
                            </a:schemeClr>
                          </a:solidFill>
                          <a:latin typeface="Arial" panose="020B0604020202020204" pitchFamily="34" charset="0"/>
                          <a:cs typeface="Arial" panose="020B0604020202020204" pitchFamily="34" charset="0"/>
                        </a:rPr>
                        <a:t>k,n</a:t>
                      </a:r>
                      <a:endParaRPr lang="en-US" sz="1200" dirty="0">
                        <a:solidFill>
                          <a:schemeClr val="tx2">
                            <a:lumMod val="95000"/>
                            <a:lumOff val="5000"/>
                          </a:schemeClr>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38226437"/>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790A89A-7438-D854-96CD-7B3412792015}"/>
                  </a:ext>
                </a:extLst>
              </p:cNvPr>
              <p:cNvSpPr txBox="1"/>
              <p:nvPr/>
            </p:nvSpPr>
            <p:spPr>
              <a:xfrm>
                <a:off x="9096364" y="3736047"/>
                <a:ext cx="844847" cy="8277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b="1" i="1" smtClean="0">
                              <a:latin typeface="Cambria Math" panose="02040503050406030204" pitchFamily="18" charset="0"/>
                            </a:rPr>
                          </m:ctrlPr>
                        </m:dPr>
                        <m:e>
                          <m:m>
                            <m:mPr>
                              <m:mcs>
                                <m:mc>
                                  <m:mcPr>
                                    <m:count m:val="1"/>
                                    <m:mcJc m:val="center"/>
                                  </m:mcPr>
                                </m:mc>
                              </m:mcs>
                              <m:ctrlPr>
                                <a:rPr lang="en-US" sz="1400" b="1" i="1">
                                  <a:latin typeface="Cambria Math" panose="02040503050406030204" pitchFamily="18" charset="0"/>
                                </a:rPr>
                              </m:ctrlPr>
                            </m:mP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𝒓𝒆𝒔𝒖𝒍𝒕</m:t>
                                    </m:r>
                                  </m:e>
                                  <m:sub>
                                    <m:r>
                                      <a:rPr lang="en-US" sz="1400" b="1" i="1">
                                        <a:latin typeface="Cambria Math" panose="02040503050406030204" pitchFamily="18" charset="0"/>
                                      </a:rPr>
                                      <m:t>𝟏</m:t>
                                    </m:r>
                                  </m:sub>
                                </m:sSub>
                              </m:e>
                            </m:m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𝒓𝒆𝒔𝒖𝒍𝒕</m:t>
                                    </m:r>
                                  </m:e>
                                  <m:sub>
                                    <m:r>
                                      <a:rPr lang="en-US" sz="1400" b="1" i="1">
                                        <a:latin typeface="Cambria Math" panose="02040503050406030204" pitchFamily="18" charset="0"/>
                                      </a:rPr>
                                      <m:t>𝟐</m:t>
                                    </m:r>
                                  </m:sub>
                                </m:sSub>
                              </m:e>
                            </m:mr>
                            <m:mr>
                              <m:e>
                                <m:eqArr>
                                  <m:eqArrPr>
                                    <m:ctrlPr>
                                      <a:rPr lang="en-US" sz="1400" b="1" i="1">
                                        <a:latin typeface="Cambria Math" panose="02040503050406030204" pitchFamily="18" charset="0"/>
                                      </a:rPr>
                                    </m:ctrlPr>
                                  </m:eqArrPr>
                                  <m:e>
                                    <m:r>
                                      <a:rPr lang="en-US" sz="1400" b="1" i="1">
                                        <a:latin typeface="Cambria Math" panose="02040503050406030204" pitchFamily="18" charset="0"/>
                                        <a:ea typeface="Cambria Math" panose="02040503050406030204" pitchFamily="18" charset="0"/>
                                      </a:rPr>
                                      <m:t>⋮</m:t>
                                    </m:r>
                                  </m:e>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𝒓𝒆𝒔𝒖𝒍𝒕</m:t>
                                        </m:r>
                                      </m:e>
                                      <m:sub>
                                        <m:r>
                                          <a:rPr lang="en-US" sz="1400" b="1" i="1" smtClean="0">
                                            <a:latin typeface="Cambria Math" panose="02040503050406030204" pitchFamily="18" charset="0"/>
                                          </a:rPr>
                                          <m:t>𝒌</m:t>
                                        </m:r>
                                      </m:sub>
                                    </m:sSub>
                                  </m:e>
                                </m:eqArr>
                              </m:e>
                            </m:mr>
                          </m:m>
                        </m:e>
                      </m:d>
                    </m:oMath>
                  </m:oMathPara>
                </a14:m>
                <a:endParaRPr lang="en-US" sz="1400" b="1" dirty="0"/>
              </a:p>
            </p:txBody>
          </p:sp>
        </mc:Choice>
        <mc:Fallback xmlns="">
          <p:sp>
            <p:nvSpPr>
              <p:cNvPr id="7" name="TextBox 6">
                <a:extLst>
                  <a:ext uri="{FF2B5EF4-FFF2-40B4-BE49-F238E27FC236}">
                    <a16:creationId xmlns:a16="http://schemas.microsoft.com/office/drawing/2014/main" id="{6790A89A-7438-D854-96CD-7B3412792015}"/>
                  </a:ext>
                </a:extLst>
              </p:cNvPr>
              <p:cNvSpPr txBox="1">
                <a:spLocks noRot="1" noChangeAspect="1" noMove="1" noResize="1" noEditPoints="1" noAdjustHandles="1" noChangeArrowheads="1" noChangeShapeType="1" noTextEdit="1"/>
              </p:cNvSpPr>
              <p:nvPr/>
            </p:nvSpPr>
            <p:spPr>
              <a:xfrm>
                <a:off x="9096364" y="3736047"/>
                <a:ext cx="844847" cy="827791"/>
              </a:xfrm>
              <a:prstGeom prst="rect">
                <a:avLst/>
              </a:prstGeom>
              <a:blipFill>
                <a:blip r:embed="rId3"/>
                <a:stretch>
                  <a:fillRect/>
                </a:stretch>
              </a:blipFill>
            </p:spPr>
            <p:txBody>
              <a:bodyPr/>
              <a:lstStyle/>
              <a:p>
                <a:r>
                  <a:rPr lang="en-US">
                    <a:noFill/>
                  </a:rPr>
                  <a:t> </a:t>
                </a:r>
              </a:p>
            </p:txBody>
          </p:sp>
        </mc:Fallback>
      </mc:AlternateContent>
      <p:sp>
        <p:nvSpPr>
          <p:cNvPr id="8" name="Arrow: Right 7">
            <a:extLst>
              <a:ext uri="{FF2B5EF4-FFF2-40B4-BE49-F238E27FC236}">
                <a16:creationId xmlns:a16="http://schemas.microsoft.com/office/drawing/2014/main" id="{669A3AB3-458F-7A78-3014-70D5ED0FFDD1}"/>
              </a:ext>
            </a:extLst>
          </p:cNvPr>
          <p:cNvSpPr/>
          <p:nvPr/>
        </p:nvSpPr>
        <p:spPr>
          <a:xfrm>
            <a:off x="8586470" y="4091745"/>
            <a:ext cx="393192" cy="19475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66AF4FB-E190-2724-F304-CC6BD24248CA}"/>
              </a:ext>
            </a:extLst>
          </p:cNvPr>
          <p:cNvGrpSpPr/>
          <p:nvPr/>
        </p:nvGrpSpPr>
        <p:grpSpPr>
          <a:xfrm>
            <a:off x="3370374" y="4091940"/>
            <a:ext cx="602013" cy="228600"/>
            <a:chOff x="2371036" y="4693043"/>
            <a:chExt cx="602013" cy="228600"/>
          </a:xfrm>
        </p:grpSpPr>
        <p:sp>
          <p:nvSpPr>
            <p:cNvPr id="10" name="Arrow: Right 9">
              <a:extLst>
                <a:ext uri="{FF2B5EF4-FFF2-40B4-BE49-F238E27FC236}">
                  <a16:creationId xmlns:a16="http://schemas.microsoft.com/office/drawing/2014/main" id="{DE3A8C75-D422-CF23-3020-9525AAE355CC}"/>
                </a:ext>
              </a:extLst>
            </p:cNvPr>
            <p:cNvSpPr/>
            <p:nvPr/>
          </p:nvSpPr>
          <p:spPr>
            <a:xfrm>
              <a:off x="2371036" y="4719518"/>
              <a:ext cx="602013" cy="19475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AD3B91D-6A88-8101-428F-9D228818A6E9}"/>
                </a:ext>
              </a:extLst>
            </p:cNvPr>
            <p:cNvSpPr/>
            <p:nvPr/>
          </p:nvSpPr>
          <p:spPr>
            <a:xfrm>
              <a:off x="2495100" y="4693043"/>
              <a:ext cx="228600" cy="228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Berlin Sans FB Demi" panose="020E0802020502020306" pitchFamily="34" charset="0"/>
                  <a:cs typeface="Arial" panose="020B0604020202020204" pitchFamily="34" charset="0"/>
                </a:rPr>
                <a:t>X</a:t>
              </a:r>
            </a:p>
          </p:txBody>
        </p:sp>
      </p:grpSp>
      <p:graphicFrame>
        <p:nvGraphicFramePr>
          <p:cNvPr id="12" name="Table 11">
            <a:extLst>
              <a:ext uri="{FF2B5EF4-FFF2-40B4-BE49-F238E27FC236}">
                <a16:creationId xmlns:a16="http://schemas.microsoft.com/office/drawing/2014/main" id="{67DF4C1F-AAEE-ABB6-8727-D60B2860C719}"/>
              </a:ext>
            </a:extLst>
          </p:cNvPr>
          <p:cNvGraphicFramePr>
            <a:graphicFrameLocks noGrp="1"/>
          </p:cNvGraphicFramePr>
          <p:nvPr>
            <p:extLst>
              <p:ext uri="{D42A27DB-BD31-4B8C-83A1-F6EECF244321}">
                <p14:modId xmlns:p14="http://schemas.microsoft.com/office/powerpoint/2010/main" val="4232562317"/>
              </p:ext>
            </p:extLst>
          </p:nvPr>
        </p:nvGraphicFramePr>
        <p:xfrm>
          <a:off x="7237455" y="2743200"/>
          <a:ext cx="1223105" cy="2438400"/>
        </p:xfrm>
        <a:graphic>
          <a:graphicData uri="http://schemas.openxmlformats.org/drawingml/2006/table">
            <a:tbl>
              <a:tblPr firstRow="1" bandRow="1">
                <a:tableStyleId>{073A0DAA-6AF3-43AB-8588-CEC1D06C72B9}</a:tableStyleId>
              </a:tblPr>
              <a:tblGrid>
                <a:gridCol w="612595">
                  <a:extLst>
                    <a:ext uri="{9D8B030D-6E8A-4147-A177-3AD203B41FA5}">
                      <a16:colId xmlns:a16="http://schemas.microsoft.com/office/drawing/2014/main" val="2461208935"/>
                    </a:ext>
                  </a:extLst>
                </a:gridCol>
                <a:gridCol w="610510">
                  <a:extLst>
                    <a:ext uri="{9D8B030D-6E8A-4147-A177-3AD203B41FA5}">
                      <a16:colId xmlns:a16="http://schemas.microsoft.com/office/drawing/2014/main" val="2902798671"/>
                    </a:ext>
                  </a:extLst>
                </a:gridCol>
              </a:tblGrid>
              <a:tr h="290010">
                <a:tc>
                  <a:txBody>
                    <a:bodyPr/>
                    <a:lstStyle/>
                    <a:p>
                      <a:endParaRPr lang="en-US">
                        <a:solidFill>
                          <a:schemeClr val="tx2">
                            <a:lumMod val="95000"/>
                            <a:lumOff val="5000"/>
                          </a:schemeClr>
                        </a:solidFill>
                      </a:endParaRPr>
                    </a:p>
                  </a:txBody>
                  <a:tcPr/>
                </a:tc>
                <a:tc>
                  <a:txBody>
                    <a:bodyPr/>
                    <a:lstStyle/>
                    <a:p>
                      <a:pPr algn="ctr"/>
                      <a:r>
                        <a:rPr lang="en-US">
                          <a:solidFill>
                            <a:schemeClr val="tx2">
                              <a:lumMod val="95000"/>
                              <a:lumOff val="5000"/>
                            </a:schemeClr>
                          </a:solidFill>
                        </a:rPr>
                        <a:t>1</a:t>
                      </a:r>
                      <a:endParaRPr lang="en-US" dirty="0">
                        <a:solidFill>
                          <a:schemeClr val="tx2">
                            <a:lumMod val="95000"/>
                            <a:lumOff val="5000"/>
                          </a:schemeClr>
                        </a:solidFill>
                      </a:endParaRPr>
                    </a:p>
                  </a:txBody>
                  <a:tcPr/>
                </a:tc>
                <a:extLst>
                  <a:ext uri="{0D108BD9-81ED-4DB2-BD59-A6C34878D82A}">
                    <a16:rowId xmlns:a16="http://schemas.microsoft.com/office/drawing/2014/main" val="39794624"/>
                  </a:ext>
                </a:extLst>
              </a:tr>
              <a:tr h="290010">
                <a:tc>
                  <a:txBody>
                    <a:bodyPr/>
                    <a:lstStyle/>
                    <a:p>
                      <a:r>
                        <a:rPr lang="en-US" dirty="0">
                          <a:solidFill>
                            <a:schemeClr val="tx2">
                              <a:lumMod val="95000"/>
                              <a:lumOff val="5000"/>
                            </a:schemeClr>
                          </a:solidFill>
                        </a:rPr>
                        <a:t>1</a:t>
                      </a:r>
                    </a:p>
                  </a:txBody>
                  <a:tcPr>
                    <a:solidFill>
                      <a:schemeClr val="tx1"/>
                    </a:solidFill>
                  </a:tcP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Bias</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1</a:t>
                      </a:r>
                      <a:endParaRPr lang="en-US" sz="1200" baseline="-25000" dirty="0">
                        <a:solidFill>
                          <a:schemeClr val="tx2">
                            <a:lumMod val="95000"/>
                            <a:lumOff val="5000"/>
                          </a:schemeClr>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236308587"/>
                  </a:ext>
                </a:extLst>
              </a:tr>
              <a:tr h="290010">
                <a:tc>
                  <a:txBody>
                    <a:bodyPr/>
                    <a:lstStyle/>
                    <a:p>
                      <a:r>
                        <a:rPr lang="en-US" dirty="0">
                          <a:solidFill>
                            <a:schemeClr val="tx2">
                              <a:lumMod val="95000"/>
                              <a:lumOff val="5000"/>
                            </a:schemeClr>
                          </a:solidFill>
                        </a:rPr>
                        <a:t>2</a:t>
                      </a:r>
                    </a:p>
                  </a:txBody>
                  <a:tcPr>
                    <a:solidFill>
                      <a:schemeClr val="tx1"/>
                    </a:solidFill>
                  </a:tcP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Bias</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2</a:t>
                      </a:r>
                      <a:endParaRPr lang="en-US" sz="1200" baseline="-25000" dirty="0">
                        <a:solidFill>
                          <a:schemeClr val="tx2">
                            <a:lumMod val="95000"/>
                            <a:lumOff val="5000"/>
                          </a:schemeClr>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24575868"/>
                  </a:ext>
                </a:extLst>
              </a:tr>
              <a:tr h="290010">
                <a:tc>
                  <a:txBody>
                    <a:bodyPr/>
                    <a:lstStyle/>
                    <a:p>
                      <a:r>
                        <a:rPr lang="en-US" dirty="0">
                          <a:solidFill>
                            <a:schemeClr val="tx2">
                              <a:lumMod val="95000"/>
                              <a:lumOff val="5000"/>
                            </a:schemeClr>
                          </a:solidFill>
                        </a:rPr>
                        <a:t>3</a:t>
                      </a:r>
                    </a:p>
                  </a:txBody>
                  <a:tcPr>
                    <a:solidFill>
                      <a:schemeClr val="tx1"/>
                    </a:solidFill>
                  </a:tcP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Bias</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3</a:t>
                      </a:r>
                      <a:endParaRPr lang="en-US" sz="1200" baseline="-25000" dirty="0">
                        <a:solidFill>
                          <a:schemeClr val="tx2">
                            <a:lumMod val="95000"/>
                            <a:lumOff val="5000"/>
                          </a:schemeClr>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966741110"/>
                  </a:ext>
                </a:extLst>
              </a:tr>
              <a:tr h="290010">
                <a:tc>
                  <a:txBody>
                    <a:bodyPr/>
                    <a:lstStyle/>
                    <a:p>
                      <a:r>
                        <a:rPr lang="en-US" dirty="0">
                          <a:solidFill>
                            <a:schemeClr val="tx2">
                              <a:lumMod val="95000"/>
                              <a:lumOff val="5000"/>
                            </a:schemeClr>
                          </a:solidFill>
                        </a:rPr>
                        <a:t>4</a:t>
                      </a:r>
                    </a:p>
                  </a:txBody>
                  <a:tcPr>
                    <a:solidFill>
                      <a:schemeClr val="tx1"/>
                    </a:solidFill>
                  </a:tcP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Bias</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4</a:t>
                      </a:r>
                      <a:endParaRPr lang="en-US" sz="1200" baseline="-25000" dirty="0">
                        <a:solidFill>
                          <a:schemeClr val="tx2">
                            <a:lumMod val="95000"/>
                            <a:lumOff val="5000"/>
                          </a:schemeClr>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41940045"/>
                  </a:ext>
                </a:extLst>
              </a:tr>
              <a:tr h="290010">
                <a:tc>
                  <a:txBody>
                    <a:bodyPr/>
                    <a:lstStyle/>
                    <a:p>
                      <a:r>
                        <a:rPr lang="en-US" dirty="0">
                          <a:solidFill>
                            <a:schemeClr val="tx2">
                              <a:lumMod val="95000"/>
                              <a:lumOff val="5000"/>
                            </a:schemeClr>
                          </a:solidFill>
                        </a:rPr>
                        <a:t>5</a:t>
                      </a:r>
                    </a:p>
                  </a:txBody>
                  <a:tcPr>
                    <a:solidFill>
                      <a:schemeClr val="tx1"/>
                    </a:solidFill>
                  </a:tcPr>
                </a:tc>
                <a:tc>
                  <a:txBody>
                    <a:bodyPr/>
                    <a:lstStyle/>
                    <a:p>
                      <a:pPr algn="ctr"/>
                      <a:r>
                        <a:rPr lang="en-US" sz="1200" b="1" dirty="0">
                          <a:solidFill>
                            <a:schemeClr val="tx2">
                              <a:lumMod val="95000"/>
                              <a:lumOff val="5000"/>
                            </a:schemeClr>
                          </a:solidFill>
                          <a:latin typeface="Arial" panose="020B0604020202020204" pitchFamily="34" charset="0"/>
                          <a:cs typeface="Arial" panose="020B0604020202020204" pitchFamily="34" charset="0"/>
                        </a:rPr>
                        <a:t>Bias</a:t>
                      </a:r>
                      <a:r>
                        <a:rPr lang="en-US" sz="1200" b="1" baseline="-25000" dirty="0">
                          <a:solidFill>
                            <a:schemeClr val="tx2">
                              <a:lumMod val="95000"/>
                              <a:lumOff val="5000"/>
                            </a:schemeClr>
                          </a:solidFill>
                          <a:latin typeface="Arial" panose="020B0604020202020204" pitchFamily="34" charset="0"/>
                          <a:cs typeface="Arial" panose="020B0604020202020204" pitchFamily="34" charset="0"/>
                        </a:rPr>
                        <a:t>5</a:t>
                      </a:r>
                      <a:endParaRPr lang="en-US" sz="1200" baseline="-25000" dirty="0">
                        <a:solidFill>
                          <a:schemeClr val="tx2">
                            <a:lumMod val="95000"/>
                            <a:lumOff val="5000"/>
                          </a:schemeClr>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617917177"/>
                  </a:ext>
                </a:extLst>
              </a:tr>
              <a:tr h="290010">
                <a:tc gridSpan="2">
                  <a:txBody>
                    <a:bodyPr/>
                    <a:lstStyle/>
                    <a:p>
                      <a:pPr algn="ctr"/>
                      <a:r>
                        <a:rPr lang="en-US" dirty="0">
                          <a:solidFill>
                            <a:schemeClr val="tx2">
                              <a:lumMod val="95000"/>
                              <a:lumOff val="5000"/>
                            </a:schemeClr>
                          </a:solidFill>
                        </a:rPr>
                        <a:t>…</a:t>
                      </a:r>
                    </a:p>
                  </a:txBody>
                  <a:tcPr/>
                </a:tc>
                <a:tc hMerge="1">
                  <a:txBody>
                    <a:bodyPr/>
                    <a:lstStyle/>
                    <a:p>
                      <a:pPr algn="ctr"/>
                      <a:endParaRPr lang="en-US" dirty="0"/>
                    </a:p>
                  </a:txBody>
                  <a:tcPr/>
                </a:tc>
                <a:extLst>
                  <a:ext uri="{0D108BD9-81ED-4DB2-BD59-A6C34878D82A}">
                    <a16:rowId xmlns:a16="http://schemas.microsoft.com/office/drawing/2014/main" val="3814939326"/>
                  </a:ext>
                </a:extLst>
              </a:tr>
              <a:tr h="290010">
                <a:tc>
                  <a:txBody>
                    <a:bodyPr/>
                    <a:lstStyle/>
                    <a:p>
                      <a:r>
                        <a:rPr lang="en-US" dirty="0">
                          <a:solidFill>
                            <a:schemeClr val="tx2">
                              <a:lumMod val="95000"/>
                              <a:lumOff val="5000"/>
                            </a:schemeClr>
                          </a:solidFill>
                        </a:rPr>
                        <a:t>k</a:t>
                      </a:r>
                    </a:p>
                  </a:txBody>
                  <a:tcPr>
                    <a:solidFill>
                      <a:schemeClr val="tx1"/>
                    </a:solidFill>
                  </a:tcPr>
                </a:tc>
                <a:tc>
                  <a:txBody>
                    <a:bodyPr/>
                    <a:lstStyle/>
                    <a:p>
                      <a:pPr algn="ctr"/>
                      <a:r>
                        <a:rPr lang="en-US" sz="1200" b="1" dirty="0" err="1">
                          <a:solidFill>
                            <a:schemeClr val="tx2">
                              <a:lumMod val="95000"/>
                              <a:lumOff val="5000"/>
                            </a:schemeClr>
                          </a:solidFill>
                          <a:latin typeface="Arial" panose="020B0604020202020204" pitchFamily="34" charset="0"/>
                          <a:cs typeface="Arial" panose="020B0604020202020204" pitchFamily="34" charset="0"/>
                        </a:rPr>
                        <a:t>Bias</a:t>
                      </a:r>
                      <a:r>
                        <a:rPr lang="en-US" sz="1200" b="1" baseline="-25000" dirty="0" err="1">
                          <a:solidFill>
                            <a:schemeClr val="tx2">
                              <a:lumMod val="95000"/>
                              <a:lumOff val="5000"/>
                            </a:schemeClr>
                          </a:solidFill>
                          <a:latin typeface="Arial" panose="020B0604020202020204" pitchFamily="34" charset="0"/>
                          <a:cs typeface="Arial" panose="020B0604020202020204" pitchFamily="34" charset="0"/>
                        </a:rPr>
                        <a:t>k</a:t>
                      </a:r>
                      <a:endParaRPr lang="en-US" sz="1200" baseline="-25000" dirty="0">
                        <a:solidFill>
                          <a:schemeClr val="tx2">
                            <a:lumMod val="95000"/>
                            <a:lumOff val="5000"/>
                          </a:schemeClr>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38226437"/>
                  </a:ext>
                </a:extLst>
              </a:tr>
            </a:tbl>
          </a:graphicData>
        </a:graphic>
      </p:graphicFrame>
      <p:grpSp>
        <p:nvGrpSpPr>
          <p:cNvPr id="13" name="Group 12">
            <a:extLst>
              <a:ext uri="{FF2B5EF4-FFF2-40B4-BE49-F238E27FC236}">
                <a16:creationId xmlns:a16="http://schemas.microsoft.com/office/drawing/2014/main" id="{7AA3DB68-A5F0-CB43-1250-C1EB379EC352}"/>
              </a:ext>
            </a:extLst>
          </p:cNvPr>
          <p:cNvGrpSpPr/>
          <p:nvPr/>
        </p:nvGrpSpPr>
        <p:grpSpPr>
          <a:xfrm>
            <a:off x="6575014" y="4057903"/>
            <a:ext cx="602013" cy="228600"/>
            <a:chOff x="2371036" y="4693043"/>
            <a:chExt cx="602013" cy="228600"/>
          </a:xfrm>
        </p:grpSpPr>
        <p:sp>
          <p:nvSpPr>
            <p:cNvPr id="14" name="Arrow: Right 13">
              <a:extLst>
                <a:ext uri="{FF2B5EF4-FFF2-40B4-BE49-F238E27FC236}">
                  <a16:creationId xmlns:a16="http://schemas.microsoft.com/office/drawing/2014/main" id="{F7D7DD3E-0CD8-B5AE-641E-554C775D8AB3}"/>
                </a:ext>
              </a:extLst>
            </p:cNvPr>
            <p:cNvSpPr/>
            <p:nvPr/>
          </p:nvSpPr>
          <p:spPr>
            <a:xfrm>
              <a:off x="2371036" y="4719518"/>
              <a:ext cx="602013" cy="19475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8D17DE-A7D6-4E66-3CB3-497CAF93AB69}"/>
                </a:ext>
              </a:extLst>
            </p:cNvPr>
            <p:cNvSpPr/>
            <p:nvPr/>
          </p:nvSpPr>
          <p:spPr>
            <a:xfrm>
              <a:off x="2495100" y="4693043"/>
              <a:ext cx="228600" cy="228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Berlin Sans FB Demi" panose="020E0802020502020306" pitchFamily="34" charset="0"/>
                  <a:cs typeface="Arial" panose="020B0604020202020204" pitchFamily="34" charset="0"/>
                </a:rPr>
                <a:t>+</a:t>
              </a:r>
            </a:p>
          </p:txBody>
        </p:sp>
      </p:grpSp>
    </p:spTree>
    <p:extLst>
      <p:ext uri="{BB962C8B-B14F-4D97-AF65-F5344CB8AC3E}">
        <p14:creationId xmlns:p14="http://schemas.microsoft.com/office/powerpoint/2010/main" val="2129734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Layers</a:t>
            </a:r>
          </a:p>
        </p:txBody>
      </p:sp>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181600"/>
              </a:xfrm>
            </p:spPr>
            <p:txBody>
              <a:bodyPr>
                <a:normAutofit/>
              </a:bodyPr>
              <a:lstStyle/>
              <a:p>
                <a:r>
                  <a:rPr lang="en-US" dirty="0"/>
                  <a:t>torch.nn.Linear is the component for matrix multiplication, that is organized as follows:</a:t>
                </a:r>
              </a:p>
              <a:p>
                <a:r>
                  <a:rPr lang="en-US" dirty="0"/>
                  <a:t>The initialization format is: </a:t>
                </a:r>
              </a:p>
              <a:p>
                <a:pPr lvl="1"/>
                <a:r>
                  <a:rPr lang="en-US" b="1" i="1" dirty="0" err="1">
                    <a:latin typeface="Arial" panose="020B0604020202020204" pitchFamily="34" charset="0"/>
                    <a:cs typeface="Arial" panose="020B0604020202020204" pitchFamily="34" charset="0"/>
                  </a:rPr>
                  <a:t>torch.nn.Linear</a:t>
                </a:r>
                <a:r>
                  <a:rPr lang="en-US" b="1"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t>
                </a:r>
                <a:r>
                  <a:rPr lang="en-US" dirty="0">
                    <a:solidFill>
                      <a:schemeClr val="tx2">
                        <a:lumMod val="95000"/>
                        <a:lumOff val="5000"/>
                      </a:schemeClr>
                    </a:solidFill>
                    <a:latin typeface="Arial" panose="020B0604020202020204" pitchFamily="34" charset="0"/>
                    <a:cs typeface="Arial" panose="020B0604020202020204" pitchFamily="34" charset="0"/>
                  </a:rPr>
                  <a:t>number of weights/features</a:t>
                </a:r>
                <a:r>
                  <a:rPr lang="en-US" dirty="0">
                    <a:latin typeface="Arial" panose="020B0604020202020204" pitchFamily="34" charset="0"/>
                    <a:cs typeface="Arial" panose="020B0604020202020204" pitchFamily="34" charset="0"/>
                  </a:rPr>
                  <a:t>,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a:t>
                </a:r>
                <a:r>
                  <a:rPr lang="en-US" dirty="0">
                    <a:solidFill>
                      <a:schemeClr val="bg1"/>
                    </a:solidFill>
                    <a:latin typeface="Arial" panose="020B0604020202020204" pitchFamily="34" charset="0"/>
                    <a:cs typeface="Arial" panose="020B0604020202020204" pitchFamily="34" charset="0"/>
                  </a:rPr>
                  <a:t>size of output vector</a:t>
                </a:r>
                <a:r>
                  <a:rPr lang="en-US" dirty="0">
                    <a:latin typeface="Arial" panose="020B0604020202020204" pitchFamily="34" charset="0"/>
                    <a:cs typeface="Arial" panose="020B0604020202020204" pitchFamily="34" charset="0"/>
                  </a:rPr>
                  <a:t>,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a:t>
                </a:r>
                <a:r>
                  <a:rPr lang="en-US" b="1" dirty="0" err="1">
                    <a:solidFill>
                      <a:srgbClr val="FFC000"/>
                    </a:solidFill>
                    <a:latin typeface="Arial" panose="020B0604020202020204" pitchFamily="34" charset="0"/>
                    <a:cs typeface="Arial" panose="020B0604020202020204" pitchFamily="34" charset="0"/>
                  </a:rPr>
                  <a:t>has_bias</a:t>
                </a:r>
                <a:r>
                  <a:rPr lang="en-US" dirty="0">
                    <a:latin typeface="Arial" panose="020B0604020202020204" pitchFamily="34" charset="0"/>
                    <a:cs typeface="Arial" panose="020B0604020202020204" pitchFamily="34" charset="0"/>
                  </a:rPr>
                  <a:t>)</a:t>
                </a:r>
              </a:p>
              <a:p>
                <a:endParaRPr lang="en-US" dirty="0"/>
              </a:p>
              <a:p>
                <a:r>
                  <a:rPr lang="en-US" dirty="0"/>
                  <a:t>Implicitly, all weights are initialized with a random value between </a:t>
                </a:r>
                <a14:m>
                  <m:oMath xmlns:m="http://schemas.openxmlformats.org/officeDocument/2006/math">
                    <m:r>
                      <a:rPr lang="en-US" b="0" i="0" smtClean="0">
                        <a:latin typeface="Cambria Math" panose="02040503050406030204" pitchFamily="18" charset="0"/>
                      </a:rPr>
                      <m:t>−</m:t>
                    </m:r>
                    <m:rad>
                      <m:radPr>
                        <m:degHide m:val="on"/>
                        <m:ctrlPr>
                          <a:rPr lang="en-US" i="1" smtClean="0">
                            <a:latin typeface="Cambria Math" panose="02040503050406030204" pitchFamily="18" charset="0"/>
                          </a:rPr>
                        </m:ctrlPr>
                      </m:radPr>
                      <m:deg/>
                      <m:e>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𝑤𝑒𝑖𝑔h𝑡𝑠</m:t>
                            </m:r>
                          </m:den>
                        </m:f>
                      </m:e>
                    </m:rad>
                  </m:oMath>
                </a14:m>
                <a:r>
                  <a:rPr lang="en-US" dirty="0"/>
                  <a:t> and </a:t>
                </a:r>
                <a14:m>
                  <m:oMath xmlns:m="http://schemas.openxmlformats.org/officeDocument/2006/math">
                    <m:r>
                      <a:rPr lang="en-US" dirty="0" smtClean="0">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𝑛𝑢𝑚𝑏𝑒𝑟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𝑤𝑒𝑖𝑔h𝑡𝑠</m:t>
                            </m:r>
                          </m:den>
                        </m:f>
                      </m:e>
                    </m:rad>
                  </m:oMath>
                </a14:m>
                <a:endParaRPr lang="en-US" dirty="0"/>
              </a:p>
              <a:p>
                <a:pPr marL="365760" lvl="1" indent="0">
                  <a:buNone/>
                </a:pPr>
                <a:endParaRPr lang="en-US" dirty="0"/>
              </a:p>
            </p:txBody>
          </p:sp>
        </mc:Choice>
        <mc:Fallback>
          <p:sp>
            <p:nvSpPr>
              <p:cNvPr id="2" name="Content Placeholder 1">
                <a:extLst>
                  <a:ext uri="{FF2B5EF4-FFF2-40B4-BE49-F238E27FC236}">
                    <a16:creationId xmlns:a16="http://schemas.microsoft.com/office/drawing/2014/main" id="{52727B5D-7A91-2533-EA3E-736CE4025086}"/>
                  </a:ext>
                </a:extLst>
              </p:cNvPr>
              <p:cNvSpPr>
                <a:spLocks noGrp="1" noRot="1" noChangeAspect="1" noMove="1" noResize="1" noEditPoints="1" noAdjustHandles="1" noChangeArrowheads="1" noChangeShapeType="1" noTextEdit="1"/>
              </p:cNvSpPr>
              <p:nvPr>
                <p:ph idx="1"/>
              </p:nvPr>
            </p:nvSpPr>
            <p:spPr>
              <a:xfrm>
                <a:off x="1593436" y="1600200"/>
                <a:ext cx="9782801" cy="5181600"/>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26135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Layers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Let’s see an 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actual operation behind this code is as follows</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2313940"/>
            <a:ext cx="9144000" cy="2209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endParaRPr lang="en-US" b="0" dirty="0">
              <a:solidFill>
                <a:srgbClr val="DADADA"/>
              </a:solidFill>
              <a:effectLst/>
              <a:latin typeface="Consolas" panose="020B0609020204030204" pitchFamily="49" charset="0"/>
            </a:endParaRPr>
          </a:p>
          <a:p>
            <a:endParaRPr lang="en-US" b="0" dirty="0">
              <a:solidFill>
                <a:srgbClr val="229977"/>
              </a:solidFill>
              <a:effectLst/>
              <a:latin typeface="Consolas" panose="020B0609020204030204" pitchFamily="49" charset="0"/>
            </a:endParaRPr>
          </a:p>
          <a:p>
            <a:r>
              <a:rPr lang="en-US" b="0" dirty="0">
                <a:solidFill>
                  <a:srgbClr val="229977"/>
                </a:solidFill>
                <a:effectLst/>
                <a:latin typeface="Consolas" panose="020B0609020204030204" pitchFamily="49" charset="0"/>
              </a:rPr>
              <a:t>tensor</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linear</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Linear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569CD6"/>
                </a:solidFill>
                <a:effectLst/>
                <a:latin typeface="Consolas" panose="020B0609020204030204" pitchFamily="49" charset="0"/>
              </a:rPr>
              <a:t>False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result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linear</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Linear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linear</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Output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result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weights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linear</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weight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04CA8DB0-D4A3-F459-8378-350C54FC1FDF}"/>
              </a:ext>
            </a:extLst>
          </p:cNvPr>
          <p:cNvGraphicFramePr>
            <a:graphicFrameLocks noGrp="1"/>
          </p:cNvGraphicFramePr>
          <p:nvPr>
            <p:extLst>
              <p:ext uri="{D42A27DB-BD31-4B8C-83A1-F6EECF244321}">
                <p14:modId xmlns:p14="http://schemas.microsoft.com/office/powerpoint/2010/main" val="4107614347"/>
              </p:ext>
            </p:extLst>
          </p:nvPr>
        </p:nvGraphicFramePr>
        <p:xfrm>
          <a:off x="6704012" y="2382520"/>
          <a:ext cx="4979886" cy="1559560"/>
        </p:xfrm>
        <a:graphic>
          <a:graphicData uri="http://schemas.openxmlformats.org/drawingml/2006/table">
            <a:tbl>
              <a:tblPr firstRow="1" bandRow="1">
                <a:tableStyleId>{073A0DAA-6AF3-43AB-8588-CEC1D06C72B9}</a:tableStyleId>
              </a:tblPr>
              <a:tblGrid>
                <a:gridCol w="4979886">
                  <a:extLst>
                    <a:ext uri="{9D8B030D-6E8A-4147-A177-3AD203B41FA5}">
                      <a16:colId xmlns:a16="http://schemas.microsoft.com/office/drawing/2014/main" val="3899577134"/>
                    </a:ext>
                  </a:extLst>
                </a:gridCol>
              </a:tblGrid>
              <a:tr h="370840">
                <a:tc>
                  <a:txBody>
                    <a:bodyPr/>
                    <a:lstStyle/>
                    <a:p>
                      <a:r>
                        <a:rPr lang="en-US" sz="1600" dirty="0"/>
                        <a:t>Output</a:t>
                      </a:r>
                    </a:p>
                  </a:txBody>
                  <a:tcPr/>
                </a:tc>
                <a:extLst>
                  <a:ext uri="{0D108BD9-81ED-4DB2-BD59-A6C34878D82A}">
                    <a16:rowId xmlns:a16="http://schemas.microsoft.com/office/drawing/2014/main" val="117988312"/>
                  </a:ext>
                </a:extLst>
              </a:tr>
              <a:tr h="370840">
                <a:tc>
                  <a:txBody>
                    <a:bodyPr/>
                    <a:lstStyle/>
                    <a:p>
                      <a:r>
                        <a:rPr lang="en-US" sz="1200" dirty="0">
                          <a:solidFill>
                            <a:schemeClr val="tx2"/>
                          </a:solidFill>
                          <a:latin typeface="Consolas" panose="020B0609020204030204" pitchFamily="49" charset="0"/>
                        </a:rPr>
                        <a:t>Linear= Linear(</a:t>
                      </a:r>
                      <a:r>
                        <a:rPr lang="en-US" sz="1200" dirty="0" err="1">
                          <a:solidFill>
                            <a:schemeClr val="tx2"/>
                          </a:solidFill>
                          <a:latin typeface="Consolas" panose="020B0609020204030204" pitchFamily="49" charset="0"/>
                        </a:rPr>
                        <a:t>in_features</a:t>
                      </a:r>
                      <a:r>
                        <a:rPr lang="en-US" sz="1200" dirty="0">
                          <a:solidFill>
                            <a:schemeClr val="tx2"/>
                          </a:solidFill>
                          <a:latin typeface="Consolas" panose="020B0609020204030204" pitchFamily="49" charset="0"/>
                        </a:rPr>
                        <a:t>=3, </a:t>
                      </a:r>
                      <a:r>
                        <a:rPr lang="en-US" sz="1200" dirty="0" err="1">
                          <a:solidFill>
                            <a:schemeClr val="tx2"/>
                          </a:solidFill>
                          <a:latin typeface="Consolas" panose="020B0609020204030204" pitchFamily="49" charset="0"/>
                        </a:rPr>
                        <a:t>out_features</a:t>
                      </a:r>
                      <a:r>
                        <a:rPr lang="en-US" sz="1200" dirty="0">
                          <a:solidFill>
                            <a:schemeClr val="tx2"/>
                          </a:solidFill>
                          <a:latin typeface="Consolas" panose="020B0609020204030204" pitchFamily="49" charset="0"/>
                        </a:rPr>
                        <a:t>=2, bias=False)</a:t>
                      </a:r>
                    </a:p>
                    <a:p>
                      <a:r>
                        <a:rPr lang="en-US" sz="1200" dirty="0">
                          <a:solidFill>
                            <a:schemeClr val="tx2"/>
                          </a:solidFill>
                          <a:latin typeface="Consolas" panose="020B0609020204030204" pitchFamily="49" charset="0"/>
                        </a:rPr>
                        <a:t>Output= tensor([-1.9759, -0.9411], </a:t>
                      </a:r>
                      <a:r>
                        <a:rPr lang="en-US" sz="1200" dirty="0" err="1">
                          <a:solidFill>
                            <a:schemeClr val="tx2"/>
                          </a:solidFill>
                          <a:latin typeface="Consolas" panose="020B0609020204030204" pitchFamily="49" charset="0"/>
                        </a:rPr>
                        <a:t>grad_fn</a:t>
                      </a:r>
                      <a:r>
                        <a:rPr lang="en-US" sz="1200" dirty="0">
                          <a:solidFill>
                            <a:schemeClr val="tx2"/>
                          </a:solidFill>
                          <a:latin typeface="Consolas" panose="020B0609020204030204" pitchFamily="49" charset="0"/>
                        </a:rPr>
                        <a:t>=&lt;SqueezeBackward4&gt;)</a:t>
                      </a:r>
                    </a:p>
                    <a:p>
                      <a:r>
                        <a:rPr lang="en-US" sz="1200" dirty="0">
                          <a:solidFill>
                            <a:schemeClr val="tx2"/>
                          </a:solidFill>
                          <a:latin typeface="Consolas" panose="020B0609020204030204" pitchFamily="49" charset="0"/>
                        </a:rPr>
                        <a:t>weights= Parameter containing:</a:t>
                      </a:r>
                    </a:p>
                    <a:p>
                      <a:r>
                        <a:rPr lang="en-US" sz="1200" dirty="0">
                          <a:solidFill>
                            <a:schemeClr val="tx2"/>
                          </a:solidFill>
                          <a:latin typeface="Consolas" panose="020B0609020204030204" pitchFamily="49" charset="0"/>
                        </a:rPr>
                        <a:t>tensor([[-0.5071, -0.0566, -0.4519],</a:t>
                      </a:r>
                    </a:p>
                    <a:p>
                      <a:r>
                        <a:rPr lang="en-US" sz="1200" dirty="0">
                          <a:solidFill>
                            <a:schemeClr val="tx2"/>
                          </a:solidFill>
                          <a:latin typeface="Consolas" panose="020B0609020204030204" pitchFamily="49" charset="0"/>
                        </a:rPr>
                        <a:t>        [-0.3147, -0.4348,  0.0810]], </a:t>
                      </a:r>
                      <a:r>
                        <a:rPr lang="en-US" sz="1200" dirty="0" err="1">
                          <a:solidFill>
                            <a:schemeClr val="tx2"/>
                          </a:solidFill>
                          <a:latin typeface="Consolas" panose="020B0609020204030204" pitchFamily="49" charset="0"/>
                        </a:rPr>
                        <a:t>requires_grad</a:t>
                      </a:r>
                      <a:r>
                        <a:rPr lang="en-US" sz="1200" dirty="0">
                          <a:solidFill>
                            <a:schemeClr val="tx2"/>
                          </a:solidFill>
                          <a:latin typeface="Consolas" panose="020B0609020204030204" pitchFamily="49" charset="0"/>
                        </a:rPr>
                        <a:t>=True)</a:t>
                      </a:r>
                    </a:p>
                  </a:txBody>
                  <a:tcPr/>
                </a:tc>
                <a:extLst>
                  <a:ext uri="{0D108BD9-81ED-4DB2-BD59-A6C34878D82A}">
                    <a16:rowId xmlns:a16="http://schemas.microsoft.com/office/drawing/2014/main" val="4231599274"/>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64EBD6B-8D65-9080-D791-9570ED144D81}"/>
                  </a:ext>
                </a:extLst>
              </p:cNvPr>
              <p:cNvSpPr txBox="1"/>
              <p:nvPr/>
            </p:nvSpPr>
            <p:spPr>
              <a:xfrm>
                <a:off x="3812797" y="5318884"/>
                <a:ext cx="589071" cy="6512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b="1" i="1" smtClean="0">
                              <a:latin typeface="Cambria Math" panose="02040503050406030204" pitchFamily="18" charset="0"/>
                            </a:rPr>
                          </m:ctrlPr>
                        </m:dPr>
                        <m:e>
                          <m:eqArr>
                            <m:eqArrPr>
                              <m:ctrlPr>
                                <a:rPr lang="en-US" sz="1600" b="1" i="1" smtClean="0">
                                  <a:latin typeface="Cambria Math" panose="02040503050406030204" pitchFamily="18" charset="0"/>
                                </a:rPr>
                              </m:ctrlPr>
                            </m:eqArrPr>
                            <m:e>
                              <m:r>
                                <a:rPr lang="en-US" sz="1600" b="1" i="1" smtClean="0">
                                  <a:latin typeface="Cambria Math" panose="02040503050406030204" pitchFamily="18" charset="0"/>
                                </a:rPr>
                                <m:t>𝟏</m:t>
                              </m:r>
                              <m:r>
                                <a:rPr lang="en-US" sz="1600" b="1" i="1" smtClean="0">
                                  <a:latin typeface="Cambria Math" panose="02040503050406030204" pitchFamily="18" charset="0"/>
                                </a:rPr>
                                <m:t>.</m:t>
                              </m:r>
                              <m:r>
                                <a:rPr lang="en-US" sz="1600" b="1" i="1" smtClean="0">
                                  <a:latin typeface="Cambria Math" panose="02040503050406030204" pitchFamily="18" charset="0"/>
                                </a:rPr>
                                <m:t>𝟎</m:t>
                              </m:r>
                            </m:e>
                            <m:e>
                              <m:r>
                                <a:rPr lang="en-US" sz="1600" b="1" i="1" smtClean="0">
                                  <a:latin typeface="Cambria Math" panose="02040503050406030204" pitchFamily="18" charset="0"/>
                                </a:rPr>
                                <m:t>𝟐</m:t>
                              </m:r>
                              <m:r>
                                <a:rPr lang="en-US" sz="1600" b="1" i="1" smtClean="0">
                                  <a:latin typeface="Cambria Math" panose="02040503050406030204" pitchFamily="18" charset="0"/>
                                </a:rPr>
                                <m:t>.</m:t>
                              </m:r>
                              <m:r>
                                <a:rPr lang="en-US" sz="1600" b="1" i="1" smtClean="0">
                                  <a:latin typeface="Cambria Math" panose="02040503050406030204" pitchFamily="18" charset="0"/>
                                </a:rPr>
                                <m:t>𝟎</m:t>
                              </m:r>
                            </m:e>
                            <m:e>
                              <m:r>
                                <a:rPr lang="en-US" sz="1600" b="1" i="1" smtClean="0">
                                  <a:latin typeface="Cambria Math" panose="02040503050406030204" pitchFamily="18" charset="0"/>
                                </a:rPr>
                                <m:t>𝟑</m:t>
                              </m:r>
                              <m:r>
                                <a:rPr lang="en-US" sz="1600" b="1" i="1" smtClean="0">
                                  <a:latin typeface="Cambria Math" panose="02040503050406030204" pitchFamily="18" charset="0"/>
                                </a:rPr>
                                <m:t>.</m:t>
                              </m:r>
                              <m:r>
                                <a:rPr lang="en-US" sz="1600" b="1" i="1" smtClean="0">
                                  <a:latin typeface="Cambria Math" panose="02040503050406030204" pitchFamily="18" charset="0"/>
                                </a:rPr>
                                <m:t>𝟎</m:t>
                              </m:r>
                            </m:e>
                          </m:eqArr>
                        </m:e>
                      </m:d>
                    </m:oMath>
                  </m:oMathPara>
                </a14:m>
                <a:endParaRPr lang="en-US" sz="1600" b="1" dirty="0"/>
              </a:p>
            </p:txBody>
          </p:sp>
        </mc:Choice>
        <mc:Fallback xmlns="">
          <p:sp>
            <p:nvSpPr>
              <p:cNvPr id="8" name="TextBox 7">
                <a:extLst>
                  <a:ext uri="{FF2B5EF4-FFF2-40B4-BE49-F238E27FC236}">
                    <a16:creationId xmlns:a16="http://schemas.microsoft.com/office/drawing/2014/main" id="{064EBD6B-8D65-9080-D791-9570ED144D81}"/>
                  </a:ext>
                </a:extLst>
              </p:cNvPr>
              <p:cNvSpPr txBox="1">
                <a:spLocks noRot="1" noChangeAspect="1" noMove="1" noResize="1" noEditPoints="1" noAdjustHandles="1" noChangeArrowheads="1" noChangeShapeType="1" noTextEdit="1"/>
              </p:cNvSpPr>
              <p:nvPr/>
            </p:nvSpPr>
            <p:spPr>
              <a:xfrm>
                <a:off x="3812797" y="5318884"/>
                <a:ext cx="589071" cy="651204"/>
              </a:xfrm>
              <a:prstGeom prst="rect">
                <a:avLst/>
              </a:prstGeom>
              <a:blipFill>
                <a:blip r:embed="rId2"/>
                <a:stretch>
                  <a:fillRect/>
                </a:stretch>
              </a:blipFill>
            </p:spPr>
            <p:txBody>
              <a:bodyPr/>
              <a:lstStyle/>
              <a:p>
                <a:r>
                  <a:rPr lang="en-US">
                    <a:noFill/>
                  </a:rPr>
                  <a:t> </a:t>
                </a:r>
              </a:p>
            </p:txBody>
          </p:sp>
        </mc:Fallback>
      </mc:AlternateContent>
      <p:graphicFrame>
        <p:nvGraphicFramePr>
          <p:cNvPr id="9" name="Table 8">
            <a:extLst>
              <a:ext uri="{FF2B5EF4-FFF2-40B4-BE49-F238E27FC236}">
                <a16:creationId xmlns:a16="http://schemas.microsoft.com/office/drawing/2014/main" id="{A803F75E-8565-57E9-0BD1-D958165F4F9F}"/>
              </a:ext>
            </a:extLst>
          </p:cNvPr>
          <p:cNvGraphicFramePr>
            <a:graphicFrameLocks noGrp="1"/>
          </p:cNvGraphicFramePr>
          <p:nvPr>
            <p:extLst>
              <p:ext uri="{D42A27DB-BD31-4B8C-83A1-F6EECF244321}">
                <p14:modId xmlns:p14="http://schemas.microsoft.com/office/powerpoint/2010/main" val="3566518974"/>
              </p:ext>
            </p:extLst>
          </p:nvPr>
        </p:nvGraphicFramePr>
        <p:xfrm>
          <a:off x="5180012" y="5105400"/>
          <a:ext cx="2964635" cy="914400"/>
        </p:xfrm>
        <a:graphic>
          <a:graphicData uri="http://schemas.openxmlformats.org/drawingml/2006/table">
            <a:tbl>
              <a:tblPr firstRow="1" bandRow="1">
                <a:tableStyleId>{073A0DAA-6AF3-43AB-8588-CEC1D06C72B9}</a:tableStyleId>
              </a:tblPr>
              <a:tblGrid>
                <a:gridCol w="495755">
                  <a:extLst>
                    <a:ext uri="{9D8B030D-6E8A-4147-A177-3AD203B41FA5}">
                      <a16:colId xmlns:a16="http://schemas.microsoft.com/office/drawing/2014/main" val="2461208935"/>
                    </a:ext>
                  </a:extLst>
                </a:gridCol>
                <a:gridCol w="822960">
                  <a:extLst>
                    <a:ext uri="{9D8B030D-6E8A-4147-A177-3AD203B41FA5}">
                      <a16:colId xmlns:a16="http://schemas.microsoft.com/office/drawing/2014/main" val="3995971565"/>
                    </a:ext>
                  </a:extLst>
                </a:gridCol>
                <a:gridCol w="822960">
                  <a:extLst>
                    <a:ext uri="{9D8B030D-6E8A-4147-A177-3AD203B41FA5}">
                      <a16:colId xmlns:a16="http://schemas.microsoft.com/office/drawing/2014/main" val="2822411257"/>
                    </a:ext>
                  </a:extLst>
                </a:gridCol>
                <a:gridCol w="822960">
                  <a:extLst>
                    <a:ext uri="{9D8B030D-6E8A-4147-A177-3AD203B41FA5}">
                      <a16:colId xmlns:a16="http://schemas.microsoft.com/office/drawing/2014/main" val="348449006"/>
                    </a:ext>
                  </a:extLst>
                </a:gridCol>
              </a:tblGrid>
              <a:tr h="290010">
                <a:tc>
                  <a:txBody>
                    <a:bodyPr/>
                    <a:lstStyle/>
                    <a:p>
                      <a:endParaRPr lang="en-US"/>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extLst>
                  <a:ext uri="{0D108BD9-81ED-4DB2-BD59-A6C34878D82A}">
                    <a16:rowId xmlns:a16="http://schemas.microsoft.com/office/drawing/2014/main" val="39794624"/>
                  </a:ext>
                </a:extLst>
              </a:tr>
              <a:tr h="290010">
                <a:tc>
                  <a:txBody>
                    <a:bodyPr/>
                    <a:lstStyle/>
                    <a:p>
                      <a:r>
                        <a:rPr lang="en-US" dirty="0">
                          <a:solidFill>
                            <a:schemeClr val="bg1"/>
                          </a:solidFill>
                        </a:rPr>
                        <a:t>1</a:t>
                      </a:r>
                    </a:p>
                  </a:txBody>
                  <a:tcPr>
                    <a:solidFill>
                      <a:schemeClr val="tx1"/>
                    </a:solidFill>
                  </a:tcPr>
                </a:tc>
                <a:tc>
                  <a:txBody>
                    <a:bodyPr/>
                    <a:lstStyle/>
                    <a:p>
                      <a:pPr algn="ctr"/>
                      <a:r>
                        <a:rPr lang="en-US" sz="1200" dirty="0">
                          <a:solidFill>
                            <a:schemeClr val="tx2"/>
                          </a:solidFill>
                          <a:latin typeface="Consolas" panose="020B0609020204030204" pitchFamily="49" charset="0"/>
                        </a:rPr>
                        <a:t>-0.5071</a:t>
                      </a:r>
                      <a:endParaRPr lang="en-US" sz="1200" baseline="-25000" dirty="0">
                        <a:solidFill>
                          <a:schemeClr val="tx2"/>
                        </a:solidFill>
                        <a:latin typeface="Arial" panose="020B0604020202020204" pitchFamily="34" charset="0"/>
                        <a:cs typeface="Arial" panose="020B0604020202020204" pitchFamily="34" charset="0"/>
                      </a:endParaRPr>
                    </a:p>
                  </a:txBody>
                  <a:tcPr anchor="ctr"/>
                </a:tc>
                <a:tc>
                  <a:txBody>
                    <a:bodyPr/>
                    <a:lstStyle/>
                    <a:p>
                      <a:pPr algn="ctr"/>
                      <a:r>
                        <a:rPr lang="en-US" sz="1200" dirty="0">
                          <a:solidFill>
                            <a:schemeClr val="tx2"/>
                          </a:solidFill>
                          <a:latin typeface="Consolas" panose="020B0609020204030204" pitchFamily="49" charset="0"/>
                        </a:rPr>
                        <a:t>-0.0566</a:t>
                      </a:r>
                      <a:endParaRPr lang="en-US" sz="1200" b="1" baseline="-25000" dirty="0">
                        <a:solidFill>
                          <a:schemeClr val="tx2"/>
                        </a:solidFill>
                        <a:latin typeface="Arial" panose="020B0604020202020204" pitchFamily="34" charset="0"/>
                        <a:cs typeface="Arial" panose="020B0604020202020204" pitchFamily="34" charset="0"/>
                      </a:endParaRPr>
                    </a:p>
                  </a:txBody>
                  <a:tcPr anchor="ctr"/>
                </a:tc>
                <a:tc>
                  <a:txBody>
                    <a:bodyPr/>
                    <a:lstStyle/>
                    <a:p>
                      <a:pPr algn="ctr"/>
                      <a:r>
                        <a:rPr lang="en-US" sz="1200" dirty="0">
                          <a:solidFill>
                            <a:schemeClr val="tx2"/>
                          </a:solidFill>
                          <a:latin typeface="Consolas" panose="020B0609020204030204" pitchFamily="49" charset="0"/>
                        </a:rPr>
                        <a:t>-0.4519</a:t>
                      </a:r>
                      <a:endParaRPr lang="en-US" sz="1200" baseline="-25000" dirty="0">
                        <a:solidFill>
                          <a:schemeClr val="tx2"/>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236308587"/>
                  </a:ext>
                </a:extLst>
              </a:tr>
              <a:tr h="290010">
                <a:tc>
                  <a:txBody>
                    <a:bodyPr/>
                    <a:lstStyle/>
                    <a:p>
                      <a:r>
                        <a:rPr lang="en-US" dirty="0">
                          <a:solidFill>
                            <a:schemeClr val="bg1"/>
                          </a:solidFill>
                        </a:rPr>
                        <a:t>2</a:t>
                      </a:r>
                    </a:p>
                  </a:txBody>
                  <a:tcPr>
                    <a:solidFill>
                      <a:schemeClr val="tx1"/>
                    </a:solidFill>
                  </a:tcPr>
                </a:tc>
                <a:tc>
                  <a:txBody>
                    <a:bodyPr/>
                    <a:lstStyle/>
                    <a:p>
                      <a:pPr algn="ctr"/>
                      <a:r>
                        <a:rPr lang="en-US" sz="1200" dirty="0">
                          <a:solidFill>
                            <a:schemeClr val="tx2"/>
                          </a:solidFill>
                          <a:latin typeface="Consolas" panose="020B0609020204030204" pitchFamily="49" charset="0"/>
                        </a:rPr>
                        <a:t>-0.3147</a:t>
                      </a:r>
                      <a:endParaRPr lang="en-US" sz="1200" baseline="-25000" dirty="0">
                        <a:solidFill>
                          <a:schemeClr val="tx2"/>
                        </a:solidFill>
                        <a:latin typeface="Arial" panose="020B0604020202020204" pitchFamily="34" charset="0"/>
                        <a:cs typeface="Arial" panose="020B0604020202020204" pitchFamily="34" charset="0"/>
                      </a:endParaRPr>
                    </a:p>
                  </a:txBody>
                  <a:tcPr anchor="ctr"/>
                </a:tc>
                <a:tc>
                  <a:txBody>
                    <a:bodyPr/>
                    <a:lstStyle/>
                    <a:p>
                      <a:pPr algn="ctr"/>
                      <a:r>
                        <a:rPr lang="en-US" sz="1200" dirty="0">
                          <a:solidFill>
                            <a:schemeClr val="tx2"/>
                          </a:solidFill>
                          <a:latin typeface="Consolas" panose="020B0609020204030204" pitchFamily="49" charset="0"/>
                        </a:rPr>
                        <a:t>-0.4348</a:t>
                      </a:r>
                      <a:endParaRPr lang="en-US" sz="1200" b="1" baseline="-25000" dirty="0">
                        <a:solidFill>
                          <a:schemeClr val="tx2"/>
                        </a:solidFill>
                        <a:latin typeface="Arial" panose="020B0604020202020204" pitchFamily="34" charset="0"/>
                        <a:cs typeface="Arial" panose="020B0604020202020204" pitchFamily="34" charset="0"/>
                      </a:endParaRPr>
                    </a:p>
                  </a:txBody>
                  <a:tcPr anchor="ctr"/>
                </a:tc>
                <a:tc>
                  <a:txBody>
                    <a:bodyPr/>
                    <a:lstStyle/>
                    <a:p>
                      <a:pPr algn="ctr"/>
                      <a:r>
                        <a:rPr lang="en-US" sz="1200" dirty="0">
                          <a:solidFill>
                            <a:schemeClr val="tx2"/>
                          </a:solidFill>
                          <a:latin typeface="Consolas" panose="020B0609020204030204" pitchFamily="49" charset="0"/>
                        </a:rPr>
                        <a:t>0.0810</a:t>
                      </a:r>
                      <a:endParaRPr lang="en-US" sz="1200" baseline="-25000" dirty="0">
                        <a:solidFill>
                          <a:schemeClr val="tx2"/>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24575868"/>
                  </a:ext>
                </a:extLst>
              </a:tr>
            </a:tbl>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FE4DABE-18EE-2F57-BEC3-A1C87A938D76}"/>
                  </a:ext>
                </a:extLst>
              </p:cNvPr>
              <p:cNvSpPr txBox="1"/>
              <p:nvPr/>
            </p:nvSpPr>
            <p:spPr>
              <a:xfrm>
                <a:off x="8837612" y="5462321"/>
                <a:ext cx="964303" cy="3834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b="1" i="1" smtClean="0">
                              <a:latin typeface="Cambria Math" panose="02040503050406030204" pitchFamily="18" charset="0"/>
                            </a:rPr>
                          </m:ctrlPr>
                        </m:dPr>
                        <m:e>
                          <m:eqArr>
                            <m:eqArrPr>
                              <m:ctrlPr>
                                <a:rPr lang="en-US" sz="1400" b="1" i="1" smtClean="0">
                                  <a:latin typeface="Cambria Math" panose="02040503050406030204" pitchFamily="18" charset="0"/>
                                </a:rPr>
                              </m:ctrlPr>
                            </m:eqArrPr>
                            <m:e>
                              <m:r>
                                <a:rPr lang="en-US" sz="1400" b="1" i="1" smtClean="0">
                                  <a:latin typeface="Cambria Math" panose="02040503050406030204" pitchFamily="18" charset="0"/>
                                </a:rPr>
                                <m:t>−</m:t>
                              </m:r>
                              <m:r>
                                <a:rPr lang="en-US" sz="1400" b="1" i="1" smtClean="0">
                                  <a:latin typeface="Cambria Math" panose="02040503050406030204" pitchFamily="18" charset="0"/>
                                </a:rPr>
                                <m:t>𝟏</m:t>
                              </m:r>
                              <m:r>
                                <a:rPr lang="en-US" sz="1400" b="1" i="1" smtClean="0">
                                  <a:latin typeface="Cambria Math" panose="02040503050406030204" pitchFamily="18" charset="0"/>
                                </a:rPr>
                                <m:t>.</m:t>
                              </m:r>
                              <m:r>
                                <a:rPr lang="en-US" sz="1400" b="1" i="1" smtClean="0">
                                  <a:latin typeface="Cambria Math" panose="02040503050406030204" pitchFamily="18" charset="0"/>
                                </a:rPr>
                                <m:t>𝟗𝟕𝟓𝟗</m:t>
                              </m:r>
                            </m:e>
                            <m:e>
                              <m:r>
                                <a:rPr lang="en-US" sz="1400" b="1" i="1" smtClean="0">
                                  <a:latin typeface="Cambria Math" panose="02040503050406030204" pitchFamily="18" charset="0"/>
                                </a:rPr>
                                <m:t>−</m:t>
                              </m:r>
                              <m:r>
                                <a:rPr lang="en-US" sz="1400" b="1" i="1" smtClean="0">
                                  <a:latin typeface="Cambria Math" panose="02040503050406030204" pitchFamily="18" charset="0"/>
                                </a:rPr>
                                <m:t>𝟎</m:t>
                              </m:r>
                              <m:r>
                                <a:rPr lang="en-US" sz="1400" b="1" i="1" smtClean="0">
                                  <a:latin typeface="Cambria Math" panose="02040503050406030204" pitchFamily="18" charset="0"/>
                                </a:rPr>
                                <m:t>.</m:t>
                              </m:r>
                              <m:r>
                                <a:rPr lang="en-US" sz="1400" b="1" i="1" smtClean="0">
                                  <a:latin typeface="Cambria Math" panose="02040503050406030204" pitchFamily="18" charset="0"/>
                                </a:rPr>
                                <m:t>𝟗𝟒𝟏𝟏</m:t>
                              </m:r>
                            </m:e>
                          </m:eqArr>
                        </m:e>
                      </m:d>
                    </m:oMath>
                  </m:oMathPara>
                </a14:m>
                <a:endParaRPr lang="en-US" sz="1400" b="1" dirty="0"/>
              </a:p>
            </p:txBody>
          </p:sp>
        </mc:Choice>
        <mc:Fallback xmlns="">
          <p:sp>
            <p:nvSpPr>
              <p:cNvPr id="10" name="TextBox 9">
                <a:extLst>
                  <a:ext uri="{FF2B5EF4-FFF2-40B4-BE49-F238E27FC236}">
                    <a16:creationId xmlns:a16="http://schemas.microsoft.com/office/drawing/2014/main" id="{7FE4DABE-18EE-2F57-BEC3-A1C87A938D76}"/>
                  </a:ext>
                </a:extLst>
              </p:cNvPr>
              <p:cNvSpPr txBox="1">
                <a:spLocks noRot="1" noChangeAspect="1" noMove="1" noResize="1" noEditPoints="1" noAdjustHandles="1" noChangeArrowheads="1" noChangeShapeType="1" noTextEdit="1"/>
              </p:cNvSpPr>
              <p:nvPr/>
            </p:nvSpPr>
            <p:spPr>
              <a:xfrm>
                <a:off x="8837612" y="5462321"/>
                <a:ext cx="964303" cy="383438"/>
              </a:xfrm>
              <a:prstGeom prst="rect">
                <a:avLst/>
              </a:prstGeom>
              <a:blipFill>
                <a:blip r:embed="rId3"/>
                <a:stretch>
                  <a:fillRect b="-12698"/>
                </a:stretch>
              </a:blipFill>
            </p:spPr>
            <p:txBody>
              <a:bodyPr/>
              <a:lstStyle/>
              <a:p>
                <a:r>
                  <a:rPr lang="en-US">
                    <a:noFill/>
                  </a:rPr>
                  <a:t> </a:t>
                </a:r>
              </a:p>
            </p:txBody>
          </p:sp>
        </mc:Fallback>
      </mc:AlternateContent>
      <p:sp>
        <p:nvSpPr>
          <p:cNvPr id="11" name="Arrow: Right 10">
            <a:extLst>
              <a:ext uri="{FF2B5EF4-FFF2-40B4-BE49-F238E27FC236}">
                <a16:creationId xmlns:a16="http://schemas.microsoft.com/office/drawing/2014/main" id="{A6014A40-545B-0D81-A619-57541D020EF8}"/>
              </a:ext>
            </a:extLst>
          </p:cNvPr>
          <p:cNvSpPr/>
          <p:nvPr/>
        </p:nvSpPr>
        <p:spPr>
          <a:xfrm>
            <a:off x="8304212" y="5552136"/>
            <a:ext cx="393192" cy="19475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5AD96289-690A-C673-2C45-CB795DEA885D}"/>
              </a:ext>
            </a:extLst>
          </p:cNvPr>
          <p:cNvGrpSpPr/>
          <p:nvPr/>
        </p:nvGrpSpPr>
        <p:grpSpPr>
          <a:xfrm>
            <a:off x="4472182" y="5552136"/>
            <a:ext cx="602013" cy="228600"/>
            <a:chOff x="2371036" y="4693043"/>
            <a:chExt cx="602013" cy="228600"/>
          </a:xfrm>
        </p:grpSpPr>
        <p:sp>
          <p:nvSpPr>
            <p:cNvPr id="13" name="Arrow: Right 12">
              <a:extLst>
                <a:ext uri="{FF2B5EF4-FFF2-40B4-BE49-F238E27FC236}">
                  <a16:creationId xmlns:a16="http://schemas.microsoft.com/office/drawing/2014/main" id="{A4F17641-54F9-E92F-FD47-2DF13E7E3C40}"/>
                </a:ext>
              </a:extLst>
            </p:cNvPr>
            <p:cNvSpPr/>
            <p:nvPr/>
          </p:nvSpPr>
          <p:spPr>
            <a:xfrm>
              <a:off x="2371036" y="4719518"/>
              <a:ext cx="602013" cy="19475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2630266-829B-1D94-F044-E36FE44DD794}"/>
                </a:ext>
              </a:extLst>
            </p:cNvPr>
            <p:cNvSpPr/>
            <p:nvPr/>
          </p:nvSpPr>
          <p:spPr>
            <a:xfrm>
              <a:off x="2495100" y="4693043"/>
              <a:ext cx="228600" cy="228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Berlin Sans FB Demi" panose="020E0802020502020306" pitchFamily="34" charset="0"/>
                  <a:cs typeface="Arial" panose="020B0604020202020204" pitchFamily="34" charset="0"/>
                </a:rPr>
                <a:t>X</a:t>
              </a:r>
            </a:p>
          </p:txBody>
        </p:sp>
      </p:grpSp>
    </p:spTree>
    <p:extLst>
      <p:ext uri="{BB962C8B-B14F-4D97-AF65-F5344CB8AC3E}">
        <p14:creationId xmlns:p14="http://schemas.microsoft.com/office/powerpoint/2010/main" val="2120430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Layers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normAutofit/>
          </a:bodyPr>
          <a:lstStyle/>
          <a:p>
            <a:r>
              <a:rPr lang="en-US" sz="2000" dirty="0">
                <a:latin typeface="Arial" panose="020B0604020202020204" pitchFamily="34" charset="0"/>
                <a:cs typeface="Arial" panose="020B0604020202020204" pitchFamily="34" charset="0"/>
              </a:rPr>
              <a:t>In practice, the input tensor does not have to be a vector (it can be an array where every row is a sample. The output will be an array as well with the same number of rows as the input, each row being a vector with the outputted values that correspond to a specific input.</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65011" y="2971800"/>
            <a:ext cx="9144000" cy="3429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input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7.0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8.0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9.0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linear</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Linear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569CD6"/>
                </a:solidFill>
                <a:effectLst/>
                <a:latin typeface="Consolas" panose="020B0609020204030204" pitchFamily="49" charset="0"/>
              </a:rPr>
              <a:t>False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output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linear</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input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Linear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linear</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Output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output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weights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linear</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weight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04CA8DB0-D4A3-F459-8378-350C54FC1FDF}"/>
              </a:ext>
            </a:extLst>
          </p:cNvPr>
          <p:cNvGraphicFramePr>
            <a:graphicFrameLocks noGrp="1"/>
          </p:cNvGraphicFramePr>
          <p:nvPr>
            <p:extLst>
              <p:ext uri="{D42A27DB-BD31-4B8C-83A1-F6EECF244321}">
                <p14:modId xmlns:p14="http://schemas.microsoft.com/office/powerpoint/2010/main" val="1050501269"/>
              </p:ext>
            </p:extLst>
          </p:nvPr>
        </p:nvGraphicFramePr>
        <p:xfrm>
          <a:off x="7847012" y="3336290"/>
          <a:ext cx="3810000" cy="2839720"/>
        </p:xfrm>
        <a:graphic>
          <a:graphicData uri="http://schemas.openxmlformats.org/drawingml/2006/table">
            <a:tbl>
              <a:tblPr firstRow="1" bandRow="1">
                <a:tableStyleId>{073A0DAA-6AF3-43AB-8588-CEC1D06C72B9}</a:tableStyleId>
              </a:tblPr>
              <a:tblGrid>
                <a:gridCol w="3810000">
                  <a:extLst>
                    <a:ext uri="{9D8B030D-6E8A-4147-A177-3AD203B41FA5}">
                      <a16:colId xmlns:a16="http://schemas.microsoft.com/office/drawing/2014/main" val="3899577134"/>
                    </a:ext>
                  </a:extLst>
                </a:gridCol>
              </a:tblGrid>
              <a:tr h="370840">
                <a:tc>
                  <a:txBody>
                    <a:bodyPr/>
                    <a:lstStyle/>
                    <a:p>
                      <a:r>
                        <a:rPr lang="en-US" sz="1600" dirty="0"/>
                        <a:t>Output</a:t>
                      </a:r>
                    </a:p>
                  </a:txBody>
                  <a:tcPr/>
                </a:tc>
                <a:extLst>
                  <a:ext uri="{0D108BD9-81ED-4DB2-BD59-A6C34878D82A}">
                    <a16:rowId xmlns:a16="http://schemas.microsoft.com/office/drawing/2014/main" val="117988312"/>
                  </a:ext>
                </a:extLst>
              </a:tr>
              <a:tr h="370840">
                <a:tc>
                  <a:txBody>
                    <a:bodyPr/>
                    <a:lstStyle/>
                    <a:p>
                      <a:r>
                        <a:rPr lang="en-US" sz="1200" dirty="0">
                          <a:solidFill>
                            <a:schemeClr val="tx2"/>
                          </a:solidFill>
                          <a:latin typeface="Consolas" panose="020B0609020204030204" pitchFamily="49" charset="0"/>
                        </a:rPr>
                        <a:t>Linear  = Linear(</a:t>
                      </a:r>
                      <a:r>
                        <a:rPr lang="en-US" sz="1200" dirty="0" err="1">
                          <a:solidFill>
                            <a:schemeClr val="tx2"/>
                          </a:solidFill>
                          <a:latin typeface="Consolas" panose="020B0609020204030204" pitchFamily="49" charset="0"/>
                        </a:rPr>
                        <a:t>in_features</a:t>
                      </a:r>
                      <a:r>
                        <a:rPr lang="en-US" sz="1200" dirty="0">
                          <a:solidFill>
                            <a:schemeClr val="tx2"/>
                          </a:solidFill>
                          <a:latin typeface="Consolas" panose="020B0609020204030204" pitchFamily="49" charset="0"/>
                        </a:rPr>
                        <a:t>=3, </a:t>
                      </a:r>
                    </a:p>
                    <a:p>
                      <a:r>
                        <a:rPr lang="en-US" sz="1200" dirty="0">
                          <a:solidFill>
                            <a:schemeClr val="tx2"/>
                          </a:solidFill>
                          <a:latin typeface="Consolas" panose="020B0609020204030204" pitchFamily="49" charset="0"/>
                        </a:rPr>
                        <a:t>                 </a:t>
                      </a:r>
                      <a:r>
                        <a:rPr lang="en-US" sz="1200" dirty="0" err="1">
                          <a:solidFill>
                            <a:schemeClr val="tx2"/>
                          </a:solidFill>
                          <a:latin typeface="Consolas" panose="020B0609020204030204" pitchFamily="49" charset="0"/>
                        </a:rPr>
                        <a:t>out_features</a:t>
                      </a:r>
                      <a:r>
                        <a:rPr lang="en-US" sz="1200" dirty="0">
                          <a:solidFill>
                            <a:schemeClr val="tx2"/>
                          </a:solidFill>
                          <a:latin typeface="Consolas" panose="020B0609020204030204" pitchFamily="49" charset="0"/>
                        </a:rPr>
                        <a:t>=2, </a:t>
                      </a:r>
                    </a:p>
                    <a:p>
                      <a:r>
                        <a:rPr lang="en-US" sz="1200" dirty="0">
                          <a:solidFill>
                            <a:schemeClr val="tx2"/>
                          </a:solidFill>
                          <a:latin typeface="Consolas" panose="020B0609020204030204" pitchFamily="49" charset="0"/>
                        </a:rPr>
                        <a:t>                 bias=False)</a:t>
                      </a:r>
                    </a:p>
                    <a:p>
                      <a:r>
                        <a:rPr lang="en-US" sz="1200" dirty="0">
                          <a:solidFill>
                            <a:schemeClr val="tx2"/>
                          </a:solidFill>
                          <a:latin typeface="Consolas" panose="020B0609020204030204" pitchFamily="49" charset="0"/>
                        </a:rPr>
                        <a:t>Output  = tensor([[0.5216, 1.1902],</a:t>
                      </a:r>
                    </a:p>
                    <a:p>
                      <a:r>
                        <a:rPr lang="en-US" sz="1200" dirty="0">
                          <a:solidFill>
                            <a:schemeClr val="tx2"/>
                          </a:solidFill>
                          <a:latin typeface="Consolas" panose="020B0609020204030204" pitchFamily="49" charset="0"/>
                        </a:rPr>
                        <a:t>                  [2.1431, 2.4498],</a:t>
                      </a:r>
                    </a:p>
                    <a:p>
                      <a:r>
                        <a:rPr lang="en-US" sz="1200" dirty="0">
                          <a:solidFill>
                            <a:schemeClr val="tx2"/>
                          </a:solidFill>
                          <a:latin typeface="Consolas" panose="020B0609020204030204" pitchFamily="49" charset="0"/>
                        </a:rPr>
                        <a:t>                  [3.7645, 3.7093],</a:t>
                      </a:r>
                    </a:p>
                    <a:p>
                      <a:r>
                        <a:rPr lang="en-US" sz="1200" dirty="0">
                          <a:solidFill>
                            <a:schemeClr val="tx2"/>
                          </a:solidFill>
                          <a:latin typeface="Consolas" panose="020B0609020204030204" pitchFamily="49" charset="0"/>
                        </a:rPr>
                        <a:t>                  [0.5027, 1.9607],</a:t>
                      </a:r>
                    </a:p>
                    <a:p>
                      <a:r>
                        <a:rPr lang="en-US" sz="1200" dirty="0">
                          <a:solidFill>
                            <a:schemeClr val="tx2"/>
                          </a:solidFill>
                          <a:latin typeface="Consolas" panose="020B0609020204030204" pitchFamily="49" charset="0"/>
                        </a:rPr>
                        <a:t>                  [1.0432, 2.3805]], </a:t>
                      </a:r>
                    </a:p>
                    <a:p>
                      <a:r>
                        <a:rPr lang="en-US" sz="1200" dirty="0">
                          <a:solidFill>
                            <a:schemeClr val="tx2"/>
                          </a:solidFill>
                          <a:latin typeface="Consolas" panose="020B0609020204030204" pitchFamily="49" charset="0"/>
                        </a:rPr>
                        <a:t>                  </a:t>
                      </a:r>
                      <a:r>
                        <a:rPr lang="en-US" sz="1200" dirty="0" err="1">
                          <a:solidFill>
                            <a:schemeClr val="tx2"/>
                          </a:solidFill>
                          <a:latin typeface="Consolas" panose="020B0609020204030204" pitchFamily="49" charset="0"/>
                        </a:rPr>
                        <a:t>grad_fn</a:t>
                      </a:r>
                      <a:r>
                        <a:rPr lang="en-US" sz="1200" dirty="0">
                          <a:solidFill>
                            <a:schemeClr val="tx2"/>
                          </a:solidFill>
                          <a:latin typeface="Consolas" panose="020B0609020204030204" pitchFamily="49" charset="0"/>
                        </a:rPr>
                        <a:t>=&lt;MmBackward0&gt;)</a:t>
                      </a:r>
                    </a:p>
                    <a:p>
                      <a:r>
                        <a:rPr lang="en-US" sz="1200" dirty="0">
                          <a:solidFill>
                            <a:schemeClr val="tx2"/>
                          </a:solidFill>
                          <a:latin typeface="Consolas" panose="020B0609020204030204" pitchFamily="49" charset="0"/>
                        </a:rPr>
                        <a:t>weights = Parameter containing:</a:t>
                      </a:r>
                    </a:p>
                    <a:p>
                      <a:r>
                        <a:rPr lang="en-US" sz="1200" dirty="0">
                          <a:solidFill>
                            <a:schemeClr val="tx2"/>
                          </a:solidFill>
                          <a:latin typeface="Consolas" panose="020B0609020204030204" pitchFamily="49" charset="0"/>
                        </a:rPr>
                        <a:t>tensor([[ 0.4380,  0.2238, -0.1214],</a:t>
                      </a:r>
                    </a:p>
                    <a:p>
                      <a:r>
                        <a:rPr lang="en-US" sz="1200" dirty="0">
                          <a:solidFill>
                            <a:schemeClr val="tx2"/>
                          </a:solidFill>
                          <a:latin typeface="Consolas" panose="020B0609020204030204" pitchFamily="49" charset="0"/>
                        </a:rPr>
                        <a:t>        [-0.1401,  0.3494,  0.2105]], </a:t>
                      </a:r>
                    </a:p>
                    <a:p>
                      <a:r>
                        <a:rPr lang="en-US" sz="1200" dirty="0">
                          <a:solidFill>
                            <a:schemeClr val="tx2"/>
                          </a:solidFill>
                          <a:latin typeface="Consolas" panose="020B0609020204030204" pitchFamily="49" charset="0"/>
                        </a:rPr>
                        <a:t>        </a:t>
                      </a:r>
                      <a:r>
                        <a:rPr lang="en-US" sz="1200" dirty="0" err="1">
                          <a:solidFill>
                            <a:schemeClr val="tx2"/>
                          </a:solidFill>
                          <a:latin typeface="Consolas" panose="020B0609020204030204" pitchFamily="49" charset="0"/>
                        </a:rPr>
                        <a:t>requires_grad</a:t>
                      </a:r>
                      <a:r>
                        <a:rPr lang="en-US" sz="1200" dirty="0">
                          <a:solidFill>
                            <a:schemeClr val="tx2"/>
                          </a:solidFill>
                          <a:latin typeface="Consolas" panose="020B0609020204030204" pitchFamily="49" charset="0"/>
                        </a:rPr>
                        <a:t>=True)</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655445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Layers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normAutofit/>
          </a:bodyPr>
          <a:lstStyle/>
          <a:p>
            <a:r>
              <a:rPr lang="en-US" sz="2000" dirty="0">
                <a:latin typeface="Arial" panose="020B0604020202020204" pitchFamily="34" charset="0"/>
                <a:cs typeface="Arial" panose="020B0604020202020204" pitchFamily="34" charset="0"/>
              </a:rPr>
              <a:t>In practice, the input tensor does not have to be a vector (it can be an array where every row is a sample. The output will be an array as well with the same number of rows as the input, each row being a vector with the outputted values that correspond to a specific input.</a:t>
            </a: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65011" y="2971800"/>
            <a:ext cx="9144000" cy="3429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chemeClr val="tx2">
                    <a:lumMod val="75000"/>
                    <a:lumOff val="25000"/>
                  </a:schemeClr>
                </a:solidFill>
                <a:effectLst/>
                <a:latin typeface="Consolas" panose="020B0609020204030204" pitchFamily="49" charset="0"/>
              </a:rPr>
              <a:t>import torch</a:t>
            </a:r>
          </a:p>
          <a:p>
            <a:br>
              <a:rPr lang="en-US" b="0" dirty="0">
                <a:solidFill>
                  <a:schemeClr val="tx2">
                    <a:lumMod val="75000"/>
                    <a:lumOff val="25000"/>
                  </a:schemeClr>
                </a:solidFill>
                <a:effectLst/>
                <a:latin typeface="Consolas" panose="020B0609020204030204" pitchFamily="49" charset="0"/>
              </a:rPr>
            </a:br>
            <a:r>
              <a:rPr lang="en-US" b="0" dirty="0">
                <a:solidFill>
                  <a:schemeClr val="tx2">
                    <a:lumMod val="75000"/>
                    <a:lumOff val="25000"/>
                  </a:schemeClr>
                </a:solidFill>
                <a:effectLst/>
                <a:latin typeface="Consolas" panose="020B0609020204030204" pitchFamily="49" charset="0"/>
              </a:rPr>
              <a:t>input = </a:t>
            </a:r>
            <a:r>
              <a:rPr lang="en-US" b="0" dirty="0" err="1">
                <a:solidFill>
                  <a:schemeClr val="tx2">
                    <a:lumMod val="75000"/>
                    <a:lumOff val="25000"/>
                  </a:schemeClr>
                </a:solidFill>
                <a:effectLst/>
                <a:latin typeface="Consolas" panose="020B0609020204030204" pitchFamily="49" charset="0"/>
              </a:rPr>
              <a:t>torch.tensor</a:t>
            </a:r>
            <a:r>
              <a:rPr lang="en-US" b="0" dirty="0">
                <a:solidFill>
                  <a:schemeClr val="tx2">
                    <a:lumMod val="75000"/>
                    <a:lumOff val="25000"/>
                  </a:schemeClr>
                </a:solidFill>
                <a:effectLst/>
                <a:latin typeface="Consolas" panose="020B0609020204030204" pitchFamily="49" charset="0"/>
              </a:rPr>
              <a:t>([[1.0,2.0,3.0],</a:t>
            </a:r>
          </a:p>
          <a:p>
            <a:r>
              <a:rPr lang="en-US" b="0" dirty="0">
                <a:solidFill>
                  <a:schemeClr val="tx2">
                    <a:lumMod val="75000"/>
                    <a:lumOff val="25000"/>
                  </a:schemeClr>
                </a:solidFill>
                <a:effectLst/>
                <a:latin typeface="Consolas" panose="020B0609020204030204" pitchFamily="49" charset="0"/>
              </a:rPr>
              <a:t>                      [4.0,5.0,6.0],</a:t>
            </a: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7.0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8.0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9.0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chemeClr val="tx2">
                    <a:lumMod val="75000"/>
                    <a:lumOff val="25000"/>
                  </a:schemeClr>
                </a:solidFill>
                <a:effectLst/>
                <a:latin typeface="Consolas" panose="020B0609020204030204" pitchFamily="49" charset="0"/>
              </a:rPr>
              <a:t>                      [1.0,3.0,5.0],</a:t>
            </a:r>
          </a:p>
          <a:p>
            <a:r>
              <a:rPr lang="en-US" b="0" dirty="0">
                <a:solidFill>
                  <a:schemeClr val="tx2">
                    <a:lumMod val="75000"/>
                    <a:lumOff val="25000"/>
                  </a:schemeClr>
                </a:solidFill>
                <a:effectLst/>
                <a:latin typeface="Consolas" panose="020B0609020204030204" pitchFamily="49" charset="0"/>
              </a:rPr>
              <a:t>                      [2.0,4.0,6.0]])</a:t>
            </a:r>
          </a:p>
          <a:p>
            <a:r>
              <a:rPr lang="en-US" b="0" dirty="0">
                <a:solidFill>
                  <a:schemeClr val="tx2">
                    <a:lumMod val="75000"/>
                    <a:lumOff val="25000"/>
                  </a:schemeClr>
                </a:solidFill>
                <a:effectLst/>
                <a:latin typeface="Consolas" panose="020B0609020204030204" pitchFamily="49" charset="0"/>
              </a:rPr>
              <a:t>linear = </a:t>
            </a:r>
            <a:r>
              <a:rPr lang="en-US" b="0" dirty="0" err="1">
                <a:solidFill>
                  <a:schemeClr val="tx2">
                    <a:lumMod val="75000"/>
                    <a:lumOff val="25000"/>
                  </a:schemeClr>
                </a:solidFill>
                <a:effectLst/>
                <a:latin typeface="Consolas" panose="020B0609020204030204" pitchFamily="49" charset="0"/>
              </a:rPr>
              <a:t>torch.nn.Linear</a:t>
            </a:r>
            <a:r>
              <a:rPr lang="en-US" b="0" dirty="0">
                <a:solidFill>
                  <a:schemeClr val="tx2">
                    <a:lumMod val="75000"/>
                    <a:lumOff val="25000"/>
                  </a:schemeClr>
                </a:solidFill>
                <a:effectLst/>
                <a:latin typeface="Consolas" panose="020B0609020204030204" pitchFamily="49" charset="0"/>
              </a:rPr>
              <a:t>(3,2,False)</a:t>
            </a:r>
          </a:p>
          <a:p>
            <a:r>
              <a:rPr lang="en-US" b="0" dirty="0">
                <a:solidFill>
                  <a:schemeClr val="tx2">
                    <a:lumMod val="75000"/>
                    <a:lumOff val="25000"/>
                  </a:schemeClr>
                </a:solidFill>
                <a:effectLst/>
                <a:latin typeface="Consolas" panose="020B0609020204030204" pitchFamily="49" charset="0"/>
              </a:rPr>
              <a:t>output = linear(input)</a:t>
            </a:r>
          </a:p>
          <a:p>
            <a:r>
              <a:rPr lang="en-US" b="0" dirty="0">
                <a:solidFill>
                  <a:schemeClr val="tx2">
                    <a:lumMod val="75000"/>
                    <a:lumOff val="25000"/>
                  </a:schemeClr>
                </a:solidFill>
                <a:effectLst/>
                <a:latin typeface="Consolas" panose="020B0609020204030204" pitchFamily="49" charset="0"/>
              </a:rPr>
              <a:t>print("Linear  =",linear)</a:t>
            </a:r>
          </a:p>
          <a:p>
            <a:r>
              <a:rPr lang="en-US" b="0" dirty="0">
                <a:solidFill>
                  <a:schemeClr val="tx2">
                    <a:lumMod val="75000"/>
                    <a:lumOff val="25000"/>
                  </a:schemeClr>
                </a:solidFill>
                <a:effectLst/>
                <a:latin typeface="Consolas" panose="020B0609020204030204" pitchFamily="49" charset="0"/>
              </a:rPr>
              <a:t>print("Output  =",output)</a:t>
            </a:r>
          </a:p>
          <a:p>
            <a:r>
              <a:rPr lang="en-US" b="0" dirty="0">
                <a:solidFill>
                  <a:schemeClr val="tx2">
                    <a:lumMod val="75000"/>
                    <a:lumOff val="25000"/>
                  </a:schemeClr>
                </a:solidFill>
                <a:effectLst/>
                <a:latin typeface="Consolas" panose="020B0609020204030204" pitchFamily="49" charset="0"/>
              </a:rPr>
              <a:t>print("weights =",</a:t>
            </a:r>
            <a:r>
              <a:rPr lang="en-US" b="0" dirty="0" err="1">
                <a:solidFill>
                  <a:schemeClr val="tx2">
                    <a:lumMod val="75000"/>
                    <a:lumOff val="25000"/>
                  </a:schemeClr>
                </a:solidFill>
                <a:effectLst/>
                <a:latin typeface="Consolas" panose="020B0609020204030204" pitchFamily="49" charset="0"/>
              </a:rPr>
              <a:t>linear.weight</a:t>
            </a:r>
            <a:r>
              <a:rPr lang="en-US" b="0" dirty="0">
                <a:solidFill>
                  <a:schemeClr val="tx2">
                    <a:lumMod val="75000"/>
                    <a:lumOff val="25000"/>
                  </a:schemeClr>
                </a:solidFill>
                <a:effectLst/>
                <a:latin typeface="Consolas" panose="020B0609020204030204" pitchFamily="49" charset="0"/>
              </a:rPr>
              <a:t>)</a:t>
            </a:r>
          </a:p>
        </p:txBody>
      </p:sp>
      <p:graphicFrame>
        <p:nvGraphicFramePr>
          <p:cNvPr id="3" name="Table 3">
            <a:extLst>
              <a:ext uri="{FF2B5EF4-FFF2-40B4-BE49-F238E27FC236}">
                <a16:creationId xmlns:a16="http://schemas.microsoft.com/office/drawing/2014/main" id="{04CA8DB0-D4A3-F459-8378-350C54FC1FDF}"/>
              </a:ext>
            </a:extLst>
          </p:cNvPr>
          <p:cNvGraphicFramePr>
            <a:graphicFrameLocks noGrp="1"/>
          </p:cNvGraphicFramePr>
          <p:nvPr/>
        </p:nvGraphicFramePr>
        <p:xfrm>
          <a:off x="7847012" y="3336290"/>
          <a:ext cx="3810000" cy="2839720"/>
        </p:xfrm>
        <a:graphic>
          <a:graphicData uri="http://schemas.openxmlformats.org/drawingml/2006/table">
            <a:tbl>
              <a:tblPr firstRow="1" bandRow="1">
                <a:tableStyleId>{073A0DAA-6AF3-43AB-8588-CEC1D06C72B9}</a:tableStyleId>
              </a:tblPr>
              <a:tblGrid>
                <a:gridCol w="3810000">
                  <a:extLst>
                    <a:ext uri="{9D8B030D-6E8A-4147-A177-3AD203B41FA5}">
                      <a16:colId xmlns:a16="http://schemas.microsoft.com/office/drawing/2014/main" val="3899577134"/>
                    </a:ext>
                  </a:extLst>
                </a:gridCol>
              </a:tblGrid>
              <a:tr h="370840">
                <a:tc>
                  <a:txBody>
                    <a:bodyPr/>
                    <a:lstStyle/>
                    <a:p>
                      <a:r>
                        <a:rPr lang="en-US" sz="1600" dirty="0"/>
                        <a:t>Output</a:t>
                      </a:r>
                    </a:p>
                  </a:txBody>
                  <a:tcPr/>
                </a:tc>
                <a:extLst>
                  <a:ext uri="{0D108BD9-81ED-4DB2-BD59-A6C34878D82A}">
                    <a16:rowId xmlns:a16="http://schemas.microsoft.com/office/drawing/2014/main" val="117988312"/>
                  </a:ext>
                </a:extLst>
              </a:tr>
              <a:tr h="370840">
                <a:tc>
                  <a:txBody>
                    <a:bodyPr/>
                    <a:lstStyle/>
                    <a:p>
                      <a:r>
                        <a:rPr lang="en-US" sz="1200" dirty="0">
                          <a:solidFill>
                            <a:schemeClr val="bg1">
                              <a:lumMod val="65000"/>
                            </a:schemeClr>
                          </a:solidFill>
                          <a:latin typeface="Consolas" panose="020B0609020204030204" pitchFamily="49" charset="0"/>
                        </a:rPr>
                        <a:t>Linear  = Linear(</a:t>
                      </a:r>
                      <a:r>
                        <a:rPr lang="en-US" sz="1200" dirty="0" err="1">
                          <a:solidFill>
                            <a:schemeClr val="bg1">
                              <a:lumMod val="65000"/>
                            </a:schemeClr>
                          </a:solidFill>
                          <a:latin typeface="Consolas" panose="020B0609020204030204" pitchFamily="49" charset="0"/>
                        </a:rPr>
                        <a:t>in_features</a:t>
                      </a:r>
                      <a:r>
                        <a:rPr lang="en-US" sz="1200" dirty="0">
                          <a:solidFill>
                            <a:schemeClr val="bg1">
                              <a:lumMod val="65000"/>
                            </a:schemeClr>
                          </a:solidFill>
                          <a:latin typeface="Consolas" panose="020B0609020204030204" pitchFamily="49" charset="0"/>
                        </a:rPr>
                        <a:t>=3, </a:t>
                      </a:r>
                    </a:p>
                    <a:p>
                      <a:r>
                        <a:rPr lang="en-US" sz="1200" dirty="0">
                          <a:solidFill>
                            <a:schemeClr val="bg1">
                              <a:lumMod val="65000"/>
                            </a:schemeClr>
                          </a:solidFill>
                          <a:latin typeface="Consolas" panose="020B0609020204030204" pitchFamily="49" charset="0"/>
                        </a:rPr>
                        <a:t>                 </a:t>
                      </a:r>
                      <a:r>
                        <a:rPr lang="en-US" sz="1200" dirty="0" err="1">
                          <a:solidFill>
                            <a:schemeClr val="bg1">
                              <a:lumMod val="65000"/>
                            </a:schemeClr>
                          </a:solidFill>
                          <a:latin typeface="Consolas" panose="020B0609020204030204" pitchFamily="49" charset="0"/>
                        </a:rPr>
                        <a:t>out_features</a:t>
                      </a:r>
                      <a:r>
                        <a:rPr lang="en-US" sz="1200" dirty="0">
                          <a:solidFill>
                            <a:schemeClr val="bg1">
                              <a:lumMod val="65000"/>
                            </a:schemeClr>
                          </a:solidFill>
                          <a:latin typeface="Consolas" panose="020B0609020204030204" pitchFamily="49" charset="0"/>
                        </a:rPr>
                        <a:t>=2, </a:t>
                      </a:r>
                    </a:p>
                    <a:p>
                      <a:r>
                        <a:rPr lang="en-US" sz="1200" dirty="0">
                          <a:solidFill>
                            <a:schemeClr val="bg1">
                              <a:lumMod val="65000"/>
                            </a:schemeClr>
                          </a:solidFill>
                          <a:latin typeface="Consolas" panose="020B0609020204030204" pitchFamily="49" charset="0"/>
                        </a:rPr>
                        <a:t>                 bias=False)</a:t>
                      </a:r>
                    </a:p>
                    <a:p>
                      <a:r>
                        <a:rPr lang="en-US" sz="1200" dirty="0">
                          <a:solidFill>
                            <a:schemeClr val="bg1">
                              <a:lumMod val="65000"/>
                            </a:schemeClr>
                          </a:solidFill>
                          <a:latin typeface="Consolas" panose="020B0609020204030204" pitchFamily="49" charset="0"/>
                        </a:rPr>
                        <a:t>Output  = tensor([[0.5216, 1.1902],</a:t>
                      </a:r>
                    </a:p>
                    <a:p>
                      <a:r>
                        <a:rPr lang="en-US" sz="1200" dirty="0">
                          <a:solidFill>
                            <a:schemeClr val="bg1">
                              <a:lumMod val="65000"/>
                            </a:schemeClr>
                          </a:solidFill>
                          <a:latin typeface="Consolas" panose="020B0609020204030204" pitchFamily="49" charset="0"/>
                        </a:rPr>
                        <a:t>                  [2.1431, 2.4498],</a:t>
                      </a:r>
                    </a:p>
                    <a:p>
                      <a:r>
                        <a:rPr lang="en-US" sz="1200" dirty="0">
                          <a:latin typeface="Consolas" panose="020B0609020204030204" pitchFamily="49" charset="0"/>
                        </a:rPr>
                        <a:t>                  [3.7645, 3.7093],</a:t>
                      </a:r>
                    </a:p>
                    <a:p>
                      <a:r>
                        <a:rPr lang="en-US" sz="1200" dirty="0">
                          <a:solidFill>
                            <a:schemeClr val="bg1">
                              <a:lumMod val="65000"/>
                            </a:schemeClr>
                          </a:solidFill>
                          <a:latin typeface="Consolas" panose="020B0609020204030204" pitchFamily="49" charset="0"/>
                        </a:rPr>
                        <a:t>                  [0.5027, 1.9607],</a:t>
                      </a:r>
                    </a:p>
                    <a:p>
                      <a:r>
                        <a:rPr lang="en-US" sz="1200" dirty="0">
                          <a:solidFill>
                            <a:schemeClr val="bg1">
                              <a:lumMod val="65000"/>
                            </a:schemeClr>
                          </a:solidFill>
                          <a:latin typeface="Consolas" panose="020B0609020204030204" pitchFamily="49" charset="0"/>
                        </a:rPr>
                        <a:t>                  [1.0432, 2.3805]], </a:t>
                      </a:r>
                    </a:p>
                    <a:p>
                      <a:r>
                        <a:rPr lang="en-US" sz="1200" dirty="0">
                          <a:solidFill>
                            <a:schemeClr val="bg1">
                              <a:lumMod val="65000"/>
                            </a:schemeClr>
                          </a:solidFill>
                          <a:latin typeface="Consolas" panose="020B0609020204030204" pitchFamily="49" charset="0"/>
                        </a:rPr>
                        <a:t>                  </a:t>
                      </a:r>
                      <a:r>
                        <a:rPr lang="en-US" sz="1200" dirty="0" err="1">
                          <a:solidFill>
                            <a:schemeClr val="bg1">
                              <a:lumMod val="65000"/>
                            </a:schemeClr>
                          </a:solidFill>
                          <a:latin typeface="Consolas" panose="020B0609020204030204" pitchFamily="49" charset="0"/>
                        </a:rPr>
                        <a:t>grad_fn</a:t>
                      </a:r>
                      <a:r>
                        <a:rPr lang="en-US" sz="1200" dirty="0">
                          <a:solidFill>
                            <a:schemeClr val="bg1">
                              <a:lumMod val="65000"/>
                            </a:schemeClr>
                          </a:solidFill>
                          <a:latin typeface="Consolas" panose="020B0609020204030204" pitchFamily="49" charset="0"/>
                        </a:rPr>
                        <a:t>=&lt;MmBackward0&gt;)</a:t>
                      </a:r>
                    </a:p>
                    <a:p>
                      <a:r>
                        <a:rPr lang="en-US" sz="1200" dirty="0">
                          <a:solidFill>
                            <a:schemeClr val="bg1">
                              <a:lumMod val="65000"/>
                            </a:schemeClr>
                          </a:solidFill>
                          <a:latin typeface="Consolas" panose="020B0609020204030204" pitchFamily="49" charset="0"/>
                        </a:rPr>
                        <a:t>weights = Parameter containing:</a:t>
                      </a:r>
                    </a:p>
                    <a:p>
                      <a:r>
                        <a:rPr lang="en-US" sz="1200" dirty="0">
                          <a:solidFill>
                            <a:schemeClr val="bg1">
                              <a:lumMod val="65000"/>
                            </a:schemeClr>
                          </a:solidFill>
                          <a:latin typeface="Consolas" panose="020B0609020204030204" pitchFamily="49" charset="0"/>
                        </a:rPr>
                        <a:t>tensor([[ 0.4380,  0.2238, -0.1214],</a:t>
                      </a:r>
                    </a:p>
                    <a:p>
                      <a:r>
                        <a:rPr lang="en-US" sz="1200" dirty="0">
                          <a:solidFill>
                            <a:schemeClr val="bg1">
                              <a:lumMod val="65000"/>
                            </a:schemeClr>
                          </a:solidFill>
                          <a:latin typeface="Consolas" panose="020B0609020204030204" pitchFamily="49" charset="0"/>
                        </a:rPr>
                        <a:t>        [-0.1401,  0.3494,  0.2105]], </a:t>
                      </a:r>
                    </a:p>
                    <a:p>
                      <a:r>
                        <a:rPr lang="en-US" sz="1200" dirty="0">
                          <a:solidFill>
                            <a:schemeClr val="bg1">
                              <a:lumMod val="65000"/>
                            </a:schemeClr>
                          </a:solidFill>
                          <a:latin typeface="Consolas" panose="020B0609020204030204" pitchFamily="49" charset="0"/>
                        </a:rPr>
                        <a:t>        </a:t>
                      </a:r>
                      <a:r>
                        <a:rPr lang="en-US" sz="1200" dirty="0" err="1">
                          <a:solidFill>
                            <a:schemeClr val="bg1">
                              <a:lumMod val="65000"/>
                            </a:schemeClr>
                          </a:solidFill>
                          <a:latin typeface="Consolas" panose="020B0609020204030204" pitchFamily="49" charset="0"/>
                        </a:rPr>
                        <a:t>requires_grad</a:t>
                      </a:r>
                      <a:r>
                        <a:rPr lang="en-US" sz="1200" dirty="0">
                          <a:solidFill>
                            <a:schemeClr val="bg1">
                              <a:lumMod val="65000"/>
                            </a:schemeClr>
                          </a:solidFill>
                          <a:latin typeface="Consolas" panose="020B0609020204030204" pitchFamily="49" charset="0"/>
                        </a:rPr>
                        <a:t>=True)</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B4530F05-EAD0-9200-9723-90603022D5B8}"/>
              </a:ext>
            </a:extLst>
          </p:cNvPr>
          <p:cNvSpPr/>
          <p:nvPr/>
        </p:nvSpPr>
        <p:spPr>
          <a:xfrm>
            <a:off x="9371011" y="4607560"/>
            <a:ext cx="1531301" cy="29718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4D92206-605F-7E37-5086-AA415D8CD2BE}"/>
              </a:ext>
            </a:extLst>
          </p:cNvPr>
          <p:cNvSpPr/>
          <p:nvPr/>
        </p:nvSpPr>
        <p:spPr>
          <a:xfrm>
            <a:off x="3955261" y="4141470"/>
            <a:ext cx="1901501" cy="3810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Connector: Elbow 7">
            <a:extLst>
              <a:ext uri="{FF2B5EF4-FFF2-40B4-BE49-F238E27FC236}">
                <a16:creationId xmlns:a16="http://schemas.microsoft.com/office/drawing/2014/main" id="{A5C9D28D-33C0-540E-B513-E6457F69692F}"/>
              </a:ext>
            </a:extLst>
          </p:cNvPr>
          <p:cNvCxnSpPr>
            <a:cxnSpLocks/>
            <a:stCxn id="7" idx="3"/>
            <a:endCxn id="4" idx="1"/>
          </p:cNvCxnSpPr>
          <p:nvPr/>
        </p:nvCxnSpPr>
        <p:spPr>
          <a:xfrm>
            <a:off x="5856762" y="4331970"/>
            <a:ext cx="3514249" cy="424180"/>
          </a:xfrm>
          <a:prstGeom prst="bentConnector3">
            <a:avLst>
              <a:gd name="adj1" fmla="val 50000"/>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Callout: Down Arrow 8">
            <a:extLst>
              <a:ext uri="{FF2B5EF4-FFF2-40B4-BE49-F238E27FC236}">
                <a16:creationId xmlns:a16="http://schemas.microsoft.com/office/drawing/2014/main" id="{D06080E0-1B10-7E1A-A00A-9965233D4425}"/>
              </a:ext>
            </a:extLst>
          </p:cNvPr>
          <p:cNvSpPr/>
          <p:nvPr/>
        </p:nvSpPr>
        <p:spPr>
          <a:xfrm>
            <a:off x="3707764" y="2503170"/>
            <a:ext cx="3886200" cy="1524000"/>
          </a:xfrm>
          <a:prstGeom prst="downArrowCallout">
            <a:avLst>
              <a:gd name="adj1" fmla="val 15500"/>
              <a:gd name="adj2" fmla="val 18000"/>
              <a:gd name="adj3" fmla="val 12000"/>
              <a:gd name="adj4" fmla="val 80227"/>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In this case, the output for the sample [7,8,9] from the input matrix (the 3</a:t>
            </a:r>
            <a:r>
              <a:rPr lang="en-US" sz="1600" baseline="30000" dirty="0">
                <a:latin typeface="Arial" panose="020B0604020202020204" pitchFamily="34" charset="0"/>
                <a:cs typeface="Arial" panose="020B0604020202020204" pitchFamily="34" charset="0"/>
              </a:rPr>
              <a:t>rd</a:t>
            </a:r>
            <a:r>
              <a:rPr lang="en-US" sz="1600" dirty="0">
                <a:latin typeface="Arial" panose="020B0604020202020204" pitchFamily="34" charset="0"/>
                <a:cs typeface="Arial" panose="020B0604020202020204" pitchFamily="34" charset="0"/>
              </a:rPr>
              <a:t> row) is the 3</a:t>
            </a:r>
            <a:r>
              <a:rPr lang="en-US" sz="1600" baseline="30000" dirty="0">
                <a:latin typeface="Arial" panose="020B0604020202020204" pitchFamily="34" charset="0"/>
                <a:cs typeface="Arial" panose="020B0604020202020204" pitchFamily="34" charset="0"/>
              </a:rPr>
              <a:t>rd</a:t>
            </a:r>
            <a:r>
              <a:rPr lang="en-US" sz="1600" dirty="0">
                <a:latin typeface="Arial" panose="020B0604020202020204" pitchFamily="34" charset="0"/>
                <a:cs typeface="Arial" panose="020B0604020202020204" pitchFamily="34" charset="0"/>
              </a:rPr>
              <a:t> raw from the output matrix [3.7645, 3.7098]</a:t>
            </a:r>
            <a:endParaRPr lang="en-US" sz="1600" b="1" dirty="0">
              <a:solidFill>
                <a:srgbClr val="FFC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1064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Layers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fontScale="92500" lnSpcReduction="10000"/>
          </a:bodyPr>
          <a:lstStyle/>
          <a:p>
            <a:r>
              <a:rPr lang="en-US" sz="2400" dirty="0">
                <a:latin typeface="Arial" panose="020B0604020202020204" pitchFamily="34" charset="0"/>
                <a:cs typeface="Arial" panose="020B0604020202020204" pitchFamily="34" charset="0"/>
              </a:rPr>
              <a:t>You can also use </a:t>
            </a:r>
            <a:r>
              <a:rPr lang="en-US" sz="2400" dirty="0" err="1">
                <a:latin typeface="Arial" panose="020B0604020202020204" pitchFamily="34" charset="0"/>
                <a:cs typeface="Arial" panose="020B0604020202020204" pitchFamily="34" charset="0"/>
              </a:rPr>
              <a:t>torch.nn.Parameter</a:t>
            </a:r>
            <a:r>
              <a:rPr lang="en-US" sz="2400" dirty="0">
                <a:latin typeface="Arial" panose="020B0604020202020204" pitchFamily="34" charset="0"/>
                <a:cs typeface="Arial" panose="020B0604020202020204" pitchFamily="34" charset="0"/>
              </a:rPr>
              <a:t>(…) to set up your own weights (for example if you have some values that are already precomputed).</a:t>
            </a: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In this example we set up all weights to 0 (as such the output will be a zeroed matrix).</a:t>
            </a: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65011" y="2390336"/>
            <a:ext cx="9144000" cy="3581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input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7.0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8.0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9.0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linear</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Linear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569CD6"/>
                </a:solidFill>
                <a:effectLst/>
                <a:latin typeface="Consolas" panose="020B0609020204030204" pitchFamily="49" charset="0"/>
              </a:rPr>
              <a:t>False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err="1">
                <a:solidFill>
                  <a:srgbClr val="229977"/>
                </a:solidFill>
                <a:effectLst/>
                <a:latin typeface="Consolas" panose="020B0609020204030204" pitchFamily="49" charset="0"/>
              </a:rPr>
              <a:t>linear</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weight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Parameter</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zeros</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9A9A9A"/>
                </a:solidFill>
                <a:effectLst/>
                <a:latin typeface="Consolas" panose="020B0609020204030204" pitchFamily="49" charset="0"/>
              </a:rPr>
              <a:t>dtype</a:t>
            </a:r>
            <a:r>
              <a:rPr lang="en-US" b="0" dirty="0">
                <a:solidFill>
                  <a:srgbClr val="C0C0C0"/>
                </a:solidFill>
                <a:effectLst/>
                <a:latin typeface="Consolas" panose="020B0609020204030204" pitchFamily="49" charset="0"/>
              </a:rPr>
              <a:t>=</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float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output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linear</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input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Linear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linear</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Output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output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weights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linear</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weight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04CA8DB0-D4A3-F459-8378-350C54FC1FDF}"/>
              </a:ext>
            </a:extLst>
          </p:cNvPr>
          <p:cNvGraphicFramePr>
            <a:graphicFrameLocks noGrp="1"/>
          </p:cNvGraphicFramePr>
          <p:nvPr/>
        </p:nvGraphicFramePr>
        <p:xfrm>
          <a:off x="6780212" y="2392680"/>
          <a:ext cx="5029200" cy="2108200"/>
        </p:xfrm>
        <a:graphic>
          <a:graphicData uri="http://schemas.openxmlformats.org/drawingml/2006/table">
            <a:tbl>
              <a:tblPr firstRow="1" bandRow="1">
                <a:tableStyleId>{073A0DAA-6AF3-43AB-8588-CEC1D06C72B9}</a:tableStyleId>
              </a:tblPr>
              <a:tblGrid>
                <a:gridCol w="5029200">
                  <a:extLst>
                    <a:ext uri="{9D8B030D-6E8A-4147-A177-3AD203B41FA5}">
                      <a16:colId xmlns:a16="http://schemas.microsoft.com/office/drawing/2014/main" val="3899577134"/>
                    </a:ext>
                  </a:extLst>
                </a:gridCol>
              </a:tblGrid>
              <a:tr h="370840">
                <a:tc>
                  <a:txBody>
                    <a:bodyPr/>
                    <a:lstStyle/>
                    <a:p>
                      <a:r>
                        <a:rPr lang="en-US" sz="1600" dirty="0"/>
                        <a:t>Output</a:t>
                      </a:r>
                    </a:p>
                  </a:txBody>
                  <a:tcPr/>
                </a:tc>
                <a:extLst>
                  <a:ext uri="{0D108BD9-81ED-4DB2-BD59-A6C34878D82A}">
                    <a16:rowId xmlns:a16="http://schemas.microsoft.com/office/drawing/2014/main" val="117988312"/>
                  </a:ext>
                </a:extLst>
              </a:tr>
              <a:tr h="370840">
                <a:tc>
                  <a:txBody>
                    <a:bodyPr/>
                    <a:lstStyle/>
                    <a:p>
                      <a:r>
                        <a:rPr lang="en-US" sz="1200" dirty="0">
                          <a:solidFill>
                            <a:schemeClr val="tx2"/>
                          </a:solidFill>
                          <a:latin typeface="Consolas" panose="020B0609020204030204" pitchFamily="49" charset="0"/>
                        </a:rPr>
                        <a:t>Linear  = Linear(</a:t>
                      </a:r>
                      <a:r>
                        <a:rPr lang="en-US" sz="1200" dirty="0" err="1">
                          <a:solidFill>
                            <a:schemeClr val="tx2"/>
                          </a:solidFill>
                          <a:latin typeface="Consolas" panose="020B0609020204030204" pitchFamily="49" charset="0"/>
                        </a:rPr>
                        <a:t>in_features</a:t>
                      </a:r>
                      <a:r>
                        <a:rPr lang="en-US" sz="1200" dirty="0">
                          <a:solidFill>
                            <a:schemeClr val="tx2"/>
                          </a:solidFill>
                          <a:latin typeface="Consolas" panose="020B0609020204030204" pitchFamily="49" charset="0"/>
                        </a:rPr>
                        <a:t>=3, </a:t>
                      </a:r>
                      <a:r>
                        <a:rPr lang="en-US" sz="1200" dirty="0" err="1">
                          <a:solidFill>
                            <a:schemeClr val="tx2"/>
                          </a:solidFill>
                          <a:latin typeface="Consolas" panose="020B0609020204030204" pitchFamily="49" charset="0"/>
                        </a:rPr>
                        <a:t>out_features</a:t>
                      </a:r>
                      <a:r>
                        <a:rPr lang="en-US" sz="1200" dirty="0">
                          <a:solidFill>
                            <a:schemeClr val="tx2"/>
                          </a:solidFill>
                          <a:latin typeface="Consolas" panose="020B0609020204030204" pitchFamily="49" charset="0"/>
                        </a:rPr>
                        <a:t>=2, bias=False)</a:t>
                      </a:r>
                    </a:p>
                    <a:p>
                      <a:r>
                        <a:rPr lang="en-US" sz="1200" dirty="0">
                          <a:solidFill>
                            <a:schemeClr val="tx2"/>
                          </a:solidFill>
                          <a:latin typeface="Consolas" panose="020B0609020204030204" pitchFamily="49" charset="0"/>
                        </a:rPr>
                        <a:t>Output  = tensor([[0., 0.],</a:t>
                      </a:r>
                    </a:p>
                    <a:p>
                      <a:r>
                        <a:rPr lang="en-US" sz="1200" dirty="0">
                          <a:solidFill>
                            <a:schemeClr val="tx2"/>
                          </a:solidFill>
                          <a:latin typeface="Consolas" panose="020B0609020204030204" pitchFamily="49" charset="0"/>
                        </a:rPr>
                        <a:t>        [0., 0.],</a:t>
                      </a:r>
                    </a:p>
                    <a:p>
                      <a:r>
                        <a:rPr lang="en-US" sz="1200" dirty="0">
                          <a:solidFill>
                            <a:schemeClr val="tx2"/>
                          </a:solidFill>
                          <a:latin typeface="Consolas" panose="020B0609020204030204" pitchFamily="49" charset="0"/>
                        </a:rPr>
                        <a:t>        [0., 0.],</a:t>
                      </a:r>
                    </a:p>
                    <a:p>
                      <a:r>
                        <a:rPr lang="en-US" sz="1200" dirty="0">
                          <a:solidFill>
                            <a:schemeClr val="tx2"/>
                          </a:solidFill>
                          <a:latin typeface="Consolas" panose="020B0609020204030204" pitchFamily="49" charset="0"/>
                        </a:rPr>
                        <a:t>        [0., 0.],</a:t>
                      </a:r>
                    </a:p>
                    <a:p>
                      <a:r>
                        <a:rPr lang="en-US" sz="1200" dirty="0">
                          <a:solidFill>
                            <a:schemeClr val="tx2"/>
                          </a:solidFill>
                          <a:latin typeface="Consolas" panose="020B0609020204030204" pitchFamily="49" charset="0"/>
                        </a:rPr>
                        <a:t>        [0., 0.]], </a:t>
                      </a:r>
                      <a:r>
                        <a:rPr lang="en-US" sz="1200" dirty="0" err="1">
                          <a:solidFill>
                            <a:schemeClr val="tx2"/>
                          </a:solidFill>
                          <a:latin typeface="Consolas" panose="020B0609020204030204" pitchFamily="49" charset="0"/>
                        </a:rPr>
                        <a:t>grad_fn</a:t>
                      </a:r>
                      <a:r>
                        <a:rPr lang="en-US" sz="1200" dirty="0">
                          <a:solidFill>
                            <a:schemeClr val="tx2"/>
                          </a:solidFill>
                          <a:latin typeface="Consolas" panose="020B0609020204030204" pitchFamily="49" charset="0"/>
                        </a:rPr>
                        <a:t>=&lt;MmBackward0&gt;)</a:t>
                      </a:r>
                    </a:p>
                    <a:p>
                      <a:r>
                        <a:rPr lang="en-US" sz="1200" dirty="0">
                          <a:solidFill>
                            <a:schemeClr val="tx2"/>
                          </a:solidFill>
                          <a:latin typeface="Consolas" panose="020B0609020204030204" pitchFamily="49" charset="0"/>
                        </a:rPr>
                        <a:t>weights = Parameter containing:</a:t>
                      </a:r>
                    </a:p>
                    <a:p>
                      <a:r>
                        <a:rPr lang="en-US" sz="1200" dirty="0">
                          <a:solidFill>
                            <a:schemeClr val="tx2"/>
                          </a:solidFill>
                          <a:latin typeface="Consolas" panose="020B0609020204030204" pitchFamily="49" charset="0"/>
                        </a:rPr>
                        <a:t>tensor([[0., 0., 0.],[0., 0., 0.]], </a:t>
                      </a:r>
                      <a:r>
                        <a:rPr lang="en-US" sz="1200" dirty="0" err="1">
                          <a:solidFill>
                            <a:schemeClr val="tx2"/>
                          </a:solidFill>
                          <a:latin typeface="Consolas" panose="020B0609020204030204" pitchFamily="49" charset="0"/>
                        </a:rPr>
                        <a:t>requires_grad</a:t>
                      </a:r>
                      <a:r>
                        <a:rPr lang="en-US" sz="1200" dirty="0">
                          <a:solidFill>
                            <a:schemeClr val="tx2"/>
                          </a:solidFill>
                          <a:latin typeface="Consolas" panose="020B0609020204030204" pitchFamily="49" charset="0"/>
                        </a:rPr>
                        <a:t>=True)</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106853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Layers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181600"/>
          </a:xfrm>
        </p:spPr>
        <p:txBody>
          <a:bodyPr>
            <a:normAutofit/>
          </a:bodyPr>
          <a:lstStyle/>
          <a:p>
            <a:r>
              <a:rPr lang="en-US" dirty="0"/>
              <a:t>Another important type of Layers are containers. A container is essentially a group of other layers that are connected (meaning that the output of one layer is the input of another layer).</a:t>
            </a:r>
          </a:p>
          <a:p>
            <a:r>
              <a:rPr lang="en-US" dirty="0"/>
              <a:t>The most commonly used containers are:</a:t>
            </a:r>
          </a:p>
          <a:p>
            <a:pPr lvl="1"/>
            <a:r>
              <a:rPr lang="en-US" dirty="0"/>
              <a:t>Sequential </a:t>
            </a:r>
          </a:p>
          <a:p>
            <a:pPr lvl="1"/>
            <a:r>
              <a:rPr lang="en-US" dirty="0" err="1"/>
              <a:t>ModuleList</a:t>
            </a:r>
            <a:endParaRPr lang="en-US" dirty="0"/>
          </a:p>
          <a:p>
            <a:pPr lvl="1"/>
            <a:r>
              <a:rPr lang="en-US" dirty="0" err="1"/>
              <a:t>ModuleDict</a:t>
            </a:r>
            <a:endParaRPr lang="en-US" dirty="0"/>
          </a:p>
          <a:p>
            <a:pPr lvl="1"/>
            <a:endParaRPr lang="en-US" dirty="0"/>
          </a:p>
          <a:p>
            <a:pPr marL="365760" lvl="1" indent="0">
              <a:buNone/>
            </a:pPr>
            <a:endParaRPr lang="en-US" dirty="0"/>
          </a:p>
          <a:p>
            <a:pPr marL="365760" lvl="1" indent="0">
              <a:buNone/>
            </a:pPr>
            <a:endParaRPr lang="en-US" dirty="0"/>
          </a:p>
        </p:txBody>
      </p:sp>
    </p:spTree>
    <p:extLst>
      <p:ext uri="{BB962C8B-B14F-4D97-AF65-F5344CB8AC3E}">
        <p14:creationId xmlns:p14="http://schemas.microsoft.com/office/powerpoint/2010/main" val="587488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Layers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181600"/>
          </a:xfrm>
        </p:spPr>
        <p:txBody>
          <a:bodyPr>
            <a:normAutofit/>
          </a:bodyPr>
          <a:lstStyle/>
          <a:p>
            <a:r>
              <a:rPr lang="en-US" dirty="0"/>
              <a:t>The </a:t>
            </a:r>
            <a:r>
              <a:rPr lang="en-US" b="1" dirty="0" err="1"/>
              <a:t>torch.nn.Sequantial</a:t>
            </a:r>
            <a:r>
              <a:rPr lang="en-US" b="1" dirty="0"/>
              <a:t> </a:t>
            </a:r>
            <a:r>
              <a:rPr lang="en-US" dirty="0"/>
              <a:t>module is initialized with a list of layers (or an </a:t>
            </a:r>
            <a:r>
              <a:rPr lang="en-US" dirty="0" err="1"/>
              <a:t>OrderedDict</a:t>
            </a:r>
            <a:r>
              <a:rPr lang="en-US" dirty="0"/>
              <a:t>) and it chains them (meaning that when it has to compute an input, it passes the input to the first from the list, then the output of that layer is passed to the next one and so on until it reaches the final layer). The output of the final layer will be the output of the </a:t>
            </a:r>
            <a:r>
              <a:rPr lang="en-US"/>
              <a:t>Sequantial</a:t>
            </a:r>
            <a:r>
              <a:rPr lang="en-US" dirty="0"/>
              <a:t> layer.</a:t>
            </a:r>
          </a:p>
          <a:p>
            <a:pPr lvl="1"/>
            <a:endParaRPr lang="en-US" dirty="0"/>
          </a:p>
          <a:p>
            <a:pPr marL="365760" lvl="1" indent="0">
              <a:buNone/>
            </a:pPr>
            <a:endParaRPr lang="en-US" dirty="0"/>
          </a:p>
          <a:p>
            <a:pPr marL="365760" lvl="1" indent="0">
              <a:buNone/>
            </a:pPr>
            <a:endParaRPr lang="en-US" dirty="0"/>
          </a:p>
        </p:txBody>
      </p:sp>
    </p:spTree>
    <p:extLst>
      <p:ext uri="{BB962C8B-B14F-4D97-AF65-F5344CB8AC3E}">
        <p14:creationId xmlns:p14="http://schemas.microsoft.com/office/powerpoint/2010/main" val="1469899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Layers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181600"/>
          </a:xfrm>
        </p:spPr>
        <p:txBody>
          <a:bodyPr>
            <a:normAutofit/>
          </a:bodyPr>
          <a:lstStyle/>
          <a:p>
            <a:r>
              <a:rPr lang="en-US" dirty="0"/>
              <a:t>Let’s see an example that uses: </a:t>
            </a:r>
            <a:r>
              <a:rPr lang="en-US" b="1" dirty="0" err="1"/>
              <a:t>torch.nn.Sequantial</a:t>
            </a:r>
            <a:endParaRPr lang="en-US" dirty="0"/>
          </a:p>
        </p:txBody>
      </p:sp>
      <p:sp>
        <p:nvSpPr>
          <p:cNvPr id="6" name="Rectangle 5">
            <a:extLst>
              <a:ext uri="{FF2B5EF4-FFF2-40B4-BE49-F238E27FC236}">
                <a16:creationId xmlns:a16="http://schemas.microsoft.com/office/drawing/2014/main" id="{BD043D9C-9532-AB60-E64D-2E2C8CFE570E}"/>
              </a:ext>
            </a:extLst>
          </p:cNvPr>
          <p:cNvSpPr/>
          <p:nvPr/>
        </p:nvSpPr>
        <p:spPr>
          <a:xfrm>
            <a:off x="1979612" y="2363372"/>
            <a:ext cx="9144000" cy="365642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input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tensor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net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Sequential</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Linear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569CD6"/>
                </a:solidFill>
                <a:effectLst/>
                <a:latin typeface="Consolas" panose="020B0609020204030204" pitchFamily="49" charset="0"/>
              </a:rPr>
              <a:t>False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ReLU</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Linear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569CD6"/>
                </a:solidFill>
                <a:effectLst/>
                <a:latin typeface="Consolas" panose="020B0609020204030204" pitchFamily="49" charset="0"/>
              </a:rPr>
              <a:t>False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Sigmoid</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output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net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input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net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net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Output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output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7" name="Table 3">
            <a:extLst>
              <a:ext uri="{FF2B5EF4-FFF2-40B4-BE49-F238E27FC236}">
                <a16:creationId xmlns:a16="http://schemas.microsoft.com/office/drawing/2014/main" id="{0BB72609-C3AC-B3A9-B112-0C9B01334828}"/>
              </a:ext>
            </a:extLst>
          </p:cNvPr>
          <p:cNvGraphicFramePr>
            <a:graphicFrameLocks noGrp="1"/>
          </p:cNvGraphicFramePr>
          <p:nvPr/>
        </p:nvGraphicFramePr>
        <p:xfrm>
          <a:off x="6220724" y="4368800"/>
          <a:ext cx="5289063" cy="2108200"/>
        </p:xfrm>
        <a:graphic>
          <a:graphicData uri="http://schemas.openxmlformats.org/drawingml/2006/table">
            <a:tbl>
              <a:tblPr firstRow="1" bandRow="1">
                <a:tableStyleId>{073A0DAA-6AF3-43AB-8588-CEC1D06C72B9}</a:tableStyleId>
              </a:tblPr>
              <a:tblGrid>
                <a:gridCol w="5289063">
                  <a:extLst>
                    <a:ext uri="{9D8B030D-6E8A-4147-A177-3AD203B41FA5}">
                      <a16:colId xmlns:a16="http://schemas.microsoft.com/office/drawing/2014/main" val="3899577134"/>
                    </a:ext>
                  </a:extLst>
                </a:gridCol>
              </a:tblGrid>
              <a:tr h="370840">
                <a:tc>
                  <a:txBody>
                    <a:bodyPr/>
                    <a:lstStyle/>
                    <a:p>
                      <a:r>
                        <a:rPr lang="en-US" sz="1600" dirty="0"/>
                        <a:t>Output</a:t>
                      </a:r>
                    </a:p>
                  </a:txBody>
                  <a:tcPr/>
                </a:tc>
                <a:extLst>
                  <a:ext uri="{0D108BD9-81ED-4DB2-BD59-A6C34878D82A}">
                    <a16:rowId xmlns:a16="http://schemas.microsoft.com/office/drawing/2014/main" val="117988312"/>
                  </a:ext>
                </a:extLst>
              </a:tr>
              <a:tr h="370840">
                <a:tc>
                  <a:txBody>
                    <a:bodyPr/>
                    <a:lstStyle/>
                    <a:p>
                      <a:r>
                        <a:rPr lang="en-US" sz="1200" dirty="0">
                          <a:solidFill>
                            <a:schemeClr val="tx2"/>
                          </a:solidFill>
                          <a:latin typeface="Consolas" panose="020B0609020204030204" pitchFamily="49" charset="0"/>
                        </a:rPr>
                        <a:t>net     = Sequential(</a:t>
                      </a:r>
                    </a:p>
                    <a:p>
                      <a:r>
                        <a:rPr lang="en-US" sz="1200" dirty="0">
                          <a:solidFill>
                            <a:schemeClr val="tx2"/>
                          </a:solidFill>
                          <a:latin typeface="Consolas" panose="020B0609020204030204" pitchFamily="49" charset="0"/>
                        </a:rPr>
                        <a:t>  (0): Linear(</a:t>
                      </a:r>
                      <a:r>
                        <a:rPr lang="en-US" sz="1200" dirty="0" err="1">
                          <a:solidFill>
                            <a:schemeClr val="tx2"/>
                          </a:solidFill>
                          <a:latin typeface="Consolas" panose="020B0609020204030204" pitchFamily="49" charset="0"/>
                        </a:rPr>
                        <a:t>in_features</a:t>
                      </a:r>
                      <a:r>
                        <a:rPr lang="en-US" sz="1200" dirty="0">
                          <a:solidFill>
                            <a:schemeClr val="tx2"/>
                          </a:solidFill>
                          <a:latin typeface="Consolas" panose="020B0609020204030204" pitchFamily="49" charset="0"/>
                        </a:rPr>
                        <a:t>=3, </a:t>
                      </a:r>
                      <a:r>
                        <a:rPr lang="en-US" sz="1200" dirty="0" err="1">
                          <a:solidFill>
                            <a:schemeClr val="tx2"/>
                          </a:solidFill>
                          <a:latin typeface="Consolas" panose="020B0609020204030204" pitchFamily="49" charset="0"/>
                        </a:rPr>
                        <a:t>out_features</a:t>
                      </a:r>
                      <a:r>
                        <a:rPr lang="en-US" sz="1200" dirty="0">
                          <a:solidFill>
                            <a:schemeClr val="tx2"/>
                          </a:solidFill>
                          <a:latin typeface="Consolas" panose="020B0609020204030204" pitchFamily="49" charset="0"/>
                        </a:rPr>
                        <a:t>=2, bias=False)</a:t>
                      </a:r>
                    </a:p>
                    <a:p>
                      <a:r>
                        <a:rPr lang="en-US" sz="1200" dirty="0">
                          <a:solidFill>
                            <a:schemeClr val="tx2"/>
                          </a:solidFill>
                          <a:latin typeface="Consolas" panose="020B0609020204030204" pitchFamily="49" charset="0"/>
                        </a:rPr>
                        <a:t>  (1): </a:t>
                      </a:r>
                      <a:r>
                        <a:rPr lang="en-US" sz="1200" dirty="0" err="1">
                          <a:solidFill>
                            <a:schemeClr val="tx2"/>
                          </a:solidFill>
                          <a:latin typeface="Consolas" panose="020B0609020204030204" pitchFamily="49" charset="0"/>
                        </a:rPr>
                        <a:t>ReLU</a:t>
                      </a:r>
                      <a:r>
                        <a:rPr lang="en-US" sz="1200" dirty="0">
                          <a:solidFill>
                            <a:schemeClr val="tx2"/>
                          </a:solidFill>
                          <a:latin typeface="Consolas" panose="020B0609020204030204" pitchFamily="49" charset="0"/>
                        </a:rPr>
                        <a:t>()</a:t>
                      </a:r>
                    </a:p>
                    <a:p>
                      <a:r>
                        <a:rPr lang="en-US" sz="1200" dirty="0">
                          <a:solidFill>
                            <a:schemeClr val="tx2"/>
                          </a:solidFill>
                          <a:latin typeface="Consolas" panose="020B0609020204030204" pitchFamily="49" charset="0"/>
                        </a:rPr>
                        <a:t>  (2): Linear(</a:t>
                      </a:r>
                      <a:r>
                        <a:rPr lang="en-US" sz="1200" dirty="0" err="1">
                          <a:solidFill>
                            <a:schemeClr val="tx2"/>
                          </a:solidFill>
                          <a:latin typeface="Consolas" panose="020B0609020204030204" pitchFamily="49" charset="0"/>
                        </a:rPr>
                        <a:t>in_features</a:t>
                      </a:r>
                      <a:r>
                        <a:rPr lang="en-US" sz="1200" dirty="0">
                          <a:solidFill>
                            <a:schemeClr val="tx2"/>
                          </a:solidFill>
                          <a:latin typeface="Consolas" panose="020B0609020204030204" pitchFamily="49" charset="0"/>
                        </a:rPr>
                        <a:t>=2, </a:t>
                      </a:r>
                      <a:r>
                        <a:rPr lang="en-US" sz="1200" dirty="0" err="1">
                          <a:solidFill>
                            <a:schemeClr val="tx2"/>
                          </a:solidFill>
                          <a:latin typeface="Consolas" panose="020B0609020204030204" pitchFamily="49" charset="0"/>
                        </a:rPr>
                        <a:t>out_features</a:t>
                      </a:r>
                      <a:r>
                        <a:rPr lang="en-US" sz="1200" dirty="0">
                          <a:solidFill>
                            <a:schemeClr val="tx2"/>
                          </a:solidFill>
                          <a:latin typeface="Consolas" panose="020B0609020204030204" pitchFamily="49" charset="0"/>
                        </a:rPr>
                        <a:t>=1, bias=False)</a:t>
                      </a:r>
                    </a:p>
                    <a:p>
                      <a:r>
                        <a:rPr lang="en-US" sz="1200" dirty="0">
                          <a:solidFill>
                            <a:schemeClr val="tx2"/>
                          </a:solidFill>
                          <a:latin typeface="Consolas" panose="020B0609020204030204" pitchFamily="49" charset="0"/>
                        </a:rPr>
                        <a:t>  (3): Sigmoid()</a:t>
                      </a:r>
                    </a:p>
                    <a:p>
                      <a:r>
                        <a:rPr lang="en-US" sz="1200" dirty="0">
                          <a:solidFill>
                            <a:schemeClr val="tx2"/>
                          </a:solidFill>
                          <a:latin typeface="Consolas" panose="020B0609020204030204" pitchFamily="49" charset="0"/>
                        </a:rPr>
                        <a:t>)</a:t>
                      </a:r>
                    </a:p>
                    <a:p>
                      <a:r>
                        <a:rPr lang="en-US" sz="1200" dirty="0">
                          <a:solidFill>
                            <a:schemeClr val="tx2"/>
                          </a:solidFill>
                          <a:latin typeface="Consolas" panose="020B0609020204030204" pitchFamily="49" charset="0"/>
                        </a:rPr>
                        <a:t>Output  = tensor([[0.4891],</a:t>
                      </a:r>
                    </a:p>
                    <a:p>
                      <a:r>
                        <a:rPr lang="en-US" sz="1200" dirty="0">
                          <a:solidFill>
                            <a:schemeClr val="tx2"/>
                          </a:solidFill>
                          <a:latin typeface="Consolas" panose="020B0609020204030204" pitchFamily="49" charset="0"/>
                        </a:rPr>
                        <a:t>        [0.4728],</a:t>
                      </a:r>
                    </a:p>
                    <a:p>
                      <a:r>
                        <a:rPr lang="en-US" sz="1200" dirty="0">
                          <a:solidFill>
                            <a:schemeClr val="tx2"/>
                          </a:solidFill>
                          <a:latin typeface="Consolas" panose="020B0609020204030204" pitchFamily="49" charset="0"/>
                        </a:rPr>
                        <a:t>        [0.4783]], </a:t>
                      </a:r>
                      <a:r>
                        <a:rPr lang="en-US" sz="1200" dirty="0" err="1">
                          <a:solidFill>
                            <a:schemeClr val="tx2"/>
                          </a:solidFill>
                          <a:latin typeface="Consolas" panose="020B0609020204030204" pitchFamily="49" charset="0"/>
                        </a:rPr>
                        <a:t>grad_fn</a:t>
                      </a:r>
                      <a:r>
                        <a:rPr lang="en-US" sz="1200" dirty="0">
                          <a:solidFill>
                            <a:schemeClr val="tx2"/>
                          </a:solidFill>
                          <a:latin typeface="Consolas" panose="020B0609020204030204" pitchFamily="49" charset="0"/>
                        </a:rPr>
                        <a:t>=&lt;SigmoidBackward0&gt;)</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185513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Layers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181600"/>
          </a:xfrm>
        </p:spPr>
        <p:txBody>
          <a:bodyPr>
            <a:normAutofit/>
          </a:bodyPr>
          <a:lstStyle/>
          <a:p>
            <a:r>
              <a:rPr lang="en-US" dirty="0"/>
              <a:t>In reality, the Sequential layout is in fact a small neuronal network:</a:t>
            </a:r>
          </a:p>
        </p:txBody>
      </p:sp>
      <p:sp>
        <p:nvSpPr>
          <p:cNvPr id="6" name="Rectangle 5">
            <a:extLst>
              <a:ext uri="{FF2B5EF4-FFF2-40B4-BE49-F238E27FC236}">
                <a16:creationId xmlns:a16="http://schemas.microsoft.com/office/drawing/2014/main" id="{BD043D9C-9532-AB60-E64D-2E2C8CFE570E}"/>
              </a:ext>
            </a:extLst>
          </p:cNvPr>
          <p:cNvSpPr/>
          <p:nvPr/>
        </p:nvSpPr>
        <p:spPr>
          <a:xfrm>
            <a:off x="1912836" y="2649415"/>
            <a:ext cx="9144000" cy="1961675"/>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229977"/>
                </a:solidFill>
                <a:effectLst/>
                <a:latin typeface="Consolas" panose="020B0609020204030204" pitchFamily="49" charset="0"/>
              </a:rPr>
              <a:t>net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Sequential</a:t>
            </a:r>
            <a:endParaRPr lang="en-US" b="0" dirty="0">
              <a:solidFill>
                <a:srgbClr val="5DA963"/>
              </a:solidFill>
              <a:effectLst/>
              <a:latin typeface="Consolas" panose="020B0609020204030204" pitchFamily="49" charset="0"/>
            </a:endParaRPr>
          </a:p>
          <a:p>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Linear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569CD6"/>
                </a:solidFill>
                <a:effectLst/>
                <a:latin typeface="Consolas" panose="020B0609020204030204" pitchFamily="49" charset="0"/>
              </a:rPr>
              <a:t>False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ReLU</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Linear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569CD6"/>
                </a:solidFill>
                <a:effectLst/>
                <a:latin typeface="Consolas" panose="020B0609020204030204" pitchFamily="49" charset="0"/>
              </a:rPr>
              <a:t>False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Sigmoid</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2BB12B7-5D54-7A09-1D55-26E04A448CD0}"/>
                  </a:ext>
                </a:extLst>
              </p:cNvPr>
              <p:cNvSpPr txBox="1"/>
              <p:nvPr/>
            </p:nvSpPr>
            <p:spPr>
              <a:xfrm>
                <a:off x="2840305" y="4914365"/>
                <a:ext cx="808042" cy="6847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b="1" i="1" smtClean="0">
                              <a:latin typeface="Cambria Math" panose="02040503050406030204" pitchFamily="18" charset="0"/>
                            </a:rPr>
                          </m:ctrlPr>
                        </m:dPr>
                        <m:e>
                          <m:m>
                            <m:mPr>
                              <m:mcs>
                                <m:mc>
                                  <m:mcPr>
                                    <m:count m:val="1"/>
                                    <m:mcJc m:val="center"/>
                                  </m:mcPr>
                                </m:mc>
                              </m:mcs>
                              <m:ctrlPr>
                                <a:rPr lang="en-US" sz="1400" b="1" i="1">
                                  <a:latin typeface="Cambria Math" panose="02040503050406030204" pitchFamily="18" charset="0"/>
                                </a:rPr>
                              </m:ctrlPr>
                            </m:mP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𝒊𝒏𝒑𝒖𝒕</m:t>
                                    </m:r>
                                  </m:e>
                                  <m:sub>
                                    <m:r>
                                      <a:rPr lang="en-US" sz="1400" b="1" i="1">
                                        <a:latin typeface="Cambria Math" panose="02040503050406030204" pitchFamily="18" charset="0"/>
                                      </a:rPr>
                                      <m:t>𝟏</m:t>
                                    </m:r>
                                  </m:sub>
                                </m:sSub>
                              </m:e>
                            </m:mr>
                            <m:mr>
                              <m:e>
                                <m:sSub>
                                  <m:sSubPr>
                                    <m:ctrlPr>
                                      <a:rPr lang="en-US" sz="1400" b="1" i="1">
                                        <a:latin typeface="Cambria Math" panose="02040503050406030204" pitchFamily="18" charset="0"/>
                                      </a:rPr>
                                    </m:ctrlPr>
                                  </m:sSubPr>
                                  <m:e>
                                    <m:r>
                                      <a:rPr lang="en-US" sz="1400" b="1" i="1" smtClean="0">
                                        <a:latin typeface="Cambria Math" panose="02040503050406030204" pitchFamily="18" charset="0"/>
                                      </a:rPr>
                                      <m:t>𝒊𝒏𝒑𝒖𝒕</m:t>
                                    </m:r>
                                  </m:e>
                                  <m:sub>
                                    <m:r>
                                      <a:rPr lang="en-US" sz="1400" b="1" i="1">
                                        <a:latin typeface="Cambria Math" panose="02040503050406030204" pitchFamily="18" charset="0"/>
                                      </a:rPr>
                                      <m:t>𝟐</m:t>
                                    </m:r>
                                  </m:sub>
                                </m:sSub>
                              </m:e>
                            </m:mr>
                            <m:mr>
                              <m:e>
                                <m:sSub>
                                  <m:sSubPr>
                                    <m:ctrlPr>
                                      <a:rPr lang="en-US" sz="1400" b="1" i="1">
                                        <a:latin typeface="Cambria Math" panose="02040503050406030204" pitchFamily="18" charset="0"/>
                                      </a:rPr>
                                    </m:ctrlPr>
                                  </m:sSubPr>
                                  <m:e>
                                    <m:r>
                                      <a:rPr lang="en-US" sz="1400" b="1" i="1">
                                        <a:latin typeface="Cambria Math" panose="02040503050406030204" pitchFamily="18" charset="0"/>
                                      </a:rPr>
                                      <m:t>𝒊𝒏𝒑𝒖𝒕</m:t>
                                    </m:r>
                                  </m:e>
                                  <m:sub>
                                    <m:r>
                                      <a:rPr lang="en-US" sz="1400" b="1" i="1" smtClean="0">
                                        <a:latin typeface="Cambria Math" panose="02040503050406030204" pitchFamily="18" charset="0"/>
                                      </a:rPr>
                                      <m:t>𝟑</m:t>
                                    </m:r>
                                  </m:sub>
                                </m:sSub>
                              </m:e>
                            </m:mr>
                          </m:m>
                        </m:e>
                      </m:d>
                    </m:oMath>
                  </m:oMathPara>
                </a14:m>
                <a:endParaRPr lang="en-US" sz="1400" b="1" dirty="0"/>
              </a:p>
            </p:txBody>
          </p:sp>
        </mc:Choice>
        <mc:Fallback xmlns="">
          <p:sp>
            <p:nvSpPr>
              <p:cNvPr id="3" name="TextBox 2">
                <a:extLst>
                  <a:ext uri="{FF2B5EF4-FFF2-40B4-BE49-F238E27FC236}">
                    <a16:creationId xmlns:a16="http://schemas.microsoft.com/office/drawing/2014/main" id="{32BB12B7-5D54-7A09-1D55-26E04A448CD0}"/>
                  </a:ext>
                </a:extLst>
              </p:cNvPr>
              <p:cNvSpPr txBox="1">
                <a:spLocks noRot="1" noChangeAspect="1" noMove="1" noResize="1" noEditPoints="1" noAdjustHandles="1" noChangeArrowheads="1" noChangeShapeType="1" noTextEdit="1"/>
              </p:cNvSpPr>
              <p:nvPr/>
            </p:nvSpPr>
            <p:spPr>
              <a:xfrm>
                <a:off x="2840305" y="4914365"/>
                <a:ext cx="808042" cy="684739"/>
              </a:xfrm>
              <a:prstGeom prst="rect">
                <a:avLst/>
              </a:prstGeom>
              <a:blipFill>
                <a:blip r:embed="rId2"/>
                <a:stretch>
                  <a:fillRect/>
                </a:stretch>
              </a:blipFill>
            </p:spPr>
            <p:txBody>
              <a:bodyPr/>
              <a:lstStyle/>
              <a:p>
                <a:r>
                  <a:rPr lang="en-US">
                    <a:noFill/>
                  </a:rPr>
                  <a:t> </a:t>
                </a:r>
              </a:p>
            </p:txBody>
          </p:sp>
        </mc:Fallback>
      </mc:AlternateContent>
      <p:sp>
        <p:nvSpPr>
          <p:cNvPr id="5" name="Arrow: Right 4">
            <a:extLst>
              <a:ext uri="{FF2B5EF4-FFF2-40B4-BE49-F238E27FC236}">
                <a16:creationId xmlns:a16="http://schemas.microsoft.com/office/drawing/2014/main" id="{8A1ADC5D-2FC2-EECE-62A2-2F64D382208B}"/>
              </a:ext>
            </a:extLst>
          </p:cNvPr>
          <p:cNvSpPr/>
          <p:nvPr/>
        </p:nvSpPr>
        <p:spPr>
          <a:xfrm>
            <a:off x="9049341" y="5261558"/>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BB4F504-2FA9-531C-3D80-251B0408AF1F}"/>
                  </a:ext>
                </a:extLst>
              </p:cNvPr>
              <p:cNvSpPr txBox="1"/>
              <p:nvPr/>
            </p:nvSpPr>
            <p:spPr>
              <a:xfrm>
                <a:off x="9403900" y="5196609"/>
                <a:ext cx="81336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b="1" i="1" smtClean="0">
                              <a:latin typeface="Cambria Math" panose="02040503050406030204" pitchFamily="18" charset="0"/>
                            </a:rPr>
                          </m:ctrlPr>
                        </m:dPr>
                        <m:e>
                          <m:r>
                            <a:rPr lang="en-US" sz="1400" b="1" i="1" smtClean="0">
                              <a:latin typeface="Cambria Math" panose="02040503050406030204" pitchFamily="18" charset="0"/>
                            </a:rPr>
                            <m:t>𝒐𝒖𝒕𝒑𝒖𝒕</m:t>
                          </m:r>
                        </m:e>
                      </m:d>
                    </m:oMath>
                  </m:oMathPara>
                </a14:m>
                <a:endParaRPr lang="en-US" sz="1400" b="1" dirty="0"/>
              </a:p>
            </p:txBody>
          </p:sp>
        </mc:Choice>
        <mc:Fallback xmlns="">
          <p:sp>
            <p:nvSpPr>
              <p:cNvPr id="8" name="TextBox 7">
                <a:extLst>
                  <a:ext uri="{FF2B5EF4-FFF2-40B4-BE49-F238E27FC236}">
                    <a16:creationId xmlns:a16="http://schemas.microsoft.com/office/drawing/2014/main" id="{6BB4F504-2FA9-531C-3D80-251B0408AF1F}"/>
                  </a:ext>
                </a:extLst>
              </p:cNvPr>
              <p:cNvSpPr txBox="1">
                <a:spLocks noRot="1" noChangeAspect="1" noMove="1" noResize="1" noEditPoints="1" noAdjustHandles="1" noChangeArrowheads="1" noChangeShapeType="1" noTextEdit="1"/>
              </p:cNvSpPr>
              <p:nvPr/>
            </p:nvSpPr>
            <p:spPr>
              <a:xfrm>
                <a:off x="9403900" y="5196609"/>
                <a:ext cx="813363" cy="215444"/>
              </a:xfrm>
              <a:prstGeom prst="rect">
                <a:avLst/>
              </a:prstGeom>
              <a:blipFill>
                <a:blip r:embed="rId3"/>
                <a:stretch>
                  <a:fillRect b="-33333"/>
                </a:stretch>
              </a:blipFill>
            </p:spPr>
            <p:txBody>
              <a:bodyPr/>
              <a:lstStyle/>
              <a:p>
                <a:r>
                  <a:rPr lang="en-US">
                    <a:noFill/>
                  </a:rPr>
                  <a:t> </a:t>
                </a:r>
              </a:p>
            </p:txBody>
          </p:sp>
        </mc:Fallback>
      </mc:AlternateContent>
      <p:sp>
        <p:nvSpPr>
          <p:cNvPr id="9" name="Arrow: Right 8">
            <a:extLst>
              <a:ext uri="{FF2B5EF4-FFF2-40B4-BE49-F238E27FC236}">
                <a16:creationId xmlns:a16="http://schemas.microsoft.com/office/drawing/2014/main" id="{56B53E04-809D-82DD-5410-BDB64CA85FFE}"/>
              </a:ext>
            </a:extLst>
          </p:cNvPr>
          <p:cNvSpPr/>
          <p:nvPr/>
        </p:nvSpPr>
        <p:spPr>
          <a:xfrm>
            <a:off x="3685201" y="5192298"/>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sp>
        <p:nvSpPr>
          <p:cNvPr id="10" name="Arrow: Right 9">
            <a:extLst>
              <a:ext uri="{FF2B5EF4-FFF2-40B4-BE49-F238E27FC236}">
                <a16:creationId xmlns:a16="http://schemas.microsoft.com/office/drawing/2014/main" id="{0B77D956-AD38-4EA5-F860-9B97B5F7FDB1}"/>
              </a:ext>
            </a:extLst>
          </p:cNvPr>
          <p:cNvSpPr/>
          <p:nvPr/>
        </p:nvSpPr>
        <p:spPr>
          <a:xfrm>
            <a:off x="6410935" y="5267561"/>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sp>
        <p:nvSpPr>
          <p:cNvPr id="23" name="Arrow: Right 22">
            <a:extLst>
              <a:ext uri="{FF2B5EF4-FFF2-40B4-BE49-F238E27FC236}">
                <a16:creationId xmlns:a16="http://schemas.microsoft.com/office/drawing/2014/main" id="{2730A073-B779-EEAD-B734-2A5C4BEB0C65}"/>
              </a:ext>
            </a:extLst>
          </p:cNvPr>
          <p:cNvSpPr/>
          <p:nvPr/>
        </p:nvSpPr>
        <p:spPr>
          <a:xfrm>
            <a:off x="5527909" y="5258417"/>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24" name="Group 23">
            <a:extLst>
              <a:ext uri="{FF2B5EF4-FFF2-40B4-BE49-F238E27FC236}">
                <a16:creationId xmlns:a16="http://schemas.microsoft.com/office/drawing/2014/main" id="{240714BB-B27D-DDC8-3823-6666002E2A21}"/>
              </a:ext>
            </a:extLst>
          </p:cNvPr>
          <p:cNvGrpSpPr/>
          <p:nvPr/>
        </p:nvGrpSpPr>
        <p:grpSpPr>
          <a:xfrm>
            <a:off x="5917907" y="4784939"/>
            <a:ext cx="385117" cy="1084493"/>
            <a:chOff x="4355646" y="2933574"/>
            <a:chExt cx="385117" cy="1463040"/>
          </a:xfrm>
        </p:grpSpPr>
        <p:sp>
          <p:nvSpPr>
            <p:cNvPr id="67" name="Rectangle 66">
              <a:extLst>
                <a:ext uri="{FF2B5EF4-FFF2-40B4-BE49-F238E27FC236}">
                  <a16:creationId xmlns:a16="http://schemas.microsoft.com/office/drawing/2014/main" id="{C96D9A02-F137-0766-7C86-C457DDC4C7F4}"/>
                </a:ext>
              </a:extLst>
            </p:cNvPr>
            <p:cNvSpPr/>
            <p:nvPr/>
          </p:nvSpPr>
          <p:spPr>
            <a:xfrm>
              <a:off x="4358443" y="2933574"/>
              <a:ext cx="382320" cy="146304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8" name="Graphic 67" descr="Normal Distribution with solid fill">
              <a:extLst>
                <a:ext uri="{FF2B5EF4-FFF2-40B4-BE49-F238E27FC236}">
                  <a16:creationId xmlns:a16="http://schemas.microsoft.com/office/drawing/2014/main" id="{F0BAE2AC-BE7D-3534-6D41-A2F589E86E4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5646" y="2953360"/>
              <a:ext cx="378536" cy="378536"/>
            </a:xfrm>
            <a:prstGeom prst="rect">
              <a:avLst/>
            </a:prstGeom>
          </p:spPr>
        </p:pic>
      </p:grpSp>
      <p:sp>
        <p:nvSpPr>
          <p:cNvPr id="25" name="TextBox 24">
            <a:extLst>
              <a:ext uri="{FF2B5EF4-FFF2-40B4-BE49-F238E27FC236}">
                <a16:creationId xmlns:a16="http://schemas.microsoft.com/office/drawing/2014/main" id="{E222158D-882D-9A12-4B38-0835AEE6A110}"/>
              </a:ext>
            </a:extLst>
          </p:cNvPr>
          <p:cNvSpPr txBox="1"/>
          <p:nvPr/>
        </p:nvSpPr>
        <p:spPr>
          <a:xfrm>
            <a:off x="4113212" y="5867400"/>
            <a:ext cx="1319741"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Weight Matrix (2x3)</a:t>
            </a:r>
          </a:p>
        </p:txBody>
      </p:sp>
      <p:sp>
        <p:nvSpPr>
          <p:cNvPr id="26" name="TextBox 25">
            <a:extLst>
              <a:ext uri="{FF2B5EF4-FFF2-40B4-BE49-F238E27FC236}">
                <a16:creationId xmlns:a16="http://schemas.microsoft.com/office/drawing/2014/main" id="{83AEF512-946A-F727-F53F-E8E9F093D84A}"/>
              </a:ext>
            </a:extLst>
          </p:cNvPr>
          <p:cNvSpPr txBox="1"/>
          <p:nvPr/>
        </p:nvSpPr>
        <p:spPr>
          <a:xfrm>
            <a:off x="5696088" y="5868918"/>
            <a:ext cx="833121" cy="246221"/>
          </a:xfrm>
          <a:prstGeom prst="rect">
            <a:avLst/>
          </a:prstGeom>
          <a:noFill/>
        </p:spPr>
        <p:txBody>
          <a:bodyPr wrap="square" rtlCol="0">
            <a:spAutoFit/>
          </a:bodyPr>
          <a:lstStyle/>
          <a:p>
            <a:pPr algn="ctr"/>
            <a:r>
              <a:rPr lang="en-US" sz="1000" b="1" dirty="0" err="1">
                <a:latin typeface="Arial" panose="020B0604020202020204" pitchFamily="34" charset="0"/>
                <a:cs typeface="Arial" panose="020B0604020202020204" pitchFamily="34" charset="0"/>
              </a:rPr>
              <a:t>ReLU</a:t>
            </a:r>
            <a:endParaRPr lang="en-US" sz="1000" b="1" dirty="0">
              <a:latin typeface="Arial" panose="020B0604020202020204" pitchFamily="34" charset="0"/>
              <a:cs typeface="Arial" panose="020B0604020202020204" pitchFamily="34" charset="0"/>
            </a:endParaRPr>
          </a:p>
        </p:txBody>
      </p:sp>
      <p:sp>
        <p:nvSpPr>
          <p:cNvPr id="70" name="Arrow: Right 69">
            <a:extLst>
              <a:ext uri="{FF2B5EF4-FFF2-40B4-BE49-F238E27FC236}">
                <a16:creationId xmlns:a16="http://schemas.microsoft.com/office/drawing/2014/main" id="{5C17750E-100A-9397-F48B-0A21C403AD69}"/>
              </a:ext>
            </a:extLst>
          </p:cNvPr>
          <p:cNvSpPr/>
          <p:nvPr/>
        </p:nvSpPr>
        <p:spPr>
          <a:xfrm>
            <a:off x="8152609" y="5258417"/>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71" name="Group 70">
            <a:extLst>
              <a:ext uri="{FF2B5EF4-FFF2-40B4-BE49-F238E27FC236}">
                <a16:creationId xmlns:a16="http://schemas.microsoft.com/office/drawing/2014/main" id="{EA3EE9F9-356E-814C-6C92-EFB328BA3341}"/>
              </a:ext>
            </a:extLst>
          </p:cNvPr>
          <p:cNvGrpSpPr/>
          <p:nvPr/>
        </p:nvGrpSpPr>
        <p:grpSpPr>
          <a:xfrm>
            <a:off x="8542607" y="4784939"/>
            <a:ext cx="385117" cy="1084493"/>
            <a:chOff x="4355646" y="2933574"/>
            <a:chExt cx="385117" cy="1463040"/>
          </a:xfrm>
        </p:grpSpPr>
        <p:sp>
          <p:nvSpPr>
            <p:cNvPr id="114" name="Rectangle 113">
              <a:extLst>
                <a:ext uri="{FF2B5EF4-FFF2-40B4-BE49-F238E27FC236}">
                  <a16:creationId xmlns:a16="http://schemas.microsoft.com/office/drawing/2014/main" id="{32EA3121-0E13-DE1C-9EBB-8EF4230F3CA4}"/>
                </a:ext>
              </a:extLst>
            </p:cNvPr>
            <p:cNvSpPr/>
            <p:nvPr/>
          </p:nvSpPr>
          <p:spPr>
            <a:xfrm>
              <a:off x="4358443" y="2933574"/>
              <a:ext cx="382320" cy="146304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5" name="Graphic 114" descr="Normal Distribution with solid fill">
              <a:extLst>
                <a:ext uri="{FF2B5EF4-FFF2-40B4-BE49-F238E27FC236}">
                  <a16:creationId xmlns:a16="http://schemas.microsoft.com/office/drawing/2014/main" id="{16F4A64B-5F94-7776-4DF8-020C30BBF3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5646" y="2953360"/>
              <a:ext cx="378536" cy="378536"/>
            </a:xfrm>
            <a:prstGeom prst="rect">
              <a:avLst/>
            </a:prstGeom>
          </p:spPr>
        </p:pic>
      </p:grpSp>
      <p:sp>
        <p:nvSpPr>
          <p:cNvPr id="72" name="TextBox 71">
            <a:extLst>
              <a:ext uri="{FF2B5EF4-FFF2-40B4-BE49-F238E27FC236}">
                <a16:creationId xmlns:a16="http://schemas.microsoft.com/office/drawing/2014/main" id="{446A3DD3-046E-066F-C67E-17BFA81B22AC}"/>
              </a:ext>
            </a:extLst>
          </p:cNvPr>
          <p:cNvSpPr txBox="1"/>
          <p:nvPr/>
        </p:nvSpPr>
        <p:spPr>
          <a:xfrm>
            <a:off x="6684274" y="5867400"/>
            <a:ext cx="1323190" cy="400110"/>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Weight Matrix</a:t>
            </a:r>
            <a:br>
              <a:rPr lang="en-US" sz="1000" b="1" dirty="0">
                <a:latin typeface="Arial" panose="020B0604020202020204" pitchFamily="34" charset="0"/>
                <a:cs typeface="Arial" panose="020B0604020202020204" pitchFamily="34" charset="0"/>
              </a:rPr>
            </a:br>
            <a:r>
              <a:rPr lang="en-US" sz="1000" b="1" dirty="0">
                <a:latin typeface="Arial" panose="020B0604020202020204" pitchFamily="34" charset="0"/>
                <a:cs typeface="Arial" panose="020B0604020202020204" pitchFamily="34" charset="0"/>
              </a:rPr>
              <a:t>(1x2)</a:t>
            </a:r>
          </a:p>
        </p:txBody>
      </p:sp>
      <p:sp>
        <p:nvSpPr>
          <p:cNvPr id="73" name="TextBox 72">
            <a:extLst>
              <a:ext uri="{FF2B5EF4-FFF2-40B4-BE49-F238E27FC236}">
                <a16:creationId xmlns:a16="http://schemas.microsoft.com/office/drawing/2014/main" id="{984F97E7-7451-895D-F7F4-393CF44CB042}"/>
              </a:ext>
            </a:extLst>
          </p:cNvPr>
          <p:cNvSpPr txBox="1"/>
          <p:nvPr/>
        </p:nvSpPr>
        <p:spPr>
          <a:xfrm>
            <a:off x="8320788" y="5868918"/>
            <a:ext cx="833121" cy="246221"/>
          </a:xfrm>
          <a:prstGeom prst="rect">
            <a:avLst/>
          </a:prstGeom>
          <a:noFill/>
        </p:spPr>
        <p:txBody>
          <a:bodyPr wrap="square" rtlCol="0">
            <a:spAutoFit/>
          </a:bodyPr>
          <a:lstStyle/>
          <a:p>
            <a:pPr algn="ctr"/>
            <a:r>
              <a:rPr lang="en-US" sz="1000" b="1" dirty="0">
                <a:latin typeface="Arial" panose="020B0604020202020204" pitchFamily="34" charset="0"/>
                <a:cs typeface="Arial" panose="020B0604020202020204" pitchFamily="34" charset="0"/>
              </a:rPr>
              <a:t>Sigmoid</a:t>
            </a:r>
          </a:p>
        </p:txBody>
      </p:sp>
      <p:graphicFrame>
        <p:nvGraphicFramePr>
          <p:cNvPr id="210" name="Table 209">
            <a:extLst>
              <a:ext uri="{FF2B5EF4-FFF2-40B4-BE49-F238E27FC236}">
                <a16:creationId xmlns:a16="http://schemas.microsoft.com/office/drawing/2014/main" id="{06A8E17D-8BEF-1343-644B-97C84C6F5EC5}"/>
              </a:ext>
            </a:extLst>
          </p:cNvPr>
          <p:cNvGraphicFramePr>
            <a:graphicFrameLocks noGrp="1"/>
          </p:cNvGraphicFramePr>
          <p:nvPr/>
        </p:nvGraphicFramePr>
        <p:xfrm>
          <a:off x="4084911" y="4682914"/>
          <a:ext cx="1319740" cy="1112520"/>
        </p:xfrm>
        <a:graphic>
          <a:graphicData uri="http://schemas.openxmlformats.org/drawingml/2006/table">
            <a:tbl>
              <a:tblPr firstRow="1" bandRow="1">
                <a:tableStyleId>{073A0DAA-6AF3-43AB-8588-CEC1D06C72B9}</a:tableStyleId>
              </a:tblPr>
              <a:tblGrid>
                <a:gridCol w="329935">
                  <a:extLst>
                    <a:ext uri="{9D8B030D-6E8A-4147-A177-3AD203B41FA5}">
                      <a16:colId xmlns:a16="http://schemas.microsoft.com/office/drawing/2014/main" val="3827118505"/>
                    </a:ext>
                  </a:extLst>
                </a:gridCol>
                <a:gridCol w="329935">
                  <a:extLst>
                    <a:ext uri="{9D8B030D-6E8A-4147-A177-3AD203B41FA5}">
                      <a16:colId xmlns:a16="http://schemas.microsoft.com/office/drawing/2014/main" val="917015250"/>
                    </a:ext>
                  </a:extLst>
                </a:gridCol>
                <a:gridCol w="329935">
                  <a:extLst>
                    <a:ext uri="{9D8B030D-6E8A-4147-A177-3AD203B41FA5}">
                      <a16:colId xmlns:a16="http://schemas.microsoft.com/office/drawing/2014/main" val="2638584275"/>
                    </a:ext>
                  </a:extLst>
                </a:gridCol>
                <a:gridCol w="329935">
                  <a:extLst>
                    <a:ext uri="{9D8B030D-6E8A-4147-A177-3AD203B41FA5}">
                      <a16:colId xmlns:a16="http://schemas.microsoft.com/office/drawing/2014/main" val="4114706995"/>
                    </a:ext>
                  </a:extLst>
                </a:gridCol>
              </a:tblGrid>
              <a:tr h="370840">
                <a:tc>
                  <a:txBody>
                    <a:bodyPr/>
                    <a:lstStyle/>
                    <a:p>
                      <a:endParaRPr lang="en-US">
                        <a:solidFill>
                          <a:schemeClr val="bg1"/>
                        </a:solidFill>
                      </a:endParaRPr>
                    </a:p>
                  </a:txBody>
                  <a:tcPr>
                    <a:solidFill>
                      <a:schemeClr val="tx1">
                        <a:lumMod val="75000"/>
                      </a:schemeClr>
                    </a:solidFill>
                  </a:tcPr>
                </a:tc>
                <a:tc>
                  <a:txBody>
                    <a:bodyPr/>
                    <a:lstStyle/>
                    <a:p>
                      <a:r>
                        <a:rPr lang="en-US" dirty="0"/>
                        <a:t>1</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90151114"/>
                  </a:ext>
                </a:extLst>
              </a:tr>
              <a:tr h="370840">
                <a:tc>
                  <a:txBody>
                    <a:bodyPr/>
                    <a:lstStyle/>
                    <a:p>
                      <a:r>
                        <a:rPr lang="en-US" dirty="0">
                          <a:solidFill>
                            <a:schemeClr val="bg1"/>
                          </a:solidFill>
                        </a:rPr>
                        <a:t>1</a:t>
                      </a:r>
                    </a:p>
                  </a:txBody>
                  <a:tcPr>
                    <a:solidFill>
                      <a:schemeClr val="tx1">
                        <a:lumMod val="75000"/>
                      </a:schemeClr>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752455906"/>
                  </a:ext>
                </a:extLst>
              </a:tr>
              <a:tr h="370840">
                <a:tc>
                  <a:txBody>
                    <a:bodyPr/>
                    <a:lstStyle/>
                    <a:p>
                      <a:r>
                        <a:rPr lang="en-US" dirty="0">
                          <a:solidFill>
                            <a:schemeClr val="bg1"/>
                          </a:solidFill>
                        </a:rPr>
                        <a:t>2</a:t>
                      </a:r>
                    </a:p>
                  </a:txBody>
                  <a:tcPr>
                    <a:solidFill>
                      <a:schemeClr val="tx1">
                        <a:lumMod val="75000"/>
                      </a:schemeClr>
                    </a:solidFill>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87061511"/>
                  </a:ext>
                </a:extLst>
              </a:tr>
            </a:tbl>
          </a:graphicData>
        </a:graphic>
      </p:graphicFrame>
      <p:graphicFrame>
        <p:nvGraphicFramePr>
          <p:cNvPr id="211" name="Table 210">
            <a:extLst>
              <a:ext uri="{FF2B5EF4-FFF2-40B4-BE49-F238E27FC236}">
                <a16:creationId xmlns:a16="http://schemas.microsoft.com/office/drawing/2014/main" id="{D959701B-BD27-C225-E29F-4FCAEFA68A56}"/>
              </a:ext>
            </a:extLst>
          </p:cNvPr>
          <p:cNvGraphicFramePr>
            <a:graphicFrameLocks noGrp="1"/>
          </p:cNvGraphicFramePr>
          <p:nvPr/>
        </p:nvGraphicFramePr>
        <p:xfrm>
          <a:off x="6850967" y="4933491"/>
          <a:ext cx="989805" cy="741680"/>
        </p:xfrm>
        <a:graphic>
          <a:graphicData uri="http://schemas.openxmlformats.org/drawingml/2006/table">
            <a:tbl>
              <a:tblPr firstRow="1" bandRow="1">
                <a:tableStyleId>{073A0DAA-6AF3-43AB-8588-CEC1D06C72B9}</a:tableStyleId>
              </a:tblPr>
              <a:tblGrid>
                <a:gridCol w="329935">
                  <a:extLst>
                    <a:ext uri="{9D8B030D-6E8A-4147-A177-3AD203B41FA5}">
                      <a16:colId xmlns:a16="http://schemas.microsoft.com/office/drawing/2014/main" val="3827118505"/>
                    </a:ext>
                  </a:extLst>
                </a:gridCol>
                <a:gridCol w="329935">
                  <a:extLst>
                    <a:ext uri="{9D8B030D-6E8A-4147-A177-3AD203B41FA5}">
                      <a16:colId xmlns:a16="http://schemas.microsoft.com/office/drawing/2014/main" val="917015250"/>
                    </a:ext>
                  </a:extLst>
                </a:gridCol>
                <a:gridCol w="329935">
                  <a:extLst>
                    <a:ext uri="{9D8B030D-6E8A-4147-A177-3AD203B41FA5}">
                      <a16:colId xmlns:a16="http://schemas.microsoft.com/office/drawing/2014/main" val="2638584275"/>
                    </a:ext>
                  </a:extLst>
                </a:gridCol>
              </a:tblGrid>
              <a:tr h="370840">
                <a:tc>
                  <a:txBody>
                    <a:bodyPr/>
                    <a:lstStyle/>
                    <a:p>
                      <a:endParaRPr lang="en-US">
                        <a:solidFill>
                          <a:schemeClr val="bg1"/>
                        </a:solidFill>
                      </a:endParaRPr>
                    </a:p>
                  </a:txBody>
                  <a:tcPr>
                    <a:solidFill>
                      <a:schemeClr val="tx1">
                        <a:lumMod val="75000"/>
                      </a:schemeClr>
                    </a:solidFill>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90151114"/>
                  </a:ext>
                </a:extLst>
              </a:tr>
              <a:tr h="370840">
                <a:tc>
                  <a:txBody>
                    <a:bodyPr/>
                    <a:lstStyle/>
                    <a:p>
                      <a:r>
                        <a:rPr lang="en-US" dirty="0">
                          <a:solidFill>
                            <a:schemeClr val="bg1"/>
                          </a:solidFill>
                        </a:rPr>
                        <a:t>1</a:t>
                      </a:r>
                    </a:p>
                  </a:txBody>
                  <a:tcPr>
                    <a:solidFill>
                      <a:schemeClr val="tx1">
                        <a:lumMod val="75000"/>
                      </a:schemeClr>
                    </a:solidFill>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752455906"/>
                  </a:ext>
                </a:extLst>
              </a:tr>
            </a:tbl>
          </a:graphicData>
        </a:graphic>
      </p:graphicFrame>
    </p:spTree>
    <p:extLst>
      <p:ext uri="{BB962C8B-B14F-4D97-AF65-F5344CB8AC3E}">
        <p14:creationId xmlns:p14="http://schemas.microsoft.com/office/powerpoint/2010/main" val="662565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38EB7-87AF-5FC8-701B-732A7949642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4E955C0-4719-D361-4F29-9E8E5343DED4}"/>
              </a:ext>
            </a:extLst>
          </p:cNvPr>
          <p:cNvSpPr>
            <a:spLocks noGrp="1"/>
          </p:cNvSpPr>
          <p:nvPr>
            <p:ph type="title"/>
          </p:nvPr>
        </p:nvSpPr>
        <p:spPr/>
        <p:txBody>
          <a:bodyPr/>
          <a:lstStyle/>
          <a:p>
            <a:r>
              <a:rPr lang="en-US" dirty="0"/>
              <a:t>Layers</a:t>
            </a:r>
          </a:p>
        </p:txBody>
      </p:sp>
      <p:sp>
        <p:nvSpPr>
          <p:cNvPr id="2" name="Content Placeholder 1">
            <a:extLst>
              <a:ext uri="{FF2B5EF4-FFF2-40B4-BE49-F238E27FC236}">
                <a16:creationId xmlns:a16="http://schemas.microsoft.com/office/drawing/2014/main" id="{BFE9CFDA-5239-A19B-D66E-C1BC1678505E}"/>
              </a:ext>
            </a:extLst>
          </p:cNvPr>
          <p:cNvSpPr>
            <a:spLocks noGrp="1"/>
          </p:cNvSpPr>
          <p:nvPr>
            <p:ph idx="1"/>
          </p:nvPr>
        </p:nvSpPr>
        <p:spPr>
          <a:xfrm>
            <a:off x="1593436" y="1600200"/>
            <a:ext cx="9782801" cy="5181600"/>
          </a:xfrm>
        </p:spPr>
        <p:txBody>
          <a:bodyPr>
            <a:normAutofit/>
          </a:bodyPr>
          <a:lstStyle/>
          <a:p>
            <a:r>
              <a:rPr lang="en-US" dirty="0"/>
              <a:t>The output shape of one layer must match the input shape of the next layer</a:t>
            </a:r>
          </a:p>
        </p:txBody>
      </p:sp>
      <p:sp>
        <p:nvSpPr>
          <p:cNvPr id="6" name="Rectangle 5">
            <a:extLst>
              <a:ext uri="{FF2B5EF4-FFF2-40B4-BE49-F238E27FC236}">
                <a16:creationId xmlns:a16="http://schemas.microsoft.com/office/drawing/2014/main" id="{BF91E141-8327-9EAB-654E-2FF90CD3B2E5}"/>
              </a:ext>
            </a:extLst>
          </p:cNvPr>
          <p:cNvSpPr/>
          <p:nvPr/>
        </p:nvSpPr>
        <p:spPr>
          <a:xfrm>
            <a:off x="1912836" y="3210162"/>
            <a:ext cx="9144000" cy="1961675"/>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229977"/>
                </a:solidFill>
                <a:effectLst/>
                <a:latin typeface="Consolas" panose="020B0609020204030204" pitchFamily="49" charset="0"/>
              </a:rPr>
              <a:t>net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Sequential</a:t>
            </a:r>
            <a:endParaRPr lang="en-US" b="0" dirty="0">
              <a:solidFill>
                <a:srgbClr val="5DA963"/>
              </a:solidFill>
              <a:effectLst/>
              <a:latin typeface="Consolas" panose="020B0609020204030204" pitchFamily="49" charset="0"/>
            </a:endParaRPr>
          </a:p>
          <a:p>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Linear</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569CD6"/>
                </a:solidFill>
                <a:effectLst/>
                <a:latin typeface="Consolas" panose="020B0609020204030204" pitchFamily="49" charset="0"/>
              </a:rPr>
              <a:t>False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ReLU</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Linear</a:t>
            </a:r>
            <a:r>
              <a:rPr lang="en-US" b="0" dirty="0">
                <a:solidFill>
                  <a:srgbClr val="B4B4B4"/>
                </a:solidFill>
                <a:effectLst/>
                <a:latin typeface="Consolas" panose="020B0609020204030204" pitchFamily="49" charset="0"/>
              </a:rPr>
              <a:t>(</a:t>
            </a:r>
            <a:r>
              <a:rPr lang="en-US" dirty="0">
                <a:solidFill>
                  <a:srgbClr val="E0EBB2"/>
                </a:solidFill>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569CD6"/>
                </a:solidFill>
                <a:effectLst/>
                <a:latin typeface="Consolas" panose="020B0609020204030204" pitchFamily="49" charset="0"/>
              </a:rPr>
              <a:t>False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nn</a:t>
            </a:r>
            <a:r>
              <a:rPr lang="en-US" b="0" dirty="0" err="1">
                <a:solidFill>
                  <a:srgbClr val="B4B4B4"/>
                </a:solidFill>
                <a:effectLst/>
                <a:latin typeface="Consolas" panose="020B0609020204030204" pitchFamily="49" charset="0"/>
              </a:rPr>
              <a:t>.</a:t>
            </a:r>
            <a:r>
              <a:rPr lang="en-US" b="0" dirty="0" err="1">
                <a:solidFill>
                  <a:srgbClr val="5DA963"/>
                </a:solidFill>
                <a:effectLst/>
                <a:latin typeface="Consolas" panose="020B0609020204030204" pitchFamily="49" charset="0"/>
              </a:rPr>
              <a:t>Sigmoid</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7" name="Table 3">
            <a:extLst>
              <a:ext uri="{FF2B5EF4-FFF2-40B4-BE49-F238E27FC236}">
                <a16:creationId xmlns:a16="http://schemas.microsoft.com/office/drawing/2014/main" id="{697C7331-A240-6FAA-B819-7F9AF2232807}"/>
              </a:ext>
            </a:extLst>
          </p:cNvPr>
          <p:cNvGraphicFramePr>
            <a:graphicFrameLocks noGrp="1"/>
          </p:cNvGraphicFramePr>
          <p:nvPr>
            <p:extLst>
              <p:ext uri="{D42A27DB-BD31-4B8C-83A1-F6EECF244321}">
                <p14:modId xmlns:p14="http://schemas.microsoft.com/office/powerpoint/2010/main" val="3034733237"/>
              </p:ext>
            </p:extLst>
          </p:nvPr>
        </p:nvGraphicFramePr>
        <p:xfrm>
          <a:off x="5430129" y="4368800"/>
          <a:ext cx="6079659" cy="1529080"/>
        </p:xfrm>
        <a:graphic>
          <a:graphicData uri="http://schemas.openxmlformats.org/drawingml/2006/table">
            <a:tbl>
              <a:tblPr firstRow="1" bandRow="1">
                <a:tableStyleId>{073A0DAA-6AF3-43AB-8588-CEC1D06C72B9}</a:tableStyleId>
              </a:tblPr>
              <a:tblGrid>
                <a:gridCol w="6079659">
                  <a:extLst>
                    <a:ext uri="{9D8B030D-6E8A-4147-A177-3AD203B41FA5}">
                      <a16:colId xmlns:a16="http://schemas.microsoft.com/office/drawing/2014/main" val="3899577134"/>
                    </a:ext>
                  </a:extLst>
                </a:gridCol>
              </a:tblGrid>
              <a:tr h="370840">
                <a:tc>
                  <a:txBody>
                    <a:bodyPr/>
                    <a:lstStyle/>
                    <a:p>
                      <a:r>
                        <a:rPr lang="en-US" sz="1600" dirty="0"/>
                        <a:t>Output</a:t>
                      </a:r>
                    </a:p>
                  </a:txBody>
                  <a:tcPr/>
                </a:tc>
                <a:extLst>
                  <a:ext uri="{0D108BD9-81ED-4DB2-BD59-A6C34878D82A}">
                    <a16:rowId xmlns:a16="http://schemas.microsoft.com/office/drawing/2014/main" val="117988312"/>
                  </a:ext>
                </a:extLst>
              </a:tr>
              <a:tr h="370840">
                <a:tc>
                  <a:txBody>
                    <a:bodyPr/>
                    <a:lstStyle/>
                    <a:p>
                      <a:r>
                        <a:rPr lang="en-US" sz="1400" b="0" i="0" u="none" strike="noStrike" cap="none" dirty="0">
                          <a:solidFill>
                            <a:schemeClr val="tx2"/>
                          </a:solidFill>
                          <a:effectLst/>
                          <a:latin typeface="+mn-lt"/>
                          <a:ea typeface="+mn-ea"/>
                          <a:cs typeface="+mn-cs"/>
                          <a:sym typeface="Arial"/>
                        </a:rPr>
                        <a:t>  File "/opt/</a:t>
                      </a:r>
                      <a:r>
                        <a:rPr lang="en-US" sz="1400" b="0" i="0" u="none" strike="noStrike" cap="none" dirty="0" err="1">
                          <a:solidFill>
                            <a:schemeClr val="tx2"/>
                          </a:solidFill>
                          <a:effectLst/>
                          <a:latin typeface="+mn-lt"/>
                          <a:ea typeface="+mn-ea"/>
                          <a:cs typeface="+mn-cs"/>
                          <a:sym typeface="Arial"/>
                        </a:rPr>
                        <a:t>conda</a:t>
                      </a:r>
                      <a:r>
                        <a:rPr lang="en-US" sz="1400" b="0" i="0" u="none" strike="noStrike" cap="none" dirty="0">
                          <a:solidFill>
                            <a:schemeClr val="tx2"/>
                          </a:solidFill>
                          <a:effectLst/>
                          <a:latin typeface="+mn-lt"/>
                          <a:ea typeface="+mn-ea"/>
                          <a:cs typeface="+mn-cs"/>
                          <a:sym typeface="Arial"/>
                        </a:rPr>
                        <a:t>/</a:t>
                      </a:r>
                      <a:r>
                        <a:rPr lang="en-US" sz="1400" b="0" i="0" u="none" strike="noStrike" cap="none" dirty="0" err="1">
                          <a:solidFill>
                            <a:schemeClr val="tx2"/>
                          </a:solidFill>
                          <a:effectLst/>
                          <a:latin typeface="+mn-lt"/>
                          <a:ea typeface="+mn-ea"/>
                          <a:cs typeface="+mn-cs"/>
                          <a:sym typeface="Arial"/>
                        </a:rPr>
                        <a:t>envs</a:t>
                      </a:r>
                      <a:r>
                        <a:rPr lang="en-US" sz="1400" b="0" i="0" u="none" strike="noStrike" cap="none" dirty="0">
                          <a:solidFill>
                            <a:schemeClr val="tx2"/>
                          </a:solidFill>
                          <a:effectLst/>
                          <a:latin typeface="+mn-lt"/>
                          <a:ea typeface="+mn-ea"/>
                          <a:cs typeface="+mn-cs"/>
                          <a:sym typeface="Arial"/>
                        </a:rPr>
                        <a:t>/</a:t>
                      </a:r>
                      <a:r>
                        <a:rPr lang="en-US" sz="1400" b="0" i="0" u="none" strike="noStrike" cap="none" dirty="0" err="1">
                          <a:solidFill>
                            <a:schemeClr val="tx2"/>
                          </a:solidFill>
                          <a:effectLst/>
                          <a:latin typeface="+mn-lt"/>
                          <a:ea typeface="+mn-ea"/>
                          <a:cs typeface="+mn-cs"/>
                          <a:sym typeface="Arial"/>
                        </a:rPr>
                        <a:t>deeplearning</a:t>
                      </a:r>
                      <a:r>
                        <a:rPr lang="en-US" sz="1400" b="0" i="0" u="none" strike="noStrike" cap="none" dirty="0">
                          <a:solidFill>
                            <a:schemeClr val="tx2"/>
                          </a:solidFill>
                          <a:effectLst/>
                          <a:latin typeface="+mn-lt"/>
                          <a:ea typeface="+mn-ea"/>
                          <a:cs typeface="+mn-cs"/>
                          <a:sym typeface="Arial"/>
                        </a:rPr>
                        <a:t>/lib/python3.12/site-packages/torch/</a:t>
                      </a:r>
                      <a:r>
                        <a:rPr lang="en-US" sz="1400" b="0" i="0" u="none" strike="noStrike" cap="none" dirty="0" err="1">
                          <a:solidFill>
                            <a:schemeClr val="tx2"/>
                          </a:solidFill>
                          <a:effectLst/>
                          <a:latin typeface="+mn-lt"/>
                          <a:ea typeface="+mn-ea"/>
                          <a:cs typeface="+mn-cs"/>
                          <a:sym typeface="Arial"/>
                        </a:rPr>
                        <a:t>nn</a:t>
                      </a:r>
                      <a:r>
                        <a:rPr lang="en-US" sz="1400" b="0" i="0" u="none" strike="noStrike" cap="none" dirty="0">
                          <a:solidFill>
                            <a:schemeClr val="tx2"/>
                          </a:solidFill>
                          <a:effectLst/>
                          <a:latin typeface="+mn-lt"/>
                          <a:ea typeface="+mn-ea"/>
                          <a:cs typeface="+mn-cs"/>
                          <a:sym typeface="Arial"/>
                        </a:rPr>
                        <a:t>/modules/</a:t>
                      </a:r>
                      <a:r>
                        <a:rPr lang="en-US" sz="1400" b="0" i="0" u="none" strike="noStrike" cap="none" dirty="0" err="1">
                          <a:solidFill>
                            <a:schemeClr val="tx2"/>
                          </a:solidFill>
                          <a:effectLst/>
                          <a:latin typeface="+mn-lt"/>
                          <a:ea typeface="+mn-ea"/>
                          <a:cs typeface="+mn-cs"/>
                          <a:sym typeface="Arial"/>
                        </a:rPr>
                        <a:t>linear.py</a:t>
                      </a:r>
                      <a:r>
                        <a:rPr lang="en-US" sz="1400" b="0" i="0" u="none" strike="noStrike" cap="none" dirty="0">
                          <a:solidFill>
                            <a:schemeClr val="tx2"/>
                          </a:solidFill>
                          <a:effectLst/>
                          <a:latin typeface="+mn-lt"/>
                          <a:ea typeface="+mn-ea"/>
                          <a:cs typeface="+mn-cs"/>
                          <a:sym typeface="Arial"/>
                        </a:rPr>
                        <a:t>", line 117, in forward</a:t>
                      </a:r>
                    </a:p>
                    <a:p>
                      <a:r>
                        <a:rPr lang="en-US" sz="1400" b="0" i="0" u="none" strike="noStrike" cap="none" dirty="0">
                          <a:solidFill>
                            <a:schemeClr val="tx2"/>
                          </a:solidFill>
                          <a:effectLst/>
                          <a:latin typeface="+mn-lt"/>
                          <a:ea typeface="+mn-ea"/>
                          <a:cs typeface="+mn-cs"/>
                          <a:sym typeface="Arial"/>
                        </a:rPr>
                        <a:t>    return </a:t>
                      </a:r>
                      <a:r>
                        <a:rPr lang="en-US" sz="1400" b="0" i="0" u="none" strike="noStrike" cap="none" dirty="0" err="1">
                          <a:solidFill>
                            <a:schemeClr val="tx2"/>
                          </a:solidFill>
                          <a:effectLst/>
                          <a:latin typeface="+mn-lt"/>
                          <a:ea typeface="+mn-ea"/>
                          <a:cs typeface="+mn-cs"/>
                          <a:sym typeface="Arial"/>
                        </a:rPr>
                        <a:t>F.linear</a:t>
                      </a:r>
                      <a:r>
                        <a:rPr lang="en-US" sz="1400" b="0" i="0" u="none" strike="noStrike" cap="none" dirty="0">
                          <a:solidFill>
                            <a:schemeClr val="tx2"/>
                          </a:solidFill>
                          <a:effectLst/>
                          <a:latin typeface="+mn-lt"/>
                          <a:ea typeface="+mn-ea"/>
                          <a:cs typeface="+mn-cs"/>
                          <a:sym typeface="Arial"/>
                        </a:rPr>
                        <a:t>(input, </a:t>
                      </a:r>
                      <a:r>
                        <a:rPr lang="en-US" sz="1400" b="0" i="0" u="none" strike="noStrike" cap="none" dirty="0" err="1">
                          <a:solidFill>
                            <a:schemeClr val="tx2"/>
                          </a:solidFill>
                          <a:effectLst/>
                          <a:latin typeface="+mn-lt"/>
                          <a:ea typeface="+mn-ea"/>
                          <a:cs typeface="+mn-cs"/>
                          <a:sym typeface="Arial"/>
                        </a:rPr>
                        <a:t>self.weight</a:t>
                      </a:r>
                      <a:r>
                        <a:rPr lang="en-US" sz="1400" b="0" i="0" u="none" strike="noStrike" cap="none" dirty="0">
                          <a:solidFill>
                            <a:schemeClr val="tx2"/>
                          </a:solidFill>
                          <a:effectLst/>
                          <a:latin typeface="+mn-lt"/>
                          <a:ea typeface="+mn-ea"/>
                          <a:cs typeface="+mn-cs"/>
                          <a:sym typeface="Arial"/>
                        </a:rPr>
                        <a:t>, </a:t>
                      </a:r>
                      <a:r>
                        <a:rPr lang="en-US" sz="1400" b="0" i="0" u="none" strike="noStrike" cap="none" dirty="0" err="1">
                          <a:solidFill>
                            <a:schemeClr val="tx2"/>
                          </a:solidFill>
                          <a:effectLst/>
                          <a:latin typeface="+mn-lt"/>
                          <a:ea typeface="+mn-ea"/>
                          <a:cs typeface="+mn-cs"/>
                          <a:sym typeface="Arial"/>
                        </a:rPr>
                        <a:t>self.bias</a:t>
                      </a:r>
                      <a:r>
                        <a:rPr lang="en-US" sz="1400" b="0" i="0" u="none" strike="noStrike" cap="none" dirty="0">
                          <a:solidFill>
                            <a:schemeClr val="tx2"/>
                          </a:solidFill>
                          <a:effectLst/>
                          <a:latin typeface="+mn-lt"/>
                          <a:ea typeface="+mn-ea"/>
                          <a:cs typeface="+mn-cs"/>
                          <a:sym typeface="Arial"/>
                        </a:rPr>
                        <a:t>)</a:t>
                      </a:r>
                    </a:p>
                    <a:p>
                      <a:r>
                        <a:rPr lang="en-US" sz="1400" b="0" i="0" u="none" strike="noStrike" cap="none" dirty="0">
                          <a:solidFill>
                            <a:schemeClr val="tx2"/>
                          </a:solidFill>
                          <a:effectLst/>
                          <a:latin typeface="+mn-lt"/>
                          <a:ea typeface="+mn-ea"/>
                          <a:cs typeface="+mn-cs"/>
                          <a:sym typeface="Arial"/>
                        </a:rPr>
                        <a:t>           ^^^^^^^^^^^^^^^^^^^^^^^^^^^^^^^^^^^^^^^</a:t>
                      </a:r>
                    </a:p>
                    <a:p>
                      <a:r>
                        <a:rPr lang="en-US" sz="1400" b="0" i="0" u="none" strike="noStrike" cap="none" dirty="0" err="1">
                          <a:solidFill>
                            <a:schemeClr val="tx2"/>
                          </a:solidFill>
                          <a:effectLst/>
                          <a:latin typeface="+mn-lt"/>
                          <a:ea typeface="+mn-ea"/>
                          <a:cs typeface="+mn-cs"/>
                          <a:sym typeface="Arial"/>
                        </a:rPr>
                        <a:t>RuntimeError</a:t>
                      </a:r>
                      <a:r>
                        <a:rPr lang="en-US" sz="1400" b="0" i="0" u="none" strike="noStrike" cap="none" dirty="0">
                          <a:solidFill>
                            <a:schemeClr val="tx2"/>
                          </a:solidFill>
                          <a:effectLst/>
                          <a:latin typeface="+mn-lt"/>
                          <a:ea typeface="+mn-ea"/>
                          <a:cs typeface="+mn-cs"/>
                          <a:sym typeface="Arial"/>
                        </a:rPr>
                        <a:t>: mat1 and mat2 shapes cannot be multiplied (3x2 and 3x1)</a:t>
                      </a:r>
                    </a:p>
                  </a:txBody>
                  <a:tcPr/>
                </a:tc>
                <a:extLst>
                  <a:ext uri="{0D108BD9-81ED-4DB2-BD59-A6C34878D82A}">
                    <a16:rowId xmlns:a16="http://schemas.microsoft.com/office/drawing/2014/main" val="4231599274"/>
                  </a:ext>
                </a:extLst>
              </a:tr>
            </a:tbl>
          </a:graphicData>
        </a:graphic>
      </p:graphicFrame>
      <p:sp>
        <p:nvSpPr>
          <p:cNvPr id="11" name="Rectangle 10">
            <a:extLst>
              <a:ext uri="{FF2B5EF4-FFF2-40B4-BE49-F238E27FC236}">
                <a16:creationId xmlns:a16="http://schemas.microsoft.com/office/drawing/2014/main" id="{7D9735C1-992D-A361-22F4-3BC755854E6F}"/>
              </a:ext>
            </a:extLst>
          </p:cNvPr>
          <p:cNvSpPr/>
          <p:nvPr/>
        </p:nvSpPr>
        <p:spPr>
          <a:xfrm>
            <a:off x="10114670" y="5600700"/>
            <a:ext cx="1232301" cy="29718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1530706-F417-5026-73CA-956FFB02D913}"/>
              </a:ext>
            </a:extLst>
          </p:cNvPr>
          <p:cNvSpPr/>
          <p:nvPr/>
        </p:nvSpPr>
        <p:spPr>
          <a:xfrm>
            <a:off x="3898991" y="4178300"/>
            <a:ext cx="391656" cy="3810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Connector: Elbow 7">
            <a:extLst>
              <a:ext uri="{FF2B5EF4-FFF2-40B4-BE49-F238E27FC236}">
                <a16:creationId xmlns:a16="http://schemas.microsoft.com/office/drawing/2014/main" id="{A2593AFA-0C5F-79FA-DD82-1137E5A2B9EA}"/>
              </a:ext>
            </a:extLst>
          </p:cNvPr>
          <p:cNvCxnSpPr>
            <a:cxnSpLocks/>
            <a:stCxn id="12" idx="3"/>
            <a:endCxn id="11" idx="0"/>
          </p:cNvCxnSpPr>
          <p:nvPr/>
        </p:nvCxnSpPr>
        <p:spPr>
          <a:xfrm>
            <a:off x="4290647" y="4368800"/>
            <a:ext cx="6440174" cy="1231900"/>
          </a:xfrm>
          <a:prstGeom prst="bentConnector2">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565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ACEC3-2A4A-DD16-35BC-3D63677E6B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D81CA5-66B1-E99E-5ACC-26C70B808E4F}"/>
              </a:ext>
            </a:extLst>
          </p:cNvPr>
          <p:cNvSpPr>
            <a:spLocks noGrp="1"/>
          </p:cNvSpPr>
          <p:nvPr>
            <p:ph type="title"/>
          </p:nvPr>
        </p:nvSpPr>
        <p:spPr/>
        <p:txBody>
          <a:bodyPr/>
          <a:lstStyle/>
          <a:p>
            <a:r>
              <a:rPr lang="en-US" dirty="0"/>
              <a:t>Layers</a:t>
            </a:r>
          </a:p>
        </p:txBody>
      </p:sp>
      <p:sp>
        <p:nvSpPr>
          <p:cNvPr id="2" name="Content Placeholder 1">
            <a:extLst>
              <a:ext uri="{FF2B5EF4-FFF2-40B4-BE49-F238E27FC236}">
                <a16:creationId xmlns:a16="http://schemas.microsoft.com/office/drawing/2014/main" id="{992AF2F5-D644-294B-C0B2-B8A450B3CD57}"/>
              </a:ext>
            </a:extLst>
          </p:cNvPr>
          <p:cNvSpPr>
            <a:spLocks noGrp="1"/>
          </p:cNvSpPr>
          <p:nvPr>
            <p:ph idx="1"/>
          </p:nvPr>
        </p:nvSpPr>
        <p:spPr>
          <a:xfrm>
            <a:off x="1593436" y="1600200"/>
            <a:ext cx="9782801" cy="5181600"/>
          </a:xfrm>
        </p:spPr>
        <p:txBody>
          <a:bodyPr>
            <a:normAutofit/>
          </a:bodyPr>
          <a:lstStyle/>
          <a:p>
            <a:r>
              <a:rPr lang="en-US" dirty="0"/>
              <a:t>Layers can also be added to a list and the content of the list to be passed to the Sequential layer</a:t>
            </a:r>
          </a:p>
        </p:txBody>
      </p:sp>
      <p:sp>
        <p:nvSpPr>
          <p:cNvPr id="6" name="Rectangle 5">
            <a:extLst>
              <a:ext uri="{FF2B5EF4-FFF2-40B4-BE49-F238E27FC236}">
                <a16:creationId xmlns:a16="http://schemas.microsoft.com/office/drawing/2014/main" id="{AFAC2766-2379-D8B1-8A03-079891C13226}"/>
              </a:ext>
            </a:extLst>
          </p:cNvPr>
          <p:cNvSpPr/>
          <p:nvPr/>
        </p:nvSpPr>
        <p:spPr>
          <a:xfrm>
            <a:off x="1912836" y="3210162"/>
            <a:ext cx="9144000" cy="216369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725"/>
              </a:lnSpc>
            </a:pPr>
            <a:endParaRPr lang="en-US" b="0" dirty="0">
              <a:solidFill>
                <a:srgbClr val="9CDCFE"/>
              </a:solidFill>
              <a:effectLst/>
              <a:latin typeface="Menlo" panose="020B0609030804020204" pitchFamily="49" charset="0"/>
            </a:endParaRPr>
          </a:p>
          <a:p>
            <a:pPr>
              <a:lnSpc>
                <a:spcPts val="1725"/>
              </a:lnSpc>
            </a:pPr>
            <a:r>
              <a:rPr lang="en-US" b="0" dirty="0">
                <a:solidFill>
                  <a:srgbClr val="9CDCFE"/>
                </a:solidFill>
                <a:effectLst/>
                <a:latin typeface="Menlo" panose="020B0609030804020204" pitchFamily="49" charset="0"/>
              </a:rPr>
              <a:t>layers</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a:t>
            </a:r>
          </a:p>
          <a:p>
            <a:pPr>
              <a:lnSpc>
                <a:spcPts val="1725"/>
              </a:lnSpc>
            </a:pPr>
            <a:r>
              <a:rPr lang="en-US" b="0" dirty="0">
                <a:solidFill>
                  <a:srgbClr val="4EC9B0"/>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.nn.Linear</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3</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2</a:t>
            </a:r>
            <a:r>
              <a:rPr lang="en-US" b="0" dirty="0">
                <a:solidFill>
                  <a:srgbClr val="CCCCCC"/>
                </a:solidFill>
                <a:effectLst/>
                <a:latin typeface="Menlo" panose="020B0609030804020204" pitchFamily="49" charset="0"/>
              </a:rPr>
              <a:t>,</a:t>
            </a:r>
            <a:r>
              <a:rPr lang="en-US" b="0" dirty="0">
                <a:solidFill>
                  <a:srgbClr val="569CD6"/>
                </a:solidFill>
                <a:effectLst/>
                <a:latin typeface="Menlo" panose="020B0609030804020204" pitchFamily="49" charset="0"/>
              </a:rPr>
              <a:t>False</a:t>
            </a:r>
            <a:r>
              <a:rPr lang="en-US" b="0" dirty="0">
                <a:solidFill>
                  <a:srgbClr val="CCCCCC"/>
                </a:solidFill>
                <a:effectLst/>
                <a:latin typeface="Menlo" panose="020B0609030804020204" pitchFamily="49" charset="0"/>
              </a:rPr>
              <a:t>),</a:t>
            </a:r>
          </a:p>
          <a:p>
            <a:pPr>
              <a:lnSpc>
                <a:spcPts val="1725"/>
              </a:lnSpc>
            </a:pPr>
            <a:r>
              <a:rPr lang="en-US" b="0" dirty="0">
                <a:solidFill>
                  <a:srgbClr val="4EC9B0"/>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.nn.ReLU</a:t>
            </a:r>
            <a:r>
              <a:rPr lang="en-US" b="0" dirty="0">
                <a:solidFill>
                  <a:srgbClr val="CCCCCC"/>
                </a:solidFill>
                <a:effectLst/>
                <a:latin typeface="Menlo" panose="020B0609030804020204" pitchFamily="49" charset="0"/>
              </a:rPr>
              <a:t>(),</a:t>
            </a:r>
          </a:p>
          <a:p>
            <a:pPr>
              <a:lnSpc>
                <a:spcPts val="1725"/>
              </a:lnSpc>
            </a:pPr>
            <a:r>
              <a:rPr lang="en-US" b="0" dirty="0">
                <a:solidFill>
                  <a:srgbClr val="4EC9B0"/>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.nn.Linear</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2</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a:t>
            </a:r>
            <a:r>
              <a:rPr lang="en-US" b="0" dirty="0">
                <a:solidFill>
                  <a:srgbClr val="CCCCCC"/>
                </a:solidFill>
                <a:effectLst/>
                <a:latin typeface="Menlo" panose="020B0609030804020204" pitchFamily="49" charset="0"/>
              </a:rPr>
              <a:t>,</a:t>
            </a:r>
            <a:r>
              <a:rPr lang="en-US" b="0" dirty="0">
                <a:solidFill>
                  <a:srgbClr val="569CD6"/>
                </a:solidFill>
                <a:effectLst/>
                <a:latin typeface="Menlo" panose="020B0609030804020204" pitchFamily="49" charset="0"/>
              </a:rPr>
              <a:t>False</a:t>
            </a:r>
            <a:r>
              <a:rPr lang="en-US" b="0" dirty="0">
                <a:solidFill>
                  <a:srgbClr val="CCCCCC"/>
                </a:solidFill>
                <a:effectLst/>
                <a:latin typeface="Menlo" panose="020B0609030804020204" pitchFamily="49" charset="0"/>
              </a:rPr>
              <a:t>),</a:t>
            </a:r>
          </a:p>
          <a:p>
            <a:pPr>
              <a:lnSpc>
                <a:spcPts val="1725"/>
              </a:lnSpc>
            </a:pPr>
            <a:r>
              <a:rPr lang="en-US" b="0" dirty="0">
                <a:solidFill>
                  <a:srgbClr val="4EC9B0"/>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.nn.Sigmoid</a:t>
            </a:r>
            <a:r>
              <a:rPr lang="en-US" b="0" dirty="0">
                <a:solidFill>
                  <a:srgbClr val="CCCCCC"/>
                </a:solidFill>
                <a:effectLst/>
                <a:latin typeface="Menlo" panose="020B0609030804020204" pitchFamily="49" charset="0"/>
              </a:rPr>
              <a:t>() </a:t>
            </a:r>
          </a:p>
          <a:p>
            <a:pPr>
              <a:lnSpc>
                <a:spcPts val="1725"/>
              </a:lnSpc>
            </a:pPr>
            <a:r>
              <a:rPr lang="en-US" b="0" dirty="0">
                <a:solidFill>
                  <a:srgbClr val="CCCCCC"/>
                </a:solidFill>
                <a:effectLst/>
                <a:latin typeface="Menlo" panose="020B0609030804020204" pitchFamily="49" charset="0"/>
              </a:rPr>
              <a:t>]</a:t>
            </a:r>
          </a:p>
          <a:p>
            <a:pPr>
              <a:lnSpc>
                <a:spcPts val="1725"/>
              </a:lnSpc>
            </a:pPr>
            <a:endParaRPr lang="en-US" b="0" dirty="0">
              <a:solidFill>
                <a:srgbClr val="CCCCCC"/>
              </a:solidFill>
              <a:effectLst/>
              <a:latin typeface="Menlo" panose="020B0609030804020204" pitchFamily="49" charset="0"/>
            </a:endParaRPr>
          </a:p>
          <a:p>
            <a:pPr>
              <a:lnSpc>
                <a:spcPts val="1725"/>
              </a:lnSpc>
            </a:pPr>
            <a:r>
              <a:rPr lang="en-US" b="0" dirty="0">
                <a:solidFill>
                  <a:srgbClr val="9CDCFE"/>
                </a:solidFill>
                <a:effectLst/>
                <a:latin typeface="Menlo" panose="020B0609030804020204" pitchFamily="49" charset="0"/>
              </a:rPr>
              <a:t>net</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.nn.Sequential</a:t>
            </a:r>
            <a:r>
              <a:rPr lang="en-US" b="0" dirty="0">
                <a:solidFill>
                  <a:srgbClr val="CCCCCC"/>
                </a:solidFill>
                <a:effectLst/>
                <a:latin typeface="Menlo" panose="020B0609030804020204" pitchFamily="49" charset="0"/>
              </a:rPr>
              <a:t>(</a:t>
            </a:r>
            <a:r>
              <a:rPr lang="en-US" b="0" dirty="0">
                <a:solidFill>
                  <a:srgbClr val="D4D4D4"/>
                </a:solidFill>
                <a:effectLst/>
                <a:latin typeface="Menlo" panose="020B0609030804020204" pitchFamily="49" charset="0"/>
              </a:rPr>
              <a:t>*</a:t>
            </a:r>
            <a:r>
              <a:rPr lang="en-US" b="0" dirty="0">
                <a:solidFill>
                  <a:srgbClr val="9CDCFE"/>
                </a:solidFill>
                <a:effectLst/>
                <a:latin typeface="Menlo" panose="020B0609030804020204" pitchFamily="49" charset="0"/>
              </a:rPr>
              <a:t>layers</a:t>
            </a:r>
            <a:r>
              <a:rPr lang="en-US" b="0" dirty="0">
                <a:solidFill>
                  <a:srgbClr val="CCCCCC"/>
                </a:solidFill>
                <a:effectLst/>
                <a:latin typeface="Menlo" panose="020B0609030804020204" pitchFamily="49" charset="0"/>
              </a:rPr>
              <a:t>)</a:t>
            </a:r>
          </a:p>
          <a:p>
            <a:endParaRPr lang="en-US" b="0" dirty="0">
              <a:solidFill>
                <a:srgbClr val="DADADA"/>
              </a:solidFill>
              <a:effectLst/>
              <a:latin typeface="Consolas" panose="020B0609020204030204" pitchFamily="49" charset="0"/>
            </a:endParaRPr>
          </a:p>
        </p:txBody>
      </p:sp>
    </p:spTree>
    <p:extLst>
      <p:ext uri="{BB962C8B-B14F-4D97-AF65-F5344CB8AC3E}">
        <p14:creationId xmlns:p14="http://schemas.microsoft.com/office/powerpoint/2010/main" val="2443830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Module base class</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11729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Module base class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181600"/>
          </a:xfrm>
        </p:spPr>
        <p:txBody>
          <a:bodyPr>
            <a:normAutofit/>
          </a:bodyPr>
          <a:lstStyle/>
          <a:p>
            <a:r>
              <a:rPr lang="en-US" dirty="0"/>
              <a:t>A Module (</a:t>
            </a:r>
            <a:r>
              <a:rPr lang="en-US" dirty="0" err="1"/>
              <a:t>torch.nn.Module</a:t>
            </a:r>
            <a:r>
              <a:rPr lang="en-US" dirty="0"/>
              <a:t>) is the base class that can be used to implement a neuronal network.</a:t>
            </a:r>
          </a:p>
          <a:p>
            <a:r>
              <a:rPr lang="en-US" dirty="0"/>
              <a:t>Usually, you have to do the following:</a:t>
            </a:r>
          </a:p>
          <a:p>
            <a:pPr lvl="1"/>
            <a:r>
              <a:rPr lang="en-US" dirty="0"/>
              <a:t>Derive your class from </a:t>
            </a:r>
            <a:r>
              <a:rPr lang="en-US" b="1" dirty="0" err="1"/>
              <a:t>torch.nn.Module</a:t>
            </a:r>
            <a:endParaRPr lang="en-US" b="1" dirty="0"/>
          </a:p>
          <a:p>
            <a:pPr lvl="1"/>
            <a:r>
              <a:rPr lang="en-US" dirty="0"/>
              <a:t>Add different </a:t>
            </a:r>
            <a:r>
              <a:rPr lang="en-US" b="1" dirty="0"/>
              <a:t>layers</a:t>
            </a:r>
            <a:r>
              <a:rPr lang="en-US" dirty="0"/>
              <a:t> and activation functions within your class (you can add them directly as parameters, or within a Sequence layer, …)</a:t>
            </a:r>
          </a:p>
          <a:p>
            <a:pPr lvl="1"/>
            <a:r>
              <a:rPr lang="en-US" dirty="0"/>
              <a:t>Implement a constructor </a:t>
            </a:r>
            <a:r>
              <a:rPr lang="en-US" b="1" dirty="0"/>
              <a:t>__</a:t>
            </a:r>
            <a:r>
              <a:rPr lang="en-US" b="1" dirty="0" err="1"/>
              <a:t>init</a:t>
            </a:r>
            <a:r>
              <a:rPr lang="en-US" b="1" dirty="0"/>
              <a:t>__</a:t>
            </a:r>
            <a:r>
              <a:rPr lang="en-US" dirty="0"/>
              <a:t> method</a:t>
            </a:r>
          </a:p>
          <a:p>
            <a:pPr lvl="1"/>
            <a:r>
              <a:rPr lang="en-US" dirty="0"/>
              <a:t>Implement a function </a:t>
            </a:r>
            <a:r>
              <a:rPr lang="en-US" b="1" dirty="0"/>
              <a:t>forward</a:t>
            </a:r>
            <a:r>
              <a:rPr lang="en-US" dirty="0"/>
              <a:t> that receives an input and returns the output</a:t>
            </a:r>
          </a:p>
          <a:p>
            <a:pPr lvl="1"/>
            <a:endParaRPr lang="en-US" dirty="0"/>
          </a:p>
          <a:p>
            <a:pPr marL="365760" lvl="1" indent="0">
              <a:buNone/>
            </a:pPr>
            <a:endParaRPr lang="en-US" dirty="0"/>
          </a:p>
          <a:p>
            <a:pPr marL="365760" lvl="1" indent="0">
              <a:buNone/>
            </a:pPr>
            <a:endParaRPr lang="en-US" dirty="0"/>
          </a:p>
        </p:txBody>
      </p:sp>
    </p:spTree>
    <p:extLst>
      <p:ext uri="{BB962C8B-B14F-4D97-AF65-F5344CB8AC3E}">
        <p14:creationId xmlns:p14="http://schemas.microsoft.com/office/powerpoint/2010/main" val="2196498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Module base class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22414" y="1401762"/>
            <a:ext cx="9782801" cy="5181600"/>
          </a:xfrm>
        </p:spPr>
        <p:txBody>
          <a:bodyPr>
            <a:normAutofit/>
          </a:bodyPr>
          <a:lstStyle/>
          <a:p>
            <a:r>
              <a:rPr lang="en-US" dirty="0"/>
              <a:t>Let’s see an example</a:t>
            </a:r>
          </a:p>
          <a:p>
            <a:pPr lvl="1"/>
            <a:endParaRPr lang="en-US" dirty="0"/>
          </a:p>
          <a:p>
            <a:pPr marL="365760" lvl="1" indent="0">
              <a:buNone/>
            </a:pPr>
            <a:endParaRPr lang="en-US" dirty="0"/>
          </a:p>
          <a:p>
            <a:pPr marL="365760" lvl="1" indent="0">
              <a:buNone/>
            </a:pPr>
            <a:endParaRPr lang="en-US" dirty="0"/>
          </a:p>
        </p:txBody>
      </p:sp>
      <p:sp>
        <p:nvSpPr>
          <p:cNvPr id="3" name="Rectangle 2">
            <a:extLst>
              <a:ext uri="{FF2B5EF4-FFF2-40B4-BE49-F238E27FC236}">
                <a16:creationId xmlns:a16="http://schemas.microsoft.com/office/drawing/2014/main" id="{4F2CFD65-8300-56BC-6F0E-A80944589953}"/>
              </a:ext>
            </a:extLst>
          </p:cNvPr>
          <p:cNvSpPr/>
          <p:nvPr/>
        </p:nvSpPr>
        <p:spPr>
          <a:xfrm>
            <a:off x="1979612" y="2057400"/>
            <a:ext cx="9144000" cy="4724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0" dirty="0">
                <a:solidFill>
                  <a:srgbClr val="B56AA6"/>
                </a:solidFill>
                <a:effectLst/>
                <a:latin typeface="Consolas" panose="020B0609020204030204" pitchFamily="49" charset="0"/>
              </a:rPr>
              <a:t>import</a:t>
            </a:r>
            <a:r>
              <a:rPr lang="en-US" sz="1600" b="0" dirty="0">
                <a:solidFill>
                  <a:srgbClr val="DADADA"/>
                </a:solidFill>
                <a:effectLst/>
                <a:latin typeface="Consolas" panose="020B0609020204030204" pitchFamily="49" charset="0"/>
              </a:rPr>
              <a:t> </a:t>
            </a:r>
            <a:r>
              <a:rPr lang="en-US" sz="1600" b="0" dirty="0">
                <a:solidFill>
                  <a:srgbClr val="C8C8C8"/>
                </a:solidFill>
                <a:effectLst/>
                <a:latin typeface="Consolas" panose="020B0609020204030204" pitchFamily="49" charset="0"/>
              </a:rPr>
              <a:t>torch</a:t>
            </a:r>
            <a:endParaRPr lang="en-US" sz="1600" b="0" dirty="0">
              <a:solidFill>
                <a:srgbClr val="DADADA"/>
              </a:solidFill>
              <a:effectLst/>
              <a:latin typeface="Consolas" panose="020B0609020204030204" pitchFamily="49" charset="0"/>
            </a:endParaRPr>
          </a:p>
          <a:p>
            <a:br>
              <a:rPr lang="en-US" sz="1600" b="0" dirty="0">
                <a:solidFill>
                  <a:srgbClr val="DADADA"/>
                </a:solidFill>
                <a:effectLst/>
                <a:latin typeface="Consolas" panose="020B0609020204030204" pitchFamily="49" charset="0"/>
              </a:rPr>
            </a:br>
            <a:r>
              <a:rPr lang="en-US" sz="1600" b="0" dirty="0">
                <a:solidFill>
                  <a:srgbClr val="A0A0FF"/>
                </a:solidFill>
                <a:effectLst/>
                <a:latin typeface="Consolas" panose="020B0609020204030204" pitchFamily="49" charset="0"/>
              </a:rPr>
              <a:t>class</a:t>
            </a:r>
            <a:r>
              <a:rPr lang="en-US" sz="1600" b="0" dirty="0">
                <a:solidFill>
                  <a:srgbClr val="DADADA"/>
                </a:solidFill>
                <a:effectLst/>
                <a:latin typeface="Consolas" panose="020B0609020204030204" pitchFamily="49" charset="0"/>
              </a:rPr>
              <a:t> </a:t>
            </a:r>
            <a:r>
              <a:rPr lang="en-US" sz="1600" b="0" dirty="0" err="1">
                <a:solidFill>
                  <a:srgbClr val="5DA963"/>
                </a:solidFill>
                <a:effectLst/>
                <a:latin typeface="Consolas" panose="020B0609020204030204" pitchFamily="49" charset="0"/>
              </a:rPr>
              <a:t>MyNN</a:t>
            </a:r>
            <a:r>
              <a:rPr lang="en-US" sz="1600" b="0" dirty="0">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nn</a:t>
            </a:r>
            <a:r>
              <a:rPr lang="en-US" sz="1600" b="0" dirty="0" err="1">
                <a:solidFill>
                  <a:srgbClr val="B4B4B4"/>
                </a:solidFill>
                <a:effectLst/>
                <a:latin typeface="Consolas" panose="020B0609020204030204" pitchFamily="49" charset="0"/>
              </a:rPr>
              <a:t>.</a:t>
            </a:r>
            <a:r>
              <a:rPr lang="en-US" sz="1600" b="0" dirty="0" err="1">
                <a:solidFill>
                  <a:srgbClr val="5DA963"/>
                </a:solidFill>
                <a:effectLst/>
                <a:latin typeface="Consolas" panose="020B0609020204030204" pitchFamily="49" charset="0"/>
              </a:rPr>
              <a:t>Module</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A0A0FF"/>
                </a:solidFill>
                <a:effectLst/>
                <a:latin typeface="Consolas" panose="020B0609020204030204" pitchFamily="49" charset="0"/>
              </a:rPr>
              <a:t>def</a:t>
            </a:r>
            <a:r>
              <a:rPr lang="en-US" sz="1600" b="0" dirty="0">
                <a:solidFill>
                  <a:srgbClr val="DADADA"/>
                </a:solidFill>
                <a:effectLst/>
                <a:latin typeface="Consolas" panose="020B0609020204030204" pitchFamily="49" charset="0"/>
              </a:rPr>
              <a:t> </a:t>
            </a:r>
            <a:r>
              <a:rPr lang="en-US" sz="1600" b="0" dirty="0">
                <a:solidFill>
                  <a:srgbClr val="A7A774"/>
                </a:solidFill>
                <a:effectLst/>
                <a:latin typeface="Consolas" panose="020B0609020204030204" pitchFamily="49" charset="0"/>
              </a:rPr>
              <a:t>__</a:t>
            </a:r>
            <a:r>
              <a:rPr lang="en-US" sz="1600" b="0" dirty="0" err="1">
                <a:solidFill>
                  <a:srgbClr val="A7A774"/>
                </a:solidFill>
                <a:effectLst/>
                <a:latin typeface="Consolas" panose="020B0609020204030204" pitchFamily="49" charset="0"/>
              </a:rPr>
              <a:t>init</a:t>
            </a:r>
            <a:r>
              <a:rPr lang="en-US" sz="1600" b="0" dirty="0">
                <a:solidFill>
                  <a:srgbClr val="A7A774"/>
                </a:solidFill>
                <a:effectLst/>
                <a:latin typeface="Consolas" panose="020B0609020204030204" pitchFamily="49" charset="0"/>
              </a:rPr>
              <a:t>__</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self</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5DA963"/>
                </a:solidFill>
                <a:effectLst/>
                <a:latin typeface="Consolas" panose="020B0609020204030204" pitchFamily="49" charset="0"/>
              </a:rPr>
              <a:t>super</a:t>
            </a:r>
            <a:r>
              <a:rPr lang="en-US" sz="1600" b="0" dirty="0">
                <a:solidFill>
                  <a:srgbClr val="B4B4B4"/>
                </a:solidFill>
                <a:effectLst/>
                <a:latin typeface="Consolas" panose="020B0609020204030204" pitchFamily="49" charset="0"/>
              </a:rPr>
              <a:t>().</a:t>
            </a:r>
            <a:r>
              <a:rPr lang="en-US" sz="1600" b="0" dirty="0">
                <a:solidFill>
                  <a:srgbClr val="A7A774"/>
                </a:solidFill>
                <a:effectLst/>
                <a:latin typeface="Consolas" panose="020B0609020204030204" pitchFamily="49" charset="0"/>
              </a:rPr>
              <a:t>__</a:t>
            </a:r>
            <a:r>
              <a:rPr lang="en-US" sz="1600" b="0" dirty="0" err="1">
                <a:solidFill>
                  <a:srgbClr val="A7A774"/>
                </a:solidFill>
                <a:effectLst/>
                <a:latin typeface="Consolas" panose="020B0609020204030204" pitchFamily="49" charset="0"/>
              </a:rPr>
              <a:t>init</a:t>
            </a:r>
            <a:r>
              <a:rPr lang="en-US" sz="1600" b="0" dirty="0">
                <a:solidFill>
                  <a:srgbClr val="A7A774"/>
                </a:solidFill>
                <a:effectLst/>
                <a:latin typeface="Consolas" panose="020B0609020204030204" pitchFamily="49" charset="0"/>
              </a:rPr>
              <a:t>__</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layer</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nn</a:t>
            </a:r>
            <a:r>
              <a:rPr lang="en-US" sz="1600" b="0" dirty="0" err="1">
                <a:solidFill>
                  <a:srgbClr val="B4B4B4"/>
                </a:solidFill>
                <a:effectLst/>
                <a:latin typeface="Consolas" panose="020B0609020204030204" pitchFamily="49" charset="0"/>
              </a:rPr>
              <a:t>.</a:t>
            </a:r>
            <a:r>
              <a:rPr lang="en-US" sz="1600" b="0" dirty="0" err="1">
                <a:solidFill>
                  <a:srgbClr val="5DA963"/>
                </a:solidFill>
                <a:effectLst/>
                <a:latin typeface="Consolas" panose="020B0609020204030204" pitchFamily="49" charset="0"/>
              </a:rPr>
              <a:t>Linear</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3</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1</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activation</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nn</a:t>
            </a:r>
            <a:r>
              <a:rPr lang="en-US" sz="1600" b="0" dirty="0" err="1">
                <a:solidFill>
                  <a:srgbClr val="B4B4B4"/>
                </a:solidFill>
                <a:effectLst/>
                <a:latin typeface="Consolas" panose="020B0609020204030204" pitchFamily="49" charset="0"/>
              </a:rPr>
              <a:t>.</a:t>
            </a:r>
            <a:r>
              <a:rPr lang="en-US" sz="1600" b="0" dirty="0" err="1">
                <a:solidFill>
                  <a:srgbClr val="5DA963"/>
                </a:solidFill>
                <a:effectLst/>
                <a:latin typeface="Consolas" panose="020B0609020204030204" pitchFamily="49" charset="0"/>
              </a:rPr>
              <a:t>ReLU</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br>
              <a:rPr lang="en-US" sz="1600" b="0" dirty="0">
                <a:solidFill>
                  <a:srgbClr val="DADADA"/>
                </a:solidFill>
                <a:effectLst/>
                <a:latin typeface="Consolas" panose="020B0609020204030204" pitchFamily="49" charset="0"/>
              </a:rPr>
            </a:br>
            <a:r>
              <a:rPr lang="en-US" sz="1600" b="0" dirty="0">
                <a:solidFill>
                  <a:srgbClr val="DADADA"/>
                </a:solidFill>
                <a:effectLst/>
                <a:latin typeface="Consolas" panose="020B0609020204030204" pitchFamily="49" charset="0"/>
              </a:rPr>
              <a:t>    </a:t>
            </a:r>
            <a:r>
              <a:rPr lang="en-US" sz="1600" b="0" dirty="0">
                <a:solidFill>
                  <a:srgbClr val="A0A0FF"/>
                </a:solidFill>
                <a:effectLst/>
                <a:latin typeface="Consolas" panose="020B0609020204030204" pitchFamily="49" charset="0"/>
              </a:rPr>
              <a:t>def</a:t>
            </a:r>
            <a:r>
              <a:rPr lang="en-US" sz="1600" b="0" dirty="0">
                <a:solidFill>
                  <a:srgbClr val="DADADA"/>
                </a:solidFill>
                <a:effectLst/>
                <a:latin typeface="Consolas" panose="020B0609020204030204" pitchFamily="49" charset="0"/>
              </a:rPr>
              <a:t> </a:t>
            </a:r>
            <a:r>
              <a:rPr lang="en-US" sz="1600" b="0" dirty="0">
                <a:solidFill>
                  <a:srgbClr val="A7A774"/>
                </a:solidFill>
                <a:effectLst/>
                <a:latin typeface="Consolas" panose="020B0609020204030204" pitchFamily="49" charset="0"/>
              </a:rPr>
              <a:t>forward</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self</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9A9A9A"/>
                </a:solidFill>
                <a:effectLst/>
                <a:latin typeface="Consolas" panose="020B0609020204030204" pitchFamily="49" charset="0"/>
              </a:rPr>
              <a:t>input</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229977"/>
                </a:solidFill>
                <a:effectLst/>
                <a:latin typeface="Consolas" panose="020B0609020204030204" pitchFamily="49" charset="0"/>
              </a:rPr>
              <a:t>x</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layer</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input</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B56AA6"/>
                </a:solidFill>
                <a:effectLst/>
                <a:latin typeface="Consolas" panose="020B0609020204030204" pitchFamily="49" charset="0"/>
              </a:rPr>
              <a:t>return</a:t>
            </a:r>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activation</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x</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br>
              <a:rPr lang="en-US" sz="1600" b="0" dirty="0">
                <a:solidFill>
                  <a:srgbClr val="DADADA"/>
                </a:solidFill>
                <a:effectLst/>
                <a:latin typeface="Consolas" panose="020B0609020204030204" pitchFamily="49" charset="0"/>
              </a:rPr>
            </a:br>
            <a:r>
              <a:rPr lang="en-US" sz="1600" b="0" dirty="0">
                <a:solidFill>
                  <a:srgbClr val="229977"/>
                </a:solidFill>
                <a:effectLst/>
                <a:latin typeface="Consolas" panose="020B0609020204030204" pitchFamily="49" charset="0"/>
              </a:rPr>
              <a:t>input</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A7A774"/>
                </a:solidFill>
                <a:effectLst/>
                <a:latin typeface="Consolas" panose="020B0609020204030204" pitchFamily="49" charset="0"/>
              </a:rPr>
              <a:t>tensor</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1.0</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2.0</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3.0</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4.0</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5.0</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6.0</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2.0</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4.0</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6.0</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229977"/>
                </a:solidFill>
                <a:effectLst/>
                <a:latin typeface="Consolas" panose="020B0609020204030204" pitchFamily="49" charset="0"/>
              </a:rPr>
              <a:t>net</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5DA963"/>
                </a:solidFill>
                <a:effectLst/>
                <a:latin typeface="Consolas" panose="020B0609020204030204" pitchFamily="49" charset="0"/>
              </a:rPr>
              <a:t>MyNN</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229977"/>
                </a:solidFill>
                <a:effectLst/>
                <a:latin typeface="Consolas" panose="020B0609020204030204" pitchFamily="49" charset="0"/>
              </a:rPr>
              <a:t>output</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229977"/>
                </a:solidFill>
                <a:effectLst/>
                <a:latin typeface="Consolas" panose="020B0609020204030204" pitchFamily="49" charset="0"/>
              </a:rPr>
              <a:t>net</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input</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A7A774"/>
                </a:solidFill>
                <a:effectLst/>
                <a:latin typeface="Consolas" panose="020B0609020204030204" pitchFamily="49" charset="0"/>
              </a:rPr>
              <a:t>print</a:t>
            </a:r>
            <a:r>
              <a:rPr lang="en-US" sz="1600" b="0" dirty="0">
                <a:solidFill>
                  <a:srgbClr val="B4B4B4"/>
                </a:solidFill>
                <a:effectLst/>
                <a:latin typeface="Consolas" panose="020B0609020204030204" pitchFamily="49" charset="0"/>
              </a:rPr>
              <a:t>(</a:t>
            </a:r>
            <a:r>
              <a:rPr lang="en-US" sz="1600" b="0" dirty="0">
                <a:solidFill>
                  <a:srgbClr val="E8C9BB"/>
                </a:solidFill>
                <a:effectLst/>
                <a:latin typeface="Consolas" panose="020B0609020204030204" pitchFamily="49" charset="0"/>
              </a:rPr>
              <a:t>"</a:t>
            </a:r>
            <a:r>
              <a:rPr lang="en-US" sz="1600" b="0" dirty="0">
                <a:solidFill>
                  <a:srgbClr val="E68A8A"/>
                </a:solidFill>
                <a:effectLst/>
                <a:latin typeface="Consolas" panose="020B0609020204030204" pitchFamily="49" charset="0"/>
              </a:rPr>
              <a:t>net     =</a:t>
            </a:r>
            <a:r>
              <a:rPr lang="en-US" sz="1600" b="0" dirty="0">
                <a:solidFill>
                  <a:srgbClr val="E8C9BB"/>
                </a:solidFill>
                <a:effectLst/>
                <a:latin typeface="Consolas" panose="020B0609020204030204" pitchFamily="49" charset="0"/>
              </a:rPr>
              <a:t>"</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net</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A7A774"/>
                </a:solidFill>
                <a:effectLst/>
                <a:latin typeface="Consolas" panose="020B0609020204030204" pitchFamily="49" charset="0"/>
              </a:rPr>
              <a:t>print</a:t>
            </a:r>
            <a:r>
              <a:rPr lang="en-US" sz="1600" b="0" dirty="0">
                <a:solidFill>
                  <a:srgbClr val="B4B4B4"/>
                </a:solidFill>
                <a:effectLst/>
                <a:latin typeface="Consolas" panose="020B0609020204030204" pitchFamily="49" charset="0"/>
              </a:rPr>
              <a:t>(</a:t>
            </a:r>
            <a:r>
              <a:rPr lang="en-US" sz="1600" b="0" dirty="0">
                <a:solidFill>
                  <a:srgbClr val="E8C9BB"/>
                </a:solidFill>
                <a:effectLst/>
                <a:latin typeface="Consolas" panose="020B0609020204030204" pitchFamily="49" charset="0"/>
              </a:rPr>
              <a:t>"</a:t>
            </a:r>
            <a:r>
              <a:rPr lang="en-US" sz="1600" b="0" dirty="0">
                <a:solidFill>
                  <a:srgbClr val="E68A8A"/>
                </a:solidFill>
                <a:effectLst/>
                <a:latin typeface="Consolas" panose="020B0609020204030204" pitchFamily="49" charset="0"/>
              </a:rPr>
              <a:t>Output  =</a:t>
            </a:r>
            <a:r>
              <a:rPr lang="en-US" sz="1600" b="0" dirty="0">
                <a:solidFill>
                  <a:srgbClr val="E8C9BB"/>
                </a:solidFill>
                <a:effectLst/>
                <a:latin typeface="Consolas" panose="020B0609020204030204" pitchFamily="49" charset="0"/>
              </a:rPr>
              <a:t>"</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output</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p:txBody>
      </p:sp>
      <p:graphicFrame>
        <p:nvGraphicFramePr>
          <p:cNvPr id="5" name="Table 3">
            <a:extLst>
              <a:ext uri="{FF2B5EF4-FFF2-40B4-BE49-F238E27FC236}">
                <a16:creationId xmlns:a16="http://schemas.microsoft.com/office/drawing/2014/main" id="{7667D6DF-B39F-9C51-46B3-608F9AE0F548}"/>
              </a:ext>
            </a:extLst>
          </p:cNvPr>
          <p:cNvGraphicFramePr>
            <a:graphicFrameLocks noGrp="1"/>
          </p:cNvGraphicFramePr>
          <p:nvPr/>
        </p:nvGraphicFramePr>
        <p:xfrm>
          <a:off x="6551612" y="4495800"/>
          <a:ext cx="5289063" cy="1742440"/>
        </p:xfrm>
        <a:graphic>
          <a:graphicData uri="http://schemas.openxmlformats.org/drawingml/2006/table">
            <a:tbl>
              <a:tblPr firstRow="1" bandRow="1">
                <a:tableStyleId>{073A0DAA-6AF3-43AB-8588-CEC1D06C72B9}</a:tableStyleId>
              </a:tblPr>
              <a:tblGrid>
                <a:gridCol w="5289063">
                  <a:extLst>
                    <a:ext uri="{9D8B030D-6E8A-4147-A177-3AD203B41FA5}">
                      <a16:colId xmlns:a16="http://schemas.microsoft.com/office/drawing/2014/main" val="3899577134"/>
                    </a:ext>
                  </a:extLst>
                </a:gridCol>
              </a:tblGrid>
              <a:tr h="370840">
                <a:tc>
                  <a:txBody>
                    <a:bodyPr/>
                    <a:lstStyle/>
                    <a:p>
                      <a:r>
                        <a:rPr lang="en-US" sz="1600" dirty="0"/>
                        <a:t>Output</a:t>
                      </a:r>
                    </a:p>
                  </a:txBody>
                  <a:tcPr/>
                </a:tc>
                <a:extLst>
                  <a:ext uri="{0D108BD9-81ED-4DB2-BD59-A6C34878D82A}">
                    <a16:rowId xmlns:a16="http://schemas.microsoft.com/office/drawing/2014/main" val="117988312"/>
                  </a:ext>
                </a:extLst>
              </a:tr>
              <a:tr h="370840">
                <a:tc>
                  <a:txBody>
                    <a:bodyPr/>
                    <a:lstStyle/>
                    <a:p>
                      <a:r>
                        <a:rPr lang="en-US" sz="1200" dirty="0">
                          <a:solidFill>
                            <a:schemeClr val="tx2"/>
                          </a:solidFill>
                          <a:latin typeface="Consolas" panose="020B0609020204030204" pitchFamily="49" charset="0"/>
                        </a:rPr>
                        <a:t>net     = </a:t>
                      </a:r>
                      <a:r>
                        <a:rPr lang="en-US" sz="1200" dirty="0" err="1">
                          <a:solidFill>
                            <a:schemeClr val="tx2"/>
                          </a:solidFill>
                          <a:latin typeface="Consolas" panose="020B0609020204030204" pitchFamily="49" charset="0"/>
                        </a:rPr>
                        <a:t>MyNN</a:t>
                      </a:r>
                      <a:r>
                        <a:rPr lang="en-US" sz="1200" dirty="0">
                          <a:solidFill>
                            <a:schemeClr val="tx2"/>
                          </a:solidFill>
                          <a:latin typeface="Consolas" panose="020B0609020204030204" pitchFamily="49" charset="0"/>
                        </a:rPr>
                        <a:t>(</a:t>
                      </a:r>
                    </a:p>
                    <a:p>
                      <a:r>
                        <a:rPr lang="en-US" sz="1200" dirty="0">
                          <a:solidFill>
                            <a:schemeClr val="tx2"/>
                          </a:solidFill>
                          <a:latin typeface="Consolas" panose="020B0609020204030204" pitchFamily="49" charset="0"/>
                        </a:rPr>
                        <a:t>  (layer): Linear(</a:t>
                      </a:r>
                      <a:r>
                        <a:rPr lang="en-US" sz="1200" dirty="0" err="1">
                          <a:solidFill>
                            <a:schemeClr val="tx2"/>
                          </a:solidFill>
                          <a:latin typeface="Consolas" panose="020B0609020204030204" pitchFamily="49" charset="0"/>
                        </a:rPr>
                        <a:t>in_features</a:t>
                      </a:r>
                      <a:r>
                        <a:rPr lang="en-US" sz="1200" dirty="0">
                          <a:solidFill>
                            <a:schemeClr val="tx2"/>
                          </a:solidFill>
                          <a:latin typeface="Consolas" panose="020B0609020204030204" pitchFamily="49" charset="0"/>
                        </a:rPr>
                        <a:t>=3, </a:t>
                      </a:r>
                      <a:r>
                        <a:rPr lang="en-US" sz="1200" dirty="0" err="1">
                          <a:solidFill>
                            <a:schemeClr val="tx2"/>
                          </a:solidFill>
                          <a:latin typeface="Consolas" panose="020B0609020204030204" pitchFamily="49" charset="0"/>
                        </a:rPr>
                        <a:t>out_features</a:t>
                      </a:r>
                      <a:r>
                        <a:rPr lang="en-US" sz="1200" dirty="0">
                          <a:solidFill>
                            <a:schemeClr val="tx2"/>
                          </a:solidFill>
                          <a:latin typeface="Consolas" panose="020B0609020204030204" pitchFamily="49" charset="0"/>
                        </a:rPr>
                        <a:t>=1, bias=True)</a:t>
                      </a:r>
                    </a:p>
                    <a:p>
                      <a:r>
                        <a:rPr lang="en-US" sz="1200" dirty="0">
                          <a:solidFill>
                            <a:schemeClr val="tx2"/>
                          </a:solidFill>
                          <a:latin typeface="Consolas" panose="020B0609020204030204" pitchFamily="49" charset="0"/>
                        </a:rPr>
                        <a:t>  (activation): </a:t>
                      </a:r>
                      <a:r>
                        <a:rPr lang="en-US" sz="1200" dirty="0" err="1">
                          <a:solidFill>
                            <a:schemeClr val="tx2"/>
                          </a:solidFill>
                          <a:latin typeface="Consolas" panose="020B0609020204030204" pitchFamily="49" charset="0"/>
                        </a:rPr>
                        <a:t>ReLU</a:t>
                      </a:r>
                      <a:r>
                        <a:rPr lang="en-US" sz="1200" dirty="0">
                          <a:solidFill>
                            <a:schemeClr val="tx2"/>
                          </a:solidFill>
                          <a:latin typeface="Consolas" panose="020B0609020204030204" pitchFamily="49" charset="0"/>
                        </a:rPr>
                        <a:t>()</a:t>
                      </a:r>
                    </a:p>
                    <a:p>
                      <a:r>
                        <a:rPr lang="en-US" sz="1200" dirty="0">
                          <a:solidFill>
                            <a:schemeClr val="tx2"/>
                          </a:solidFill>
                          <a:latin typeface="Consolas" panose="020B0609020204030204" pitchFamily="49" charset="0"/>
                        </a:rPr>
                        <a:t>)</a:t>
                      </a:r>
                    </a:p>
                    <a:p>
                      <a:r>
                        <a:rPr lang="en-US" sz="1200" dirty="0">
                          <a:solidFill>
                            <a:schemeClr val="tx2"/>
                          </a:solidFill>
                          <a:latin typeface="Consolas" panose="020B0609020204030204" pitchFamily="49" charset="0"/>
                        </a:rPr>
                        <a:t>Output  = tensor([[0.1091],</a:t>
                      </a:r>
                    </a:p>
                    <a:p>
                      <a:r>
                        <a:rPr lang="en-US" sz="1200" dirty="0">
                          <a:solidFill>
                            <a:schemeClr val="tx2"/>
                          </a:solidFill>
                          <a:latin typeface="Consolas" panose="020B0609020204030204" pitchFamily="49" charset="0"/>
                        </a:rPr>
                        <a:t>        [0.6575],</a:t>
                      </a:r>
                    </a:p>
                    <a:p>
                      <a:r>
                        <a:rPr lang="en-US" sz="1200" dirty="0">
                          <a:solidFill>
                            <a:schemeClr val="tx2"/>
                          </a:solidFill>
                          <a:latin typeface="Consolas" panose="020B0609020204030204" pitchFamily="49" charset="0"/>
                        </a:rPr>
                        <a:t>        [0.0000]], </a:t>
                      </a:r>
                      <a:r>
                        <a:rPr lang="en-US" sz="1200" dirty="0" err="1">
                          <a:solidFill>
                            <a:schemeClr val="tx2"/>
                          </a:solidFill>
                          <a:latin typeface="Consolas" panose="020B0609020204030204" pitchFamily="49" charset="0"/>
                        </a:rPr>
                        <a:t>grad_fn</a:t>
                      </a:r>
                      <a:r>
                        <a:rPr lang="en-US" sz="1200" dirty="0">
                          <a:solidFill>
                            <a:schemeClr val="tx2"/>
                          </a:solidFill>
                          <a:latin typeface="Consolas" panose="020B0609020204030204" pitchFamily="49" charset="0"/>
                        </a:rPr>
                        <a:t>=&lt;ReluBackward0&gt;)</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739254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Module base class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22414" y="1371600"/>
            <a:ext cx="9782801" cy="5181600"/>
          </a:xfrm>
        </p:spPr>
        <p:txBody>
          <a:bodyPr>
            <a:normAutofit/>
          </a:bodyPr>
          <a:lstStyle/>
          <a:p>
            <a:r>
              <a:rPr lang="en-US" dirty="0"/>
              <a:t>Let’s see an example</a:t>
            </a:r>
          </a:p>
          <a:p>
            <a:pPr lvl="1"/>
            <a:endParaRPr lang="en-US" dirty="0"/>
          </a:p>
          <a:p>
            <a:pPr marL="365760" lvl="1" indent="0">
              <a:buNone/>
            </a:pPr>
            <a:endParaRPr lang="en-US" dirty="0"/>
          </a:p>
          <a:p>
            <a:pPr marL="365760" lvl="1" indent="0">
              <a:buNone/>
            </a:pPr>
            <a:endParaRPr lang="en-US" dirty="0"/>
          </a:p>
        </p:txBody>
      </p:sp>
      <p:sp>
        <p:nvSpPr>
          <p:cNvPr id="3" name="Rectangle 2">
            <a:extLst>
              <a:ext uri="{FF2B5EF4-FFF2-40B4-BE49-F238E27FC236}">
                <a16:creationId xmlns:a16="http://schemas.microsoft.com/office/drawing/2014/main" id="{4F2CFD65-8300-56BC-6F0E-A80944589953}"/>
              </a:ext>
            </a:extLst>
          </p:cNvPr>
          <p:cNvSpPr/>
          <p:nvPr/>
        </p:nvSpPr>
        <p:spPr>
          <a:xfrm>
            <a:off x="1979612" y="2057400"/>
            <a:ext cx="9144000" cy="4724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0" dirty="0">
                <a:solidFill>
                  <a:schemeClr val="tx2">
                    <a:lumMod val="75000"/>
                    <a:lumOff val="25000"/>
                  </a:schemeClr>
                </a:solidFill>
                <a:effectLst/>
                <a:latin typeface="Consolas" panose="020B0609020204030204" pitchFamily="49" charset="0"/>
              </a:rPr>
              <a:t>import torch</a:t>
            </a:r>
          </a:p>
          <a:p>
            <a:br>
              <a:rPr lang="en-US" sz="1600" b="0" dirty="0">
                <a:solidFill>
                  <a:srgbClr val="DADADA"/>
                </a:solidFill>
                <a:effectLst/>
                <a:latin typeface="Consolas" panose="020B0609020204030204" pitchFamily="49" charset="0"/>
              </a:rPr>
            </a:br>
            <a:r>
              <a:rPr lang="en-US" sz="1600" b="0" dirty="0">
                <a:solidFill>
                  <a:srgbClr val="A0A0FF"/>
                </a:solidFill>
                <a:effectLst/>
                <a:latin typeface="Consolas" panose="020B0609020204030204" pitchFamily="49" charset="0"/>
              </a:rPr>
              <a:t>class</a:t>
            </a:r>
            <a:r>
              <a:rPr lang="en-US" sz="1600" b="0" dirty="0">
                <a:solidFill>
                  <a:srgbClr val="DADADA"/>
                </a:solidFill>
                <a:effectLst/>
                <a:latin typeface="Consolas" panose="020B0609020204030204" pitchFamily="49" charset="0"/>
              </a:rPr>
              <a:t> </a:t>
            </a:r>
            <a:r>
              <a:rPr lang="en-US" sz="1600" b="0" dirty="0" err="1">
                <a:solidFill>
                  <a:srgbClr val="5DA963"/>
                </a:solidFill>
                <a:effectLst/>
                <a:latin typeface="Consolas" panose="020B0609020204030204" pitchFamily="49" charset="0"/>
              </a:rPr>
              <a:t>MyNN</a:t>
            </a:r>
            <a:r>
              <a:rPr lang="en-US" sz="1600" b="0" dirty="0">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nn</a:t>
            </a:r>
            <a:r>
              <a:rPr lang="en-US" sz="1600" b="0" dirty="0" err="1">
                <a:solidFill>
                  <a:srgbClr val="B4B4B4"/>
                </a:solidFill>
                <a:effectLst/>
                <a:latin typeface="Consolas" panose="020B0609020204030204" pitchFamily="49" charset="0"/>
              </a:rPr>
              <a:t>.</a:t>
            </a:r>
            <a:r>
              <a:rPr lang="en-US" sz="1600" b="0" dirty="0" err="1">
                <a:solidFill>
                  <a:srgbClr val="5DA963"/>
                </a:solidFill>
                <a:effectLst/>
                <a:latin typeface="Consolas" panose="020B0609020204030204" pitchFamily="49" charset="0"/>
              </a:rPr>
              <a:t>Module</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A0A0FF"/>
                </a:solidFill>
                <a:effectLst/>
                <a:latin typeface="Consolas" panose="020B0609020204030204" pitchFamily="49" charset="0"/>
              </a:rPr>
              <a:t>def</a:t>
            </a:r>
            <a:r>
              <a:rPr lang="en-US" sz="1600" b="0" dirty="0">
                <a:solidFill>
                  <a:srgbClr val="DADADA"/>
                </a:solidFill>
                <a:effectLst/>
                <a:latin typeface="Consolas" panose="020B0609020204030204" pitchFamily="49" charset="0"/>
              </a:rPr>
              <a:t> </a:t>
            </a:r>
            <a:r>
              <a:rPr lang="en-US" sz="1600" b="0" dirty="0">
                <a:solidFill>
                  <a:srgbClr val="A7A774"/>
                </a:solidFill>
                <a:effectLst/>
                <a:latin typeface="Consolas" panose="020B0609020204030204" pitchFamily="49" charset="0"/>
              </a:rPr>
              <a:t>__</a:t>
            </a:r>
            <a:r>
              <a:rPr lang="en-US" sz="1600" b="0" dirty="0" err="1">
                <a:solidFill>
                  <a:srgbClr val="A7A774"/>
                </a:solidFill>
                <a:effectLst/>
                <a:latin typeface="Consolas" panose="020B0609020204030204" pitchFamily="49" charset="0"/>
              </a:rPr>
              <a:t>init</a:t>
            </a:r>
            <a:r>
              <a:rPr lang="en-US" sz="1600" b="0" dirty="0">
                <a:solidFill>
                  <a:srgbClr val="A7A774"/>
                </a:solidFill>
                <a:effectLst/>
                <a:latin typeface="Consolas" panose="020B0609020204030204" pitchFamily="49" charset="0"/>
              </a:rPr>
              <a:t>__</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self</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5DA963"/>
                </a:solidFill>
                <a:effectLst/>
                <a:latin typeface="Consolas" panose="020B0609020204030204" pitchFamily="49" charset="0"/>
              </a:rPr>
              <a:t>super</a:t>
            </a:r>
            <a:r>
              <a:rPr lang="en-US" sz="1600" b="0" dirty="0">
                <a:solidFill>
                  <a:srgbClr val="B4B4B4"/>
                </a:solidFill>
                <a:effectLst/>
                <a:latin typeface="Consolas" panose="020B0609020204030204" pitchFamily="49" charset="0"/>
              </a:rPr>
              <a:t>().</a:t>
            </a:r>
            <a:r>
              <a:rPr lang="en-US" sz="1600" b="0" dirty="0">
                <a:solidFill>
                  <a:srgbClr val="A7A774"/>
                </a:solidFill>
                <a:effectLst/>
                <a:latin typeface="Consolas" panose="020B0609020204030204" pitchFamily="49" charset="0"/>
              </a:rPr>
              <a:t>__</a:t>
            </a:r>
            <a:r>
              <a:rPr lang="en-US" sz="1600" b="0" dirty="0" err="1">
                <a:solidFill>
                  <a:srgbClr val="A7A774"/>
                </a:solidFill>
                <a:effectLst/>
                <a:latin typeface="Consolas" panose="020B0609020204030204" pitchFamily="49" charset="0"/>
              </a:rPr>
              <a:t>init</a:t>
            </a:r>
            <a:r>
              <a:rPr lang="en-US" sz="1600" b="0" dirty="0">
                <a:solidFill>
                  <a:srgbClr val="A7A774"/>
                </a:solidFill>
                <a:effectLst/>
                <a:latin typeface="Consolas" panose="020B0609020204030204" pitchFamily="49" charset="0"/>
              </a:rPr>
              <a:t>__</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layer</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nn</a:t>
            </a:r>
            <a:r>
              <a:rPr lang="en-US" sz="1600" b="0" dirty="0" err="1">
                <a:solidFill>
                  <a:srgbClr val="B4B4B4"/>
                </a:solidFill>
                <a:effectLst/>
                <a:latin typeface="Consolas" panose="020B0609020204030204" pitchFamily="49" charset="0"/>
              </a:rPr>
              <a:t>.</a:t>
            </a:r>
            <a:r>
              <a:rPr lang="en-US" sz="1600" b="0" dirty="0" err="1">
                <a:solidFill>
                  <a:srgbClr val="5DA963"/>
                </a:solidFill>
                <a:effectLst/>
                <a:latin typeface="Consolas" panose="020B0609020204030204" pitchFamily="49" charset="0"/>
              </a:rPr>
              <a:t>Linear</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3</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1</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activation</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nn</a:t>
            </a:r>
            <a:r>
              <a:rPr lang="en-US" sz="1600" b="0" dirty="0" err="1">
                <a:solidFill>
                  <a:srgbClr val="B4B4B4"/>
                </a:solidFill>
                <a:effectLst/>
                <a:latin typeface="Consolas" panose="020B0609020204030204" pitchFamily="49" charset="0"/>
              </a:rPr>
              <a:t>.</a:t>
            </a:r>
            <a:r>
              <a:rPr lang="en-US" sz="1600" b="0" dirty="0" err="1">
                <a:solidFill>
                  <a:srgbClr val="5DA963"/>
                </a:solidFill>
                <a:effectLst/>
                <a:latin typeface="Consolas" panose="020B0609020204030204" pitchFamily="49" charset="0"/>
              </a:rPr>
              <a:t>ReLU</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br>
              <a:rPr lang="en-US" sz="1600" b="0" dirty="0">
                <a:solidFill>
                  <a:srgbClr val="DADADA"/>
                </a:solidFill>
                <a:effectLst/>
                <a:latin typeface="Consolas" panose="020B0609020204030204" pitchFamily="49" charset="0"/>
              </a:rPr>
            </a:br>
            <a:r>
              <a:rPr lang="en-US" sz="1600" b="0" dirty="0">
                <a:solidFill>
                  <a:srgbClr val="DADADA"/>
                </a:solidFill>
                <a:effectLst/>
                <a:latin typeface="Consolas" panose="020B0609020204030204" pitchFamily="49" charset="0"/>
              </a:rPr>
              <a:t>    </a:t>
            </a:r>
            <a:r>
              <a:rPr lang="en-US" sz="1600" b="0" dirty="0">
                <a:solidFill>
                  <a:srgbClr val="A0A0FF"/>
                </a:solidFill>
                <a:effectLst/>
                <a:latin typeface="Consolas" panose="020B0609020204030204" pitchFamily="49" charset="0"/>
              </a:rPr>
              <a:t>def</a:t>
            </a:r>
            <a:r>
              <a:rPr lang="en-US" sz="1600" b="0" dirty="0">
                <a:solidFill>
                  <a:srgbClr val="DADADA"/>
                </a:solidFill>
                <a:effectLst/>
                <a:latin typeface="Consolas" panose="020B0609020204030204" pitchFamily="49" charset="0"/>
              </a:rPr>
              <a:t> </a:t>
            </a:r>
            <a:r>
              <a:rPr lang="en-US" sz="1600" b="0" dirty="0">
                <a:solidFill>
                  <a:srgbClr val="A7A774"/>
                </a:solidFill>
                <a:effectLst/>
                <a:latin typeface="Consolas" panose="020B0609020204030204" pitchFamily="49" charset="0"/>
              </a:rPr>
              <a:t>forward</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self</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9A9A9A"/>
                </a:solidFill>
                <a:effectLst/>
                <a:latin typeface="Consolas" panose="020B0609020204030204" pitchFamily="49" charset="0"/>
              </a:rPr>
              <a:t>input</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229977"/>
                </a:solidFill>
                <a:effectLst/>
                <a:latin typeface="Consolas" panose="020B0609020204030204" pitchFamily="49" charset="0"/>
              </a:rPr>
              <a:t>x</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layer</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input</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B56AA6"/>
                </a:solidFill>
                <a:effectLst/>
                <a:latin typeface="Consolas" panose="020B0609020204030204" pitchFamily="49" charset="0"/>
              </a:rPr>
              <a:t>return</a:t>
            </a:r>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activation</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x</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br>
              <a:rPr lang="en-US" sz="1600" b="0" dirty="0">
                <a:solidFill>
                  <a:srgbClr val="DADADA"/>
                </a:solidFill>
                <a:effectLst/>
                <a:latin typeface="Consolas" panose="020B0609020204030204" pitchFamily="49" charset="0"/>
              </a:rPr>
            </a:br>
            <a:r>
              <a:rPr lang="en-US" sz="1600" b="0" dirty="0">
                <a:solidFill>
                  <a:schemeClr val="tx2">
                    <a:lumMod val="75000"/>
                    <a:lumOff val="25000"/>
                  </a:schemeClr>
                </a:solidFill>
                <a:effectLst/>
                <a:latin typeface="Consolas" panose="020B0609020204030204" pitchFamily="49" charset="0"/>
              </a:rPr>
              <a:t>input = </a:t>
            </a:r>
            <a:r>
              <a:rPr lang="en-US" sz="1600" b="0" dirty="0" err="1">
                <a:solidFill>
                  <a:schemeClr val="tx2">
                    <a:lumMod val="75000"/>
                    <a:lumOff val="25000"/>
                  </a:schemeClr>
                </a:solidFill>
                <a:effectLst/>
                <a:latin typeface="Consolas" panose="020B0609020204030204" pitchFamily="49" charset="0"/>
              </a:rPr>
              <a:t>torch.tensor</a:t>
            </a:r>
            <a:r>
              <a:rPr lang="en-US" sz="1600" b="0" dirty="0">
                <a:solidFill>
                  <a:schemeClr val="tx2">
                    <a:lumMod val="75000"/>
                    <a:lumOff val="25000"/>
                  </a:schemeClr>
                </a:solidFill>
                <a:effectLst/>
                <a:latin typeface="Consolas" panose="020B0609020204030204" pitchFamily="49" charset="0"/>
              </a:rPr>
              <a:t>([[1.0,2.0,3.0],</a:t>
            </a:r>
          </a:p>
          <a:p>
            <a:r>
              <a:rPr lang="en-US" sz="1600" b="0" dirty="0">
                <a:solidFill>
                  <a:schemeClr val="tx2">
                    <a:lumMod val="75000"/>
                    <a:lumOff val="25000"/>
                  </a:schemeClr>
                </a:solidFill>
                <a:effectLst/>
                <a:latin typeface="Consolas" panose="020B0609020204030204" pitchFamily="49" charset="0"/>
              </a:rPr>
              <a:t>                      [4.0,5.0,6.0],</a:t>
            </a:r>
          </a:p>
          <a:p>
            <a:r>
              <a:rPr lang="en-US" sz="1600" b="0" dirty="0">
                <a:solidFill>
                  <a:schemeClr val="tx2">
                    <a:lumMod val="75000"/>
                    <a:lumOff val="25000"/>
                  </a:schemeClr>
                </a:solidFill>
                <a:effectLst/>
                <a:latin typeface="Consolas" panose="020B0609020204030204" pitchFamily="49" charset="0"/>
              </a:rPr>
              <a:t>                      [2.0,4.0,6.0]])</a:t>
            </a:r>
          </a:p>
          <a:p>
            <a:r>
              <a:rPr lang="en-US" sz="1600" b="0" dirty="0">
                <a:solidFill>
                  <a:schemeClr val="tx2">
                    <a:lumMod val="75000"/>
                    <a:lumOff val="25000"/>
                  </a:schemeClr>
                </a:solidFill>
                <a:effectLst/>
                <a:latin typeface="Consolas" panose="020B0609020204030204" pitchFamily="49" charset="0"/>
              </a:rPr>
              <a:t>net = </a:t>
            </a:r>
            <a:r>
              <a:rPr lang="en-US" sz="1600" b="0" dirty="0" err="1">
                <a:solidFill>
                  <a:schemeClr val="tx2">
                    <a:lumMod val="75000"/>
                    <a:lumOff val="25000"/>
                  </a:schemeClr>
                </a:solidFill>
                <a:effectLst/>
                <a:latin typeface="Consolas" panose="020B0609020204030204" pitchFamily="49" charset="0"/>
              </a:rPr>
              <a:t>MyNN</a:t>
            </a:r>
            <a:r>
              <a:rPr lang="en-US" sz="1600" b="0" dirty="0">
                <a:solidFill>
                  <a:schemeClr val="tx2">
                    <a:lumMod val="75000"/>
                    <a:lumOff val="25000"/>
                  </a:schemeClr>
                </a:solidFill>
                <a:effectLst/>
                <a:latin typeface="Consolas" panose="020B0609020204030204" pitchFamily="49" charset="0"/>
              </a:rPr>
              <a:t>()</a:t>
            </a:r>
          </a:p>
          <a:p>
            <a:r>
              <a:rPr lang="en-US" sz="1600" b="0" dirty="0">
                <a:solidFill>
                  <a:schemeClr val="tx2">
                    <a:lumMod val="75000"/>
                    <a:lumOff val="25000"/>
                  </a:schemeClr>
                </a:solidFill>
                <a:effectLst/>
                <a:latin typeface="Consolas" panose="020B0609020204030204" pitchFamily="49" charset="0"/>
              </a:rPr>
              <a:t>output = net(input)</a:t>
            </a:r>
          </a:p>
          <a:p>
            <a:r>
              <a:rPr lang="en-US" sz="1600" b="0" dirty="0">
                <a:solidFill>
                  <a:schemeClr val="tx2">
                    <a:lumMod val="75000"/>
                    <a:lumOff val="25000"/>
                  </a:schemeClr>
                </a:solidFill>
                <a:effectLst/>
                <a:latin typeface="Consolas" panose="020B0609020204030204" pitchFamily="49" charset="0"/>
              </a:rPr>
              <a:t>print("net     =",net)</a:t>
            </a:r>
          </a:p>
          <a:p>
            <a:r>
              <a:rPr lang="en-US" sz="1600" b="0" dirty="0">
                <a:solidFill>
                  <a:schemeClr val="tx2">
                    <a:lumMod val="75000"/>
                    <a:lumOff val="25000"/>
                  </a:schemeClr>
                </a:solidFill>
                <a:effectLst/>
                <a:latin typeface="Consolas" panose="020B0609020204030204" pitchFamily="49" charset="0"/>
              </a:rPr>
              <a:t>print("Output  =",output)</a:t>
            </a:r>
          </a:p>
        </p:txBody>
      </p:sp>
      <p:sp>
        <p:nvSpPr>
          <p:cNvPr id="6" name="Rectangle 5">
            <a:extLst>
              <a:ext uri="{FF2B5EF4-FFF2-40B4-BE49-F238E27FC236}">
                <a16:creationId xmlns:a16="http://schemas.microsoft.com/office/drawing/2014/main" id="{DE9CF043-2F3B-EF23-90B6-25D6DA336E7E}"/>
              </a:ext>
            </a:extLst>
          </p:cNvPr>
          <p:cNvSpPr/>
          <p:nvPr/>
        </p:nvSpPr>
        <p:spPr>
          <a:xfrm>
            <a:off x="2055812" y="2590800"/>
            <a:ext cx="4876800" cy="22860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5F1806C-C9C2-380F-70FB-82329BCAB194}"/>
              </a:ext>
            </a:extLst>
          </p:cNvPr>
          <p:cNvGrpSpPr/>
          <p:nvPr/>
        </p:nvGrpSpPr>
        <p:grpSpPr>
          <a:xfrm>
            <a:off x="1726986" y="4953000"/>
            <a:ext cx="8101225" cy="1828800"/>
            <a:chOff x="1726986" y="4953000"/>
            <a:chExt cx="8101225" cy="1828800"/>
          </a:xfrm>
        </p:grpSpPr>
        <p:sp>
          <p:nvSpPr>
            <p:cNvPr id="8" name="Callout: Up Arrow 7">
              <a:extLst>
                <a:ext uri="{FF2B5EF4-FFF2-40B4-BE49-F238E27FC236}">
                  <a16:creationId xmlns:a16="http://schemas.microsoft.com/office/drawing/2014/main" id="{36DC0737-EBD8-1808-F51E-4E20B215DC6F}"/>
                </a:ext>
              </a:extLst>
            </p:cNvPr>
            <p:cNvSpPr/>
            <p:nvPr/>
          </p:nvSpPr>
          <p:spPr>
            <a:xfrm>
              <a:off x="1726986" y="4953000"/>
              <a:ext cx="8101225" cy="1828800"/>
            </a:xfrm>
            <a:prstGeom prst="upArrowCallout">
              <a:avLst>
                <a:gd name="adj1" fmla="val 7029"/>
                <a:gd name="adj2" fmla="val 15435"/>
                <a:gd name="adj3" fmla="val 12246"/>
                <a:gd name="adj4" fmla="val 8425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Alternatively, you can use a sequence parameter to achieve the same result: </a:t>
              </a:r>
            </a:p>
            <a:p>
              <a:pPr algn="ctr"/>
              <a:endParaRPr lang="en-US" sz="1600" dirty="0">
                <a:latin typeface="Arial" panose="020B0604020202020204" pitchFamily="34" charset="0"/>
                <a:cs typeface="Arial" panose="020B0604020202020204" pitchFamily="34" charset="0"/>
              </a:endParaRPr>
            </a:p>
            <a:p>
              <a:pPr algn="ctr"/>
              <a:endParaRPr lang="en-US" sz="1600" dirty="0">
                <a:latin typeface="Arial" panose="020B0604020202020204" pitchFamily="34" charset="0"/>
                <a:cs typeface="Arial" panose="020B0604020202020204" pitchFamily="34" charset="0"/>
              </a:endParaRPr>
            </a:p>
            <a:p>
              <a:pPr algn="ctr"/>
              <a:endParaRPr lang="en-US" sz="1600" dirty="0">
                <a:latin typeface="Arial" panose="020B0604020202020204" pitchFamily="34" charset="0"/>
                <a:cs typeface="Arial" panose="020B0604020202020204" pitchFamily="34" charset="0"/>
              </a:endParaRPr>
            </a:p>
            <a:p>
              <a:pPr algn="ctr"/>
              <a:endParaRPr lang="en-US" sz="1600" dirty="0">
                <a:latin typeface="Arial" panose="020B0604020202020204" pitchFamily="34" charset="0"/>
                <a:cs typeface="Arial" panose="020B0604020202020204" pitchFamily="34" charset="0"/>
              </a:endParaRPr>
            </a:p>
            <a:p>
              <a:pPr algn="ctr"/>
              <a:endParaRPr lang="en-US"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23DD73FC-4602-AC7B-71BC-B757245DEA99}"/>
                </a:ext>
              </a:extLst>
            </p:cNvPr>
            <p:cNvSpPr/>
            <p:nvPr/>
          </p:nvSpPr>
          <p:spPr>
            <a:xfrm>
              <a:off x="1827212" y="5537200"/>
              <a:ext cx="7924800" cy="1143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0" dirty="0">
                  <a:solidFill>
                    <a:srgbClr val="A0A0FF"/>
                  </a:solidFill>
                  <a:effectLst/>
                  <a:latin typeface="Consolas" panose="020B0609020204030204" pitchFamily="49" charset="0"/>
                </a:rPr>
                <a:t>class</a:t>
              </a:r>
              <a:r>
                <a:rPr lang="en-US" sz="1200" b="0" dirty="0">
                  <a:solidFill>
                    <a:srgbClr val="DADADA"/>
                  </a:solidFill>
                  <a:effectLst/>
                  <a:latin typeface="Consolas" panose="020B0609020204030204" pitchFamily="49" charset="0"/>
                </a:rPr>
                <a:t> </a:t>
              </a:r>
              <a:r>
                <a:rPr lang="en-US" sz="1200" b="0" dirty="0" err="1">
                  <a:solidFill>
                    <a:srgbClr val="5DA963"/>
                  </a:solidFill>
                  <a:effectLst/>
                  <a:latin typeface="Consolas" panose="020B0609020204030204" pitchFamily="49" charset="0"/>
                </a:rPr>
                <a:t>MyNN</a:t>
              </a:r>
              <a:r>
                <a:rPr lang="en-US" sz="1200" b="0" dirty="0">
                  <a:solidFill>
                    <a:srgbClr val="B4B4B4"/>
                  </a:solidFill>
                  <a:effectLst/>
                  <a:latin typeface="Consolas" panose="020B0609020204030204" pitchFamily="49" charset="0"/>
                </a:rPr>
                <a:t>(</a:t>
              </a:r>
              <a:r>
                <a:rPr lang="en-US" sz="1200" b="0" dirty="0" err="1">
                  <a:solidFill>
                    <a:srgbClr val="C8C8C8"/>
                  </a:solidFill>
                  <a:effectLst/>
                  <a:latin typeface="Consolas" panose="020B0609020204030204" pitchFamily="49" charset="0"/>
                </a:rPr>
                <a:t>torch</a:t>
              </a:r>
              <a:r>
                <a:rPr lang="en-US" sz="1200" b="0" dirty="0" err="1">
                  <a:solidFill>
                    <a:srgbClr val="B4B4B4"/>
                  </a:solidFill>
                  <a:effectLst/>
                  <a:latin typeface="Consolas" panose="020B0609020204030204" pitchFamily="49" charset="0"/>
                </a:rPr>
                <a:t>.</a:t>
              </a:r>
              <a:r>
                <a:rPr lang="en-US" sz="1200" b="0" dirty="0" err="1">
                  <a:solidFill>
                    <a:srgbClr val="C8C8C8"/>
                  </a:solidFill>
                  <a:effectLst/>
                  <a:latin typeface="Consolas" panose="020B0609020204030204" pitchFamily="49" charset="0"/>
                </a:rPr>
                <a:t>nn</a:t>
              </a:r>
              <a:r>
                <a:rPr lang="en-US" sz="1200" b="0" dirty="0" err="1">
                  <a:solidFill>
                    <a:srgbClr val="B4B4B4"/>
                  </a:solidFill>
                  <a:effectLst/>
                  <a:latin typeface="Consolas" panose="020B0609020204030204" pitchFamily="49" charset="0"/>
                </a:rPr>
                <a:t>.</a:t>
              </a:r>
              <a:r>
                <a:rPr lang="en-US" sz="1200" b="0" dirty="0" err="1">
                  <a:solidFill>
                    <a:srgbClr val="5DA963"/>
                  </a:solidFill>
                  <a:effectLst/>
                  <a:latin typeface="Consolas" panose="020B0609020204030204" pitchFamily="49" charset="0"/>
                </a:rPr>
                <a:t>Module</a:t>
              </a:r>
              <a:r>
                <a:rPr lang="en-US" sz="1200" b="0" dirty="0">
                  <a:solidFill>
                    <a:srgbClr val="B4B4B4"/>
                  </a:solidFill>
                  <a:effectLst/>
                  <a:latin typeface="Consolas" panose="020B0609020204030204" pitchFamily="49" charset="0"/>
                </a:rPr>
                <a:t>):</a:t>
              </a:r>
              <a:endParaRPr lang="en-US" sz="1200" b="0" dirty="0">
                <a:solidFill>
                  <a:srgbClr val="DADADA"/>
                </a:solidFill>
                <a:effectLst/>
                <a:latin typeface="Consolas" panose="020B0609020204030204" pitchFamily="49" charset="0"/>
              </a:endParaRPr>
            </a:p>
            <a:p>
              <a:r>
                <a:rPr lang="en-US" sz="1200" b="0" dirty="0">
                  <a:solidFill>
                    <a:srgbClr val="DADADA"/>
                  </a:solidFill>
                  <a:effectLst/>
                  <a:latin typeface="Consolas" panose="020B0609020204030204" pitchFamily="49" charset="0"/>
                </a:rPr>
                <a:t>    </a:t>
              </a:r>
              <a:r>
                <a:rPr lang="en-US" sz="1200" b="0" dirty="0">
                  <a:solidFill>
                    <a:srgbClr val="A0A0FF"/>
                  </a:solidFill>
                  <a:effectLst/>
                  <a:latin typeface="Consolas" panose="020B0609020204030204" pitchFamily="49" charset="0"/>
                </a:rPr>
                <a:t>def</a:t>
              </a:r>
              <a:r>
                <a:rPr lang="en-US" sz="1200" b="0" dirty="0">
                  <a:solidFill>
                    <a:srgbClr val="DADADA"/>
                  </a:solidFill>
                  <a:effectLst/>
                  <a:latin typeface="Consolas" panose="020B0609020204030204" pitchFamily="49" charset="0"/>
                </a:rPr>
                <a:t> </a:t>
              </a:r>
              <a:r>
                <a:rPr lang="en-US" sz="1200" b="0" dirty="0">
                  <a:solidFill>
                    <a:srgbClr val="A7A774"/>
                  </a:solidFill>
                  <a:effectLst/>
                  <a:latin typeface="Consolas" panose="020B0609020204030204" pitchFamily="49" charset="0"/>
                </a:rPr>
                <a:t>__</a:t>
              </a:r>
              <a:r>
                <a:rPr lang="en-US" sz="1200" b="0" dirty="0" err="1">
                  <a:solidFill>
                    <a:srgbClr val="A7A774"/>
                  </a:solidFill>
                  <a:effectLst/>
                  <a:latin typeface="Consolas" panose="020B0609020204030204" pitchFamily="49" charset="0"/>
                </a:rPr>
                <a:t>init</a:t>
              </a:r>
              <a:r>
                <a:rPr lang="en-US" sz="1200" b="0" dirty="0">
                  <a:solidFill>
                    <a:srgbClr val="A7A774"/>
                  </a:solidFill>
                  <a:effectLst/>
                  <a:latin typeface="Consolas" panose="020B0609020204030204" pitchFamily="49" charset="0"/>
                </a:rPr>
                <a:t>__</a:t>
              </a:r>
              <a:r>
                <a:rPr lang="en-US" sz="1200" b="0" dirty="0">
                  <a:solidFill>
                    <a:srgbClr val="B4B4B4"/>
                  </a:solidFill>
                  <a:effectLst/>
                  <a:latin typeface="Consolas" panose="020B0609020204030204" pitchFamily="49" charset="0"/>
                </a:rPr>
                <a:t>(</a:t>
              </a:r>
              <a:r>
                <a:rPr lang="en-US" sz="1200" b="0" dirty="0">
                  <a:solidFill>
                    <a:srgbClr val="9A9A9A"/>
                  </a:solidFill>
                  <a:effectLst/>
                  <a:latin typeface="Consolas" panose="020B0609020204030204" pitchFamily="49" charset="0"/>
                </a:rPr>
                <a:t>self</a:t>
              </a:r>
              <a:r>
                <a:rPr lang="en-US" sz="1200" b="0" dirty="0">
                  <a:solidFill>
                    <a:srgbClr val="B4B4B4"/>
                  </a:solidFill>
                  <a:effectLst/>
                  <a:latin typeface="Consolas" panose="020B0609020204030204" pitchFamily="49" charset="0"/>
                </a:rPr>
                <a:t>):</a:t>
              </a:r>
              <a:endParaRPr lang="en-US" sz="1200" b="0" dirty="0">
                <a:solidFill>
                  <a:srgbClr val="DADADA"/>
                </a:solidFill>
                <a:effectLst/>
                <a:latin typeface="Consolas" panose="020B0609020204030204" pitchFamily="49" charset="0"/>
              </a:endParaRPr>
            </a:p>
            <a:p>
              <a:r>
                <a:rPr lang="en-US" sz="1200" b="0" dirty="0">
                  <a:solidFill>
                    <a:srgbClr val="DADADA"/>
                  </a:solidFill>
                  <a:effectLst/>
                  <a:latin typeface="Consolas" panose="020B0609020204030204" pitchFamily="49" charset="0"/>
                </a:rPr>
                <a:t>        </a:t>
              </a:r>
              <a:r>
                <a:rPr lang="en-US" sz="1200" b="0" dirty="0">
                  <a:solidFill>
                    <a:srgbClr val="5DA963"/>
                  </a:solidFill>
                  <a:effectLst/>
                  <a:latin typeface="Consolas" panose="020B0609020204030204" pitchFamily="49" charset="0"/>
                </a:rPr>
                <a:t>super</a:t>
              </a:r>
              <a:r>
                <a:rPr lang="en-US" sz="1200" b="0" dirty="0">
                  <a:solidFill>
                    <a:srgbClr val="B4B4B4"/>
                  </a:solidFill>
                  <a:effectLst/>
                  <a:latin typeface="Consolas" panose="020B0609020204030204" pitchFamily="49" charset="0"/>
                </a:rPr>
                <a:t>().</a:t>
              </a:r>
              <a:r>
                <a:rPr lang="en-US" sz="1200" b="0" dirty="0">
                  <a:solidFill>
                    <a:srgbClr val="A7A774"/>
                  </a:solidFill>
                  <a:effectLst/>
                  <a:latin typeface="Consolas" panose="020B0609020204030204" pitchFamily="49" charset="0"/>
                </a:rPr>
                <a:t>__</a:t>
              </a:r>
              <a:r>
                <a:rPr lang="en-US" sz="1200" b="0" dirty="0" err="1">
                  <a:solidFill>
                    <a:srgbClr val="A7A774"/>
                  </a:solidFill>
                  <a:effectLst/>
                  <a:latin typeface="Consolas" panose="020B0609020204030204" pitchFamily="49" charset="0"/>
                </a:rPr>
                <a:t>init</a:t>
              </a:r>
              <a:r>
                <a:rPr lang="en-US" sz="1200" b="0" dirty="0">
                  <a:solidFill>
                    <a:srgbClr val="A7A774"/>
                  </a:solidFill>
                  <a:effectLst/>
                  <a:latin typeface="Consolas" panose="020B0609020204030204" pitchFamily="49" charset="0"/>
                </a:rPr>
                <a:t>__</a:t>
              </a:r>
              <a:r>
                <a:rPr lang="en-US" sz="1200" b="0" dirty="0">
                  <a:solidFill>
                    <a:srgbClr val="B4B4B4"/>
                  </a:solidFill>
                  <a:effectLst/>
                  <a:latin typeface="Consolas" panose="020B0609020204030204" pitchFamily="49" charset="0"/>
                </a:rPr>
                <a:t>()</a:t>
              </a:r>
              <a:endParaRPr lang="en-US" sz="1200" b="0" dirty="0">
                <a:solidFill>
                  <a:srgbClr val="DADADA"/>
                </a:solidFill>
                <a:effectLst/>
                <a:latin typeface="Consolas" panose="020B0609020204030204" pitchFamily="49" charset="0"/>
              </a:endParaRPr>
            </a:p>
            <a:p>
              <a:r>
                <a:rPr lang="en-US" sz="1200" b="0" dirty="0">
                  <a:solidFill>
                    <a:srgbClr val="DADADA"/>
                  </a:solidFill>
                  <a:effectLst/>
                  <a:latin typeface="Consolas" panose="020B0609020204030204" pitchFamily="49" charset="0"/>
                </a:rPr>
                <a:t>        </a:t>
              </a:r>
              <a:r>
                <a:rPr lang="en-US" sz="1200" b="0" dirty="0" err="1">
                  <a:solidFill>
                    <a:srgbClr val="9A9A9A"/>
                  </a:solidFill>
                  <a:effectLst/>
                  <a:latin typeface="Consolas" panose="020B0609020204030204" pitchFamily="49" charset="0"/>
                </a:rPr>
                <a:t>self</a:t>
              </a:r>
              <a:r>
                <a:rPr lang="en-US" sz="1200" b="0" dirty="0" err="1">
                  <a:solidFill>
                    <a:srgbClr val="B4B4B4"/>
                  </a:solidFill>
                  <a:effectLst/>
                  <a:latin typeface="Consolas" panose="020B0609020204030204" pitchFamily="49" charset="0"/>
                </a:rPr>
                <a:t>.</a:t>
              </a:r>
              <a:r>
                <a:rPr lang="en-US" sz="1200" b="0" dirty="0" err="1">
                  <a:solidFill>
                    <a:srgbClr val="DADADA"/>
                  </a:solidFill>
                  <a:effectLst/>
                  <a:latin typeface="Consolas" panose="020B0609020204030204" pitchFamily="49" charset="0"/>
                </a:rPr>
                <a:t>layers</a:t>
              </a:r>
              <a:r>
                <a:rPr lang="en-US" sz="1200" b="0" dirty="0">
                  <a:solidFill>
                    <a:srgbClr val="DADADA"/>
                  </a:solidFill>
                  <a:effectLst/>
                  <a:latin typeface="Consolas" panose="020B0609020204030204" pitchFamily="49" charset="0"/>
                </a:rPr>
                <a:t> </a:t>
              </a:r>
              <a:r>
                <a:rPr lang="en-US" sz="1200" b="0" dirty="0">
                  <a:solidFill>
                    <a:srgbClr val="C0C0C0"/>
                  </a:solidFill>
                  <a:effectLst/>
                  <a:latin typeface="Consolas" panose="020B0609020204030204" pitchFamily="49" charset="0"/>
                </a:rPr>
                <a:t>=</a:t>
              </a:r>
              <a:r>
                <a:rPr lang="en-US" sz="1200" b="0" dirty="0">
                  <a:solidFill>
                    <a:srgbClr val="DADADA"/>
                  </a:solidFill>
                  <a:effectLst/>
                  <a:latin typeface="Consolas" panose="020B0609020204030204" pitchFamily="49" charset="0"/>
                </a:rPr>
                <a:t> </a:t>
              </a:r>
              <a:r>
                <a:rPr lang="en-US" sz="1200" b="0" dirty="0" err="1">
                  <a:solidFill>
                    <a:srgbClr val="C8C8C8"/>
                  </a:solidFill>
                  <a:effectLst/>
                  <a:latin typeface="Consolas" panose="020B0609020204030204" pitchFamily="49" charset="0"/>
                </a:rPr>
                <a:t>torch</a:t>
              </a:r>
              <a:r>
                <a:rPr lang="en-US" sz="1200" b="0" dirty="0" err="1">
                  <a:solidFill>
                    <a:srgbClr val="B4B4B4"/>
                  </a:solidFill>
                  <a:effectLst/>
                  <a:latin typeface="Consolas" panose="020B0609020204030204" pitchFamily="49" charset="0"/>
                </a:rPr>
                <a:t>.</a:t>
              </a:r>
              <a:r>
                <a:rPr lang="en-US" sz="1200" b="0" dirty="0" err="1">
                  <a:solidFill>
                    <a:srgbClr val="C8C8C8"/>
                  </a:solidFill>
                  <a:effectLst/>
                  <a:latin typeface="Consolas" panose="020B0609020204030204" pitchFamily="49" charset="0"/>
                </a:rPr>
                <a:t>nn</a:t>
              </a:r>
              <a:r>
                <a:rPr lang="en-US" sz="1200" b="0" dirty="0" err="1">
                  <a:solidFill>
                    <a:srgbClr val="B4B4B4"/>
                  </a:solidFill>
                  <a:effectLst/>
                  <a:latin typeface="Consolas" panose="020B0609020204030204" pitchFamily="49" charset="0"/>
                </a:rPr>
                <a:t>.</a:t>
              </a:r>
              <a:r>
                <a:rPr lang="en-US" sz="1200" b="0" dirty="0" err="1">
                  <a:solidFill>
                    <a:srgbClr val="5DA963"/>
                  </a:solidFill>
                  <a:effectLst/>
                  <a:latin typeface="Consolas" panose="020B0609020204030204" pitchFamily="49" charset="0"/>
                </a:rPr>
                <a:t>Sequential</a:t>
              </a:r>
              <a:r>
                <a:rPr lang="en-US" sz="1200" b="0" dirty="0">
                  <a:solidFill>
                    <a:srgbClr val="B4B4B4"/>
                  </a:solidFill>
                  <a:effectLst/>
                  <a:latin typeface="Consolas" panose="020B0609020204030204" pitchFamily="49" charset="0"/>
                </a:rPr>
                <a:t>(</a:t>
              </a:r>
              <a:r>
                <a:rPr lang="en-US" sz="1200" b="0" dirty="0" err="1">
                  <a:solidFill>
                    <a:srgbClr val="C8C8C8"/>
                  </a:solidFill>
                  <a:effectLst/>
                  <a:latin typeface="Consolas" panose="020B0609020204030204" pitchFamily="49" charset="0"/>
                </a:rPr>
                <a:t>torch</a:t>
              </a:r>
              <a:r>
                <a:rPr lang="en-US" sz="1200" b="0" dirty="0" err="1">
                  <a:solidFill>
                    <a:srgbClr val="B4B4B4"/>
                  </a:solidFill>
                  <a:effectLst/>
                  <a:latin typeface="Consolas" panose="020B0609020204030204" pitchFamily="49" charset="0"/>
                </a:rPr>
                <a:t>.</a:t>
              </a:r>
              <a:r>
                <a:rPr lang="en-US" sz="1200" b="0" dirty="0" err="1">
                  <a:solidFill>
                    <a:srgbClr val="C8C8C8"/>
                  </a:solidFill>
                  <a:effectLst/>
                  <a:latin typeface="Consolas" panose="020B0609020204030204" pitchFamily="49" charset="0"/>
                </a:rPr>
                <a:t>nn</a:t>
              </a:r>
              <a:r>
                <a:rPr lang="en-US" sz="1200" b="0" dirty="0" err="1">
                  <a:solidFill>
                    <a:srgbClr val="B4B4B4"/>
                  </a:solidFill>
                  <a:effectLst/>
                  <a:latin typeface="Consolas" panose="020B0609020204030204" pitchFamily="49" charset="0"/>
                </a:rPr>
                <a:t>.</a:t>
              </a:r>
              <a:r>
                <a:rPr lang="en-US" sz="1200" b="0" dirty="0" err="1">
                  <a:solidFill>
                    <a:srgbClr val="5DA963"/>
                  </a:solidFill>
                  <a:effectLst/>
                  <a:latin typeface="Consolas" panose="020B0609020204030204" pitchFamily="49" charset="0"/>
                </a:rPr>
                <a:t>Linear</a:t>
              </a:r>
              <a:r>
                <a:rPr lang="en-US" sz="1200" b="0" dirty="0">
                  <a:solidFill>
                    <a:srgbClr val="B4B4B4"/>
                  </a:solidFill>
                  <a:effectLst/>
                  <a:latin typeface="Consolas" panose="020B0609020204030204" pitchFamily="49" charset="0"/>
                </a:rPr>
                <a:t>(</a:t>
              </a:r>
              <a:r>
                <a:rPr lang="en-US" sz="1200" b="0" dirty="0">
                  <a:solidFill>
                    <a:srgbClr val="E0EBB2"/>
                  </a:solidFill>
                  <a:effectLst/>
                  <a:latin typeface="Consolas" panose="020B0609020204030204" pitchFamily="49" charset="0"/>
                </a:rPr>
                <a:t>3</a:t>
              </a:r>
              <a:r>
                <a:rPr lang="en-US" sz="1200" b="0" dirty="0">
                  <a:solidFill>
                    <a:srgbClr val="B4B4B4"/>
                  </a:solidFill>
                  <a:effectLst/>
                  <a:latin typeface="Consolas" panose="020B0609020204030204" pitchFamily="49" charset="0"/>
                </a:rPr>
                <a:t>,</a:t>
              </a:r>
              <a:r>
                <a:rPr lang="en-US" sz="1200" b="0" dirty="0">
                  <a:solidFill>
                    <a:srgbClr val="E0EBB2"/>
                  </a:solidFill>
                  <a:effectLst/>
                  <a:latin typeface="Consolas" panose="020B0609020204030204" pitchFamily="49" charset="0"/>
                </a:rPr>
                <a:t>1</a:t>
              </a:r>
              <a:r>
                <a:rPr lang="en-US" sz="1200" b="0" dirty="0">
                  <a:solidFill>
                    <a:srgbClr val="B4B4B4"/>
                  </a:solidFill>
                  <a:effectLst/>
                  <a:latin typeface="Consolas" panose="020B0609020204030204" pitchFamily="49" charset="0"/>
                </a:rPr>
                <a:t>),</a:t>
              </a:r>
              <a:r>
                <a:rPr lang="en-US" sz="1200" b="0" dirty="0" err="1">
                  <a:solidFill>
                    <a:srgbClr val="C8C8C8"/>
                  </a:solidFill>
                  <a:effectLst/>
                  <a:latin typeface="Consolas" panose="020B0609020204030204" pitchFamily="49" charset="0"/>
                </a:rPr>
                <a:t>torch</a:t>
              </a:r>
              <a:r>
                <a:rPr lang="en-US" sz="1200" b="0" dirty="0" err="1">
                  <a:solidFill>
                    <a:srgbClr val="B4B4B4"/>
                  </a:solidFill>
                  <a:effectLst/>
                  <a:latin typeface="Consolas" panose="020B0609020204030204" pitchFamily="49" charset="0"/>
                </a:rPr>
                <a:t>.</a:t>
              </a:r>
              <a:r>
                <a:rPr lang="en-US" sz="1200" b="0" dirty="0" err="1">
                  <a:solidFill>
                    <a:srgbClr val="C8C8C8"/>
                  </a:solidFill>
                  <a:effectLst/>
                  <a:latin typeface="Consolas" panose="020B0609020204030204" pitchFamily="49" charset="0"/>
                </a:rPr>
                <a:t>nn</a:t>
              </a:r>
              <a:r>
                <a:rPr lang="en-US" sz="1200" b="0" dirty="0" err="1">
                  <a:solidFill>
                    <a:srgbClr val="B4B4B4"/>
                  </a:solidFill>
                  <a:effectLst/>
                  <a:latin typeface="Consolas" panose="020B0609020204030204" pitchFamily="49" charset="0"/>
                </a:rPr>
                <a:t>.</a:t>
              </a:r>
              <a:r>
                <a:rPr lang="en-US" sz="1200" b="0" dirty="0" err="1">
                  <a:solidFill>
                    <a:srgbClr val="5DA963"/>
                  </a:solidFill>
                  <a:effectLst/>
                  <a:latin typeface="Consolas" panose="020B0609020204030204" pitchFamily="49" charset="0"/>
                </a:rPr>
                <a:t>ReLU</a:t>
              </a:r>
              <a:r>
                <a:rPr lang="en-US" sz="1200" b="0" dirty="0">
                  <a:solidFill>
                    <a:srgbClr val="B4B4B4"/>
                  </a:solidFill>
                  <a:effectLst/>
                  <a:latin typeface="Consolas" panose="020B0609020204030204" pitchFamily="49" charset="0"/>
                </a:rPr>
                <a:t>())</a:t>
              </a:r>
              <a:br>
                <a:rPr lang="en-US" sz="1200" b="0" dirty="0">
                  <a:solidFill>
                    <a:srgbClr val="DADADA"/>
                  </a:solidFill>
                  <a:effectLst/>
                  <a:latin typeface="Consolas" panose="020B0609020204030204" pitchFamily="49" charset="0"/>
                </a:rPr>
              </a:br>
              <a:r>
                <a:rPr lang="en-US" sz="1200" b="0" dirty="0">
                  <a:solidFill>
                    <a:srgbClr val="DADADA"/>
                  </a:solidFill>
                  <a:effectLst/>
                  <a:latin typeface="Consolas" panose="020B0609020204030204" pitchFamily="49" charset="0"/>
                </a:rPr>
                <a:t>    </a:t>
              </a:r>
              <a:r>
                <a:rPr lang="en-US" sz="1200" b="0" dirty="0">
                  <a:solidFill>
                    <a:srgbClr val="A0A0FF"/>
                  </a:solidFill>
                  <a:effectLst/>
                  <a:latin typeface="Consolas" panose="020B0609020204030204" pitchFamily="49" charset="0"/>
                </a:rPr>
                <a:t>def</a:t>
              </a:r>
              <a:r>
                <a:rPr lang="en-US" sz="1200" b="0" dirty="0">
                  <a:solidFill>
                    <a:srgbClr val="DADADA"/>
                  </a:solidFill>
                  <a:effectLst/>
                  <a:latin typeface="Consolas" panose="020B0609020204030204" pitchFamily="49" charset="0"/>
                </a:rPr>
                <a:t> </a:t>
              </a:r>
              <a:r>
                <a:rPr lang="en-US" sz="1200" b="0" dirty="0">
                  <a:solidFill>
                    <a:srgbClr val="A7A774"/>
                  </a:solidFill>
                  <a:effectLst/>
                  <a:latin typeface="Consolas" panose="020B0609020204030204" pitchFamily="49" charset="0"/>
                </a:rPr>
                <a:t>forward</a:t>
              </a:r>
              <a:r>
                <a:rPr lang="en-US" sz="1200" b="0" dirty="0">
                  <a:solidFill>
                    <a:srgbClr val="B4B4B4"/>
                  </a:solidFill>
                  <a:effectLst/>
                  <a:latin typeface="Consolas" panose="020B0609020204030204" pitchFamily="49" charset="0"/>
                </a:rPr>
                <a:t>(</a:t>
              </a:r>
              <a:r>
                <a:rPr lang="en-US" sz="1200" b="0" dirty="0">
                  <a:solidFill>
                    <a:srgbClr val="9A9A9A"/>
                  </a:solidFill>
                  <a:effectLst/>
                  <a:latin typeface="Consolas" panose="020B0609020204030204" pitchFamily="49" charset="0"/>
                </a:rPr>
                <a:t>self</a:t>
              </a:r>
              <a:r>
                <a:rPr lang="en-US" sz="1200" b="0" dirty="0">
                  <a:solidFill>
                    <a:srgbClr val="B4B4B4"/>
                  </a:solidFill>
                  <a:effectLst/>
                  <a:latin typeface="Consolas" panose="020B0609020204030204" pitchFamily="49" charset="0"/>
                </a:rPr>
                <a:t>,</a:t>
              </a:r>
              <a:r>
                <a:rPr lang="en-US" sz="1200" b="0" dirty="0">
                  <a:solidFill>
                    <a:srgbClr val="DADADA"/>
                  </a:solidFill>
                  <a:effectLst/>
                  <a:latin typeface="Consolas" panose="020B0609020204030204" pitchFamily="49" charset="0"/>
                </a:rPr>
                <a:t> </a:t>
              </a:r>
              <a:r>
                <a:rPr lang="en-US" sz="1200" b="0" dirty="0">
                  <a:solidFill>
                    <a:srgbClr val="9A9A9A"/>
                  </a:solidFill>
                  <a:effectLst/>
                  <a:latin typeface="Consolas" panose="020B0609020204030204" pitchFamily="49" charset="0"/>
                </a:rPr>
                <a:t>input</a:t>
              </a:r>
              <a:r>
                <a:rPr lang="en-US" sz="1200" b="0" dirty="0">
                  <a:solidFill>
                    <a:srgbClr val="B4B4B4"/>
                  </a:solidFill>
                  <a:effectLst/>
                  <a:latin typeface="Consolas" panose="020B0609020204030204" pitchFamily="49" charset="0"/>
                </a:rPr>
                <a:t>):</a:t>
              </a:r>
              <a:endParaRPr lang="en-US" sz="1200" b="0" dirty="0">
                <a:solidFill>
                  <a:srgbClr val="DADADA"/>
                </a:solidFill>
                <a:effectLst/>
                <a:latin typeface="Consolas" panose="020B0609020204030204" pitchFamily="49" charset="0"/>
              </a:endParaRPr>
            </a:p>
            <a:p>
              <a:r>
                <a:rPr lang="en-US" sz="1200" b="0" dirty="0">
                  <a:solidFill>
                    <a:srgbClr val="DADADA"/>
                  </a:solidFill>
                  <a:effectLst/>
                  <a:latin typeface="Consolas" panose="020B0609020204030204" pitchFamily="49" charset="0"/>
                </a:rPr>
                <a:t>        </a:t>
              </a:r>
              <a:r>
                <a:rPr lang="en-US" sz="1200" b="0" dirty="0">
                  <a:solidFill>
                    <a:srgbClr val="B56AA6"/>
                  </a:solidFill>
                  <a:effectLst/>
                  <a:latin typeface="Consolas" panose="020B0609020204030204" pitchFamily="49" charset="0"/>
                </a:rPr>
                <a:t>return</a:t>
              </a:r>
              <a:r>
                <a:rPr lang="en-US" sz="1200" b="0" dirty="0">
                  <a:solidFill>
                    <a:srgbClr val="DADADA"/>
                  </a:solidFill>
                  <a:effectLst/>
                  <a:latin typeface="Consolas" panose="020B0609020204030204" pitchFamily="49" charset="0"/>
                </a:rPr>
                <a:t> </a:t>
              </a:r>
              <a:r>
                <a:rPr lang="en-US" sz="1200" b="0" dirty="0" err="1">
                  <a:solidFill>
                    <a:srgbClr val="9A9A9A"/>
                  </a:solidFill>
                  <a:effectLst/>
                  <a:latin typeface="Consolas" panose="020B0609020204030204" pitchFamily="49" charset="0"/>
                </a:rPr>
                <a:t>self</a:t>
              </a:r>
              <a:r>
                <a:rPr lang="en-US" sz="1200" b="0" dirty="0" err="1">
                  <a:solidFill>
                    <a:srgbClr val="B4B4B4"/>
                  </a:solidFill>
                  <a:effectLst/>
                  <a:latin typeface="Consolas" panose="020B0609020204030204" pitchFamily="49" charset="0"/>
                </a:rPr>
                <a:t>.</a:t>
              </a:r>
              <a:r>
                <a:rPr lang="en-US" sz="1200" b="0" dirty="0" err="1">
                  <a:solidFill>
                    <a:srgbClr val="DADADA"/>
                  </a:solidFill>
                  <a:effectLst/>
                  <a:latin typeface="Consolas" panose="020B0609020204030204" pitchFamily="49" charset="0"/>
                </a:rPr>
                <a:t>layers</a:t>
              </a:r>
              <a:r>
                <a:rPr lang="en-US" sz="1200" b="0" dirty="0">
                  <a:solidFill>
                    <a:srgbClr val="B4B4B4"/>
                  </a:solidFill>
                  <a:effectLst/>
                  <a:latin typeface="Consolas" panose="020B0609020204030204" pitchFamily="49" charset="0"/>
                </a:rPr>
                <a:t>(</a:t>
              </a:r>
              <a:r>
                <a:rPr lang="en-US" sz="1200" b="0" dirty="0">
                  <a:solidFill>
                    <a:srgbClr val="9A9A9A"/>
                  </a:solidFill>
                  <a:effectLst/>
                  <a:latin typeface="Consolas" panose="020B0609020204030204" pitchFamily="49" charset="0"/>
                </a:rPr>
                <a:t>input</a:t>
              </a:r>
              <a:r>
                <a:rPr lang="en-US" sz="1200" b="0" dirty="0">
                  <a:solidFill>
                    <a:srgbClr val="B4B4B4"/>
                  </a:solidFill>
                  <a:effectLst/>
                  <a:latin typeface="Consolas" panose="020B0609020204030204" pitchFamily="49" charset="0"/>
                </a:rPr>
                <a:t>)</a:t>
              </a:r>
              <a:endParaRPr lang="en-US" sz="1200" b="0" dirty="0">
                <a:solidFill>
                  <a:srgbClr val="DADADA"/>
                </a:solidFill>
                <a:effectLst/>
                <a:latin typeface="Consolas" panose="020B0609020204030204" pitchFamily="49" charset="0"/>
              </a:endParaRPr>
            </a:p>
          </p:txBody>
        </p:sp>
      </p:grpSp>
    </p:spTree>
    <p:extLst>
      <p:ext uri="{BB962C8B-B14F-4D97-AF65-F5344CB8AC3E}">
        <p14:creationId xmlns:p14="http://schemas.microsoft.com/office/powerpoint/2010/main" val="3127668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Datasets &amp; </a:t>
            </a:r>
            <a:r>
              <a:rPr lang="en-US" dirty="0" err="1"/>
              <a:t>Dataloaders</a:t>
            </a:r>
            <a:endParaRPr lang="en-US" dirty="0"/>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32418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Datasets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181600"/>
          </a:xfrm>
        </p:spPr>
        <p:txBody>
          <a:bodyPr>
            <a:normAutofit/>
          </a:bodyPr>
          <a:lstStyle/>
          <a:p>
            <a:r>
              <a:rPr lang="en-US" dirty="0"/>
              <a:t>Every machine learning algorithm essentially relies on a dataset (for either training or testing).</a:t>
            </a:r>
          </a:p>
          <a:p>
            <a:r>
              <a:rPr lang="en-US" dirty="0"/>
              <a:t>However, data can be presented in different forms and as such we will need a common interface that can be used to access different types of data.</a:t>
            </a:r>
          </a:p>
          <a:p>
            <a:pPr lvl="1"/>
            <a:endParaRPr lang="en-US" dirty="0"/>
          </a:p>
          <a:p>
            <a:pPr marL="365760" lvl="1" indent="0">
              <a:buNone/>
            </a:pPr>
            <a:endParaRPr lang="en-US" dirty="0"/>
          </a:p>
          <a:p>
            <a:pPr marL="365760" lvl="1" indent="0">
              <a:buNone/>
            </a:pPr>
            <a:endParaRPr lang="en-US" dirty="0"/>
          </a:p>
        </p:txBody>
      </p:sp>
    </p:spTree>
    <p:extLst>
      <p:ext uri="{BB962C8B-B14F-4D97-AF65-F5344CB8AC3E}">
        <p14:creationId xmlns:p14="http://schemas.microsoft.com/office/powerpoint/2010/main" val="705947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Datasets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181600"/>
          </a:xfrm>
        </p:spPr>
        <p:txBody>
          <a:bodyPr>
            <a:normAutofit/>
          </a:bodyPr>
          <a:lstStyle/>
          <a:p>
            <a:r>
              <a:rPr lang="en-US" dirty="0" err="1"/>
              <a:t>PyTorch</a:t>
            </a:r>
            <a:r>
              <a:rPr lang="en-US" dirty="0"/>
              <a:t> has an interface/class named: </a:t>
            </a:r>
            <a:r>
              <a:rPr lang="en-US" b="1" dirty="0" err="1"/>
              <a:t>torch.utils.data.Dataset</a:t>
            </a:r>
            <a:r>
              <a:rPr lang="en-US" b="1" dirty="0"/>
              <a:t> </a:t>
            </a:r>
            <a:r>
              <a:rPr lang="en-US" dirty="0"/>
              <a:t>that should be used to create a dataset.</a:t>
            </a:r>
          </a:p>
          <a:p>
            <a:r>
              <a:rPr lang="en-US" dirty="0"/>
              <a:t>The interface implies 3 methods:</a:t>
            </a:r>
          </a:p>
          <a:p>
            <a:pPr lvl="1"/>
            <a:r>
              <a:rPr lang="en-US" dirty="0"/>
              <a:t>An </a:t>
            </a:r>
            <a:r>
              <a:rPr lang="en-US" b="1" dirty="0"/>
              <a:t>__</a:t>
            </a:r>
            <a:r>
              <a:rPr lang="en-US" b="1" dirty="0" err="1"/>
              <a:t>init</a:t>
            </a:r>
            <a:r>
              <a:rPr lang="en-US" b="1" dirty="0"/>
              <a:t>__</a:t>
            </a:r>
            <a:r>
              <a:rPr lang="en-US" dirty="0"/>
              <a:t> function (that loads the dataset)</a:t>
            </a:r>
          </a:p>
          <a:p>
            <a:pPr lvl="1"/>
            <a:r>
              <a:rPr lang="en-US" dirty="0"/>
              <a:t>A </a:t>
            </a:r>
            <a:r>
              <a:rPr lang="en-US" b="1" dirty="0"/>
              <a:t>__</a:t>
            </a:r>
            <a:r>
              <a:rPr lang="en-US" b="1" dirty="0" err="1"/>
              <a:t>get_item</a:t>
            </a:r>
            <a:r>
              <a:rPr lang="en-US" b="1" dirty="0"/>
              <a:t>__() </a:t>
            </a:r>
            <a:r>
              <a:rPr lang="en-US" dirty="0"/>
              <a:t>method to access one element from the dataset</a:t>
            </a:r>
          </a:p>
          <a:p>
            <a:pPr lvl="1"/>
            <a:r>
              <a:rPr lang="en-US" dirty="0"/>
              <a:t>A </a:t>
            </a:r>
            <a:r>
              <a:rPr lang="en-US" b="1" dirty="0"/>
              <a:t>__</a:t>
            </a:r>
            <a:r>
              <a:rPr lang="en-US" b="1" dirty="0" err="1"/>
              <a:t>len</a:t>
            </a:r>
            <a:r>
              <a:rPr lang="en-US" b="1" dirty="0"/>
              <a:t>__() </a:t>
            </a:r>
            <a:r>
              <a:rPr lang="en-US" dirty="0"/>
              <a:t>method to provide the number of elements from the dataset</a:t>
            </a:r>
          </a:p>
          <a:p>
            <a:endParaRPr lang="en-US" dirty="0"/>
          </a:p>
          <a:p>
            <a:pPr lvl="1"/>
            <a:endParaRPr lang="en-US" dirty="0"/>
          </a:p>
          <a:p>
            <a:pPr marL="365760" lvl="1" indent="0">
              <a:buNone/>
            </a:pPr>
            <a:endParaRPr lang="en-US" dirty="0"/>
          </a:p>
          <a:p>
            <a:pPr marL="365760" lvl="1" indent="0">
              <a:buNone/>
            </a:pPr>
            <a:endParaRPr lang="en-US" dirty="0"/>
          </a:p>
        </p:txBody>
      </p:sp>
    </p:spTree>
    <p:extLst>
      <p:ext uri="{BB962C8B-B14F-4D97-AF65-F5344CB8AC3E}">
        <p14:creationId xmlns:p14="http://schemas.microsoft.com/office/powerpoint/2010/main" val="248042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Datasets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181600"/>
          </a:xfrm>
        </p:spPr>
        <p:txBody>
          <a:bodyPr>
            <a:normAutofit/>
          </a:bodyPr>
          <a:lstStyle/>
          <a:p>
            <a:r>
              <a:rPr lang="en-US" dirty="0" err="1"/>
              <a:t>PyTorch</a:t>
            </a:r>
            <a:r>
              <a:rPr lang="en-US" dirty="0"/>
              <a:t> has an interface/class named: </a:t>
            </a:r>
            <a:r>
              <a:rPr lang="en-US" b="1" dirty="0" err="1"/>
              <a:t>torch.utils.data.Dataset</a:t>
            </a:r>
            <a:r>
              <a:rPr lang="en-US" b="1" dirty="0"/>
              <a:t> </a:t>
            </a:r>
            <a:r>
              <a:rPr lang="en-US" dirty="0"/>
              <a:t>that should be used to create a dataset.</a:t>
            </a:r>
          </a:p>
          <a:p>
            <a:pPr marL="0" indent="0">
              <a:buNone/>
            </a:pPr>
            <a:endParaRPr lang="en-US" dirty="0"/>
          </a:p>
          <a:p>
            <a:endParaRPr lang="en-US" dirty="0"/>
          </a:p>
          <a:p>
            <a:pPr lvl="1"/>
            <a:endParaRPr lang="en-US" dirty="0"/>
          </a:p>
          <a:p>
            <a:pPr marL="365760" lvl="1" indent="0">
              <a:buNone/>
            </a:pPr>
            <a:endParaRPr lang="en-US" dirty="0"/>
          </a:p>
          <a:p>
            <a:pPr marL="365760" lvl="1" indent="0">
              <a:buNone/>
            </a:pPr>
            <a:endParaRPr lang="en-US" dirty="0"/>
          </a:p>
        </p:txBody>
      </p:sp>
      <p:sp>
        <p:nvSpPr>
          <p:cNvPr id="3" name="Rectangle 2">
            <a:extLst>
              <a:ext uri="{FF2B5EF4-FFF2-40B4-BE49-F238E27FC236}">
                <a16:creationId xmlns:a16="http://schemas.microsoft.com/office/drawing/2014/main" id="{F283D512-3BCE-77E7-74C9-74C027A80549}"/>
              </a:ext>
            </a:extLst>
          </p:cNvPr>
          <p:cNvSpPr/>
          <p:nvPr/>
        </p:nvSpPr>
        <p:spPr>
          <a:xfrm>
            <a:off x="1979612" y="2895600"/>
            <a:ext cx="9144000" cy="2971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0" dirty="0">
                <a:solidFill>
                  <a:srgbClr val="A0A0FF"/>
                </a:solidFill>
                <a:effectLst/>
                <a:latin typeface="Consolas" panose="020B0609020204030204" pitchFamily="49" charset="0"/>
              </a:rPr>
              <a:t>class</a:t>
            </a:r>
            <a:r>
              <a:rPr lang="en-US" sz="1600" b="0" dirty="0">
                <a:solidFill>
                  <a:srgbClr val="DADADA"/>
                </a:solidFill>
                <a:effectLst/>
                <a:latin typeface="Consolas" panose="020B0609020204030204" pitchFamily="49" charset="0"/>
              </a:rPr>
              <a:t> </a:t>
            </a:r>
            <a:r>
              <a:rPr lang="en-US" sz="1600" b="1" i="1" dirty="0">
                <a:solidFill>
                  <a:srgbClr val="C0C0C0"/>
                </a:solidFill>
                <a:effectLst/>
                <a:latin typeface="Consolas" panose="020B0609020204030204" pitchFamily="49" charset="0"/>
              </a:rPr>
              <a:t>&lt;</a:t>
            </a:r>
            <a:r>
              <a:rPr lang="en-US" sz="1600" b="1" i="1" dirty="0">
                <a:solidFill>
                  <a:srgbClr val="DADADA"/>
                </a:solidFill>
                <a:effectLst/>
                <a:latin typeface="Consolas" panose="020B0609020204030204" pitchFamily="49" charset="0"/>
              </a:rPr>
              <a:t>Name</a:t>
            </a:r>
            <a:r>
              <a:rPr lang="en-US" sz="1600" b="1" i="1" dirty="0">
                <a:solidFill>
                  <a:srgbClr val="C0C0C0"/>
                </a:solidFill>
                <a:effectLst/>
                <a:latin typeface="Consolas" panose="020B0609020204030204" pitchFamily="49" charset="0"/>
              </a:rPr>
              <a:t>&gt;</a:t>
            </a:r>
            <a:r>
              <a:rPr lang="en-US" sz="1600" b="0" dirty="0">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utils</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data</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Dataset</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A0A0FF"/>
                </a:solidFill>
                <a:effectLst/>
                <a:latin typeface="Consolas" panose="020B0609020204030204" pitchFamily="49" charset="0"/>
              </a:rPr>
              <a:t>def</a:t>
            </a:r>
            <a:r>
              <a:rPr lang="en-US" sz="1600" b="0" dirty="0">
                <a:solidFill>
                  <a:srgbClr val="DADADA"/>
                </a:solidFill>
                <a:effectLst/>
                <a:latin typeface="Consolas" panose="020B0609020204030204" pitchFamily="49" charset="0"/>
              </a:rPr>
              <a:t> </a:t>
            </a:r>
            <a:r>
              <a:rPr lang="en-US" sz="1600" b="0" dirty="0">
                <a:solidFill>
                  <a:srgbClr val="A7A774"/>
                </a:solidFill>
                <a:effectLst/>
                <a:latin typeface="Consolas" panose="020B0609020204030204" pitchFamily="49" charset="0"/>
              </a:rPr>
              <a:t>__</a:t>
            </a:r>
            <a:r>
              <a:rPr lang="en-US" sz="1600" b="0" dirty="0" err="1">
                <a:solidFill>
                  <a:srgbClr val="A7A774"/>
                </a:solidFill>
                <a:effectLst/>
                <a:latin typeface="Consolas" panose="020B0609020204030204" pitchFamily="49" charset="0"/>
              </a:rPr>
              <a:t>init</a:t>
            </a:r>
            <a:r>
              <a:rPr lang="en-US" sz="1600" b="0" dirty="0">
                <a:solidFill>
                  <a:srgbClr val="A7A774"/>
                </a:solidFill>
                <a:effectLst/>
                <a:latin typeface="Consolas" panose="020B0609020204030204" pitchFamily="49" charset="0"/>
              </a:rPr>
              <a:t>__</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self</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606060"/>
                </a:solidFill>
                <a:effectLst/>
                <a:latin typeface="Consolas" panose="020B0609020204030204" pitchFamily="49" charset="0"/>
              </a:rPr>
              <a:t># instantiate the data set based on parameters</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p>
          <a:p>
            <a:r>
              <a:rPr lang="en-US" sz="1600" b="0" dirty="0">
                <a:solidFill>
                  <a:srgbClr val="DADADA"/>
                </a:solidFill>
                <a:effectLst/>
                <a:latin typeface="Consolas" panose="020B0609020204030204" pitchFamily="49" charset="0"/>
              </a:rPr>
              <a:t>    </a:t>
            </a:r>
            <a:r>
              <a:rPr lang="en-US" sz="1600" b="0" dirty="0">
                <a:solidFill>
                  <a:srgbClr val="A0A0FF"/>
                </a:solidFill>
                <a:effectLst/>
                <a:latin typeface="Consolas" panose="020B0609020204030204" pitchFamily="49" charset="0"/>
              </a:rPr>
              <a:t>def</a:t>
            </a:r>
            <a:r>
              <a:rPr lang="en-US" sz="1600" b="0" dirty="0">
                <a:solidFill>
                  <a:srgbClr val="DADADA"/>
                </a:solidFill>
                <a:effectLst/>
                <a:latin typeface="Consolas" panose="020B0609020204030204" pitchFamily="49" charset="0"/>
              </a:rPr>
              <a:t> </a:t>
            </a:r>
            <a:r>
              <a:rPr lang="en-US" sz="1600" b="0" dirty="0">
                <a:solidFill>
                  <a:srgbClr val="A7A774"/>
                </a:solidFill>
                <a:effectLst/>
                <a:latin typeface="Consolas" panose="020B0609020204030204" pitchFamily="49" charset="0"/>
              </a:rPr>
              <a:t>__</a:t>
            </a:r>
            <a:r>
              <a:rPr lang="en-US" sz="1600" b="0" dirty="0" err="1">
                <a:solidFill>
                  <a:srgbClr val="A7A774"/>
                </a:solidFill>
                <a:effectLst/>
                <a:latin typeface="Consolas" panose="020B0609020204030204" pitchFamily="49" charset="0"/>
              </a:rPr>
              <a:t>len</a:t>
            </a:r>
            <a:r>
              <a:rPr lang="en-US" sz="1600" b="0" dirty="0">
                <a:solidFill>
                  <a:srgbClr val="A7A774"/>
                </a:solidFill>
                <a:effectLst/>
                <a:latin typeface="Consolas" panose="020B0609020204030204" pitchFamily="49" charset="0"/>
              </a:rPr>
              <a:t>__</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self</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B56AA6"/>
                </a:solidFill>
                <a:effectLst/>
                <a:latin typeface="Consolas" panose="020B0609020204030204" pitchFamily="49" charset="0"/>
              </a:rPr>
              <a:t>return</a:t>
            </a:r>
            <a:r>
              <a:rPr lang="en-US" sz="1600" b="0" dirty="0">
                <a:solidFill>
                  <a:srgbClr val="DADADA"/>
                </a:solidFill>
                <a:effectLst/>
                <a:latin typeface="Consolas" panose="020B0609020204030204" pitchFamily="49" charset="0"/>
              </a:rPr>
              <a:t> </a:t>
            </a:r>
            <a:r>
              <a:rPr lang="en-US" sz="1600" b="0" dirty="0">
                <a:solidFill>
                  <a:srgbClr val="E0EBB2"/>
                </a:solidFill>
                <a:effectLst/>
                <a:latin typeface="Consolas" panose="020B0609020204030204" pitchFamily="49" charset="0"/>
              </a:rPr>
              <a:t>0</a:t>
            </a:r>
            <a:r>
              <a:rPr lang="en-US" sz="1600" b="0" dirty="0">
                <a:solidFill>
                  <a:srgbClr val="DADADA"/>
                </a:solidFill>
                <a:effectLst/>
                <a:latin typeface="Consolas" panose="020B0609020204030204" pitchFamily="49" charset="0"/>
              </a:rPr>
              <a:t> </a:t>
            </a:r>
            <a:r>
              <a:rPr lang="en-US" sz="1600" b="0" dirty="0">
                <a:solidFill>
                  <a:srgbClr val="606060"/>
                </a:solidFill>
                <a:effectLst/>
                <a:latin typeface="Consolas" panose="020B0609020204030204" pitchFamily="49" charset="0"/>
              </a:rPr>
              <a:t># returns the number of records from the dataset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p>
          <a:p>
            <a:r>
              <a:rPr lang="en-US" sz="1600" b="0" dirty="0">
                <a:solidFill>
                  <a:srgbClr val="DADADA"/>
                </a:solidFill>
                <a:effectLst/>
                <a:latin typeface="Consolas" panose="020B0609020204030204" pitchFamily="49" charset="0"/>
              </a:rPr>
              <a:t>    </a:t>
            </a:r>
            <a:r>
              <a:rPr lang="en-US" sz="1600" b="0" dirty="0">
                <a:solidFill>
                  <a:srgbClr val="A0A0FF"/>
                </a:solidFill>
                <a:effectLst/>
                <a:latin typeface="Consolas" panose="020B0609020204030204" pitchFamily="49" charset="0"/>
              </a:rPr>
              <a:t>def</a:t>
            </a:r>
            <a:r>
              <a:rPr lang="en-US" sz="1600" b="0" dirty="0">
                <a:solidFill>
                  <a:srgbClr val="DADADA"/>
                </a:solidFill>
                <a:effectLst/>
                <a:latin typeface="Consolas" panose="020B0609020204030204" pitchFamily="49" charset="0"/>
              </a:rPr>
              <a:t> </a:t>
            </a:r>
            <a:r>
              <a:rPr lang="en-US" sz="1600" b="0" dirty="0">
                <a:solidFill>
                  <a:srgbClr val="A7A774"/>
                </a:solidFill>
                <a:effectLst/>
                <a:latin typeface="Consolas" panose="020B0609020204030204" pitchFamily="49" charset="0"/>
              </a:rPr>
              <a:t>__</a:t>
            </a:r>
            <a:r>
              <a:rPr lang="en-US" sz="1600" b="0" dirty="0" err="1">
                <a:solidFill>
                  <a:srgbClr val="A7A774"/>
                </a:solidFill>
                <a:effectLst/>
                <a:latin typeface="Consolas" panose="020B0609020204030204" pitchFamily="49" charset="0"/>
              </a:rPr>
              <a:t>getitem</a:t>
            </a:r>
            <a:r>
              <a:rPr lang="en-US" sz="1600" b="0" dirty="0">
                <a:solidFill>
                  <a:srgbClr val="A7A774"/>
                </a:solidFill>
                <a:effectLst/>
                <a:latin typeface="Consolas" panose="020B0609020204030204" pitchFamily="49" charset="0"/>
              </a:rPr>
              <a:t>__</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self</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idx</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606060"/>
                </a:solidFill>
                <a:effectLst/>
                <a:latin typeface="Consolas" panose="020B0609020204030204" pitchFamily="49" charset="0"/>
              </a:rPr>
              <a:t># do some processing if needed</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606060"/>
                </a:solidFill>
                <a:effectLst/>
                <a:latin typeface="Consolas" panose="020B0609020204030204" pitchFamily="49" charset="0"/>
              </a:rPr>
              <a:t># return the sample with index '</a:t>
            </a:r>
            <a:r>
              <a:rPr lang="en-US" sz="1600" b="0" dirty="0" err="1">
                <a:solidFill>
                  <a:srgbClr val="606060"/>
                </a:solidFill>
                <a:effectLst/>
                <a:latin typeface="Consolas" panose="020B0609020204030204" pitchFamily="49" charset="0"/>
              </a:rPr>
              <a:t>idx</a:t>
            </a:r>
            <a:r>
              <a:rPr lang="en-US" sz="1600" b="0" dirty="0">
                <a:solidFill>
                  <a:srgbClr val="606060"/>
                </a:solidFill>
                <a:effectLst/>
                <a:latin typeface="Consolas" panose="020B0609020204030204" pitchFamily="49" charset="0"/>
              </a:rPr>
              <a:t>' and its label</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B56AA6"/>
                </a:solidFill>
                <a:effectLst/>
                <a:latin typeface="Consolas" panose="020B0609020204030204" pitchFamily="49" charset="0"/>
              </a:rPr>
              <a:t>return</a:t>
            </a:r>
            <a:r>
              <a:rPr lang="en-US" sz="1600" b="0" dirty="0">
                <a:solidFill>
                  <a:srgbClr val="DADADA"/>
                </a:solidFill>
                <a:effectLst/>
                <a:latin typeface="Consolas" panose="020B0609020204030204" pitchFamily="49" charset="0"/>
              </a:rPr>
              <a:t> </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sample</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label</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endParaRPr lang="en-US" sz="1600" b="0" dirty="0">
              <a:solidFill>
                <a:schemeClr val="tx2">
                  <a:lumMod val="75000"/>
                  <a:lumOff val="25000"/>
                </a:schemeClr>
              </a:solidFill>
              <a:effectLst/>
              <a:latin typeface="Consolas" panose="020B0609020204030204" pitchFamily="49" charset="0"/>
            </a:endParaRPr>
          </a:p>
        </p:txBody>
      </p:sp>
    </p:spTree>
    <p:extLst>
      <p:ext uri="{BB962C8B-B14F-4D97-AF65-F5344CB8AC3E}">
        <p14:creationId xmlns:p14="http://schemas.microsoft.com/office/powerpoint/2010/main" val="3649663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Datasets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660211" y="1401762"/>
            <a:ext cx="9782801" cy="5181600"/>
          </a:xfrm>
        </p:spPr>
        <p:txBody>
          <a:bodyPr>
            <a:normAutofit/>
          </a:bodyPr>
          <a:lstStyle/>
          <a:p>
            <a:r>
              <a:rPr lang="en-US" dirty="0"/>
              <a:t>Let’s see an example:</a:t>
            </a:r>
          </a:p>
          <a:p>
            <a:pPr marL="0" indent="0">
              <a:buNone/>
            </a:pPr>
            <a:endParaRPr lang="en-US" dirty="0"/>
          </a:p>
          <a:p>
            <a:endParaRPr lang="en-US" dirty="0"/>
          </a:p>
          <a:p>
            <a:pPr lvl="1"/>
            <a:endParaRPr lang="en-US" dirty="0"/>
          </a:p>
          <a:p>
            <a:pPr marL="365760" lvl="1" indent="0">
              <a:buNone/>
            </a:pPr>
            <a:endParaRPr lang="en-US" dirty="0"/>
          </a:p>
          <a:p>
            <a:pPr marL="365760" lvl="1" indent="0">
              <a:buNone/>
            </a:pPr>
            <a:endParaRPr lang="en-US" dirty="0"/>
          </a:p>
        </p:txBody>
      </p:sp>
      <p:sp>
        <p:nvSpPr>
          <p:cNvPr id="3" name="Rectangle 2">
            <a:extLst>
              <a:ext uri="{FF2B5EF4-FFF2-40B4-BE49-F238E27FC236}">
                <a16:creationId xmlns:a16="http://schemas.microsoft.com/office/drawing/2014/main" id="{F283D512-3BCE-77E7-74C9-74C027A80549}"/>
              </a:ext>
            </a:extLst>
          </p:cNvPr>
          <p:cNvSpPr/>
          <p:nvPr/>
        </p:nvSpPr>
        <p:spPr>
          <a:xfrm>
            <a:off x="1979612" y="2133600"/>
            <a:ext cx="9144000" cy="4419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0" dirty="0">
                <a:solidFill>
                  <a:srgbClr val="B56AA6"/>
                </a:solidFill>
                <a:effectLst/>
                <a:latin typeface="Consolas" panose="020B0609020204030204" pitchFamily="49" charset="0"/>
              </a:rPr>
              <a:t>import</a:t>
            </a:r>
            <a:r>
              <a:rPr lang="en-US" sz="1600" b="0" dirty="0">
                <a:solidFill>
                  <a:srgbClr val="DADADA"/>
                </a:solidFill>
                <a:effectLst/>
                <a:latin typeface="Consolas" panose="020B0609020204030204" pitchFamily="49" charset="0"/>
              </a:rPr>
              <a:t> </a:t>
            </a:r>
            <a:r>
              <a:rPr lang="en-US" sz="1600" b="0" dirty="0">
                <a:solidFill>
                  <a:srgbClr val="C8C8C8"/>
                </a:solidFill>
                <a:effectLst/>
                <a:latin typeface="Consolas" panose="020B0609020204030204" pitchFamily="49" charset="0"/>
              </a:rPr>
              <a:t>torch</a:t>
            </a:r>
            <a:endParaRPr lang="en-US" sz="1600" b="0" dirty="0">
              <a:solidFill>
                <a:srgbClr val="DADADA"/>
              </a:solidFill>
              <a:effectLst/>
              <a:latin typeface="Consolas" panose="020B0609020204030204" pitchFamily="49" charset="0"/>
            </a:endParaRPr>
          </a:p>
          <a:p>
            <a:br>
              <a:rPr lang="en-US" sz="1600" b="0" dirty="0">
                <a:solidFill>
                  <a:srgbClr val="DADADA"/>
                </a:solidFill>
                <a:effectLst/>
                <a:latin typeface="Consolas" panose="020B0609020204030204" pitchFamily="49" charset="0"/>
              </a:rPr>
            </a:br>
            <a:r>
              <a:rPr lang="en-US" sz="1600" b="0" dirty="0">
                <a:solidFill>
                  <a:srgbClr val="A0A0FF"/>
                </a:solidFill>
                <a:effectLst/>
                <a:latin typeface="Consolas" panose="020B0609020204030204" pitchFamily="49" charset="0"/>
              </a:rPr>
              <a:t>class</a:t>
            </a:r>
            <a:r>
              <a:rPr lang="en-US" sz="1600" b="0" dirty="0">
                <a:solidFill>
                  <a:srgbClr val="DADADA"/>
                </a:solidFill>
                <a:effectLst/>
                <a:latin typeface="Consolas" panose="020B0609020204030204" pitchFamily="49" charset="0"/>
              </a:rPr>
              <a:t> </a:t>
            </a:r>
            <a:r>
              <a:rPr lang="en-US" sz="1600" b="0" dirty="0">
                <a:solidFill>
                  <a:srgbClr val="5DA963"/>
                </a:solidFill>
                <a:effectLst/>
                <a:latin typeface="Consolas" panose="020B0609020204030204" pitchFamily="49" charset="0"/>
              </a:rPr>
              <a:t>First100Numbers</a:t>
            </a:r>
            <a:r>
              <a:rPr lang="en-US" sz="1600" b="0" dirty="0">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4EC9B0"/>
                </a:solidFill>
                <a:effectLst/>
                <a:latin typeface="Consolas" panose="020B0609020204030204" pitchFamily="49" charset="0"/>
              </a:rPr>
              <a:t>utils</a:t>
            </a:r>
            <a:r>
              <a:rPr lang="en-US" sz="1600" b="0" dirty="0" err="1">
                <a:solidFill>
                  <a:srgbClr val="B4B4B4"/>
                </a:solidFill>
                <a:effectLst/>
                <a:latin typeface="Consolas" panose="020B0609020204030204" pitchFamily="49" charset="0"/>
              </a:rPr>
              <a:t>.</a:t>
            </a:r>
            <a:r>
              <a:rPr lang="en-US" sz="1600" b="0" dirty="0" err="1">
                <a:solidFill>
                  <a:srgbClr val="4EC9B0"/>
                </a:solidFill>
                <a:effectLst/>
                <a:latin typeface="Consolas" panose="020B0609020204030204" pitchFamily="49" charset="0"/>
              </a:rPr>
              <a:t>data</a:t>
            </a:r>
            <a:r>
              <a:rPr lang="en-US" sz="1600" b="0" dirty="0" err="1">
                <a:solidFill>
                  <a:srgbClr val="B4B4B4"/>
                </a:solidFill>
                <a:effectLst/>
                <a:latin typeface="Consolas" panose="020B0609020204030204" pitchFamily="49" charset="0"/>
              </a:rPr>
              <a:t>.</a:t>
            </a:r>
            <a:r>
              <a:rPr lang="en-US" sz="1600" b="0" dirty="0" err="1">
                <a:solidFill>
                  <a:srgbClr val="4EC9B0"/>
                </a:solidFill>
                <a:effectLst/>
                <a:latin typeface="Consolas" panose="020B0609020204030204" pitchFamily="49" charset="0"/>
              </a:rPr>
              <a:t>Dataset</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A0A0FF"/>
                </a:solidFill>
                <a:effectLst/>
                <a:latin typeface="Consolas" panose="020B0609020204030204" pitchFamily="49" charset="0"/>
              </a:rPr>
              <a:t>def</a:t>
            </a:r>
            <a:r>
              <a:rPr lang="en-US" sz="1600" b="0" dirty="0">
                <a:solidFill>
                  <a:srgbClr val="DADADA"/>
                </a:solidFill>
                <a:effectLst/>
                <a:latin typeface="Consolas" panose="020B0609020204030204" pitchFamily="49" charset="0"/>
              </a:rPr>
              <a:t> </a:t>
            </a:r>
            <a:r>
              <a:rPr lang="en-US" sz="1600" b="0" dirty="0">
                <a:solidFill>
                  <a:srgbClr val="A7A774"/>
                </a:solidFill>
                <a:effectLst/>
                <a:latin typeface="Consolas" panose="020B0609020204030204" pitchFamily="49" charset="0"/>
              </a:rPr>
              <a:t>__</a:t>
            </a:r>
            <a:r>
              <a:rPr lang="en-US" sz="1600" b="0" dirty="0" err="1">
                <a:solidFill>
                  <a:srgbClr val="A7A774"/>
                </a:solidFill>
                <a:effectLst/>
                <a:latin typeface="Consolas" panose="020B0609020204030204" pitchFamily="49" charset="0"/>
              </a:rPr>
              <a:t>init</a:t>
            </a:r>
            <a:r>
              <a:rPr lang="en-US" sz="1600" b="0" dirty="0">
                <a:solidFill>
                  <a:srgbClr val="A7A774"/>
                </a:solidFill>
                <a:effectLst/>
                <a:latin typeface="Consolas" panose="020B0609020204030204" pitchFamily="49" charset="0"/>
              </a:rPr>
              <a:t>__</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self</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list</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i</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i</a:t>
            </a:r>
            <a:r>
              <a:rPr lang="en-US" sz="1600" b="0" dirty="0">
                <a:solidFill>
                  <a:srgbClr val="C0C0C0"/>
                </a:solidFill>
                <a:effectLst/>
                <a:latin typeface="Consolas" panose="020B0609020204030204" pitchFamily="49" charset="0"/>
              </a:rPr>
              <a:t>%</a:t>
            </a:r>
            <a:r>
              <a:rPr lang="en-US" sz="1600" b="0" dirty="0">
                <a:solidFill>
                  <a:srgbClr val="E0EBB2"/>
                </a:solidFill>
                <a:effectLst/>
                <a:latin typeface="Consolas" panose="020B0609020204030204" pitchFamily="49" charset="0"/>
              </a:rPr>
              <a:t>2</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B56AA6"/>
                </a:solidFill>
                <a:effectLst/>
                <a:latin typeface="Consolas" panose="020B0609020204030204" pitchFamily="49" charset="0"/>
              </a:rPr>
              <a:t>for</a:t>
            </a:r>
            <a:r>
              <a:rPr lang="en-US" sz="1600" b="0" dirty="0">
                <a:solidFill>
                  <a:srgbClr val="DADADA"/>
                </a:solidFill>
                <a:effectLst/>
                <a:latin typeface="Consolas" panose="020B0609020204030204" pitchFamily="49" charset="0"/>
              </a:rPr>
              <a:t> </a:t>
            </a:r>
            <a:r>
              <a:rPr lang="en-US" sz="1600" b="0" dirty="0" err="1">
                <a:solidFill>
                  <a:srgbClr val="229977"/>
                </a:solidFill>
                <a:effectLst/>
                <a:latin typeface="Consolas" panose="020B0609020204030204" pitchFamily="49" charset="0"/>
              </a:rPr>
              <a:t>i</a:t>
            </a:r>
            <a:r>
              <a:rPr lang="en-US" sz="1600" b="0" dirty="0">
                <a:solidFill>
                  <a:srgbClr val="DADADA"/>
                </a:solidFill>
                <a:effectLst/>
                <a:latin typeface="Consolas" panose="020B0609020204030204" pitchFamily="49" charset="0"/>
              </a:rPr>
              <a:t> </a:t>
            </a:r>
            <a:r>
              <a:rPr lang="en-US" sz="1600" b="0" dirty="0">
                <a:solidFill>
                  <a:srgbClr val="B56AA6"/>
                </a:solidFill>
                <a:effectLst/>
                <a:latin typeface="Consolas" panose="020B0609020204030204" pitchFamily="49" charset="0"/>
              </a:rPr>
              <a:t>in</a:t>
            </a:r>
            <a:r>
              <a:rPr lang="en-US" sz="1600" b="0" dirty="0">
                <a:solidFill>
                  <a:srgbClr val="DADADA"/>
                </a:solidFill>
                <a:effectLst/>
                <a:latin typeface="Consolas" panose="020B0609020204030204" pitchFamily="49" charset="0"/>
              </a:rPr>
              <a:t> </a:t>
            </a:r>
            <a:r>
              <a:rPr lang="en-US" sz="1600" b="0" dirty="0">
                <a:solidFill>
                  <a:srgbClr val="5DA963"/>
                </a:solidFill>
                <a:effectLst/>
                <a:latin typeface="Consolas" panose="020B0609020204030204" pitchFamily="49" charset="0"/>
              </a:rPr>
              <a:t>range</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1</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101</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p>
          <a:p>
            <a:r>
              <a:rPr lang="en-US" sz="1600" b="0" dirty="0">
                <a:solidFill>
                  <a:srgbClr val="DADADA"/>
                </a:solidFill>
                <a:effectLst/>
                <a:latin typeface="Consolas" panose="020B0609020204030204" pitchFamily="49" charset="0"/>
              </a:rPr>
              <a:t>    </a:t>
            </a:r>
          </a:p>
          <a:p>
            <a:r>
              <a:rPr lang="en-US" sz="1600" b="0" dirty="0">
                <a:solidFill>
                  <a:srgbClr val="DADADA"/>
                </a:solidFill>
                <a:effectLst/>
                <a:latin typeface="Consolas" panose="020B0609020204030204" pitchFamily="49" charset="0"/>
              </a:rPr>
              <a:t>    </a:t>
            </a:r>
            <a:r>
              <a:rPr lang="en-US" sz="1600" b="0" dirty="0">
                <a:solidFill>
                  <a:srgbClr val="A0A0FF"/>
                </a:solidFill>
                <a:effectLst/>
                <a:latin typeface="Consolas" panose="020B0609020204030204" pitchFamily="49" charset="0"/>
              </a:rPr>
              <a:t>def</a:t>
            </a:r>
            <a:r>
              <a:rPr lang="en-US" sz="1600" b="0" dirty="0">
                <a:solidFill>
                  <a:srgbClr val="DADADA"/>
                </a:solidFill>
                <a:effectLst/>
                <a:latin typeface="Consolas" panose="020B0609020204030204" pitchFamily="49" charset="0"/>
              </a:rPr>
              <a:t> </a:t>
            </a:r>
            <a:r>
              <a:rPr lang="en-US" sz="1600" b="0" dirty="0">
                <a:solidFill>
                  <a:srgbClr val="A7A774"/>
                </a:solidFill>
                <a:effectLst/>
                <a:latin typeface="Consolas" panose="020B0609020204030204" pitchFamily="49" charset="0"/>
              </a:rPr>
              <a:t>__</a:t>
            </a:r>
            <a:r>
              <a:rPr lang="en-US" sz="1600" b="0" dirty="0" err="1">
                <a:solidFill>
                  <a:srgbClr val="A7A774"/>
                </a:solidFill>
                <a:effectLst/>
                <a:latin typeface="Consolas" panose="020B0609020204030204" pitchFamily="49" charset="0"/>
              </a:rPr>
              <a:t>len</a:t>
            </a:r>
            <a:r>
              <a:rPr lang="en-US" sz="1600" b="0" dirty="0">
                <a:solidFill>
                  <a:srgbClr val="A7A774"/>
                </a:solidFill>
                <a:effectLst/>
                <a:latin typeface="Consolas" panose="020B0609020204030204" pitchFamily="49" charset="0"/>
              </a:rPr>
              <a:t>__</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self</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B56AA6"/>
                </a:solidFill>
                <a:effectLst/>
                <a:latin typeface="Consolas" panose="020B0609020204030204" pitchFamily="49" charset="0"/>
              </a:rPr>
              <a:t>return</a:t>
            </a:r>
            <a:r>
              <a:rPr lang="en-US" sz="1600" b="0" dirty="0">
                <a:solidFill>
                  <a:srgbClr val="DADADA"/>
                </a:solidFill>
                <a:effectLst/>
                <a:latin typeface="Consolas" panose="020B0609020204030204" pitchFamily="49" charset="0"/>
              </a:rPr>
              <a:t> </a:t>
            </a:r>
            <a:r>
              <a:rPr lang="en-US" sz="1600" b="0" dirty="0" err="1">
                <a:solidFill>
                  <a:srgbClr val="A7A774"/>
                </a:solidFill>
                <a:effectLst/>
                <a:latin typeface="Consolas" panose="020B0609020204030204" pitchFamily="49" charset="0"/>
              </a:rPr>
              <a:t>len</a:t>
            </a:r>
            <a:r>
              <a:rPr lang="en-US" sz="1600" b="0" dirty="0">
                <a:solidFill>
                  <a:srgbClr val="B4B4B4"/>
                </a:solidFill>
                <a:effectLst/>
                <a:latin typeface="Consolas" panose="020B0609020204030204" pitchFamily="49" charset="0"/>
              </a:rPr>
              <a:t>(</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list</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p>
          <a:p>
            <a:r>
              <a:rPr lang="en-US" sz="1600" b="0" dirty="0">
                <a:solidFill>
                  <a:srgbClr val="DADADA"/>
                </a:solidFill>
                <a:effectLst/>
                <a:latin typeface="Consolas" panose="020B0609020204030204" pitchFamily="49" charset="0"/>
              </a:rPr>
              <a:t>    </a:t>
            </a:r>
            <a:r>
              <a:rPr lang="en-US" sz="1600" b="0" dirty="0">
                <a:solidFill>
                  <a:srgbClr val="A0A0FF"/>
                </a:solidFill>
                <a:effectLst/>
                <a:latin typeface="Consolas" panose="020B0609020204030204" pitchFamily="49" charset="0"/>
              </a:rPr>
              <a:t>def</a:t>
            </a:r>
            <a:r>
              <a:rPr lang="en-US" sz="1600" b="0" dirty="0">
                <a:solidFill>
                  <a:srgbClr val="DADADA"/>
                </a:solidFill>
                <a:effectLst/>
                <a:latin typeface="Consolas" panose="020B0609020204030204" pitchFamily="49" charset="0"/>
              </a:rPr>
              <a:t> </a:t>
            </a:r>
            <a:r>
              <a:rPr lang="en-US" sz="1600" b="0" dirty="0">
                <a:solidFill>
                  <a:srgbClr val="A7A774"/>
                </a:solidFill>
                <a:effectLst/>
                <a:latin typeface="Consolas" panose="020B0609020204030204" pitchFamily="49" charset="0"/>
              </a:rPr>
              <a:t>__</a:t>
            </a:r>
            <a:r>
              <a:rPr lang="en-US" sz="1600" b="0" dirty="0" err="1">
                <a:solidFill>
                  <a:srgbClr val="A7A774"/>
                </a:solidFill>
                <a:effectLst/>
                <a:latin typeface="Consolas" panose="020B0609020204030204" pitchFamily="49" charset="0"/>
              </a:rPr>
              <a:t>getitem</a:t>
            </a:r>
            <a:r>
              <a:rPr lang="en-US" sz="1600" b="0" dirty="0">
                <a:solidFill>
                  <a:srgbClr val="A7A774"/>
                </a:solidFill>
                <a:effectLst/>
                <a:latin typeface="Consolas" panose="020B0609020204030204" pitchFamily="49" charset="0"/>
              </a:rPr>
              <a:t>__</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self</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idx</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B56AA6"/>
                </a:solidFill>
                <a:effectLst/>
                <a:latin typeface="Consolas" panose="020B0609020204030204" pitchFamily="49" charset="0"/>
              </a:rPr>
              <a:t>return</a:t>
            </a:r>
            <a:r>
              <a:rPr lang="en-US" sz="1600" b="0" dirty="0">
                <a:solidFill>
                  <a:srgbClr val="DADADA"/>
                </a:solidFill>
                <a:effectLst/>
                <a:latin typeface="Consolas" panose="020B0609020204030204" pitchFamily="49" charset="0"/>
              </a:rPr>
              <a:t> </a:t>
            </a:r>
            <a:r>
              <a:rPr lang="en-US" sz="1600" b="0" dirty="0">
                <a:solidFill>
                  <a:srgbClr val="B4B4B4"/>
                </a:solidFill>
                <a:effectLst/>
                <a:latin typeface="Consolas" panose="020B0609020204030204" pitchFamily="49" charset="0"/>
              </a:rPr>
              <a:t>(</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list</a:t>
            </a:r>
            <a:r>
              <a:rPr lang="en-US" sz="1600" b="0" dirty="0">
                <a:solidFill>
                  <a:srgbClr val="B4B4B4"/>
                </a:solidFill>
                <a:effectLst/>
                <a:latin typeface="Consolas" panose="020B0609020204030204" pitchFamily="49" charset="0"/>
              </a:rPr>
              <a:t>[</a:t>
            </a:r>
            <a:r>
              <a:rPr lang="en-US" sz="1600" b="0" dirty="0" err="1">
                <a:solidFill>
                  <a:srgbClr val="9A9A9A"/>
                </a:solidFill>
                <a:effectLst/>
                <a:latin typeface="Consolas" panose="020B0609020204030204" pitchFamily="49" charset="0"/>
              </a:rPr>
              <a:t>idx</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0</a:t>
            </a:r>
            <a:r>
              <a:rPr lang="en-US" sz="1600" b="0" dirty="0">
                <a:solidFill>
                  <a:srgbClr val="B4B4B4"/>
                </a:solidFill>
                <a:effectLst/>
                <a:latin typeface="Consolas" panose="020B0609020204030204" pitchFamily="49" charset="0"/>
              </a:rPr>
              <a:t>],</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list</a:t>
            </a:r>
            <a:r>
              <a:rPr lang="en-US" sz="1600" b="0" dirty="0">
                <a:solidFill>
                  <a:srgbClr val="B4B4B4"/>
                </a:solidFill>
                <a:effectLst/>
                <a:latin typeface="Consolas" panose="020B0609020204030204" pitchFamily="49" charset="0"/>
              </a:rPr>
              <a:t>[</a:t>
            </a:r>
            <a:r>
              <a:rPr lang="en-US" sz="1600" b="0" dirty="0" err="1">
                <a:solidFill>
                  <a:srgbClr val="9A9A9A"/>
                </a:solidFill>
                <a:effectLst/>
                <a:latin typeface="Consolas" panose="020B0609020204030204" pitchFamily="49" charset="0"/>
              </a:rPr>
              <a:t>idx</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1</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br>
              <a:rPr lang="en-US" sz="1600" b="0" dirty="0">
                <a:solidFill>
                  <a:srgbClr val="DADADA"/>
                </a:solidFill>
                <a:effectLst/>
                <a:latin typeface="Consolas" panose="020B0609020204030204" pitchFamily="49" charset="0"/>
              </a:rPr>
            </a:br>
            <a:br>
              <a:rPr lang="en-US" sz="1600" b="0" dirty="0">
                <a:solidFill>
                  <a:srgbClr val="DADADA"/>
                </a:solidFill>
                <a:effectLst/>
                <a:latin typeface="Consolas" panose="020B0609020204030204" pitchFamily="49" charset="0"/>
              </a:rPr>
            </a:br>
            <a:r>
              <a:rPr lang="en-US" sz="1600" b="0" dirty="0">
                <a:solidFill>
                  <a:srgbClr val="229977"/>
                </a:solidFill>
                <a:effectLst/>
                <a:latin typeface="Consolas" panose="020B0609020204030204" pitchFamily="49" charset="0"/>
              </a:rPr>
              <a:t>d</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5DA963"/>
                </a:solidFill>
                <a:effectLst/>
                <a:latin typeface="Consolas" panose="020B0609020204030204" pitchFamily="49" charset="0"/>
              </a:rPr>
              <a:t>First100Numbers</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A7A774"/>
                </a:solidFill>
                <a:effectLst/>
                <a:latin typeface="Consolas" panose="020B0609020204030204" pitchFamily="49" charset="0"/>
              </a:rPr>
              <a:t>print</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d</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2</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A7A774"/>
                </a:solidFill>
                <a:effectLst/>
                <a:latin typeface="Consolas" panose="020B0609020204030204" pitchFamily="49" charset="0"/>
              </a:rPr>
              <a:t>print</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d</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5</a:t>
            </a:r>
            <a:r>
              <a:rPr lang="en-US" sz="1600" b="0" dirty="0">
                <a:solidFill>
                  <a:srgbClr val="B4B4B4"/>
                </a:solidFill>
                <a:effectLst/>
                <a:latin typeface="Consolas" panose="020B0609020204030204" pitchFamily="49" charset="0"/>
              </a:rPr>
              <a:t>])</a:t>
            </a:r>
            <a:r>
              <a:rPr lang="en-US" sz="1600" b="0" dirty="0">
                <a:solidFill>
                  <a:srgbClr val="F44747"/>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A7A774"/>
                </a:solidFill>
                <a:effectLst/>
                <a:latin typeface="Consolas" panose="020B0609020204030204" pitchFamily="49" charset="0"/>
              </a:rPr>
              <a:t>print</a:t>
            </a:r>
            <a:r>
              <a:rPr lang="en-US" sz="1600" b="0" dirty="0">
                <a:solidFill>
                  <a:srgbClr val="B4B4B4"/>
                </a:solidFill>
                <a:effectLst/>
                <a:latin typeface="Consolas" panose="020B0609020204030204" pitchFamily="49" charset="0"/>
              </a:rPr>
              <a:t>(</a:t>
            </a:r>
            <a:r>
              <a:rPr lang="en-US" sz="1600" b="0" dirty="0" err="1">
                <a:solidFill>
                  <a:srgbClr val="A7A774"/>
                </a:solidFill>
                <a:effectLst/>
                <a:latin typeface="Consolas" panose="020B0609020204030204" pitchFamily="49" charset="0"/>
              </a:rPr>
              <a:t>len</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d</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p:txBody>
      </p:sp>
      <p:graphicFrame>
        <p:nvGraphicFramePr>
          <p:cNvPr id="5" name="Table 3">
            <a:extLst>
              <a:ext uri="{FF2B5EF4-FFF2-40B4-BE49-F238E27FC236}">
                <a16:creationId xmlns:a16="http://schemas.microsoft.com/office/drawing/2014/main" id="{CB5B3FF1-DBC6-1710-C644-C5A7B7E2A109}"/>
              </a:ext>
            </a:extLst>
          </p:cNvPr>
          <p:cNvGraphicFramePr>
            <a:graphicFrameLocks noGrp="1"/>
          </p:cNvGraphicFramePr>
          <p:nvPr/>
        </p:nvGraphicFramePr>
        <p:xfrm>
          <a:off x="9904412" y="2286000"/>
          <a:ext cx="1098063" cy="1010920"/>
        </p:xfrm>
        <a:graphic>
          <a:graphicData uri="http://schemas.openxmlformats.org/drawingml/2006/table">
            <a:tbl>
              <a:tblPr firstRow="1" bandRow="1">
                <a:tableStyleId>{073A0DAA-6AF3-43AB-8588-CEC1D06C72B9}</a:tableStyleId>
              </a:tblPr>
              <a:tblGrid>
                <a:gridCol w="1098063">
                  <a:extLst>
                    <a:ext uri="{9D8B030D-6E8A-4147-A177-3AD203B41FA5}">
                      <a16:colId xmlns:a16="http://schemas.microsoft.com/office/drawing/2014/main" val="3899577134"/>
                    </a:ext>
                  </a:extLst>
                </a:gridCol>
              </a:tblGrid>
              <a:tr h="370840">
                <a:tc>
                  <a:txBody>
                    <a:bodyPr/>
                    <a:lstStyle/>
                    <a:p>
                      <a:r>
                        <a:rPr lang="en-US" sz="1600" dirty="0"/>
                        <a:t>Output</a:t>
                      </a:r>
                    </a:p>
                  </a:txBody>
                  <a:tcPr/>
                </a:tc>
                <a:extLst>
                  <a:ext uri="{0D108BD9-81ED-4DB2-BD59-A6C34878D82A}">
                    <a16:rowId xmlns:a16="http://schemas.microsoft.com/office/drawing/2014/main" val="117988312"/>
                  </a:ext>
                </a:extLst>
              </a:tr>
              <a:tr h="370840">
                <a:tc>
                  <a:txBody>
                    <a:bodyPr/>
                    <a:lstStyle/>
                    <a:p>
                      <a:r>
                        <a:rPr lang="en-US" sz="1200" dirty="0">
                          <a:solidFill>
                            <a:schemeClr val="tx2"/>
                          </a:solidFill>
                          <a:latin typeface="Consolas" panose="020B0609020204030204" pitchFamily="49" charset="0"/>
                        </a:rPr>
                        <a:t>(3, 1)</a:t>
                      </a:r>
                    </a:p>
                    <a:p>
                      <a:r>
                        <a:rPr lang="en-US" sz="1200" dirty="0">
                          <a:solidFill>
                            <a:schemeClr val="tx2"/>
                          </a:solidFill>
                          <a:latin typeface="Consolas" panose="020B0609020204030204" pitchFamily="49" charset="0"/>
                        </a:rPr>
                        <a:t>(6, 0)</a:t>
                      </a:r>
                    </a:p>
                    <a:p>
                      <a:r>
                        <a:rPr lang="en-US" sz="1200" dirty="0">
                          <a:solidFill>
                            <a:schemeClr val="tx2"/>
                          </a:solidFill>
                          <a:latin typeface="Consolas" panose="020B0609020204030204" pitchFamily="49" charset="0"/>
                        </a:rPr>
                        <a:t>100</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652072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Datasets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181600"/>
          </a:xfrm>
        </p:spPr>
        <p:txBody>
          <a:bodyPr>
            <a:normAutofit/>
          </a:bodyPr>
          <a:lstStyle/>
          <a:p>
            <a:r>
              <a:rPr lang="en-US" dirty="0"/>
              <a:t>This method allows one to use 3</a:t>
            </a:r>
            <a:r>
              <a:rPr lang="en-US" baseline="30000" dirty="0"/>
              <a:t>rd</a:t>
            </a:r>
            <a:r>
              <a:rPr lang="en-US" dirty="0"/>
              <a:t> party libraries that can read different types of other datasets, such as:</a:t>
            </a:r>
          </a:p>
          <a:p>
            <a:pPr lvl="1"/>
            <a:r>
              <a:rPr lang="en-US" dirty="0"/>
              <a:t>A database (e.g., an SQL database)</a:t>
            </a:r>
          </a:p>
          <a:p>
            <a:pPr lvl="1"/>
            <a:r>
              <a:rPr lang="en-US" dirty="0"/>
              <a:t>A CSV/TSV file (e.g., with NumPy)</a:t>
            </a:r>
          </a:p>
          <a:p>
            <a:pPr lvl="1"/>
            <a:r>
              <a:rPr lang="en-US" dirty="0"/>
              <a:t>An XML file</a:t>
            </a:r>
          </a:p>
          <a:p>
            <a:pPr lvl="1"/>
            <a:r>
              <a:rPr lang="en-US" dirty="0"/>
              <a:t>A JSON file</a:t>
            </a:r>
          </a:p>
          <a:p>
            <a:pPr lvl="1"/>
            <a:r>
              <a:rPr lang="en-US" dirty="0"/>
              <a:t>A stream …</a:t>
            </a:r>
          </a:p>
          <a:p>
            <a:r>
              <a:rPr lang="en-US" dirty="0"/>
              <a:t>It also allows one to make some transformations on the data before it gets sent to the neuronal network (e.g., convert some strings into number, picture into pixels, </a:t>
            </a:r>
            <a:r>
              <a:rPr lang="en-US" dirty="0" err="1"/>
              <a:t>etc</a:t>
            </a:r>
            <a:r>
              <a:rPr lang="en-US" dirty="0"/>
              <a:t>)</a:t>
            </a:r>
          </a:p>
          <a:p>
            <a:endParaRPr lang="en-US" dirty="0"/>
          </a:p>
          <a:p>
            <a:pPr lvl="1"/>
            <a:endParaRPr lang="en-US" dirty="0"/>
          </a:p>
          <a:p>
            <a:pPr marL="365760" lvl="1" indent="0">
              <a:buNone/>
            </a:pPr>
            <a:endParaRPr lang="en-US" dirty="0"/>
          </a:p>
          <a:p>
            <a:pPr marL="365760" lvl="1" indent="0">
              <a:buNone/>
            </a:pPr>
            <a:endParaRPr lang="en-US" dirty="0"/>
          </a:p>
        </p:txBody>
      </p:sp>
    </p:spTree>
    <p:extLst>
      <p:ext uri="{BB962C8B-B14F-4D97-AF65-F5344CB8AC3E}">
        <p14:creationId xmlns:p14="http://schemas.microsoft.com/office/powerpoint/2010/main" val="3560813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Datasets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22414" y="1371600"/>
            <a:ext cx="9782801" cy="5486400"/>
          </a:xfrm>
        </p:spPr>
        <p:txBody>
          <a:bodyPr>
            <a:normAutofit fontScale="77500" lnSpcReduction="20000"/>
          </a:bodyPr>
          <a:lstStyle/>
          <a:p>
            <a:pPr marL="0" indent="0">
              <a:lnSpc>
                <a:spcPct val="120000"/>
              </a:lnSpc>
              <a:buNone/>
            </a:pPr>
            <a:r>
              <a:rPr lang="en-US" sz="3400" dirty="0" err="1"/>
              <a:t>Pytorch</a:t>
            </a:r>
            <a:r>
              <a:rPr lang="en-US" sz="3400" dirty="0"/>
              <a:t> also has a large set of predefined datasets that can be used to out of the box (</a:t>
            </a:r>
            <a:r>
              <a:rPr lang="en-US" b="1" dirty="0" err="1"/>
              <a:t>torchvision.datasets</a:t>
            </a:r>
            <a:r>
              <a:rPr lang="en-US" b="1" dirty="0"/>
              <a:t>.*</a:t>
            </a:r>
            <a:r>
              <a:rPr lang="en-US" dirty="0"/>
              <a:t>)</a:t>
            </a:r>
            <a:r>
              <a:rPr lang="en-US" sz="3400" dirty="0"/>
              <a:t>:</a:t>
            </a:r>
          </a:p>
          <a:p>
            <a:pPr lvl="1">
              <a:lnSpc>
                <a:spcPct val="120000"/>
              </a:lnSpc>
            </a:pPr>
            <a:r>
              <a:rPr lang="en-US" b="1" dirty="0">
                <a:latin typeface="Arial" panose="020B0604020202020204" pitchFamily="34" charset="0"/>
                <a:cs typeface="Arial" panose="020B0604020202020204" pitchFamily="34" charset="0"/>
              </a:rPr>
              <a:t>MNIST</a:t>
            </a:r>
            <a:r>
              <a:rPr lang="en-US" dirty="0">
                <a:latin typeface="Arial" panose="020B0604020202020204" pitchFamily="34" charset="0"/>
                <a:cs typeface="Arial" panose="020B0604020202020204" pitchFamily="34" charset="0"/>
              </a:rPr>
              <a:t>: Handwritten digit dataset with 60,000 training samples and 10,000 test samples in 10 classes (digits 0-9).</a:t>
            </a:r>
          </a:p>
          <a:p>
            <a:pPr lvl="1">
              <a:lnSpc>
                <a:spcPct val="120000"/>
              </a:lnSpc>
            </a:pPr>
            <a:r>
              <a:rPr lang="en-US" b="1" dirty="0">
                <a:latin typeface="Arial" panose="020B0604020202020204" pitchFamily="34" charset="0"/>
                <a:cs typeface="Arial" panose="020B0604020202020204" pitchFamily="34" charset="0"/>
              </a:rPr>
              <a:t>Fashion-MNIST</a:t>
            </a:r>
            <a:r>
              <a:rPr lang="en-US" dirty="0">
                <a:latin typeface="Arial" panose="020B0604020202020204" pitchFamily="34" charset="0"/>
                <a:cs typeface="Arial" panose="020B0604020202020204" pitchFamily="34" charset="0"/>
              </a:rPr>
              <a:t>: A dataset comprising of 28x28 grayscale images of 70,000 fashion products from 10 categories, with 7,000 images per category.</a:t>
            </a:r>
          </a:p>
          <a:p>
            <a:pPr lvl="1">
              <a:lnSpc>
                <a:spcPct val="120000"/>
              </a:lnSpc>
            </a:pPr>
            <a:r>
              <a:rPr lang="en-US" b="1" dirty="0">
                <a:latin typeface="Arial" panose="020B0604020202020204" pitchFamily="34" charset="0"/>
                <a:cs typeface="Arial" panose="020B0604020202020204" pitchFamily="34" charset="0"/>
              </a:rPr>
              <a:t>CIFAR10/1000</a:t>
            </a:r>
            <a:r>
              <a:rPr lang="en-US" dirty="0">
                <a:latin typeface="Arial" panose="020B0604020202020204" pitchFamily="34" charset="0"/>
                <a:cs typeface="Arial" panose="020B0604020202020204" pitchFamily="34" charset="0"/>
              </a:rPr>
              <a:t>: A dataset consisting of 60,000 32x32 color images in 10/100 classes, with 6,000 images per class.</a:t>
            </a:r>
          </a:p>
          <a:p>
            <a:pPr lvl="1">
              <a:lnSpc>
                <a:spcPct val="120000"/>
              </a:lnSpc>
            </a:pPr>
            <a:r>
              <a:rPr lang="en-US" b="1" dirty="0">
                <a:latin typeface="Arial" panose="020B0604020202020204" pitchFamily="34" charset="0"/>
                <a:cs typeface="Arial" panose="020B0604020202020204" pitchFamily="34" charset="0"/>
              </a:rPr>
              <a:t>ImageNet</a:t>
            </a:r>
            <a:r>
              <a:rPr lang="en-US" dirty="0">
                <a:latin typeface="Arial" panose="020B0604020202020204" pitchFamily="34" charset="0"/>
                <a:cs typeface="Arial" panose="020B0604020202020204" pitchFamily="34" charset="0"/>
              </a:rPr>
              <a:t>: A large dataset designed for use in visual object recognition software research, with more than 14 million images and thousands of classes.</a:t>
            </a:r>
          </a:p>
          <a:p>
            <a:pPr lvl="1">
              <a:lnSpc>
                <a:spcPct val="120000"/>
              </a:lnSpc>
            </a:pPr>
            <a:r>
              <a:rPr lang="en-US" b="1" dirty="0">
                <a:latin typeface="Arial" panose="020B0604020202020204" pitchFamily="34" charset="0"/>
                <a:cs typeface="Arial" panose="020B0604020202020204" pitchFamily="34" charset="0"/>
              </a:rPr>
              <a:t>COCO</a:t>
            </a:r>
            <a:r>
              <a:rPr lang="en-US" dirty="0">
                <a:latin typeface="Arial" panose="020B0604020202020204" pitchFamily="34" charset="0"/>
                <a:cs typeface="Arial" panose="020B0604020202020204" pitchFamily="34" charset="0"/>
              </a:rPr>
              <a:t> (Common Objects in Context): A large-scale object detection, segmentation, and captioning dataset.</a:t>
            </a:r>
          </a:p>
          <a:p>
            <a:pPr lvl="1">
              <a:lnSpc>
                <a:spcPct val="120000"/>
              </a:lnSpc>
            </a:pPr>
            <a:r>
              <a:rPr lang="en-US" b="1" dirty="0">
                <a:latin typeface="Arial" panose="020B0604020202020204" pitchFamily="34" charset="0"/>
                <a:cs typeface="Arial" panose="020B0604020202020204" pitchFamily="34" charset="0"/>
              </a:rPr>
              <a:t>VOC</a:t>
            </a:r>
            <a:r>
              <a:rPr lang="en-US" dirty="0">
                <a:latin typeface="Arial" panose="020B0604020202020204" pitchFamily="34" charset="0"/>
                <a:cs typeface="Arial" panose="020B0604020202020204" pitchFamily="34" charset="0"/>
              </a:rPr>
              <a:t> (PASCAL Visual Object Classes): A dataset for object detection, image classification, object segmentation, and person layout.</a:t>
            </a:r>
          </a:p>
          <a:p>
            <a:pPr lvl="1">
              <a:lnSpc>
                <a:spcPct val="120000"/>
              </a:lnSpc>
            </a:pPr>
            <a:r>
              <a:rPr lang="en-US" b="1" dirty="0">
                <a:latin typeface="Arial" panose="020B0604020202020204" pitchFamily="34" charset="0"/>
                <a:cs typeface="Arial" panose="020B0604020202020204" pitchFamily="34" charset="0"/>
              </a:rPr>
              <a:t>Kinetics</a:t>
            </a:r>
            <a:r>
              <a:rPr lang="en-US" dirty="0">
                <a:latin typeface="Arial" panose="020B0604020202020204" pitchFamily="34" charset="0"/>
                <a:cs typeface="Arial" panose="020B0604020202020204" pitchFamily="34" charset="0"/>
              </a:rPr>
              <a:t>: A large-scale, high-quality dataset of YouTube video URLs which include a diverse range of human-focused actions</a:t>
            </a:r>
          </a:p>
          <a:p>
            <a:pPr lvl="1">
              <a:lnSpc>
                <a:spcPct val="120000"/>
              </a:lnSpc>
            </a:pPr>
            <a:r>
              <a:rPr lang="en-US" dirty="0">
                <a:latin typeface="Arial" panose="020B0604020202020204" pitchFamily="34" charset="0"/>
                <a:cs typeface="Arial" panose="020B0604020202020204" pitchFamily="34" charset="0"/>
              </a:rPr>
              <a:t>… and many other …</a:t>
            </a:r>
          </a:p>
        </p:txBody>
      </p:sp>
    </p:spTree>
    <p:extLst>
      <p:ext uri="{BB962C8B-B14F-4D97-AF65-F5344CB8AC3E}">
        <p14:creationId xmlns:p14="http://schemas.microsoft.com/office/powerpoint/2010/main" val="2873637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Datasets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486400"/>
          </a:xfrm>
        </p:spPr>
        <p:txBody>
          <a:bodyPr>
            <a:normAutofit/>
          </a:bodyPr>
          <a:lstStyle/>
          <a:p>
            <a:pPr marL="0" indent="0">
              <a:buNone/>
            </a:pPr>
            <a:r>
              <a:rPr lang="en-US" dirty="0"/>
              <a:t>The following example downloads the MNIST dataset and stores it locally.</a:t>
            </a:r>
          </a:p>
        </p:txBody>
      </p:sp>
      <p:sp>
        <p:nvSpPr>
          <p:cNvPr id="3" name="Rectangle 2">
            <a:extLst>
              <a:ext uri="{FF2B5EF4-FFF2-40B4-BE49-F238E27FC236}">
                <a16:creationId xmlns:a16="http://schemas.microsoft.com/office/drawing/2014/main" id="{D6D73425-A1A3-5330-D892-0B2B1FCB6456}"/>
              </a:ext>
            </a:extLst>
          </p:cNvPr>
          <p:cNvSpPr/>
          <p:nvPr/>
        </p:nvSpPr>
        <p:spPr>
          <a:xfrm>
            <a:off x="1751012" y="2606040"/>
            <a:ext cx="9372600" cy="394716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0" dirty="0">
                <a:solidFill>
                  <a:srgbClr val="B56AA6"/>
                </a:solidFill>
                <a:effectLst/>
                <a:latin typeface="Consolas" panose="020B0609020204030204" pitchFamily="49" charset="0"/>
              </a:rPr>
              <a:t>import</a:t>
            </a:r>
            <a:r>
              <a:rPr lang="en-US" sz="1600" b="0" dirty="0">
                <a:solidFill>
                  <a:srgbClr val="DADADA"/>
                </a:solidFill>
                <a:effectLst/>
                <a:latin typeface="Consolas" panose="020B0609020204030204" pitchFamily="49" charset="0"/>
              </a:rPr>
              <a:t> </a:t>
            </a:r>
            <a:r>
              <a:rPr lang="en-US" sz="1600" b="0" dirty="0">
                <a:solidFill>
                  <a:srgbClr val="C8C8C8"/>
                </a:solidFill>
                <a:effectLst/>
                <a:latin typeface="Consolas" panose="020B0609020204030204" pitchFamily="49" charset="0"/>
              </a:rPr>
              <a:t>torch</a:t>
            </a:r>
            <a:endParaRPr lang="en-US" sz="1600" b="0" dirty="0">
              <a:solidFill>
                <a:srgbClr val="DADADA"/>
              </a:solidFill>
              <a:effectLst/>
              <a:latin typeface="Consolas" panose="020B0609020204030204" pitchFamily="49" charset="0"/>
            </a:endParaRPr>
          </a:p>
          <a:p>
            <a:r>
              <a:rPr lang="en-US" sz="1600" b="0" dirty="0">
                <a:solidFill>
                  <a:srgbClr val="B56AA6"/>
                </a:solidFill>
                <a:effectLst/>
                <a:latin typeface="Consolas" panose="020B0609020204030204" pitchFamily="49" charset="0"/>
              </a:rPr>
              <a:t>import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torchvision</a:t>
            </a:r>
            <a:endParaRPr lang="en-US" sz="1600" b="0" dirty="0">
              <a:solidFill>
                <a:srgbClr val="DADADA"/>
              </a:solidFill>
              <a:effectLst/>
              <a:latin typeface="Consolas" panose="020B0609020204030204" pitchFamily="49" charset="0"/>
            </a:endParaRPr>
          </a:p>
          <a:p>
            <a:r>
              <a:rPr lang="en-US" sz="1600" b="0" dirty="0">
                <a:solidFill>
                  <a:srgbClr val="B56AA6"/>
                </a:solidFill>
                <a:effectLst/>
                <a:latin typeface="Consolas" panose="020B0609020204030204" pitchFamily="49" charset="0"/>
              </a:rPr>
              <a:t>import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torchvision</a:t>
            </a:r>
            <a:r>
              <a:rPr lang="en-US" sz="1600" b="0" dirty="0" err="1">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transforms</a:t>
            </a:r>
            <a:r>
              <a:rPr lang="en-US" sz="1600" b="0" dirty="0">
                <a:solidFill>
                  <a:srgbClr val="DADADA"/>
                </a:solidFill>
                <a:effectLst/>
                <a:latin typeface="Consolas" panose="020B0609020204030204" pitchFamily="49" charset="0"/>
              </a:rPr>
              <a:t> </a:t>
            </a:r>
            <a:r>
              <a:rPr lang="en-US" sz="1600" b="0" dirty="0">
                <a:solidFill>
                  <a:srgbClr val="B56AA6"/>
                </a:solidFill>
                <a:effectLst/>
                <a:latin typeface="Consolas" panose="020B0609020204030204" pitchFamily="49" charset="0"/>
              </a:rPr>
              <a:t>as</a:t>
            </a:r>
            <a:r>
              <a:rPr lang="en-US" sz="1600" b="0" dirty="0">
                <a:solidFill>
                  <a:srgbClr val="DADADA"/>
                </a:solidFill>
                <a:effectLst/>
                <a:latin typeface="Consolas" panose="020B0609020204030204" pitchFamily="49" charset="0"/>
              </a:rPr>
              <a:t> </a:t>
            </a:r>
            <a:r>
              <a:rPr lang="en-US" sz="1600" b="0" dirty="0">
                <a:solidFill>
                  <a:srgbClr val="C8C8C8"/>
                </a:solidFill>
                <a:effectLst/>
                <a:latin typeface="Consolas" panose="020B0609020204030204" pitchFamily="49" charset="0"/>
              </a:rPr>
              <a:t>transforms</a:t>
            </a:r>
            <a:endParaRPr lang="en-US" sz="1600" b="0" dirty="0">
              <a:solidFill>
                <a:srgbClr val="DADADA"/>
              </a:solidFill>
              <a:effectLst/>
              <a:latin typeface="Consolas" panose="020B0609020204030204" pitchFamily="49" charset="0"/>
            </a:endParaRPr>
          </a:p>
          <a:p>
            <a:br>
              <a:rPr lang="en-US" sz="1600" b="0" dirty="0">
                <a:solidFill>
                  <a:srgbClr val="DADADA"/>
                </a:solidFill>
                <a:effectLst/>
                <a:latin typeface="Consolas" panose="020B0609020204030204" pitchFamily="49" charset="0"/>
              </a:rPr>
            </a:br>
            <a:r>
              <a:rPr lang="en-US" sz="1600" b="0" dirty="0" err="1">
                <a:solidFill>
                  <a:srgbClr val="229977"/>
                </a:solidFill>
                <a:effectLst/>
                <a:latin typeface="Consolas" panose="020B0609020204030204" pitchFamily="49" charset="0"/>
              </a:rPr>
              <a:t>image_to_tensor</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transforms</a:t>
            </a:r>
            <a:r>
              <a:rPr lang="en-US" sz="1600" b="0" dirty="0" err="1">
                <a:solidFill>
                  <a:srgbClr val="B4B4B4"/>
                </a:solidFill>
                <a:effectLst/>
                <a:latin typeface="Consolas" panose="020B0609020204030204" pitchFamily="49" charset="0"/>
              </a:rPr>
              <a:t>.</a:t>
            </a:r>
            <a:r>
              <a:rPr lang="en-US" sz="1600" b="0" dirty="0" err="1">
                <a:solidFill>
                  <a:srgbClr val="5DA963"/>
                </a:solidFill>
                <a:effectLst/>
                <a:latin typeface="Consolas" panose="020B0609020204030204" pitchFamily="49" charset="0"/>
              </a:rPr>
              <a:t>Compose</a:t>
            </a:r>
            <a:r>
              <a:rPr lang="en-US" sz="1600" b="0" dirty="0">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transforms</a:t>
            </a:r>
            <a:r>
              <a:rPr lang="en-US" sz="1600" b="0" dirty="0" err="1">
                <a:solidFill>
                  <a:srgbClr val="B4B4B4"/>
                </a:solidFill>
                <a:effectLst/>
                <a:latin typeface="Consolas" panose="020B0609020204030204" pitchFamily="49" charset="0"/>
              </a:rPr>
              <a:t>.</a:t>
            </a:r>
            <a:r>
              <a:rPr lang="en-US" sz="1600" b="0" dirty="0" err="1">
                <a:solidFill>
                  <a:srgbClr val="5DA963"/>
                </a:solidFill>
                <a:effectLst/>
                <a:latin typeface="Consolas" panose="020B0609020204030204" pitchFamily="49" charset="0"/>
              </a:rPr>
              <a:t>ToTensor</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br>
              <a:rPr lang="en-US" sz="1600" b="0" dirty="0">
                <a:solidFill>
                  <a:srgbClr val="DADADA"/>
                </a:solidFill>
                <a:effectLst/>
                <a:latin typeface="Consolas" panose="020B0609020204030204" pitchFamily="49" charset="0"/>
              </a:rPr>
            </a:br>
            <a:r>
              <a:rPr lang="en-US" sz="1600" b="0" dirty="0">
                <a:solidFill>
                  <a:srgbClr val="229977"/>
                </a:solidFill>
                <a:effectLst/>
                <a:latin typeface="Consolas" panose="020B0609020204030204" pitchFamily="49" charset="0"/>
              </a:rPr>
              <a:t>trainset</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torchvision</a:t>
            </a:r>
            <a:r>
              <a:rPr lang="en-US" sz="1600" b="0" dirty="0" err="1">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datasets</a:t>
            </a:r>
            <a:r>
              <a:rPr lang="en-US" sz="1600" b="0" dirty="0" err="1">
                <a:solidFill>
                  <a:srgbClr val="B4B4B4"/>
                </a:solidFill>
                <a:effectLst/>
                <a:latin typeface="Consolas" panose="020B0609020204030204" pitchFamily="49" charset="0"/>
              </a:rPr>
              <a:t>.</a:t>
            </a:r>
            <a:r>
              <a:rPr lang="en-US" sz="1600" b="0" dirty="0" err="1">
                <a:solidFill>
                  <a:srgbClr val="5DA963"/>
                </a:solidFill>
                <a:effectLst/>
                <a:latin typeface="Consolas" panose="020B0609020204030204" pitchFamily="49" charset="0"/>
              </a:rPr>
              <a:t>MNIST</a:t>
            </a:r>
            <a:r>
              <a:rPr lang="en-US" sz="1600" b="0" dirty="0">
                <a:solidFill>
                  <a:srgbClr val="B4B4B4"/>
                </a:solidFill>
                <a:effectLst/>
                <a:latin typeface="Consolas" panose="020B0609020204030204" pitchFamily="49" charset="0"/>
              </a:rPr>
              <a:t>(</a:t>
            </a:r>
          </a:p>
          <a:p>
            <a:r>
              <a:rPr lang="en-US" sz="1600" dirty="0">
                <a:solidFill>
                  <a:srgbClr val="B4B4B4"/>
                </a:solidFill>
                <a:latin typeface="Consolas" panose="020B0609020204030204" pitchFamily="49" charset="0"/>
              </a:rPr>
              <a:t>      </a:t>
            </a:r>
            <a:r>
              <a:rPr lang="en-US" sz="1600" b="0" dirty="0">
                <a:solidFill>
                  <a:srgbClr val="9A9A9A"/>
                </a:solidFill>
                <a:effectLst/>
                <a:latin typeface="Consolas" panose="020B0609020204030204" pitchFamily="49" charset="0"/>
              </a:rPr>
              <a:t>root</a:t>
            </a:r>
            <a:r>
              <a:rPr lang="en-US" sz="1600" b="0" dirty="0">
                <a:solidFill>
                  <a:srgbClr val="C0C0C0"/>
                </a:solidFill>
                <a:effectLst/>
                <a:latin typeface="Consolas" panose="020B0609020204030204" pitchFamily="49" charset="0"/>
              </a:rPr>
              <a:t>=</a:t>
            </a:r>
            <a:r>
              <a:rPr lang="en-US" sz="1600" b="0" dirty="0">
                <a:solidFill>
                  <a:srgbClr val="E8C9BB"/>
                </a:solidFill>
                <a:effectLst/>
                <a:latin typeface="Consolas" panose="020B0609020204030204" pitchFamily="49" charset="0"/>
              </a:rPr>
              <a:t>'</a:t>
            </a:r>
            <a:r>
              <a:rPr lang="en-US" sz="1600" b="0" dirty="0">
                <a:solidFill>
                  <a:srgbClr val="E68A8A"/>
                </a:solidFill>
                <a:effectLst/>
                <a:latin typeface="Consolas" panose="020B0609020204030204" pitchFamily="49" charset="0"/>
              </a:rPr>
              <a:t>./training</a:t>
            </a:r>
            <a:r>
              <a:rPr lang="en-US" sz="1600" b="0" dirty="0">
                <a:solidFill>
                  <a:srgbClr val="E8C9BB"/>
                </a:solidFill>
                <a:effectLst/>
                <a:latin typeface="Consolas" panose="020B0609020204030204" pitchFamily="49" charset="0"/>
              </a:rPr>
              <a:t>’</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p>
          <a:p>
            <a:r>
              <a:rPr lang="en-US" sz="1600" dirty="0">
                <a:solidFill>
                  <a:srgbClr val="DADADA"/>
                </a:solidFill>
                <a:latin typeface="Consolas" panose="020B0609020204030204" pitchFamily="49" charset="0"/>
              </a:rPr>
              <a:t>      </a:t>
            </a:r>
            <a:r>
              <a:rPr lang="en-US" sz="1600" b="0" dirty="0">
                <a:solidFill>
                  <a:srgbClr val="9A9A9A"/>
                </a:solidFill>
                <a:effectLst/>
                <a:latin typeface="Consolas" panose="020B0609020204030204" pitchFamily="49" charset="0"/>
              </a:rPr>
              <a:t>download</a:t>
            </a:r>
            <a:r>
              <a:rPr lang="en-US" sz="1600" b="0" dirty="0">
                <a:solidFill>
                  <a:srgbClr val="C0C0C0"/>
                </a:solidFill>
                <a:effectLst/>
                <a:latin typeface="Consolas" panose="020B0609020204030204" pitchFamily="49" charset="0"/>
              </a:rPr>
              <a:t>=</a:t>
            </a:r>
            <a:r>
              <a:rPr lang="en-US" sz="1600" b="0" dirty="0">
                <a:solidFill>
                  <a:srgbClr val="569CD6"/>
                </a:solidFill>
                <a:effectLst/>
                <a:latin typeface="Consolas" panose="020B0609020204030204" pitchFamily="49" charset="0"/>
              </a:rPr>
              <a:t>True</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p>
          <a:p>
            <a:r>
              <a:rPr lang="en-US" sz="1600" dirty="0">
                <a:solidFill>
                  <a:srgbClr val="DADADA"/>
                </a:solidFill>
                <a:latin typeface="Consolas" panose="020B0609020204030204" pitchFamily="49" charset="0"/>
              </a:rPr>
              <a:t>      </a:t>
            </a:r>
            <a:r>
              <a:rPr lang="en-US" sz="1600" b="0" dirty="0">
                <a:solidFill>
                  <a:srgbClr val="9A9A9A"/>
                </a:solidFill>
                <a:effectLst/>
                <a:latin typeface="Consolas" panose="020B0609020204030204" pitchFamily="49" charset="0"/>
              </a:rPr>
              <a:t>train</a:t>
            </a:r>
            <a:r>
              <a:rPr lang="en-US" sz="1600" b="0" dirty="0">
                <a:solidFill>
                  <a:srgbClr val="C0C0C0"/>
                </a:solidFill>
                <a:effectLst/>
                <a:latin typeface="Consolas" panose="020B0609020204030204" pitchFamily="49" charset="0"/>
              </a:rPr>
              <a:t>=</a:t>
            </a:r>
            <a:r>
              <a:rPr lang="en-US" sz="1600" b="0" dirty="0">
                <a:solidFill>
                  <a:srgbClr val="569CD6"/>
                </a:solidFill>
                <a:effectLst/>
                <a:latin typeface="Consolas" panose="020B0609020204030204" pitchFamily="49" charset="0"/>
              </a:rPr>
              <a:t>True</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p>
          <a:p>
            <a:r>
              <a:rPr lang="en-US" sz="1600" dirty="0">
                <a:solidFill>
                  <a:srgbClr val="DADADA"/>
                </a:solidFill>
                <a:latin typeface="Consolas" panose="020B0609020204030204" pitchFamily="49" charset="0"/>
              </a:rPr>
              <a:t>      </a:t>
            </a:r>
            <a:r>
              <a:rPr lang="en-US" sz="1600" b="0" dirty="0">
                <a:solidFill>
                  <a:srgbClr val="9A9A9A"/>
                </a:solidFill>
                <a:effectLst/>
                <a:latin typeface="Consolas" panose="020B0609020204030204" pitchFamily="49" charset="0"/>
              </a:rPr>
              <a:t>transform</a:t>
            </a:r>
            <a:r>
              <a:rPr lang="en-US" sz="1600" b="0" dirty="0">
                <a:solidFill>
                  <a:srgbClr val="C0C0C0"/>
                </a:solidFill>
                <a:effectLst/>
                <a:latin typeface="Consolas" panose="020B0609020204030204" pitchFamily="49" charset="0"/>
              </a:rPr>
              <a:t>=</a:t>
            </a:r>
            <a:r>
              <a:rPr lang="en-US" sz="1600" b="0" dirty="0">
                <a:solidFill>
                  <a:srgbClr val="229977"/>
                </a:solidFill>
                <a:effectLst/>
                <a:latin typeface="Consolas" panose="020B0609020204030204" pitchFamily="49" charset="0"/>
              </a:rPr>
              <a:t> </a:t>
            </a:r>
            <a:r>
              <a:rPr lang="en-US" sz="1600" b="0" dirty="0" err="1">
                <a:solidFill>
                  <a:srgbClr val="229977"/>
                </a:solidFill>
                <a:effectLst/>
                <a:latin typeface="Consolas" panose="020B0609020204030204" pitchFamily="49" charset="0"/>
              </a:rPr>
              <a:t>image_to_tensor</a:t>
            </a:r>
            <a:r>
              <a:rPr lang="en-US" sz="1600" b="0" dirty="0">
                <a:solidFill>
                  <a:srgbClr val="DADADA"/>
                </a:solidFill>
                <a:effectLst/>
                <a:latin typeface="Consolas" panose="020B0609020204030204" pitchFamily="49" charset="0"/>
              </a:rPr>
              <a:t> </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err="1">
                <a:solidFill>
                  <a:srgbClr val="229977"/>
                </a:solidFill>
                <a:effectLst/>
                <a:latin typeface="Consolas" panose="020B0609020204030204" pitchFamily="49" charset="0"/>
              </a:rPr>
              <a:t>testset</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torchvision</a:t>
            </a:r>
            <a:r>
              <a:rPr lang="en-US" sz="1600" b="0" dirty="0" err="1">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datasets</a:t>
            </a:r>
            <a:r>
              <a:rPr lang="en-US" sz="1600" b="0" dirty="0" err="1">
                <a:solidFill>
                  <a:srgbClr val="B4B4B4"/>
                </a:solidFill>
                <a:effectLst/>
                <a:latin typeface="Consolas" panose="020B0609020204030204" pitchFamily="49" charset="0"/>
              </a:rPr>
              <a:t>.</a:t>
            </a:r>
            <a:r>
              <a:rPr lang="en-US" sz="1600" b="0" dirty="0" err="1">
                <a:solidFill>
                  <a:srgbClr val="5DA963"/>
                </a:solidFill>
                <a:effectLst/>
                <a:latin typeface="Consolas" panose="020B0609020204030204" pitchFamily="49" charset="0"/>
              </a:rPr>
              <a:t>MNIST</a:t>
            </a:r>
            <a:r>
              <a:rPr lang="en-US" sz="1600" b="0" dirty="0">
                <a:solidFill>
                  <a:srgbClr val="B4B4B4"/>
                </a:solidFill>
                <a:effectLst/>
                <a:latin typeface="Consolas" panose="020B0609020204030204" pitchFamily="49" charset="0"/>
              </a:rPr>
              <a:t>(</a:t>
            </a:r>
          </a:p>
          <a:p>
            <a:r>
              <a:rPr lang="en-US" sz="1600" dirty="0">
                <a:solidFill>
                  <a:srgbClr val="B4B4B4"/>
                </a:solidFill>
                <a:latin typeface="Consolas" panose="020B0609020204030204" pitchFamily="49" charset="0"/>
              </a:rPr>
              <a:t>      </a:t>
            </a:r>
            <a:r>
              <a:rPr lang="en-US" sz="1600" b="0" dirty="0">
                <a:solidFill>
                  <a:srgbClr val="9A9A9A"/>
                </a:solidFill>
                <a:effectLst/>
                <a:latin typeface="Consolas" panose="020B0609020204030204" pitchFamily="49" charset="0"/>
              </a:rPr>
              <a:t>root</a:t>
            </a:r>
            <a:r>
              <a:rPr lang="en-US" sz="1600" b="0" dirty="0">
                <a:solidFill>
                  <a:srgbClr val="C0C0C0"/>
                </a:solidFill>
                <a:effectLst/>
                <a:latin typeface="Consolas" panose="020B0609020204030204" pitchFamily="49" charset="0"/>
              </a:rPr>
              <a:t>=</a:t>
            </a:r>
            <a:r>
              <a:rPr lang="en-US" sz="1600" b="0" dirty="0">
                <a:solidFill>
                  <a:srgbClr val="E8C9BB"/>
                </a:solidFill>
                <a:effectLst/>
                <a:latin typeface="Consolas" panose="020B0609020204030204" pitchFamily="49" charset="0"/>
              </a:rPr>
              <a:t>'</a:t>
            </a:r>
            <a:r>
              <a:rPr lang="en-US" sz="1600" b="0" dirty="0">
                <a:solidFill>
                  <a:srgbClr val="E68A8A"/>
                </a:solidFill>
                <a:effectLst/>
                <a:latin typeface="Consolas" panose="020B0609020204030204" pitchFamily="49" charset="0"/>
              </a:rPr>
              <a:t>./tests</a:t>
            </a:r>
            <a:r>
              <a:rPr lang="en-US" sz="1600" b="0" dirty="0">
                <a:solidFill>
                  <a:srgbClr val="E8C9BB"/>
                </a:solidFill>
                <a:effectLst/>
                <a:latin typeface="Consolas" panose="020B0609020204030204" pitchFamily="49" charset="0"/>
              </a:rPr>
              <a:t>’</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p>
          <a:p>
            <a:r>
              <a:rPr lang="en-US" sz="1600" dirty="0">
                <a:solidFill>
                  <a:srgbClr val="DADADA"/>
                </a:solidFill>
                <a:latin typeface="Consolas" panose="020B0609020204030204" pitchFamily="49" charset="0"/>
              </a:rPr>
              <a:t>      </a:t>
            </a:r>
            <a:r>
              <a:rPr lang="en-US" sz="1600" b="0" dirty="0">
                <a:solidFill>
                  <a:srgbClr val="9A9A9A"/>
                </a:solidFill>
                <a:effectLst/>
                <a:latin typeface="Consolas" panose="020B0609020204030204" pitchFamily="49" charset="0"/>
              </a:rPr>
              <a:t>download</a:t>
            </a:r>
            <a:r>
              <a:rPr lang="en-US" sz="1600" b="0" dirty="0">
                <a:solidFill>
                  <a:srgbClr val="C0C0C0"/>
                </a:solidFill>
                <a:effectLst/>
                <a:latin typeface="Consolas" panose="020B0609020204030204" pitchFamily="49" charset="0"/>
              </a:rPr>
              <a:t>=</a:t>
            </a:r>
            <a:r>
              <a:rPr lang="en-US" sz="1600" b="0" dirty="0">
                <a:solidFill>
                  <a:srgbClr val="569CD6"/>
                </a:solidFill>
                <a:effectLst/>
                <a:latin typeface="Consolas" panose="020B0609020204030204" pitchFamily="49" charset="0"/>
              </a:rPr>
              <a:t>True</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p>
          <a:p>
            <a:r>
              <a:rPr lang="en-US" sz="1600" dirty="0">
                <a:solidFill>
                  <a:srgbClr val="DADADA"/>
                </a:solidFill>
                <a:latin typeface="Consolas" panose="020B0609020204030204" pitchFamily="49" charset="0"/>
              </a:rPr>
              <a:t>      </a:t>
            </a:r>
            <a:r>
              <a:rPr lang="en-US" sz="1600" b="0" dirty="0">
                <a:solidFill>
                  <a:srgbClr val="9A9A9A"/>
                </a:solidFill>
                <a:effectLst/>
                <a:latin typeface="Consolas" panose="020B0609020204030204" pitchFamily="49" charset="0"/>
              </a:rPr>
              <a:t>train</a:t>
            </a:r>
            <a:r>
              <a:rPr lang="en-US" sz="1600" b="0" dirty="0">
                <a:solidFill>
                  <a:srgbClr val="C0C0C0"/>
                </a:solidFill>
                <a:effectLst/>
                <a:latin typeface="Consolas" panose="020B0609020204030204" pitchFamily="49" charset="0"/>
              </a:rPr>
              <a:t>=</a:t>
            </a:r>
            <a:r>
              <a:rPr lang="en-US" sz="1600" b="0" dirty="0">
                <a:solidFill>
                  <a:srgbClr val="569CD6"/>
                </a:solidFill>
                <a:effectLst/>
                <a:latin typeface="Consolas" panose="020B0609020204030204" pitchFamily="49" charset="0"/>
              </a:rPr>
              <a:t>False</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p>
          <a:p>
            <a:r>
              <a:rPr lang="en-US" sz="1600" dirty="0">
                <a:solidFill>
                  <a:srgbClr val="DADADA"/>
                </a:solidFill>
                <a:latin typeface="Consolas" panose="020B0609020204030204" pitchFamily="49" charset="0"/>
              </a:rPr>
              <a:t>      </a:t>
            </a:r>
            <a:r>
              <a:rPr lang="en-US" sz="1600" b="0" dirty="0">
                <a:solidFill>
                  <a:srgbClr val="9A9A9A"/>
                </a:solidFill>
                <a:effectLst/>
                <a:latin typeface="Consolas" panose="020B0609020204030204" pitchFamily="49" charset="0"/>
              </a:rPr>
              <a:t>transform</a:t>
            </a:r>
            <a:r>
              <a:rPr lang="en-US" sz="1600" b="0" dirty="0">
                <a:solidFill>
                  <a:srgbClr val="C0C0C0"/>
                </a:solidFill>
                <a:effectLst/>
                <a:latin typeface="Consolas" panose="020B0609020204030204" pitchFamily="49" charset="0"/>
              </a:rPr>
              <a:t>=</a:t>
            </a:r>
            <a:r>
              <a:rPr lang="en-US" sz="1600" b="0" dirty="0">
                <a:solidFill>
                  <a:srgbClr val="229977"/>
                </a:solidFill>
                <a:effectLst/>
                <a:latin typeface="Consolas" panose="020B0609020204030204" pitchFamily="49" charset="0"/>
              </a:rPr>
              <a:t> </a:t>
            </a:r>
            <a:r>
              <a:rPr lang="en-US" sz="1600" b="0" dirty="0" err="1">
                <a:solidFill>
                  <a:srgbClr val="229977"/>
                </a:solidFill>
                <a:effectLst/>
                <a:latin typeface="Consolas" panose="020B0609020204030204" pitchFamily="49" charset="0"/>
              </a:rPr>
              <a:t>image_to_tensor</a:t>
            </a:r>
            <a:r>
              <a:rPr lang="en-US" sz="1600" b="0" dirty="0">
                <a:solidFill>
                  <a:srgbClr val="DADADA"/>
                </a:solidFill>
                <a:effectLst/>
                <a:latin typeface="Consolas" panose="020B0609020204030204" pitchFamily="49" charset="0"/>
              </a:rPr>
              <a:t> </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p:txBody>
      </p:sp>
      <p:graphicFrame>
        <p:nvGraphicFramePr>
          <p:cNvPr id="5" name="Table 3">
            <a:extLst>
              <a:ext uri="{FF2B5EF4-FFF2-40B4-BE49-F238E27FC236}">
                <a16:creationId xmlns:a16="http://schemas.microsoft.com/office/drawing/2014/main" id="{524651B6-C153-E5A4-3564-7337DA9FACE2}"/>
              </a:ext>
            </a:extLst>
          </p:cNvPr>
          <p:cNvGraphicFramePr>
            <a:graphicFrameLocks noGrp="1"/>
          </p:cNvGraphicFramePr>
          <p:nvPr/>
        </p:nvGraphicFramePr>
        <p:xfrm>
          <a:off x="6484836" y="4191000"/>
          <a:ext cx="5476976" cy="1833880"/>
        </p:xfrm>
        <a:graphic>
          <a:graphicData uri="http://schemas.openxmlformats.org/drawingml/2006/table">
            <a:tbl>
              <a:tblPr firstRow="1" bandRow="1">
                <a:tableStyleId>{073A0DAA-6AF3-43AB-8588-CEC1D06C72B9}</a:tableStyleId>
              </a:tblPr>
              <a:tblGrid>
                <a:gridCol w="5476976">
                  <a:extLst>
                    <a:ext uri="{9D8B030D-6E8A-4147-A177-3AD203B41FA5}">
                      <a16:colId xmlns:a16="http://schemas.microsoft.com/office/drawing/2014/main" val="3899577134"/>
                    </a:ext>
                  </a:extLst>
                </a:gridCol>
              </a:tblGrid>
              <a:tr h="370840">
                <a:tc>
                  <a:txBody>
                    <a:bodyPr/>
                    <a:lstStyle/>
                    <a:p>
                      <a:r>
                        <a:rPr lang="en-US" sz="1800" dirty="0"/>
                        <a:t>Output</a:t>
                      </a:r>
                    </a:p>
                  </a:txBody>
                  <a:tcPr/>
                </a:tc>
                <a:extLst>
                  <a:ext uri="{0D108BD9-81ED-4DB2-BD59-A6C34878D82A}">
                    <a16:rowId xmlns:a16="http://schemas.microsoft.com/office/drawing/2014/main" val="117988312"/>
                  </a:ext>
                </a:extLst>
              </a:tr>
              <a:tr h="370840">
                <a:tc>
                  <a:txBody>
                    <a:bodyPr/>
                    <a:lstStyle/>
                    <a:p>
                      <a:r>
                        <a:rPr lang="en-US" sz="900" dirty="0">
                          <a:solidFill>
                            <a:schemeClr val="tx2"/>
                          </a:solidFill>
                          <a:latin typeface="Consolas" panose="020B0609020204030204" pitchFamily="49" charset="0"/>
                        </a:rPr>
                        <a:t>Downloading http://yann.lecun.com/exdb/mnist/train-images-idx3-ubyte.gz</a:t>
                      </a:r>
                    </a:p>
                    <a:p>
                      <a:r>
                        <a:rPr lang="en-US" sz="900" dirty="0">
                          <a:solidFill>
                            <a:schemeClr val="tx2"/>
                          </a:solidFill>
                          <a:latin typeface="Consolas" panose="020B0609020204030204" pitchFamily="49" charset="0"/>
                        </a:rPr>
                        <a:t>Downloading http://yann.lecun.com/exdb/mnist/train-images-idx3-ubyte.gz to ./training\MNIST\raw\train-images-idx3-ubyte.gz</a:t>
                      </a:r>
                    </a:p>
                    <a:p>
                      <a:r>
                        <a:rPr lang="en-US" sz="900" dirty="0">
                          <a:solidFill>
                            <a:schemeClr val="tx2"/>
                          </a:solidFill>
                          <a:latin typeface="Consolas" panose="020B0609020204030204" pitchFamily="49" charset="0"/>
                        </a:rPr>
                        <a:t>Extracting ./training\MNIST\raw\train-images-idx3-ubyte.gz to ./training\MNIST\raw</a:t>
                      </a:r>
                    </a:p>
                    <a:p>
                      <a:r>
                        <a:rPr lang="en-US" sz="900" dirty="0">
                          <a:solidFill>
                            <a:schemeClr val="tx2"/>
                          </a:solidFill>
                          <a:latin typeface="Consolas" panose="020B0609020204030204" pitchFamily="49" charset="0"/>
                        </a:rPr>
                        <a:t>....</a:t>
                      </a:r>
                    </a:p>
                    <a:p>
                      <a:r>
                        <a:rPr lang="en-US" sz="900" dirty="0">
                          <a:solidFill>
                            <a:schemeClr val="tx2"/>
                          </a:solidFill>
                          <a:latin typeface="Consolas" panose="020B0609020204030204" pitchFamily="49" charset="0"/>
                        </a:rPr>
                        <a:t>Downloading http://yann.lecun.com/exdb/mnist/train-labels-idx1-ubyte.gz</a:t>
                      </a:r>
                    </a:p>
                    <a:p>
                      <a:r>
                        <a:rPr lang="en-US" sz="900" dirty="0">
                          <a:solidFill>
                            <a:schemeClr val="tx2"/>
                          </a:solidFill>
                          <a:latin typeface="Consolas" panose="020B0609020204030204" pitchFamily="49" charset="0"/>
                        </a:rPr>
                        <a:t>Downloading http://yann.lecun.com/exdb/mnist/train-labels-idx1-ubyte.gz to ./training\MNIST\raw\train-labels-idx1-ubyte.gz</a:t>
                      </a:r>
                    </a:p>
                    <a:p>
                      <a:r>
                        <a:rPr lang="en-US" sz="900" dirty="0">
                          <a:solidFill>
                            <a:schemeClr val="tx2"/>
                          </a:solidFill>
                          <a:latin typeface="Consolas" panose="020B0609020204030204" pitchFamily="49" charset="0"/>
                        </a:rPr>
                        <a:t>Extracting ./training\MNIST\raw\train-labels-idx1-ubyte.gz to ./training\MNIST\raw</a:t>
                      </a:r>
                    </a:p>
                    <a:p>
                      <a:r>
                        <a:rPr lang="en-US" sz="900" dirty="0">
                          <a:solidFill>
                            <a:schemeClr val="tx2"/>
                          </a:solidFill>
                          <a:latin typeface="Consolas" panose="020B0609020204030204" pitchFamily="49" charset="0"/>
                        </a:rPr>
                        <a:t>....</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86619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Datasets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486400"/>
          </a:xfrm>
        </p:spPr>
        <p:txBody>
          <a:bodyPr>
            <a:normAutofit/>
          </a:bodyPr>
          <a:lstStyle/>
          <a:p>
            <a:pPr marL="0" indent="0">
              <a:buNone/>
            </a:pPr>
            <a:r>
              <a:rPr lang="en-US" dirty="0"/>
              <a:t>The following example downloads the MNIST dataset and stores it locally.</a:t>
            </a:r>
          </a:p>
        </p:txBody>
      </p:sp>
      <p:sp>
        <p:nvSpPr>
          <p:cNvPr id="3" name="Rectangle 2">
            <a:extLst>
              <a:ext uri="{FF2B5EF4-FFF2-40B4-BE49-F238E27FC236}">
                <a16:creationId xmlns:a16="http://schemas.microsoft.com/office/drawing/2014/main" id="{D6D73425-A1A3-5330-D892-0B2B1FCB6456}"/>
              </a:ext>
            </a:extLst>
          </p:cNvPr>
          <p:cNvSpPr/>
          <p:nvPr/>
        </p:nvSpPr>
        <p:spPr>
          <a:xfrm>
            <a:off x="1751012" y="2606040"/>
            <a:ext cx="9372600" cy="394716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0" dirty="0">
                <a:solidFill>
                  <a:schemeClr val="tx2">
                    <a:lumMod val="75000"/>
                    <a:lumOff val="25000"/>
                  </a:schemeClr>
                </a:solidFill>
                <a:effectLst/>
                <a:latin typeface="Consolas" panose="020B0609020204030204" pitchFamily="49" charset="0"/>
              </a:rPr>
              <a:t>import torch</a:t>
            </a:r>
          </a:p>
          <a:p>
            <a:r>
              <a:rPr lang="en-US" sz="1600" b="0" dirty="0">
                <a:solidFill>
                  <a:schemeClr val="tx2">
                    <a:lumMod val="75000"/>
                    <a:lumOff val="25000"/>
                  </a:schemeClr>
                </a:solidFill>
                <a:effectLst/>
                <a:latin typeface="Consolas" panose="020B0609020204030204" pitchFamily="49" charset="0"/>
              </a:rPr>
              <a:t>import </a:t>
            </a:r>
            <a:r>
              <a:rPr lang="en-US" sz="1600" b="0" dirty="0" err="1">
                <a:solidFill>
                  <a:schemeClr val="tx2">
                    <a:lumMod val="75000"/>
                    <a:lumOff val="25000"/>
                  </a:schemeClr>
                </a:solidFill>
                <a:effectLst/>
                <a:latin typeface="Consolas" panose="020B0609020204030204" pitchFamily="49" charset="0"/>
              </a:rPr>
              <a:t>torchvision</a:t>
            </a:r>
            <a:endParaRPr lang="en-US" sz="1600" b="0" dirty="0">
              <a:solidFill>
                <a:schemeClr val="tx2">
                  <a:lumMod val="75000"/>
                  <a:lumOff val="25000"/>
                </a:schemeClr>
              </a:solidFill>
              <a:effectLst/>
              <a:latin typeface="Consolas" panose="020B0609020204030204" pitchFamily="49" charset="0"/>
            </a:endParaRPr>
          </a:p>
          <a:p>
            <a:r>
              <a:rPr lang="en-US" sz="1600" b="0" dirty="0">
                <a:solidFill>
                  <a:schemeClr val="tx2">
                    <a:lumMod val="75000"/>
                    <a:lumOff val="25000"/>
                  </a:schemeClr>
                </a:solidFill>
                <a:effectLst/>
                <a:latin typeface="Consolas" panose="020B0609020204030204" pitchFamily="49" charset="0"/>
              </a:rPr>
              <a:t>import </a:t>
            </a:r>
            <a:r>
              <a:rPr lang="en-US" sz="1600" b="0" dirty="0" err="1">
                <a:solidFill>
                  <a:schemeClr val="tx2">
                    <a:lumMod val="75000"/>
                    <a:lumOff val="25000"/>
                  </a:schemeClr>
                </a:solidFill>
                <a:effectLst/>
                <a:latin typeface="Consolas" panose="020B0609020204030204" pitchFamily="49" charset="0"/>
              </a:rPr>
              <a:t>torchvision.transforms</a:t>
            </a:r>
            <a:r>
              <a:rPr lang="en-US" sz="1600" b="0" dirty="0">
                <a:solidFill>
                  <a:schemeClr val="tx2">
                    <a:lumMod val="75000"/>
                    <a:lumOff val="25000"/>
                  </a:schemeClr>
                </a:solidFill>
                <a:effectLst/>
                <a:latin typeface="Consolas" panose="020B0609020204030204" pitchFamily="49" charset="0"/>
              </a:rPr>
              <a:t> as transforms</a:t>
            </a:r>
          </a:p>
          <a:p>
            <a:br>
              <a:rPr lang="en-US" sz="1600" b="0" dirty="0">
                <a:solidFill>
                  <a:srgbClr val="DADADA"/>
                </a:solidFill>
                <a:effectLst/>
                <a:latin typeface="Consolas" panose="020B0609020204030204" pitchFamily="49" charset="0"/>
              </a:rPr>
            </a:br>
            <a:r>
              <a:rPr lang="en-US" sz="1600" b="0" dirty="0" err="1">
                <a:solidFill>
                  <a:srgbClr val="229977"/>
                </a:solidFill>
                <a:effectLst/>
                <a:latin typeface="Consolas" panose="020B0609020204030204" pitchFamily="49" charset="0"/>
              </a:rPr>
              <a:t>image_to_tensor</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transforms</a:t>
            </a:r>
            <a:r>
              <a:rPr lang="en-US" sz="1600" b="0" dirty="0" err="1">
                <a:solidFill>
                  <a:srgbClr val="B4B4B4"/>
                </a:solidFill>
                <a:effectLst/>
                <a:latin typeface="Consolas" panose="020B0609020204030204" pitchFamily="49" charset="0"/>
              </a:rPr>
              <a:t>.</a:t>
            </a:r>
            <a:r>
              <a:rPr lang="en-US" sz="1600" b="0" dirty="0" err="1">
                <a:solidFill>
                  <a:srgbClr val="5DA963"/>
                </a:solidFill>
                <a:effectLst/>
                <a:latin typeface="Consolas" panose="020B0609020204030204" pitchFamily="49" charset="0"/>
              </a:rPr>
              <a:t>Compose</a:t>
            </a:r>
            <a:r>
              <a:rPr lang="en-US" sz="1600" b="0" dirty="0">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transforms</a:t>
            </a:r>
            <a:r>
              <a:rPr lang="en-US" sz="1600" b="0" dirty="0" err="1">
                <a:solidFill>
                  <a:srgbClr val="B4B4B4"/>
                </a:solidFill>
                <a:effectLst/>
                <a:latin typeface="Consolas" panose="020B0609020204030204" pitchFamily="49" charset="0"/>
              </a:rPr>
              <a:t>.</a:t>
            </a:r>
            <a:r>
              <a:rPr lang="en-US" sz="1600" b="0" dirty="0" err="1">
                <a:solidFill>
                  <a:srgbClr val="5DA963"/>
                </a:solidFill>
                <a:effectLst/>
                <a:latin typeface="Consolas" panose="020B0609020204030204" pitchFamily="49" charset="0"/>
              </a:rPr>
              <a:t>ToTensor</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br>
              <a:rPr lang="en-US" sz="1600" b="0" dirty="0">
                <a:solidFill>
                  <a:srgbClr val="DADADA"/>
                </a:solidFill>
                <a:effectLst/>
                <a:latin typeface="Consolas" panose="020B0609020204030204" pitchFamily="49" charset="0"/>
              </a:rPr>
            </a:br>
            <a:r>
              <a:rPr lang="en-US" sz="1600" b="0" dirty="0">
                <a:solidFill>
                  <a:schemeClr val="tx2">
                    <a:lumMod val="75000"/>
                    <a:lumOff val="25000"/>
                  </a:schemeClr>
                </a:solidFill>
                <a:effectLst/>
                <a:latin typeface="Consolas" panose="020B0609020204030204" pitchFamily="49" charset="0"/>
              </a:rPr>
              <a:t>trainset = </a:t>
            </a:r>
            <a:r>
              <a:rPr lang="en-US" sz="1600" b="0" dirty="0" err="1">
                <a:solidFill>
                  <a:schemeClr val="tx2">
                    <a:lumMod val="75000"/>
                    <a:lumOff val="25000"/>
                  </a:schemeClr>
                </a:solidFill>
                <a:effectLst/>
                <a:latin typeface="Consolas" panose="020B0609020204030204" pitchFamily="49" charset="0"/>
              </a:rPr>
              <a:t>torchvision.datasets.MNIST</a:t>
            </a:r>
            <a:r>
              <a:rPr lang="en-US" sz="1600" b="0" dirty="0">
                <a:solidFill>
                  <a:schemeClr val="tx2">
                    <a:lumMod val="75000"/>
                    <a:lumOff val="25000"/>
                  </a:schemeClr>
                </a:solidFill>
                <a:effectLst/>
                <a:latin typeface="Consolas" panose="020B0609020204030204" pitchFamily="49" charset="0"/>
              </a:rPr>
              <a:t>(</a:t>
            </a:r>
          </a:p>
          <a:p>
            <a:r>
              <a:rPr lang="en-US" sz="1600" dirty="0">
                <a:solidFill>
                  <a:schemeClr val="tx2">
                    <a:lumMod val="75000"/>
                    <a:lumOff val="25000"/>
                  </a:schemeClr>
                </a:solidFill>
                <a:latin typeface="Consolas" panose="020B0609020204030204" pitchFamily="49" charset="0"/>
              </a:rPr>
              <a:t>      </a:t>
            </a:r>
            <a:r>
              <a:rPr lang="en-US" sz="1600" b="0" dirty="0">
                <a:solidFill>
                  <a:schemeClr val="tx2">
                    <a:lumMod val="75000"/>
                    <a:lumOff val="25000"/>
                  </a:schemeClr>
                </a:solidFill>
                <a:effectLst/>
                <a:latin typeface="Consolas" panose="020B0609020204030204" pitchFamily="49" charset="0"/>
              </a:rPr>
              <a:t>root='./training’, </a:t>
            </a:r>
          </a:p>
          <a:p>
            <a:r>
              <a:rPr lang="en-US" sz="1600" dirty="0">
                <a:solidFill>
                  <a:schemeClr val="tx2">
                    <a:lumMod val="75000"/>
                    <a:lumOff val="25000"/>
                  </a:schemeClr>
                </a:solidFill>
                <a:latin typeface="Consolas" panose="020B0609020204030204" pitchFamily="49" charset="0"/>
              </a:rPr>
              <a:t>      </a:t>
            </a:r>
            <a:r>
              <a:rPr lang="en-US" sz="1600" b="0" dirty="0">
                <a:solidFill>
                  <a:schemeClr val="tx2">
                    <a:lumMod val="75000"/>
                    <a:lumOff val="25000"/>
                  </a:schemeClr>
                </a:solidFill>
                <a:effectLst/>
                <a:latin typeface="Consolas" panose="020B0609020204030204" pitchFamily="49" charset="0"/>
              </a:rPr>
              <a:t>download=True, </a:t>
            </a:r>
          </a:p>
          <a:p>
            <a:r>
              <a:rPr lang="en-US" sz="1600" dirty="0">
                <a:solidFill>
                  <a:schemeClr val="tx2">
                    <a:lumMod val="75000"/>
                    <a:lumOff val="25000"/>
                  </a:schemeClr>
                </a:solidFill>
                <a:latin typeface="Consolas" panose="020B0609020204030204" pitchFamily="49" charset="0"/>
              </a:rPr>
              <a:t>      </a:t>
            </a:r>
            <a:r>
              <a:rPr lang="en-US" sz="1600" b="0" dirty="0">
                <a:solidFill>
                  <a:schemeClr val="tx2">
                    <a:lumMod val="75000"/>
                    <a:lumOff val="25000"/>
                  </a:schemeClr>
                </a:solidFill>
                <a:effectLst/>
                <a:latin typeface="Consolas" panose="020B0609020204030204" pitchFamily="49" charset="0"/>
              </a:rPr>
              <a:t>train=True, </a:t>
            </a:r>
          </a:p>
          <a:p>
            <a:r>
              <a:rPr lang="en-US" sz="1600" dirty="0">
                <a:solidFill>
                  <a:schemeClr val="tx2">
                    <a:lumMod val="75000"/>
                    <a:lumOff val="25000"/>
                  </a:schemeClr>
                </a:solidFill>
                <a:latin typeface="Consolas" panose="020B0609020204030204" pitchFamily="49" charset="0"/>
              </a:rPr>
              <a:t>      </a:t>
            </a:r>
            <a:r>
              <a:rPr lang="en-US" sz="1600" b="0" dirty="0">
                <a:solidFill>
                  <a:schemeClr val="tx2">
                    <a:lumMod val="75000"/>
                    <a:lumOff val="25000"/>
                  </a:schemeClr>
                </a:solidFill>
                <a:effectLst/>
                <a:latin typeface="Consolas" panose="020B0609020204030204" pitchFamily="49" charset="0"/>
              </a:rPr>
              <a:t>transform= </a:t>
            </a:r>
            <a:r>
              <a:rPr lang="en-US" sz="1600" b="0" dirty="0" err="1">
                <a:solidFill>
                  <a:schemeClr val="tx2">
                    <a:lumMod val="75000"/>
                    <a:lumOff val="25000"/>
                  </a:schemeClr>
                </a:solidFill>
                <a:effectLst/>
                <a:latin typeface="Consolas" panose="020B0609020204030204" pitchFamily="49" charset="0"/>
              </a:rPr>
              <a:t>image_to_tensor</a:t>
            </a:r>
            <a:r>
              <a:rPr lang="en-US" sz="1600" b="0" dirty="0">
                <a:solidFill>
                  <a:schemeClr val="tx2">
                    <a:lumMod val="75000"/>
                    <a:lumOff val="25000"/>
                  </a:schemeClr>
                </a:solidFill>
                <a:effectLst/>
                <a:latin typeface="Consolas" panose="020B0609020204030204" pitchFamily="49" charset="0"/>
              </a:rPr>
              <a:t> )</a:t>
            </a:r>
          </a:p>
          <a:p>
            <a:r>
              <a:rPr lang="en-US" sz="1600" b="0" dirty="0" err="1">
                <a:solidFill>
                  <a:schemeClr val="tx2">
                    <a:lumMod val="75000"/>
                    <a:lumOff val="25000"/>
                  </a:schemeClr>
                </a:solidFill>
                <a:effectLst/>
                <a:latin typeface="Consolas" panose="020B0609020204030204" pitchFamily="49" charset="0"/>
              </a:rPr>
              <a:t>testset</a:t>
            </a:r>
            <a:r>
              <a:rPr lang="en-US" sz="1600" b="0" dirty="0">
                <a:solidFill>
                  <a:schemeClr val="tx2">
                    <a:lumMod val="75000"/>
                    <a:lumOff val="25000"/>
                  </a:schemeClr>
                </a:solidFill>
                <a:effectLst/>
                <a:latin typeface="Consolas" panose="020B0609020204030204" pitchFamily="49" charset="0"/>
              </a:rPr>
              <a:t> = </a:t>
            </a:r>
            <a:r>
              <a:rPr lang="en-US" sz="1600" b="0" dirty="0" err="1">
                <a:solidFill>
                  <a:schemeClr val="tx2">
                    <a:lumMod val="75000"/>
                    <a:lumOff val="25000"/>
                  </a:schemeClr>
                </a:solidFill>
                <a:effectLst/>
                <a:latin typeface="Consolas" panose="020B0609020204030204" pitchFamily="49" charset="0"/>
              </a:rPr>
              <a:t>torchvision.datasets.MNIST</a:t>
            </a:r>
            <a:r>
              <a:rPr lang="en-US" sz="1600" b="0" dirty="0">
                <a:solidFill>
                  <a:schemeClr val="tx2">
                    <a:lumMod val="75000"/>
                    <a:lumOff val="25000"/>
                  </a:schemeClr>
                </a:solidFill>
                <a:effectLst/>
                <a:latin typeface="Consolas" panose="020B0609020204030204" pitchFamily="49" charset="0"/>
              </a:rPr>
              <a:t>(</a:t>
            </a:r>
          </a:p>
          <a:p>
            <a:r>
              <a:rPr lang="en-US" sz="1600" dirty="0">
                <a:solidFill>
                  <a:schemeClr val="tx2">
                    <a:lumMod val="75000"/>
                    <a:lumOff val="25000"/>
                  </a:schemeClr>
                </a:solidFill>
                <a:latin typeface="Consolas" panose="020B0609020204030204" pitchFamily="49" charset="0"/>
              </a:rPr>
              <a:t>      </a:t>
            </a:r>
            <a:r>
              <a:rPr lang="en-US" sz="1600" b="0" dirty="0">
                <a:solidFill>
                  <a:schemeClr val="tx2">
                    <a:lumMod val="75000"/>
                    <a:lumOff val="25000"/>
                  </a:schemeClr>
                </a:solidFill>
                <a:effectLst/>
                <a:latin typeface="Consolas" panose="020B0609020204030204" pitchFamily="49" charset="0"/>
              </a:rPr>
              <a:t>root='./tests’, </a:t>
            </a:r>
          </a:p>
          <a:p>
            <a:r>
              <a:rPr lang="en-US" sz="1600" dirty="0">
                <a:solidFill>
                  <a:schemeClr val="tx2">
                    <a:lumMod val="75000"/>
                    <a:lumOff val="25000"/>
                  </a:schemeClr>
                </a:solidFill>
                <a:latin typeface="Consolas" panose="020B0609020204030204" pitchFamily="49" charset="0"/>
              </a:rPr>
              <a:t>      </a:t>
            </a:r>
            <a:r>
              <a:rPr lang="en-US" sz="1600" b="0" dirty="0">
                <a:solidFill>
                  <a:schemeClr val="tx2">
                    <a:lumMod val="75000"/>
                    <a:lumOff val="25000"/>
                  </a:schemeClr>
                </a:solidFill>
                <a:effectLst/>
                <a:latin typeface="Consolas" panose="020B0609020204030204" pitchFamily="49" charset="0"/>
              </a:rPr>
              <a:t>download=True, </a:t>
            </a:r>
          </a:p>
          <a:p>
            <a:r>
              <a:rPr lang="en-US" sz="1600" dirty="0">
                <a:solidFill>
                  <a:schemeClr val="tx2">
                    <a:lumMod val="75000"/>
                    <a:lumOff val="25000"/>
                  </a:schemeClr>
                </a:solidFill>
                <a:latin typeface="Consolas" panose="020B0609020204030204" pitchFamily="49" charset="0"/>
              </a:rPr>
              <a:t>      </a:t>
            </a:r>
            <a:r>
              <a:rPr lang="en-US" sz="1600" b="0" dirty="0">
                <a:solidFill>
                  <a:schemeClr val="tx2">
                    <a:lumMod val="75000"/>
                    <a:lumOff val="25000"/>
                  </a:schemeClr>
                </a:solidFill>
                <a:effectLst/>
                <a:latin typeface="Consolas" panose="020B0609020204030204" pitchFamily="49" charset="0"/>
              </a:rPr>
              <a:t>train=False, </a:t>
            </a:r>
          </a:p>
          <a:p>
            <a:r>
              <a:rPr lang="en-US" sz="1600" dirty="0">
                <a:solidFill>
                  <a:schemeClr val="tx2">
                    <a:lumMod val="75000"/>
                    <a:lumOff val="25000"/>
                  </a:schemeClr>
                </a:solidFill>
                <a:latin typeface="Consolas" panose="020B0609020204030204" pitchFamily="49" charset="0"/>
              </a:rPr>
              <a:t>      </a:t>
            </a:r>
            <a:r>
              <a:rPr lang="en-US" sz="1600" b="0" dirty="0">
                <a:solidFill>
                  <a:schemeClr val="tx2">
                    <a:lumMod val="75000"/>
                    <a:lumOff val="25000"/>
                  </a:schemeClr>
                </a:solidFill>
                <a:effectLst/>
                <a:latin typeface="Consolas" panose="020B0609020204030204" pitchFamily="49" charset="0"/>
              </a:rPr>
              <a:t>transform= </a:t>
            </a:r>
            <a:r>
              <a:rPr lang="en-US" sz="1600" b="0" dirty="0" err="1">
                <a:solidFill>
                  <a:schemeClr val="tx2">
                    <a:lumMod val="75000"/>
                    <a:lumOff val="25000"/>
                  </a:schemeClr>
                </a:solidFill>
                <a:effectLst/>
                <a:latin typeface="Consolas" panose="020B0609020204030204" pitchFamily="49" charset="0"/>
              </a:rPr>
              <a:t>image_to_tensor</a:t>
            </a:r>
            <a:r>
              <a:rPr lang="en-US" sz="1600" b="0" dirty="0">
                <a:solidFill>
                  <a:schemeClr val="tx2">
                    <a:lumMod val="75000"/>
                    <a:lumOff val="25000"/>
                  </a:schemeClr>
                </a:solidFill>
                <a:effectLst/>
                <a:latin typeface="Consolas" panose="020B0609020204030204" pitchFamily="49" charset="0"/>
              </a:rPr>
              <a:t> )</a:t>
            </a:r>
          </a:p>
        </p:txBody>
      </p:sp>
      <p:sp>
        <p:nvSpPr>
          <p:cNvPr id="6" name="Rectangle 5">
            <a:extLst>
              <a:ext uri="{FF2B5EF4-FFF2-40B4-BE49-F238E27FC236}">
                <a16:creationId xmlns:a16="http://schemas.microsoft.com/office/drawing/2014/main" id="{8098883C-1D73-F5AD-F2D1-384E12D6D06C}"/>
              </a:ext>
            </a:extLst>
          </p:cNvPr>
          <p:cNvSpPr/>
          <p:nvPr/>
        </p:nvSpPr>
        <p:spPr>
          <a:xfrm>
            <a:off x="1827212" y="3505200"/>
            <a:ext cx="6858000" cy="4572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allout: Up Arrow 7">
            <a:extLst>
              <a:ext uri="{FF2B5EF4-FFF2-40B4-BE49-F238E27FC236}">
                <a16:creationId xmlns:a16="http://schemas.microsoft.com/office/drawing/2014/main" id="{870D0295-EC98-BC58-02B8-1F48CF18DE24}"/>
              </a:ext>
            </a:extLst>
          </p:cNvPr>
          <p:cNvSpPr/>
          <p:nvPr/>
        </p:nvSpPr>
        <p:spPr>
          <a:xfrm>
            <a:off x="2556458" y="4041140"/>
            <a:ext cx="5791199" cy="1828800"/>
          </a:xfrm>
          <a:prstGeom prst="upArrowCallout">
            <a:avLst>
              <a:gd name="adj1" fmla="val 7029"/>
              <a:gd name="adj2" fmla="val 15435"/>
              <a:gd name="adj3" fmla="val 12246"/>
              <a:gd name="adj4" fmla="val 8425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This is required as images have to be transformed into a tensor. In this case image is a sequence of number, but </a:t>
            </a:r>
            <a:r>
              <a:rPr lang="en-US" b="1" dirty="0" err="1">
                <a:solidFill>
                  <a:srgbClr val="FFC000"/>
                </a:solidFill>
                <a:latin typeface="Arial" panose="020B0604020202020204" pitchFamily="34" charset="0"/>
                <a:cs typeface="Arial" panose="020B0604020202020204" pitchFamily="34" charset="0"/>
              </a:rPr>
              <a:t>torchvision</a:t>
            </a:r>
            <a:r>
              <a:rPr lang="en-US" dirty="0">
                <a:latin typeface="Arial" panose="020B0604020202020204" pitchFamily="34" charset="0"/>
                <a:cs typeface="Arial" panose="020B0604020202020204" pitchFamily="34" charset="0"/>
              </a:rPr>
              <a:t> library provides several mechanisms to convert even images to tensors., via transforms (including converting to gray scale or other image processing functionalities).</a:t>
            </a:r>
          </a:p>
        </p:txBody>
      </p:sp>
    </p:spTree>
    <p:extLst>
      <p:ext uri="{BB962C8B-B14F-4D97-AF65-F5344CB8AC3E}">
        <p14:creationId xmlns:p14="http://schemas.microsoft.com/office/powerpoint/2010/main" val="1500941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Datasets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486400"/>
          </a:xfrm>
        </p:spPr>
        <p:txBody>
          <a:bodyPr>
            <a:normAutofit/>
          </a:bodyPr>
          <a:lstStyle/>
          <a:p>
            <a:pPr marL="0" indent="0">
              <a:buNone/>
            </a:pPr>
            <a:r>
              <a:rPr lang="en-US" dirty="0"/>
              <a:t>The following example downloads the MNIST dataset and stores it locally.</a:t>
            </a:r>
          </a:p>
        </p:txBody>
      </p:sp>
      <p:sp>
        <p:nvSpPr>
          <p:cNvPr id="3" name="Rectangle 2">
            <a:extLst>
              <a:ext uri="{FF2B5EF4-FFF2-40B4-BE49-F238E27FC236}">
                <a16:creationId xmlns:a16="http://schemas.microsoft.com/office/drawing/2014/main" id="{D6D73425-A1A3-5330-D892-0B2B1FCB6456}"/>
              </a:ext>
            </a:extLst>
          </p:cNvPr>
          <p:cNvSpPr/>
          <p:nvPr/>
        </p:nvSpPr>
        <p:spPr>
          <a:xfrm>
            <a:off x="1751012" y="2606040"/>
            <a:ext cx="9372600" cy="394716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0" dirty="0">
                <a:solidFill>
                  <a:schemeClr val="tx2">
                    <a:lumMod val="75000"/>
                    <a:lumOff val="25000"/>
                  </a:schemeClr>
                </a:solidFill>
                <a:effectLst/>
                <a:latin typeface="Consolas" panose="020B0609020204030204" pitchFamily="49" charset="0"/>
              </a:rPr>
              <a:t>import torch</a:t>
            </a:r>
          </a:p>
          <a:p>
            <a:r>
              <a:rPr lang="en-US" sz="1600" b="0" dirty="0">
                <a:solidFill>
                  <a:schemeClr val="tx2">
                    <a:lumMod val="75000"/>
                    <a:lumOff val="25000"/>
                  </a:schemeClr>
                </a:solidFill>
                <a:effectLst/>
                <a:latin typeface="Consolas" panose="020B0609020204030204" pitchFamily="49" charset="0"/>
              </a:rPr>
              <a:t>import </a:t>
            </a:r>
            <a:r>
              <a:rPr lang="en-US" sz="1600" b="0" dirty="0" err="1">
                <a:solidFill>
                  <a:schemeClr val="tx2">
                    <a:lumMod val="75000"/>
                    <a:lumOff val="25000"/>
                  </a:schemeClr>
                </a:solidFill>
                <a:effectLst/>
                <a:latin typeface="Consolas" panose="020B0609020204030204" pitchFamily="49" charset="0"/>
              </a:rPr>
              <a:t>torchvision</a:t>
            </a:r>
            <a:endParaRPr lang="en-US" sz="1600" b="0" dirty="0">
              <a:solidFill>
                <a:schemeClr val="tx2">
                  <a:lumMod val="75000"/>
                  <a:lumOff val="25000"/>
                </a:schemeClr>
              </a:solidFill>
              <a:effectLst/>
              <a:latin typeface="Consolas" panose="020B0609020204030204" pitchFamily="49" charset="0"/>
            </a:endParaRPr>
          </a:p>
          <a:p>
            <a:r>
              <a:rPr lang="en-US" sz="1600" b="0" dirty="0">
                <a:solidFill>
                  <a:schemeClr val="tx2">
                    <a:lumMod val="75000"/>
                    <a:lumOff val="25000"/>
                  </a:schemeClr>
                </a:solidFill>
                <a:effectLst/>
                <a:latin typeface="Consolas" panose="020B0609020204030204" pitchFamily="49" charset="0"/>
              </a:rPr>
              <a:t>import </a:t>
            </a:r>
            <a:r>
              <a:rPr lang="en-US" sz="1600" b="0" dirty="0" err="1">
                <a:solidFill>
                  <a:schemeClr val="tx2">
                    <a:lumMod val="75000"/>
                    <a:lumOff val="25000"/>
                  </a:schemeClr>
                </a:solidFill>
                <a:effectLst/>
                <a:latin typeface="Consolas" panose="020B0609020204030204" pitchFamily="49" charset="0"/>
              </a:rPr>
              <a:t>torchvision.transforms</a:t>
            </a:r>
            <a:r>
              <a:rPr lang="en-US" sz="1600" b="0" dirty="0">
                <a:solidFill>
                  <a:schemeClr val="tx2">
                    <a:lumMod val="75000"/>
                    <a:lumOff val="25000"/>
                  </a:schemeClr>
                </a:solidFill>
                <a:effectLst/>
                <a:latin typeface="Consolas" panose="020B0609020204030204" pitchFamily="49" charset="0"/>
              </a:rPr>
              <a:t> as transforms</a:t>
            </a:r>
          </a:p>
          <a:p>
            <a:br>
              <a:rPr lang="en-US" sz="1600" b="0" dirty="0">
                <a:solidFill>
                  <a:schemeClr val="tx2">
                    <a:lumMod val="75000"/>
                    <a:lumOff val="25000"/>
                  </a:schemeClr>
                </a:solidFill>
                <a:effectLst/>
                <a:latin typeface="Consolas" panose="020B0609020204030204" pitchFamily="49" charset="0"/>
              </a:rPr>
            </a:br>
            <a:r>
              <a:rPr lang="en-US" sz="1600" b="0" dirty="0" err="1">
                <a:solidFill>
                  <a:schemeClr val="tx2">
                    <a:lumMod val="75000"/>
                    <a:lumOff val="25000"/>
                  </a:schemeClr>
                </a:solidFill>
                <a:effectLst/>
                <a:latin typeface="Consolas" panose="020B0609020204030204" pitchFamily="49" charset="0"/>
              </a:rPr>
              <a:t>image_to_tensor</a:t>
            </a:r>
            <a:r>
              <a:rPr lang="en-US" sz="1600" b="0" dirty="0">
                <a:solidFill>
                  <a:schemeClr val="tx2">
                    <a:lumMod val="75000"/>
                    <a:lumOff val="25000"/>
                  </a:schemeClr>
                </a:solidFill>
                <a:effectLst/>
                <a:latin typeface="Consolas" panose="020B0609020204030204" pitchFamily="49" charset="0"/>
              </a:rPr>
              <a:t> = </a:t>
            </a:r>
            <a:r>
              <a:rPr lang="en-US" sz="1600" b="0" dirty="0" err="1">
                <a:solidFill>
                  <a:schemeClr val="tx2">
                    <a:lumMod val="75000"/>
                    <a:lumOff val="25000"/>
                  </a:schemeClr>
                </a:solidFill>
                <a:effectLst/>
                <a:latin typeface="Consolas" panose="020B0609020204030204" pitchFamily="49" charset="0"/>
              </a:rPr>
              <a:t>transforms.Compose</a:t>
            </a:r>
            <a:r>
              <a:rPr lang="en-US" sz="1600" b="0" dirty="0">
                <a:solidFill>
                  <a:schemeClr val="tx2">
                    <a:lumMod val="75000"/>
                    <a:lumOff val="25000"/>
                  </a:schemeClr>
                </a:solidFill>
                <a:effectLst/>
                <a:latin typeface="Consolas" panose="020B0609020204030204" pitchFamily="49" charset="0"/>
              </a:rPr>
              <a:t>([</a:t>
            </a:r>
            <a:r>
              <a:rPr lang="en-US" sz="1600" b="0" dirty="0" err="1">
                <a:solidFill>
                  <a:schemeClr val="tx2">
                    <a:lumMod val="75000"/>
                    <a:lumOff val="25000"/>
                  </a:schemeClr>
                </a:solidFill>
                <a:effectLst/>
                <a:latin typeface="Consolas" panose="020B0609020204030204" pitchFamily="49" charset="0"/>
              </a:rPr>
              <a:t>transforms.ToTensor</a:t>
            </a:r>
            <a:r>
              <a:rPr lang="en-US" sz="1600" b="0" dirty="0">
                <a:solidFill>
                  <a:schemeClr val="tx2">
                    <a:lumMod val="75000"/>
                    <a:lumOff val="25000"/>
                  </a:schemeClr>
                </a:solidFill>
                <a:effectLst/>
                <a:latin typeface="Consolas" panose="020B0609020204030204" pitchFamily="49" charset="0"/>
              </a:rPr>
              <a:t>()])</a:t>
            </a:r>
          </a:p>
          <a:p>
            <a:br>
              <a:rPr lang="en-US" sz="1600" b="0" dirty="0">
                <a:solidFill>
                  <a:srgbClr val="DADADA"/>
                </a:solidFill>
                <a:effectLst/>
                <a:latin typeface="Consolas" panose="020B0609020204030204" pitchFamily="49" charset="0"/>
              </a:rPr>
            </a:br>
            <a:r>
              <a:rPr lang="en-US" sz="1600" b="0" dirty="0">
                <a:solidFill>
                  <a:srgbClr val="229977"/>
                </a:solidFill>
                <a:effectLst/>
                <a:latin typeface="Consolas" panose="020B0609020204030204" pitchFamily="49" charset="0"/>
              </a:rPr>
              <a:t>trainset</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torchvision</a:t>
            </a:r>
            <a:r>
              <a:rPr lang="en-US" sz="1600" b="0" dirty="0" err="1">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datasets</a:t>
            </a:r>
            <a:r>
              <a:rPr lang="en-US" sz="1600" b="0" dirty="0" err="1">
                <a:solidFill>
                  <a:srgbClr val="B4B4B4"/>
                </a:solidFill>
                <a:effectLst/>
                <a:latin typeface="Consolas" panose="020B0609020204030204" pitchFamily="49" charset="0"/>
              </a:rPr>
              <a:t>.</a:t>
            </a:r>
            <a:r>
              <a:rPr lang="en-US" sz="1600" b="0" dirty="0" err="1">
                <a:solidFill>
                  <a:srgbClr val="5DA963"/>
                </a:solidFill>
                <a:effectLst/>
                <a:latin typeface="Consolas" panose="020B0609020204030204" pitchFamily="49" charset="0"/>
              </a:rPr>
              <a:t>MNIST</a:t>
            </a:r>
            <a:r>
              <a:rPr lang="en-US" sz="1600" b="0" dirty="0">
                <a:solidFill>
                  <a:srgbClr val="B4B4B4"/>
                </a:solidFill>
                <a:effectLst/>
                <a:latin typeface="Consolas" panose="020B0609020204030204" pitchFamily="49" charset="0"/>
              </a:rPr>
              <a:t>(</a:t>
            </a:r>
          </a:p>
          <a:p>
            <a:r>
              <a:rPr lang="en-US" sz="1600" dirty="0">
                <a:solidFill>
                  <a:srgbClr val="B4B4B4"/>
                </a:solidFill>
                <a:latin typeface="Consolas" panose="020B0609020204030204" pitchFamily="49" charset="0"/>
              </a:rPr>
              <a:t>      </a:t>
            </a:r>
            <a:r>
              <a:rPr lang="en-US" sz="1600" b="0" dirty="0">
                <a:solidFill>
                  <a:srgbClr val="9A9A9A"/>
                </a:solidFill>
                <a:effectLst/>
                <a:latin typeface="Consolas" panose="020B0609020204030204" pitchFamily="49" charset="0"/>
              </a:rPr>
              <a:t>root</a:t>
            </a:r>
            <a:r>
              <a:rPr lang="en-US" sz="1600" b="0" dirty="0">
                <a:solidFill>
                  <a:srgbClr val="C0C0C0"/>
                </a:solidFill>
                <a:effectLst/>
                <a:latin typeface="Consolas" panose="020B0609020204030204" pitchFamily="49" charset="0"/>
              </a:rPr>
              <a:t>=</a:t>
            </a:r>
            <a:r>
              <a:rPr lang="en-US" sz="1600" b="0" dirty="0">
                <a:solidFill>
                  <a:srgbClr val="E8C9BB"/>
                </a:solidFill>
                <a:effectLst/>
                <a:latin typeface="Consolas" panose="020B0609020204030204" pitchFamily="49" charset="0"/>
              </a:rPr>
              <a:t>'</a:t>
            </a:r>
            <a:r>
              <a:rPr lang="en-US" sz="1600" b="0" dirty="0">
                <a:solidFill>
                  <a:srgbClr val="E68A8A"/>
                </a:solidFill>
                <a:effectLst/>
                <a:latin typeface="Consolas" panose="020B0609020204030204" pitchFamily="49" charset="0"/>
              </a:rPr>
              <a:t>./training</a:t>
            </a:r>
            <a:r>
              <a:rPr lang="en-US" sz="1600" b="0" dirty="0">
                <a:solidFill>
                  <a:srgbClr val="E8C9BB"/>
                </a:solidFill>
                <a:effectLst/>
                <a:latin typeface="Consolas" panose="020B0609020204030204" pitchFamily="49" charset="0"/>
              </a:rPr>
              <a:t>’</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p>
          <a:p>
            <a:r>
              <a:rPr lang="en-US" sz="1600" dirty="0">
                <a:solidFill>
                  <a:srgbClr val="DADADA"/>
                </a:solidFill>
                <a:latin typeface="Consolas" panose="020B0609020204030204" pitchFamily="49" charset="0"/>
              </a:rPr>
              <a:t>      </a:t>
            </a:r>
            <a:r>
              <a:rPr lang="en-US" sz="1600" b="0" dirty="0">
                <a:solidFill>
                  <a:srgbClr val="9A9A9A"/>
                </a:solidFill>
                <a:effectLst/>
                <a:latin typeface="Consolas" panose="020B0609020204030204" pitchFamily="49" charset="0"/>
              </a:rPr>
              <a:t>download</a:t>
            </a:r>
            <a:r>
              <a:rPr lang="en-US" sz="1600" b="0" dirty="0">
                <a:solidFill>
                  <a:srgbClr val="C0C0C0"/>
                </a:solidFill>
                <a:effectLst/>
                <a:latin typeface="Consolas" panose="020B0609020204030204" pitchFamily="49" charset="0"/>
              </a:rPr>
              <a:t>=</a:t>
            </a:r>
            <a:r>
              <a:rPr lang="en-US" sz="1600" b="0" dirty="0">
                <a:solidFill>
                  <a:srgbClr val="569CD6"/>
                </a:solidFill>
                <a:effectLst/>
                <a:latin typeface="Consolas" panose="020B0609020204030204" pitchFamily="49" charset="0"/>
              </a:rPr>
              <a:t>True</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p>
          <a:p>
            <a:r>
              <a:rPr lang="en-US" sz="1600" dirty="0">
                <a:solidFill>
                  <a:srgbClr val="DADADA"/>
                </a:solidFill>
                <a:latin typeface="Consolas" panose="020B0609020204030204" pitchFamily="49" charset="0"/>
              </a:rPr>
              <a:t>      </a:t>
            </a:r>
            <a:r>
              <a:rPr lang="en-US" sz="1600" b="0" dirty="0">
                <a:solidFill>
                  <a:srgbClr val="9A9A9A"/>
                </a:solidFill>
                <a:effectLst/>
                <a:latin typeface="Consolas" panose="020B0609020204030204" pitchFamily="49" charset="0"/>
              </a:rPr>
              <a:t>train</a:t>
            </a:r>
            <a:r>
              <a:rPr lang="en-US" sz="1600" b="0" dirty="0">
                <a:solidFill>
                  <a:srgbClr val="C0C0C0"/>
                </a:solidFill>
                <a:effectLst/>
                <a:latin typeface="Consolas" panose="020B0609020204030204" pitchFamily="49" charset="0"/>
              </a:rPr>
              <a:t>=</a:t>
            </a:r>
            <a:r>
              <a:rPr lang="en-US" sz="1600" b="0" dirty="0">
                <a:solidFill>
                  <a:srgbClr val="569CD6"/>
                </a:solidFill>
                <a:effectLst/>
                <a:latin typeface="Consolas" panose="020B0609020204030204" pitchFamily="49" charset="0"/>
              </a:rPr>
              <a:t>True</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p>
          <a:p>
            <a:r>
              <a:rPr lang="en-US" sz="1600" dirty="0">
                <a:solidFill>
                  <a:srgbClr val="DADADA"/>
                </a:solidFill>
                <a:latin typeface="Consolas" panose="020B0609020204030204" pitchFamily="49" charset="0"/>
              </a:rPr>
              <a:t>      </a:t>
            </a:r>
            <a:r>
              <a:rPr lang="en-US" sz="1600" b="0" dirty="0">
                <a:solidFill>
                  <a:srgbClr val="9A9A9A"/>
                </a:solidFill>
                <a:effectLst/>
                <a:latin typeface="Consolas" panose="020B0609020204030204" pitchFamily="49" charset="0"/>
              </a:rPr>
              <a:t>transform</a:t>
            </a:r>
            <a:r>
              <a:rPr lang="en-US" sz="1600" b="0" dirty="0">
                <a:solidFill>
                  <a:srgbClr val="C0C0C0"/>
                </a:solidFill>
                <a:effectLst/>
                <a:latin typeface="Consolas" panose="020B0609020204030204" pitchFamily="49" charset="0"/>
              </a:rPr>
              <a:t>=</a:t>
            </a:r>
            <a:r>
              <a:rPr lang="en-US" sz="1600" b="0" dirty="0">
                <a:solidFill>
                  <a:srgbClr val="229977"/>
                </a:solidFill>
                <a:effectLst/>
                <a:latin typeface="Consolas" panose="020B0609020204030204" pitchFamily="49" charset="0"/>
              </a:rPr>
              <a:t> </a:t>
            </a:r>
            <a:r>
              <a:rPr lang="en-US" sz="1600" b="0" dirty="0" err="1">
                <a:solidFill>
                  <a:srgbClr val="229977"/>
                </a:solidFill>
                <a:effectLst/>
                <a:latin typeface="Consolas" panose="020B0609020204030204" pitchFamily="49" charset="0"/>
              </a:rPr>
              <a:t>image_to_tensor</a:t>
            </a:r>
            <a:r>
              <a:rPr lang="en-US" sz="1600" b="0" dirty="0">
                <a:solidFill>
                  <a:srgbClr val="DADADA"/>
                </a:solidFill>
                <a:effectLst/>
                <a:latin typeface="Consolas" panose="020B0609020204030204" pitchFamily="49" charset="0"/>
              </a:rPr>
              <a:t> </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err="1">
                <a:solidFill>
                  <a:schemeClr val="tx2">
                    <a:lumMod val="75000"/>
                    <a:lumOff val="25000"/>
                  </a:schemeClr>
                </a:solidFill>
                <a:effectLst/>
                <a:latin typeface="Consolas" panose="020B0609020204030204" pitchFamily="49" charset="0"/>
              </a:rPr>
              <a:t>testset</a:t>
            </a:r>
            <a:r>
              <a:rPr lang="en-US" sz="1600" b="0" dirty="0">
                <a:solidFill>
                  <a:schemeClr val="tx2">
                    <a:lumMod val="75000"/>
                    <a:lumOff val="25000"/>
                  </a:schemeClr>
                </a:solidFill>
                <a:effectLst/>
                <a:latin typeface="Consolas" panose="020B0609020204030204" pitchFamily="49" charset="0"/>
              </a:rPr>
              <a:t> = </a:t>
            </a:r>
            <a:r>
              <a:rPr lang="en-US" sz="1600" b="0" dirty="0" err="1">
                <a:solidFill>
                  <a:schemeClr val="tx2">
                    <a:lumMod val="75000"/>
                    <a:lumOff val="25000"/>
                  </a:schemeClr>
                </a:solidFill>
                <a:effectLst/>
                <a:latin typeface="Consolas" panose="020B0609020204030204" pitchFamily="49" charset="0"/>
              </a:rPr>
              <a:t>torchvision.datasets.MNIST</a:t>
            </a:r>
            <a:r>
              <a:rPr lang="en-US" sz="1600" b="0" dirty="0">
                <a:solidFill>
                  <a:schemeClr val="tx2">
                    <a:lumMod val="75000"/>
                    <a:lumOff val="25000"/>
                  </a:schemeClr>
                </a:solidFill>
                <a:effectLst/>
                <a:latin typeface="Consolas" panose="020B0609020204030204" pitchFamily="49" charset="0"/>
              </a:rPr>
              <a:t>(</a:t>
            </a:r>
          </a:p>
          <a:p>
            <a:r>
              <a:rPr lang="en-US" sz="1600" dirty="0">
                <a:solidFill>
                  <a:schemeClr val="tx2">
                    <a:lumMod val="75000"/>
                    <a:lumOff val="25000"/>
                  </a:schemeClr>
                </a:solidFill>
                <a:latin typeface="Consolas" panose="020B0609020204030204" pitchFamily="49" charset="0"/>
              </a:rPr>
              <a:t>      </a:t>
            </a:r>
            <a:r>
              <a:rPr lang="en-US" sz="1600" b="0" dirty="0">
                <a:solidFill>
                  <a:schemeClr val="tx2">
                    <a:lumMod val="75000"/>
                    <a:lumOff val="25000"/>
                  </a:schemeClr>
                </a:solidFill>
                <a:effectLst/>
                <a:latin typeface="Consolas" panose="020B0609020204030204" pitchFamily="49" charset="0"/>
              </a:rPr>
              <a:t>root='./tests’, </a:t>
            </a:r>
          </a:p>
          <a:p>
            <a:r>
              <a:rPr lang="en-US" sz="1600" dirty="0">
                <a:solidFill>
                  <a:schemeClr val="tx2">
                    <a:lumMod val="75000"/>
                    <a:lumOff val="25000"/>
                  </a:schemeClr>
                </a:solidFill>
                <a:latin typeface="Consolas" panose="020B0609020204030204" pitchFamily="49" charset="0"/>
              </a:rPr>
              <a:t>      </a:t>
            </a:r>
            <a:r>
              <a:rPr lang="en-US" sz="1600" b="0" dirty="0">
                <a:solidFill>
                  <a:schemeClr val="tx2">
                    <a:lumMod val="75000"/>
                    <a:lumOff val="25000"/>
                  </a:schemeClr>
                </a:solidFill>
                <a:effectLst/>
                <a:latin typeface="Consolas" panose="020B0609020204030204" pitchFamily="49" charset="0"/>
              </a:rPr>
              <a:t>download=True, </a:t>
            </a:r>
          </a:p>
          <a:p>
            <a:r>
              <a:rPr lang="en-US" sz="1600" dirty="0">
                <a:solidFill>
                  <a:schemeClr val="tx2">
                    <a:lumMod val="75000"/>
                    <a:lumOff val="25000"/>
                  </a:schemeClr>
                </a:solidFill>
                <a:latin typeface="Consolas" panose="020B0609020204030204" pitchFamily="49" charset="0"/>
              </a:rPr>
              <a:t>      </a:t>
            </a:r>
            <a:r>
              <a:rPr lang="en-US" sz="1600" b="0" dirty="0">
                <a:solidFill>
                  <a:schemeClr val="tx2">
                    <a:lumMod val="75000"/>
                    <a:lumOff val="25000"/>
                  </a:schemeClr>
                </a:solidFill>
                <a:effectLst/>
                <a:latin typeface="Consolas" panose="020B0609020204030204" pitchFamily="49" charset="0"/>
              </a:rPr>
              <a:t>train=False, </a:t>
            </a:r>
          </a:p>
          <a:p>
            <a:r>
              <a:rPr lang="en-US" sz="1600" dirty="0">
                <a:solidFill>
                  <a:schemeClr val="tx2">
                    <a:lumMod val="75000"/>
                    <a:lumOff val="25000"/>
                  </a:schemeClr>
                </a:solidFill>
                <a:latin typeface="Consolas" panose="020B0609020204030204" pitchFamily="49" charset="0"/>
              </a:rPr>
              <a:t>      </a:t>
            </a:r>
            <a:r>
              <a:rPr lang="en-US" sz="1600" b="0" dirty="0">
                <a:solidFill>
                  <a:schemeClr val="tx2">
                    <a:lumMod val="75000"/>
                    <a:lumOff val="25000"/>
                  </a:schemeClr>
                </a:solidFill>
                <a:effectLst/>
                <a:latin typeface="Consolas" panose="020B0609020204030204" pitchFamily="49" charset="0"/>
              </a:rPr>
              <a:t>transform= </a:t>
            </a:r>
            <a:r>
              <a:rPr lang="en-US" sz="1600" b="0" dirty="0" err="1">
                <a:solidFill>
                  <a:schemeClr val="tx2">
                    <a:lumMod val="75000"/>
                    <a:lumOff val="25000"/>
                  </a:schemeClr>
                </a:solidFill>
                <a:effectLst/>
                <a:latin typeface="Consolas" panose="020B0609020204030204" pitchFamily="49" charset="0"/>
              </a:rPr>
              <a:t>image_to_tensor</a:t>
            </a:r>
            <a:r>
              <a:rPr lang="en-US" sz="1600" b="0" dirty="0">
                <a:solidFill>
                  <a:schemeClr val="tx2">
                    <a:lumMod val="75000"/>
                    <a:lumOff val="25000"/>
                  </a:schemeClr>
                </a:solidFill>
                <a:effectLst/>
                <a:latin typeface="Consolas" panose="020B0609020204030204" pitchFamily="49" charset="0"/>
              </a:rPr>
              <a:t> )</a:t>
            </a:r>
          </a:p>
        </p:txBody>
      </p:sp>
      <p:sp>
        <p:nvSpPr>
          <p:cNvPr id="6" name="Rectangle 5">
            <a:extLst>
              <a:ext uri="{FF2B5EF4-FFF2-40B4-BE49-F238E27FC236}">
                <a16:creationId xmlns:a16="http://schemas.microsoft.com/office/drawing/2014/main" id="{05152ADB-0160-6576-ED79-D89791755164}"/>
              </a:ext>
            </a:extLst>
          </p:cNvPr>
          <p:cNvSpPr/>
          <p:nvPr/>
        </p:nvSpPr>
        <p:spPr>
          <a:xfrm>
            <a:off x="2436812" y="4343400"/>
            <a:ext cx="3048000" cy="9906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allout: Left Arrow 6">
            <a:extLst>
              <a:ext uri="{FF2B5EF4-FFF2-40B4-BE49-F238E27FC236}">
                <a16:creationId xmlns:a16="http://schemas.microsoft.com/office/drawing/2014/main" id="{E74DB2B6-C6F1-398F-6865-57C0F794DC12}"/>
              </a:ext>
            </a:extLst>
          </p:cNvPr>
          <p:cNvSpPr/>
          <p:nvPr/>
        </p:nvSpPr>
        <p:spPr>
          <a:xfrm>
            <a:off x="5531253" y="4343400"/>
            <a:ext cx="6031452" cy="965200"/>
          </a:xfrm>
          <a:prstGeom prst="leftArrowCallout">
            <a:avLst>
              <a:gd name="adj1" fmla="val 25000"/>
              <a:gd name="adj2" fmla="val 25000"/>
              <a:gd name="adj3" fmla="val 25000"/>
              <a:gd name="adj4" fmla="val 9239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The training dataset is going to be downloaded into the folder </a:t>
            </a:r>
            <a:r>
              <a:rPr lang="en-US" b="1" dirty="0">
                <a:solidFill>
                  <a:srgbClr val="FFC000"/>
                </a:solidFill>
                <a:latin typeface="Arial" panose="020B0604020202020204" pitchFamily="34" charset="0"/>
                <a:cs typeface="Arial" panose="020B0604020202020204" pitchFamily="34" charset="0"/>
              </a:rPr>
              <a:t>./training</a:t>
            </a:r>
            <a:r>
              <a:rPr lang="en-US" dirty="0">
                <a:solidFill>
                  <a:srgbClr val="FFC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after it is converted using the provided transformer.</a:t>
            </a:r>
          </a:p>
        </p:txBody>
      </p:sp>
    </p:spTree>
    <p:extLst>
      <p:ext uri="{BB962C8B-B14F-4D97-AF65-F5344CB8AC3E}">
        <p14:creationId xmlns:p14="http://schemas.microsoft.com/office/powerpoint/2010/main" val="1126564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Datasets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486400"/>
          </a:xfrm>
        </p:spPr>
        <p:txBody>
          <a:bodyPr>
            <a:normAutofit/>
          </a:bodyPr>
          <a:lstStyle/>
          <a:p>
            <a:pPr marL="0" indent="0">
              <a:buNone/>
            </a:pPr>
            <a:r>
              <a:rPr lang="en-US" dirty="0"/>
              <a:t>To load the dataset that was downloaded locally, you can use the following code: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Notice that trainset is in fact a </a:t>
            </a:r>
            <a:br>
              <a:rPr lang="en-US" dirty="0"/>
            </a:br>
            <a:r>
              <a:rPr lang="en-US" dirty="0"/>
              <a:t>Dataset object.</a:t>
            </a:r>
          </a:p>
        </p:txBody>
      </p:sp>
      <p:sp>
        <p:nvSpPr>
          <p:cNvPr id="3" name="Rectangle 2">
            <a:extLst>
              <a:ext uri="{FF2B5EF4-FFF2-40B4-BE49-F238E27FC236}">
                <a16:creationId xmlns:a16="http://schemas.microsoft.com/office/drawing/2014/main" id="{D6D73425-A1A3-5330-D892-0B2B1FCB6456}"/>
              </a:ext>
            </a:extLst>
          </p:cNvPr>
          <p:cNvSpPr/>
          <p:nvPr/>
        </p:nvSpPr>
        <p:spPr>
          <a:xfrm>
            <a:off x="1751012" y="2606040"/>
            <a:ext cx="9372600" cy="204216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0" dirty="0">
                <a:solidFill>
                  <a:srgbClr val="B56AA6"/>
                </a:solidFill>
                <a:effectLst/>
                <a:latin typeface="Consolas" panose="020B0609020204030204" pitchFamily="49" charset="0"/>
              </a:rPr>
              <a:t>import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torchvision</a:t>
            </a:r>
            <a:endParaRPr lang="en-US" sz="1600" b="0" dirty="0">
              <a:solidFill>
                <a:srgbClr val="DADADA"/>
              </a:solidFill>
              <a:effectLst/>
              <a:latin typeface="Consolas" panose="020B0609020204030204" pitchFamily="49" charset="0"/>
            </a:endParaRPr>
          </a:p>
          <a:p>
            <a:r>
              <a:rPr lang="en-US" sz="1600" b="0" dirty="0">
                <a:solidFill>
                  <a:srgbClr val="B56AA6"/>
                </a:solidFill>
                <a:effectLst/>
                <a:latin typeface="Consolas" panose="020B0609020204030204" pitchFamily="49" charset="0"/>
              </a:rPr>
              <a:t>import</a:t>
            </a:r>
            <a:r>
              <a:rPr lang="en-US" sz="1600" b="0" dirty="0">
                <a:solidFill>
                  <a:srgbClr val="DADADA"/>
                </a:solidFill>
                <a:effectLst/>
                <a:latin typeface="Consolas" panose="020B0609020204030204" pitchFamily="49" charset="0"/>
              </a:rPr>
              <a:t> </a:t>
            </a:r>
            <a:r>
              <a:rPr lang="en-US" sz="1600" b="0" dirty="0">
                <a:solidFill>
                  <a:srgbClr val="C8C8C8"/>
                </a:solidFill>
                <a:effectLst/>
                <a:latin typeface="Consolas" panose="020B0609020204030204" pitchFamily="49" charset="0"/>
              </a:rPr>
              <a:t>torch</a:t>
            </a:r>
            <a:endParaRPr lang="en-US" sz="1600" b="0" dirty="0">
              <a:solidFill>
                <a:srgbClr val="DADADA"/>
              </a:solidFill>
              <a:effectLst/>
              <a:latin typeface="Consolas" panose="020B0609020204030204" pitchFamily="49" charset="0"/>
            </a:endParaRPr>
          </a:p>
          <a:p>
            <a:br>
              <a:rPr lang="en-US" sz="1600" b="0" dirty="0">
                <a:solidFill>
                  <a:srgbClr val="DADADA"/>
                </a:solidFill>
                <a:effectLst/>
                <a:latin typeface="Consolas" panose="020B0609020204030204" pitchFamily="49" charset="0"/>
              </a:rPr>
            </a:br>
            <a:r>
              <a:rPr lang="en-US" sz="1600" b="0" dirty="0">
                <a:solidFill>
                  <a:srgbClr val="229977"/>
                </a:solidFill>
                <a:effectLst/>
                <a:latin typeface="Consolas" panose="020B0609020204030204" pitchFamily="49" charset="0"/>
              </a:rPr>
              <a:t>trainset</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torchvision</a:t>
            </a:r>
            <a:r>
              <a:rPr lang="en-US" sz="1600" b="0" dirty="0" err="1">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datasets</a:t>
            </a:r>
            <a:r>
              <a:rPr lang="en-US" sz="1600" b="0" dirty="0" err="1">
                <a:solidFill>
                  <a:srgbClr val="B4B4B4"/>
                </a:solidFill>
                <a:effectLst/>
                <a:latin typeface="Consolas" panose="020B0609020204030204" pitchFamily="49" charset="0"/>
              </a:rPr>
              <a:t>.</a:t>
            </a:r>
            <a:r>
              <a:rPr lang="en-US" sz="1600" b="0" dirty="0" err="1">
                <a:solidFill>
                  <a:srgbClr val="5DA963"/>
                </a:solidFill>
                <a:effectLst/>
                <a:latin typeface="Consolas" panose="020B0609020204030204" pitchFamily="49" charset="0"/>
              </a:rPr>
              <a:t>MNIST</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root</a:t>
            </a:r>
            <a:r>
              <a:rPr lang="en-US" sz="1600" b="0" dirty="0">
                <a:solidFill>
                  <a:srgbClr val="C0C0C0"/>
                </a:solidFill>
                <a:effectLst/>
                <a:latin typeface="Consolas" panose="020B0609020204030204" pitchFamily="49" charset="0"/>
              </a:rPr>
              <a:t>=</a:t>
            </a:r>
            <a:r>
              <a:rPr lang="en-US" sz="1600" b="0" dirty="0">
                <a:solidFill>
                  <a:srgbClr val="E8C9BB"/>
                </a:solidFill>
                <a:effectLst/>
                <a:latin typeface="Consolas" panose="020B0609020204030204" pitchFamily="49" charset="0"/>
              </a:rPr>
              <a:t>'</a:t>
            </a:r>
            <a:r>
              <a:rPr lang="en-US" sz="1600" b="0" dirty="0">
                <a:solidFill>
                  <a:srgbClr val="E68A8A"/>
                </a:solidFill>
                <a:effectLst/>
                <a:latin typeface="Consolas" panose="020B0609020204030204" pitchFamily="49" charset="0"/>
              </a:rPr>
              <a:t>./training</a:t>
            </a:r>
            <a:r>
              <a:rPr lang="en-US" sz="1600" b="0" dirty="0">
                <a:solidFill>
                  <a:srgbClr val="E8C9BB"/>
                </a:solidFill>
                <a:effectLst/>
                <a:latin typeface="Consolas" panose="020B0609020204030204" pitchFamily="49" charset="0"/>
              </a:rPr>
              <a:t>'</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9A9A9A"/>
                </a:solidFill>
                <a:effectLst/>
                <a:latin typeface="Consolas" panose="020B0609020204030204" pitchFamily="49" charset="0"/>
              </a:rPr>
              <a:t>download</a:t>
            </a:r>
            <a:r>
              <a:rPr lang="en-US" sz="1600" b="0" dirty="0">
                <a:solidFill>
                  <a:srgbClr val="C0C0C0"/>
                </a:solidFill>
                <a:effectLst/>
                <a:latin typeface="Consolas" panose="020B0609020204030204" pitchFamily="49" charset="0"/>
              </a:rPr>
              <a:t>=</a:t>
            </a:r>
            <a:r>
              <a:rPr lang="en-US" sz="1600" b="0" dirty="0">
                <a:solidFill>
                  <a:srgbClr val="569CD6"/>
                </a:solidFill>
                <a:effectLst/>
                <a:latin typeface="Consolas" panose="020B0609020204030204" pitchFamily="49" charset="0"/>
              </a:rPr>
              <a:t>False</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9A9A9A"/>
                </a:solidFill>
                <a:effectLst/>
                <a:latin typeface="Consolas" panose="020B0609020204030204" pitchFamily="49" charset="0"/>
              </a:rPr>
              <a:t>train</a:t>
            </a:r>
            <a:r>
              <a:rPr lang="en-US" sz="1600" b="0" dirty="0">
                <a:solidFill>
                  <a:srgbClr val="C0C0C0"/>
                </a:solidFill>
                <a:effectLst/>
                <a:latin typeface="Consolas" panose="020B0609020204030204" pitchFamily="49" charset="0"/>
              </a:rPr>
              <a:t>=</a:t>
            </a:r>
            <a:r>
              <a:rPr lang="en-US" sz="1600" b="0" dirty="0">
                <a:solidFill>
                  <a:srgbClr val="569CD6"/>
                </a:solidFill>
                <a:effectLst/>
                <a:latin typeface="Consolas" panose="020B0609020204030204" pitchFamily="49" charset="0"/>
              </a:rPr>
              <a:t>True</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A7A774"/>
                </a:solidFill>
                <a:effectLst/>
                <a:latin typeface="Consolas" panose="020B0609020204030204" pitchFamily="49" charset="0"/>
              </a:rPr>
              <a:t>print</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trainset</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A7A774"/>
                </a:solidFill>
                <a:effectLst/>
                <a:latin typeface="Consolas" panose="020B0609020204030204" pitchFamily="49" charset="0"/>
              </a:rPr>
              <a:t>print</a:t>
            </a:r>
            <a:r>
              <a:rPr lang="en-US" sz="1600" b="0" dirty="0">
                <a:solidFill>
                  <a:srgbClr val="B4B4B4"/>
                </a:solidFill>
                <a:effectLst/>
                <a:latin typeface="Consolas" panose="020B0609020204030204" pitchFamily="49" charset="0"/>
              </a:rPr>
              <a:t>(</a:t>
            </a:r>
            <a:r>
              <a:rPr lang="en-US" sz="1600" b="0" dirty="0">
                <a:solidFill>
                  <a:srgbClr val="E8C9BB"/>
                </a:solidFill>
                <a:effectLst/>
                <a:latin typeface="Consolas" panose="020B0609020204030204" pitchFamily="49" charset="0"/>
              </a:rPr>
              <a:t>"</a:t>
            </a:r>
            <a:r>
              <a:rPr lang="en-US" sz="1600" b="0" dirty="0">
                <a:solidFill>
                  <a:srgbClr val="E68A8A"/>
                </a:solidFill>
                <a:effectLst/>
                <a:latin typeface="Consolas" panose="020B0609020204030204" pitchFamily="49" charset="0"/>
              </a:rPr>
              <a:t>Type = </a:t>
            </a:r>
            <a:r>
              <a:rPr lang="en-US" sz="1600" b="0" dirty="0">
                <a:solidFill>
                  <a:srgbClr val="E8C9BB"/>
                </a:solidFill>
                <a:effectLst/>
                <a:latin typeface="Consolas" panose="020B0609020204030204" pitchFamily="49" charset="0"/>
              </a:rPr>
              <a:t>"</a:t>
            </a:r>
            <a:r>
              <a:rPr lang="en-US" sz="1600" b="0" dirty="0">
                <a:solidFill>
                  <a:srgbClr val="B4B4B4"/>
                </a:solidFill>
                <a:effectLst/>
                <a:latin typeface="Consolas" panose="020B0609020204030204" pitchFamily="49" charset="0"/>
              </a:rPr>
              <a:t>,</a:t>
            </a:r>
            <a:r>
              <a:rPr lang="en-US" sz="1600" b="0" dirty="0">
                <a:solidFill>
                  <a:srgbClr val="5DA963"/>
                </a:solidFill>
                <a:effectLst/>
                <a:latin typeface="Consolas" panose="020B0609020204030204" pitchFamily="49" charset="0"/>
              </a:rPr>
              <a:t>type</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trainset</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A7A774"/>
                </a:solidFill>
                <a:effectLst/>
                <a:latin typeface="Consolas" panose="020B0609020204030204" pitchFamily="49" charset="0"/>
              </a:rPr>
              <a:t>print</a:t>
            </a:r>
            <a:r>
              <a:rPr lang="en-US" sz="1600" b="0" dirty="0">
                <a:solidFill>
                  <a:srgbClr val="B4B4B4"/>
                </a:solidFill>
                <a:effectLst/>
                <a:latin typeface="Consolas" panose="020B0609020204030204" pitchFamily="49" charset="0"/>
              </a:rPr>
              <a:t>(</a:t>
            </a:r>
            <a:r>
              <a:rPr lang="en-US" sz="1600" b="0" dirty="0">
                <a:solidFill>
                  <a:srgbClr val="E8C9BB"/>
                </a:solidFill>
                <a:effectLst/>
                <a:latin typeface="Consolas" panose="020B0609020204030204" pitchFamily="49" charset="0"/>
              </a:rPr>
              <a:t>"</a:t>
            </a:r>
            <a:r>
              <a:rPr lang="en-US" sz="1600" b="0" dirty="0">
                <a:solidFill>
                  <a:srgbClr val="E68A8A"/>
                </a:solidFill>
                <a:effectLst/>
                <a:latin typeface="Consolas" panose="020B0609020204030204" pitchFamily="49" charset="0"/>
              </a:rPr>
              <a:t>Is Dataset = </a:t>
            </a:r>
            <a:r>
              <a:rPr lang="en-US" sz="1600" b="0" dirty="0">
                <a:solidFill>
                  <a:srgbClr val="E8C9BB"/>
                </a:solidFill>
                <a:effectLst/>
                <a:latin typeface="Consolas" panose="020B0609020204030204" pitchFamily="49" charset="0"/>
              </a:rPr>
              <a:t>"</a:t>
            </a:r>
            <a:r>
              <a:rPr lang="en-US" sz="1600" b="0" dirty="0">
                <a:solidFill>
                  <a:srgbClr val="B4B4B4"/>
                </a:solidFill>
                <a:effectLst/>
                <a:latin typeface="Consolas" panose="020B0609020204030204" pitchFamily="49" charset="0"/>
              </a:rPr>
              <a:t>,</a:t>
            </a:r>
            <a:r>
              <a:rPr lang="en-US" sz="1600" b="0" dirty="0" err="1">
                <a:solidFill>
                  <a:srgbClr val="A7A774"/>
                </a:solidFill>
                <a:effectLst/>
                <a:latin typeface="Consolas" panose="020B0609020204030204" pitchFamily="49" charset="0"/>
              </a:rPr>
              <a:t>issubclass</a:t>
            </a:r>
            <a:r>
              <a:rPr lang="en-US" sz="1600" b="0" dirty="0">
                <a:solidFill>
                  <a:srgbClr val="B4B4B4"/>
                </a:solidFill>
                <a:effectLst/>
                <a:latin typeface="Consolas" panose="020B0609020204030204" pitchFamily="49" charset="0"/>
              </a:rPr>
              <a:t>(</a:t>
            </a:r>
            <a:r>
              <a:rPr lang="en-US" sz="1600" b="0" dirty="0">
                <a:solidFill>
                  <a:srgbClr val="5DA963"/>
                </a:solidFill>
                <a:effectLst/>
                <a:latin typeface="Consolas" panose="020B0609020204030204" pitchFamily="49" charset="0"/>
              </a:rPr>
              <a:t>type</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trainset</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utils</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data</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Dataset</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p:txBody>
      </p:sp>
      <p:graphicFrame>
        <p:nvGraphicFramePr>
          <p:cNvPr id="6" name="Table 3">
            <a:extLst>
              <a:ext uri="{FF2B5EF4-FFF2-40B4-BE49-F238E27FC236}">
                <a16:creationId xmlns:a16="http://schemas.microsoft.com/office/drawing/2014/main" id="{E7CDA829-2A8C-009A-A956-D7BEEA011382}"/>
              </a:ext>
            </a:extLst>
          </p:cNvPr>
          <p:cNvGraphicFramePr>
            <a:graphicFrameLocks noGrp="1"/>
          </p:cNvGraphicFramePr>
          <p:nvPr/>
        </p:nvGraphicFramePr>
        <p:xfrm>
          <a:off x="7694612" y="4724400"/>
          <a:ext cx="3460263" cy="1742440"/>
        </p:xfrm>
        <a:graphic>
          <a:graphicData uri="http://schemas.openxmlformats.org/drawingml/2006/table">
            <a:tbl>
              <a:tblPr firstRow="1" bandRow="1">
                <a:tableStyleId>{073A0DAA-6AF3-43AB-8588-CEC1D06C72B9}</a:tableStyleId>
              </a:tblPr>
              <a:tblGrid>
                <a:gridCol w="3460263">
                  <a:extLst>
                    <a:ext uri="{9D8B030D-6E8A-4147-A177-3AD203B41FA5}">
                      <a16:colId xmlns:a16="http://schemas.microsoft.com/office/drawing/2014/main" val="3899577134"/>
                    </a:ext>
                  </a:extLst>
                </a:gridCol>
              </a:tblGrid>
              <a:tr h="370840">
                <a:tc>
                  <a:txBody>
                    <a:bodyPr/>
                    <a:lstStyle/>
                    <a:p>
                      <a:r>
                        <a:rPr lang="en-US" sz="1600" dirty="0"/>
                        <a:t>Output</a:t>
                      </a:r>
                    </a:p>
                  </a:txBody>
                  <a:tcPr/>
                </a:tc>
                <a:extLst>
                  <a:ext uri="{0D108BD9-81ED-4DB2-BD59-A6C34878D82A}">
                    <a16:rowId xmlns:a16="http://schemas.microsoft.com/office/drawing/2014/main" val="117988312"/>
                  </a:ext>
                </a:extLst>
              </a:tr>
              <a:tr h="370840">
                <a:tc>
                  <a:txBody>
                    <a:bodyPr/>
                    <a:lstStyle/>
                    <a:p>
                      <a:r>
                        <a:rPr lang="en-US" sz="1200" dirty="0">
                          <a:solidFill>
                            <a:schemeClr val="tx2"/>
                          </a:solidFill>
                          <a:latin typeface="Consolas" panose="020B0609020204030204" pitchFamily="49" charset="0"/>
                        </a:rPr>
                        <a:t>Dataset MNIST</a:t>
                      </a:r>
                    </a:p>
                    <a:p>
                      <a:r>
                        <a:rPr lang="en-US" sz="1200" dirty="0">
                          <a:solidFill>
                            <a:schemeClr val="tx2"/>
                          </a:solidFill>
                          <a:latin typeface="Consolas" panose="020B0609020204030204" pitchFamily="49" charset="0"/>
                        </a:rPr>
                        <a:t>    Number of datapoints: 60000</a:t>
                      </a:r>
                    </a:p>
                    <a:p>
                      <a:r>
                        <a:rPr lang="en-US" sz="1200" dirty="0">
                          <a:solidFill>
                            <a:schemeClr val="tx2"/>
                          </a:solidFill>
                          <a:latin typeface="Consolas" panose="020B0609020204030204" pitchFamily="49" charset="0"/>
                        </a:rPr>
                        <a:t>    Root location: ./training</a:t>
                      </a:r>
                    </a:p>
                    <a:p>
                      <a:r>
                        <a:rPr lang="en-US" sz="1200" dirty="0">
                          <a:solidFill>
                            <a:schemeClr val="tx2"/>
                          </a:solidFill>
                          <a:latin typeface="Consolas" panose="020B0609020204030204" pitchFamily="49" charset="0"/>
                        </a:rPr>
                        <a:t>    Split: Train</a:t>
                      </a:r>
                    </a:p>
                    <a:p>
                      <a:r>
                        <a:rPr lang="en-US" sz="1200" dirty="0">
                          <a:solidFill>
                            <a:schemeClr val="tx2"/>
                          </a:solidFill>
                          <a:latin typeface="Consolas" panose="020B0609020204030204" pitchFamily="49" charset="0"/>
                        </a:rPr>
                        <a:t>Type =  &lt;class '</a:t>
                      </a:r>
                      <a:r>
                        <a:rPr lang="en-US" sz="1200" dirty="0" err="1">
                          <a:solidFill>
                            <a:schemeClr val="tx2"/>
                          </a:solidFill>
                          <a:latin typeface="Consolas" panose="020B0609020204030204" pitchFamily="49" charset="0"/>
                        </a:rPr>
                        <a:t>torchvision.datasets.mnist.MNIST</a:t>
                      </a:r>
                      <a:r>
                        <a:rPr lang="en-US" sz="1200" dirty="0">
                          <a:solidFill>
                            <a:schemeClr val="tx2"/>
                          </a:solidFill>
                          <a:latin typeface="Consolas" panose="020B0609020204030204" pitchFamily="49" charset="0"/>
                        </a:rPr>
                        <a:t>'&gt;</a:t>
                      </a:r>
                    </a:p>
                    <a:p>
                      <a:r>
                        <a:rPr lang="en-US" sz="1200" dirty="0">
                          <a:solidFill>
                            <a:schemeClr val="tx2"/>
                          </a:solidFill>
                          <a:latin typeface="Consolas" panose="020B0609020204030204" pitchFamily="49" charset="0"/>
                        </a:rPr>
                        <a:t>Is Dataset =  True</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16826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err="1"/>
              <a:t>Dataloaders</a:t>
            </a:r>
            <a:endParaRPr lang="en-US" dirty="0"/>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486400"/>
          </a:xfrm>
        </p:spPr>
        <p:txBody>
          <a:bodyPr>
            <a:normAutofit/>
          </a:bodyPr>
          <a:lstStyle/>
          <a:p>
            <a:pPr marL="0" indent="0">
              <a:buNone/>
            </a:pPr>
            <a:r>
              <a:rPr lang="en-US" dirty="0"/>
              <a:t>Having access to a dataset is not enough. In many cases, the training implies building batches, shuffling the data, and other data sampling procedures.</a:t>
            </a:r>
          </a:p>
          <a:p>
            <a:pPr marL="0" indent="0">
              <a:buNone/>
            </a:pPr>
            <a:endParaRPr lang="en-US" dirty="0"/>
          </a:p>
          <a:p>
            <a:pPr marL="0" indent="0">
              <a:buNone/>
            </a:pPr>
            <a:r>
              <a:rPr lang="en-US" dirty="0"/>
              <a:t>These procedures work independently from the actual data set (they are agnostic to the content).</a:t>
            </a:r>
          </a:p>
          <a:p>
            <a:pPr marL="0" indent="0">
              <a:buNone/>
            </a:pPr>
            <a:endParaRPr lang="en-US" dirty="0"/>
          </a:p>
          <a:p>
            <a:pPr marL="0" indent="0">
              <a:buNone/>
            </a:pPr>
            <a:r>
              <a:rPr lang="en-US" dirty="0"/>
              <a:t>As such, </a:t>
            </a:r>
            <a:r>
              <a:rPr lang="en-US" dirty="0" err="1"/>
              <a:t>PyTorch</a:t>
            </a:r>
            <a:r>
              <a:rPr lang="en-US" dirty="0"/>
              <a:t> provide another class: </a:t>
            </a:r>
            <a:r>
              <a:rPr lang="en-US" b="1" dirty="0" err="1"/>
              <a:t>torch.utils.data.DataLoader</a:t>
            </a:r>
            <a:r>
              <a:rPr lang="en-US" b="1" dirty="0"/>
              <a:t> </a:t>
            </a:r>
            <a:r>
              <a:rPr lang="en-US" dirty="0"/>
              <a:t>that can facilitate this procedures.</a:t>
            </a:r>
          </a:p>
        </p:txBody>
      </p:sp>
    </p:spTree>
    <p:extLst>
      <p:ext uri="{BB962C8B-B14F-4D97-AF65-F5344CB8AC3E}">
        <p14:creationId xmlns:p14="http://schemas.microsoft.com/office/powerpoint/2010/main" val="808766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err="1"/>
              <a:t>Dataloaders</a:t>
            </a:r>
            <a:r>
              <a:rPr lang="en-US" dirty="0"/>
              <a:t>`</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45911" y="1371600"/>
            <a:ext cx="9782801" cy="5486400"/>
          </a:xfrm>
        </p:spPr>
        <p:txBody>
          <a:bodyPr>
            <a:normAutofit/>
          </a:bodyPr>
          <a:lstStyle/>
          <a:p>
            <a:pPr marL="0" indent="0">
              <a:buNone/>
            </a:pPr>
            <a:r>
              <a:rPr lang="en-US" dirty="0"/>
              <a:t>Let’s see an example that uses </a:t>
            </a:r>
            <a:r>
              <a:rPr lang="en-US" dirty="0" err="1"/>
              <a:t>Dataloaders</a:t>
            </a:r>
            <a:r>
              <a:rPr lang="en-US" dirty="0"/>
              <a:t>:</a:t>
            </a:r>
          </a:p>
        </p:txBody>
      </p:sp>
      <p:sp>
        <p:nvSpPr>
          <p:cNvPr id="3" name="Rectangle 2">
            <a:extLst>
              <a:ext uri="{FF2B5EF4-FFF2-40B4-BE49-F238E27FC236}">
                <a16:creationId xmlns:a16="http://schemas.microsoft.com/office/drawing/2014/main" id="{2C8B4AB4-AA56-0DAE-54C0-511F9722D3F1}"/>
              </a:ext>
            </a:extLst>
          </p:cNvPr>
          <p:cNvSpPr/>
          <p:nvPr/>
        </p:nvSpPr>
        <p:spPr>
          <a:xfrm>
            <a:off x="1751012" y="2057400"/>
            <a:ext cx="9372600" cy="4622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0" dirty="0">
                <a:solidFill>
                  <a:srgbClr val="B56AA6"/>
                </a:solidFill>
                <a:effectLst/>
                <a:latin typeface="Consolas" panose="020B0609020204030204" pitchFamily="49" charset="0"/>
              </a:rPr>
              <a:t>import</a:t>
            </a:r>
            <a:r>
              <a:rPr lang="en-US" sz="1600" b="0" dirty="0">
                <a:solidFill>
                  <a:srgbClr val="DADADA"/>
                </a:solidFill>
                <a:effectLst/>
                <a:latin typeface="Consolas" panose="020B0609020204030204" pitchFamily="49" charset="0"/>
              </a:rPr>
              <a:t> </a:t>
            </a:r>
            <a:r>
              <a:rPr lang="en-US" sz="1600" b="0" dirty="0">
                <a:solidFill>
                  <a:srgbClr val="C8C8C8"/>
                </a:solidFill>
                <a:effectLst/>
                <a:latin typeface="Consolas" panose="020B0609020204030204" pitchFamily="49" charset="0"/>
              </a:rPr>
              <a:t>torch</a:t>
            </a:r>
            <a:endParaRPr lang="en-US" sz="1600" b="0" dirty="0">
              <a:solidFill>
                <a:srgbClr val="DADADA"/>
              </a:solidFill>
              <a:effectLst/>
              <a:latin typeface="Consolas" panose="020B0609020204030204" pitchFamily="49" charset="0"/>
            </a:endParaRPr>
          </a:p>
          <a:p>
            <a:r>
              <a:rPr lang="en-US" sz="1600" b="0" dirty="0">
                <a:solidFill>
                  <a:srgbClr val="B56AA6"/>
                </a:solidFill>
                <a:effectLst/>
                <a:latin typeface="Consolas" panose="020B0609020204030204" pitchFamily="49" charset="0"/>
              </a:rPr>
              <a:t>from</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utils</a:t>
            </a:r>
            <a:r>
              <a:rPr lang="en-US" sz="1600" b="0" dirty="0" err="1">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data</a:t>
            </a:r>
            <a:r>
              <a:rPr lang="en-US" sz="1600" b="0" dirty="0">
                <a:solidFill>
                  <a:srgbClr val="DADADA"/>
                </a:solidFill>
                <a:effectLst/>
                <a:latin typeface="Consolas" panose="020B0609020204030204" pitchFamily="49" charset="0"/>
              </a:rPr>
              <a:t> </a:t>
            </a:r>
            <a:r>
              <a:rPr lang="en-US" sz="1600" b="0" dirty="0">
                <a:solidFill>
                  <a:srgbClr val="B56AA6"/>
                </a:solidFill>
                <a:effectLst/>
                <a:latin typeface="Consolas" panose="020B0609020204030204" pitchFamily="49" charset="0"/>
              </a:rPr>
              <a:t>import</a:t>
            </a:r>
            <a:r>
              <a:rPr lang="en-US" sz="1600" b="0" dirty="0">
                <a:solidFill>
                  <a:srgbClr val="DADADA"/>
                </a:solidFill>
                <a:effectLst/>
                <a:latin typeface="Consolas" panose="020B0609020204030204" pitchFamily="49" charset="0"/>
              </a:rPr>
              <a:t> </a:t>
            </a:r>
            <a:r>
              <a:rPr lang="en-US" sz="1600" b="0" dirty="0">
                <a:solidFill>
                  <a:srgbClr val="5DA963"/>
                </a:solidFill>
                <a:effectLst/>
                <a:latin typeface="Consolas" panose="020B0609020204030204" pitchFamily="49" charset="0"/>
              </a:rPr>
              <a:t>Dataset</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5DA963"/>
                </a:solidFill>
                <a:effectLst/>
                <a:latin typeface="Consolas" panose="020B0609020204030204" pitchFamily="49" charset="0"/>
              </a:rPr>
              <a:t>DataLoader</a:t>
            </a:r>
            <a:endParaRPr lang="en-US" sz="1600" b="0" dirty="0">
              <a:solidFill>
                <a:srgbClr val="DADADA"/>
              </a:solidFill>
              <a:effectLst/>
              <a:latin typeface="Consolas" panose="020B0609020204030204" pitchFamily="49" charset="0"/>
            </a:endParaRPr>
          </a:p>
          <a:p>
            <a:br>
              <a:rPr lang="en-US" sz="1600" b="0" dirty="0">
                <a:solidFill>
                  <a:srgbClr val="DADADA"/>
                </a:solidFill>
                <a:effectLst/>
                <a:latin typeface="Consolas" panose="020B0609020204030204" pitchFamily="49" charset="0"/>
              </a:rPr>
            </a:br>
            <a:r>
              <a:rPr lang="en-US" sz="1600" b="0" dirty="0">
                <a:solidFill>
                  <a:srgbClr val="A0A0FF"/>
                </a:solidFill>
                <a:effectLst/>
                <a:latin typeface="Consolas" panose="020B0609020204030204" pitchFamily="49" charset="0"/>
              </a:rPr>
              <a:t>class</a:t>
            </a:r>
            <a:r>
              <a:rPr lang="en-US" sz="1600" b="0" dirty="0">
                <a:solidFill>
                  <a:srgbClr val="DADADA"/>
                </a:solidFill>
                <a:effectLst/>
                <a:latin typeface="Consolas" panose="020B0609020204030204" pitchFamily="49" charset="0"/>
              </a:rPr>
              <a:t> </a:t>
            </a:r>
            <a:r>
              <a:rPr lang="en-US" sz="1600" b="0" dirty="0" err="1">
                <a:solidFill>
                  <a:srgbClr val="5DA963"/>
                </a:solidFill>
                <a:effectLst/>
                <a:latin typeface="Consolas" panose="020B0609020204030204" pitchFamily="49" charset="0"/>
              </a:rPr>
              <a:t>SimpleDataset</a:t>
            </a:r>
            <a:r>
              <a:rPr lang="en-US" sz="1600" b="0" dirty="0">
                <a:solidFill>
                  <a:srgbClr val="B4B4B4"/>
                </a:solidFill>
                <a:effectLst/>
                <a:latin typeface="Consolas" panose="020B0609020204030204" pitchFamily="49" charset="0"/>
              </a:rPr>
              <a:t>(</a:t>
            </a:r>
            <a:r>
              <a:rPr lang="en-US" sz="1600" b="0" dirty="0">
                <a:solidFill>
                  <a:srgbClr val="5DA963"/>
                </a:solidFill>
                <a:effectLst/>
                <a:latin typeface="Consolas" panose="020B0609020204030204" pitchFamily="49" charset="0"/>
              </a:rPr>
              <a:t>Dataset</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A0A0FF"/>
                </a:solidFill>
                <a:effectLst/>
                <a:latin typeface="Consolas" panose="020B0609020204030204" pitchFamily="49" charset="0"/>
              </a:rPr>
              <a:t>def</a:t>
            </a:r>
            <a:r>
              <a:rPr lang="en-US" sz="1600" b="0" dirty="0">
                <a:solidFill>
                  <a:srgbClr val="DADADA"/>
                </a:solidFill>
                <a:effectLst/>
                <a:latin typeface="Consolas" panose="020B0609020204030204" pitchFamily="49" charset="0"/>
              </a:rPr>
              <a:t> </a:t>
            </a:r>
            <a:r>
              <a:rPr lang="en-US" sz="1600" b="0" dirty="0">
                <a:solidFill>
                  <a:srgbClr val="A7A774"/>
                </a:solidFill>
                <a:effectLst/>
                <a:latin typeface="Consolas" panose="020B0609020204030204" pitchFamily="49" charset="0"/>
              </a:rPr>
              <a:t>__</a:t>
            </a:r>
            <a:r>
              <a:rPr lang="en-US" sz="1600" b="0" dirty="0" err="1">
                <a:solidFill>
                  <a:srgbClr val="A7A774"/>
                </a:solidFill>
                <a:effectLst/>
                <a:latin typeface="Consolas" panose="020B0609020204030204" pitchFamily="49" charset="0"/>
              </a:rPr>
              <a:t>init</a:t>
            </a:r>
            <a:r>
              <a:rPr lang="en-US" sz="1600" b="0" dirty="0">
                <a:solidFill>
                  <a:srgbClr val="A7A774"/>
                </a:solidFill>
                <a:effectLst/>
                <a:latin typeface="Consolas" panose="020B0609020204030204" pitchFamily="49" charset="0"/>
              </a:rPr>
              <a:t>__</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self</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samples</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A7A774"/>
                </a:solidFill>
                <a:effectLst/>
                <a:latin typeface="Consolas" panose="020B0609020204030204" pitchFamily="49" charset="0"/>
              </a:rPr>
              <a:t>randn</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9</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E0EBB2"/>
                </a:solidFill>
                <a:effectLst/>
                <a:latin typeface="Consolas" panose="020B0609020204030204" pitchFamily="49" charset="0"/>
              </a:rPr>
              <a:t>4</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label</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A7A774"/>
                </a:solidFill>
                <a:effectLst/>
                <a:latin typeface="Consolas" panose="020B0609020204030204" pitchFamily="49" charset="0"/>
              </a:rPr>
              <a:t>randn</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9</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A0A0FF"/>
                </a:solidFill>
                <a:effectLst/>
                <a:latin typeface="Consolas" panose="020B0609020204030204" pitchFamily="49" charset="0"/>
              </a:rPr>
              <a:t>def</a:t>
            </a:r>
            <a:r>
              <a:rPr lang="en-US" sz="1600" b="0" dirty="0">
                <a:solidFill>
                  <a:srgbClr val="DADADA"/>
                </a:solidFill>
                <a:effectLst/>
                <a:latin typeface="Consolas" panose="020B0609020204030204" pitchFamily="49" charset="0"/>
              </a:rPr>
              <a:t> </a:t>
            </a:r>
            <a:r>
              <a:rPr lang="en-US" sz="1600" b="0" dirty="0">
                <a:solidFill>
                  <a:srgbClr val="A7A774"/>
                </a:solidFill>
                <a:effectLst/>
                <a:latin typeface="Consolas" panose="020B0609020204030204" pitchFamily="49" charset="0"/>
              </a:rPr>
              <a:t>__</a:t>
            </a:r>
            <a:r>
              <a:rPr lang="en-US" sz="1600" b="0" dirty="0" err="1">
                <a:solidFill>
                  <a:srgbClr val="A7A774"/>
                </a:solidFill>
                <a:effectLst/>
                <a:latin typeface="Consolas" panose="020B0609020204030204" pitchFamily="49" charset="0"/>
              </a:rPr>
              <a:t>len</a:t>
            </a:r>
            <a:r>
              <a:rPr lang="en-US" sz="1600" b="0" dirty="0">
                <a:solidFill>
                  <a:srgbClr val="A7A774"/>
                </a:solidFill>
                <a:effectLst/>
                <a:latin typeface="Consolas" panose="020B0609020204030204" pitchFamily="49" charset="0"/>
              </a:rPr>
              <a:t>__</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self</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B56AA6"/>
                </a:solidFill>
                <a:effectLst/>
                <a:latin typeface="Consolas" panose="020B0609020204030204" pitchFamily="49" charset="0"/>
              </a:rPr>
              <a:t>return</a:t>
            </a:r>
            <a:r>
              <a:rPr lang="en-US" sz="1600" b="0" dirty="0">
                <a:solidFill>
                  <a:srgbClr val="DADADA"/>
                </a:solidFill>
                <a:effectLst/>
                <a:latin typeface="Consolas" panose="020B0609020204030204" pitchFamily="49" charset="0"/>
              </a:rPr>
              <a:t> </a:t>
            </a:r>
            <a:r>
              <a:rPr lang="en-US" sz="1600" b="0" dirty="0" err="1">
                <a:solidFill>
                  <a:srgbClr val="A7A774"/>
                </a:solidFill>
                <a:effectLst/>
                <a:latin typeface="Consolas" panose="020B0609020204030204" pitchFamily="49" charset="0"/>
              </a:rPr>
              <a:t>len</a:t>
            </a:r>
            <a:r>
              <a:rPr lang="en-US" sz="1600" b="0" dirty="0">
                <a:solidFill>
                  <a:srgbClr val="B4B4B4"/>
                </a:solidFill>
                <a:effectLst/>
                <a:latin typeface="Consolas" panose="020B0609020204030204" pitchFamily="49" charset="0"/>
              </a:rPr>
              <a:t>(</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samples</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A0A0FF"/>
                </a:solidFill>
                <a:effectLst/>
                <a:latin typeface="Consolas" panose="020B0609020204030204" pitchFamily="49" charset="0"/>
              </a:rPr>
              <a:t>def</a:t>
            </a:r>
            <a:r>
              <a:rPr lang="en-US" sz="1600" b="0" dirty="0">
                <a:solidFill>
                  <a:srgbClr val="DADADA"/>
                </a:solidFill>
                <a:effectLst/>
                <a:latin typeface="Consolas" panose="020B0609020204030204" pitchFamily="49" charset="0"/>
              </a:rPr>
              <a:t> </a:t>
            </a:r>
            <a:r>
              <a:rPr lang="en-US" sz="1600" b="0" dirty="0">
                <a:solidFill>
                  <a:srgbClr val="A7A774"/>
                </a:solidFill>
                <a:effectLst/>
                <a:latin typeface="Consolas" panose="020B0609020204030204" pitchFamily="49" charset="0"/>
              </a:rPr>
              <a:t>__</a:t>
            </a:r>
            <a:r>
              <a:rPr lang="en-US" sz="1600" b="0" dirty="0" err="1">
                <a:solidFill>
                  <a:srgbClr val="A7A774"/>
                </a:solidFill>
                <a:effectLst/>
                <a:latin typeface="Consolas" panose="020B0609020204030204" pitchFamily="49" charset="0"/>
              </a:rPr>
              <a:t>getitem</a:t>
            </a:r>
            <a:r>
              <a:rPr lang="en-US" sz="1600" b="0" dirty="0">
                <a:solidFill>
                  <a:srgbClr val="A7A774"/>
                </a:solidFill>
                <a:effectLst/>
                <a:latin typeface="Consolas" panose="020B0609020204030204" pitchFamily="49" charset="0"/>
              </a:rPr>
              <a:t>__</a:t>
            </a:r>
            <a:r>
              <a:rPr lang="en-US" sz="1600" b="0" dirty="0">
                <a:solidFill>
                  <a:srgbClr val="B4B4B4"/>
                </a:solidFill>
                <a:effectLst/>
                <a:latin typeface="Consolas" panose="020B0609020204030204" pitchFamily="49" charset="0"/>
              </a:rPr>
              <a:t>(</a:t>
            </a:r>
            <a:r>
              <a:rPr lang="en-US" sz="1600" b="0" dirty="0">
                <a:solidFill>
                  <a:srgbClr val="9A9A9A"/>
                </a:solidFill>
                <a:effectLst/>
                <a:latin typeface="Consolas" panose="020B0609020204030204" pitchFamily="49" charset="0"/>
              </a:rPr>
              <a:t>self</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idx</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B56AA6"/>
                </a:solidFill>
                <a:effectLst/>
                <a:latin typeface="Consolas" panose="020B0609020204030204" pitchFamily="49" charset="0"/>
              </a:rPr>
              <a:t>return</a:t>
            </a:r>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samples</a:t>
            </a:r>
            <a:r>
              <a:rPr lang="en-US" sz="1600" b="0" dirty="0">
                <a:solidFill>
                  <a:srgbClr val="B4B4B4"/>
                </a:solidFill>
                <a:effectLst/>
                <a:latin typeface="Consolas" panose="020B0609020204030204" pitchFamily="49" charset="0"/>
              </a:rPr>
              <a:t>[</a:t>
            </a:r>
            <a:r>
              <a:rPr lang="en-US" sz="1600" b="0" dirty="0" err="1">
                <a:solidFill>
                  <a:srgbClr val="9A9A9A"/>
                </a:solidFill>
                <a:effectLst/>
                <a:latin typeface="Consolas" panose="020B0609020204030204" pitchFamily="49" charset="0"/>
              </a:rPr>
              <a:t>idx</a:t>
            </a:r>
            <a:r>
              <a:rPr lang="en-US" sz="1600" b="0" dirty="0">
                <a:solidFill>
                  <a:srgbClr val="B4B4B4"/>
                </a:solidFill>
                <a:effectLst/>
                <a:latin typeface="Consolas" panose="020B0609020204030204" pitchFamily="49" charset="0"/>
              </a:rPr>
              <a:t>],</a:t>
            </a:r>
            <a:r>
              <a:rPr lang="en-US" sz="1600" b="0" dirty="0" err="1">
                <a:solidFill>
                  <a:srgbClr val="9A9A9A"/>
                </a:solidFill>
                <a:effectLst/>
                <a:latin typeface="Consolas" panose="020B0609020204030204" pitchFamily="49" charset="0"/>
              </a:rPr>
              <a:t>self</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label</a:t>
            </a:r>
            <a:r>
              <a:rPr lang="en-US" sz="1600" b="0" dirty="0">
                <a:solidFill>
                  <a:srgbClr val="B4B4B4"/>
                </a:solidFill>
                <a:effectLst/>
                <a:latin typeface="Consolas" panose="020B0609020204030204" pitchFamily="49" charset="0"/>
              </a:rPr>
              <a:t>[</a:t>
            </a:r>
            <a:r>
              <a:rPr lang="en-US" sz="1600" b="0" dirty="0" err="1">
                <a:solidFill>
                  <a:srgbClr val="9A9A9A"/>
                </a:solidFill>
                <a:effectLst/>
                <a:latin typeface="Consolas" panose="020B0609020204030204" pitchFamily="49" charset="0"/>
              </a:rPr>
              <a:t>idx</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br>
              <a:rPr lang="en-US" sz="1600" b="0" dirty="0">
                <a:solidFill>
                  <a:srgbClr val="DADADA"/>
                </a:solidFill>
                <a:effectLst/>
                <a:latin typeface="Consolas" panose="020B0609020204030204" pitchFamily="49" charset="0"/>
              </a:rPr>
            </a:br>
            <a:r>
              <a:rPr lang="en-US" sz="1600" b="0" dirty="0">
                <a:solidFill>
                  <a:srgbClr val="229977"/>
                </a:solidFill>
                <a:effectLst/>
                <a:latin typeface="Consolas" panose="020B0609020204030204" pitchFamily="49" charset="0"/>
              </a:rPr>
              <a:t>dataset</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5DA963"/>
                </a:solidFill>
                <a:effectLst/>
                <a:latin typeface="Consolas" panose="020B0609020204030204" pitchFamily="49" charset="0"/>
              </a:rPr>
              <a:t>SimpleDataset</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err="1">
                <a:solidFill>
                  <a:srgbClr val="229977"/>
                </a:solidFill>
                <a:effectLst/>
                <a:latin typeface="Consolas" panose="020B0609020204030204" pitchFamily="49" charset="0"/>
              </a:rPr>
              <a:t>dataloader</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5DA963"/>
                </a:solidFill>
                <a:effectLst/>
                <a:latin typeface="Consolas" panose="020B0609020204030204" pitchFamily="49" charset="0"/>
              </a:rPr>
              <a:t>DataLoader</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dataset</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batch_size</a:t>
            </a:r>
            <a:r>
              <a:rPr lang="en-US" sz="1600" b="0" dirty="0">
                <a:solidFill>
                  <a:srgbClr val="C0C0C0"/>
                </a:solidFill>
                <a:effectLst/>
                <a:latin typeface="Consolas" panose="020B0609020204030204" pitchFamily="49" charset="0"/>
              </a:rPr>
              <a:t>=</a:t>
            </a:r>
            <a:r>
              <a:rPr lang="en-US" sz="1600" b="0" dirty="0">
                <a:solidFill>
                  <a:srgbClr val="E0EBB2"/>
                </a:solidFill>
                <a:effectLst/>
                <a:latin typeface="Consolas" panose="020B0609020204030204" pitchFamily="49" charset="0"/>
              </a:rPr>
              <a:t>3</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9A9A9A"/>
                </a:solidFill>
                <a:effectLst/>
                <a:latin typeface="Consolas" panose="020B0609020204030204" pitchFamily="49" charset="0"/>
              </a:rPr>
              <a:t>shuffle</a:t>
            </a:r>
            <a:r>
              <a:rPr lang="en-US" sz="1600" b="0" dirty="0">
                <a:solidFill>
                  <a:srgbClr val="C0C0C0"/>
                </a:solidFill>
                <a:effectLst/>
                <a:latin typeface="Consolas" panose="020B0609020204030204" pitchFamily="49" charset="0"/>
              </a:rPr>
              <a:t>=</a:t>
            </a:r>
            <a:r>
              <a:rPr lang="en-US" sz="1600" b="0" dirty="0">
                <a:solidFill>
                  <a:srgbClr val="569CD6"/>
                </a:solidFill>
                <a:effectLst/>
                <a:latin typeface="Consolas" panose="020B0609020204030204" pitchFamily="49" charset="0"/>
              </a:rPr>
              <a:t>True</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br>
              <a:rPr lang="en-US" sz="1600" b="0" dirty="0">
                <a:solidFill>
                  <a:srgbClr val="DADADA"/>
                </a:solidFill>
                <a:effectLst/>
                <a:latin typeface="Consolas" panose="020B0609020204030204" pitchFamily="49" charset="0"/>
              </a:rPr>
            </a:br>
            <a:r>
              <a:rPr lang="en-US" sz="1600" b="0" dirty="0">
                <a:solidFill>
                  <a:srgbClr val="B56AA6"/>
                </a:solidFill>
                <a:effectLst/>
                <a:latin typeface="Consolas" panose="020B0609020204030204" pitchFamily="49" charset="0"/>
              </a:rPr>
              <a:t>for</a:t>
            </a:r>
            <a:r>
              <a:rPr lang="en-US" sz="1600" b="0" dirty="0">
                <a:solidFill>
                  <a:srgbClr val="DADADA"/>
                </a:solidFill>
                <a:effectLst/>
                <a:latin typeface="Consolas" panose="020B0609020204030204" pitchFamily="49" charset="0"/>
              </a:rPr>
              <a:t> </a:t>
            </a:r>
            <a:r>
              <a:rPr lang="en-US" sz="1600" b="0" dirty="0" err="1">
                <a:solidFill>
                  <a:srgbClr val="229977"/>
                </a:solidFill>
                <a:effectLst/>
                <a:latin typeface="Consolas" panose="020B0609020204030204" pitchFamily="49" charset="0"/>
              </a:rPr>
              <a:t>inputs</a:t>
            </a:r>
            <a:r>
              <a:rPr lang="en-US" sz="1600" b="0" dirty="0" err="1">
                <a:solidFill>
                  <a:srgbClr val="B4B4B4"/>
                </a:solidFill>
                <a:effectLst/>
                <a:latin typeface="Consolas" panose="020B0609020204030204" pitchFamily="49" charset="0"/>
              </a:rPr>
              <a:t>,</a:t>
            </a:r>
            <a:r>
              <a:rPr lang="en-US" sz="1600" b="0" dirty="0" err="1">
                <a:solidFill>
                  <a:srgbClr val="229977"/>
                </a:solidFill>
                <a:effectLst/>
                <a:latin typeface="Consolas" panose="020B0609020204030204" pitchFamily="49" charset="0"/>
              </a:rPr>
              <a:t>labels</a:t>
            </a:r>
            <a:r>
              <a:rPr lang="en-US" sz="1600" b="0" dirty="0">
                <a:solidFill>
                  <a:srgbClr val="DADADA"/>
                </a:solidFill>
                <a:effectLst/>
                <a:latin typeface="Consolas" panose="020B0609020204030204" pitchFamily="49" charset="0"/>
              </a:rPr>
              <a:t> </a:t>
            </a:r>
            <a:r>
              <a:rPr lang="en-US" sz="1600" b="0" dirty="0">
                <a:solidFill>
                  <a:srgbClr val="B56AA6"/>
                </a:solidFill>
                <a:effectLst/>
                <a:latin typeface="Consolas" panose="020B0609020204030204" pitchFamily="49" charset="0"/>
              </a:rPr>
              <a:t>in</a:t>
            </a:r>
            <a:r>
              <a:rPr lang="en-US" sz="1600" b="0" dirty="0">
                <a:solidFill>
                  <a:srgbClr val="DADADA"/>
                </a:solidFill>
                <a:effectLst/>
                <a:latin typeface="Consolas" panose="020B0609020204030204" pitchFamily="49" charset="0"/>
              </a:rPr>
              <a:t> </a:t>
            </a:r>
            <a:r>
              <a:rPr lang="en-US" sz="1600" b="0" dirty="0" err="1">
                <a:solidFill>
                  <a:srgbClr val="229977"/>
                </a:solidFill>
                <a:effectLst/>
                <a:latin typeface="Consolas" panose="020B0609020204030204" pitchFamily="49" charset="0"/>
              </a:rPr>
              <a:t>dataloader</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A7A774"/>
                </a:solidFill>
                <a:effectLst/>
                <a:latin typeface="Consolas" panose="020B0609020204030204" pitchFamily="49" charset="0"/>
              </a:rPr>
              <a:t>print</a:t>
            </a:r>
            <a:r>
              <a:rPr lang="en-US" sz="1600" b="0" dirty="0">
                <a:solidFill>
                  <a:srgbClr val="B4B4B4"/>
                </a:solidFill>
                <a:effectLst/>
                <a:latin typeface="Consolas" panose="020B0609020204030204" pitchFamily="49" charset="0"/>
              </a:rPr>
              <a:t>(</a:t>
            </a:r>
            <a:r>
              <a:rPr lang="en-US" sz="1600" b="0" dirty="0">
                <a:solidFill>
                  <a:srgbClr val="E8C9BB"/>
                </a:solidFill>
                <a:effectLst/>
                <a:latin typeface="Consolas" panose="020B0609020204030204" pitchFamily="49" charset="0"/>
              </a:rPr>
              <a:t>"</a:t>
            </a:r>
            <a:r>
              <a:rPr lang="en-US" sz="1600" b="0" dirty="0">
                <a:solidFill>
                  <a:srgbClr val="E68A8A"/>
                </a:solidFill>
                <a:effectLst/>
                <a:latin typeface="Consolas" panose="020B0609020204030204" pitchFamily="49" charset="0"/>
              </a:rPr>
              <a:t>input = </a:t>
            </a:r>
            <a:r>
              <a:rPr lang="en-US" sz="1600" b="0" dirty="0">
                <a:solidFill>
                  <a:srgbClr val="E8C9BB"/>
                </a:solidFill>
                <a:effectLst/>
                <a:latin typeface="Consolas" panose="020B0609020204030204" pitchFamily="49" charset="0"/>
              </a:rPr>
              <a:t>"</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inputs</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DADADA"/>
                </a:solidFill>
                <a:effectLst/>
                <a:latin typeface="Consolas" panose="020B0609020204030204" pitchFamily="49" charset="0"/>
              </a:rPr>
              <a:t>    </a:t>
            </a:r>
            <a:r>
              <a:rPr lang="en-US" sz="1600" b="0" dirty="0">
                <a:solidFill>
                  <a:srgbClr val="A7A774"/>
                </a:solidFill>
                <a:effectLst/>
                <a:latin typeface="Consolas" panose="020B0609020204030204" pitchFamily="49" charset="0"/>
              </a:rPr>
              <a:t>print</a:t>
            </a:r>
            <a:r>
              <a:rPr lang="en-US" sz="1600" b="0" dirty="0">
                <a:solidFill>
                  <a:srgbClr val="B4B4B4"/>
                </a:solidFill>
                <a:effectLst/>
                <a:latin typeface="Consolas" panose="020B0609020204030204" pitchFamily="49" charset="0"/>
              </a:rPr>
              <a:t>(</a:t>
            </a:r>
            <a:r>
              <a:rPr lang="en-US" sz="1600" b="0" dirty="0">
                <a:solidFill>
                  <a:srgbClr val="E8C9BB"/>
                </a:solidFill>
                <a:effectLst/>
                <a:latin typeface="Consolas" panose="020B0609020204030204" pitchFamily="49" charset="0"/>
              </a:rPr>
              <a:t>"</a:t>
            </a:r>
            <a:r>
              <a:rPr lang="en-US" sz="1600" b="0" dirty="0">
                <a:solidFill>
                  <a:srgbClr val="E68A8A"/>
                </a:solidFill>
                <a:effectLst/>
                <a:latin typeface="Consolas" panose="020B0609020204030204" pitchFamily="49" charset="0"/>
              </a:rPr>
              <a:t>label = </a:t>
            </a:r>
            <a:r>
              <a:rPr lang="en-US" sz="1600" b="0" dirty="0">
                <a:solidFill>
                  <a:srgbClr val="E8C9BB"/>
                </a:solidFill>
                <a:effectLst/>
                <a:latin typeface="Consolas" panose="020B0609020204030204" pitchFamily="49" charset="0"/>
              </a:rPr>
              <a:t>"</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labels</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p:txBody>
      </p:sp>
      <p:graphicFrame>
        <p:nvGraphicFramePr>
          <p:cNvPr id="5" name="Table 3">
            <a:extLst>
              <a:ext uri="{FF2B5EF4-FFF2-40B4-BE49-F238E27FC236}">
                <a16:creationId xmlns:a16="http://schemas.microsoft.com/office/drawing/2014/main" id="{91BE1C92-6C0F-83C4-21BD-D2424D0A620E}"/>
              </a:ext>
            </a:extLst>
          </p:cNvPr>
          <p:cNvGraphicFramePr>
            <a:graphicFrameLocks noGrp="1"/>
          </p:cNvGraphicFramePr>
          <p:nvPr/>
        </p:nvGraphicFramePr>
        <p:xfrm>
          <a:off x="7694612" y="2080260"/>
          <a:ext cx="4419600" cy="2809240"/>
        </p:xfrm>
        <a:graphic>
          <a:graphicData uri="http://schemas.openxmlformats.org/drawingml/2006/table">
            <a:tbl>
              <a:tblPr firstRow="1" bandRow="1">
                <a:tableStyleId>{073A0DAA-6AF3-43AB-8588-CEC1D06C72B9}</a:tableStyleId>
              </a:tblPr>
              <a:tblGrid>
                <a:gridCol w="4419600">
                  <a:extLst>
                    <a:ext uri="{9D8B030D-6E8A-4147-A177-3AD203B41FA5}">
                      <a16:colId xmlns:a16="http://schemas.microsoft.com/office/drawing/2014/main" val="3899577134"/>
                    </a:ext>
                  </a:extLst>
                </a:gridCol>
              </a:tblGrid>
              <a:tr h="370840">
                <a:tc>
                  <a:txBody>
                    <a:bodyPr/>
                    <a:lstStyle/>
                    <a:p>
                      <a:r>
                        <a:rPr lang="en-US" sz="1600" dirty="0"/>
                        <a:t>Output</a:t>
                      </a:r>
                    </a:p>
                  </a:txBody>
                  <a:tcPr/>
                </a:tc>
                <a:extLst>
                  <a:ext uri="{0D108BD9-81ED-4DB2-BD59-A6C34878D82A}">
                    <a16:rowId xmlns:a16="http://schemas.microsoft.com/office/drawing/2014/main" val="117988312"/>
                  </a:ext>
                </a:extLst>
              </a:tr>
              <a:tr h="370840">
                <a:tc>
                  <a:txBody>
                    <a:bodyPr/>
                    <a:lstStyle/>
                    <a:p>
                      <a:r>
                        <a:rPr lang="en-US" sz="1100" dirty="0">
                          <a:solidFill>
                            <a:schemeClr val="tx2"/>
                          </a:solidFill>
                          <a:latin typeface="Consolas" panose="020B0609020204030204" pitchFamily="49" charset="0"/>
                        </a:rPr>
                        <a:t>input =  tensor([[-0.4845, -0.7876, -0.8023,  0.7854],</a:t>
                      </a:r>
                    </a:p>
                    <a:p>
                      <a:r>
                        <a:rPr lang="en-US" sz="1100" dirty="0">
                          <a:solidFill>
                            <a:schemeClr val="tx2"/>
                          </a:solidFill>
                          <a:latin typeface="Consolas" panose="020B0609020204030204" pitchFamily="49" charset="0"/>
                        </a:rPr>
                        <a:t>        [-1.1448, -0.2380, -1.1686,  0.0655],</a:t>
                      </a:r>
                    </a:p>
                    <a:p>
                      <a:r>
                        <a:rPr lang="en-US" sz="1100" dirty="0">
                          <a:solidFill>
                            <a:schemeClr val="tx2"/>
                          </a:solidFill>
                          <a:latin typeface="Consolas" panose="020B0609020204030204" pitchFamily="49" charset="0"/>
                        </a:rPr>
                        <a:t>        [ 0.0174,  0.4290, -0.5761, -0.1557]])</a:t>
                      </a:r>
                    </a:p>
                    <a:p>
                      <a:r>
                        <a:rPr lang="en-US" sz="1100" dirty="0">
                          <a:solidFill>
                            <a:schemeClr val="tx2"/>
                          </a:solidFill>
                          <a:latin typeface="Consolas" panose="020B0609020204030204" pitchFamily="49" charset="0"/>
                        </a:rPr>
                        <a:t>label =  tensor([-0.0152, -0.0988,  0.2331])</a:t>
                      </a:r>
                    </a:p>
                    <a:p>
                      <a:r>
                        <a:rPr lang="en-US" sz="1100" dirty="0">
                          <a:solidFill>
                            <a:schemeClr val="tx2"/>
                          </a:solidFill>
                          <a:latin typeface="Consolas" panose="020B0609020204030204" pitchFamily="49" charset="0"/>
                        </a:rPr>
                        <a:t>-------------------------------------------------------</a:t>
                      </a:r>
                    </a:p>
                    <a:p>
                      <a:r>
                        <a:rPr lang="en-US" sz="1100" dirty="0">
                          <a:solidFill>
                            <a:schemeClr val="tx2"/>
                          </a:solidFill>
                          <a:latin typeface="Consolas" panose="020B0609020204030204" pitchFamily="49" charset="0"/>
                        </a:rPr>
                        <a:t>input =  tensor([[ 2.0446, -1.4992, -1.5805, -0.5482],</a:t>
                      </a:r>
                    </a:p>
                    <a:p>
                      <a:r>
                        <a:rPr lang="en-US" sz="1100" dirty="0">
                          <a:solidFill>
                            <a:schemeClr val="tx2"/>
                          </a:solidFill>
                          <a:latin typeface="Consolas" panose="020B0609020204030204" pitchFamily="49" charset="0"/>
                        </a:rPr>
                        <a:t>        [ 0.3754,  0.1475,  0.0598,  0.4752],</a:t>
                      </a:r>
                    </a:p>
                    <a:p>
                      <a:r>
                        <a:rPr lang="en-US" sz="1100" dirty="0">
                          <a:solidFill>
                            <a:schemeClr val="tx2"/>
                          </a:solidFill>
                          <a:latin typeface="Consolas" panose="020B0609020204030204" pitchFamily="49" charset="0"/>
                        </a:rPr>
                        <a:t>        [ 0.0241,  0.7597, -0.1890,  0.7708]])</a:t>
                      </a:r>
                    </a:p>
                    <a:p>
                      <a:r>
                        <a:rPr lang="en-US" sz="1100" dirty="0">
                          <a:solidFill>
                            <a:schemeClr val="tx2"/>
                          </a:solidFill>
                          <a:latin typeface="Consolas" panose="020B0609020204030204" pitchFamily="49" charset="0"/>
                        </a:rPr>
                        <a:t>label =  tensor([-1.1440,  1.4728,  2.3310])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2"/>
                          </a:solidFill>
                          <a:latin typeface="Consolas" panose="020B0609020204030204" pitchFamily="49" charset="0"/>
                        </a:rPr>
                        <a:t>-------------------------------------------------------</a:t>
                      </a:r>
                    </a:p>
                    <a:p>
                      <a:r>
                        <a:rPr lang="en-US" sz="1100" dirty="0">
                          <a:solidFill>
                            <a:schemeClr val="tx2"/>
                          </a:solidFill>
                          <a:latin typeface="Consolas" panose="020B0609020204030204" pitchFamily="49" charset="0"/>
                        </a:rPr>
                        <a:t>input =  tensor([[ 0.2800,  0.5915, -1.0798, -1.0840],</a:t>
                      </a:r>
                    </a:p>
                    <a:p>
                      <a:r>
                        <a:rPr lang="en-US" sz="1100" dirty="0">
                          <a:solidFill>
                            <a:schemeClr val="tx2"/>
                          </a:solidFill>
                          <a:latin typeface="Consolas" panose="020B0609020204030204" pitchFamily="49" charset="0"/>
                        </a:rPr>
                        <a:t>        [-1.6834, -0.6283, -0.4241,  0.7376],</a:t>
                      </a:r>
                    </a:p>
                    <a:p>
                      <a:r>
                        <a:rPr lang="en-US" sz="1100" dirty="0">
                          <a:solidFill>
                            <a:schemeClr val="tx2"/>
                          </a:solidFill>
                          <a:latin typeface="Consolas" panose="020B0609020204030204" pitchFamily="49" charset="0"/>
                        </a:rPr>
                        <a:t>        [ 0.4244, -0.4434, -1.0497,  0.2332]])</a:t>
                      </a:r>
                    </a:p>
                    <a:p>
                      <a:r>
                        <a:rPr lang="en-US" sz="1100" dirty="0">
                          <a:solidFill>
                            <a:schemeClr val="tx2"/>
                          </a:solidFill>
                          <a:latin typeface="Consolas" panose="020B0609020204030204" pitchFamily="49" charset="0"/>
                        </a:rPr>
                        <a:t>label =  tensor([-0.4950, -2.0799,  0.8264])</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288388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Checkpoints</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0323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Checkpoints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181600"/>
          </a:xfrm>
        </p:spPr>
        <p:txBody>
          <a:bodyPr>
            <a:normAutofit/>
          </a:bodyPr>
          <a:lstStyle/>
          <a:p>
            <a:pPr marL="0" indent="0">
              <a:buNone/>
            </a:pPr>
            <a:r>
              <a:rPr lang="en-US" dirty="0"/>
              <a:t>Checkpoints are a form of model persistence that saves the state of your training process at certain intervals so that you can resume or analyze the training from that point. </a:t>
            </a:r>
          </a:p>
          <a:p>
            <a:pPr marL="0" indent="0">
              <a:buNone/>
            </a:pPr>
            <a:endParaRPr lang="en-US" dirty="0"/>
          </a:p>
          <a:p>
            <a:pPr marL="0" indent="0">
              <a:buNone/>
            </a:pPr>
            <a:r>
              <a:rPr lang="en-US" dirty="0"/>
              <a:t>In particular for debugging, checkpoints are essential.</a:t>
            </a:r>
          </a:p>
          <a:p>
            <a:pPr marL="0" indent="0">
              <a:buNone/>
            </a:pPr>
            <a:r>
              <a:rPr lang="en-US" dirty="0"/>
              <a:t>Checkpoints are useful especially in scenarios when training takes a long time. If the training stops for different reason, it can be resumed. </a:t>
            </a:r>
          </a:p>
        </p:txBody>
      </p:sp>
    </p:spTree>
    <p:extLst>
      <p:ext uri="{BB962C8B-B14F-4D97-AF65-F5344CB8AC3E}">
        <p14:creationId xmlns:p14="http://schemas.microsoft.com/office/powerpoint/2010/main" val="1269230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Checkpoints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93436" y="1600200"/>
            <a:ext cx="9782801" cy="5181600"/>
          </a:xfrm>
        </p:spPr>
        <p:txBody>
          <a:bodyPr>
            <a:normAutofit/>
          </a:bodyPr>
          <a:lstStyle/>
          <a:p>
            <a:pPr marL="0" indent="0">
              <a:buNone/>
            </a:pPr>
            <a:r>
              <a:rPr lang="en-US" dirty="0"/>
              <a:t>A checkpoint typically includes the following information:</a:t>
            </a:r>
          </a:p>
          <a:p>
            <a:r>
              <a:rPr lang="en-US" b="1" dirty="0"/>
              <a:t>Model State Dictionary</a:t>
            </a:r>
            <a:r>
              <a:rPr lang="en-US" dirty="0"/>
              <a:t>: The model's parameters or weights.</a:t>
            </a:r>
          </a:p>
          <a:p>
            <a:r>
              <a:rPr lang="en-US" b="1" dirty="0"/>
              <a:t>Optimizer State Dictionary: </a:t>
            </a:r>
            <a:r>
              <a:rPr lang="en-US" dirty="0"/>
              <a:t>The state of the optimizer, including the current learning rate, momentum, etc.</a:t>
            </a:r>
          </a:p>
          <a:p>
            <a:r>
              <a:rPr lang="en-US" b="1" dirty="0"/>
              <a:t>Epoch</a:t>
            </a:r>
            <a:r>
              <a:rPr lang="en-US" dirty="0"/>
              <a:t> </a:t>
            </a:r>
          </a:p>
          <a:p>
            <a:r>
              <a:rPr lang="en-US" b="1" dirty="0"/>
              <a:t>Loss</a:t>
            </a:r>
            <a:r>
              <a:rPr lang="en-US" dirty="0"/>
              <a:t>: The loss value at the checkpoint. This is useful for monitoring progress over time.</a:t>
            </a:r>
          </a:p>
          <a:p>
            <a:r>
              <a:rPr lang="en-US" dirty="0"/>
              <a:t>Any other relevant information</a:t>
            </a:r>
          </a:p>
        </p:txBody>
      </p:sp>
    </p:spTree>
    <p:extLst>
      <p:ext uri="{BB962C8B-B14F-4D97-AF65-F5344CB8AC3E}">
        <p14:creationId xmlns:p14="http://schemas.microsoft.com/office/powerpoint/2010/main" val="2660109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Checkpoints</a:t>
            </a:r>
          </a:p>
        </p:txBody>
      </p:sp>
      <p:sp>
        <p:nvSpPr>
          <p:cNvPr id="2" name="Content Placeholder 1">
            <a:extLst>
              <a:ext uri="{FF2B5EF4-FFF2-40B4-BE49-F238E27FC236}">
                <a16:creationId xmlns:a16="http://schemas.microsoft.com/office/drawing/2014/main" id="{52727B5D-7A91-2533-EA3E-736CE4025086}"/>
              </a:ext>
            </a:extLst>
          </p:cNvPr>
          <p:cNvSpPr>
            <a:spLocks noGrp="1"/>
          </p:cNvSpPr>
          <p:nvPr>
            <p:ph idx="1"/>
          </p:nvPr>
        </p:nvSpPr>
        <p:spPr>
          <a:xfrm>
            <a:off x="1545911" y="1401762"/>
            <a:ext cx="9782801" cy="5181600"/>
          </a:xfrm>
        </p:spPr>
        <p:txBody>
          <a:bodyPr>
            <a:normAutofit lnSpcReduction="10000"/>
          </a:bodyPr>
          <a:lstStyle/>
          <a:p>
            <a:pPr marL="0" indent="0">
              <a:buNone/>
            </a:pPr>
            <a:r>
              <a:rPr lang="en-US" dirty="0"/>
              <a:t>Let’s see an example: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To load a checkpoint, use </a:t>
            </a:r>
            <a:r>
              <a:rPr lang="en-US" dirty="0" err="1">
                <a:highlight>
                  <a:srgbClr val="00FF00"/>
                </a:highlight>
              </a:rPr>
              <a:t>torch.load</a:t>
            </a:r>
            <a:r>
              <a:rPr lang="en-US" dirty="0">
                <a:highlight>
                  <a:srgbClr val="00FF00"/>
                </a:highlight>
              </a:rPr>
              <a:t>(…)</a:t>
            </a:r>
            <a:r>
              <a:rPr lang="en-US" dirty="0"/>
              <a:t>. It is important to store in a checkpoint all information needed to resume the training from that point.</a:t>
            </a:r>
          </a:p>
        </p:txBody>
      </p:sp>
      <p:sp>
        <p:nvSpPr>
          <p:cNvPr id="3" name="Rectangle 2">
            <a:extLst>
              <a:ext uri="{FF2B5EF4-FFF2-40B4-BE49-F238E27FC236}">
                <a16:creationId xmlns:a16="http://schemas.microsoft.com/office/drawing/2014/main" id="{7507DF0A-5965-2E3F-B87F-D3FD81E5329D}"/>
              </a:ext>
            </a:extLst>
          </p:cNvPr>
          <p:cNvSpPr/>
          <p:nvPr/>
        </p:nvSpPr>
        <p:spPr>
          <a:xfrm>
            <a:off x="1751012" y="2057400"/>
            <a:ext cx="9372600" cy="3200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torch</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checkpoint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epoch</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epoch</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model_state</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model</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state_dict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optimizer</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optimizer</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state_dict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loss</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loss</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606060"/>
                </a:solidFill>
                <a:effectLst/>
                <a:latin typeface="Consolas" panose="020B0609020204030204" pitchFamily="49" charset="0"/>
              </a:rPr>
              <a:t># ... any other relevant data ...</a:t>
            </a:r>
            <a:endParaRPr lang="en-US" b="0" dirty="0">
              <a:solidFill>
                <a:srgbClr val="DADADA"/>
              </a:solidFill>
              <a:effectLst/>
              <a:latin typeface="Consolas" panose="020B0609020204030204" pitchFamily="49" charset="0"/>
            </a:endParaRPr>
          </a:p>
          <a:p>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err="1">
                <a:solidFill>
                  <a:srgbClr val="C8C8C8"/>
                </a:solidFill>
                <a:effectLst/>
                <a:latin typeface="Consolas" panose="020B0609020204030204" pitchFamily="49" charset="0"/>
              </a:rPr>
              <a:t>torch</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save</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checkpoint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my_checkpoint.pth</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spTree>
    <p:extLst>
      <p:ext uri="{BB962C8B-B14F-4D97-AF65-F5344CB8AC3E}">
        <p14:creationId xmlns:p14="http://schemas.microsoft.com/office/powerpoint/2010/main" val="20499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Loss Functions</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64572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Loss Functions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normAutofit/>
          </a:bodyPr>
          <a:lstStyle/>
          <a:p>
            <a:r>
              <a:rPr lang="en-US" dirty="0">
                <a:latin typeface="Arial" panose="020B0604020202020204" pitchFamily="34" charset="0"/>
                <a:cs typeface="Arial" panose="020B0604020202020204" pitchFamily="34" charset="0"/>
              </a:rPr>
              <a:t>Loss functions in </a:t>
            </a: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contain the implementation of one part from the backpropagation mechanism: computing the gradients.</a:t>
            </a:r>
          </a:p>
          <a:p>
            <a:r>
              <a:rPr lang="en-US" dirty="0">
                <a:latin typeface="Arial" panose="020B0604020202020204" pitchFamily="34" charset="0"/>
                <a:cs typeface="Arial" panose="020B0604020202020204" pitchFamily="34" charset="0"/>
                <a:sym typeface="Wingdings" panose="05000000000000000000" pitchFamily="2" charset="2"/>
              </a:rPr>
              <a:t>The following loss functions are implemented:</a:t>
            </a:r>
          </a:p>
          <a:p>
            <a:pPr lvl="1"/>
            <a:r>
              <a:rPr lang="en-US" dirty="0">
                <a:latin typeface="Arial" panose="020B0604020202020204" pitchFamily="34" charset="0"/>
                <a:cs typeface="Arial" panose="020B0604020202020204" pitchFamily="34" charset="0"/>
                <a:sym typeface="Wingdings" panose="05000000000000000000" pitchFamily="2" charset="2"/>
              </a:rPr>
              <a:t>Mean Square Error (</a:t>
            </a:r>
            <a:r>
              <a:rPr lang="en-US" b="1" dirty="0" err="1">
                <a:latin typeface="Arial" panose="020B0604020202020204" pitchFamily="34" charset="0"/>
                <a:cs typeface="Arial" panose="020B0604020202020204" pitchFamily="34" charset="0"/>
                <a:sym typeface="Wingdings" panose="05000000000000000000" pitchFamily="2" charset="2"/>
              </a:rPr>
              <a:t>torch.nn.MSELoss</a:t>
            </a:r>
            <a:r>
              <a:rPr lang="en-US" dirty="0">
                <a:latin typeface="Arial" panose="020B0604020202020204" pitchFamily="34" charset="0"/>
                <a:cs typeface="Arial" panose="020B0604020202020204" pitchFamily="34" charset="0"/>
                <a:sym typeface="Wingdings" panose="05000000000000000000" pitchFamily="2" charset="2"/>
              </a:rPr>
              <a:t>)</a:t>
            </a:r>
          </a:p>
          <a:p>
            <a:pPr lvl="1"/>
            <a:r>
              <a:rPr lang="en-US" dirty="0">
                <a:latin typeface="Arial" panose="020B0604020202020204" pitchFamily="34" charset="0"/>
                <a:cs typeface="Arial" panose="020B0604020202020204" pitchFamily="34" charset="0"/>
                <a:sym typeface="Wingdings" panose="05000000000000000000" pitchFamily="2" charset="2"/>
              </a:rPr>
              <a:t>Cross Entropy (</a:t>
            </a:r>
            <a:r>
              <a:rPr lang="en-US" b="1" dirty="0" err="1">
                <a:latin typeface="Arial" panose="020B0604020202020204" pitchFamily="34" charset="0"/>
                <a:cs typeface="Arial" panose="020B0604020202020204" pitchFamily="34" charset="0"/>
                <a:sym typeface="Wingdings" panose="05000000000000000000" pitchFamily="2" charset="2"/>
              </a:rPr>
              <a:t>torch.nn.CrossEntropyLoss</a:t>
            </a:r>
            <a:r>
              <a:rPr lang="en-US" dirty="0">
                <a:latin typeface="Arial" panose="020B0604020202020204" pitchFamily="34" charset="0"/>
                <a:cs typeface="Arial" panose="020B0604020202020204" pitchFamily="34" charset="0"/>
                <a:sym typeface="Wingdings" panose="05000000000000000000" pitchFamily="2" charset="2"/>
              </a:rPr>
              <a:t>)</a:t>
            </a:r>
          </a:p>
          <a:p>
            <a:pPr lvl="1"/>
            <a:r>
              <a:rPr lang="en-US" dirty="0">
                <a:latin typeface="Arial" panose="020B0604020202020204" pitchFamily="34" charset="0"/>
                <a:cs typeface="Arial" panose="020B0604020202020204" pitchFamily="34" charset="0"/>
                <a:sym typeface="Wingdings" panose="05000000000000000000" pitchFamily="2" charset="2"/>
              </a:rPr>
              <a:t>Negative log likelihood loss (</a:t>
            </a:r>
            <a:r>
              <a:rPr lang="en-US" b="1" dirty="0" err="1">
                <a:latin typeface="Arial" panose="020B0604020202020204" pitchFamily="34" charset="0"/>
                <a:cs typeface="Arial" panose="020B0604020202020204" pitchFamily="34" charset="0"/>
                <a:sym typeface="Wingdings" panose="05000000000000000000" pitchFamily="2" charset="2"/>
              </a:rPr>
              <a:t>torch.nn.NLLLoss</a:t>
            </a:r>
            <a:r>
              <a:rPr lang="en-US" dirty="0">
                <a:latin typeface="Arial" panose="020B0604020202020204" pitchFamily="34" charset="0"/>
                <a:cs typeface="Arial" panose="020B0604020202020204" pitchFamily="34" charset="0"/>
                <a:sym typeface="Wingdings" panose="05000000000000000000" pitchFamily="2" charset="2"/>
              </a:rPr>
              <a:t>)</a:t>
            </a:r>
          </a:p>
          <a:p>
            <a:pPr lvl="1"/>
            <a:r>
              <a:rPr lang="en-US" dirty="0">
                <a:latin typeface="Arial" panose="020B0604020202020204" pitchFamily="34" charset="0"/>
                <a:cs typeface="Arial" panose="020B0604020202020204" pitchFamily="34" charset="0"/>
                <a:sym typeface="Wingdings" panose="05000000000000000000" pitchFamily="2" charset="2"/>
              </a:rPr>
              <a:t>Binary cross entropy loss (</a:t>
            </a:r>
            <a:r>
              <a:rPr lang="en-US" b="1" dirty="0" err="1">
                <a:latin typeface="Arial" panose="020B0604020202020204" pitchFamily="34" charset="0"/>
                <a:cs typeface="Arial" panose="020B0604020202020204" pitchFamily="34" charset="0"/>
                <a:sym typeface="Wingdings" panose="05000000000000000000" pitchFamily="2" charset="2"/>
              </a:rPr>
              <a:t>torch.nn.BCELoss</a:t>
            </a:r>
            <a:r>
              <a:rPr lang="en-US" dirty="0">
                <a:latin typeface="Arial" panose="020B0604020202020204" pitchFamily="34" charset="0"/>
                <a:cs typeface="Arial" panose="020B0604020202020204" pitchFamily="34" charset="0"/>
                <a:sym typeface="Wingdings" panose="05000000000000000000" pitchFamily="2" charset="2"/>
              </a:rPr>
              <a:t>)</a:t>
            </a:r>
          </a:p>
          <a:p>
            <a:pPr lvl="1"/>
            <a:r>
              <a:rPr lang="en-US" dirty="0">
                <a:latin typeface="Arial" panose="020B0604020202020204" pitchFamily="34" charset="0"/>
                <a:cs typeface="Arial" panose="020B0604020202020204" pitchFamily="34" charset="0"/>
                <a:sym typeface="Wingdings" panose="05000000000000000000" pitchFamily="2" charset="2"/>
              </a:rPr>
              <a:t>Mean absolute error loss (</a:t>
            </a:r>
            <a:r>
              <a:rPr lang="en-US" b="1" dirty="0">
                <a:latin typeface="Arial" panose="020B0604020202020204" pitchFamily="34" charset="0"/>
                <a:cs typeface="Arial" panose="020B0604020202020204" pitchFamily="34" charset="0"/>
                <a:sym typeface="Wingdings" panose="05000000000000000000" pitchFamily="2" charset="2"/>
              </a:rPr>
              <a:t>torch.nn.L1Loss</a:t>
            </a:r>
            <a:r>
              <a:rPr lang="en-US" dirty="0">
                <a:latin typeface="Arial" panose="020B0604020202020204" pitchFamily="34" charset="0"/>
                <a:cs typeface="Arial" panose="020B0604020202020204" pitchFamily="34" charset="0"/>
                <a:sym typeface="Wingdings" panose="05000000000000000000" pitchFamily="2" charset="2"/>
              </a:rPr>
              <a:t>)</a:t>
            </a:r>
          </a:p>
          <a:p>
            <a:r>
              <a:rPr lang="en-US" dirty="0">
                <a:latin typeface="Arial" panose="020B0604020202020204" pitchFamily="34" charset="0"/>
                <a:cs typeface="Arial" panose="020B0604020202020204" pitchFamily="34" charset="0"/>
                <a:sym typeface="Wingdings" panose="05000000000000000000" pitchFamily="2" charset="2"/>
              </a:rPr>
              <a:t>Currently </a:t>
            </a:r>
            <a:r>
              <a:rPr lang="en-US" dirty="0" err="1">
                <a:latin typeface="Arial" panose="020B0604020202020204" pitchFamily="34" charset="0"/>
                <a:cs typeface="Arial" panose="020B0604020202020204" pitchFamily="34" charset="0"/>
                <a:sym typeface="Wingdings" panose="05000000000000000000" pitchFamily="2" charset="2"/>
              </a:rPr>
              <a:t>PyTorch</a:t>
            </a:r>
            <a:r>
              <a:rPr lang="en-US" dirty="0">
                <a:latin typeface="Arial" panose="020B0604020202020204" pitchFamily="34" charset="0"/>
                <a:cs typeface="Arial" panose="020B0604020202020204" pitchFamily="34" charset="0"/>
                <a:sym typeface="Wingdings" panose="05000000000000000000" pitchFamily="2" charset="2"/>
              </a:rPr>
              <a:t> has more than 25 predefined loss function.</a:t>
            </a:r>
          </a:p>
          <a:p>
            <a:pPr lvl="1"/>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0793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Loss Functions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The regular usage of a loss function is as follows:</a:t>
            </a:r>
          </a:p>
          <a:p>
            <a:pPr marL="514350" indent="-514350">
              <a:buAutoNum type="arabicPeriod"/>
            </a:pPr>
            <a:r>
              <a:rPr lang="en-US" dirty="0">
                <a:latin typeface="Arial" panose="020B0604020202020204" pitchFamily="34" charset="0"/>
                <a:cs typeface="Arial" panose="020B0604020202020204" pitchFamily="34" charset="0"/>
                <a:sym typeface="Wingdings" panose="05000000000000000000" pitchFamily="2" charset="2"/>
              </a:rPr>
              <a:t>Create a loss function (based on the existing one or as something derived from the Module)</a:t>
            </a:r>
          </a:p>
          <a:p>
            <a:pPr marL="514350" indent="-514350">
              <a:buAutoNum type="arabicPeriod"/>
            </a:pPr>
            <a:r>
              <a:rPr lang="en-US" dirty="0">
                <a:latin typeface="Arial" panose="020B0604020202020204" pitchFamily="34" charset="0"/>
                <a:cs typeface="Arial" panose="020B0604020202020204" pitchFamily="34" charset="0"/>
                <a:sym typeface="Wingdings" panose="05000000000000000000" pitchFamily="2" charset="2"/>
              </a:rPr>
              <a:t>Call the loss function with two tensors (one that reflects the prediction, and another one that reflects the expected target). The output of this operation will be another tensor that contains the computed loss between those two tensors</a:t>
            </a:r>
          </a:p>
          <a:p>
            <a:pPr marL="514350" indent="-514350">
              <a:buAutoNum type="arabicPeriod"/>
            </a:pPr>
            <a:r>
              <a:rPr lang="en-US" dirty="0">
                <a:latin typeface="Arial" panose="020B0604020202020204" pitchFamily="34" charset="0"/>
                <a:cs typeface="Arial" panose="020B0604020202020204" pitchFamily="34" charset="0"/>
                <a:sym typeface="Wingdings" panose="05000000000000000000" pitchFamily="2" charset="2"/>
              </a:rPr>
              <a:t>Call the method </a:t>
            </a:r>
            <a:r>
              <a:rPr lang="en-US" dirty="0">
                <a:solidFill>
                  <a:schemeClr val="bg1"/>
                </a:solidFill>
                <a:latin typeface="Arial" panose="020B0604020202020204" pitchFamily="34" charset="0"/>
                <a:cs typeface="Arial" panose="020B0604020202020204" pitchFamily="34" charset="0"/>
                <a:sym typeface="Wingdings" panose="05000000000000000000" pitchFamily="2" charset="2"/>
              </a:rPr>
              <a:t>.backward() </a:t>
            </a:r>
            <a:r>
              <a:rPr lang="en-US" dirty="0">
                <a:latin typeface="Arial" panose="020B0604020202020204" pitchFamily="34" charset="0"/>
                <a:cs typeface="Arial" panose="020B0604020202020204" pitchFamily="34" charset="0"/>
                <a:sym typeface="Wingdings" panose="05000000000000000000" pitchFamily="2" charset="2"/>
              </a:rPr>
              <a:t>on the tensor obtained in step 2. This will compute the gradients for each trainable weight. It is important for all trainable parameters to have </a:t>
            </a:r>
            <a:r>
              <a:rPr lang="en-US" b="1" dirty="0" err="1">
                <a:latin typeface="Arial" panose="020B0604020202020204" pitchFamily="34" charset="0"/>
                <a:cs typeface="Arial" panose="020B0604020202020204" pitchFamily="34" charset="0"/>
                <a:sym typeface="Wingdings" panose="05000000000000000000" pitchFamily="2" charset="2"/>
              </a:rPr>
              <a:t>requires_grad</a:t>
            </a:r>
            <a:r>
              <a:rPr lang="en-US" dirty="0">
                <a:latin typeface="Arial" panose="020B0604020202020204" pitchFamily="34" charset="0"/>
                <a:cs typeface="Arial" panose="020B0604020202020204" pitchFamily="34" charset="0"/>
                <a:sym typeface="Wingdings" panose="05000000000000000000" pitchFamily="2" charset="2"/>
              </a:rPr>
              <a:t> set to True for weights and biases (applicable only to </a:t>
            </a:r>
            <a:r>
              <a:rPr lang="en-US" dirty="0" err="1">
                <a:latin typeface="Arial" panose="020B0604020202020204" pitchFamily="34" charset="0"/>
                <a:cs typeface="Arial" panose="020B0604020202020204" pitchFamily="34" charset="0"/>
                <a:sym typeface="Wingdings" panose="05000000000000000000" pitchFamily="2" charset="2"/>
              </a:rPr>
              <a:t>leafs</a:t>
            </a:r>
            <a:r>
              <a:rPr lang="en-US" dirty="0">
                <a:latin typeface="Arial" panose="020B0604020202020204" pitchFamily="34" charset="0"/>
                <a:cs typeface="Arial" panose="020B0604020202020204" pitchFamily="34" charset="0"/>
                <a:sym typeface="Wingdings" panose="05000000000000000000" pitchFamily="2" charset="2"/>
              </a:rPr>
              <a:t> in the computation graph</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0437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Loss Functions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Let’s see an example (with cross entropy function).</a:t>
            </a:r>
          </a:p>
        </p:txBody>
      </p:sp>
      <p:sp>
        <p:nvSpPr>
          <p:cNvPr id="2" name="Rectangle 1">
            <a:extLst>
              <a:ext uri="{FF2B5EF4-FFF2-40B4-BE49-F238E27FC236}">
                <a16:creationId xmlns:a16="http://schemas.microsoft.com/office/drawing/2014/main" id="{CA876DD0-7BEC-63E3-AA6F-ADC211E18CBB}"/>
              </a:ext>
            </a:extLst>
          </p:cNvPr>
          <p:cNvSpPr/>
          <p:nvPr/>
        </p:nvSpPr>
        <p:spPr>
          <a:xfrm>
            <a:off x="1751012" y="2185744"/>
            <a:ext cx="9144000" cy="32385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0" dirty="0">
                <a:solidFill>
                  <a:srgbClr val="B56AA6"/>
                </a:solidFill>
                <a:effectLst/>
                <a:latin typeface="Consolas" panose="020B0609020204030204" pitchFamily="49" charset="0"/>
              </a:rPr>
              <a:t>import</a:t>
            </a:r>
            <a:r>
              <a:rPr lang="en-US" sz="1600" b="0" dirty="0">
                <a:solidFill>
                  <a:srgbClr val="DADADA"/>
                </a:solidFill>
                <a:effectLst/>
                <a:latin typeface="Consolas" panose="020B0609020204030204" pitchFamily="49" charset="0"/>
              </a:rPr>
              <a:t> </a:t>
            </a:r>
            <a:r>
              <a:rPr lang="en-US" sz="1600" b="0" dirty="0">
                <a:solidFill>
                  <a:srgbClr val="C8C8C8"/>
                </a:solidFill>
                <a:effectLst/>
                <a:latin typeface="Consolas" panose="020B0609020204030204" pitchFamily="49" charset="0"/>
              </a:rPr>
              <a:t>torch</a:t>
            </a:r>
            <a:endParaRPr lang="en-US" sz="1600" b="0" dirty="0">
              <a:solidFill>
                <a:srgbClr val="DADADA"/>
              </a:solidFill>
              <a:effectLst/>
              <a:latin typeface="Consolas" panose="020B0609020204030204" pitchFamily="49" charset="0"/>
            </a:endParaRPr>
          </a:p>
          <a:p>
            <a:br>
              <a:rPr lang="en-US" sz="1600" b="0" dirty="0">
                <a:solidFill>
                  <a:srgbClr val="DADADA"/>
                </a:solidFill>
                <a:effectLst/>
                <a:latin typeface="Consolas" panose="020B0609020204030204" pitchFamily="49" charset="0"/>
              </a:rPr>
            </a:br>
            <a:r>
              <a:rPr lang="en-US" sz="1600" b="0" dirty="0">
                <a:solidFill>
                  <a:srgbClr val="229977"/>
                </a:solidFill>
                <a:effectLst/>
                <a:latin typeface="Consolas" panose="020B0609020204030204" pitchFamily="49" charset="0"/>
              </a:rPr>
              <a:t>prediction</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A7A774"/>
                </a:solidFill>
                <a:effectLst/>
                <a:latin typeface="Consolas" panose="020B0609020204030204" pitchFamily="49" charset="0"/>
              </a:rPr>
              <a:t>tensor</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1</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E0EBB2"/>
                </a:solidFill>
                <a:effectLst/>
                <a:latin typeface="Consolas" panose="020B0609020204030204" pitchFamily="49" charset="0"/>
              </a:rPr>
              <a:t>2</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E0EBB2"/>
                </a:solidFill>
                <a:effectLst/>
                <a:latin typeface="Consolas" panose="020B0609020204030204" pitchFamily="49" charset="0"/>
              </a:rPr>
              <a:t>3</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9A9A9A"/>
                </a:solidFill>
                <a:effectLst/>
                <a:latin typeface="Consolas" panose="020B0609020204030204" pitchFamily="49" charset="0"/>
              </a:rPr>
              <a:t>requires_grad</a:t>
            </a:r>
            <a:r>
              <a:rPr lang="en-US" sz="1600" b="0" dirty="0">
                <a:solidFill>
                  <a:srgbClr val="C0C0C0"/>
                </a:solidFill>
                <a:effectLst/>
                <a:latin typeface="Consolas" panose="020B0609020204030204" pitchFamily="49" charset="0"/>
              </a:rPr>
              <a:t>=</a:t>
            </a:r>
            <a:r>
              <a:rPr lang="en-US" sz="1600" b="0" dirty="0">
                <a:solidFill>
                  <a:srgbClr val="569CD6"/>
                </a:solidFill>
                <a:effectLst/>
                <a:latin typeface="Consolas" panose="020B0609020204030204" pitchFamily="49" charset="0"/>
              </a:rPr>
              <a:t>True</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229977"/>
                </a:solidFill>
                <a:effectLst/>
                <a:latin typeface="Consolas" panose="020B0609020204030204" pitchFamily="49" charset="0"/>
              </a:rPr>
              <a:t>expected</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A7A774"/>
                </a:solidFill>
                <a:effectLst/>
                <a:latin typeface="Consolas" panose="020B0609020204030204" pitchFamily="49" charset="0"/>
              </a:rPr>
              <a:t>tensor</a:t>
            </a:r>
            <a:r>
              <a:rPr lang="en-US" sz="1600" b="0" dirty="0">
                <a:solidFill>
                  <a:srgbClr val="B4B4B4"/>
                </a:solidFill>
                <a:effectLst/>
                <a:latin typeface="Consolas" panose="020B0609020204030204" pitchFamily="49" charset="0"/>
              </a:rPr>
              <a:t>([</a:t>
            </a:r>
            <a:r>
              <a:rPr lang="en-US" sz="1600" b="0" dirty="0">
                <a:solidFill>
                  <a:srgbClr val="E0EBB2"/>
                </a:solidFill>
                <a:effectLst/>
                <a:latin typeface="Consolas" panose="020B0609020204030204" pitchFamily="49" charset="0"/>
              </a:rPr>
              <a:t>4</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E0EBB2"/>
                </a:solidFill>
                <a:effectLst/>
                <a:latin typeface="Consolas" panose="020B0609020204030204" pitchFamily="49" charset="0"/>
              </a:rPr>
              <a:t>5</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E0EBB2"/>
                </a:solidFill>
                <a:effectLst/>
                <a:latin typeface="Consolas" panose="020B0609020204030204" pitchFamily="49" charset="0"/>
              </a:rPr>
              <a:t>6</a:t>
            </a:r>
            <a:r>
              <a:rPr lang="en-US" sz="1600" b="0" dirty="0">
                <a:solidFill>
                  <a:srgbClr val="B4B4B4"/>
                </a:solidFill>
                <a:effectLst/>
                <a:latin typeface="Consolas" panose="020B0609020204030204" pitchFamily="49" charset="0"/>
              </a:rPr>
              <a:t>.])</a:t>
            </a:r>
          </a:p>
          <a:p>
            <a:endParaRPr lang="en-US" sz="1600" b="0" dirty="0">
              <a:solidFill>
                <a:srgbClr val="DADADA"/>
              </a:solidFill>
              <a:effectLst/>
              <a:latin typeface="Consolas" panose="020B0609020204030204" pitchFamily="49" charset="0"/>
            </a:endParaRPr>
          </a:p>
          <a:p>
            <a:r>
              <a:rPr lang="en-US" sz="1600" b="0" dirty="0" err="1">
                <a:solidFill>
                  <a:srgbClr val="229977"/>
                </a:solidFill>
                <a:effectLst/>
                <a:latin typeface="Consolas" panose="020B0609020204030204" pitchFamily="49" charset="0"/>
              </a:rPr>
              <a:t>loss_function</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C8C8C8"/>
                </a:solidFill>
                <a:effectLst/>
                <a:latin typeface="Consolas" panose="020B0609020204030204" pitchFamily="49" charset="0"/>
              </a:rPr>
              <a:t>torch</a:t>
            </a:r>
            <a:r>
              <a:rPr lang="en-US" sz="1600" b="0" dirty="0" err="1">
                <a:solidFill>
                  <a:srgbClr val="B4B4B4"/>
                </a:solidFill>
                <a:effectLst/>
                <a:latin typeface="Consolas" panose="020B0609020204030204" pitchFamily="49" charset="0"/>
              </a:rPr>
              <a:t>.</a:t>
            </a:r>
            <a:r>
              <a:rPr lang="en-US" sz="1600" b="0" dirty="0" err="1">
                <a:solidFill>
                  <a:srgbClr val="C8C8C8"/>
                </a:solidFill>
                <a:effectLst/>
                <a:latin typeface="Consolas" panose="020B0609020204030204" pitchFamily="49" charset="0"/>
              </a:rPr>
              <a:t>nn</a:t>
            </a:r>
            <a:r>
              <a:rPr lang="en-US" sz="1600" b="0" dirty="0" err="1">
                <a:solidFill>
                  <a:srgbClr val="B4B4B4"/>
                </a:solidFill>
                <a:effectLst/>
                <a:latin typeface="Consolas" panose="020B0609020204030204" pitchFamily="49" charset="0"/>
              </a:rPr>
              <a:t>.</a:t>
            </a:r>
            <a:r>
              <a:rPr lang="en-US" sz="1600" b="0" dirty="0" err="1">
                <a:solidFill>
                  <a:srgbClr val="5DA963"/>
                </a:solidFill>
                <a:effectLst/>
                <a:latin typeface="Consolas" panose="020B0609020204030204" pitchFamily="49" charset="0"/>
              </a:rPr>
              <a:t>CrossEntropyLoss</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229977"/>
                </a:solidFill>
                <a:effectLst/>
                <a:latin typeface="Consolas" panose="020B0609020204030204" pitchFamily="49" charset="0"/>
              </a:rPr>
              <a:t>loss</a:t>
            </a:r>
            <a:r>
              <a:rPr lang="en-US" sz="1600" b="0" dirty="0">
                <a:solidFill>
                  <a:srgbClr val="DADADA"/>
                </a:solidFill>
                <a:effectLst/>
                <a:latin typeface="Consolas" panose="020B0609020204030204" pitchFamily="49" charset="0"/>
              </a:rPr>
              <a:t> </a:t>
            </a:r>
            <a:r>
              <a:rPr lang="en-US" sz="1600" b="0" dirty="0">
                <a:solidFill>
                  <a:srgbClr val="C0C0C0"/>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err="1">
                <a:solidFill>
                  <a:srgbClr val="229977"/>
                </a:solidFill>
                <a:effectLst/>
                <a:latin typeface="Consolas" panose="020B0609020204030204" pitchFamily="49" charset="0"/>
              </a:rPr>
              <a:t>loss_function</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prediction</a:t>
            </a:r>
            <a:r>
              <a:rPr lang="en-US" sz="1600" b="0" dirty="0">
                <a:solidFill>
                  <a:srgbClr val="B4B4B4"/>
                </a:solidFill>
                <a:effectLst/>
                <a:latin typeface="Consolas" panose="020B0609020204030204" pitchFamily="49" charset="0"/>
              </a:rPr>
              <a:t>,</a:t>
            </a:r>
            <a:r>
              <a:rPr lang="en-US" sz="1600" b="0" dirty="0">
                <a:solidFill>
                  <a:srgbClr val="DADADA"/>
                </a:solidFill>
                <a:effectLst/>
                <a:latin typeface="Consolas" panose="020B0609020204030204" pitchFamily="49" charset="0"/>
              </a:rPr>
              <a:t> </a:t>
            </a:r>
            <a:r>
              <a:rPr lang="en-US" sz="1600" b="0" dirty="0">
                <a:solidFill>
                  <a:srgbClr val="229977"/>
                </a:solidFill>
                <a:effectLst/>
                <a:latin typeface="Consolas" panose="020B0609020204030204" pitchFamily="49" charset="0"/>
              </a:rPr>
              <a:t>expected</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err="1">
                <a:solidFill>
                  <a:srgbClr val="229977"/>
                </a:solidFill>
                <a:effectLst/>
                <a:latin typeface="Consolas" panose="020B0609020204030204" pitchFamily="49" charset="0"/>
              </a:rPr>
              <a:t>loss</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backward</a:t>
            </a:r>
            <a:r>
              <a:rPr lang="en-US" sz="1600" b="0" dirty="0">
                <a:solidFill>
                  <a:srgbClr val="B4B4B4"/>
                </a:solidFill>
                <a:effectLst/>
                <a:latin typeface="Consolas" panose="020B0609020204030204" pitchFamily="49" charset="0"/>
              </a:rPr>
              <a:t>()</a:t>
            </a:r>
          </a:p>
          <a:p>
            <a:endParaRPr lang="en-US" sz="1600" b="0" dirty="0">
              <a:solidFill>
                <a:srgbClr val="DADADA"/>
              </a:solidFill>
              <a:effectLst/>
              <a:latin typeface="Consolas" panose="020B0609020204030204" pitchFamily="49" charset="0"/>
            </a:endParaRPr>
          </a:p>
          <a:p>
            <a:r>
              <a:rPr lang="en-US" sz="1600" b="0" dirty="0">
                <a:solidFill>
                  <a:srgbClr val="A7A774"/>
                </a:solidFill>
                <a:effectLst/>
                <a:latin typeface="Consolas" panose="020B0609020204030204" pitchFamily="49" charset="0"/>
              </a:rPr>
              <a:t>print</a:t>
            </a:r>
            <a:r>
              <a:rPr lang="en-US" sz="1600" b="0" dirty="0">
                <a:solidFill>
                  <a:srgbClr val="B4B4B4"/>
                </a:solidFill>
                <a:effectLst/>
                <a:latin typeface="Consolas" panose="020B0609020204030204" pitchFamily="49" charset="0"/>
              </a:rPr>
              <a:t>(</a:t>
            </a:r>
            <a:r>
              <a:rPr lang="en-US" sz="1600" b="0" dirty="0">
                <a:solidFill>
                  <a:srgbClr val="E8C9BB"/>
                </a:solidFill>
                <a:effectLst/>
                <a:latin typeface="Consolas" panose="020B0609020204030204" pitchFamily="49" charset="0"/>
              </a:rPr>
              <a:t>"</a:t>
            </a:r>
            <a:r>
              <a:rPr lang="en-US" sz="1600" b="0" dirty="0">
                <a:solidFill>
                  <a:srgbClr val="E68A8A"/>
                </a:solidFill>
                <a:effectLst/>
                <a:latin typeface="Consolas" panose="020B0609020204030204" pitchFamily="49" charset="0"/>
              </a:rPr>
              <a:t>loss = </a:t>
            </a:r>
            <a:r>
              <a:rPr lang="en-US" sz="1600" b="0" dirty="0">
                <a:solidFill>
                  <a:srgbClr val="E8C9BB"/>
                </a:solidFill>
                <a:effectLst/>
                <a:latin typeface="Consolas" panose="020B0609020204030204" pitchFamily="49" charset="0"/>
              </a:rPr>
              <a:t>"</a:t>
            </a:r>
            <a:r>
              <a:rPr lang="en-US" sz="1600" b="0" dirty="0">
                <a:solidFill>
                  <a:srgbClr val="B4B4B4"/>
                </a:solidFill>
                <a:effectLst/>
                <a:latin typeface="Consolas" panose="020B0609020204030204" pitchFamily="49" charset="0"/>
              </a:rPr>
              <a:t>,</a:t>
            </a:r>
            <a:r>
              <a:rPr lang="en-US" sz="1600" b="0" dirty="0">
                <a:solidFill>
                  <a:srgbClr val="229977"/>
                </a:solidFill>
                <a:effectLst/>
                <a:latin typeface="Consolas" panose="020B0609020204030204" pitchFamily="49" charset="0"/>
              </a:rPr>
              <a:t>loss</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a:p>
            <a:r>
              <a:rPr lang="en-US" sz="1600" b="0" dirty="0">
                <a:solidFill>
                  <a:srgbClr val="A7A774"/>
                </a:solidFill>
                <a:effectLst/>
                <a:latin typeface="Consolas" panose="020B0609020204030204" pitchFamily="49" charset="0"/>
              </a:rPr>
              <a:t>print</a:t>
            </a:r>
            <a:r>
              <a:rPr lang="en-US" sz="1600" b="0" dirty="0">
                <a:solidFill>
                  <a:srgbClr val="B4B4B4"/>
                </a:solidFill>
                <a:effectLst/>
                <a:latin typeface="Consolas" panose="020B0609020204030204" pitchFamily="49" charset="0"/>
              </a:rPr>
              <a:t>(</a:t>
            </a:r>
            <a:r>
              <a:rPr lang="en-US" sz="1600" b="0" dirty="0">
                <a:solidFill>
                  <a:srgbClr val="E8C9BB"/>
                </a:solidFill>
                <a:effectLst/>
                <a:latin typeface="Consolas" panose="020B0609020204030204" pitchFamily="49" charset="0"/>
              </a:rPr>
              <a:t>"</a:t>
            </a:r>
            <a:r>
              <a:rPr lang="en-US" sz="1600" b="0" dirty="0">
                <a:solidFill>
                  <a:srgbClr val="E68A8A"/>
                </a:solidFill>
                <a:effectLst/>
                <a:latin typeface="Consolas" panose="020B0609020204030204" pitchFamily="49" charset="0"/>
              </a:rPr>
              <a:t>Gradients = </a:t>
            </a:r>
            <a:r>
              <a:rPr lang="en-US" sz="1600" b="0" dirty="0">
                <a:solidFill>
                  <a:srgbClr val="E8C9BB"/>
                </a:solidFill>
                <a:effectLst/>
                <a:latin typeface="Consolas" panose="020B0609020204030204" pitchFamily="49" charset="0"/>
              </a:rPr>
              <a:t>"</a:t>
            </a:r>
            <a:r>
              <a:rPr lang="en-US" sz="1600" b="0" dirty="0">
                <a:solidFill>
                  <a:srgbClr val="B4B4B4"/>
                </a:solidFill>
                <a:effectLst/>
                <a:latin typeface="Consolas" panose="020B0609020204030204" pitchFamily="49" charset="0"/>
              </a:rPr>
              <a:t>,</a:t>
            </a:r>
            <a:r>
              <a:rPr lang="en-US" sz="1600" b="0" dirty="0" err="1">
                <a:solidFill>
                  <a:srgbClr val="229977"/>
                </a:solidFill>
                <a:effectLst/>
                <a:latin typeface="Consolas" panose="020B0609020204030204" pitchFamily="49" charset="0"/>
              </a:rPr>
              <a:t>prediction</a:t>
            </a:r>
            <a:r>
              <a:rPr lang="en-US" sz="1600" b="0" dirty="0" err="1">
                <a:solidFill>
                  <a:srgbClr val="B4B4B4"/>
                </a:solidFill>
                <a:effectLst/>
                <a:latin typeface="Consolas" panose="020B0609020204030204" pitchFamily="49" charset="0"/>
              </a:rPr>
              <a:t>.</a:t>
            </a:r>
            <a:r>
              <a:rPr lang="en-US" sz="1600" b="0" dirty="0" err="1">
                <a:solidFill>
                  <a:srgbClr val="DADADA"/>
                </a:solidFill>
                <a:effectLst/>
                <a:latin typeface="Consolas" panose="020B0609020204030204" pitchFamily="49" charset="0"/>
              </a:rPr>
              <a:t>grad</a:t>
            </a:r>
            <a:r>
              <a:rPr lang="en-US" sz="1600" b="0" dirty="0">
                <a:solidFill>
                  <a:srgbClr val="B4B4B4"/>
                </a:solidFill>
                <a:effectLst/>
                <a:latin typeface="Consolas" panose="020B0609020204030204" pitchFamily="49" charset="0"/>
              </a:rPr>
              <a:t>)</a:t>
            </a:r>
            <a:endParaRPr lang="en-US" sz="1600"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DFBA8CB5-CA93-760A-62DD-FAB8DD4D5B3E}"/>
              </a:ext>
            </a:extLst>
          </p:cNvPr>
          <p:cNvGraphicFramePr>
            <a:graphicFrameLocks noGrp="1"/>
          </p:cNvGraphicFramePr>
          <p:nvPr/>
        </p:nvGraphicFramePr>
        <p:xfrm>
          <a:off x="5332413" y="5424244"/>
          <a:ext cx="5562599" cy="949960"/>
        </p:xfrm>
        <a:graphic>
          <a:graphicData uri="http://schemas.openxmlformats.org/drawingml/2006/table">
            <a:tbl>
              <a:tblPr firstRow="1" bandRow="1">
                <a:tableStyleId>{073A0DAA-6AF3-43AB-8588-CEC1D06C72B9}</a:tableStyleId>
              </a:tblPr>
              <a:tblGrid>
                <a:gridCol w="5562599">
                  <a:extLst>
                    <a:ext uri="{9D8B030D-6E8A-4147-A177-3AD203B41FA5}">
                      <a16:colId xmlns:a16="http://schemas.microsoft.com/office/drawing/2014/main" val="3899577134"/>
                    </a:ext>
                  </a:extLst>
                </a:gridCol>
              </a:tblGrid>
              <a:tr h="370840">
                <a:tc>
                  <a:txBody>
                    <a:bodyPr/>
                    <a:lstStyle/>
                    <a:p>
                      <a:r>
                        <a:rPr lang="en-US"/>
                        <a:t>Output</a:t>
                      </a:r>
                      <a:endParaRPr lang="en-US" dirty="0"/>
                    </a:p>
                  </a:txBody>
                  <a:tcPr/>
                </a:tc>
                <a:extLst>
                  <a:ext uri="{0D108BD9-81ED-4DB2-BD59-A6C34878D82A}">
                    <a16:rowId xmlns:a16="http://schemas.microsoft.com/office/drawing/2014/main" val="117988312"/>
                  </a:ext>
                </a:extLst>
              </a:tr>
              <a:tr h="370840">
                <a:tc>
                  <a:txBody>
                    <a:bodyPr/>
                    <a:lstStyle/>
                    <a:p>
                      <a:r>
                        <a:rPr lang="en-US" sz="1600" dirty="0">
                          <a:latin typeface="Consolas" panose="020B0609020204030204" pitchFamily="49" charset="0"/>
                        </a:rPr>
                        <a:t>loss =  tensor(19.1141, </a:t>
                      </a:r>
                      <a:r>
                        <a:rPr lang="en-US" sz="1600" dirty="0" err="1">
                          <a:latin typeface="Consolas" panose="020B0609020204030204" pitchFamily="49" charset="0"/>
                        </a:rPr>
                        <a:t>grad_fn</a:t>
                      </a:r>
                      <a:r>
                        <a:rPr lang="en-US" sz="1600" dirty="0">
                          <a:latin typeface="Consolas" panose="020B0609020204030204" pitchFamily="49" charset="0"/>
                        </a:rPr>
                        <a:t>=&lt;DivBackward1&gt;)</a:t>
                      </a:r>
                    </a:p>
                    <a:p>
                      <a:r>
                        <a:rPr lang="en-US" sz="1600" dirty="0">
                          <a:latin typeface="Consolas" panose="020B0609020204030204" pitchFamily="49" charset="0"/>
                        </a:rPr>
                        <a:t>Gradients =  tensor([-2.6495, -1.3291,  3.9786])</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936007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Computation Graph</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pPr marL="0" indent="0">
              <a:buNone/>
            </a:pPr>
            <a:r>
              <a:rPr lang="en-US" b="1" i="1"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builds a list of all layers that need to be updated when the feed forward step is being build.</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This list is also called a computational graph and allows other components (such as optimizers) to access the entire network.</a:t>
            </a:r>
          </a:p>
        </p:txBody>
      </p:sp>
    </p:spTree>
    <p:extLst>
      <p:ext uri="{BB962C8B-B14F-4D97-AF65-F5344CB8AC3E}">
        <p14:creationId xmlns:p14="http://schemas.microsoft.com/office/powerpoint/2010/main" val="3097979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Computation Graph</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The computation graph is being build dynamically as operation are performed / computed. Internally, the output tensor from the feed forward step has a link (reference) to the dynamic computation graph.</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047E8AA-B8CF-3610-F810-BB85E80CD254}"/>
                  </a:ext>
                </a:extLst>
              </p:cNvPr>
              <p:cNvSpPr txBox="1"/>
              <p:nvPr/>
            </p:nvSpPr>
            <p:spPr>
              <a:xfrm>
                <a:off x="2057289" y="3474494"/>
                <a:ext cx="793551" cy="8228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b="1" i="1" smtClean="0">
                              <a:solidFill>
                                <a:schemeClr val="bg1"/>
                              </a:solidFill>
                              <a:latin typeface="Cambria Math" panose="02040503050406030204" pitchFamily="18" charset="0"/>
                            </a:rPr>
                          </m:ctrlPr>
                        </m:dPr>
                        <m:e>
                          <m:m>
                            <m:mPr>
                              <m:mcs>
                                <m:mc>
                                  <m:mcPr>
                                    <m:count m:val="1"/>
                                    <m:mcJc m:val="center"/>
                                  </m:mcPr>
                                </m:mc>
                              </m:mcs>
                              <m:ctrlPr>
                                <a:rPr lang="en-US" sz="1400" b="1" i="1">
                                  <a:solidFill>
                                    <a:schemeClr val="bg1"/>
                                  </a:solidFill>
                                  <a:latin typeface="Cambria Math" panose="02040503050406030204" pitchFamily="18" charset="0"/>
                                </a:rPr>
                              </m:ctrlPr>
                            </m:mPr>
                            <m:mr>
                              <m:e>
                                <m:sSub>
                                  <m:sSubPr>
                                    <m:ctrlPr>
                                      <a:rPr lang="en-US" sz="1400" b="1" i="1">
                                        <a:solidFill>
                                          <a:schemeClr val="bg1"/>
                                        </a:solidFill>
                                        <a:latin typeface="Cambria Math" panose="02040503050406030204" pitchFamily="18" charset="0"/>
                                      </a:rPr>
                                    </m:ctrlPr>
                                  </m:sSubPr>
                                  <m:e>
                                    <m:r>
                                      <a:rPr lang="en-US" sz="1400" b="1" i="1" smtClean="0">
                                        <a:solidFill>
                                          <a:schemeClr val="bg1"/>
                                        </a:solidFill>
                                        <a:latin typeface="Cambria Math" panose="02040503050406030204" pitchFamily="18" charset="0"/>
                                      </a:rPr>
                                      <m:t>𝒊𝒏𝒑𝒖𝒕</m:t>
                                    </m:r>
                                  </m:e>
                                  <m:sub>
                                    <m:r>
                                      <a:rPr lang="en-US" sz="1400" b="1" i="1">
                                        <a:solidFill>
                                          <a:schemeClr val="bg1"/>
                                        </a:solidFill>
                                        <a:latin typeface="Cambria Math" panose="02040503050406030204" pitchFamily="18" charset="0"/>
                                      </a:rPr>
                                      <m:t>𝟏</m:t>
                                    </m:r>
                                  </m:sub>
                                </m:sSub>
                              </m:e>
                            </m:mr>
                            <m:mr>
                              <m:e>
                                <m:sSub>
                                  <m:sSubPr>
                                    <m:ctrlPr>
                                      <a:rPr lang="en-US" sz="1400" b="1" i="1">
                                        <a:solidFill>
                                          <a:schemeClr val="bg1"/>
                                        </a:solidFill>
                                        <a:latin typeface="Cambria Math" panose="02040503050406030204" pitchFamily="18" charset="0"/>
                                      </a:rPr>
                                    </m:ctrlPr>
                                  </m:sSubPr>
                                  <m:e>
                                    <m:r>
                                      <a:rPr lang="en-US" sz="1400" b="1" i="1" smtClean="0">
                                        <a:solidFill>
                                          <a:schemeClr val="bg1"/>
                                        </a:solidFill>
                                        <a:latin typeface="Cambria Math" panose="02040503050406030204" pitchFamily="18" charset="0"/>
                                      </a:rPr>
                                      <m:t>𝒊𝒏𝒑𝒖𝒕</m:t>
                                    </m:r>
                                  </m:e>
                                  <m:sub>
                                    <m:r>
                                      <a:rPr lang="en-US" sz="1400" b="1" i="1">
                                        <a:solidFill>
                                          <a:schemeClr val="bg1"/>
                                        </a:solidFill>
                                        <a:latin typeface="Cambria Math" panose="02040503050406030204" pitchFamily="18" charset="0"/>
                                      </a:rPr>
                                      <m:t>𝟐</m:t>
                                    </m:r>
                                  </m:sub>
                                </m:sSub>
                              </m:e>
                            </m:mr>
                            <m:mr>
                              <m:e>
                                <m:eqArr>
                                  <m:eqArrPr>
                                    <m:ctrlPr>
                                      <a:rPr lang="en-US" sz="1400" b="1" i="1">
                                        <a:solidFill>
                                          <a:schemeClr val="bg1"/>
                                        </a:solidFill>
                                        <a:latin typeface="Cambria Math" panose="02040503050406030204" pitchFamily="18" charset="0"/>
                                      </a:rPr>
                                    </m:ctrlPr>
                                  </m:eqArrPr>
                                  <m:e>
                                    <m:r>
                                      <a:rPr lang="en-US" sz="1400" b="1" i="1">
                                        <a:solidFill>
                                          <a:schemeClr val="bg1"/>
                                        </a:solidFill>
                                        <a:latin typeface="Cambria Math" panose="02040503050406030204" pitchFamily="18" charset="0"/>
                                        <a:ea typeface="Cambria Math" panose="02040503050406030204" pitchFamily="18" charset="0"/>
                                      </a:rPr>
                                      <m:t>⋮</m:t>
                                    </m:r>
                                  </m:e>
                                  <m:e>
                                    <m:sSub>
                                      <m:sSubPr>
                                        <m:ctrlPr>
                                          <a:rPr lang="en-US" sz="1400" b="1" i="1">
                                            <a:solidFill>
                                              <a:schemeClr val="bg1"/>
                                            </a:solidFill>
                                            <a:latin typeface="Cambria Math" panose="02040503050406030204" pitchFamily="18" charset="0"/>
                                          </a:rPr>
                                        </m:ctrlPr>
                                      </m:sSubPr>
                                      <m:e>
                                        <m:r>
                                          <a:rPr lang="en-US" sz="1400" b="1" i="1" smtClean="0">
                                            <a:solidFill>
                                              <a:schemeClr val="bg1"/>
                                            </a:solidFill>
                                            <a:latin typeface="Cambria Math" panose="02040503050406030204" pitchFamily="18" charset="0"/>
                                          </a:rPr>
                                          <m:t>𝒊𝒏𝒑𝒖𝒕</m:t>
                                        </m:r>
                                      </m:e>
                                      <m:sub>
                                        <m:r>
                                          <a:rPr lang="en-US" sz="1400" b="1" i="1">
                                            <a:solidFill>
                                              <a:schemeClr val="bg1"/>
                                            </a:solidFill>
                                            <a:latin typeface="Cambria Math" panose="02040503050406030204" pitchFamily="18" charset="0"/>
                                          </a:rPr>
                                          <m:t>𝒏</m:t>
                                        </m:r>
                                      </m:sub>
                                    </m:sSub>
                                  </m:e>
                                </m:eqArr>
                              </m:e>
                            </m:mr>
                          </m:m>
                        </m:e>
                      </m:d>
                    </m:oMath>
                  </m:oMathPara>
                </a14:m>
                <a:endParaRPr lang="en-US" sz="1400" b="1" dirty="0"/>
              </a:p>
            </p:txBody>
          </p:sp>
        </mc:Choice>
        <mc:Fallback xmlns="">
          <p:sp>
            <p:nvSpPr>
              <p:cNvPr id="2" name="TextBox 1">
                <a:extLst>
                  <a:ext uri="{FF2B5EF4-FFF2-40B4-BE49-F238E27FC236}">
                    <a16:creationId xmlns:a16="http://schemas.microsoft.com/office/drawing/2014/main" id="{4047E8AA-B8CF-3610-F810-BB85E80CD254}"/>
                  </a:ext>
                </a:extLst>
              </p:cNvPr>
              <p:cNvSpPr txBox="1">
                <a:spLocks noRot="1" noChangeAspect="1" noMove="1" noResize="1" noEditPoints="1" noAdjustHandles="1" noChangeArrowheads="1" noChangeShapeType="1" noTextEdit="1"/>
              </p:cNvSpPr>
              <p:nvPr/>
            </p:nvSpPr>
            <p:spPr>
              <a:xfrm>
                <a:off x="2057289" y="3474494"/>
                <a:ext cx="793551" cy="822854"/>
              </a:xfrm>
              <a:prstGeom prst="rect">
                <a:avLst/>
              </a:prstGeom>
              <a:blipFill>
                <a:blip r:embed="rId2"/>
                <a:stretch>
                  <a:fillRect t="-3030" b="-9091"/>
                </a:stretch>
              </a:blipFill>
            </p:spPr>
            <p:txBody>
              <a:bodyPr/>
              <a:lstStyle/>
              <a:p>
                <a:r>
                  <a:rPr lang="en-US">
                    <a:noFill/>
                  </a:rPr>
                  <a:t> </a:t>
                </a:r>
              </a:p>
            </p:txBody>
          </p:sp>
        </mc:Fallback>
      </mc:AlternateContent>
      <p:sp>
        <p:nvSpPr>
          <p:cNvPr id="3" name="Arrow: Right 2">
            <a:extLst>
              <a:ext uri="{FF2B5EF4-FFF2-40B4-BE49-F238E27FC236}">
                <a16:creationId xmlns:a16="http://schemas.microsoft.com/office/drawing/2014/main" id="{D0E32D64-66B2-FD5D-3D4D-8F2BFA39BE01}"/>
              </a:ext>
            </a:extLst>
          </p:cNvPr>
          <p:cNvSpPr/>
          <p:nvPr/>
        </p:nvSpPr>
        <p:spPr>
          <a:xfrm>
            <a:off x="9429858" y="378140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D888846-9F45-B69D-AAEF-686D959C6EB7}"/>
                  </a:ext>
                </a:extLst>
              </p:cNvPr>
              <p:cNvSpPr txBox="1"/>
              <p:nvPr/>
            </p:nvSpPr>
            <p:spPr>
              <a:xfrm>
                <a:off x="9739838" y="3468488"/>
                <a:ext cx="886525" cy="8033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b="1" i="1" smtClean="0">
                              <a:latin typeface="Cambria Math" panose="02040503050406030204" pitchFamily="18" charset="0"/>
                            </a:rPr>
                          </m:ctrlPr>
                        </m:dPr>
                        <m:e>
                          <m:m>
                            <m:mPr>
                              <m:mcs>
                                <m:mc>
                                  <m:mcPr>
                                    <m:count m:val="1"/>
                                    <m:mcJc m:val="center"/>
                                  </m:mcPr>
                                </m:mc>
                              </m:mcs>
                              <m:ctrlPr>
                                <a:rPr lang="en-US" sz="1400" b="1" i="1" smtClean="0">
                                  <a:solidFill>
                                    <a:schemeClr val="bg1"/>
                                  </a:solidFill>
                                  <a:latin typeface="Cambria Math" panose="02040503050406030204" pitchFamily="18" charset="0"/>
                                </a:rPr>
                              </m:ctrlPr>
                            </m:mPr>
                            <m:mr>
                              <m:e>
                                <m:sSub>
                                  <m:sSubPr>
                                    <m:ctrlPr>
                                      <a:rPr lang="en-US" sz="1400" b="1" i="1">
                                        <a:solidFill>
                                          <a:schemeClr val="bg1"/>
                                        </a:solidFill>
                                        <a:latin typeface="Cambria Math" panose="02040503050406030204" pitchFamily="18" charset="0"/>
                                      </a:rPr>
                                    </m:ctrlPr>
                                  </m:sSubPr>
                                  <m:e>
                                    <m:r>
                                      <a:rPr lang="en-US" sz="1400" b="1" i="1" smtClean="0">
                                        <a:solidFill>
                                          <a:schemeClr val="bg1"/>
                                        </a:solidFill>
                                        <a:latin typeface="Cambria Math" panose="02040503050406030204" pitchFamily="18" charset="0"/>
                                      </a:rPr>
                                      <m:t>𝒐𝒖𝒕𝒑𝒖𝒕</m:t>
                                    </m:r>
                                  </m:e>
                                  <m:sub>
                                    <m:r>
                                      <a:rPr lang="en-US" sz="1400" b="1" i="1">
                                        <a:solidFill>
                                          <a:schemeClr val="bg1"/>
                                        </a:solidFill>
                                        <a:latin typeface="Cambria Math" panose="02040503050406030204" pitchFamily="18" charset="0"/>
                                      </a:rPr>
                                      <m:t>𝟏</m:t>
                                    </m:r>
                                  </m:sub>
                                </m:sSub>
                              </m:e>
                            </m:mr>
                            <m:mr>
                              <m:e>
                                <m:sSub>
                                  <m:sSubPr>
                                    <m:ctrlPr>
                                      <a:rPr lang="en-US" sz="1400" b="1" i="1">
                                        <a:solidFill>
                                          <a:schemeClr val="bg1"/>
                                        </a:solidFill>
                                        <a:latin typeface="Cambria Math" panose="02040503050406030204" pitchFamily="18" charset="0"/>
                                      </a:rPr>
                                    </m:ctrlPr>
                                  </m:sSubPr>
                                  <m:e>
                                    <m:r>
                                      <a:rPr lang="en-US" sz="1400" b="1" i="1" smtClean="0">
                                        <a:solidFill>
                                          <a:schemeClr val="bg1"/>
                                        </a:solidFill>
                                        <a:latin typeface="Cambria Math" panose="02040503050406030204" pitchFamily="18" charset="0"/>
                                      </a:rPr>
                                      <m:t>𝒐𝒖𝒕𝒑𝒖𝒕</m:t>
                                    </m:r>
                                  </m:e>
                                  <m:sub>
                                    <m:r>
                                      <a:rPr lang="en-US" sz="1400" b="1" i="1">
                                        <a:solidFill>
                                          <a:schemeClr val="bg1"/>
                                        </a:solidFill>
                                        <a:latin typeface="Cambria Math" panose="02040503050406030204" pitchFamily="18" charset="0"/>
                                      </a:rPr>
                                      <m:t>𝟐</m:t>
                                    </m:r>
                                  </m:sub>
                                </m:sSub>
                              </m:e>
                            </m:mr>
                            <m:mr>
                              <m:e>
                                <m:eqArr>
                                  <m:eqArrPr>
                                    <m:ctrlPr>
                                      <a:rPr lang="en-US" sz="1400" b="1" i="1">
                                        <a:solidFill>
                                          <a:schemeClr val="bg1"/>
                                        </a:solidFill>
                                        <a:latin typeface="Cambria Math" panose="02040503050406030204" pitchFamily="18" charset="0"/>
                                      </a:rPr>
                                    </m:ctrlPr>
                                  </m:eqArrPr>
                                  <m:e>
                                    <m:r>
                                      <a:rPr lang="en-US" sz="1400" b="1" i="1">
                                        <a:solidFill>
                                          <a:schemeClr val="bg1"/>
                                        </a:solidFill>
                                        <a:latin typeface="Cambria Math" panose="02040503050406030204" pitchFamily="18" charset="0"/>
                                        <a:ea typeface="Cambria Math" panose="02040503050406030204" pitchFamily="18" charset="0"/>
                                      </a:rPr>
                                      <m:t>⋮</m:t>
                                    </m:r>
                                  </m:e>
                                  <m:e>
                                    <m:sSub>
                                      <m:sSubPr>
                                        <m:ctrlPr>
                                          <a:rPr lang="en-US" sz="1400" b="1" i="1">
                                            <a:solidFill>
                                              <a:schemeClr val="bg1"/>
                                            </a:solidFill>
                                            <a:latin typeface="Cambria Math" panose="02040503050406030204" pitchFamily="18" charset="0"/>
                                          </a:rPr>
                                        </m:ctrlPr>
                                      </m:sSubPr>
                                      <m:e>
                                        <m:r>
                                          <a:rPr lang="en-US" sz="1400" b="1" i="1" smtClean="0">
                                            <a:solidFill>
                                              <a:schemeClr val="bg1"/>
                                            </a:solidFill>
                                            <a:latin typeface="Cambria Math" panose="02040503050406030204" pitchFamily="18" charset="0"/>
                                          </a:rPr>
                                          <m:t>𝒐𝒖𝒕𝒑𝒖𝒕</m:t>
                                        </m:r>
                                      </m:e>
                                      <m:sub>
                                        <m:r>
                                          <a:rPr lang="en-US" sz="1400" b="1" i="1" smtClean="0">
                                            <a:solidFill>
                                              <a:schemeClr val="bg1"/>
                                            </a:solidFill>
                                            <a:latin typeface="Cambria Math" panose="02040503050406030204" pitchFamily="18" charset="0"/>
                                          </a:rPr>
                                          <m:t>𝒌</m:t>
                                        </m:r>
                                      </m:sub>
                                    </m:sSub>
                                  </m:e>
                                </m:eqArr>
                              </m:e>
                            </m:mr>
                          </m:m>
                        </m:e>
                      </m:d>
                    </m:oMath>
                  </m:oMathPara>
                </a14:m>
                <a:endParaRPr lang="en-US" sz="1400" b="1" dirty="0"/>
              </a:p>
            </p:txBody>
          </p:sp>
        </mc:Choice>
        <mc:Fallback xmlns="">
          <p:sp>
            <p:nvSpPr>
              <p:cNvPr id="4" name="TextBox 3">
                <a:extLst>
                  <a:ext uri="{FF2B5EF4-FFF2-40B4-BE49-F238E27FC236}">
                    <a16:creationId xmlns:a16="http://schemas.microsoft.com/office/drawing/2014/main" id="{5D888846-9F45-B69D-AAEF-686D959C6EB7}"/>
                  </a:ext>
                </a:extLst>
              </p:cNvPr>
              <p:cNvSpPr txBox="1">
                <a:spLocks noRot="1" noChangeAspect="1" noMove="1" noResize="1" noEditPoints="1" noAdjustHandles="1" noChangeArrowheads="1" noChangeShapeType="1" noTextEdit="1"/>
              </p:cNvSpPr>
              <p:nvPr/>
            </p:nvSpPr>
            <p:spPr>
              <a:xfrm>
                <a:off x="9739838" y="3468488"/>
                <a:ext cx="886525" cy="803361"/>
              </a:xfrm>
              <a:prstGeom prst="rect">
                <a:avLst/>
              </a:prstGeom>
              <a:blipFill>
                <a:blip r:embed="rId3"/>
                <a:stretch>
                  <a:fillRect t="-3125" b="-7813"/>
                </a:stretch>
              </a:blipFill>
            </p:spPr>
            <p:txBody>
              <a:bodyPr/>
              <a:lstStyle/>
              <a:p>
                <a:r>
                  <a:rPr lang="en-US">
                    <a:noFill/>
                  </a:rPr>
                  <a:t> </a:t>
                </a:r>
              </a:p>
            </p:txBody>
          </p:sp>
        </mc:Fallback>
      </mc:AlternateContent>
      <p:sp>
        <p:nvSpPr>
          <p:cNvPr id="7" name="Arrow: Right 6">
            <a:extLst>
              <a:ext uri="{FF2B5EF4-FFF2-40B4-BE49-F238E27FC236}">
                <a16:creationId xmlns:a16="http://schemas.microsoft.com/office/drawing/2014/main" id="{9F54CB5A-8F2A-39D5-8665-7F0AFB471070}"/>
              </a:ext>
            </a:extLst>
          </p:cNvPr>
          <p:cNvSpPr/>
          <p:nvPr/>
        </p:nvSpPr>
        <p:spPr>
          <a:xfrm>
            <a:off x="2885953" y="3787387"/>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9" name="Group 8">
            <a:extLst>
              <a:ext uri="{FF2B5EF4-FFF2-40B4-BE49-F238E27FC236}">
                <a16:creationId xmlns:a16="http://schemas.microsoft.com/office/drawing/2014/main" id="{E28F0E80-B76B-314B-1853-AFA235E1A7C1}"/>
              </a:ext>
            </a:extLst>
          </p:cNvPr>
          <p:cNvGrpSpPr/>
          <p:nvPr/>
        </p:nvGrpSpPr>
        <p:grpSpPr>
          <a:xfrm>
            <a:off x="4875238" y="3790546"/>
            <a:ext cx="1007980" cy="128872"/>
            <a:chOff x="7036224" y="4064907"/>
            <a:chExt cx="1007980" cy="128872"/>
          </a:xfrm>
        </p:grpSpPr>
        <p:sp>
          <p:nvSpPr>
            <p:cNvPr id="10" name="Arrow: Right 9">
              <a:extLst>
                <a:ext uri="{FF2B5EF4-FFF2-40B4-BE49-F238E27FC236}">
                  <a16:creationId xmlns:a16="http://schemas.microsoft.com/office/drawing/2014/main" id="{1BABFE6C-F48D-4831-18FE-44AB2A173C5E}"/>
                </a:ext>
              </a:extLst>
            </p:cNvPr>
            <p:cNvSpPr/>
            <p:nvPr/>
          </p:nvSpPr>
          <p:spPr>
            <a:xfrm>
              <a:off x="7036224" y="4064907"/>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sp>
          <p:nvSpPr>
            <p:cNvPr id="11" name="Arrow: Right 10">
              <a:extLst>
                <a:ext uri="{FF2B5EF4-FFF2-40B4-BE49-F238E27FC236}">
                  <a16:creationId xmlns:a16="http://schemas.microsoft.com/office/drawing/2014/main" id="{6432FAE6-102A-6397-2866-81A6F212BD08}"/>
                </a:ext>
              </a:extLst>
            </p:cNvPr>
            <p:cNvSpPr/>
            <p:nvPr/>
          </p:nvSpPr>
          <p:spPr>
            <a:xfrm>
              <a:off x="7722024" y="4064907"/>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cxnSp>
          <p:nvCxnSpPr>
            <p:cNvPr id="12" name="Straight Connector 11">
              <a:extLst>
                <a:ext uri="{FF2B5EF4-FFF2-40B4-BE49-F238E27FC236}">
                  <a16:creationId xmlns:a16="http://schemas.microsoft.com/office/drawing/2014/main" id="{438FA6CE-72D5-95C6-CB69-AFEC2E7E5E33}"/>
                </a:ext>
              </a:extLst>
            </p:cNvPr>
            <p:cNvCxnSpPr>
              <a:stCxn id="10" idx="3"/>
              <a:endCxn id="11" idx="1"/>
            </p:cNvCxnSpPr>
            <p:nvPr/>
          </p:nvCxnSpPr>
          <p:spPr>
            <a:xfrm>
              <a:off x="7358404" y="4129343"/>
              <a:ext cx="363620" cy="0"/>
            </a:xfrm>
            <a:prstGeom prst="line">
              <a:avLst/>
            </a:prstGeom>
            <a:ln>
              <a:prstDash val="sysDot"/>
            </a:ln>
          </p:spPr>
          <p:style>
            <a:lnRef idx="3">
              <a:schemeClr val="dk1"/>
            </a:lnRef>
            <a:fillRef idx="0">
              <a:schemeClr val="dk1"/>
            </a:fillRef>
            <a:effectRef idx="2">
              <a:schemeClr val="dk1"/>
            </a:effectRef>
            <a:fontRef idx="minor">
              <a:schemeClr val="tx1"/>
            </a:fontRef>
          </p:style>
        </p:cxnSp>
      </p:grpSp>
      <p:sp>
        <p:nvSpPr>
          <p:cNvPr id="13" name="Arrow: Right 12">
            <a:extLst>
              <a:ext uri="{FF2B5EF4-FFF2-40B4-BE49-F238E27FC236}">
                <a16:creationId xmlns:a16="http://schemas.microsoft.com/office/drawing/2014/main" id="{E0CA99CD-D624-A2A9-EB11-84ECFC53F8E9}"/>
              </a:ext>
            </a:extLst>
          </p:cNvPr>
          <p:cNvSpPr/>
          <p:nvPr/>
        </p:nvSpPr>
        <p:spPr>
          <a:xfrm>
            <a:off x="7466038" y="378830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14" name="Group 13">
            <a:extLst>
              <a:ext uri="{FF2B5EF4-FFF2-40B4-BE49-F238E27FC236}">
                <a16:creationId xmlns:a16="http://schemas.microsoft.com/office/drawing/2014/main" id="{0C1864D4-FCF6-6412-C174-CB1D62456D0D}"/>
              </a:ext>
            </a:extLst>
          </p:cNvPr>
          <p:cNvGrpSpPr/>
          <p:nvPr/>
        </p:nvGrpSpPr>
        <p:grpSpPr>
          <a:xfrm>
            <a:off x="3179237" y="3313387"/>
            <a:ext cx="1883242" cy="1622902"/>
            <a:chOff x="2796760" y="3129172"/>
            <a:chExt cx="1883242" cy="1622902"/>
          </a:xfrm>
        </p:grpSpPr>
        <p:sp>
          <p:nvSpPr>
            <p:cNvPr id="15" name="Arrow: Right 14">
              <a:extLst>
                <a:ext uri="{FF2B5EF4-FFF2-40B4-BE49-F238E27FC236}">
                  <a16:creationId xmlns:a16="http://schemas.microsoft.com/office/drawing/2014/main" id="{B8E44AE5-1BBB-F567-F712-77E522A53EEE}"/>
                </a:ext>
              </a:extLst>
            </p:cNvPr>
            <p:cNvSpPr/>
            <p:nvPr/>
          </p:nvSpPr>
          <p:spPr>
            <a:xfrm>
              <a:off x="3593806" y="36031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16" name="Group 15">
              <a:extLst>
                <a:ext uri="{FF2B5EF4-FFF2-40B4-BE49-F238E27FC236}">
                  <a16:creationId xmlns:a16="http://schemas.microsoft.com/office/drawing/2014/main" id="{D6DEEA63-11BA-3143-DA40-9640B8E8F41D}"/>
                </a:ext>
              </a:extLst>
            </p:cNvPr>
            <p:cNvGrpSpPr/>
            <p:nvPr/>
          </p:nvGrpSpPr>
          <p:grpSpPr>
            <a:xfrm>
              <a:off x="3983804" y="3129694"/>
              <a:ext cx="385117" cy="1084493"/>
              <a:chOff x="4355646" y="2933574"/>
              <a:chExt cx="385117" cy="1463040"/>
            </a:xfrm>
          </p:grpSpPr>
          <p:sp>
            <p:nvSpPr>
              <p:cNvPr id="59" name="Rectangle 58">
                <a:extLst>
                  <a:ext uri="{FF2B5EF4-FFF2-40B4-BE49-F238E27FC236}">
                    <a16:creationId xmlns:a16="http://schemas.microsoft.com/office/drawing/2014/main" id="{F44A79AC-F238-A199-6607-008BA2D0EBE9}"/>
                  </a:ext>
                </a:extLst>
              </p:cNvPr>
              <p:cNvSpPr/>
              <p:nvPr/>
            </p:nvSpPr>
            <p:spPr>
              <a:xfrm>
                <a:off x="4358443" y="2933574"/>
                <a:ext cx="382320" cy="146304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Graphic 59" descr="Normal Distribution with solid fill">
                <a:extLst>
                  <a:ext uri="{FF2B5EF4-FFF2-40B4-BE49-F238E27FC236}">
                    <a16:creationId xmlns:a16="http://schemas.microsoft.com/office/drawing/2014/main" id="{F06B2AB5-EFD1-D778-D562-6DE12EBA031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5646" y="2953360"/>
                <a:ext cx="378536" cy="378536"/>
              </a:xfrm>
              <a:prstGeom prst="rect">
                <a:avLst/>
              </a:prstGeom>
            </p:spPr>
          </p:pic>
        </p:grpSp>
        <p:sp>
          <p:nvSpPr>
            <p:cNvPr id="17" name="TextBox 16">
              <a:extLst>
                <a:ext uri="{FF2B5EF4-FFF2-40B4-BE49-F238E27FC236}">
                  <a16:creationId xmlns:a16="http://schemas.microsoft.com/office/drawing/2014/main" id="{0DF5D2D8-0C7D-B29A-BF01-B73034DF7F5A}"/>
                </a:ext>
              </a:extLst>
            </p:cNvPr>
            <p:cNvSpPr txBox="1"/>
            <p:nvPr/>
          </p:nvSpPr>
          <p:spPr>
            <a:xfrm>
              <a:off x="2796760" y="4212155"/>
              <a:ext cx="833121" cy="523220"/>
            </a:xfrm>
            <a:prstGeom prst="rect">
              <a:avLst/>
            </a:prstGeom>
            <a:noFill/>
          </p:spPr>
          <p:txBody>
            <a:bodyPr wrap="square" rtlCol="0">
              <a:spAutoFit/>
            </a:bodyPr>
            <a:lstStyle/>
            <a:p>
              <a:pPr algn="ctr"/>
              <a:r>
                <a:rPr lang="en-US" b="1" dirty="0">
                  <a:solidFill>
                    <a:schemeClr val="bg1"/>
                  </a:solidFill>
                  <a:latin typeface="Arial" panose="020B0604020202020204" pitchFamily="34" charset="0"/>
                  <a:cs typeface="Arial" panose="020B0604020202020204" pitchFamily="34" charset="0"/>
                </a:rPr>
                <a:t>Weight</a:t>
              </a:r>
            </a:p>
            <a:p>
              <a:pPr algn="ctr"/>
              <a:r>
                <a:rPr lang="en-US" b="1" dirty="0">
                  <a:solidFill>
                    <a:schemeClr val="bg1"/>
                  </a:solidFill>
                  <a:latin typeface="Arial" panose="020B0604020202020204" pitchFamily="34" charset="0"/>
                  <a:cs typeface="Arial" panose="020B0604020202020204" pitchFamily="34" charset="0"/>
                </a:rPr>
                <a:t>Matrix</a:t>
              </a:r>
            </a:p>
          </p:txBody>
        </p:sp>
        <p:sp>
          <p:nvSpPr>
            <p:cNvPr id="18" name="TextBox 17">
              <a:extLst>
                <a:ext uri="{FF2B5EF4-FFF2-40B4-BE49-F238E27FC236}">
                  <a16:creationId xmlns:a16="http://schemas.microsoft.com/office/drawing/2014/main" id="{08F640D8-1161-D005-36C9-8BFB2C613140}"/>
                </a:ext>
              </a:extLst>
            </p:cNvPr>
            <p:cNvSpPr txBox="1"/>
            <p:nvPr/>
          </p:nvSpPr>
          <p:spPr>
            <a:xfrm>
              <a:off x="3638743" y="4228854"/>
              <a:ext cx="1041259" cy="523220"/>
            </a:xfrm>
            <a:prstGeom prst="rect">
              <a:avLst/>
            </a:prstGeom>
            <a:noFill/>
          </p:spPr>
          <p:txBody>
            <a:bodyPr wrap="square" rtlCol="0">
              <a:spAutoFit/>
            </a:bodyPr>
            <a:lstStyle/>
            <a:p>
              <a:pPr algn="ctr"/>
              <a:r>
                <a:rPr lang="en-US" b="1" dirty="0">
                  <a:solidFill>
                    <a:schemeClr val="bg1"/>
                  </a:solidFill>
                  <a:latin typeface="Arial" panose="020B0604020202020204" pitchFamily="34" charset="0"/>
                  <a:cs typeface="Arial" panose="020B0604020202020204" pitchFamily="34" charset="0"/>
                </a:rPr>
                <a:t>Activation</a:t>
              </a:r>
            </a:p>
            <a:p>
              <a:pPr algn="ctr"/>
              <a:r>
                <a:rPr lang="en-US" b="1" dirty="0">
                  <a:solidFill>
                    <a:schemeClr val="bg1"/>
                  </a:solidFill>
                  <a:latin typeface="Arial" panose="020B0604020202020204" pitchFamily="34" charset="0"/>
                  <a:cs typeface="Arial" panose="020B0604020202020204" pitchFamily="34" charset="0"/>
                </a:rPr>
                <a:t>Function</a:t>
              </a:r>
            </a:p>
          </p:txBody>
        </p:sp>
        <p:grpSp>
          <p:nvGrpSpPr>
            <p:cNvPr id="19" name="Group 18">
              <a:extLst>
                <a:ext uri="{FF2B5EF4-FFF2-40B4-BE49-F238E27FC236}">
                  <a16:creationId xmlns:a16="http://schemas.microsoft.com/office/drawing/2014/main" id="{D3AF36E8-D717-3B9B-67FA-8270C03F6361}"/>
                </a:ext>
              </a:extLst>
            </p:cNvPr>
            <p:cNvGrpSpPr/>
            <p:nvPr/>
          </p:nvGrpSpPr>
          <p:grpSpPr>
            <a:xfrm>
              <a:off x="2892441" y="3129172"/>
              <a:ext cx="642606" cy="1087393"/>
              <a:chOff x="989012" y="2774253"/>
              <a:chExt cx="642606" cy="1087393"/>
            </a:xfrm>
          </p:grpSpPr>
          <p:grpSp>
            <p:nvGrpSpPr>
              <p:cNvPr id="20" name="Group 19">
                <a:extLst>
                  <a:ext uri="{FF2B5EF4-FFF2-40B4-BE49-F238E27FC236}">
                    <a16:creationId xmlns:a16="http://schemas.microsoft.com/office/drawing/2014/main" id="{187E0121-E9ED-A502-DE1B-4B267F6BD0CC}"/>
                  </a:ext>
                </a:extLst>
              </p:cNvPr>
              <p:cNvGrpSpPr/>
              <p:nvPr/>
            </p:nvGrpSpPr>
            <p:grpSpPr>
              <a:xfrm>
                <a:off x="989012" y="2774253"/>
                <a:ext cx="642606" cy="363242"/>
                <a:chOff x="760130" y="3429000"/>
                <a:chExt cx="642606" cy="363242"/>
              </a:xfrm>
            </p:grpSpPr>
            <p:grpSp>
              <p:nvGrpSpPr>
                <p:cNvPr id="47" name="Group 46">
                  <a:extLst>
                    <a:ext uri="{FF2B5EF4-FFF2-40B4-BE49-F238E27FC236}">
                      <a16:creationId xmlns:a16="http://schemas.microsoft.com/office/drawing/2014/main" id="{D66869B6-7B25-6F79-09BB-D49D90B9D798}"/>
                    </a:ext>
                  </a:extLst>
                </p:cNvPr>
                <p:cNvGrpSpPr/>
                <p:nvPr/>
              </p:nvGrpSpPr>
              <p:grpSpPr>
                <a:xfrm>
                  <a:off x="760412" y="3429000"/>
                  <a:ext cx="642324" cy="181072"/>
                  <a:chOff x="760412" y="3429000"/>
                  <a:chExt cx="642324" cy="181072"/>
                </a:xfrm>
              </p:grpSpPr>
              <p:sp>
                <p:nvSpPr>
                  <p:cNvPr id="54" name="Rectangle 53">
                    <a:extLst>
                      <a:ext uri="{FF2B5EF4-FFF2-40B4-BE49-F238E27FC236}">
                        <a16:creationId xmlns:a16="http://schemas.microsoft.com/office/drawing/2014/main" id="{C04B03E1-7892-829B-C233-9C3767460AAE}"/>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A069BF39-8C1E-222F-8029-5240044142C3}"/>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2407696A-C661-665B-E80A-53C83DB38E12}"/>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44A6326B-AEE1-3F28-6DC2-EACEDADECE02}"/>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86CA1C0E-B8A4-58E0-AD6C-388ECBF55059}"/>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6C9EF454-77C7-92D9-9441-26480657BE3B}"/>
                    </a:ext>
                  </a:extLst>
                </p:cNvPr>
                <p:cNvGrpSpPr/>
                <p:nvPr/>
              </p:nvGrpSpPr>
              <p:grpSpPr>
                <a:xfrm>
                  <a:off x="760130" y="3611170"/>
                  <a:ext cx="642324" cy="181072"/>
                  <a:chOff x="760412" y="3429000"/>
                  <a:chExt cx="642324" cy="181072"/>
                </a:xfrm>
              </p:grpSpPr>
              <p:sp>
                <p:nvSpPr>
                  <p:cNvPr id="49" name="Rectangle 48">
                    <a:extLst>
                      <a:ext uri="{FF2B5EF4-FFF2-40B4-BE49-F238E27FC236}">
                        <a16:creationId xmlns:a16="http://schemas.microsoft.com/office/drawing/2014/main" id="{3E3F6ECE-D9B5-C9A9-B605-B57A6DBACDC0}"/>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C70A91AA-B644-43B6-ACD9-1575E6F74D00}"/>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88FAF157-4BAF-8C23-54C8-7008B0BB1F8D}"/>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A698CDA-D760-1BB1-4307-104D46A94878}"/>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49C73A9-7980-34F4-FB47-32A8ADA757ED}"/>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1" name="Group 20">
                <a:extLst>
                  <a:ext uri="{FF2B5EF4-FFF2-40B4-BE49-F238E27FC236}">
                    <a16:creationId xmlns:a16="http://schemas.microsoft.com/office/drawing/2014/main" id="{C8B5C2C2-5477-804E-E590-9740D97E4AA9}"/>
                  </a:ext>
                </a:extLst>
              </p:cNvPr>
              <p:cNvGrpSpPr/>
              <p:nvPr/>
            </p:nvGrpSpPr>
            <p:grpSpPr>
              <a:xfrm>
                <a:off x="989012" y="3138474"/>
                <a:ext cx="642606" cy="363242"/>
                <a:chOff x="760130" y="3429000"/>
                <a:chExt cx="642606" cy="363242"/>
              </a:xfrm>
            </p:grpSpPr>
            <p:grpSp>
              <p:nvGrpSpPr>
                <p:cNvPr id="35" name="Group 34">
                  <a:extLst>
                    <a:ext uri="{FF2B5EF4-FFF2-40B4-BE49-F238E27FC236}">
                      <a16:creationId xmlns:a16="http://schemas.microsoft.com/office/drawing/2014/main" id="{1D5640DF-A443-3FD0-F05A-4CDEFF312E44}"/>
                    </a:ext>
                  </a:extLst>
                </p:cNvPr>
                <p:cNvGrpSpPr/>
                <p:nvPr/>
              </p:nvGrpSpPr>
              <p:grpSpPr>
                <a:xfrm>
                  <a:off x="760412" y="3429000"/>
                  <a:ext cx="642324" cy="181072"/>
                  <a:chOff x="760412" y="3429000"/>
                  <a:chExt cx="642324" cy="181072"/>
                </a:xfrm>
              </p:grpSpPr>
              <p:sp>
                <p:nvSpPr>
                  <p:cNvPr id="42" name="Rectangle 41">
                    <a:extLst>
                      <a:ext uri="{FF2B5EF4-FFF2-40B4-BE49-F238E27FC236}">
                        <a16:creationId xmlns:a16="http://schemas.microsoft.com/office/drawing/2014/main" id="{3FB64AA1-330C-A218-9669-4F53C5949AC4}"/>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F18B856-30E5-4DAC-815A-B8246614B502}"/>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AE33C78-E578-FBB7-04C4-F17FB1916A46}"/>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39C5871-43E6-18BB-2E8D-F7CB02DE5B3E}"/>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4A07D753-0D8E-6CC0-F7ED-AB9C25EF1616}"/>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26050590-254E-713B-CC55-6A8661CFD4F6}"/>
                    </a:ext>
                  </a:extLst>
                </p:cNvPr>
                <p:cNvGrpSpPr/>
                <p:nvPr/>
              </p:nvGrpSpPr>
              <p:grpSpPr>
                <a:xfrm>
                  <a:off x="760130" y="3611170"/>
                  <a:ext cx="642324" cy="181072"/>
                  <a:chOff x="760412" y="3429000"/>
                  <a:chExt cx="642324" cy="181072"/>
                </a:xfrm>
              </p:grpSpPr>
              <p:sp>
                <p:nvSpPr>
                  <p:cNvPr id="37" name="Rectangle 36">
                    <a:extLst>
                      <a:ext uri="{FF2B5EF4-FFF2-40B4-BE49-F238E27FC236}">
                        <a16:creationId xmlns:a16="http://schemas.microsoft.com/office/drawing/2014/main" id="{1BD54A0E-BBCF-3850-35E1-B743CBA8CDBB}"/>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3CCE7B6-5A56-A30D-C20C-31F623502A1B}"/>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6179E73-4CFC-4F97-E551-E6A040805C91}"/>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AD52851-1B39-3843-FD24-37A0F3620451}"/>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3A152F0D-AAC0-6DB0-677E-82617E6BB7BA}"/>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2" name="Group 21">
                <a:extLst>
                  <a:ext uri="{FF2B5EF4-FFF2-40B4-BE49-F238E27FC236}">
                    <a16:creationId xmlns:a16="http://schemas.microsoft.com/office/drawing/2014/main" id="{FA74BAF9-E581-4B74-6A8B-1B67CF5B49F7}"/>
                  </a:ext>
                </a:extLst>
              </p:cNvPr>
              <p:cNvGrpSpPr/>
              <p:nvPr/>
            </p:nvGrpSpPr>
            <p:grpSpPr>
              <a:xfrm>
                <a:off x="989012" y="3498404"/>
                <a:ext cx="642606" cy="363242"/>
                <a:chOff x="760130" y="3429000"/>
                <a:chExt cx="642606" cy="363242"/>
              </a:xfrm>
            </p:grpSpPr>
            <p:grpSp>
              <p:nvGrpSpPr>
                <p:cNvPr id="23" name="Group 22">
                  <a:extLst>
                    <a:ext uri="{FF2B5EF4-FFF2-40B4-BE49-F238E27FC236}">
                      <a16:creationId xmlns:a16="http://schemas.microsoft.com/office/drawing/2014/main" id="{C0343348-F28B-560E-02C2-27CF81D88447}"/>
                    </a:ext>
                  </a:extLst>
                </p:cNvPr>
                <p:cNvGrpSpPr/>
                <p:nvPr/>
              </p:nvGrpSpPr>
              <p:grpSpPr>
                <a:xfrm>
                  <a:off x="760412" y="3429000"/>
                  <a:ext cx="642324" cy="181072"/>
                  <a:chOff x="760412" y="3429000"/>
                  <a:chExt cx="642324" cy="181072"/>
                </a:xfrm>
              </p:grpSpPr>
              <p:sp>
                <p:nvSpPr>
                  <p:cNvPr id="30" name="Rectangle 29">
                    <a:extLst>
                      <a:ext uri="{FF2B5EF4-FFF2-40B4-BE49-F238E27FC236}">
                        <a16:creationId xmlns:a16="http://schemas.microsoft.com/office/drawing/2014/main" id="{399FDAE5-9F01-4640-E4EF-897FEFE4C2F8}"/>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82A819F-3032-2221-EEF5-72DC83F59DFB}"/>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6418B03-0E00-1C90-D1CB-FD91291B89B5}"/>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DFDCE97-907A-7BEE-6EF7-79F7A0C2662A}"/>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0F18C357-CD62-7839-D19D-61A04B6B6B32}"/>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EE89DD92-8F6B-C550-B436-926D812354E9}"/>
                    </a:ext>
                  </a:extLst>
                </p:cNvPr>
                <p:cNvGrpSpPr/>
                <p:nvPr/>
              </p:nvGrpSpPr>
              <p:grpSpPr>
                <a:xfrm>
                  <a:off x="760130" y="3611170"/>
                  <a:ext cx="642324" cy="181072"/>
                  <a:chOff x="760412" y="3429000"/>
                  <a:chExt cx="642324" cy="181072"/>
                </a:xfrm>
              </p:grpSpPr>
              <p:sp>
                <p:nvSpPr>
                  <p:cNvPr id="25" name="Rectangle 24">
                    <a:extLst>
                      <a:ext uri="{FF2B5EF4-FFF2-40B4-BE49-F238E27FC236}">
                        <a16:creationId xmlns:a16="http://schemas.microsoft.com/office/drawing/2014/main" id="{EF64302F-82F2-1C7A-00B9-49D602D44BD5}"/>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EDD140C-4072-B03C-5D70-B4EA5A17FA7E}"/>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8EA754A-1625-BEC5-2971-9E7E94FC6F56}"/>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AEE6D6F-7B8E-9507-4F63-43D3DCB2B79B}"/>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252A0AF-B60D-6403-3B3B-152089B484D8}"/>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08" name="Group 107">
            <a:extLst>
              <a:ext uri="{FF2B5EF4-FFF2-40B4-BE49-F238E27FC236}">
                <a16:creationId xmlns:a16="http://schemas.microsoft.com/office/drawing/2014/main" id="{832E4015-70A6-B70F-BC21-21D0D693FF96}"/>
              </a:ext>
            </a:extLst>
          </p:cNvPr>
          <p:cNvGrpSpPr/>
          <p:nvPr/>
        </p:nvGrpSpPr>
        <p:grpSpPr>
          <a:xfrm>
            <a:off x="5820092" y="3307402"/>
            <a:ext cx="1907115" cy="1606203"/>
            <a:chOff x="2796760" y="3129172"/>
            <a:chExt cx="1907115" cy="1606203"/>
          </a:xfrm>
        </p:grpSpPr>
        <p:sp>
          <p:nvSpPr>
            <p:cNvPr id="109" name="Arrow: Right 108">
              <a:extLst>
                <a:ext uri="{FF2B5EF4-FFF2-40B4-BE49-F238E27FC236}">
                  <a16:creationId xmlns:a16="http://schemas.microsoft.com/office/drawing/2014/main" id="{6F400599-697D-8827-A904-8D69185E5680}"/>
                </a:ext>
              </a:extLst>
            </p:cNvPr>
            <p:cNvSpPr/>
            <p:nvPr/>
          </p:nvSpPr>
          <p:spPr>
            <a:xfrm>
              <a:off x="3593806" y="36031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110" name="Group 109">
              <a:extLst>
                <a:ext uri="{FF2B5EF4-FFF2-40B4-BE49-F238E27FC236}">
                  <a16:creationId xmlns:a16="http://schemas.microsoft.com/office/drawing/2014/main" id="{7368E6FC-928E-3759-53AA-32ADF220C72E}"/>
                </a:ext>
              </a:extLst>
            </p:cNvPr>
            <p:cNvGrpSpPr/>
            <p:nvPr/>
          </p:nvGrpSpPr>
          <p:grpSpPr>
            <a:xfrm>
              <a:off x="3983804" y="3129694"/>
              <a:ext cx="385117" cy="1084493"/>
              <a:chOff x="4355646" y="2933574"/>
              <a:chExt cx="385117" cy="1463040"/>
            </a:xfrm>
          </p:grpSpPr>
          <p:sp>
            <p:nvSpPr>
              <p:cNvPr id="153" name="Rectangle 152">
                <a:extLst>
                  <a:ext uri="{FF2B5EF4-FFF2-40B4-BE49-F238E27FC236}">
                    <a16:creationId xmlns:a16="http://schemas.microsoft.com/office/drawing/2014/main" id="{6BF90BBC-EA19-F149-4471-F15E230168BC}"/>
                  </a:ext>
                </a:extLst>
              </p:cNvPr>
              <p:cNvSpPr/>
              <p:nvPr/>
            </p:nvSpPr>
            <p:spPr>
              <a:xfrm>
                <a:off x="4358443" y="2933574"/>
                <a:ext cx="382320" cy="146304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4" name="Graphic 153" descr="Normal Distribution with solid fill">
                <a:extLst>
                  <a:ext uri="{FF2B5EF4-FFF2-40B4-BE49-F238E27FC236}">
                    <a16:creationId xmlns:a16="http://schemas.microsoft.com/office/drawing/2014/main" id="{EDDEBD89-008F-6A21-A7E0-6E6B6D975C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5646" y="2953360"/>
                <a:ext cx="378536" cy="378536"/>
              </a:xfrm>
              <a:prstGeom prst="rect">
                <a:avLst/>
              </a:prstGeom>
            </p:spPr>
          </p:pic>
        </p:grpSp>
        <p:sp>
          <p:nvSpPr>
            <p:cNvPr id="111" name="TextBox 110">
              <a:extLst>
                <a:ext uri="{FF2B5EF4-FFF2-40B4-BE49-F238E27FC236}">
                  <a16:creationId xmlns:a16="http://schemas.microsoft.com/office/drawing/2014/main" id="{2EC639F6-A58C-D88E-1891-226EF0A5D29F}"/>
                </a:ext>
              </a:extLst>
            </p:cNvPr>
            <p:cNvSpPr txBox="1"/>
            <p:nvPr/>
          </p:nvSpPr>
          <p:spPr>
            <a:xfrm>
              <a:off x="2796760" y="4212155"/>
              <a:ext cx="833121" cy="523220"/>
            </a:xfrm>
            <a:prstGeom prst="rect">
              <a:avLst/>
            </a:prstGeom>
            <a:noFill/>
          </p:spPr>
          <p:txBody>
            <a:bodyPr wrap="square" rtlCol="0">
              <a:spAutoFit/>
            </a:bodyPr>
            <a:lstStyle/>
            <a:p>
              <a:pPr algn="ctr"/>
              <a:r>
                <a:rPr lang="en-US" b="1" dirty="0">
                  <a:solidFill>
                    <a:schemeClr val="bg1"/>
                  </a:solidFill>
                  <a:latin typeface="Arial" panose="020B0604020202020204" pitchFamily="34" charset="0"/>
                  <a:cs typeface="Arial" panose="020B0604020202020204" pitchFamily="34" charset="0"/>
                </a:rPr>
                <a:t>Weight</a:t>
              </a:r>
            </a:p>
            <a:p>
              <a:pPr algn="ctr"/>
              <a:r>
                <a:rPr lang="en-US" b="1" dirty="0">
                  <a:solidFill>
                    <a:schemeClr val="bg1"/>
                  </a:solidFill>
                  <a:latin typeface="Arial" panose="020B0604020202020204" pitchFamily="34" charset="0"/>
                  <a:cs typeface="Arial" panose="020B0604020202020204" pitchFamily="34" charset="0"/>
                </a:rPr>
                <a:t>Matrix</a:t>
              </a:r>
            </a:p>
          </p:txBody>
        </p:sp>
        <p:sp>
          <p:nvSpPr>
            <p:cNvPr id="112" name="TextBox 111">
              <a:extLst>
                <a:ext uri="{FF2B5EF4-FFF2-40B4-BE49-F238E27FC236}">
                  <a16:creationId xmlns:a16="http://schemas.microsoft.com/office/drawing/2014/main" id="{01925DF5-722E-C52A-6887-BF486D7F5399}"/>
                </a:ext>
              </a:extLst>
            </p:cNvPr>
            <p:cNvSpPr txBox="1"/>
            <p:nvPr/>
          </p:nvSpPr>
          <p:spPr>
            <a:xfrm>
              <a:off x="3578537" y="4198303"/>
              <a:ext cx="1125338" cy="523220"/>
            </a:xfrm>
            <a:prstGeom prst="rect">
              <a:avLst/>
            </a:prstGeom>
            <a:noFill/>
          </p:spPr>
          <p:txBody>
            <a:bodyPr wrap="square" rtlCol="0">
              <a:spAutoFit/>
            </a:bodyPr>
            <a:lstStyle/>
            <a:p>
              <a:pPr algn="ctr"/>
              <a:r>
                <a:rPr lang="en-US" b="1" dirty="0">
                  <a:solidFill>
                    <a:schemeClr val="bg1"/>
                  </a:solidFill>
                  <a:latin typeface="Arial" panose="020B0604020202020204" pitchFamily="34" charset="0"/>
                  <a:cs typeface="Arial" panose="020B0604020202020204" pitchFamily="34" charset="0"/>
                </a:rPr>
                <a:t>Activation</a:t>
              </a:r>
            </a:p>
            <a:p>
              <a:pPr algn="ctr"/>
              <a:r>
                <a:rPr lang="en-US" b="1" dirty="0">
                  <a:solidFill>
                    <a:schemeClr val="bg1"/>
                  </a:solidFill>
                  <a:latin typeface="Arial" panose="020B0604020202020204" pitchFamily="34" charset="0"/>
                  <a:cs typeface="Arial" panose="020B0604020202020204" pitchFamily="34" charset="0"/>
                </a:rPr>
                <a:t>Function</a:t>
              </a:r>
            </a:p>
          </p:txBody>
        </p:sp>
        <p:grpSp>
          <p:nvGrpSpPr>
            <p:cNvPr id="113" name="Group 112">
              <a:extLst>
                <a:ext uri="{FF2B5EF4-FFF2-40B4-BE49-F238E27FC236}">
                  <a16:creationId xmlns:a16="http://schemas.microsoft.com/office/drawing/2014/main" id="{EF733922-E535-B9E2-4B3F-07E767C3178F}"/>
                </a:ext>
              </a:extLst>
            </p:cNvPr>
            <p:cNvGrpSpPr/>
            <p:nvPr/>
          </p:nvGrpSpPr>
          <p:grpSpPr>
            <a:xfrm>
              <a:off x="2892441" y="3129172"/>
              <a:ext cx="642606" cy="1087393"/>
              <a:chOff x="989012" y="2774253"/>
              <a:chExt cx="642606" cy="1087393"/>
            </a:xfrm>
          </p:grpSpPr>
          <p:grpSp>
            <p:nvGrpSpPr>
              <p:cNvPr id="114" name="Group 113">
                <a:extLst>
                  <a:ext uri="{FF2B5EF4-FFF2-40B4-BE49-F238E27FC236}">
                    <a16:creationId xmlns:a16="http://schemas.microsoft.com/office/drawing/2014/main" id="{0D5DD431-29C1-A824-836B-E9C2DCC054DD}"/>
                  </a:ext>
                </a:extLst>
              </p:cNvPr>
              <p:cNvGrpSpPr/>
              <p:nvPr/>
            </p:nvGrpSpPr>
            <p:grpSpPr>
              <a:xfrm>
                <a:off x="989012" y="2774253"/>
                <a:ext cx="642606" cy="363242"/>
                <a:chOff x="760130" y="3429000"/>
                <a:chExt cx="642606" cy="363242"/>
              </a:xfrm>
            </p:grpSpPr>
            <p:grpSp>
              <p:nvGrpSpPr>
                <p:cNvPr id="141" name="Group 140">
                  <a:extLst>
                    <a:ext uri="{FF2B5EF4-FFF2-40B4-BE49-F238E27FC236}">
                      <a16:creationId xmlns:a16="http://schemas.microsoft.com/office/drawing/2014/main" id="{9B87954F-22AA-2E58-9282-C57F6B8E4916}"/>
                    </a:ext>
                  </a:extLst>
                </p:cNvPr>
                <p:cNvGrpSpPr/>
                <p:nvPr/>
              </p:nvGrpSpPr>
              <p:grpSpPr>
                <a:xfrm>
                  <a:off x="760412" y="3429000"/>
                  <a:ext cx="642324" cy="181072"/>
                  <a:chOff x="760412" y="3429000"/>
                  <a:chExt cx="642324" cy="181072"/>
                </a:xfrm>
              </p:grpSpPr>
              <p:sp>
                <p:nvSpPr>
                  <p:cNvPr id="148" name="Rectangle 147">
                    <a:extLst>
                      <a:ext uri="{FF2B5EF4-FFF2-40B4-BE49-F238E27FC236}">
                        <a16:creationId xmlns:a16="http://schemas.microsoft.com/office/drawing/2014/main" id="{1196DE31-05D3-D42F-AE61-456FB79CF355}"/>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A794A98B-AE20-AB1C-009C-125FC1AB6096}"/>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7193370E-F277-C5CE-7D10-5F2A2132FD80}"/>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9EA2F8DF-A4FB-A926-4788-0041232FFE85}"/>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F850271C-EF62-9AD6-5E01-DB6809361E6A}"/>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2" name="Group 141">
                  <a:extLst>
                    <a:ext uri="{FF2B5EF4-FFF2-40B4-BE49-F238E27FC236}">
                      <a16:creationId xmlns:a16="http://schemas.microsoft.com/office/drawing/2014/main" id="{716AD6DF-39A2-944D-453B-CD79B5AAD9F4}"/>
                    </a:ext>
                  </a:extLst>
                </p:cNvPr>
                <p:cNvGrpSpPr/>
                <p:nvPr/>
              </p:nvGrpSpPr>
              <p:grpSpPr>
                <a:xfrm>
                  <a:off x="760130" y="3611170"/>
                  <a:ext cx="642324" cy="181072"/>
                  <a:chOff x="760412" y="3429000"/>
                  <a:chExt cx="642324" cy="181072"/>
                </a:xfrm>
              </p:grpSpPr>
              <p:sp>
                <p:nvSpPr>
                  <p:cNvPr id="143" name="Rectangle 142">
                    <a:extLst>
                      <a:ext uri="{FF2B5EF4-FFF2-40B4-BE49-F238E27FC236}">
                        <a16:creationId xmlns:a16="http://schemas.microsoft.com/office/drawing/2014/main" id="{01B90C1F-2F64-9E7B-CA41-4CCC4E1DFE04}"/>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4977AE0E-9B0B-D8F1-21E4-61BDA0EEFC97}"/>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B5558DE4-6FE6-4623-981B-DD4524846C8B}"/>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2FE8D9D7-47D8-4142-2A8F-B074CBD027CF}"/>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9FC6A902-C8ED-169A-E30D-32C061A992E0}"/>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15" name="Group 114">
                <a:extLst>
                  <a:ext uri="{FF2B5EF4-FFF2-40B4-BE49-F238E27FC236}">
                    <a16:creationId xmlns:a16="http://schemas.microsoft.com/office/drawing/2014/main" id="{30E353D7-53AB-CD9D-A530-4BE176D0D21B}"/>
                  </a:ext>
                </a:extLst>
              </p:cNvPr>
              <p:cNvGrpSpPr/>
              <p:nvPr/>
            </p:nvGrpSpPr>
            <p:grpSpPr>
              <a:xfrm>
                <a:off x="989012" y="3138474"/>
                <a:ext cx="642606" cy="363242"/>
                <a:chOff x="760130" y="3429000"/>
                <a:chExt cx="642606" cy="363242"/>
              </a:xfrm>
            </p:grpSpPr>
            <p:grpSp>
              <p:nvGrpSpPr>
                <p:cNvPr id="129" name="Group 128">
                  <a:extLst>
                    <a:ext uri="{FF2B5EF4-FFF2-40B4-BE49-F238E27FC236}">
                      <a16:creationId xmlns:a16="http://schemas.microsoft.com/office/drawing/2014/main" id="{46DD6941-8867-4CC6-6B9A-A62BB199FAE3}"/>
                    </a:ext>
                  </a:extLst>
                </p:cNvPr>
                <p:cNvGrpSpPr/>
                <p:nvPr/>
              </p:nvGrpSpPr>
              <p:grpSpPr>
                <a:xfrm>
                  <a:off x="760412" y="3429000"/>
                  <a:ext cx="642324" cy="181072"/>
                  <a:chOff x="760412" y="3429000"/>
                  <a:chExt cx="642324" cy="181072"/>
                </a:xfrm>
              </p:grpSpPr>
              <p:sp>
                <p:nvSpPr>
                  <p:cNvPr id="136" name="Rectangle 135">
                    <a:extLst>
                      <a:ext uri="{FF2B5EF4-FFF2-40B4-BE49-F238E27FC236}">
                        <a16:creationId xmlns:a16="http://schemas.microsoft.com/office/drawing/2014/main" id="{A0858566-57C7-AFD5-1AEA-F08E510073EB}"/>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092C654A-C3B0-814C-6D06-057037F11A0D}"/>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1506D158-03D8-B2A1-8363-C2B49367ED9A}"/>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FFB48C06-C35F-3A58-9B76-E5BB1208C7F0}"/>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E76E4F0A-664F-AC11-DE67-ED9A21777A94}"/>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 name="Group 129">
                  <a:extLst>
                    <a:ext uri="{FF2B5EF4-FFF2-40B4-BE49-F238E27FC236}">
                      <a16:creationId xmlns:a16="http://schemas.microsoft.com/office/drawing/2014/main" id="{B7AFAE25-9DD1-55BE-0C64-B7A956361837}"/>
                    </a:ext>
                  </a:extLst>
                </p:cNvPr>
                <p:cNvGrpSpPr/>
                <p:nvPr/>
              </p:nvGrpSpPr>
              <p:grpSpPr>
                <a:xfrm>
                  <a:off x="760130" y="3611170"/>
                  <a:ext cx="642324" cy="181072"/>
                  <a:chOff x="760412" y="3429000"/>
                  <a:chExt cx="642324" cy="181072"/>
                </a:xfrm>
              </p:grpSpPr>
              <p:sp>
                <p:nvSpPr>
                  <p:cNvPr id="131" name="Rectangle 130">
                    <a:extLst>
                      <a:ext uri="{FF2B5EF4-FFF2-40B4-BE49-F238E27FC236}">
                        <a16:creationId xmlns:a16="http://schemas.microsoft.com/office/drawing/2014/main" id="{CEF75A51-4261-782D-4C41-BC32C846F54B}"/>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27F659DC-7177-C855-296E-7CEB47BF4087}"/>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BEF3446C-FF78-E62A-14A6-0264DB610680}"/>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8A783DF1-CC1B-FF26-C4C6-51AFE5E320D6}"/>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F25F9404-0DFF-2C35-6FCC-42633DAA95C3}"/>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16" name="Group 115">
                <a:extLst>
                  <a:ext uri="{FF2B5EF4-FFF2-40B4-BE49-F238E27FC236}">
                    <a16:creationId xmlns:a16="http://schemas.microsoft.com/office/drawing/2014/main" id="{2B509FD6-1BFC-37DD-9F40-722EA6343794}"/>
                  </a:ext>
                </a:extLst>
              </p:cNvPr>
              <p:cNvGrpSpPr/>
              <p:nvPr/>
            </p:nvGrpSpPr>
            <p:grpSpPr>
              <a:xfrm>
                <a:off x="989012" y="3498404"/>
                <a:ext cx="642606" cy="363242"/>
                <a:chOff x="760130" y="3429000"/>
                <a:chExt cx="642606" cy="363242"/>
              </a:xfrm>
            </p:grpSpPr>
            <p:grpSp>
              <p:nvGrpSpPr>
                <p:cNvPr id="117" name="Group 116">
                  <a:extLst>
                    <a:ext uri="{FF2B5EF4-FFF2-40B4-BE49-F238E27FC236}">
                      <a16:creationId xmlns:a16="http://schemas.microsoft.com/office/drawing/2014/main" id="{24BBAE5B-75B5-E086-F0DA-DF6E75187BC8}"/>
                    </a:ext>
                  </a:extLst>
                </p:cNvPr>
                <p:cNvGrpSpPr/>
                <p:nvPr/>
              </p:nvGrpSpPr>
              <p:grpSpPr>
                <a:xfrm>
                  <a:off x="760412" y="3429000"/>
                  <a:ext cx="642324" cy="181072"/>
                  <a:chOff x="760412" y="3429000"/>
                  <a:chExt cx="642324" cy="181072"/>
                </a:xfrm>
              </p:grpSpPr>
              <p:sp>
                <p:nvSpPr>
                  <p:cNvPr id="124" name="Rectangle 123">
                    <a:extLst>
                      <a:ext uri="{FF2B5EF4-FFF2-40B4-BE49-F238E27FC236}">
                        <a16:creationId xmlns:a16="http://schemas.microsoft.com/office/drawing/2014/main" id="{135327D8-A9D0-1148-B730-0C63CCDBAD55}"/>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8517D883-923B-8768-8B62-0402DFE22DF5}"/>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F066A0BB-62B4-33DF-37ED-9B54EACE99A4}"/>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11132AFE-2269-5117-F929-57A3F3905BBB}"/>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094C2D4E-87E7-FE9A-0AB6-287C14287D3C}"/>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8" name="Group 117">
                  <a:extLst>
                    <a:ext uri="{FF2B5EF4-FFF2-40B4-BE49-F238E27FC236}">
                      <a16:creationId xmlns:a16="http://schemas.microsoft.com/office/drawing/2014/main" id="{781BD68D-30EF-DF49-5384-AAEAB0F304A2}"/>
                    </a:ext>
                  </a:extLst>
                </p:cNvPr>
                <p:cNvGrpSpPr/>
                <p:nvPr/>
              </p:nvGrpSpPr>
              <p:grpSpPr>
                <a:xfrm>
                  <a:off x="760130" y="3611170"/>
                  <a:ext cx="642324" cy="181072"/>
                  <a:chOff x="760412" y="3429000"/>
                  <a:chExt cx="642324" cy="181072"/>
                </a:xfrm>
              </p:grpSpPr>
              <p:sp>
                <p:nvSpPr>
                  <p:cNvPr id="119" name="Rectangle 118">
                    <a:extLst>
                      <a:ext uri="{FF2B5EF4-FFF2-40B4-BE49-F238E27FC236}">
                        <a16:creationId xmlns:a16="http://schemas.microsoft.com/office/drawing/2014/main" id="{34C8E930-96A9-AC0E-CBA5-B474D66DACAC}"/>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3C6B404C-569C-B73F-6CC4-E72EDE12596E}"/>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4FDA104B-BC30-5132-C002-75249B080F0F}"/>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02D06141-052F-B823-4075-E9A0516B23DD}"/>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D87FBBFE-D404-A81C-A173-1BAC70C48D49}"/>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55" name="Group 154">
            <a:extLst>
              <a:ext uri="{FF2B5EF4-FFF2-40B4-BE49-F238E27FC236}">
                <a16:creationId xmlns:a16="http://schemas.microsoft.com/office/drawing/2014/main" id="{0E6F2664-1906-89A8-C116-81D8FF1AB385}"/>
              </a:ext>
            </a:extLst>
          </p:cNvPr>
          <p:cNvGrpSpPr/>
          <p:nvPr/>
        </p:nvGrpSpPr>
        <p:grpSpPr>
          <a:xfrm>
            <a:off x="7741802" y="3322591"/>
            <a:ext cx="1884701" cy="1608235"/>
            <a:chOff x="2796760" y="3129172"/>
            <a:chExt cx="1884701" cy="1608235"/>
          </a:xfrm>
        </p:grpSpPr>
        <p:sp>
          <p:nvSpPr>
            <p:cNvPr id="156" name="Arrow: Right 155">
              <a:extLst>
                <a:ext uri="{FF2B5EF4-FFF2-40B4-BE49-F238E27FC236}">
                  <a16:creationId xmlns:a16="http://schemas.microsoft.com/office/drawing/2014/main" id="{D390B170-EE71-A80E-C98B-1C57D4F61922}"/>
                </a:ext>
              </a:extLst>
            </p:cNvPr>
            <p:cNvSpPr/>
            <p:nvPr/>
          </p:nvSpPr>
          <p:spPr>
            <a:xfrm>
              <a:off x="3593806" y="3603172"/>
              <a:ext cx="322180" cy="12887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a:p>
          </p:txBody>
        </p:sp>
        <p:grpSp>
          <p:nvGrpSpPr>
            <p:cNvPr id="157" name="Group 156">
              <a:extLst>
                <a:ext uri="{FF2B5EF4-FFF2-40B4-BE49-F238E27FC236}">
                  <a16:creationId xmlns:a16="http://schemas.microsoft.com/office/drawing/2014/main" id="{D45C8E02-0415-822F-101C-B599D1B2C2FF}"/>
                </a:ext>
              </a:extLst>
            </p:cNvPr>
            <p:cNvGrpSpPr/>
            <p:nvPr/>
          </p:nvGrpSpPr>
          <p:grpSpPr>
            <a:xfrm>
              <a:off x="3983804" y="3129694"/>
              <a:ext cx="385117" cy="1084493"/>
              <a:chOff x="4355646" y="2933574"/>
              <a:chExt cx="385117" cy="1463040"/>
            </a:xfrm>
          </p:grpSpPr>
          <p:sp>
            <p:nvSpPr>
              <p:cNvPr id="200" name="Rectangle 199">
                <a:extLst>
                  <a:ext uri="{FF2B5EF4-FFF2-40B4-BE49-F238E27FC236}">
                    <a16:creationId xmlns:a16="http://schemas.microsoft.com/office/drawing/2014/main" id="{38433F20-DF68-F0A8-0721-FF761CB827AB}"/>
                  </a:ext>
                </a:extLst>
              </p:cNvPr>
              <p:cNvSpPr/>
              <p:nvPr/>
            </p:nvSpPr>
            <p:spPr>
              <a:xfrm>
                <a:off x="4358443" y="2933574"/>
                <a:ext cx="382320" cy="1463040"/>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1" name="Graphic 200" descr="Normal Distribution with solid fill">
                <a:extLst>
                  <a:ext uri="{FF2B5EF4-FFF2-40B4-BE49-F238E27FC236}">
                    <a16:creationId xmlns:a16="http://schemas.microsoft.com/office/drawing/2014/main" id="{6882E393-65DF-E51A-20E4-7EC4934F16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5646" y="2953360"/>
                <a:ext cx="378536" cy="378536"/>
              </a:xfrm>
              <a:prstGeom prst="rect">
                <a:avLst/>
              </a:prstGeom>
            </p:spPr>
          </p:pic>
        </p:grpSp>
        <p:sp>
          <p:nvSpPr>
            <p:cNvPr id="158" name="TextBox 157">
              <a:extLst>
                <a:ext uri="{FF2B5EF4-FFF2-40B4-BE49-F238E27FC236}">
                  <a16:creationId xmlns:a16="http://schemas.microsoft.com/office/drawing/2014/main" id="{D658488A-F595-5D53-C65D-93C000D45FD6}"/>
                </a:ext>
              </a:extLst>
            </p:cNvPr>
            <p:cNvSpPr txBox="1"/>
            <p:nvPr/>
          </p:nvSpPr>
          <p:spPr>
            <a:xfrm>
              <a:off x="2796760" y="4212155"/>
              <a:ext cx="833121" cy="523220"/>
            </a:xfrm>
            <a:prstGeom prst="rect">
              <a:avLst/>
            </a:prstGeom>
            <a:noFill/>
          </p:spPr>
          <p:txBody>
            <a:bodyPr wrap="square" rtlCol="0">
              <a:spAutoFit/>
            </a:bodyPr>
            <a:lstStyle/>
            <a:p>
              <a:pPr algn="ctr"/>
              <a:r>
                <a:rPr lang="en-US" b="1" dirty="0">
                  <a:solidFill>
                    <a:schemeClr val="bg1"/>
                  </a:solidFill>
                  <a:latin typeface="Arial" panose="020B0604020202020204" pitchFamily="34" charset="0"/>
                  <a:cs typeface="Arial" panose="020B0604020202020204" pitchFamily="34" charset="0"/>
                </a:rPr>
                <a:t>Weight</a:t>
              </a:r>
            </a:p>
            <a:p>
              <a:pPr algn="ctr"/>
              <a:r>
                <a:rPr lang="en-US" b="1" dirty="0">
                  <a:solidFill>
                    <a:schemeClr val="bg1"/>
                  </a:solidFill>
                  <a:latin typeface="Arial" panose="020B0604020202020204" pitchFamily="34" charset="0"/>
                  <a:cs typeface="Arial" panose="020B0604020202020204" pitchFamily="34" charset="0"/>
                </a:rPr>
                <a:t>Matrix</a:t>
              </a:r>
            </a:p>
          </p:txBody>
        </p:sp>
        <p:sp>
          <p:nvSpPr>
            <p:cNvPr id="159" name="TextBox 158">
              <a:extLst>
                <a:ext uri="{FF2B5EF4-FFF2-40B4-BE49-F238E27FC236}">
                  <a16:creationId xmlns:a16="http://schemas.microsoft.com/office/drawing/2014/main" id="{7141BB47-C3C5-1F7A-95C4-D64D8058E5FD}"/>
                </a:ext>
              </a:extLst>
            </p:cNvPr>
            <p:cNvSpPr txBox="1"/>
            <p:nvPr/>
          </p:nvSpPr>
          <p:spPr>
            <a:xfrm>
              <a:off x="3621707" y="4214187"/>
              <a:ext cx="1059754" cy="523220"/>
            </a:xfrm>
            <a:prstGeom prst="rect">
              <a:avLst/>
            </a:prstGeom>
            <a:noFill/>
          </p:spPr>
          <p:txBody>
            <a:bodyPr wrap="square" rtlCol="0">
              <a:spAutoFit/>
            </a:bodyPr>
            <a:lstStyle/>
            <a:p>
              <a:pPr algn="ctr"/>
              <a:r>
                <a:rPr lang="en-US" b="1" dirty="0">
                  <a:solidFill>
                    <a:schemeClr val="bg1"/>
                  </a:solidFill>
                  <a:latin typeface="Arial" panose="020B0604020202020204" pitchFamily="34" charset="0"/>
                  <a:cs typeface="Arial" panose="020B0604020202020204" pitchFamily="34" charset="0"/>
                </a:rPr>
                <a:t>Activation</a:t>
              </a:r>
            </a:p>
            <a:p>
              <a:pPr algn="ctr"/>
              <a:r>
                <a:rPr lang="en-US" b="1" dirty="0">
                  <a:solidFill>
                    <a:schemeClr val="bg1"/>
                  </a:solidFill>
                  <a:latin typeface="Arial" panose="020B0604020202020204" pitchFamily="34" charset="0"/>
                  <a:cs typeface="Arial" panose="020B0604020202020204" pitchFamily="34" charset="0"/>
                </a:rPr>
                <a:t>Function</a:t>
              </a:r>
            </a:p>
          </p:txBody>
        </p:sp>
        <p:grpSp>
          <p:nvGrpSpPr>
            <p:cNvPr id="160" name="Group 159">
              <a:extLst>
                <a:ext uri="{FF2B5EF4-FFF2-40B4-BE49-F238E27FC236}">
                  <a16:creationId xmlns:a16="http://schemas.microsoft.com/office/drawing/2014/main" id="{4FB6C419-4846-4EA5-5BEB-71D9EB40316A}"/>
                </a:ext>
              </a:extLst>
            </p:cNvPr>
            <p:cNvGrpSpPr/>
            <p:nvPr/>
          </p:nvGrpSpPr>
          <p:grpSpPr>
            <a:xfrm>
              <a:off x="2892441" y="3129172"/>
              <a:ext cx="642606" cy="1087393"/>
              <a:chOff x="989012" y="2774253"/>
              <a:chExt cx="642606" cy="1087393"/>
            </a:xfrm>
          </p:grpSpPr>
          <p:grpSp>
            <p:nvGrpSpPr>
              <p:cNvPr id="161" name="Group 160">
                <a:extLst>
                  <a:ext uri="{FF2B5EF4-FFF2-40B4-BE49-F238E27FC236}">
                    <a16:creationId xmlns:a16="http://schemas.microsoft.com/office/drawing/2014/main" id="{93D536F8-39B3-8072-B510-19D215AC9CBF}"/>
                  </a:ext>
                </a:extLst>
              </p:cNvPr>
              <p:cNvGrpSpPr/>
              <p:nvPr/>
            </p:nvGrpSpPr>
            <p:grpSpPr>
              <a:xfrm>
                <a:off x="989012" y="2774253"/>
                <a:ext cx="642606" cy="363242"/>
                <a:chOff x="760130" y="3429000"/>
                <a:chExt cx="642606" cy="363242"/>
              </a:xfrm>
            </p:grpSpPr>
            <p:grpSp>
              <p:nvGrpSpPr>
                <p:cNvPr id="188" name="Group 187">
                  <a:extLst>
                    <a:ext uri="{FF2B5EF4-FFF2-40B4-BE49-F238E27FC236}">
                      <a16:creationId xmlns:a16="http://schemas.microsoft.com/office/drawing/2014/main" id="{4D7A4DC8-5BDC-1972-B85D-7C4A546B5219}"/>
                    </a:ext>
                  </a:extLst>
                </p:cNvPr>
                <p:cNvGrpSpPr/>
                <p:nvPr/>
              </p:nvGrpSpPr>
              <p:grpSpPr>
                <a:xfrm>
                  <a:off x="760412" y="3429000"/>
                  <a:ext cx="642324" cy="181072"/>
                  <a:chOff x="760412" y="3429000"/>
                  <a:chExt cx="642324" cy="181072"/>
                </a:xfrm>
              </p:grpSpPr>
              <p:sp>
                <p:nvSpPr>
                  <p:cNvPr id="195" name="Rectangle 194">
                    <a:extLst>
                      <a:ext uri="{FF2B5EF4-FFF2-40B4-BE49-F238E27FC236}">
                        <a16:creationId xmlns:a16="http://schemas.microsoft.com/office/drawing/2014/main" id="{1A45FDD5-5B25-49CE-77F0-28D4AF0467CF}"/>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39B94187-61D9-78B5-128F-434CC51DFA90}"/>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1D2A9686-219A-DCED-9674-2B6D1DDE1CC2}"/>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27C5A633-78A8-F472-523E-F1EAF90E144F}"/>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310137F9-3F7D-22B5-762B-6E0BF4305D1B}"/>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7BF764AE-6303-67CC-D8C8-736A4AE83C60}"/>
                    </a:ext>
                  </a:extLst>
                </p:cNvPr>
                <p:cNvGrpSpPr/>
                <p:nvPr/>
              </p:nvGrpSpPr>
              <p:grpSpPr>
                <a:xfrm>
                  <a:off x="760130" y="3611170"/>
                  <a:ext cx="642324" cy="181072"/>
                  <a:chOff x="760412" y="3429000"/>
                  <a:chExt cx="642324" cy="181072"/>
                </a:xfrm>
              </p:grpSpPr>
              <p:sp>
                <p:nvSpPr>
                  <p:cNvPr id="190" name="Rectangle 189">
                    <a:extLst>
                      <a:ext uri="{FF2B5EF4-FFF2-40B4-BE49-F238E27FC236}">
                        <a16:creationId xmlns:a16="http://schemas.microsoft.com/office/drawing/2014/main" id="{BDE894C9-2591-901D-EB0A-E765184DCB18}"/>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ABFC397C-8ABE-A9DF-03C1-1F004A81E897}"/>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633A1EE8-4AA5-702D-47C8-73177C1B9656}"/>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350EAA87-B189-C8BB-6641-246140A1F998}"/>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39BF4D86-79B0-E2E9-8238-83F208AB7886}"/>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2" name="Group 161">
                <a:extLst>
                  <a:ext uri="{FF2B5EF4-FFF2-40B4-BE49-F238E27FC236}">
                    <a16:creationId xmlns:a16="http://schemas.microsoft.com/office/drawing/2014/main" id="{A7FEE673-7867-5BBF-B7C1-E99DD37BD187}"/>
                  </a:ext>
                </a:extLst>
              </p:cNvPr>
              <p:cNvGrpSpPr/>
              <p:nvPr/>
            </p:nvGrpSpPr>
            <p:grpSpPr>
              <a:xfrm>
                <a:off x="989012" y="3138474"/>
                <a:ext cx="642606" cy="363242"/>
                <a:chOff x="760130" y="3429000"/>
                <a:chExt cx="642606" cy="363242"/>
              </a:xfrm>
            </p:grpSpPr>
            <p:grpSp>
              <p:nvGrpSpPr>
                <p:cNvPr id="176" name="Group 175">
                  <a:extLst>
                    <a:ext uri="{FF2B5EF4-FFF2-40B4-BE49-F238E27FC236}">
                      <a16:creationId xmlns:a16="http://schemas.microsoft.com/office/drawing/2014/main" id="{3DB7E9B9-795E-AB28-8208-AE1F8E5B0DC1}"/>
                    </a:ext>
                  </a:extLst>
                </p:cNvPr>
                <p:cNvGrpSpPr/>
                <p:nvPr/>
              </p:nvGrpSpPr>
              <p:grpSpPr>
                <a:xfrm>
                  <a:off x="760412" y="3429000"/>
                  <a:ext cx="642324" cy="181072"/>
                  <a:chOff x="760412" y="3429000"/>
                  <a:chExt cx="642324" cy="181072"/>
                </a:xfrm>
              </p:grpSpPr>
              <p:sp>
                <p:nvSpPr>
                  <p:cNvPr id="183" name="Rectangle 182">
                    <a:extLst>
                      <a:ext uri="{FF2B5EF4-FFF2-40B4-BE49-F238E27FC236}">
                        <a16:creationId xmlns:a16="http://schemas.microsoft.com/office/drawing/2014/main" id="{83BD7773-447A-BE5D-DFE3-E75549C94D80}"/>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8E74F68F-1162-56DC-FA0E-CB5424823A0B}"/>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54AB2809-32E3-F9E3-A868-D998069E297A}"/>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A4751D6F-B6DC-B388-8F3E-8F3AA31DF735}"/>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86D1BB93-BB03-351C-AF8C-314AEA57388F}"/>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7" name="Group 176">
                  <a:extLst>
                    <a:ext uri="{FF2B5EF4-FFF2-40B4-BE49-F238E27FC236}">
                      <a16:creationId xmlns:a16="http://schemas.microsoft.com/office/drawing/2014/main" id="{EE3D7F4C-1740-5E1A-4E73-5B9B0A59AB6E}"/>
                    </a:ext>
                  </a:extLst>
                </p:cNvPr>
                <p:cNvGrpSpPr/>
                <p:nvPr/>
              </p:nvGrpSpPr>
              <p:grpSpPr>
                <a:xfrm>
                  <a:off x="760130" y="3611170"/>
                  <a:ext cx="642324" cy="181072"/>
                  <a:chOff x="760412" y="3429000"/>
                  <a:chExt cx="642324" cy="181072"/>
                </a:xfrm>
              </p:grpSpPr>
              <p:sp>
                <p:nvSpPr>
                  <p:cNvPr id="178" name="Rectangle 177">
                    <a:extLst>
                      <a:ext uri="{FF2B5EF4-FFF2-40B4-BE49-F238E27FC236}">
                        <a16:creationId xmlns:a16="http://schemas.microsoft.com/office/drawing/2014/main" id="{54796115-55FC-66E7-79FF-A977B8970794}"/>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DE858A8B-9ECD-9745-13CC-B55589965A12}"/>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138E1291-F509-9F6D-B351-680CF12FEAC6}"/>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5DBDB6E6-3F54-7ED5-E2FB-F41FFA23B428}"/>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FC2CB7B2-4F11-BBB2-DFF6-44F260C5E944}"/>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3" name="Group 162">
                <a:extLst>
                  <a:ext uri="{FF2B5EF4-FFF2-40B4-BE49-F238E27FC236}">
                    <a16:creationId xmlns:a16="http://schemas.microsoft.com/office/drawing/2014/main" id="{50578663-1EC4-C0F9-C102-621EFA6EBD3E}"/>
                  </a:ext>
                </a:extLst>
              </p:cNvPr>
              <p:cNvGrpSpPr/>
              <p:nvPr/>
            </p:nvGrpSpPr>
            <p:grpSpPr>
              <a:xfrm>
                <a:off x="989012" y="3498404"/>
                <a:ext cx="642606" cy="363242"/>
                <a:chOff x="760130" y="3429000"/>
                <a:chExt cx="642606" cy="363242"/>
              </a:xfrm>
            </p:grpSpPr>
            <p:grpSp>
              <p:nvGrpSpPr>
                <p:cNvPr id="164" name="Group 163">
                  <a:extLst>
                    <a:ext uri="{FF2B5EF4-FFF2-40B4-BE49-F238E27FC236}">
                      <a16:creationId xmlns:a16="http://schemas.microsoft.com/office/drawing/2014/main" id="{B00ABEC8-F1B7-C275-2793-E78832E6B1A3}"/>
                    </a:ext>
                  </a:extLst>
                </p:cNvPr>
                <p:cNvGrpSpPr/>
                <p:nvPr/>
              </p:nvGrpSpPr>
              <p:grpSpPr>
                <a:xfrm>
                  <a:off x="760412" y="3429000"/>
                  <a:ext cx="642324" cy="181072"/>
                  <a:chOff x="760412" y="3429000"/>
                  <a:chExt cx="642324" cy="181072"/>
                </a:xfrm>
              </p:grpSpPr>
              <p:sp>
                <p:nvSpPr>
                  <p:cNvPr id="171" name="Rectangle 170">
                    <a:extLst>
                      <a:ext uri="{FF2B5EF4-FFF2-40B4-BE49-F238E27FC236}">
                        <a16:creationId xmlns:a16="http://schemas.microsoft.com/office/drawing/2014/main" id="{F77B5EDF-2E84-907F-1E57-7961376C8692}"/>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E6E43914-E854-6E5B-6F1D-A403B5B1782C}"/>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047B2736-6B55-EA19-0498-4A1FF08558C3}"/>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82B9A3DE-D70A-2917-F97A-19A96F6AC496}"/>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A427C363-0000-A67D-0430-998D6F9F7C9A}"/>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5" name="Group 164">
                  <a:extLst>
                    <a:ext uri="{FF2B5EF4-FFF2-40B4-BE49-F238E27FC236}">
                      <a16:creationId xmlns:a16="http://schemas.microsoft.com/office/drawing/2014/main" id="{56984104-3906-A8D2-75AD-17D17C44CDAD}"/>
                    </a:ext>
                  </a:extLst>
                </p:cNvPr>
                <p:cNvGrpSpPr/>
                <p:nvPr/>
              </p:nvGrpSpPr>
              <p:grpSpPr>
                <a:xfrm>
                  <a:off x="760130" y="3611170"/>
                  <a:ext cx="642324" cy="181072"/>
                  <a:chOff x="760412" y="3429000"/>
                  <a:chExt cx="642324" cy="181072"/>
                </a:xfrm>
              </p:grpSpPr>
              <p:sp>
                <p:nvSpPr>
                  <p:cNvPr id="166" name="Rectangle 165">
                    <a:extLst>
                      <a:ext uri="{FF2B5EF4-FFF2-40B4-BE49-F238E27FC236}">
                        <a16:creationId xmlns:a16="http://schemas.microsoft.com/office/drawing/2014/main" id="{32249F67-F74C-D2A4-7F2F-4D7220D2ED26}"/>
                      </a:ext>
                    </a:extLst>
                  </p:cNvPr>
                  <p:cNvSpPr/>
                  <p:nvPr/>
                </p:nvSpPr>
                <p:spPr>
                  <a:xfrm>
                    <a:off x="76041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DFBE2D43-E415-B3AC-0B3D-8C6016201D4C}"/>
                      </a:ext>
                    </a:extLst>
                  </p:cNvPr>
                  <p:cNvSpPr/>
                  <p:nvPr/>
                </p:nvSpPr>
                <p:spPr>
                  <a:xfrm>
                    <a:off x="888842"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E20C59C8-6AAF-DCC9-DB34-474CB152D19E}"/>
                      </a:ext>
                    </a:extLst>
                  </p:cNvPr>
                  <p:cNvSpPr/>
                  <p:nvPr/>
                </p:nvSpPr>
                <p:spPr>
                  <a:xfrm>
                    <a:off x="1018461"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BDFFE3C3-66EE-2993-289D-C3C2208F8783}"/>
                      </a:ext>
                    </a:extLst>
                  </p:cNvPr>
                  <p:cNvSpPr/>
                  <p:nvPr/>
                </p:nvSpPr>
                <p:spPr>
                  <a:xfrm>
                    <a:off x="1148928"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E8B2B526-A908-0FFF-F553-DF17F9A84B19}"/>
                      </a:ext>
                    </a:extLst>
                  </p:cNvPr>
                  <p:cNvSpPr/>
                  <p:nvPr/>
                </p:nvSpPr>
                <p:spPr>
                  <a:xfrm>
                    <a:off x="1277073" y="3429000"/>
                    <a:ext cx="125663" cy="181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244" name="Group 243">
            <a:extLst>
              <a:ext uri="{FF2B5EF4-FFF2-40B4-BE49-F238E27FC236}">
                <a16:creationId xmlns:a16="http://schemas.microsoft.com/office/drawing/2014/main" id="{A724213A-BA35-650C-476E-3E268B8E92CF}"/>
              </a:ext>
            </a:extLst>
          </p:cNvPr>
          <p:cNvGrpSpPr/>
          <p:nvPr/>
        </p:nvGrpSpPr>
        <p:grpSpPr>
          <a:xfrm>
            <a:off x="3274918" y="5116125"/>
            <a:ext cx="5515205" cy="1665675"/>
            <a:chOff x="3549238" y="5466323"/>
            <a:chExt cx="5515205" cy="1665675"/>
          </a:xfrm>
        </p:grpSpPr>
        <p:grpSp>
          <p:nvGrpSpPr>
            <p:cNvPr id="242" name="Group 241">
              <a:extLst>
                <a:ext uri="{FF2B5EF4-FFF2-40B4-BE49-F238E27FC236}">
                  <a16:creationId xmlns:a16="http://schemas.microsoft.com/office/drawing/2014/main" id="{04A7C5F6-41C0-CD25-92DD-56A2CEECF0C5}"/>
                </a:ext>
              </a:extLst>
            </p:cNvPr>
            <p:cNvGrpSpPr/>
            <p:nvPr/>
          </p:nvGrpSpPr>
          <p:grpSpPr>
            <a:xfrm>
              <a:off x="3549238" y="5466323"/>
              <a:ext cx="5515205" cy="1122861"/>
              <a:chOff x="3549238" y="5466323"/>
              <a:chExt cx="5515205" cy="1122861"/>
            </a:xfrm>
          </p:grpSpPr>
          <p:sp>
            <p:nvSpPr>
              <p:cNvPr id="202" name="Oval 201">
                <a:extLst>
                  <a:ext uri="{FF2B5EF4-FFF2-40B4-BE49-F238E27FC236}">
                    <a16:creationId xmlns:a16="http://schemas.microsoft.com/office/drawing/2014/main" id="{A52530CD-46E8-3C87-D9E1-8AD1613972BB}"/>
                  </a:ext>
                </a:extLst>
              </p:cNvPr>
              <p:cNvSpPr/>
              <p:nvPr/>
            </p:nvSpPr>
            <p:spPr>
              <a:xfrm>
                <a:off x="3549238" y="5470719"/>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a:extLst>
                  <a:ext uri="{FF2B5EF4-FFF2-40B4-BE49-F238E27FC236}">
                    <a16:creationId xmlns:a16="http://schemas.microsoft.com/office/drawing/2014/main" id="{DD99B4DC-19B5-571F-F755-3214AC7F60A2}"/>
                  </a:ext>
                </a:extLst>
              </p:cNvPr>
              <p:cNvSpPr/>
              <p:nvPr/>
            </p:nvSpPr>
            <p:spPr>
              <a:xfrm>
                <a:off x="4064515" y="5470719"/>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Oval 203">
                <a:extLst>
                  <a:ext uri="{FF2B5EF4-FFF2-40B4-BE49-F238E27FC236}">
                    <a16:creationId xmlns:a16="http://schemas.microsoft.com/office/drawing/2014/main" id="{DF0A9177-E529-DF7B-CF37-6A6D6EBAC488}"/>
                  </a:ext>
                </a:extLst>
              </p:cNvPr>
              <p:cNvSpPr/>
              <p:nvPr/>
            </p:nvSpPr>
            <p:spPr>
              <a:xfrm>
                <a:off x="4631686" y="5466323"/>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Oval 204">
                <a:extLst>
                  <a:ext uri="{FF2B5EF4-FFF2-40B4-BE49-F238E27FC236}">
                    <a16:creationId xmlns:a16="http://schemas.microsoft.com/office/drawing/2014/main" id="{6BB81B70-9F28-8DB9-477D-D5E151254A8E}"/>
                  </a:ext>
                </a:extLst>
              </p:cNvPr>
              <p:cNvSpPr/>
              <p:nvPr/>
            </p:nvSpPr>
            <p:spPr>
              <a:xfrm>
                <a:off x="5251903" y="5466323"/>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7" name="Straight Arrow Connector 206">
                <a:extLst>
                  <a:ext uri="{FF2B5EF4-FFF2-40B4-BE49-F238E27FC236}">
                    <a16:creationId xmlns:a16="http://schemas.microsoft.com/office/drawing/2014/main" id="{6B497038-CDA3-514B-DC4D-E62BB8E5FC47}"/>
                  </a:ext>
                </a:extLst>
              </p:cNvPr>
              <p:cNvCxnSpPr>
                <a:stCxn id="202" idx="6"/>
                <a:endCxn id="203" idx="3"/>
              </p:cNvCxnSpPr>
              <p:nvPr/>
            </p:nvCxnSpPr>
            <p:spPr>
              <a:xfrm>
                <a:off x="3803331" y="5592860"/>
                <a:ext cx="2611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6EF00372-0721-606D-B1DC-A91E7D5438F1}"/>
                  </a:ext>
                </a:extLst>
              </p:cNvPr>
              <p:cNvCxnSpPr>
                <a:stCxn id="203" idx="6"/>
                <a:endCxn id="204" idx="2"/>
              </p:cNvCxnSpPr>
              <p:nvPr/>
            </p:nvCxnSpPr>
            <p:spPr>
              <a:xfrm flipV="1">
                <a:off x="4318608" y="5588464"/>
                <a:ext cx="313078" cy="4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1" name="Straight Arrow Connector 210">
                <a:extLst>
                  <a:ext uri="{FF2B5EF4-FFF2-40B4-BE49-F238E27FC236}">
                    <a16:creationId xmlns:a16="http://schemas.microsoft.com/office/drawing/2014/main" id="{49950C2E-8166-094E-D418-53800F92874F}"/>
                  </a:ext>
                </a:extLst>
              </p:cNvPr>
              <p:cNvCxnSpPr>
                <a:stCxn id="204" idx="6"/>
                <a:endCxn id="205" idx="2"/>
              </p:cNvCxnSpPr>
              <p:nvPr/>
            </p:nvCxnSpPr>
            <p:spPr>
              <a:xfrm>
                <a:off x="4885779" y="5588464"/>
                <a:ext cx="3661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4" name="Oval 213">
                <a:extLst>
                  <a:ext uri="{FF2B5EF4-FFF2-40B4-BE49-F238E27FC236}">
                    <a16:creationId xmlns:a16="http://schemas.microsoft.com/office/drawing/2014/main" id="{C9549385-A26C-2CDB-9CAA-D29D8648C9CA}"/>
                  </a:ext>
                </a:extLst>
              </p:cNvPr>
              <p:cNvSpPr/>
              <p:nvPr/>
            </p:nvSpPr>
            <p:spPr>
              <a:xfrm>
                <a:off x="4646612" y="5940851"/>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Oval 214">
                <a:extLst>
                  <a:ext uri="{FF2B5EF4-FFF2-40B4-BE49-F238E27FC236}">
                    <a16:creationId xmlns:a16="http://schemas.microsoft.com/office/drawing/2014/main" id="{CB83BD2D-A4A4-08CD-B8D1-A8AFEF511360}"/>
                  </a:ext>
                </a:extLst>
              </p:cNvPr>
              <p:cNvSpPr/>
              <p:nvPr/>
            </p:nvSpPr>
            <p:spPr>
              <a:xfrm>
                <a:off x="5266829" y="5940851"/>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6" name="Straight Arrow Connector 215">
                <a:extLst>
                  <a:ext uri="{FF2B5EF4-FFF2-40B4-BE49-F238E27FC236}">
                    <a16:creationId xmlns:a16="http://schemas.microsoft.com/office/drawing/2014/main" id="{957B3777-6114-AA44-B432-8D19592D3EC3}"/>
                  </a:ext>
                </a:extLst>
              </p:cNvPr>
              <p:cNvCxnSpPr>
                <a:stCxn id="214" idx="6"/>
                <a:endCxn id="215" idx="2"/>
              </p:cNvCxnSpPr>
              <p:nvPr/>
            </p:nvCxnSpPr>
            <p:spPr>
              <a:xfrm>
                <a:off x="4900705" y="6062992"/>
                <a:ext cx="3661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7" name="Oval 216">
                <a:extLst>
                  <a:ext uri="{FF2B5EF4-FFF2-40B4-BE49-F238E27FC236}">
                    <a16:creationId xmlns:a16="http://schemas.microsoft.com/office/drawing/2014/main" id="{E374A304-8DD3-48C2-A0D8-0F9F9A2F0B4D}"/>
                  </a:ext>
                </a:extLst>
              </p:cNvPr>
              <p:cNvSpPr/>
              <p:nvPr/>
            </p:nvSpPr>
            <p:spPr>
              <a:xfrm>
                <a:off x="5872120" y="5678383"/>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FF199D0A-4B5A-4D08-24F2-EB00A1A403ED}"/>
                  </a:ext>
                </a:extLst>
              </p:cNvPr>
              <p:cNvSpPr/>
              <p:nvPr/>
            </p:nvSpPr>
            <p:spPr>
              <a:xfrm>
                <a:off x="6492337" y="5678383"/>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9" name="Straight Arrow Connector 218">
                <a:extLst>
                  <a:ext uri="{FF2B5EF4-FFF2-40B4-BE49-F238E27FC236}">
                    <a16:creationId xmlns:a16="http://schemas.microsoft.com/office/drawing/2014/main" id="{E6B40830-023C-8A08-4DAB-A0BDC3FC79D8}"/>
                  </a:ext>
                </a:extLst>
              </p:cNvPr>
              <p:cNvCxnSpPr>
                <a:stCxn id="217" idx="6"/>
                <a:endCxn id="218" idx="2"/>
              </p:cNvCxnSpPr>
              <p:nvPr/>
            </p:nvCxnSpPr>
            <p:spPr>
              <a:xfrm>
                <a:off x="6126213" y="5800524"/>
                <a:ext cx="3661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AB363D4B-20E6-13DD-2C8B-63B18E77DE22}"/>
                  </a:ext>
                </a:extLst>
              </p:cNvPr>
              <p:cNvCxnSpPr>
                <a:stCxn id="205" idx="6"/>
                <a:endCxn id="217" idx="2"/>
              </p:cNvCxnSpPr>
              <p:nvPr/>
            </p:nvCxnSpPr>
            <p:spPr>
              <a:xfrm>
                <a:off x="5505996" y="5588464"/>
                <a:ext cx="366124" cy="2120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3C732554-576C-412C-4C15-D9969F18CDA8}"/>
                  </a:ext>
                </a:extLst>
              </p:cNvPr>
              <p:cNvCxnSpPr>
                <a:stCxn id="215" idx="6"/>
                <a:endCxn id="217" idx="2"/>
              </p:cNvCxnSpPr>
              <p:nvPr/>
            </p:nvCxnSpPr>
            <p:spPr>
              <a:xfrm flipV="1">
                <a:off x="5520922" y="5800524"/>
                <a:ext cx="351198" cy="2624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4" name="Oval 223">
                <a:extLst>
                  <a:ext uri="{FF2B5EF4-FFF2-40B4-BE49-F238E27FC236}">
                    <a16:creationId xmlns:a16="http://schemas.microsoft.com/office/drawing/2014/main" id="{E3C28C16-BBE3-290C-F155-B1743399D075}"/>
                  </a:ext>
                </a:extLst>
              </p:cNvPr>
              <p:cNvSpPr/>
              <p:nvPr/>
            </p:nvSpPr>
            <p:spPr>
              <a:xfrm>
                <a:off x="4786366" y="6344903"/>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a:extLst>
                  <a:ext uri="{FF2B5EF4-FFF2-40B4-BE49-F238E27FC236}">
                    <a16:creationId xmlns:a16="http://schemas.microsoft.com/office/drawing/2014/main" id="{5085E85B-4FF4-4577-2CB3-4D8B2191B6B1}"/>
                  </a:ext>
                </a:extLst>
              </p:cNvPr>
              <p:cNvSpPr/>
              <p:nvPr/>
            </p:nvSpPr>
            <p:spPr>
              <a:xfrm>
                <a:off x="5301643" y="6344903"/>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a:extLst>
                  <a:ext uri="{FF2B5EF4-FFF2-40B4-BE49-F238E27FC236}">
                    <a16:creationId xmlns:a16="http://schemas.microsoft.com/office/drawing/2014/main" id="{4AF29B03-F787-E3D7-2B64-9B17A422A459}"/>
                  </a:ext>
                </a:extLst>
              </p:cNvPr>
              <p:cNvSpPr/>
              <p:nvPr/>
            </p:nvSpPr>
            <p:spPr>
              <a:xfrm>
                <a:off x="5868814" y="6340507"/>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B4C8CF86-FB6E-5045-9CEC-34FD6D9B3312}"/>
                  </a:ext>
                </a:extLst>
              </p:cNvPr>
              <p:cNvSpPr/>
              <p:nvPr/>
            </p:nvSpPr>
            <p:spPr>
              <a:xfrm>
                <a:off x="6489031" y="6340507"/>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8" name="Straight Arrow Connector 227">
                <a:extLst>
                  <a:ext uri="{FF2B5EF4-FFF2-40B4-BE49-F238E27FC236}">
                    <a16:creationId xmlns:a16="http://schemas.microsoft.com/office/drawing/2014/main" id="{8852CE63-C330-4D12-6D01-701782D727FF}"/>
                  </a:ext>
                </a:extLst>
              </p:cNvPr>
              <p:cNvCxnSpPr>
                <a:stCxn id="224" idx="6"/>
                <a:endCxn id="225" idx="3"/>
              </p:cNvCxnSpPr>
              <p:nvPr/>
            </p:nvCxnSpPr>
            <p:spPr>
              <a:xfrm>
                <a:off x="5040459" y="6467044"/>
                <a:ext cx="2611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9" name="Straight Arrow Connector 228">
                <a:extLst>
                  <a:ext uri="{FF2B5EF4-FFF2-40B4-BE49-F238E27FC236}">
                    <a16:creationId xmlns:a16="http://schemas.microsoft.com/office/drawing/2014/main" id="{1C20CD19-78E8-171D-8849-F00FE5AD153E}"/>
                  </a:ext>
                </a:extLst>
              </p:cNvPr>
              <p:cNvCxnSpPr>
                <a:stCxn id="225" idx="6"/>
                <a:endCxn id="226" idx="2"/>
              </p:cNvCxnSpPr>
              <p:nvPr/>
            </p:nvCxnSpPr>
            <p:spPr>
              <a:xfrm flipV="1">
                <a:off x="5555736" y="6462648"/>
                <a:ext cx="313078" cy="4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0" name="Straight Arrow Connector 229">
                <a:extLst>
                  <a:ext uri="{FF2B5EF4-FFF2-40B4-BE49-F238E27FC236}">
                    <a16:creationId xmlns:a16="http://schemas.microsoft.com/office/drawing/2014/main" id="{749AD731-6D13-06F2-6ACC-62F773495843}"/>
                  </a:ext>
                </a:extLst>
              </p:cNvPr>
              <p:cNvCxnSpPr>
                <a:stCxn id="226" idx="6"/>
                <a:endCxn id="227" idx="2"/>
              </p:cNvCxnSpPr>
              <p:nvPr/>
            </p:nvCxnSpPr>
            <p:spPr>
              <a:xfrm>
                <a:off x="6122907" y="6462648"/>
                <a:ext cx="3661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1" name="Oval 230">
                <a:extLst>
                  <a:ext uri="{FF2B5EF4-FFF2-40B4-BE49-F238E27FC236}">
                    <a16:creationId xmlns:a16="http://schemas.microsoft.com/office/drawing/2014/main" id="{6F1867C5-4527-DF0E-A744-D69DA6D23213}"/>
                  </a:ext>
                </a:extLst>
              </p:cNvPr>
              <p:cNvSpPr/>
              <p:nvPr/>
            </p:nvSpPr>
            <p:spPr>
              <a:xfrm>
                <a:off x="7107685" y="5686648"/>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136A5EE1-6114-3A82-547E-FBD1CB71FEB9}"/>
                  </a:ext>
                </a:extLst>
              </p:cNvPr>
              <p:cNvSpPr/>
              <p:nvPr/>
            </p:nvSpPr>
            <p:spPr>
              <a:xfrm>
                <a:off x="7622962" y="5686648"/>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a:extLst>
                  <a:ext uri="{FF2B5EF4-FFF2-40B4-BE49-F238E27FC236}">
                    <a16:creationId xmlns:a16="http://schemas.microsoft.com/office/drawing/2014/main" id="{2B1920A3-34FD-CB79-C9D1-D77A480B341E}"/>
                  </a:ext>
                </a:extLst>
              </p:cNvPr>
              <p:cNvSpPr/>
              <p:nvPr/>
            </p:nvSpPr>
            <p:spPr>
              <a:xfrm>
                <a:off x="8190133" y="5682252"/>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BBAD8FF9-F6C1-EF3C-3B67-0D73B4074457}"/>
                  </a:ext>
                </a:extLst>
              </p:cNvPr>
              <p:cNvSpPr/>
              <p:nvPr/>
            </p:nvSpPr>
            <p:spPr>
              <a:xfrm>
                <a:off x="8810350" y="5682252"/>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5" name="Straight Arrow Connector 234">
                <a:extLst>
                  <a:ext uri="{FF2B5EF4-FFF2-40B4-BE49-F238E27FC236}">
                    <a16:creationId xmlns:a16="http://schemas.microsoft.com/office/drawing/2014/main" id="{4CA5DAB2-E7C7-0B53-EE24-AAB7A72ED21D}"/>
                  </a:ext>
                </a:extLst>
              </p:cNvPr>
              <p:cNvCxnSpPr>
                <a:stCxn id="231" idx="6"/>
                <a:endCxn id="232" idx="3"/>
              </p:cNvCxnSpPr>
              <p:nvPr/>
            </p:nvCxnSpPr>
            <p:spPr>
              <a:xfrm>
                <a:off x="7361778" y="5808789"/>
                <a:ext cx="2611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6" name="Straight Arrow Connector 235">
                <a:extLst>
                  <a:ext uri="{FF2B5EF4-FFF2-40B4-BE49-F238E27FC236}">
                    <a16:creationId xmlns:a16="http://schemas.microsoft.com/office/drawing/2014/main" id="{7FE8C3B0-D38F-0EE5-F150-C9A1CAE32436}"/>
                  </a:ext>
                </a:extLst>
              </p:cNvPr>
              <p:cNvCxnSpPr>
                <a:stCxn id="232" idx="6"/>
                <a:endCxn id="233" idx="2"/>
              </p:cNvCxnSpPr>
              <p:nvPr/>
            </p:nvCxnSpPr>
            <p:spPr>
              <a:xfrm flipV="1">
                <a:off x="7877055" y="5804393"/>
                <a:ext cx="313078" cy="4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7" name="Straight Arrow Connector 236">
                <a:extLst>
                  <a:ext uri="{FF2B5EF4-FFF2-40B4-BE49-F238E27FC236}">
                    <a16:creationId xmlns:a16="http://schemas.microsoft.com/office/drawing/2014/main" id="{BE12BC69-4383-8409-4939-CC2D67428C46}"/>
                  </a:ext>
                </a:extLst>
              </p:cNvPr>
              <p:cNvCxnSpPr>
                <a:stCxn id="233" idx="6"/>
                <a:endCxn id="234" idx="2"/>
              </p:cNvCxnSpPr>
              <p:nvPr/>
            </p:nvCxnSpPr>
            <p:spPr>
              <a:xfrm>
                <a:off x="8444226" y="5804393"/>
                <a:ext cx="3661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9" name="Straight Arrow Connector 238">
                <a:extLst>
                  <a:ext uri="{FF2B5EF4-FFF2-40B4-BE49-F238E27FC236}">
                    <a16:creationId xmlns:a16="http://schemas.microsoft.com/office/drawing/2014/main" id="{5C469652-C00B-5716-5E34-C4CFE17FEF13}"/>
                  </a:ext>
                </a:extLst>
              </p:cNvPr>
              <p:cNvCxnSpPr>
                <a:stCxn id="218" idx="6"/>
                <a:endCxn id="231" idx="2"/>
              </p:cNvCxnSpPr>
              <p:nvPr/>
            </p:nvCxnSpPr>
            <p:spPr>
              <a:xfrm>
                <a:off x="6746430" y="5800524"/>
                <a:ext cx="361255" cy="82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1" name="Straight Arrow Connector 240">
                <a:extLst>
                  <a:ext uri="{FF2B5EF4-FFF2-40B4-BE49-F238E27FC236}">
                    <a16:creationId xmlns:a16="http://schemas.microsoft.com/office/drawing/2014/main" id="{B62556D0-7ADC-B016-9AB1-109B2667F93F}"/>
                  </a:ext>
                </a:extLst>
              </p:cNvPr>
              <p:cNvCxnSpPr>
                <a:stCxn id="227" idx="6"/>
                <a:endCxn id="232" idx="3"/>
              </p:cNvCxnSpPr>
              <p:nvPr/>
            </p:nvCxnSpPr>
            <p:spPr>
              <a:xfrm flipV="1">
                <a:off x="6743124" y="5895155"/>
                <a:ext cx="917049" cy="5674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43" name="TextBox 242">
              <a:extLst>
                <a:ext uri="{FF2B5EF4-FFF2-40B4-BE49-F238E27FC236}">
                  <a16:creationId xmlns:a16="http://schemas.microsoft.com/office/drawing/2014/main" id="{6185D80C-EBE3-6F69-0E7E-B8C9CEC1CFE3}"/>
                </a:ext>
              </a:extLst>
            </p:cNvPr>
            <p:cNvSpPr txBox="1"/>
            <p:nvPr/>
          </p:nvSpPr>
          <p:spPr>
            <a:xfrm>
              <a:off x="4522818" y="6608778"/>
              <a:ext cx="3269440" cy="523220"/>
            </a:xfrm>
            <a:prstGeom prst="rect">
              <a:avLst/>
            </a:prstGeom>
            <a:noFill/>
          </p:spPr>
          <p:txBody>
            <a:bodyPr wrap="square" rtlCol="0">
              <a:spAutoFit/>
            </a:bodyPr>
            <a:lstStyle/>
            <a:p>
              <a:pPr algn="ctr"/>
              <a:r>
                <a:rPr lang="en-US" b="1" dirty="0">
                  <a:solidFill>
                    <a:schemeClr val="bg1"/>
                  </a:solidFill>
                  <a:latin typeface="Arial" panose="020B0604020202020204" pitchFamily="34" charset="0"/>
                  <a:cs typeface="Arial" panose="020B0604020202020204" pitchFamily="34" charset="0"/>
                </a:rPr>
                <a:t>Dynamically built computational graph</a:t>
              </a:r>
            </a:p>
          </p:txBody>
        </p:sp>
      </p:grpSp>
      <p:sp>
        <p:nvSpPr>
          <p:cNvPr id="245" name="Arrow: Bent-Up 244">
            <a:extLst>
              <a:ext uri="{FF2B5EF4-FFF2-40B4-BE49-F238E27FC236}">
                <a16:creationId xmlns:a16="http://schemas.microsoft.com/office/drawing/2014/main" id="{F4A5DB64-12E0-5F6D-E140-F258CC906411}"/>
              </a:ext>
            </a:extLst>
          </p:cNvPr>
          <p:cNvSpPr/>
          <p:nvPr/>
        </p:nvSpPr>
        <p:spPr>
          <a:xfrm>
            <a:off x="8928846" y="4298001"/>
            <a:ext cx="1438108" cy="1160589"/>
          </a:xfrm>
          <a:prstGeom prst="bentUpArrow">
            <a:avLst>
              <a:gd name="adj1" fmla="val 7000"/>
              <a:gd name="adj2" fmla="val 11737"/>
              <a:gd name="adj3" fmla="val 25000"/>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46" name="Callout: Up Arrow 245">
            <a:extLst>
              <a:ext uri="{FF2B5EF4-FFF2-40B4-BE49-F238E27FC236}">
                <a16:creationId xmlns:a16="http://schemas.microsoft.com/office/drawing/2014/main" id="{1285164E-A44F-78DE-3A38-4BCD73145962}"/>
              </a:ext>
            </a:extLst>
          </p:cNvPr>
          <p:cNvSpPr/>
          <p:nvPr/>
        </p:nvSpPr>
        <p:spPr>
          <a:xfrm>
            <a:off x="7392253" y="5530049"/>
            <a:ext cx="4185972" cy="840949"/>
          </a:xfrm>
          <a:prstGeom prst="upArrowCallo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When the feed forward step end, the computational graph is linked to the output tensor.</a:t>
            </a:r>
          </a:p>
        </p:txBody>
      </p:sp>
    </p:spTree>
    <p:extLst>
      <p:ext uri="{BB962C8B-B14F-4D97-AF65-F5344CB8AC3E}">
        <p14:creationId xmlns:p14="http://schemas.microsoft.com/office/powerpoint/2010/main" val="218124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2947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Let’s review the backpropagation process:</a:t>
            </a:r>
          </a:p>
          <a:p>
            <a:pPr marL="514350" indent="-514350">
              <a:buAutoNum type="arabicPeriod"/>
            </a:pPr>
            <a:r>
              <a:rPr lang="en-US" b="1" dirty="0">
                <a:latin typeface="Arial" panose="020B0604020202020204" pitchFamily="34" charset="0"/>
                <a:cs typeface="Arial" panose="020B0604020202020204" pitchFamily="34" charset="0"/>
              </a:rPr>
              <a:t>Compute the output </a:t>
            </a:r>
            <a:r>
              <a:rPr lang="en-US" dirty="0">
                <a:latin typeface="Arial" panose="020B0604020202020204" pitchFamily="34" charset="0"/>
                <a:cs typeface="Arial" panose="020B0604020202020204" pitchFamily="34" charset="0"/>
              </a:rPr>
              <a:t>of the current model given an input (an input can be one item or multiple items)</a:t>
            </a:r>
          </a:p>
          <a:p>
            <a:pPr marL="514350" indent="-514350">
              <a:buAutoNum type="arabicPeriod"/>
            </a:pPr>
            <a:r>
              <a:rPr lang="en-US" b="1" dirty="0">
                <a:latin typeface="Arial" panose="020B0604020202020204" pitchFamily="34" charset="0"/>
                <a:cs typeface="Arial" panose="020B0604020202020204" pitchFamily="34" charset="0"/>
              </a:rPr>
              <a:t>Compute the loss</a:t>
            </a:r>
            <a:r>
              <a:rPr lang="en-US" dirty="0">
                <a:latin typeface="Arial" panose="020B0604020202020204" pitchFamily="34" charset="0"/>
                <a:cs typeface="Arial" panose="020B0604020202020204" pitchFamily="34" charset="0"/>
              </a:rPr>
              <a:t> using the output obtained on the previous step and the expected value (if the input is represented by multiple items, the computed loss is the average of the loss from all items)</a:t>
            </a:r>
          </a:p>
          <a:p>
            <a:pPr marL="514350" indent="-514350">
              <a:buAutoNum type="arabicPeriod"/>
            </a:pPr>
            <a:r>
              <a:rPr lang="en-US" b="1" dirty="0">
                <a:latin typeface="Arial" panose="020B0604020202020204" pitchFamily="34" charset="0"/>
                <a:cs typeface="Arial" panose="020B0604020202020204" pitchFamily="34" charset="0"/>
              </a:rPr>
              <a:t>Compute the delta gradients</a:t>
            </a:r>
            <a:r>
              <a:rPr lang="en-US" dirty="0">
                <a:latin typeface="Arial" panose="020B0604020202020204" pitchFamily="34" charset="0"/>
                <a:cs typeface="Arial" panose="020B0604020202020204" pitchFamily="34" charset="0"/>
              </a:rPr>
              <a:t> for each layer</a:t>
            </a:r>
          </a:p>
          <a:p>
            <a:pPr marL="514350" indent="-514350">
              <a:buAutoNum type="arabicPeriod"/>
            </a:pPr>
            <a:r>
              <a:rPr lang="en-US" b="1" dirty="0">
                <a:latin typeface="Arial" panose="020B0604020202020204" pitchFamily="34" charset="0"/>
                <a:cs typeface="Arial" panose="020B0604020202020204" pitchFamily="34" charset="0"/>
              </a:rPr>
              <a:t>Update weights </a:t>
            </a:r>
            <a:r>
              <a:rPr lang="en-US" dirty="0">
                <a:latin typeface="Arial" panose="020B0604020202020204" pitchFamily="34" charset="0"/>
                <a:cs typeface="Arial" panose="020B0604020202020204" pitchFamily="34" charset="0"/>
              </a:rPr>
              <a:t>using the computed delta gradients from the previous layer.</a:t>
            </a:r>
          </a:p>
          <a:p>
            <a:pPr marL="514350" indent="-514350">
              <a:buAutoNum type="arabicPeriod"/>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3969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31543" y="1411593"/>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Let’s see how this flow looks like in </a:t>
            </a: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3B7140B8-DEFB-A280-C449-92C34E41D5B1}"/>
              </a:ext>
            </a:extLst>
          </p:cNvPr>
          <p:cNvSpPr/>
          <p:nvPr/>
        </p:nvSpPr>
        <p:spPr>
          <a:xfrm>
            <a:off x="1751012" y="2133600"/>
            <a:ext cx="5410200" cy="4343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229977"/>
                </a:solidFill>
                <a:effectLst/>
                <a:latin typeface="Consolas" panose="020B0609020204030204" pitchFamily="49" charset="0"/>
              </a:rPr>
              <a:t> </a:t>
            </a:r>
            <a:r>
              <a:rPr lang="en-US" b="0" dirty="0" err="1">
                <a:solidFill>
                  <a:srgbClr val="229977"/>
                </a:solidFill>
                <a:effectLst/>
                <a:latin typeface="Consolas" panose="020B0609020204030204" pitchFamily="49" charset="0"/>
              </a:rPr>
              <a:t>all_weights</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model</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parameters</a:t>
            </a:r>
            <a:r>
              <a:rPr lang="en-US" b="0" dirty="0">
                <a:solidFill>
                  <a:srgbClr val="B4B4B4"/>
                </a:solidFill>
                <a:effectLst/>
                <a:latin typeface="Consolas" panose="020B0609020204030204" pitchFamily="49" charset="0"/>
              </a:rPr>
              <a:t>()</a:t>
            </a:r>
            <a:endParaRPr lang="en-US" b="0" dirty="0">
              <a:solidFill>
                <a:srgbClr val="229977"/>
              </a:solidFill>
              <a:effectLst/>
              <a:latin typeface="Consolas" panose="020B0609020204030204" pitchFamily="49" charset="0"/>
            </a:endParaRPr>
          </a:p>
          <a:p>
            <a:r>
              <a:rPr lang="en-US" b="0" dirty="0">
                <a:solidFill>
                  <a:srgbClr val="229977"/>
                </a:solidFill>
                <a:effectLst/>
                <a:latin typeface="Consolas" panose="020B0609020204030204" pitchFamily="49" charset="0"/>
              </a:rPr>
              <a:t> optimizer</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optim</a:t>
            </a:r>
            <a:r>
              <a:rPr lang="en-US" b="0" dirty="0">
                <a:solidFill>
                  <a:srgbClr val="B4B4B4"/>
                </a:solidFill>
                <a:effectLst/>
                <a:latin typeface="Consolas" panose="020B0609020204030204" pitchFamily="49" charset="0"/>
              </a:rPr>
              <a:t>.</a:t>
            </a:r>
            <a:r>
              <a:rPr lang="en-US" b="1" i="1" dirty="0">
                <a:solidFill>
                  <a:srgbClr val="00B0F0"/>
                </a:solidFill>
                <a:effectLst/>
                <a:latin typeface="Consolas" panose="020B0609020204030204" pitchFamily="49" charset="0"/>
              </a:rPr>
              <a:t>&lt;Name&gt;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all_weights</a:t>
            </a:r>
            <a:r>
              <a:rPr lang="en-US" b="0" dirty="0">
                <a:solidFill>
                  <a:srgbClr val="229977"/>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endParaRPr lang="en-US" b="0" dirty="0">
              <a:solidFill>
                <a:srgbClr val="229977"/>
              </a:solidFill>
              <a:effectLst/>
              <a:latin typeface="Consolas" panose="020B0609020204030204" pitchFamily="49" charset="0"/>
            </a:endParaRPr>
          </a:p>
          <a:p>
            <a:endParaRPr lang="en-US" dirty="0">
              <a:solidFill>
                <a:srgbClr val="229977"/>
              </a:solidFill>
              <a:latin typeface="Consolas" panose="020B0609020204030204" pitchFamily="49" charset="0"/>
            </a:endParaRPr>
          </a:p>
          <a:p>
            <a:r>
              <a:rPr lang="en-US" b="0" dirty="0">
                <a:solidFill>
                  <a:schemeClr val="tx2"/>
                </a:solidFill>
                <a:effectLst/>
                <a:latin typeface="Consolas" panose="020B0609020204030204" pitchFamily="49" charset="0"/>
              </a:rPr>
              <a:t> output = model(input)</a:t>
            </a:r>
          </a:p>
          <a:p>
            <a:endParaRPr lang="en-US" b="0" dirty="0">
              <a:solidFill>
                <a:schemeClr val="tx1">
                  <a:lumMod val="75000"/>
                </a:schemeClr>
              </a:solidFill>
              <a:effectLst/>
              <a:latin typeface="Consolas" panose="020B0609020204030204" pitchFamily="49" charset="0"/>
            </a:endParaRPr>
          </a:p>
          <a:p>
            <a:r>
              <a:rPr lang="en-US" b="0" dirty="0">
                <a:solidFill>
                  <a:schemeClr val="tx1">
                    <a:lumMod val="75000"/>
                  </a:schemeClr>
                </a:solidFill>
                <a:effectLst/>
                <a:latin typeface="Consolas" panose="020B0609020204030204" pitchFamily="49" charset="0"/>
              </a:rPr>
              <a:t> loss = </a:t>
            </a:r>
            <a:r>
              <a:rPr lang="en-US" b="0" dirty="0" err="1">
                <a:solidFill>
                  <a:schemeClr val="tx1">
                    <a:lumMod val="75000"/>
                  </a:schemeClr>
                </a:solidFill>
                <a:effectLst/>
                <a:latin typeface="Consolas" panose="020B0609020204030204" pitchFamily="49" charset="0"/>
              </a:rPr>
              <a:t>loss_function</a:t>
            </a:r>
            <a:r>
              <a:rPr lang="en-US" b="0" dirty="0">
                <a:solidFill>
                  <a:schemeClr val="tx1">
                    <a:lumMod val="75000"/>
                  </a:schemeClr>
                </a:solidFill>
                <a:effectLst/>
                <a:latin typeface="Consolas" panose="020B0609020204030204" pitchFamily="49" charset="0"/>
              </a:rPr>
              <a:t>(output, expected)</a:t>
            </a:r>
          </a:p>
          <a:p>
            <a:endParaRPr lang="en-US" b="0" dirty="0">
              <a:solidFill>
                <a:schemeClr val="tx1">
                  <a:lumMod val="75000"/>
                </a:schemeClr>
              </a:solidFill>
              <a:effectLst/>
              <a:latin typeface="Consolas" panose="020B0609020204030204" pitchFamily="49" charset="0"/>
            </a:endParaRPr>
          </a:p>
          <a:p>
            <a:r>
              <a:rPr lang="en-US" b="0" dirty="0">
                <a:solidFill>
                  <a:schemeClr val="tx1">
                    <a:lumMod val="75000"/>
                  </a:schemeClr>
                </a:solidFill>
                <a:effectLst/>
                <a:latin typeface="Consolas" panose="020B0609020204030204" pitchFamily="49" charset="0"/>
              </a:rPr>
              <a:t> </a:t>
            </a:r>
            <a:r>
              <a:rPr lang="en-US" b="0" dirty="0" err="1">
                <a:solidFill>
                  <a:schemeClr val="tx1">
                    <a:lumMod val="75000"/>
                  </a:schemeClr>
                </a:solidFill>
                <a:effectLst/>
                <a:latin typeface="Consolas" panose="020B0609020204030204" pitchFamily="49" charset="0"/>
              </a:rPr>
              <a:t>optimizer.zero_grad</a:t>
            </a:r>
            <a:r>
              <a:rPr lang="en-US" b="0" dirty="0">
                <a:solidFill>
                  <a:schemeClr val="tx1">
                    <a:lumMod val="75000"/>
                  </a:schemeClr>
                </a:solidFill>
                <a:effectLst/>
                <a:latin typeface="Consolas" panose="020B0609020204030204" pitchFamily="49" charset="0"/>
              </a:rPr>
              <a:t>()</a:t>
            </a:r>
          </a:p>
          <a:p>
            <a:endParaRPr lang="en-US" dirty="0">
              <a:solidFill>
                <a:schemeClr val="tx1">
                  <a:lumMod val="75000"/>
                </a:schemeClr>
              </a:solidFill>
              <a:latin typeface="Consolas" panose="020B0609020204030204" pitchFamily="49" charset="0"/>
            </a:endParaRPr>
          </a:p>
          <a:p>
            <a:r>
              <a:rPr lang="en-US" b="0" dirty="0">
                <a:solidFill>
                  <a:schemeClr val="tx1">
                    <a:lumMod val="75000"/>
                  </a:schemeClr>
                </a:solidFill>
                <a:effectLst/>
                <a:latin typeface="Consolas" panose="020B0609020204030204" pitchFamily="49" charset="0"/>
              </a:rPr>
              <a:t> </a:t>
            </a:r>
            <a:r>
              <a:rPr lang="en-US" b="0" dirty="0" err="1">
                <a:solidFill>
                  <a:schemeClr val="tx1">
                    <a:lumMod val="75000"/>
                  </a:schemeClr>
                </a:solidFill>
                <a:effectLst/>
                <a:latin typeface="Consolas" panose="020B0609020204030204" pitchFamily="49" charset="0"/>
              </a:rPr>
              <a:t>loss.backward</a:t>
            </a:r>
            <a:r>
              <a:rPr lang="en-US" b="0" dirty="0">
                <a:solidFill>
                  <a:schemeClr val="tx1">
                    <a:lumMod val="75000"/>
                  </a:schemeClr>
                </a:solidFill>
                <a:effectLst/>
                <a:latin typeface="Consolas" panose="020B0609020204030204" pitchFamily="49" charset="0"/>
              </a:rPr>
              <a:t>()</a:t>
            </a:r>
          </a:p>
          <a:p>
            <a:endParaRPr lang="en-US" b="0" dirty="0">
              <a:solidFill>
                <a:schemeClr val="tx1">
                  <a:lumMod val="75000"/>
                </a:schemeClr>
              </a:solidFill>
              <a:effectLst/>
              <a:latin typeface="Consolas" panose="020B0609020204030204" pitchFamily="49" charset="0"/>
            </a:endParaRPr>
          </a:p>
          <a:p>
            <a:r>
              <a:rPr lang="en-US" b="0" dirty="0">
                <a:solidFill>
                  <a:schemeClr val="tx1">
                    <a:lumMod val="75000"/>
                  </a:schemeClr>
                </a:solidFill>
                <a:effectLst/>
                <a:latin typeface="Consolas" panose="020B0609020204030204" pitchFamily="49" charset="0"/>
              </a:rPr>
              <a:t> </a:t>
            </a:r>
            <a:r>
              <a:rPr lang="en-US" b="0" dirty="0" err="1">
                <a:solidFill>
                  <a:schemeClr val="tx1">
                    <a:lumMod val="75000"/>
                  </a:schemeClr>
                </a:solidFill>
                <a:effectLst/>
                <a:latin typeface="Consolas" panose="020B0609020204030204" pitchFamily="49" charset="0"/>
              </a:rPr>
              <a:t>optimizer.step</a:t>
            </a:r>
            <a:r>
              <a:rPr lang="en-US" b="0" dirty="0">
                <a:solidFill>
                  <a:schemeClr val="tx1">
                    <a:lumMod val="75000"/>
                  </a:schemeClr>
                </a:solidFill>
                <a:effectLst/>
                <a:latin typeface="Consolas" panose="020B0609020204030204" pitchFamily="49" charset="0"/>
              </a:rPr>
              <a:t>()</a:t>
            </a:r>
          </a:p>
        </p:txBody>
      </p:sp>
      <p:sp>
        <p:nvSpPr>
          <p:cNvPr id="3" name="Rectangle 2">
            <a:extLst>
              <a:ext uri="{FF2B5EF4-FFF2-40B4-BE49-F238E27FC236}">
                <a16:creationId xmlns:a16="http://schemas.microsoft.com/office/drawing/2014/main" id="{AF19B87B-B84D-2F72-DAFD-4866F98990B8}"/>
              </a:ext>
            </a:extLst>
          </p:cNvPr>
          <p:cNvSpPr/>
          <p:nvPr/>
        </p:nvSpPr>
        <p:spPr>
          <a:xfrm>
            <a:off x="1827212" y="2744372"/>
            <a:ext cx="5257800" cy="6858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AFA4ECD-17E5-8DFD-C600-CB90BF10CE17}"/>
              </a:ext>
            </a:extLst>
          </p:cNvPr>
          <p:cNvSpPr/>
          <p:nvPr/>
        </p:nvSpPr>
        <p:spPr>
          <a:xfrm>
            <a:off x="7313612" y="2148916"/>
            <a:ext cx="4419600" cy="36568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t>Setup Phase</a:t>
            </a:r>
          </a:p>
        </p:txBody>
      </p:sp>
      <p:sp>
        <p:nvSpPr>
          <p:cNvPr id="7" name="Rectangle 6">
            <a:extLst>
              <a:ext uri="{FF2B5EF4-FFF2-40B4-BE49-F238E27FC236}">
                <a16:creationId xmlns:a16="http://schemas.microsoft.com/office/drawing/2014/main" id="{911F0788-430F-F9E0-3EB3-FC66B748CAF8}"/>
              </a:ext>
            </a:extLst>
          </p:cNvPr>
          <p:cNvSpPr/>
          <p:nvPr/>
        </p:nvSpPr>
        <p:spPr>
          <a:xfrm>
            <a:off x="7313612" y="2590801"/>
            <a:ext cx="4419600" cy="453414"/>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First, we need to create an </a:t>
            </a:r>
            <a:r>
              <a:rPr lang="en-US" b="1" dirty="0">
                <a:solidFill>
                  <a:schemeClr val="tx2"/>
                </a:solidFill>
                <a:latin typeface="Arial" panose="020B0604020202020204" pitchFamily="34" charset="0"/>
                <a:cs typeface="Arial" panose="020B0604020202020204" pitchFamily="34" charset="0"/>
              </a:rPr>
              <a:t>optimizer</a:t>
            </a:r>
            <a:endParaRPr lang="en-US" dirty="0">
              <a:solidFill>
                <a:schemeClr val="tx2"/>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6E3B4251-65DC-9AC8-AF44-2946423DBB66}"/>
              </a:ext>
            </a:extLst>
          </p:cNvPr>
          <p:cNvSpPr/>
          <p:nvPr/>
        </p:nvSpPr>
        <p:spPr>
          <a:xfrm>
            <a:off x="7313612" y="3218393"/>
            <a:ext cx="4419600" cy="595393"/>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Example of optimizer: </a:t>
            </a:r>
            <a:r>
              <a:rPr lang="en-US" b="1" dirty="0">
                <a:solidFill>
                  <a:schemeClr val="tx2"/>
                </a:solidFill>
                <a:latin typeface="Arial" panose="020B0604020202020204" pitchFamily="34" charset="0"/>
                <a:cs typeface="Arial" panose="020B0604020202020204" pitchFamily="34" charset="0"/>
              </a:rPr>
              <a:t>gradient descent, </a:t>
            </a:r>
            <a:r>
              <a:rPr lang="en-US" b="1" dirty="0" err="1">
                <a:solidFill>
                  <a:schemeClr val="tx2"/>
                </a:solidFill>
                <a:latin typeface="Arial" panose="020B0604020202020204" pitchFamily="34" charset="0"/>
                <a:cs typeface="Arial" panose="020B0604020202020204" pitchFamily="34" charset="0"/>
              </a:rPr>
              <a:t>adam</a:t>
            </a:r>
            <a:r>
              <a:rPr lang="en-US" b="1" dirty="0">
                <a:solidFill>
                  <a:schemeClr val="tx2"/>
                </a:solidFill>
                <a:latin typeface="Arial" panose="020B0604020202020204" pitchFamily="34" charset="0"/>
                <a:cs typeface="Arial" panose="020B0604020202020204" pitchFamily="34" charset="0"/>
              </a:rPr>
              <a:t>, </a:t>
            </a:r>
            <a:r>
              <a:rPr lang="en-US" b="1" dirty="0" err="1">
                <a:solidFill>
                  <a:schemeClr val="tx2"/>
                </a:solidFill>
                <a:latin typeface="Arial" panose="020B0604020202020204" pitchFamily="34" charset="0"/>
                <a:cs typeface="Arial" panose="020B0604020202020204" pitchFamily="34" charset="0"/>
              </a:rPr>
              <a:t>rmsprop</a:t>
            </a:r>
            <a:r>
              <a:rPr lang="en-US" b="1" dirty="0">
                <a:solidFill>
                  <a:schemeClr val="tx2"/>
                </a:solidFill>
                <a:latin typeface="Arial" panose="020B0604020202020204" pitchFamily="34" charset="0"/>
                <a:cs typeface="Arial" panose="020B0604020202020204" pitchFamily="34" charset="0"/>
              </a:rPr>
              <a:t>, </a:t>
            </a:r>
            <a:r>
              <a:rPr lang="en-US" b="1" dirty="0" err="1">
                <a:solidFill>
                  <a:schemeClr val="tx2"/>
                </a:solidFill>
                <a:latin typeface="Arial" panose="020B0604020202020204" pitchFamily="34" charset="0"/>
                <a:cs typeface="Arial" panose="020B0604020202020204" pitchFamily="34" charset="0"/>
              </a:rPr>
              <a:t>adagarad</a:t>
            </a:r>
            <a:endParaRPr lang="en-US" dirty="0">
              <a:solidFill>
                <a:schemeClr val="tx2"/>
              </a:solidFill>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766A8846-6331-543F-D3C5-4242B800851C}"/>
              </a:ext>
            </a:extLst>
          </p:cNvPr>
          <p:cNvSpPr/>
          <p:nvPr/>
        </p:nvSpPr>
        <p:spPr>
          <a:xfrm>
            <a:off x="7313612" y="4270985"/>
            <a:ext cx="4419600" cy="2208764"/>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Regardless of the chosen optimizer, </a:t>
            </a:r>
            <a:r>
              <a:rPr lang="en-US" b="1" u="sng" dirty="0">
                <a:solidFill>
                  <a:schemeClr val="tx2"/>
                </a:solidFill>
                <a:latin typeface="Arial" panose="020B0604020202020204" pitchFamily="34" charset="0"/>
                <a:cs typeface="Arial" panose="020B0604020202020204" pitchFamily="34" charset="0"/>
              </a:rPr>
              <a:t>a reference to all weights</a:t>
            </a:r>
            <a:r>
              <a:rPr lang="en-US" dirty="0">
                <a:solidFill>
                  <a:schemeClr val="tx2"/>
                </a:solidFill>
                <a:latin typeface="Arial" panose="020B0604020202020204" pitchFamily="34" charset="0"/>
                <a:cs typeface="Arial" panose="020B0604020202020204" pitchFamily="34" charset="0"/>
              </a:rPr>
              <a:t> (from all layers in the model) has to be provided). </a:t>
            </a:r>
          </a:p>
          <a:p>
            <a:r>
              <a:rPr lang="en-US" dirty="0">
                <a:solidFill>
                  <a:schemeClr val="tx2"/>
                </a:solidFill>
                <a:latin typeface="Arial" panose="020B0604020202020204" pitchFamily="34" charset="0"/>
                <a:cs typeface="Arial" panose="020B0604020202020204" pitchFamily="34" charset="0"/>
              </a:rPr>
              <a:t>Any object derived from Module has a method called </a:t>
            </a:r>
            <a:r>
              <a:rPr lang="en-US" dirty="0">
                <a:solidFill>
                  <a:schemeClr val="tx2"/>
                </a:solidFill>
                <a:highlight>
                  <a:srgbClr val="C0C0C0"/>
                </a:highlight>
                <a:latin typeface="Arial" panose="020B0604020202020204" pitchFamily="34" charset="0"/>
                <a:cs typeface="Arial" panose="020B0604020202020204" pitchFamily="34" charset="0"/>
              </a:rPr>
              <a:t>.parameters()</a:t>
            </a:r>
            <a:r>
              <a:rPr lang="en-US" dirty="0">
                <a:solidFill>
                  <a:schemeClr val="tx2"/>
                </a:solidFill>
                <a:latin typeface="Arial" panose="020B0604020202020204" pitchFamily="34" charset="0"/>
                <a:cs typeface="Arial" panose="020B0604020202020204" pitchFamily="34" charset="0"/>
              </a:rPr>
              <a:t> that provides a list of all weights (tensors) that support gradients (</a:t>
            </a:r>
            <a:r>
              <a:rPr lang="en-US" b="1" dirty="0" err="1">
                <a:solidFill>
                  <a:schemeClr val="tx2"/>
                </a:solidFill>
                <a:latin typeface="Arial" panose="020B0604020202020204" pitchFamily="34" charset="0"/>
                <a:cs typeface="Arial" panose="020B0604020202020204" pitchFamily="34" charset="0"/>
              </a:rPr>
              <a:t>requires_grad</a:t>
            </a:r>
            <a:r>
              <a:rPr lang="en-US" b="1" dirty="0">
                <a:solidFill>
                  <a:schemeClr val="tx2"/>
                </a:solidFill>
                <a:latin typeface="Arial" panose="020B0604020202020204" pitchFamily="34" charset="0"/>
                <a:cs typeface="Arial" panose="020B0604020202020204" pitchFamily="34" charset="0"/>
              </a:rPr>
              <a:t>=True</a:t>
            </a:r>
            <a:r>
              <a:rPr lang="en-US" dirty="0">
                <a:solidFill>
                  <a:schemeClr val="tx2"/>
                </a:solidFill>
                <a:latin typeface="Arial" panose="020B0604020202020204" pitchFamily="34" charset="0"/>
                <a:cs typeface="Arial" panose="020B0604020202020204" pitchFamily="34" charset="0"/>
              </a:rPr>
              <a:t>) and as a result, can be adjusted.</a:t>
            </a:r>
          </a:p>
        </p:txBody>
      </p:sp>
    </p:spTree>
    <p:extLst>
      <p:ext uri="{BB962C8B-B14F-4D97-AF65-F5344CB8AC3E}">
        <p14:creationId xmlns:p14="http://schemas.microsoft.com/office/powerpoint/2010/main" val="16769305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9943"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Let’s see how this flow looks like in </a:t>
            </a: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3B7140B8-DEFB-A280-C449-92C34E41D5B1}"/>
              </a:ext>
            </a:extLst>
          </p:cNvPr>
          <p:cNvSpPr/>
          <p:nvPr/>
        </p:nvSpPr>
        <p:spPr>
          <a:xfrm>
            <a:off x="1751012" y="2133600"/>
            <a:ext cx="5410200" cy="4343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229977"/>
                </a:solidFill>
                <a:effectLst/>
                <a:latin typeface="Consolas" panose="020B0609020204030204" pitchFamily="49" charset="0"/>
              </a:rPr>
              <a:t> </a:t>
            </a:r>
            <a:r>
              <a:rPr lang="en-US" b="0" dirty="0" err="1">
                <a:solidFill>
                  <a:srgbClr val="229977"/>
                </a:solidFill>
                <a:effectLst/>
                <a:latin typeface="Consolas" panose="020B0609020204030204" pitchFamily="49" charset="0"/>
              </a:rPr>
              <a:t>all_weights</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model</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parameters</a:t>
            </a:r>
            <a:r>
              <a:rPr lang="en-US" b="0" dirty="0">
                <a:solidFill>
                  <a:srgbClr val="B4B4B4"/>
                </a:solidFill>
                <a:effectLst/>
                <a:latin typeface="Consolas" panose="020B0609020204030204" pitchFamily="49" charset="0"/>
              </a:rPr>
              <a:t>()</a:t>
            </a:r>
            <a:endParaRPr lang="en-US" b="0" dirty="0">
              <a:solidFill>
                <a:srgbClr val="229977"/>
              </a:solidFill>
              <a:effectLst/>
              <a:latin typeface="Consolas" panose="020B0609020204030204" pitchFamily="49" charset="0"/>
            </a:endParaRPr>
          </a:p>
          <a:p>
            <a:r>
              <a:rPr lang="en-US" b="0" dirty="0">
                <a:solidFill>
                  <a:srgbClr val="229977"/>
                </a:solidFill>
                <a:effectLst/>
                <a:latin typeface="Consolas" panose="020B0609020204030204" pitchFamily="49" charset="0"/>
              </a:rPr>
              <a:t> optimizer</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optim</a:t>
            </a:r>
            <a:r>
              <a:rPr lang="en-US" b="0" dirty="0">
                <a:solidFill>
                  <a:srgbClr val="B4B4B4"/>
                </a:solidFill>
                <a:effectLst/>
                <a:latin typeface="Consolas" panose="020B0609020204030204" pitchFamily="49" charset="0"/>
              </a:rPr>
              <a:t>.</a:t>
            </a:r>
            <a:r>
              <a:rPr lang="en-US" b="1" i="1" dirty="0">
                <a:solidFill>
                  <a:srgbClr val="00B0F0"/>
                </a:solidFill>
                <a:effectLst/>
                <a:latin typeface="Consolas" panose="020B0609020204030204" pitchFamily="49" charset="0"/>
              </a:rPr>
              <a:t>&lt;Name&gt;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all_weights</a:t>
            </a:r>
            <a:r>
              <a:rPr lang="en-US" b="0" dirty="0">
                <a:solidFill>
                  <a:srgbClr val="229977"/>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endParaRPr lang="en-US" b="0" dirty="0">
              <a:solidFill>
                <a:srgbClr val="229977"/>
              </a:solidFill>
              <a:effectLst/>
              <a:latin typeface="Consolas" panose="020B0609020204030204" pitchFamily="49" charset="0"/>
            </a:endParaRPr>
          </a:p>
          <a:p>
            <a:endParaRPr lang="en-US" dirty="0">
              <a:solidFill>
                <a:srgbClr val="229977"/>
              </a:solidFill>
              <a:latin typeface="Consolas" panose="020B0609020204030204" pitchFamily="49" charset="0"/>
            </a:endParaRPr>
          </a:p>
          <a:p>
            <a:r>
              <a:rPr lang="en-US" b="0" dirty="0">
                <a:solidFill>
                  <a:srgbClr val="229977"/>
                </a:solidFill>
                <a:effectLst/>
                <a:latin typeface="Consolas" panose="020B0609020204030204" pitchFamily="49" charset="0"/>
              </a:rPr>
              <a:t> output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model</a:t>
            </a:r>
            <a:r>
              <a:rPr lang="en-US" b="0" dirty="0">
                <a:solidFill>
                  <a:srgbClr val="B4B4B4"/>
                </a:solidFill>
                <a:effectLst/>
                <a:latin typeface="Consolas" panose="020B0609020204030204" pitchFamily="49" charset="0"/>
              </a:rPr>
              <a:t>(</a:t>
            </a:r>
            <a:r>
              <a:rPr lang="en-US" b="0" dirty="0">
                <a:solidFill>
                  <a:srgbClr val="A7A774"/>
                </a:solidFill>
                <a:effectLst/>
                <a:latin typeface="Consolas" panose="020B0609020204030204" pitchFamily="49" charset="0"/>
              </a:rPr>
              <a:t>input</a:t>
            </a:r>
            <a:r>
              <a:rPr lang="en-US" b="0" dirty="0">
                <a:solidFill>
                  <a:srgbClr val="B4B4B4"/>
                </a:solidFill>
                <a:effectLst/>
                <a:latin typeface="Consolas" panose="020B0609020204030204" pitchFamily="49" charset="0"/>
              </a:rPr>
              <a:t>)</a:t>
            </a:r>
          </a:p>
          <a:p>
            <a:endParaRPr lang="en-US" b="0" dirty="0">
              <a:solidFill>
                <a:srgbClr val="DADADA"/>
              </a:solidFill>
              <a:effectLst/>
              <a:latin typeface="Consolas" panose="020B0609020204030204" pitchFamily="49" charset="0"/>
            </a:endParaRPr>
          </a:p>
          <a:p>
            <a:r>
              <a:rPr lang="en-US" b="0" dirty="0">
                <a:solidFill>
                  <a:schemeClr val="tx2"/>
                </a:solidFill>
                <a:effectLst/>
                <a:latin typeface="Consolas" panose="020B0609020204030204" pitchFamily="49" charset="0"/>
              </a:rPr>
              <a:t> </a:t>
            </a:r>
            <a:r>
              <a:rPr lang="en-US" b="0" dirty="0">
                <a:solidFill>
                  <a:schemeClr val="tx1">
                    <a:lumMod val="75000"/>
                  </a:schemeClr>
                </a:solidFill>
                <a:effectLst/>
                <a:latin typeface="Consolas" panose="020B0609020204030204" pitchFamily="49" charset="0"/>
              </a:rPr>
              <a:t>loss = </a:t>
            </a:r>
            <a:r>
              <a:rPr lang="en-US" b="0" dirty="0" err="1">
                <a:solidFill>
                  <a:schemeClr val="tx1">
                    <a:lumMod val="75000"/>
                  </a:schemeClr>
                </a:solidFill>
                <a:effectLst/>
                <a:latin typeface="Consolas" panose="020B0609020204030204" pitchFamily="49" charset="0"/>
              </a:rPr>
              <a:t>loss_function</a:t>
            </a:r>
            <a:r>
              <a:rPr lang="en-US" b="0" dirty="0">
                <a:solidFill>
                  <a:schemeClr val="tx1">
                    <a:lumMod val="75000"/>
                  </a:schemeClr>
                </a:solidFill>
                <a:effectLst/>
                <a:latin typeface="Consolas" panose="020B0609020204030204" pitchFamily="49" charset="0"/>
              </a:rPr>
              <a:t>(output, expected)</a:t>
            </a:r>
          </a:p>
          <a:p>
            <a:endParaRPr lang="en-US" b="0" dirty="0">
              <a:solidFill>
                <a:schemeClr val="tx1">
                  <a:lumMod val="75000"/>
                </a:schemeClr>
              </a:solidFill>
              <a:effectLst/>
              <a:latin typeface="Consolas" panose="020B0609020204030204" pitchFamily="49" charset="0"/>
            </a:endParaRPr>
          </a:p>
          <a:p>
            <a:r>
              <a:rPr lang="en-US" b="0" dirty="0">
                <a:solidFill>
                  <a:schemeClr val="tx1">
                    <a:lumMod val="75000"/>
                  </a:schemeClr>
                </a:solidFill>
                <a:effectLst/>
                <a:latin typeface="Consolas" panose="020B0609020204030204" pitchFamily="49" charset="0"/>
              </a:rPr>
              <a:t> </a:t>
            </a:r>
            <a:r>
              <a:rPr lang="en-US" b="0" dirty="0" err="1">
                <a:solidFill>
                  <a:schemeClr val="tx1">
                    <a:lumMod val="75000"/>
                  </a:schemeClr>
                </a:solidFill>
                <a:effectLst/>
                <a:latin typeface="Consolas" panose="020B0609020204030204" pitchFamily="49" charset="0"/>
              </a:rPr>
              <a:t>optimizer.zero_grad</a:t>
            </a:r>
            <a:r>
              <a:rPr lang="en-US" b="0" dirty="0">
                <a:solidFill>
                  <a:schemeClr val="tx1">
                    <a:lumMod val="75000"/>
                  </a:schemeClr>
                </a:solidFill>
                <a:effectLst/>
                <a:latin typeface="Consolas" panose="020B0609020204030204" pitchFamily="49" charset="0"/>
              </a:rPr>
              <a:t>()</a:t>
            </a:r>
          </a:p>
          <a:p>
            <a:endParaRPr lang="en-US" dirty="0">
              <a:solidFill>
                <a:schemeClr val="tx1">
                  <a:lumMod val="75000"/>
                </a:schemeClr>
              </a:solidFill>
              <a:latin typeface="Consolas" panose="020B0609020204030204" pitchFamily="49" charset="0"/>
            </a:endParaRPr>
          </a:p>
          <a:p>
            <a:r>
              <a:rPr lang="en-US" b="0" dirty="0">
                <a:solidFill>
                  <a:schemeClr val="tx1">
                    <a:lumMod val="75000"/>
                  </a:schemeClr>
                </a:solidFill>
                <a:effectLst/>
                <a:latin typeface="Consolas" panose="020B0609020204030204" pitchFamily="49" charset="0"/>
              </a:rPr>
              <a:t> </a:t>
            </a:r>
            <a:r>
              <a:rPr lang="en-US" b="0" dirty="0" err="1">
                <a:solidFill>
                  <a:schemeClr val="tx1">
                    <a:lumMod val="75000"/>
                  </a:schemeClr>
                </a:solidFill>
                <a:effectLst/>
                <a:latin typeface="Consolas" panose="020B0609020204030204" pitchFamily="49" charset="0"/>
              </a:rPr>
              <a:t>loss.backward</a:t>
            </a:r>
            <a:r>
              <a:rPr lang="en-US" b="0" dirty="0">
                <a:solidFill>
                  <a:schemeClr val="tx1">
                    <a:lumMod val="75000"/>
                  </a:schemeClr>
                </a:solidFill>
                <a:effectLst/>
                <a:latin typeface="Consolas" panose="020B0609020204030204" pitchFamily="49" charset="0"/>
              </a:rPr>
              <a:t>()</a:t>
            </a:r>
          </a:p>
          <a:p>
            <a:endParaRPr lang="en-US" b="0" dirty="0">
              <a:solidFill>
                <a:schemeClr val="tx1">
                  <a:lumMod val="75000"/>
                </a:schemeClr>
              </a:solidFill>
              <a:effectLst/>
              <a:latin typeface="Consolas" panose="020B0609020204030204" pitchFamily="49" charset="0"/>
            </a:endParaRPr>
          </a:p>
          <a:p>
            <a:r>
              <a:rPr lang="en-US" b="0" dirty="0">
                <a:solidFill>
                  <a:schemeClr val="tx1">
                    <a:lumMod val="75000"/>
                  </a:schemeClr>
                </a:solidFill>
                <a:effectLst/>
                <a:latin typeface="Consolas" panose="020B0609020204030204" pitchFamily="49" charset="0"/>
              </a:rPr>
              <a:t> </a:t>
            </a:r>
            <a:r>
              <a:rPr lang="en-US" b="0" dirty="0" err="1">
                <a:solidFill>
                  <a:schemeClr val="tx1">
                    <a:lumMod val="75000"/>
                  </a:schemeClr>
                </a:solidFill>
                <a:effectLst/>
                <a:latin typeface="Consolas" panose="020B0609020204030204" pitchFamily="49" charset="0"/>
              </a:rPr>
              <a:t>optimizer.step</a:t>
            </a:r>
            <a:r>
              <a:rPr lang="en-US" b="0" dirty="0">
                <a:solidFill>
                  <a:schemeClr val="tx1">
                    <a:lumMod val="75000"/>
                  </a:schemeClr>
                </a:solidFill>
                <a:effectLst/>
                <a:latin typeface="Consolas" panose="020B0609020204030204" pitchFamily="49" charset="0"/>
              </a:rPr>
              <a:t>()</a:t>
            </a:r>
          </a:p>
        </p:txBody>
      </p:sp>
      <p:sp>
        <p:nvSpPr>
          <p:cNvPr id="3" name="Rectangle 2">
            <a:extLst>
              <a:ext uri="{FF2B5EF4-FFF2-40B4-BE49-F238E27FC236}">
                <a16:creationId xmlns:a16="http://schemas.microsoft.com/office/drawing/2014/main" id="{AF19B87B-B84D-2F72-DAFD-4866F98990B8}"/>
              </a:ext>
            </a:extLst>
          </p:cNvPr>
          <p:cNvSpPr/>
          <p:nvPr/>
        </p:nvSpPr>
        <p:spPr>
          <a:xfrm>
            <a:off x="1827212" y="3665808"/>
            <a:ext cx="5257800" cy="3810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AFA4ECD-17E5-8DFD-C600-CB90BF10CE17}"/>
              </a:ext>
            </a:extLst>
          </p:cNvPr>
          <p:cNvSpPr/>
          <p:nvPr/>
        </p:nvSpPr>
        <p:spPr>
          <a:xfrm>
            <a:off x="7313612" y="2148916"/>
            <a:ext cx="4419600" cy="36568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t>1. Compute the output</a:t>
            </a:r>
          </a:p>
        </p:txBody>
      </p:sp>
      <p:sp>
        <p:nvSpPr>
          <p:cNvPr id="7" name="Rectangle 6">
            <a:extLst>
              <a:ext uri="{FF2B5EF4-FFF2-40B4-BE49-F238E27FC236}">
                <a16:creationId xmlns:a16="http://schemas.microsoft.com/office/drawing/2014/main" id="{911F0788-430F-F9E0-3EB3-FC66B748CAF8}"/>
              </a:ext>
            </a:extLst>
          </p:cNvPr>
          <p:cNvSpPr/>
          <p:nvPr/>
        </p:nvSpPr>
        <p:spPr>
          <a:xfrm>
            <a:off x="7313612" y="2590800"/>
            <a:ext cx="4419600" cy="1143001"/>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Compute the output of the model (given an input). The output variable is a tensor, that has the entire computation graph linked. </a:t>
            </a:r>
          </a:p>
        </p:txBody>
      </p:sp>
      <p:grpSp>
        <p:nvGrpSpPr>
          <p:cNvPr id="11" name="Group 10">
            <a:extLst>
              <a:ext uri="{FF2B5EF4-FFF2-40B4-BE49-F238E27FC236}">
                <a16:creationId xmlns:a16="http://schemas.microsoft.com/office/drawing/2014/main" id="{191D0C4C-5151-191D-103A-1F6157D59596}"/>
              </a:ext>
            </a:extLst>
          </p:cNvPr>
          <p:cNvGrpSpPr/>
          <p:nvPr/>
        </p:nvGrpSpPr>
        <p:grpSpPr>
          <a:xfrm>
            <a:off x="7482634" y="4038601"/>
            <a:ext cx="4081556" cy="1109633"/>
            <a:chOff x="3549238" y="5466323"/>
            <a:chExt cx="5515205" cy="1449987"/>
          </a:xfrm>
        </p:grpSpPr>
        <p:grpSp>
          <p:nvGrpSpPr>
            <p:cNvPr id="12" name="Group 11">
              <a:extLst>
                <a:ext uri="{FF2B5EF4-FFF2-40B4-BE49-F238E27FC236}">
                  <a16:creationId xmlns:a16="http://schemas.microsoft.com/office/drawing/2014/main" id="{C238BEC5-161D-8A8B-041B-42ED390FBB30}"/>
                </a:ext>
              </a:extLst>
            </p:cNvPr>
            <p:cNvGrpSpPr/>
            <p:nvPr/>
          </p:nvGrpSpPr>
          <p:grpSpPr>
            <a:xfrm>
              <a:off x="3549238" y="5466323"/>
              <a:ext cx="5515205" cy="1122861"/>
              <a:chOff x="3549238" y="5466323"/>
              <a:chExt cx="5515205" cy="1122861"/>
            </a:xfrm>
          </p:grpSpPr>
          <p:sp>
            <p:nvSpPr>
              <p:cNvPr id="14" name="Oval 13">
                <a:extLst>
                  <a:ext uri="{FF2B5EF4-FFF2-40B4-BE49-F238E27FC236}">
                    <a16:creationId xmlns:a16="http://schemas.microsoft.com/office/drawing/2014/main" id="{66784AC8-A746-FDF1-EB24-D40FF10E7A8C}"/>
                  </a:ext>
                </a:extLst>
              </p:cNvPr>
              <p:cNvSpPr/>
              <p:nvPr/>
            </p:nvSpPr>
            <p:spPr>
              <a:xfrm>
                <a:off x="3549238" y="5470719"/>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0105C29-7D5B-D65D-43BE-17CFA1D18645}"/>
                  </a:ext>
                </a:extLst>
              </p:cNvPr>
              <p:cNvSpPr/>
              <p:nvPr/>
            </p:nvSpPr>
            <p:spPr>
              <a:xfrm>
                <a:off x="4064515" y="5470719"/>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BCDD190-CAE6-5533-C16C-A3061F041AA6}"/>
                  </a:ext>
                </a:extLst>
              </p:cNvPr>
              <p:cNvSpPr/>
              <p:nvPr/>
            </p:nvSpPr>
            <p:spPr>
              <a:xfrm>
                <a:off x="4631686" y="5466323"/>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447A85B-2231-1FEF-2FE1-B101CF240FF8}"/>
                  </a:ext>
                </a:extLst>
              </p:cNvPr>
              <p:cNvSpPr/>
              <p:nvPr/>
            </p:nvSpPr>
            <p:spPr>
              <a:xfrm>
                <a:off x="5251903" y="5466323"/>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ABA9E81C-0738-3011-376C-8620CC46AC23}"/>
                  </a:ext>
                </a:extLst>
              </p:cNvPr>
              <p:cNvCxnSpPr>
                <a:stCxn id="14" idx="6"/>
                <a:endCxn id="15" idx="3"/>
              </p:cNvCxnSpPr>
              <p:nvPr/>
            </p:nvCxnSpPr>
            <p:spPr>
              <a:xfrm>
                <a:off x="3803331" y="5592860"/>
                <a:ext cx="2611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871AD736-D28A-B9D9-8C34-573051629B39}"/>
                  </a:ext>
                </a:extLst>
              </p:cNvPr>
              <p:cNvCxnSpPr>
                <a:stCxn id="15" idx="6"/>
                <a:endCxn id="16" idx="2"/>
              </p:cNvCxnSpPr>
              <p:nvPr/>
            </p:nvCxnSpPr>
            <p:spPr>
              <a:xfrm flipV="1">
                <a:off x="4318608" y="5588464"/>
                <a:ext cx="313078" cy="4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BB987012-2F10-043D-467E-E25B20D8AB56}"/>
                  </a:ext>
                </a:extLst>
              </p:cNvPr>
              <p:cNvCxnSpPr>
                <a:stCxn id="16" idx="6"/>
                <a:endCxn id="17" idx="2"/>
              </p:cNvCxnSpPr>
              <p:nvPr/>
            </p:nvCxnSpPr>
            <p:spPr>
              <a:xfrm>
                <a:off x="4885779" y="5588464"/>
                <a:ext cx="3661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Oval 20">
                <a:extLst>
                  <a:ext uri="{FF2B5EF4-FFF2-40B4-BE49-F238E27FC236}">
                    <a16:creationId xmlns:a16="http://schemas.microsoft.com/office/drawing/2014/main" id="{1689F624-40D9-37FA-59FC-C6B3AB857D52}"/>
                  </a:ext>
                </a:extLst>
              </p:cNvPr>
              <p:cNvSpPr/>
              <p:nvPr/>
            </p:nvSpPr>
            <p:spPr>
              <a:xfrm>
                <a:off x="4646612" y="5940851"/>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D8EFF79-D379-0C4B-D0E7-4E0ABCC71F84}"/>
                  </a:ext>
                </a:extLst>
              </p:cNvPr>
              <p:cNvSpPr/>
              <p:nvPr/>
            </p:nvSpPr>
            <p:spPr>
              <a:xfrm>
                <a:off x="5266829" y="5940851"/>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E9F477B3-33D1-9426-CE02-ED1311950829}"/>
                  </a:ext>
                </a:extLst>
              </p:cNvPr>
              <p:cNvCxnSpPr>
                <a:stCxn id="21" idx="6"/>
                <a:endCxn id="22" idx="2"/>
              </p:cNvCxnSpPr>
              <p:nvPr/>
            </p:nvCxnSpPr>
            <p:spPr>
              <a:xfrm>
                <a:off x="4900705" y="6062992"/>
                <a:ext cx="3661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Oval 23">
                <a:extLst>
                  <a:ext uri="{FF2B5EF4-FFF2-40B4-BE49-F238E27FC236}">
                    <a16:creationId xmlns:a16="http://schemas.microsoft.com/office/drawing/2014/main" id="{63769FAC-E0CC-15E7-D9EE-BAF3137E2681}"/>
                  </a:ext>
                </a:extLst>
              </p:cNvPr>
              <p:cNvSpPr/>
              <p:nvPr/>
            </p:nvSpPr>
            <p:spPr>
              <a:xfrm>
                <a:off x="5872120" y="5678383"/>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3B59D9E-D16C-B9F3-172C-A9362475E6AC}"/>
                  </a:ext>
                </a:extLst>
              </p:cNvPr>
              <p:cNvSpPr/>
              <p:nvPr/>
            </p:nvSpPr>
            <p:spPr>
              <a:xfrm>
                <a:off x="6492337" y="5678383"/>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2BCA4B63-E8D8-1709-F3A9-F036ED77D85B}"/>
                  </a:ext>
                </a:extLst>
              </p:cNvPr>
              <p:cNvCxnSpPr>
                <a:stCxn id="24" idx="6"/>
                <a:endCxn id="25" idx="2"/>
              </p:cNvCxnSpPr>
              <p:nvPr/>
            </p:nvCxnSpPr>
            <p:spPr>
              <a:xfrm>
                <a:off x="6126213" y="5800524"/>
                <a:ext cx="3661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F6174712-4F79-A417-8AD0-247ED11BF005}"/>
                  </a:ext>
                </a:extLst>
              </p:cNvPr>
              <p:cNvCxnSpPr>
                <a:stCxn id="17" idx="6"/>
                <a:endCxn id="24" idx="2"/>
              </p:cNvCxnSpPr>
              <p:nvPr/>
            </p:nvCxnSpPr>
            <p:spPr>
              <a:xfrm>
                <a:off x="5505996" y="5588464"/>
                <a:ext cx="366124" cy="2120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50E47847-143E-B34A-36CB-1E79B87189A7}"/>
                  </a:ext>
                </a:extLst>
              </p:cNvPr>
              <p:cNvCxnSpPr>
                <a:stCxn id="22" idx="6"/>
                <a:endCxn id="24" idx="2"/>
              </p:cNvCxnSpPr>
              <p:nvPr/>
            </p:nvCxnSpPr>
            <p:spPr>
              <a:xfrm flipV="1">
                <a:off x="5520922" y="5800524"/>
                <a:ext cx="351198" cy="2624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Oval 28">
                <a:extLst>
                  <a:ext uri="{FF2B5EF4-FFF2-40B4-BE49-F238E27FC236}">
                    <a16:creationId xmlns:a16="http://schemas.microsoft.com/office/drawing/2014/main" id="{6D6BF9DA-0E9E-F39C-B192-33A716750ECB}"/>
                  </a:ext>
                </a:extLst>
              </p:cNvPr>
              <p:cNvSpPr/>
              <p:nvPr/>
            </p:nvSpPr>
            <p:spPr>
              <a:xfrm>
                <a:off x="4786366" y="6344903"/>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4CEACBA-B20D-A4FA-DCE5-CA187B2CC89F}"/>
                  </a:ext>
                </a:extLst>
              </p:cNvPr>
              <p:cNvSpPr/>
              <p:nvPr/>
            </p:nvSpPr>
            <p:spPr>
              <a:xfrm>
                <a:off x="5301643" y="6344903"/>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0FC6452C-0239-A0E9-CC44-4B314E040CA5}"/>
                  </a:ext>
                </a:extLst>
              </p:cNvPr>
              <p:cNvSpPr/>
              <p:nvPr/>
            </p:nvSpPr>
            <p:spPr>
              <a:xfrm>
                <a:off x="5868814" y="6340507"/>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25D970AD-6965-5945-C6B1-C0BBC9083F02}"/>
                  </a:ext>
                </a:extLst>
              </p:cNvPr>
              <p:cNvSpPr/>
              <p:nvPr/>
            </p:nvSpPr>
            <p:spPr>
              <a:xfrm>
                <a:off x="6489031" y="6340507"/>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a:extLst>
                  <a:ext uri="{FF2B5EF4-FFF2-40B4-BE49-F238E27FC236}">
                    <a16:creationId xmlns:a16="http://schemas.microsoft.com/office/drawing/2014/main" id="{F3A17166-EEFD-11EB-BC00-04EA7FA6C841}"/>
                  </a:ext>
                </a:extLst>
              </p:cNvPr>
              <p:cNvCxnSpPr>
                <a:stCxn id="29" idx="6"/>
                <a:endCxn id="30" idx="3"/>
              </p:cNvCxnSpPr>
              <p:nvPr/>
            </p:nvCxnSpPr>
            <p:spPr>
              <a:xfrm>
                <a:off x="5040459" y="6467044"/>
                <a:ext cx="2611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E6606EA9-137D-F8D8-5776-6277363351FF}"/>
                  </a:ext>
                </a:extLst>
              </p:cNvPr>
              <p:cNvCxnSpPr>
                <a:stCxn id="30" idx="6"/>
                <a:endCxn id="31" idx="2"/>
              </p:cNvCxnSpPr>
              <p:nvPr/>
            </p:nvCxnSpPr>
            <p:spPr>
              <a:xfrm flipV="1">
                <a:off x="5555736" y="6462648"/>
                <a:ext cx="313078" cy="4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B023E7C1-B808-E83E-B6FD-512F10540EE5}"/>
                  </a:ext>
                </a:extLst>
              </p:cNvPr>
              <p:cNvCxnSpPr>
                <a:stCxn id="31" idx="6"/>
                <a:endCxn id="32" idx="2"/>
              </p:cNvCxnSpPr>
              <p:nvPr/>
            </p:nvCxnSpPr>
            <p:spPr>
              <a:xfrm>
                <a:off x="6122907" y="6462648"/>
                <a:ext cx="3661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Oval 35">
                <a:extLst>
                  <a:ext uri="{FF2B5EF4-FFF2-40B4-BE49-F238E27FC236}">
                    <a16:creationId xmlns:a16="http://schemas.microsoft.com/office/drawing/2014/main" id="{A2E1A27A-06B6-5B0D-FB49-C8CE824327BF}"/>
                  </a:ext>
                </a:extLst>
              </p:cNvPr>
              <p:cNvSpPr/>
              <p:nvPr/>
            </p:nvSpPr>
            <p:spPr>
              <a:xfrm>
                <a:off x="7107685" y="5686648"/>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1F263769-FF7A-05C8-ED15-C393627CFB94}"/>
                  </a:ext>
                </a:extLst>
              </p:cNvPr>
              <p:cNvSpPr/>
              <p:nvPr/>
            </p:nvSpPr>
            <p:spPr>
              <a:xfrm>
                <a:off x="7622962" y="5686648"/>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80E19F12-38AF-5D96-97B9-112059B6F0C5}"/>
                  </a:ext>
                </a:extLst>
              </p:cNvPr>
              <p:cNvSpPr/>
              <p:nvPr/>
            </p:nvSpPr>
            <p:spPr>
              <a:xfrm>
                <a:off x="8190133" y="5682252"/>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3167B5DD-CA65-99F1-ED5E-251515FB2F71}"/>
                  </a:ext>
                </a:extLst>
              </p:cNvPr>
              <p:cNvSpPr/>
              <p:nvPr/>
            </p:nvSpPr>
            <p:spPr>
              <a:xfrm>
                <a:off x="8810350" y="5682252"/>
                <a:ext cx="254093" cy="2442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ADB059DF-D5FB-DC1A-0DD9-DEFC21F88152}"/>
                  </a:ext>
                </a:extLst>
              </p:cNvPr>
              <p:cNvCxnSpPr>
                <a:stCxn id="36" idx="6"/>
                <a:endCxn id="37" idx="3"/>
              </p:cNvCxnSpPr>
              <p:nvPr/>
            </p:nvCxnSpPr>
            <p:spPr>
              <a:xfrm>
                <a:off x="7361778" y="5808789"/>
                <a:ext cx="2611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69BF77BD-45CE-3BBD-8767-EBED90A8BCA6}"/>
                  </a:ext>
                </a:extLst>
              </p:cNvPr>
              <p:cNvCxnSpPr>
                <a:stCxn id="37" idx="6"/>
                <a:endCxn id="38" idx="2"/>
              </p:cNvCxnSpPr>
              <p:nvPr/>
            </p:nvCxnSpPr>
            <p:spPr>
              <a:xfrm flipV="1">
                <a:off x="7877055" y="5804393"/>
                <a:ext cx="313078" cy="4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4496A281-DB4D-D14E-BC9D-07E912DDC05D}"/>
                  </a:ext>
                </a:extLst>
              </p:cNvPr>
              <p:cNvCxnSpPr>
                <a:stCxn id="38" idx="6"/>
                <a:endCxn id="39" idx="2"/>
              </p:cNvCxnSpPr>
              <p:nvPr/>
            </p:nvCxnSpPr>
            <p:spPr>
              <a:xfrm>
                <a:off x="8444226" y="5804393"/>
                <a:ext cx="3661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8E5A35CB-7FE9-72A7-A178-28F9438FF308}"/>
                  </a:ext>
                </a:extLst>
              </p:cNvPr>
              <p:cNvCxnSpPr>
                <a:stCxn id="25" idx="6"/>
                <a:endCxn id="36" idx="2"/>
              </p:cNvCxnSpPr>
              <p:nvPr/>
            </p:nvCxnSpPr>
            <p:spPr>
              <a:xfrm>
                <a:off x="6746430" y="5800524"/>
                <a:ext cx="361255" cy="82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FBC78540-BCCB-216C-3EDB-76F7F4B74BFF}"/>
                  </a:ext>
                </a:extLst>
              </p:cNvPr>
              <p:cNvCxnSpPr>
                <a:stCxn id="32" idx="6"/>
                <a:endCxn id="37" idx="3"/>
              </p:cNvCxnSpPr>
              <p:nvPr/>
            </p:nvCxnSpPr>
            <p:spPr>
              <a:xfrm flipV="1">
                <a:off x="6743124" y="5895155"/>
                <a:ext cx="917049" cy="5674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3" name="TextBox 12">
              <a:extLst>
                <a:ext uri="{FF2B5EF4-FFF2-40B4-BE49-F238E27FC236}">
                  <a16:creationId xmlns:a16="http://schemas.microsoft.com/office/drawing/2014/main" id="{28BE6C25-C55E-2666-2794-AA20043E91D8}"/>
                </a:ext>
              </a:extLst>
            </p:cNvPr>
            <p:cNvSpPr txBox="1"/>
            <p:nvPr/>
          </p:nvSpPr>
          <p:spPr>
            <a:xfrm>
              <a:off x="3948930" y="6562856"/>
              <a:ext cx="4417217" cy="353454"/>
            </a:xfrm>
            <a:prstGeom prst="rect">
              <a:avLst/>
            </a:prstGeom>
            <a:noFill/>
          </p:spPr>
          <p:txBody>
            <a:bodyPr wrap="square" rtlCol="0">
              <a:spAutoFit/>
            </a:bodyPr>
            <a:lstStyle/>
            <a:p>
              <a:pPr algn="ctr"/>
              <a:r>
                <a:rPr lang="en-US" sz="1100" b="1" dirty="0">
                  <a:latin typeface="Arial" panose="020B0604020202020204" pitchFamily="34" charset="0"/>
                  <a:cs typeface="Arial" panose="020B0604020202020204" pitchFamily="34" charset="0"/>
                </a:rPr>
                <a:t>Dynamically built computational graph</a:t>
              </a:r>
            </a:p>
          </p:txBody>
        </p:sp>
      </p:grpSp>
    </p:spTree>
    <p:extLst>
      <p:ext uri="{BB962C8B-B14F-4D97-AF65-F5344CB8AC3E}">
        <p14:creationId xmlns:p14="http://schemas.microsoft.com/office/powerpoint/2010/main" val="40922043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Let’s see how this flow looks like in </a:t>
            </a: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3B7140B8-DEFB-A280-C449-92C34E41D5B1}"/>
              </a:ext>
            </a:extLst>
          </p:cNvPr>
          <p:cNvSpPr/>
          <p:nvPr/>
        </p:nvSpPr>
        <p:spPr>
          <a:xfrm>
            <a:off x="1751012" y="2133600"/>
            <a:ext cx="5410200" cy="4343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229977"/>
                </a:solidFill>
                <a:effectLst/>
                <a:latin typeface="Consolas" panose="020B0609020204030204" pitchFamily="49" charset="0"/>
              </a:rPr>
              <a:t> </a:t>
            </a:r>
            <a:r>
              <a:rPr lang="en-US" b="0" dirty="0" err="1">
                <a:solidFill>
                  <a:srgbClr val="229977"/>
                </a:solidFill>
                <a:effectLst/>
                <a:latin typeface="Consolas" panose="020B0609020204030204" pitchFamily="49" charset="0"/>
              </a:rPr>
              <a:t>all_weights</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model</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parameters</a:t>
            </a:r>
            <a:r>
              <a:rPr lang="en-US" b="0" dirty="0">
                <a:solidFill>
                  <a:srgbClr val="B4B4B4"/>
                </a:solidFill>
                <a:effectLst/>
                <a:latin typeface="Consolas" panose="020B0609020204030204" pitchFamily="49" charset="0"/>
              </a:rPr>
              <a:t>()</a:t>
            </a:r>
            <a:endParaRPr lang="en-US" b="0" dirty="0">
              <a:solidFill>
                <a:srgbClr val="229977"/>
              </a:solidFill>
              <a:effectLst/>
              <a:latin typeface="Consolas" panose="020B0609020204030204" pitchFamily="49" charset="0"/>
            </a:endParaRPr>
          </a:p>
          <a:p>
            <a:r>
              <a:rPr lang="en-US" b="0" dirty="0">
                <a:solidFill>
                  <a:srgbClr val="229977"/>
                </a:solidFill>
                <a:effectLst/>
                <a:latin typeface="Consolas" panose="020B0609020204030204" pitchFamily="49" charset="0"/>
              </a:rPr>
              <a:t> optimizer</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optim</a:t>
            </a:r>
            <a:r>
              <a:rPr lang="en-US" b="0" dirty="0">
                <a:solidFill>
                  <a:srgbClr val="B4B4B4"/>
                </a:solidFill>
                <a:effectLst/>
                <a:latin typeface="Consolas" panose="020B0609020204030204" pitchFamily="49" charset="0"/>
              </a:rPr>
              <a:t>.</a:t>
            </a:r>
            <a:r>
              <a:rPr lang="en-US" b="1" i="1" dirty="0">
                <a:solidFill>
                  <a:srgbClr val="00B0F0"/>
                </a:solidFill>
                <a:effectLst/>
                <a:latin typeface="Consolas" panose="020B0609020204030204" pitchFamily="49" charset="0"/>
              </a:rPr>
              <a:t>&lt;Name&gt;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all_weights</a:t>
            </a:r>
            <a:r>
              <a:rPr lang="en-US" b="0" dirty="0">
                <a:solidFill>
                  <a:srgbClr val="229977"/>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endParaRPr lang="en-US" b="0" dirty="0">
              <a:solidFill>
                <a:srgbClr val="229977"/>
              </a:solidFill>
              <a:effectLst/>
              <a:latin typeface="Consolas" panose="020B0609020204030204" pitchFamily="49" charset="0"/>
            </a:endParaRPr>
          </a:p>
          <a:p>
            <a:endParaRPr lang="en-US" dirty="0">
              <a:solidFill>
                <a:srgbClr val="229977"/>
              </a:solidFill>
              <a:latin typeface="Consolas" panose="020B0609020204030204" pitchFamily="49" charset="0"/>
            </a:endParaRPr>
          </a:p>
          <a:p>
            <a:r>
              <a:rPr lang="en-US" b="0" dirty="0">
                <a:solidFill>
                  <a:srgbClr val="229977"/>
                </a:solidFill>
                <a:effectLst/>
                <a:latin typeface="Consolas" panose="020B0609020204030204" pitchFamily="49" charset="0"/>
              </a:rPr>
              <a:t> output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model</a:t>
            </a:r>
            <a:r>
              <a:rPr lang="en-US" b="0" dirty="0">
                <a:solidFill>
                  <a:srgbClr val="B4B4B4"/>
                </a:solidFill>
                <a:effectLst/>
                <a:latin typeface="Consolas" panose="020B0609020204030204" pitchFamily="49" charset="0"/>
              </a:rPr>
              <a:t>(</a:t>
            </a:r>
            <a:r>
              <a:rPr lang="en-US" b="0" dirty="0">
                <a:solidFill>
                  <a:srgbClr val="A7A774"/>
                </a:solidFill>
                <a:effectLst/>
                <a:latin typeface="Consolas" panose="020B0609020204030204" pitchFamily="49" charset="0"/>
              </a:rPr>
              <a:t>input</a:t>
            </a:r>
            <a:r>
              <a:rPr lang="en-US" b="0" dirty="0">
                <a:solidFill>
                  <a:srgbClr val="B4B4B4"/>
                </a:solidFill>
                <a:effectLst/>
                <a:latin typeface="Consolas" panose="020B0609020204030204" pitchFamily="49" charset="0"/>
              </a:rPr>
              <a:t>)</a:t>
            </a:r>
          </a:p>
          <a:p>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 loss</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loss_function</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output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expected</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endParaRPr lang="en-US" b="0" dirty="0">
              <a:solidFill>
                <a:srgbClr val="DADADA"/>
              </a:solidFill>
              <a:effectLst/>
              <a:latin typeface="Consolas" panose="020B0609020204030204" pitchFamily="49" charset="0"/>
            </a:endParaRPr>
          </a:p>
          <a:p>
            <a:r>
              <a:rPr lang="en-US" b="0" dirty="0">
                <a:solidFill>
                  <a:schemeClr val="tx2"/>
                </a:solidFill>
                <a:effectLst/>
                <a:latin typeface="Consolas" panose="020B0609020204030204" pitchFamily="49" charset="0"/>
              </a:rPr>
              <a:t> </a:t>
            </a:r>
            <a:r>
              <a:rPr lang="en-US" b="0" dirty="0" err="1">
                <a:solidFill>
                  <a:schemeClr val="tx1">
                    <a:lumMod val="75000"/>
                  </a:schemeClr>
                </a:solidFill>
                <a:effectLst/>
                <a:latin typeface="Consolas" panose="020B0609020204030204" pitchFamily="49" charset="0"/>
              </a:rPr>
              <a:t>optimizer.zero_grad</a:t>
            </a:r>
            <a:r>
              <a:rPr lang="en-US" b="0" dirty="0">
                <a:solidFill>
                  <a:schemeClr val="tx1">
                    <a:lumMod val="75000"/>
                  </a:schemeClr>
                </a:solidFill>
                <a:effectLst/>
                <a:latin typeface="Consolas" panose="020B0609020204030204" pitchFamily="49" charset="0"/>
              </a:rPr>
              <a:t>()</a:t>
            </a:r>
          </a:p>
          <a:p>
            <a:r>
              <a:rPr lang="en-US" dirty="0">
                <a:solidFill>
                  <a:schemeClr val="tx1">
                    <a:lumMod val="75000"/>
                  </a:schemeClr>
                </a:solidFill>
                <a:latin typeface="Consolas" panose="020B0609020204030204" pitchFamily="49" charset="0"/>
              </a:rPr>
              <a:t> </a:t>
            </a:r>
            <a:r>
              <a:rPr lang="en-US" b="0" dirty="0" err="1">
                <a:solidFill>
                  <a:schemeClr val="tx1">
                    <a:lumMod val="75000"/>
                  </a:schemeClr>
                </a:solidFill>
                <a:effectLst/>
                <a:latin typeface="Consolas" panose="020B0609020204030204" pitchFamily="49" charset="0"/>
              </a:rPr>
              <a:t>loss.backward</a:t>
            </a:r>
            <a:r>
              <a:rPr lang="en-US" b="0" dirty="0">
                <a:solidFill>
                  <a:schemeClr val="tx1">
                    <a:lumMod val="75000"/>
                  </a:schemeClr>
                </a:solidFill>
                <a:effectLst/>
                <a:latin typeface="Consolas" panose="020B0609020204030204" pitchFamily="49" charset="0"/>
              </a:rPr>
              <a:t>()</a:t>
            </a:r>
          </a:p>
          <a:p>
            <a:endParaRPr lang="en-US" b="0" dirty="0">
              <a:solidFill>
                <a:schemeClr val="tx1">
                  <a:lumMod val="75000"/>
                </a:schemeClr>
              </a:solidFill>
              <a:effectLst/>
              <a:latin typeface="Consolas" panose="020B0609020204030204" pitchFamily="49" charset="0"/>
            </a:endParaRPr>
          </a:p>
          <a:p>
            <a:r>
              <a:rPr lang="en-US" b="0" dirty="0">
                <a:solidFill>
                  <a:schemeClr val="tx1">
                    <a:lumMod val="75000"/>
                  </a:schemeClr>
                </a:solidFill>
                <a:effectLst/>
                <a:latin typeface="Consolas" panose="020B0609020204030204" pitchFamily="49" charset="0"/>
              </a:rPr>
              <a:t> </a:t>
            </a:r>
            <a:r>
              <a:rPr lang="en-US" b="0" dirty="0" err="1">
                <a:solidFill>
                  <a:schemeClr val="tx1">
                    <a:lumMod val="75000"/>
                  </a:schemeClr>
                </a:solidFill>
                <a:effectLst/>
                <a:latin typeface="Consolas" panose="020B0609020204030204" pitchFamily="49" charset="0"/>
              </a:rPr>
              <a:t>optimizer.step</a:t>
            </a:r>
            <a:r>
              <a:rPr lang="en-US" b="0" dirty="0">
                <a:solidFill>
                  <a:schemeClr val="tx1">
                    <a:lumMod val="75000"/>
                  </a:schemeClr>
                </a:solidFill>
                <a:effectLst/>
                <a:latin typeface="Consolas" panose="020B0609020204030204" pitchFamily="49" charset="0"/>
              </a:rPr>
              <a:t>()</a:t>
            </a:r>
          </a:p>
          <a:p>
            <a:endParaRPr lang="en-US" b="0" dirty="0">
              <a:solidFill>
                <a:srgbClr val="DADADA"/>
              </a:solidFill>
              <a:effectLst/>
              <a:latin typeface="Consolas" panose="020B0609020204030204" pitchFamily="49" charset="0"/>
            </a:endParaRPr>
          </a:p>
        </p:txBody>
      </p:sp>
      <p:sp>
        <p:nvSpPr>
          <p:cNvPr id="3" name="Rectangle 2">
            <a:extLst>
              <a:ext uri="{FF2B5EF4-FFF2-40B4-BE49-F238E27FC236}">
                <a16:creationId xmlns:a16="http://schemas.microsoft.com/office/drawing/2014/main" id="{AF19B87B-B84D-2F72-DAFD-4866F98990B8}"/>
              </a:ext>
            </a:extLst>
          </p:cNvPr>
          <p:cNvSpPr/>
          <p:nvPr/>
        </p:nvSpPr>
        <p:spPr>
          <a:xfrm>
            <a:off x="1827212" y="4114800"/>
            <a:ext cx="5257800" cy="3810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AFA4ECD-17E5-8DFD-C600-CB90BF10CE17}"/>
              </a:ext>
            </a:extLst>
          </p:cNvPr>
          <p:cNvSpPr/>
          <p:nvPr/>
        </p:nvSpPr>
        <p:spPr>
          <a:xfrm>
            <a:off x="7313612" y="2148916"/>
            <a:ext cx="4419600" cy="36568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t>2. Compute the loss</a:t>
            </a:r>
          </a:p>
        </p:txBody>
      </p:sp>
      <p:sp>
        <p:nvSpPr>
          <p:cNvPr id="7" name="Rectangle 6">
            <a:extLst>
              <a:ext uri="{FF2B5EF4-FFF2-40B4-BE49-F238E27FC236}">
                <a16:creationId xmlns:a16="http://schemas.microsoft.com/office/drawing/2014/main" id="{911F0788-430F-F9E0-3EB3-FC66B748CAF8}"/>
              </a:ext>
            </a:extLst>
          </p:cNvPr>
          <p:cNvSpPr/>
          <p:nvPr/>
        </p:nvSpPr>
        <p:spPr>
          <a:xfrm>
            <a:off x="7313612" y="2590800"/>
            <a:ext cx="4419600" cy="1143001"/>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Compute the loss using the output from the previous step and the expected value for the input that was used to obtain the output.</a:t>
            </a:r>
          </a:p>
        </p:txBody>
      </p:sp>
    </p:spTree>
    <p:extLst>
      <p:ext uri="{BB962C8B-B14F-4D97-AF65-F5344CB8AC3E}">
        <p14:creationId xmlns:p14="http://schemas.microsoft.com/office/powerpoint/2010/main" val="815112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751012"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Let’s see how this flow looks like in </a:t>
            </a: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3B7140B8-DEFB-A280-C449-92C34E41D5B1}"/>
              </a:ext>
            </a:extLst>
          </p:cNvPr>
          <p:cNvSpPr/>
          <p:nvPr/>
        </p:nvSpPr>
        <p:spPr>
          <a:xfrm>
            <a:off x="1751012" y="2133600"/>
            <a:ext cx="5410200" cy="4343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229977"/>
                </a:solidFill>
                <a:effectLst/>
                <a:latin typeface="Consolas" panose="020B0609020204030204" pitchFamily="49" charset="0"/>
              </a:rPr>
              <a:t> </a:t>
            </a:r>
            <a:r>
              <a:rPr lang="en-US" b="0" dirty="0" err="1">
                <a:solidFill>
                  <a:srgbClr val="229977"/>
                </a:solidFill>
                <a:effectLst/>
                <a:latin typeface="Consolas" panose="020B0609020204030204" pitchFamily="49" charset="0"/>
              </a:rPr>
              <a:t>all_weights</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model</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parameters</a:t>
            </a:r>
            <a:r>
              <a:rPr lang="en-US" b="0" dirty="0">
                <a:solidFill>
                  <a:srgbClr val="B4B4B4"/>
                </a:solidFill>
                <a:effectLst/>
                <a:latin typeface="Consolas" panose="020B0609020204030204" pitchFamily="49" charset="0"/>
              </a:rPr>
              <a:t>()</a:t>
            </a:r>
            <a:endParaRPr lang="en-US" b="0" dirty="0">
              <a:solidFill>
                <a:srgbClr val="229977"/>
              </a:solidFill>
              <a:effectLst/>
              <a:latin typeface="Consolas" panose="020B0609020204030204" pitchFamily="49" charset="0"/>
            </a:endParaRPr>
          </a:p>
          <a:p>
            <a:r>
              <a:rPr lang="en-US" b="0" dirty="0">
                <a:solidFill>
                  <a:srgbClr val="229977"/>
                </a:solidFill>
                <a:effectLst/>
                <a:latin typeface="Consolas" panose="020B0609020204030204" pitchFamily="49" charset="0"/>
              </a:rPr>
              <a:t> optimizer</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optim</a:t>
            </a:r>
            <a:r>
              <a:rPr lang="en-US" b="0" dirty="0">
                <a:solidFill>
                  <a:srgbClr val="B4B4B4"/>
                </a:solidFill>
                <a:effectLst/>
                <a:latin typeface="Consolas" panose="020B0609020204030204" pitchFamily="49" charset="0"/>
              </a:rPr>
              <a:t>.</a:t>
            </a:r>
            <a:r>
              <a:rPr lang="en-US" b="1" i="1" dirty="0">
                <a:solidFill>
                  <a:srgbClr val="00B0F0"/>
                </a:solidFill>
                <a:effectLst/>
                <a:latin typeface="Consolas" panose="020B0609020204030204" pitchFamily="49" charset="0"/>
              </a:rPr>
              <a:t>&lt;Name&gt;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all_weights</a:t>
            </a:r>
            <a:r>
              <a:rPr lang="en-US" b="0" dirty="0">
                <a:solidFill>
                  <a:srgbClr val="229977"/>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endParaRPr lang="en-US" b="0" dirty="0">
              <a:solidFill>
                <a:srgbClr val="229977"/>
              </a:solidFill>
              <a:effectLst/>
              <a:latin typeface="Consolas" panose="020B0609020204030204" pitchFamily="49" charset="0"/>
            </a:endParaRPr>
          </a:p>
          <a:p>
            <a:endParaRPr lang="en-US" dirty="0">
              <a:solidFill>
                <a:srgbClr val="229977"/>
              </a:solidFill>
              <a:latin typeface="Consolas" panose="020B0609020204030204" pitchFamily="49" charset="0"/>
            </a:endParaRPr>
          </a:p>
          <a:p>
            <a:r>
              <a:rPr lang="en-US" b="0" dirty="0">
                <a:solidFill>
                  <a:srgbClr val="229977"/>
                </a:solidFill>
                <a:effectLst/>
                <a:latin typeface="Consolas" panose="020B0609020204030204" pitchFamily="49" charset="0"/>
              </a:rPr>
              <a:t> output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model</a:t>
            </a:r>
            <a:r>
              <a:rPr lang="en-US" b="0" dirty="0">
                <a:solidFill>
                  <a:srgbClr val="B4B4B4"/>
                </a:solidFill>
                <a:effectLst/>
                <a:latin typeface="Consolas" panose="020B0609020204030204" pitchFamily="49" charset="0"/>
              </a:rPr>
              <a:t>(</a:t>
            </a:r>
            <a:r>
              <a:rPr lang="en-US" b="0" dirty="0">
                <a:solidFill>
                  <a:srgbClr val="A7A774"/>
                </a:solidFill>
                <a:effectLst/>
                <a:latin typeface="Consolas" panose="020B0609020204030204" pitchFamily="49" charset="0"/>
              </a:rPr>
              <a:t>input</a:t>
            </a:r>
            <a:r>
              <a:rPr lang="en-US" b="0" dirty="0">
                <a:solidFill>
                  <a:srgbClr val="B4B4B4"/>
                </a:solidFill>
                <a:effectLst/>
                <a:latin typeface="Consolas" panose="020B0609020204030204" pitchFamily="49" charset="0"/>
              </a:rPr>
              <a:t>)</a:t>
            </a:r>
          </a:p>
          <a:p>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 loss</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loss_function</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output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expected</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optimizer</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zero_grad</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dirty="0">
                <a:solidFill>
                  <a:srgbClr val="229977"/>
                </a:solidFill>
                <a:latin typeface="Consolas" panose="020B0609020204030204" pitchFamily="49" charset="0"/>
              </a:rPr>
              <a:t> </a:t>
            </a:r>
            <a:r>
              <a:rPr lang="en-US" b="0" dirty="0" err="1">
                <a:solidFill>
                  <a:srgbClr val="229977"/>
                </a:solidFill>
                <a:effectLst/>
                <a:latin typeface="Consolas" panose="020B0609020204030204" pitchFamily="49" charset="0"/>
              </a:rPr>
              <a:t>loss</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backward</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endParaRPr lang="en-US" b="0" dirty="0">
              <a:solidFill>
                <a:srgbClr val="DADADA"/>
              </a:solidFill>
              <a:effectLst/>
              <a:latin typeface="Consolas" panose="020B0609020204030204" pitchFamily="49" charset="0"/>
            </a:endParaRPr>
          </a:p>
          <a:p>
            <a:r>
              <a:rPr lang="en-US" b="0" dirty="0">
                <a:solidFill>
                  <a:schemeClr val="tx2"/>
                </a:solidFill>
                <a:effectLst/>
                <a:latin typeface="Consolas" panose="020B0609020204030204" pitchFamily="49" charset="0"/>
              </a:rPr>
              <a:t> </a:t>
            </a:r>
            <a:r>
              <a:rPr lang="en-US" b="0" dirty="0" err="1">
                <a:solidFill>
                  <a:schemeClr val="tx1">
                    <a:lumMod val="75000"/>
                  </a:schemeClr>
                </a:solidFill>
                <a:effectLst/>
                <a:latin typeface="Consolas" panose="020B0609020204030204" pitchFamily="49" charset="0"/>
              </a:rPr>
              <a:t>optimizer.step</a:t>
            </a:r>
            <a:r>
              <a:rPr lang="en-US" b="0" dirty="0">
                <a:solidFill>
                  <a:schemeClr val="tx1">
                    <a:lumMod val="75000"/>
                  </a:schemeClr>
                </a:solidFill>
                <a:effectLst/>
                <a:latin typeface="Consolas" panose="020B0609020204030204" pitchFamily="49" charset="0"/>
              </a:rPr>
              <a:t>()</a:t>
            </a:r>
          </a:p>
          <a:p>
            <a:endParaRPr lang="en-US" b="0" dirty="0">
              <a:solidFill>
                <a:srgbClr val="DADADA"/>
              </a:solidFill>
              <a:effectLst/>
              <a:latin typeface="Consolas" panose="020B0609020204030204" pitchFamily="49" charset="0"/>
            </a:endParaRPr>
          </a:p>
        </p:txBody>
      </p:sp>
      <p:sp>
        <p:nvSpPr>
          <p:cNvPr id="3" name="Rectangle 2">
            <a:extLst>
              <a:ext uri="{FF2B5EF4-FFF2-40B4-BE49-F238E27FC236}">
                <a16:creationId xmlns:a16="http://schemas.microsoft.com/office/drawing/2014/main" id="{AF19B87B-B84D-2F72-DAFD-4866F98990B8}"/>
              </a:ext>
            </a:extLst>
          </p:cNvPr>
          <p:cNvSpPr/>
          <p:nvPr/>
        </p:nvSpPr>
        <p:spPr>
          <a:xfrm>
            <a:off x="1827212" y="4563792"/>
            <a:ext cx="5257800" cy="6858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AFA4ECD-17E5-8DFD-C600-CB90BF10CE17}"/>
              </a:ext>
            </a:extLst>
          </p:cNvPr>
          <p:cNvSpPr/>
          <p:nvPr/>
        </p:nvSpPr>
        <p:spPr>
          <a:xfrm>
            <a:off x="7313612" y="2148916"/>
            <a:ext cx="4419600" cy="36568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t>3. Compute the delta gradients</a:t>
            </a:r>
          </a:p>
        </p:txBody>
      </p:sp>
      <p:sp>
        <p:nvSpPr>
          <p:cNvPr id="7" name="Rectangle 6">
            <a:extLst>
              <a:ext uri="{FF2B5EF4-FFF2-40B4-BE49-F238E27FC236}">
                <a16:creationId xmlns:a16="http://schemas.microsoft.com/office/drawing/2014/main" id="{911F0788-430F-F9E0-3EB3-FC66B748CAF8}"/>
              </a:ext>
            </a:extLst>
          </p:cNvPr>
          <p:cNvSpPr/>
          <p:nvPr/>
        </p:nvSpPr>
        <p:spPr>
          <a:xfrm>
            <a:off x="7313612" y="2590800"/>
            <a:ext cx="4419600" cy="1524000"/>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Since these steps are repeated, we need first to clear all previously computed gradients (the parameter </a:t>
            </a:r>
            <a:r>
              <a:rPr lang="en-US" b="1" dirty="0">
                <a:solidFill>
                  <a:schemeClr val="tx2"/>
                </a:solidFill>
                <a:latin typeface="Arial" panose="020B0604020202020204" pitchFamily="34" charset="0"/>
                <a:cs typeface="Arial" panose="020B0604020202020204" pitchFamily="34" charset="0"/>
              </a:rPr>
              <a:t>.grad</a:t>
            </a:r>
            <a:r>
              <a:rPr lang="en-US" dirty="0">
                <a:solidFill>
                  <a:schemeClr val="tx2"/>
                </a:solidFill>
                <a:latin typeface="Arial" panose="020B0604020202020204" pitchFamily="34" charset="0"/>
                <a:cs typeface="Arial" panose="020B0604020202020204" pitchFamily="34" charset="0"/>
              </a:rPr>
              <a:t>) from each tensor that resides in computational graph (that is linked by the output tensor).</a:t>
            </a:r>
          </a:p>
        </p:txBody>
      </p:sp>
      <p:sp>
        <p:nvSpPr>
          <p:cNvPr id="8" name="Rectangle 7">
            <a:extLst>
              <a:ext uri="{FF2B5EF4-FFF2-40B4-BE49-F238E27FC236}">
                <a16:creationId xmlns:a16="http://schemas.microsoft.com/office/drawing/2014/main" id="{7D757619-9629-F7E7-8F2F-E8F7285FA9F4}"/>
              </a:ext>
            </a:extLst>
          </p:cNvPr>
          <p:cNvSpPr/>
          <p:nvPr/>
        </p:nvSpPr>
        <p:spPr>
          <a:xfrm>
            <a:off x="7313612" y="4191000"/>
            <a:ext cx="4419600" cy="1219200"/>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After we do this, we can compute all delta gradients and we can store them into the </a:t>
            </a:r>
            <a:r>
              <a:rPr lang="en-US" b="1" dirty="0">
                <a:solidFill>
                  <a:schemeClr val="tx2"/>
                </a:solidFill>
                <a:latin typeface="Arial" panose="020B0604020202020204" pitchFamily="34" charset="0"/>
                <a:cs typeface="Arial" panose="020B0604020202020204" pitchFamily="34" charset="0"/>
              </a:rPr>
              <a:t>.grad</a:t>
            </a:r>
            <a:r>
              <a:rPr lang="en-US" dirty="0">
                <a:solidFill>
                  <a:schemeClr val="tx2"/>
                </a:solidFill>
                <a:latin typeface="Arial" panose="020B0604020202020204" pitchFamily="34" charset="0"/>
                <a:cs typeface="Arial" panose="020B0604020202020204" pitchFamily="34" charset="0"/>
              </a:rPr>
              <a:t> parameter from each tensor. This is done via the </a:t>
            </a:r>
            <a:r>
              <a:rPr lang="en-US" b="1" dirty="0" err="1">
                <a:solidFill>
                  <a:schemeClr val="tx2"/>
                </a:solidFill>
                <a:latin typeface="Arial" panose="020B0604020202020204" pitchFamily="34" charset="0"/>
                <a:cs typeface="Arial" panose="020B0604020202020204" pitchFamily="34" charset="0"/>
              </a:rPr>
              <a:t>loss.backward</a:t>
            </a:r>
            <a:r>
              <a:rPr lang="en-US" b="1" dirty="0">
                <a:solidFill>
                  <a:schemeClr val="tx2"/>
                </a:solidFill>
                <a:latin typeface="Arial" panose="020B0604020202020204" pitchFamily="34" charset="0"/>
                <a:cs typeface="Arial" panose="020B0604020202020204" pitchFamily="34" charset="0"/>
              </a:rPr>
              <a:t>()</a:t>
            </a:r>
            <a:r>
              <a:rPr lang="en-US" dirty="0">
                <a:solidFill>
                  <a:schemeClr val="tx2"/>
                </a:solidFill>
                <a:latin typeface="Arial" panose="020B0604020202020204" pitchFamily="34" charset="0"/>
                <a:cs typeface="Arial" panose="020B0604020202020204" pitchFamily="34" charset="0"/>
              </a:rPr>
              <a:t> method.</a:t>
            </a:r>
          </a:p>
        </p:txBody>
      </p:sp>
    </p:spTree>
    <p:extLst>
      <p:ext uri="{BB962C8B-B14F-4D97-AF65-F5344CB8AC3E}">
        <p14:creationId xmlns:p14="http://schemas.microsoft.com/office/powerpoint/2010/main" val="41096877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Let’s see how this flow looks like in </a:t>
            </a: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3B7140B8-DEFB-A280-C449-92C34E41D5B1}"/>
              </a:ext>
            </a:extLst>
          </p:cNvPr>
          <p:cNvSpPr/>
          <p:nvPr/>
        </p:nvSpPr>
        <p:spPr>
          <a:xfrm>
            <a:off x="1751012" y="2133600"/>
            <a:ext cx="5410200" cy="4343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229977"/>
                </a:solidFill>
                <a:effectLst/>
                <a:latin typeface="Consolas" panose="020B0609020204030204" pitchFamily="49" charset="0"/>
              </a:rPr>
              <a:t> </a:t>
            </a:r>
            <a:r>
              <a:rPr lang="en-US" b="0" dirty="0" err="1">
                <a:solidFill>
                  <a:srgbClr val="229977"/>
                </a:solidFill>
                <a:effectLst/>
                <a:latin typeface="Consolas" panose="020B0609020204030204" pitchFamily="49" charset="0"/>
              </a:rPr>
              <a:t>all_weights</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model</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parameters</a:t>
            </a:r>
            <a:r>
              <a:rPr lang="en-US" b="0" dirty="0">
                <a:solidFill>
                  <a:srgbClr val="B4B4B4"/>
                </a:solidFill>
                <a:effectLst/>
                <a:latin typeface="Consolas" panose="020B0609020204030204" pitchFamily="49" charset="0"/>
              </a:rPr>
              <a:t>()</a:t>
            </a:r>
            <a:endParaRPr lang="en-US" b="0" dirty="0">
              <a:solidFill>
                <a:srgbClr val="229977"/>
              </a:solidFill>
              <a:effectLst/>
              <a:latin typeface="Consolas" panose="020B0609020204030204" pitchFamily="49" charset="0"/>
            </a:endParaRPr>
          </a:p>
          <a:p>
            <a:r>
              <a:rPr lang="en-US" b="0" dirty="0">
                <a:solidFill>
                  <a:srgbClr val="229977"/>
                </a:solidFill>
                <a:effectLst/>
                <a:latin typeface="Consolas" panose="020B0609020204030204" pitchFamily="49" charset="0"/>
              </a:rPr>
              <a:t> optimizer</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optim</a:t>
            </a:r>
            <a:r>
              <a:rPr lang="en-US" b="0" dirty="0">
                <a:solidFill>
                  <a:srgbClr val="B4B4B4"/>
                </a:solidFill>
                <a:effectLst/>
                <a:latin typeface="Consolas" panose="020B0609020204030204" pitchFamily="49" charset="0"/>
              </a:rPr>
              <a:t>.</a:t>
            </a:r>
            <a:r>
              <a:rPr lang="en-US" b="1" i="1" dirty="0">
                <a:solidFill>
                  <a:srgbClr val="00B0F0"/>
                </a:solidFill>
                <a:effectLst/>
                <a:latin typeface="Consolas" panose="020B0609020204030204" pitchFamily="49" charset="0"/>
              </a:rPr>
              <a:t>&lt;Name&gt;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all_weights</a:t>
            </a:r>
            <a:r>
              <a:rPr lang="en-US" b="0" dirty="0">
                <a:solidFill>
                  <a:srgbClr val="229977"/>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endParaRPr lang="en-US" b="0" dirty="0">
              <a:solidFill>
                <a:srgbClr val="229977"/>
              </a:solidFill>
              <a:effectLst/>
              <a:latin typeface="Consolas" panose="020B0609020204030204" pitchFamily="49" charset="0"/>
            </a:endParaRPr>
          </a:p>
          <a:p>
            <a:endParaRPr lang="en-US" dirty="0">
              <a:solidFill>
                <a:srgbClr val="229977"/>
              </a:solidFill>
              <a:latin typeface="Consolas" panose="020B0609020204030204" pitchFamily="49" charset="0"/>
            </a:endParaRPr>
          </a:p>
          <a:p>
            <a:r>
              <a:rPr lang="en-US" b="0" dirty="0">
                <a:solidFill>
                  <a:srgbClr val="229977"/>
                </a:solidFill>
                <a:effectLst/>
                <a:latin typeface="Consolas" panose="020B0609020204030204" pitchFamily="49" charset="0"/>
              </a:rPr>
              <a:t> output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model</a:t>
            </a:r>
            <a:r>
              <a:rPr lang="en-US" b="0" dirty="0">
                <a:solidFill>
                  <a:srgbClr val="B4B4B4"/>
                </a:solidFill>
                <a:effectLst/>
                <a:latin typeface="Consolas" panose="020B0609020204030204" pitchFamily="49" charset="0"/>
              </a:rPr>
              <a:t>(</a:t>
            </a:r>
            <a:r>
              <a:rPr lang="en-US" b="0" dirty="0">
                <a:solidFill>
                  <a:srgbClr val="A7A774"/>
                </a:solidFill>
                <a:effectLst/>
                <a:latin typeface="Consolas" panose="020B0609020204030204" pitchFamily="49" charset="0"/>
              </a:rPr>
              <a:t>input</a:t>
            </a:r>
            <a:r>
              <a:rPr lang="en-US" b="0" dirty="0">
                <a:solidFill>
                  <a:srgbClr val="B4B4B4"/>
                </a:solidFill>
                <a:effectLst/>
                <a:latin typeface="Consolas" panose="020B0609020204030204" pitchFamily="49" charset="0"/>
              </a:rPr>
              <a:t>)</a:t>
            </a:r>
          </a:p>
          <a:p>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 loss</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loss_function</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output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expected</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optimizer</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zero_grad</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dirty="0">
                <a:solidFill>
                  <a:srgbClr val="229977"/>
                </a:solidFill>
                <a:latin typeface="Consolas" panose="020B0609020204030204" pitchFamily="49" charset="0"/>
              </a:rPr>
              <a:t> </a:t>
            </a:r>
            <a:r>
              <a:rPr lang="en-US" b="0" dirty="0" err="1">
                <a:solidFill>
                  <a:srgbClr val="229977"/>
                </a:solidFill>
                <a:effectLst/>
                <a:latin typeface="Consolas" panose="020B0609020204030204" pitchFamily="49" charset="0"/>
              </a:rPr>
              <a:t>loss</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backward</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err="1">
                <a:solidFill>
                  <a:srgbClr val="DADADA"/>
                </a:solidFill>
                <a:effectLst/>
                <a:latin typeface="Consolas" panose="020B0609020204030204" pitchFamily="49" charset="0"/>
              </a:rPr>
              <a:t>optimizer</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step</a:t>
            </a:r>
            <a:r>
              <a:rPr lang="en-US" b="0" dirty="0">
                <a:solidFill>
                  <a:srgbClr val="B4B4B4"/>
                </a:solidFill>
                <a:effectLst/>
                <a:latin typeface="Consolas" panose="020B0609020204030204" pitchFamily="49" charset="0"/>
              </a:rPr>
              <a:t>()</a:t>
            </a:r>
          </a:p>
          <a:p>
            <a:endParaRPr lang="en-US" b="0" dirty="0">
              <a:solidFill>
                <a:srgbClr val="DADADA"/>
              </a:solidFill>
              <a:effectLst/>
              <a:latin typeface="Consolas" panose="020B0609020204030204" pitchFamily="49" charset="0"/>
            </a:endParaRPr>
          </a:p>
        </p:txBody>
      </p:sp>
      <p:sp>
        <p:nvSpPr>
          <p:cNvPr id="3" name="Rectangle 2">
            <a:extLst>
              <a:ext uri="{FF2B5EF4-FFF2-40B4-BE49-F238E27FC236}">
                <a16:creationId xmlns:a16="http://schemas.microsoft.com/office/drawing/2014/main" id="{AF19B87B-B84D-2F72-DAFD-4866F98990B8}"/>
              </a:ext>
            </a:extLst>
          </p:cNvPr>
          <p:cNvSpPr/>
          <p:nvPr/>
        </p:nvSpPr>
        <p:spPr>
          <a:xfrm>
            <a:off x="1827212" y="5265738"/>
            <a:ext cx="5257800" cy="3810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AFA4ECD-17E5-8DFD-C600-CB90BF10CE17}"/>
              </a:ext>
            </a:extLst>
          </p:cNvPr>
          <p:cNvSpPr/>
          <p:nvPr/>
        </p:nvSpPr>
        <p:spPr>
          <a:xfrm>
            <a:off x="7313612" y="2148916"/>
            <a:ext cx="4419600" cy="36568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t>4. Update weights</a:t>
            </a:r>
          </a:p>
        </p:txBody>
      </p:sp>
      <p:sp>
        <p:nvSpPr>
          <p:cNvPr id="7" name="Rectangle 6">
            <a:extLst>
              <a:ext uri="{FF2B5EF4-FFF2-40B4-BE49-F238E27FC236}">
                <a16:creationId xmlns:a16="http://schemas.microsoft.com/office/drawing/2014/main" id="{911F0788-430F-F9E0-3EB3-FC66B748CAF8}"/>
              </a:ext>
            </a:extLst>
          </p:cNvPr>
          <p:cNvSpPr/>
          <p:nvPr/>
        </p:nvSpPr>
        <p:spPr>
          <a:xfrm>
            <a:off x="7313612" y="2590800"/>
            <a:ext cx="4419600" cy="1143000"/>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In this step, the optimizer (that has access to all weights)  has to update the weights based on the delta computed in the previous steps.</a:t>
            </a:r>
          </a:p>
        </p:txBody>
      </p:sp>
    </p:spTree>
    <p:extLst>
      <p:ext uri="{BB962C8B-B14F-4D97-AF65-F5344CB8AC3E}">
        <p14:creationId xmlns:p14="http://schemas.microsoft.com/office/powerpoint/2010/main" val="24502508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Let’s put all of these together and created a simple training:</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69083A3E-CD3D-42AF-CC37-98BB6AE6A708}"/>
              </a:ext>
            </a:extLst>
          </p:cNvPr>
          <p:cNvSpPr/>
          <p:nvPr/>
        </p:nvSpPr>
        <p:spPr>
          <a:xfrm>
            <a:off x="1751012" y="2019300"/>
            <a:ext cx="9144000" cy="218694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725"/>
              </a:lnSpc>
            </a:pPr>
            <a:r>
              <a:rPr lang="en-US" b="0" dirty="0">
                <a:solidFill>
                  <a:srgbClr val="C586C0"/>
                </a:solidFill>
                <a:effectLst/>
                <a:latin typeface="Consolas" panose="020B0609020204030204" pitchFamily="49" charset="0"/>
                <a:cs typeface="Consolas" panose="020B0609020204030204" pitchFamily="49" charset="0"/>
              </a:rPr>
              <a:t>import</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4EC9B0"/>
                </a:solidFill>
                <a:effectLst/>
                <a:latin typeface="Consolas" panose="020B0609020204030204" pitchFamily="49" charset="0"/>
                <a:cs typeface="Consolas" panose="020B0609020204030204" pitchFamily="49" charset="0"/>
              </a:rPr>
              <a:t>torch</a:t>
            </a:r>
            <a:endParaRPr lang="en-US" b="0" dirty="0">
              <a:solidFill>
                <a:srgbClr val="CCCCCC"/>
              </a:solidFill>
              <a:effectLst/>
              <a:latin typeface="Consolas" panose="020B0609020204030204" pitchFamily="49" charset="0"/>
              <a:cs typeface="Consolas" panose="020B0609020204030204" pitchFamily="49" charset="0"/>
            </a:endParaRPr>
          </a:p>
          <a:p>
            <a:pPr>
              <a:lnSpc>
                <a:spcPts val="1725"/>
              </a:lnSpc>
            </a:pPr>
            <a:r>
              <a:rPr lang="en-US" b="0" dirty="0">
                <a:solidFill>
                  <a:srgbClr val="C586C0"/>
                </a:solidFill>
                <a:effectLst/>
                <a:latin typeface="Consolas" panose="020B0609020204030204" pitchFamily="49" charset="0"/>
                <a:cs typeface="Consolas" panose="020B0609020204030204" pitchFamily="49" charset="0"/>
              </a:rPr>
              <a:t>import</a:t>
            </a:r>
            <a:r>
              <a:rPr lang="en-US" b="0" dirty="0">
                <a:solidFill>
                  <a:srgbClr val="CCCCCC"/>
                </a:solidFill>
                <a:effectLst/>
                <a:latin typeface="Consolas" panose="020B0609020204030204" pitchFamily="49" charset="0"/>
                <a:cs typeface="Consolas" panose="020B0609020204030204" pitchFamily="49" charset="0"/>
              </a:rPr>
              <a:t> </a:t>
            </a:r>
            <a:r>
              <a:rPr lang="en-US" b="0" dirty="0" err="1">
                <a:solidFill>
                  <a:srgbClr val="CCCCCC"/>
                </a:solidFill>
                <a:effectLst/>
                <a:latin typeface="Consolas" panose="020B0609020204030204" pitchFamily="49" charset="0"/>
                <a:cs typeface="Consolas" panose="020B0609020204030204" pitchFamily="49" charset="0"/>
              </a:rPr>
              <a:t>torchvision.datasets</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C586C0"/>
                </a:solidFill>
                <a:effectLst/>
                <a:latin typeface="Consolas" panose="020B0609020204030204" pitchFamily="49" charset="0"/>
                <a:cs typeface="Consolas" panose="020B0609020204030204" pitchFamily="49" charset="0"/>
              </a:rPr>
              <a:t>as</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4EC9B0"/>
                </a:solidFill>
                <a:effectLst/>
                <a:latin typeface="Consolas" panose="020B0609020204030204" pitchFamily="49" charset="0"/>
                <a:cs typeface="Consolas" panose="020B0609020204030204" pitchFamily="49" charset="0"/>
              </a:rPr>
              <a:t>datasets</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6A9955"/>
                </a:solidFill>
                <a:effectLst/>
                <a:latin typeface="Consolas" panose="020B0609020204030204" pitchFamily="49" charset="0"/>
                <a:cs typeface="Consolas" panose="020B0609020204030204" pitchFamily="49" charset="0"/>
              </a:rPr>
              <a:t># for Mist</a:t>
            </a:r>
            <a:endParaRPr lang="en-US" b="0" dirty="0">
              <a:solidFill>
                <a:srgbClr val="CCCCCC"/>
              </a:solidFill>
              <a:effectLst/>
              <a:latin typeface="Consolas" panose="020B0609020204030204" pitchFamily="49" charset="0"/>
              <a:cs typeface="Consolas" panose="020B0609020204030204" pitchFamily="49" charset="0"/>
            </a:endParaRPr>
          </a:p>
          <a:p>
            <a:pPr>
              <a:lnSpc>
                <a:spcPts val="1725"/>
              </a:lnSpc>
            </a:pPr>
            <a:r>
              <a:rPr lang="en-US" b="0" dirty="0">
                <a:solidFill>
                  <a:srgbClr val="C586C0"/>
                </a:solidFill>
                <a:effectLst/>
                <a:latin typeface="Consolas" panose="020B0609020204030204" pitchFamily="49" charset="0"/>
                <a:cs typeface="Consolas" panose="020B0609020204030204" pitchFamily="49" charset="0"/>
              </a:rPr>
              <a:t>import</a:t>
            </a:r>
            <a:r>
              <a:rPr lang="en-US" b="0" dirty="0">
                <a:solidFill>
                  <a:srgbClr val="CCCCCC"/>
                </a:solidFill>
                <a:effectLst/>
                <a:latin typeface="Consolas" panose="020B0609020204030204" pitchFamily="49" charset="0"/>
                <a:cs typeface="Consolas" panose="020B0609020204030204" pitchFamily="49" charset="0"/>
              </a:rPr>
              <a:t> </a:t>
            </a:r>
            <a:r>
              <a:rPr lang="en-US" b="0" dirty="0" err="1">
                <a:solidFill>
                  <a:srgbClr val="CCCCCC"/>
                </a:solidFill>
                <a:effectLst/>
                <a:latin typeface="Consolas" panose="020B0609020204030204" pitchFamily="49" charset="0"/>
                <a:cs typeface="Consolas" panose="020B0609020204030204" pitchFamily="49" charset="0"/>
              </a:rPr>
              <a:t>torchvision.transforms</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C586C0"/>
                </a:solidFill>
                <a:effectLst/>
                <a:latin typeface="Consolas" panose="020B0609020204030204" pitchFamily="49" charset="0"/>
                <a:cs typeface="Consolas" panose="020B0609020204030204" pitchFamily="49" charset="0"/>
              </a:rPr>
              <a:t>as</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4EC9B0"/>
                </a:solidFill>
                <a:effectLst/>
                <a:latin typeface="Consolas" panose="020B0609020204030204" pitchFamily="49" charset="0"/>
                <a:cs typeface="Consolas" panose="020B0609020204030204" pitchFamily="49" charset="0"/>
              </a:rPr>
              <a:t>transforms</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6A9955"/>
                </a:solidFill>
                <a:effectLst/>
                <a:latin typeface="Consolas" panose="020B0609020204030204" pitchFamily="49" charset="0"/>
                <a:cs typeface="Consolas" panose="020B0609020204030204" pitchFamily="49" charset="0"/>
              </a:rPr>
              <a:t># Transformations we can perform on our dataset for augmentation</a:t>
            </a:r>
            <a:endParaRPr lang="en-US" b="0" dirty="0">
              <a:solidFill>
                <a:srgbClr val="CCCCCC"/>
              </a:solidFill>
              <a:effectLst/>
              <a:latin typeface="Consolas" panose="020B0609020204030204" pitchFamily="49" charset="0"/>
              <a:cs typeface="Consolas" panose="020B0609020204030204" pitchFamily="49" charset="0"/>
            </a:endParaRPr>
          </a:p>
          <a:p>
            <a:pPr>
              <a:lnSpc>
                <a:spcPts val="1725"/>
              </a:lnSpc>
            </a:pPr>
            <a:r>
              <a:rPr lang="en-US" b="0" dirty="0">
                <a:solidFill>
                  <a:srgbClr val="C586C0"/>
                </a:solidFill>
                <a:effectLst/>
                <a:latin typeface="Consolas" panose="020B0609020204030204" pitchFamily="49" charset="0"/>
                <a:cs typeface="Consolas" panose="020B0609020204030204" pitchFamily="49" charset="0"/>
              </a:rPr>
              <a:t>from</a:t>
            </a:r>
            <a:r>
              <a:rPr lang="en-US" b="0" dirty="0">
                <a:solidFill>
                  <a:srgbClr val="CCCCCC"/>
                </a:solidFill>
                <a:effectLst/>
                <a:latin typeface="Consolas" panose="020B0609020204030204" pitchFamily="49" charset="0"/>
                <a:cs typeface="Consolas" panose="020B0609020204030204" pitchFamily="49" charset="0"/>
              </a:rPr>
              <a:t> torch </a:t>
            </a:r>
            <a:r>
              <a:rPr lang="en-US" b="0" dirty="0">
                <a:solidFill>
                  <a:srgbClr val="C586C0"/>
                </a:solidFill>
                <a:effectLst/>
                <a:latin typeface="Consolas" panose="020B0609020204030204" pitchFamily="49" charset="0"/>
                <a:cs typeface="Consolas" panose="020B0609020204030204" pitchFamily="49" charset="0"/>
              </a:rPr>
              <a:t>import</a:t>
            </a:r>
            <a:r>
              <a:rPr lang="en-US" b="0" dirty="0">
                <a:solidFill>
                  <a:srgbClr val="CCCCCC"/>
                </a:solidFill>
                <a:effectLst/>
                <a:latin typeface="Consolas" panose="020B0609020204030204" pitchFamily="49" charset="0"/>
                <a:cs typeface="Consolas" panose="020B0609020204030204" pitchFamily="49" charset="0"/>
              </a:rPr>
              <a:t> </a:t>
            </a:r>
            <a:r>
              <a:rPr lang="en-US" b="0" dirty="0" err="1">
                <a:solidFill>
                  <a:srgbClr val="CCCCCC"/>
                </a:solidFill>
                <a:effectLst/>
                <a:latin typeface="Consolas" panose="020B0609020204030204" pitchFamily="49" charset="0"/>
                <a:cs typeface="Consolas" panose="020B0609020204030204" pitchFamily="49" charset="0"/>
              </a:rPr>
              <a:t>optim</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6A9955"/>
                </a:solidFill>
                <a:effectLst/>
                <a:latin typeface="Consolas" panose="020B0609020204030204" pitchFamily="49" charset="0"/>
                <a:cs typeface="Consolas" panose="020B0609020204030204" pitchFamily="49" charset="0"/>
              </a:rPr>
              <a:t># For optimizers like SGD, Adam, etc.</a:t>
            </a:r>
            <a:endParaRPr lang="en-US" b="0" dirty="0">
              <a:solidFill>
                <a:srgbClr val="CCCCCC"/>
              </a:solidFill>
              <a:effectLst/>
              <a:latin typeface="Consolas" panose="020B0609020204030204" pitchFamily="49" charset="0"/>
              <a:cs typeface="Consolas" panose="020B0609020204030204" pitchFamily="49" charset="0"/>
            </a:endParaRPr>
          </a:p>
          <a:p>
            <a:pPr>
              <a:lnSpc>
                <a:spcPts val="1725"/>
              </a:lnSpc>
            </a:pPr>
            <a:r>
              <a:rPr lang="en-US" b="0" dirty="0">
                <a:solidFill>
                  <a:srgbClr val="C586C0"/>
                </a:solidFill>
                <a:effectLst/>
                <a:latin typeface="Consolas" panose="020B0609020204030204" pitchFamily="49" charset="0"/>
                <a:cs typeface="Consolas" panose="020B0609020204030204" pitchFamily="49" charset="0"/>
              </a:rPr>
              <a:t>from</a:t>
            </a:r>
            <a:r>
              <a:rPr lang="en-US" b="0" dirty="0">
                <a:solidFill>
                  <a:srgbClr val="CCCCCC"/>
                </a:solidFill>
                <a:effectLst/>
                <a:latin typeface="Consolas" panose="020B0609020204030204" pitchFamily="49" charset="0"/>
                <a:cs typeface="Consolas" panose="020B0609020204030204" pitchFamily="49" charset="0"/>
              </a:rPr>
              <a:t> torch </a:t>
            </a:r>
            <a:r>
              <a:rPr lang="en-US" b="0" dirty="0">
                <a:solidFill>
                  <a:srgbClr val="C586C0"/>
                </a:solidFill>
                <a:effectLst/>
                <a:latin typeface="Consolas" panose="020B0609020204030204" pitchFamily="49" charset="0"/>
                <a:cs typeface="Consolas" panose="020B0609020204030204" pitchFamily="49" charset="0"/>
              </a:rPr>
              <a:t>import</a:t>
            </a:r>
            <a:r>
              <a:rPr lang="en-US" b="0" dirty="0">
                <a:solidFill>
                  <a:srgbClr val="CCCCCC"/>
                </a:solidFill>
                <a:effectLst/>
                <a:latin typeface="Consolas" panose="020B0609020204030204" pitchFamily="49" charset="0"/>
                <a:cs typeface="Consolas" panose="020B0609020204030204" pitchFamily="49" charset="0"/>
              </a:rPr>
              <a:t> </a:t>
            </a:r>
            <a:r>
              <a:rPr lang="en-US" b="0" dirty="0" err="1">
                <a:solidFill>
                  <a:srgbClr val="CCCCCC"/>
                </a:solidFill>
                <a:effectLst/>
                <a:latin typeface="Consolas" panose="020B0609020204030204" pitchFamily="49" charset="0"/>
                <a:cs typeface="Consolas" panose="020B0609020204030204" pitchFamily="49" charset="0"/>
              </a:rPr>
              <a:t>nn</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6A9955"/>
                </a:solidFill>
                <a:effectLst/>
                <a:latin typeface="Consolas" panose="020B0609020204030204" pitchFamily="49" charset="0"/>
                <a:cs typeface="Consolas" panose="020B0609020204030204" pitchFamily="49" charset="0"/>
              </a:rPr>
              <a:t># To inherit our neural network</a:t>
            </a:r>
            <a:endParaRPr lang="en-US" b="0" dirty="0">
              <a:solidFill>
                <a:srgbClr val="CCCCCC"/>
              </a:solidFill>
              <a:effectLst/>
              <a:latin typeface="Consolas" panose="020B0609020204030204" pitchFamily="49" charset="0"/>
              <a:cs typeface="Consolas" panose="020B0609020204030204" pitchFamily="49" charset="0"/>
            </a:endParaRPr>
          </a:p>
          <a:p>
            <a:pPr>
              <a:lnSpc>
                <a:spcPts val="1725"/>
              </a:lnSpc>
            </a:pPr>
            <a:r>
              <a:rPr lang="en-US" b="0" dirty="0">
                <a:solidFill>
                  <a:srgbClr val="C586C0"/>
                </a:solidFill>
                <a:effectLst/>
                <a:latin typeface="Consolas" panose="020B0609020204030204" pitchFamily="49" charset="0"/>
                <a:cs typeface="Consolas" panose="020B0609020204030204" pitchFamily="49" charset="0"/>
              </a:rPr>
              <a:t>from</a:t>
            </a:r>
            <a:r>
              <a:rPr lang="en-US" b="0" dirty="0">
                <a:solidFill>
                  <a:srgbClr val="CCCCCC"/>
                </a:solidFill>
                <a:effectLst/>
                <a:latin typeface="Consolas" panose="020B0609020204030204" pitchFamily="49" charset="0"/>
                <a:cs typeface="Consolas" panose="020B0609020204030204" pitchFamily="49" charset="0"/>
              </a:rPr>
              <a:t> </a:t>
            </a:r>
            <a:r>
              <a:rPr lang="en-US" b="0" dirty="0" err="1">
                <a:solidFill>
                  <a:srgbClr val="CCCCCC"/>
                </a:solidFill>
                <a:effectLst/>
                <a:latin typeface="Consolas" panose="020B0609020204030204" pitchFamily="49" charset="0"/>
                <a:cs typeface="Consolas" panose="020B0609020204030204" pitchFamily="49" charset="0"/>
              </a:rPr>
              <a:t>torch.utils.data</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C586C0"/>
                </a:solidFill>
                <a:effectLst/>
                <a:latin typeface="Consolas" panose="020B0609020204030204" pitchFamily="49" charset="0"/>
                <a:cs typeface="Consolas" panose="020B0609020204030204" pitchFamily="49" charset="0"/>
              </a:rPr>
              <a:t>import</a:t>
            </a:r>
            <a:r>
              <a:rPr lang="en-US" b="0" dirty="0">
                <a:solidFill>
                  <a:srgbClr val="CCCCCC"/>
                </a:solidFill>
                <a:effectLst/>
                <a:latin typeface="Consolas" panose="020B0609020204030204" pitchFamily="49" charset="0"/>
                <a:cs typeface="Consolas" panose="020B0609020204030204" pitchFamily="49" charset="0"/>
              </a:rPr>
              <a:t> </a:t>
            </a:r>
            <a:r>
              <a:rPr lang="en-US" b="0" dirty="0" err="1">
                <a:solidFill>
                  <a:srgbClr val="CCCCCC"/>
                </a:solidFill>
                <a:effectLst/>
                <a:latin typeface="Consolas" panose="020B0609020204030204" pitchFamily="49" charset="0"/>
                <a:cs typeface="Consolas" panose="020B0609020204030204" pitchFamily="49" charset="0"/>
              </a:rPr>
              <a:t>DataLoader</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6A9955"/>
                </a:solidFill>
                <a:effectLst/>
                <a:latin typeface="Consolas" panose="020B0609020204030204" pitchFamily="49" charset="0"/>
                <a:cs typeface="Consolas" panose="020B0609020204030204" pitchFamily="49" charset="0"/>
              </a:rPr>
              <a:t># For management of the dataset (batches)</a:t>
            </a:r>
            <a:endParaRPr lang="en-US" b="0" dirty="0">
              <a:solidFill>
                <a:srgbClr val="CCCCCC"/>
              </a:solidFill>
              <a:effectLst/>
              <a:latin typeface="Consolas" panose="020B0609020204030204" pitchFamily="49" charset="0"/>
              <a:cs typeface="Consolas" panose="020B0609020204030204" pitchFamily="49" charset="0"/>
            </a:endParaRPr>
          </a:p>
          <a:p>
            <a:pPr>
              <a:lnSpc>
                <a:spcPts val="1725"/>
              </a:lnSpc>
            </a:pPr>
            <a:r>
              <a:rPr lang="en-US" b="0" dirty="0">
                <a:solidFill>
                  <a:srgbClr val="C586C0"/>
                </a:solidFill>
                <a:effectLst/>
                <a:latin typeface="Consolas" panose="020B0609020204030204" pitchFamily="49" charset="0"/>
                <a:cs typeface="Consolas" panose="020B0609020204030204" pitchFamily="49" charset="0"/>
              </a:rPr>
              <a:t>from</a:t>
            </a:r>
            <a:r>
              <a:rPr lang="en-US" b="0" dirty="0">
                <a:solidFill>
                  <a:srgbClr val="CCCCCC"/>
                </a:solidFill>
                <a:effectLst/>
                <a:latin typeface="Consolas" panose="020B0609020204030204" pitchFamily="49" charset="0"/>
                <a:cs typeface="Consolas" panose="020B0609020204030204" pitchFamily="49" charset="0"/>
              </a:rPr>
              <a:t> </a:t>
            </a:r>
            <a:r>
              <a:rPr lang="en-US" b="0" dirty="0" err="1">
                <a:solidFill>
                  <a:srgbClr val="4EC9B0"/>
                </a:solidFill>
                <a:effectLst/>
                <a:latin typeface="Consolas" panose="020B0609020204030204" pitchFamily="49" charset="0"/>
                <a:cs typeface="Consolas" panose="020B0609020204030204" pitchFamily="49" charset="0"/>
              </a:rPr>
              <a:t>tqdm</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C586C0"/>
                </a:solidFill>
                <a:effectLst/>
                <a:latin typeface="Consolas" panose="020B0609020204030204" pitchFamily="49" charset="0"/>
                <a:cs typeface="Consolas" panose="020B0609020204030204" pitchFamily="49" charset="0"/>
              </a:rPr>
              <a:t>import</a:t>
            </a:r>
            <a:r>
              <a:rPr lang="en-US" b="0" dirty="0">
                <a:solidFill>
                  <a:srgbClr val="CCCCCC"/>
                </a:solidFill>
                <a:effectLst/>
                <a:latin typeface="Consolas" panose="020B0609020204030204" pitchFamily="49" charset="0"/>
                <a:cs typeface="Consolas" panose="020B0609020204030204" pitchFamily="49" charset="0"/>
              </a:rPr>
              <a:t> </a:t>
            </a:r>
            <a:r>
              <a:rPr lang="en-US" b="0" dirty="0" err="1">
                <a:solidFill>
                  <a:srgbClr val="4EC9B0"/>
                </a:solidFill>
                <a:effectLst/>
                <a:latin typeface="Consolas" panose="020B0609020204030204" pitchFamily="49" charset="0"/>
                <a:cs typeface="Consolas" panose="020B0609020204030204" pitchFamily="49" charset="0"/>
              </a:rPr>
              <a:t>tqdm</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6A9955"/>
                </a:solidFill>
                <a:effectLst/>
                <a:latin typeface="Consolas" panose="020B0609020204030204" pitchFamily="49" charset="0"/>
                <a:cs typeface="Consolas" panose="020B0609020204030204" pitchFamily="49" charset="0"/>
              </a:rPr>
              <a:t># For nice progress bar!</a:t>
            </a:r>
            <a:endParaRPr lang="en-US" b="0" dirty="0">
              <a:solidFill>
                <a:srgbClr val="CCCCCC"/>
              </a:solidFill>
              <a:effectLs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905057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6DB08-0646-E083-60BB-2FA6E12E30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C9DF22E-1C6A-E5D6-1357-4299935DC99C}"/>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7A42E6C5-DC1F-D588-4376-6A8CD6A03C1E}"/>
              </a:ext>
            </a:extLst>
          </p:cNvPr>
          <p:cNvSpPr>
            <a:spLocks noGrp="1"/>
          </p:cNvSpPr>
          <p:nvPr>
            <p:ph idx="1"/>
          </p:nvPr>
        </p:nvSpPr>
        <p:spPr>
          <a:xfrm>
            <a:off x="1645611"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Let’s put all of these together and created a simple training:</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10381C6B-4DB2-39B4-7DA3-75F393B79496}"/>
              </a:ext>
            </a:extLst>
          </p:cNvPr>
          <p:cNvSpPr/>
          <p:nvPr/>
        </p:nvSpPr>
        <p:spPr>
          <a:xfrm>
            <a:off x="1751012" y="2019299"/>
            <a:ext cx="9144000" cy="3860995"/>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class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3C0A0"/>
                </a:solidFill>
                <a:effectLst/>
                <a:latin typeface="Consolas" panose="020B0609020204030204" pitchFamily="49" charset="0"/>
                <a:ea typeface="Aptos" panose="020B0004020202020204" pitchFamily="34" charset="0"/>
                <a:cs typeface="Consolas" panose="020B0609020204030204" pitchFamily="49" charset="0"/>
              </a:rPr>
              <a:t>NN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nn</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Module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__</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init</a:t>
            </a:r>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__</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input_size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num_classes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3C0A0"/>
                </a:solidFill>
                <a:effectLst/>
                <a:latin typeface="Consolas" panose="020B0609020204030204" pitchFamily="49" charset="0"/>
                <a:ea typeface="Aptos" panose="020B0004020202020204" pitchFamily="34" charset="0"/>
                <a:cs typeface="Consolas" panose="020B0609020204030204" pitchFamily="49" charset="0"/>
              </a:rPr>
              <a:t>super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43C0A0"/>
                </a:solidFill>
                <a:effectLst/>
                <a:latin typeface="Consolas" panose="020B0609020204030204" pitchFamily="49" charset="0"/>
                <a:ea typeface="Aptos" panose="020B0004020202020204" pitchFamily="34" charset="0"/>
                <a:cs typeface="Consolas" panose="020B0609020204030204" pitchFamily="49" charset="0"/>
              </a:rPr>
              <a:t>NN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__</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init</a:t>
            </a:r>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__</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fc1</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nn.Linear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input_size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50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fc2</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nn.Linear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50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num_classes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relu</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nn.ReLU</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forward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fc1</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relu</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fc2</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return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100" dirty="0">
                <a:effectLst/>
                <a:latin typeface="Consolas" panose="020B0609020204030204" pitchFamily="49" charset="0"/>
                <a:ea typeface="Times New Roman" panose="02020603050405020304" pitchFamily="18" charset="0"/>
                <a:cs typeface="Consolas" panose="020B0609020204030204" pitchFamily="49" charset="0"/>
              </a:rPr>
              <a:t> </a:t>
            </a:r>
          </a:p>
        </p:txBody>
      </p:sp>
      <p:sp>
        <p:nvSpPr>
          <p:cNvPr id="3" name="Rectangle 2">
            <a:extLst>
              <a:ext uri="{FF2B5EF4-FFF2-40B4-BE49-F238E27FC236}">
                <a16:creationId xmlns:a16="http://schemas.microsoft.com/office/drawing/2014/main" id="{F0F64724-C33F-E7E9-A175-8C1BE4320FA3}"/>
              </a:ext>
            </a:extLst>
          </p:cNvPr>
          <p:cNvSpPr/>
          <p:nvPr/>
        </p:nvSpPr>
        <p:spPr>
          <a:xfrm>
            <a:off x="7275512" y="2286000"/>
            <a:ext cx="4419600" cy="1143000"/>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Create a neural network by inheriting from </a:t>
            </a:r>
            <a:r>
              <a:rPr lang="en-US" dirty="0" err="1">
                <a:solidFill>
                  <a:schemeClr val="tx2"/>
                </a:solidFill>
                <a:latin typeface="Arial" panose="020B0604020202020204" pitchFamily="34" charset="0"/>
                <a:cs typeface="Arial" panose="020B0604020202020204" pitchFamily="34" charset="0"/>
              </a:rPr>
              <a:t>nn.module</a:t>
            </a:r>
            <a:r>
              <a:rPr lang="en-US" dirty="0">
                <a:solidFill>
                  <a:schemeClr val="tx2"/>
                </a:solidFill>
                <a:latin typeface="Arial" panose="020B0604020202020204" pitchFamily="34" charset="0"/>
                <a:cs typeface="Arial" panose="020B0604020202020204" pitchFamily="34" charset="0"/>
              </a:rPr>
              <a:t>.</a:t>
            </a:r>
            <a:br>
              <a:rPr lang="en-US" dirty="0">
                <a:solidFill>
                  <a:schemeClr val="tx2"/>
                </a:solidFill>
                <a:latin typeface="Arial" panose="020B0604020202020204" pitchFamily="34" charset="0"/>
                <a:cs typeface="Arial" panose="020B0604020202020204" pitchFamily="34" charset="0"/>
              </a:rPr>
            </a:br>
            <a:endParaRPr lang="en-US" dirty="0">
              <a:solidFill>
                <a:schemeClr val="tx2"/>
              </a:solidFill>
              <a:latin typeface="Arial" panose="020B0604020202020204" pitchFamily="34" charset="0"/>
              <a:cs typeface="Arial" panose="020B0604020202020204" pitchFamily="34" charset="0"/>
            </a:endParaRPr>
          </a:p>
          <a:p>
            <a:r>
              <a:rPr lang="en-US" dirty="0">
                <a:solidFill>
                  <a:schemeClr val="tx2"/>
                </a:solidFill>
                <a:latin typeface="Arial" panose="020B0604020202020204" pitchFamily="34" charset="0"/>
                <a:cs typeface="Arial" panose="020B0604020202020204" pitchFamily="34" charset="0"/>
              </a:rPr>
              <a:t>2 arguments are given: </a:t>
            </a:r>
            <a:br>
              <a:rPr lang="en-US" dirty="0">
                <a:solidFill>
                  <a:schemeClr val="tx2"/>
                </a:solidFill>
                <a:latin typeface="Arial" panose="020B0604020202020204" pitchFamily="34" charset="0"/>
                <a:cs typeface="Arial" panose="020B0604020202020204" pitchFamily="34" charset="0"/>
              </a:rPr>
            </a:br>
            <a:r>
              <a:rPr lang="en-US" dirty="0">
                <a:solidFill>
                  <a:schemeClr val="tx2"/>
                </a:solidFill>
                <a:latin typeface="Arial" panose="020B0604020202020204" pitchFamily="34" charset="0"/>
                <a:cs typeface="Arial" panose="020B0604020202020204" pitchFamily="34" charset="0"/>
              </a:rPr>
              <a:t>*input size (which will be 784)</a:t>
            </a:r>
          </a:p>
          <a:p>
            <a:r>
              <a:rPr lang="en-US" dirty="0">
                <a:solidFill>
                  <a:schemeClr val="tx2"/>
                </a:solidFill>
                <a:latin typeface="Arial" panose="020B0604020202020204" pitchFamily="34" charset="0"/>
                <a:cs typeface="Arial" panose="020B0604020202020204" pitchFamily="34" charset="0"/>
              </a:rPr>
              <a:t>*Num classes (which will be 10)</a:t>
            </a:r>
          </a:p>
        </p:txBody>
      </p:sp>
      <p:sp>
        <p:nvSpPr>
          <p:cNvPr id="4" name="Rectangle 3">
            <a:extLst>
              <a:ext uri="{FF2B5EF4-FFF2-40B4-BE49-F238E27FC236}">
                <a16:creationId xmlns:a16="http://schemas.microsoft.com/office/drawing/2014/main" id="{75D00DB2-2CB0-94F1-DF26-6F79A912CB15}"/>
              </a:ext>
            </a:extLst>
          </p:cNvPr>
          <p:cNvSpPr/>
          <p:nvPr/>
        </p:nvSpPr>
        <p:spPr>
          <a:xfrm>
            <a:off x="7275512" y="3741737"/>
            <a:ext cx="4419600" cy="1350767"/>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In the </a:t>
            </a:r>
            <a:r>
              <a:rPr lang="en-US" dirty="0" err="1">
                <a:solidFill>
                  <a:schemeClr val="tx2"/>
                </a:solidFill>
                <a:latin typeface="Arial" panose="020B0604020202020204" pitchFamily="34" charset="0"/>
                <a:cs typeface="Arial" panose="020B0604020202020204" pitchFamily="34" charset="0"/>
              </a:rPr>
              <a:t>init</a:t>
            </a:r>
            <a:r>
              <a:rPr lang="en-US" dirty="0">
                <a:solidFill>
                  <a:schemeClr val="tx2"/>
                </a:solidFill>
                <a:latin typeface="Arial" panose="020B0604020202020204" pitchFamily="34" charset="0"/>
                <a:cs typeface="Arial" panose="020B0604020202020204" pitchFamily="34" charset="0"/>
              </a:rPr>
              <a:t> we first call the parent constructor.</a:t>
            </a:r>
            <a:br>
              <a:rPr lang="en-US" dirty="0">
                <a:solidFill>
                  <a:schemeClr val="tx2"/>
                </a:solidFill>
                <a:latin typeface="Arial" panose="020B0604020202020204" pitchFamily="34" charset="0"/>
                <a:cs typeface="Arial" panose="020B0604020202020204" pitchFamily="34" charset="0"/>
              </a:rPr>
            </a:br>
            <a:r>
              <a:rPr lang="en-US" dirty="0">
                <a:solidFill>
                  <a:schemeClr val="tx2"/>
                </a:solidFill>
                <a:latin typeface="Arial" panose="020B0604020202020204" pitchFamily="34" charset="0"/>
                <a:cs typeface="Arial" panose="020B0604020202020204" pitchFamily="34" charset="0"/>
              </a:rPr>
              <a:t>We then initialize the layers:</a:t>
            </a:r>
          </a:p>
          <a:p>
            <a:pPr marL="342900" indent="-342900">
              <a:buAutoNum type="arabicPeriod"/>
            </a:pPr>
            <a:r>
              <a:rPr lang="en-US" dirty="0">
                <a:solidFill>
                  <a:schemeClr val="tx2"/>
                </a:solidFill>
                <a:latin typeface="Arial" panose="020B0604020202020204" pitchFamily="34" charset="0"/>
                <a:cs typeface="Arial" panose="020B0604020202020204" pitchFamily="34" charset="0"/>
              </a:rPr>
              <a:t>A fully connected layer from 784 to 50 (hidden)</a:t>
            </a:r>
          </a:p>
          <a:p>
            <a:pPr marL="342900" indent="-342900">
              <a:buAutoNum type="arabicPeriod"/>
            </a:pPr>
            <a:r>
              <a:rPr lang="en-US" dirty="0">
                <a:solidFill>
                  <a:schemeClr val="tx2"/>
                </a:solidFill>
                <a:latin typeface="Arial" panose="020B0604020202020204" pitchFamily="34" charset="0"/>
                <a:cs typeface="Arial" panose="020B0604020202020204" pitchFamily="34" charset="0"/>
              </a:rPr>
              <a:t>A fully connected layer form 50 to </a:t>
            </a:r>
            <a:r>
              <a:rPr lang="en-US" dirty="0" err="1">
                <a:solidFill>
                  <a:schemeClr val="tx2"/>
                </a:solidFill>
                <a:latin typeface="Arial" panose="020B0604020202020204" pitchFamily="34" charset="0"/>
                <a:cs typeface="Arial" panose="020B0604020202020204" pitchFamily="34" charset="0"/>
              </a:rPr>
              <a:t>num_classes</a:t>
            </a:r>
            <a:r>
              <a:rPr lang="en-US" dirty="0">
                <a:solidFill>
                  <a:schemeClr val="tx2"/>
                </a:solidFill>
                <a:latin typeface="Arial" panose="020B0604020202020204" pitchFamily="34" charset="0"/>
                <a:cs typeface="Arial" panose="020B0604020202020204" pitchFamily="34" charset="0"/>
              </a:rPr>
              <a:t> (10)</a:t>
            </a:r>
          </a:p>
          <a:p>
            <a:pPr marL="342900" indent="-342900">
              <a:buAutoNum type="arabicPeriod"/>
            </a:pPr>
            <a:r>
              <a:rPr lang="en-US" dirty="0">
                <a:solidFill>
                  <a:schemeClr val="tx2"/>
                </a:solidFill>
                <a:latin typeface="Arial" panose="020B0604020202020204" pitchFamily="34" charset="0"/>
                <a:cs typeface="Arial" panose="020B0604020202020204" pitchFamily="34" charset="0"/>
              </a:rPr>
              <a:t>The activation function</a:t>
            </a:r>
          </a:p>
        </p:txBody>
      </p:sp>
      <p:sp>
        <p:nvSpPr>
          <p:cNvPr id="7" name="Rectangle 6">
            <a:extLst>
              <a:ext uri="{FF2B5EF4-FFF2-40B4-BE49-F238E27FC236}">
                <a16:creationId xmlns:a16="http://schemas.microsoft.com/office/drawing/2014/main" id="{41DD5F0D-8D9B-3643-49D2-57DA1B9F6DD5}"/>
              </a:ext>
            </a:extLst>
          </p:cNvPr>
          <p:cNvSpPr/>
          <p:nvPr/>
        </p:nvSpPr>
        <p:spPr>
          <a:xfrm>
            <a:off x="7275512" y="5336612"/>
            <a:ext cx="4419600" cy="1350767"/>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In the forward method we just call them in order and return the output</a:t>
            </a:r>
          </a:p>
        </p:txBody>
      </p:sp>
    </p:spTree>
    <p:extLst>
      <p:ext uri="{BB962C8B-B14F-4D97-AF65-F5344CB8AC3E}">
        <p14:creationId xmlns:p14="http://schemas.microsoft.com/office/powerpoint/2010/main" val="28444421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7BBC2-28E2-7065-D121-797B26B6C30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03B90DB-62AF-D888-F23D-FD37DC71B711}"/>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7B55BF19-BE9C-C777-2C4C-5AF429866B65}"/>
              </a:ext>
            </a:extLst>
          </p:cNvPr>
          <p:cNvSpPr>
            <a:spLocks noGrp="1"/>
          </p:cNvSpPr>
          <p:nvPr>
            <p:ph idx="1"/>
          </p:nvPr>
        </p:nvSpPr>
        <p:spPr>
          <a:xfrm>
            <a:off x="1645611"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Let’s put all of these together and created a simple training:</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7BBFAD38-AA4F-A4C4-A35A-8A4B5AF0AC67}"/>
              </a:ext>
            </a:extLst>
          </p:cNvPr>
          <p:cNvSpPr/>
          <p:nvPr/>
        </p:nvSpPr>
        <p:spPr>
          <a:xfrm>
            <a:off x="1751012" y="2019299"/>
            <a:ext cx="9144000" cy="256676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a:lnSpc>
                <a:spcPts val="1725"/>
              </a:lnSpc>
            </a:pPr>
            <a:r>
              <a:rPr lang="en-US" b="0" dirty="0">
                <a:solidFill>
                  <a:srgbClr val="6A9955"/>
                </a:solidFill>
                <a:effectLst/>
                <a:latin typeface="Menlo" panose="020B0609030804020204" pitchFamily="49" charset="0"/>
              </a:rPr>
              <a:t># Set device </a:t>
            </a:r>
            <a:r>
              <a:rPr lang="en-US" b="0" dirty="0" err="1">
                <a:solidFill>
                  <a:srgbClr val="6A9955"/>
                </a:solidFill>
                <a:effectLst/>
                <a:latin typeface="Menlo" panose="020B0609030804020204" pitchFamily="49" charset="0"/>
              </a:rPr>
              <a:t>cuda</a:t>
            </a:r>
            <a:r>
              <a:rPr lang="en-US" b="0" dirty="0">
                <a:solidFill>
                  <a:srgbClr val="6A9955"/>
                </a:solidFill>
                <a:effectLst/>
                <a:latin typeface="Menlo" panose="020B0609030804020204" pitchFamily="49" charset="0"/>
              </a:rPr>
              <a:t> for GPU if it's available otherwise run on the CPU</a:t>
            </a:r>
            <a:endParaRPr lang="en-US" b="0" dirty="0">
              <a:solidFill>
                <a:srgbClr val="CCCCCC"/>
              </a:solidFill>
              <a:effectLst/>
              <a:latin typeface="Menlo" panose="020B0609030804020204" pitchFamily="49" charset="0"/>
            </a:endParaRPr>
          </a:p>
          <a:p>
            <a:pPr>
              <a:lnSpc>
                <a:spcPts val="1725"/>
              </a:lnSpc>
            </a:pPr>
            <a:r>
              <a:rPr lang="en-US" b="0" dirty="0">
                <a:solidFill>
                  <a:srgbClr val="9CDCFE"/>
                </a:solidFill>
                <a:effectLst/>
                <a:latin typeface="Menlo" panose="020B0609030804020204" pitchFamily="49" charset="0"/>
              </a:rPr>
              <a:t>device</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.device</a:t>
            </a:r>
            <a:r>
              <a:rPr lang="en-US" b="0" dirty="0">
                <a:solidFill>
                  <a:srgbClr val="CCCCCC"/>
                </a:solidFill>
                <a:effectLst/>
                <a:latin typeface="Menlo" panose="020B0609030804020204" pitchFamily="49" charset="0"/>
              </a:rPr>
              <a:t>(</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cuda</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a:solidFill>
                  <a:srgbClr val="C586C0"/>
                </a:solidFill>
                <a:effectLst/>
                <a:latin typeface="Menlo" panose="020B0609030804020204" pitchFamily="49" charset="0"/>
              </a:rPr>
              <a:t>if</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torch</a:t>
            </a:r>
            <a:r>
              <a:rPr lang="en-US" b="0" dirty="0" err="1">
                <a:solidFill>
                  <a:srgbClr val="CCCCCC"/>
                </a:solidFill>
                <a:effectLst/>
                <a:latin typeface="Menlo" panose="020B0609030804020204" pitchFamily="49" charset="0"/>
              </a:rPr>
              <a:t>.cuda.is_available</a:t>
            </a:r>
            <a:r>
              <a:rPr lang="en-US" b="0" dirty="0">
                <a:solidFill>
                  <a:srgbClr val="CCCCCC"/>
                </a:solidFill>
                <a:effectLst/>
                <a:latin typeface="Menlo" panose="020B0609030804020204" pitchFamily="49" charset="0"/>
              </a:rPr>
              <a:t>() </a:t>
            </a:r>
            <a:r>
              <a:rPr lang="en-US" b="0" dirty="0">
                <a:solidFill>
                  <a:srgbClr val="C586C0"/>
                </a:solidFill>
                <a:effectLst/>
                <a:latin typeface="Menlo" panose="020B0609030804020204" pitchFamily="49" charset="0"/>
              </a:rPr>
              <a:t>else</a:t>
            </a:r>
            <a:r>
              <a:rPr lang="en-US" b="0" dirty="0">
                <a:solidFill>
                  <a:srgbClr val="CCCCCC"/>
                </a:solidFill>
                <a:effectLst/>
                <a:latin typeface="Menlo" panose="020B0609030804020204" pitchFamily="49" charset="0"/>
              </a:rPr>
              <a:t> </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cpu</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a:t>
            </a:r>
          </a:p>
          <a:p>
            <a:pPr>
              <a:lnSpc>
                <a:spcPts val="1725"/>
              </a:lnSpc>
            </a:pPr>
            <a:br>
              <a:rPr lang="en-US" b="0" dirty="0">
                <a:solidFill>
                  <a:srgbClr val="CCCCCC"/>
                </a:solidFill>
                <a:effectLst/>
                <a:latin typeface="Menlo" panose="020B0609030804020204" pitchFamily="49" charset="0"/>
              </a:rPr>
            </a:br>
            <a:r>
              <a:rPr lang="en-US" b="0" dirty="0">
                <a:solidFill>
                  <a:srgbClr val="6A9955"/>
                </a:solidFill>
                <a:effectLst/>
                <a:latin typeface="Menlo" panose="020B0609030804020204" pitchFamily="49" charset="0"/>
              </a:rPr>
              <a:t># Hyperparameters</a:t>
            </a:r>
            <a:endParaRPr lang="en-US" b="0" dirty="0">
              <a:solidFill>
                <a:srgbClr val="CCCCCC"/>
              </a:solidFill>
              <a:effectLst/>
              <a:latin typeface="Menlo" panose="020B0609030804020204" pitchFamily="49" charset="0"/>
            </a:endParaRPr>
          </a:p>
          <a:p>
            <a:pPr>
              <a:lnSpc>
                <a:spcPts val="1725"/>
              </a:lnSpc>
            </a:pPr>
            <a:r>
              <a:rPr lang="en-US" b="0" dirty="0" err="1">
                <a:solidFill>
                  <a:srgbClr val="9CDCFE"/>
                </a:solidFill>
                <a:effectLst/>
                <a:latin typeface="Menlo" panose="020B0609030804020204" pitchFamily="49" charset="0"/>
              </a:rPr>
              <a:t>input_size</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784</a:t>
            </a:r>
            <a:endParaRPr lang="en-US" b="0" dirty="0">
              <a:solidFill>
                <a:srgbClr val="CCCCCC"/>
              </a:solidFill>
              <a:effectLst/>
              <a:latin typeface="Menlo" panose="020B0609030804020204" pitchFamily="49" charset="0"/>
            </a:endParaRPr>
          </a:p>
          <a:p>
            <a:pPr>
              <a:lnSpc>
                <a:spcPts val="1725"/>
              </a:lnSpc>
            </a:pPr>
            <a:r>
              <a:rPr lang="en-US" b="0" dirty="0" err="1">
                <a:solidFill>
                  <a:srgbClr val="9CDCFE"/>
                </a:solidFill>
                <a:effectLst/>
                <a:latin typeface="Menlo" panose="020B0609030804020204" pitchFamily="49" charset="0"/>
              </a:rPr>
              <a:t>num_classes</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10</a:t>
            </a:r>
            <a:endParaRPr lang="en-US" b="0" dirty="0">
              <a:solidFill>
                <a:srgbClr val="CCCCCC"/>
              </a:solidFill>
              <a:effectLst/>
              <a:latin typeface="Menlo" panose="020B0609030804020204" pitchFamily="49" charset="0"/>
            </a:endParaRPr>
          </a:p>
          <a:p>
            <a:pPr>
              <a:lnSpc>
                <a:spcPts val="1725"/>
              </a:lnSpc>
            </a:pPr>
            <a:r>
              <a:rPr lang="en-US" b="0" dirty="0" err="1">
                <a:solidFill>
                  <a:srgbClr val="9CDCFE"/>
                </a:solidFill>
                <a:effectLst/>
                <a:latin typeface="Menlo" panose="020B0609030804020204" pitchFamily="49" charset="0"/>
              </a:rPr>
              <a:t>learning_rate</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0.001</a:t>
            </a:r>
            <a:endParaRPr lang="en-US" b="0" dirty="0">
              <a:solidFill>
                <a:srgbClr val="CCCCCC"/>
              </a:solidFill>
              <a:effectLst/>
              <a:latin typeface="Menlo" panose="020B0609030804020204" pitchFamily="49" charset="0"/>
            </a:endParaRPr>
          </a:p>
          <a:p>
            <a:pPr>
              <a:lnSpc>
                <a:spcPts val="1725"/>
              </a:lnSpc>
            </a:pPr>
            <a:r>
              <a:rPr lang="en-US" b="0" dirty="0" err="1">
                <a:solidFill>
                  <a:srgbClr val="9CDCFE"/>
                </a:solidFill>
                <a:effectLst/>
                <a:latin typeface="Menlo" panose="020B0609030804020204" pitchFamily="49" charset="0"/>
              </a:rPr>
              <a:t>batch_size</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64</a:t>
            </a:r>
            <a:endParaRPr lang="en-US" b="0" dirty="0">
              <a:solidFill>
                <a:srgbClr val="CCCCCC"/>
              </a:solidFill>
              <a:effectLst/>
              <a:latin typeface="Menlo" panose="020B0609030804020204" pitchFamily="49" charset="0"/>
            </a:endParaRPr>
          </a:p>
          <a:p>
            <a:pPr>
              <a:lnSpc>
                <a:spcPts val="1725"/>
              </a:lnSpc>
            </a:pPr>
            <a:r>
              <a:rPr lang="en-US" b="0" dirty="0" err="1">
                <a:solidFill>
                  <a:srgbClr val="9CDCFE"/>
                </a:solidFill>
                <a:effectLst/>
                <a:latin typeface="Menlo" panose="020B0609030804020204" pitchFamily="49" charset="0"/>
              </a:rPr>
              <a:t>num_epochs</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10</a:t>
            </a:r>
            <a:endParaRPr lang="en-US" b="0" dirty="0">
              <a:solidFill>
                <a:srgbClr val="CCCCCC"/>
              </a:solidFill>
              <a:effectLst/>
              <a:latin typeface="Menlo" panose="020B060903080402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100" dirty="0">
                <a:effectLst/>
                <a:latin typeface="Consolas" panose="020B0609020204030204" pitchFamily="49" charset="0"/>
                <a:ea typeface="Times New Roman" panose="02020603050405020304" pitchFamily="18" charset="0"/>
                <a:cs typeface="Consolas" panose="020B0609020204030204" pitchFamily="49" charset="0"/>
              </a:rPr>
              <a:t> </a:t>
            </a:r>
          </a:p>
        </p:txBody>
      </p:sp>
      <p:sp>
        <p:nvSpPr>
          <p:cNvPr id="3" name="Rectangle 2">
            <a:extLst>
              <a:ext uri="{FF2B5EF4-FFF2-40B4-BE49-F238E27FC236}">
                <a16:creationId xmlns:a16="http://schemas.microsoft.com/office/drawing/2014/main" id="{F8046996-561F-5B1D-7349-D4ED1CB9C313}"/>
              </a:ext>
            </a:extLst>
          </p:cNvPr>
          <p:cNvSpPr/>
          <p:nvPr/>
        </p:nvSpPr>
        <p:spPr>
          <a:xfrm>
            <a:off x="1751012" y="4884738"/>
            <a:ext cx="9024840" cy="1143000"/>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Set the device and set the hyper parameters for training the network.</a:t>
            </a:r>
          </a:p>
          <a:p>
            <a:endParaRPr lang="en-US" dirty="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1748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BA629-6A93-3FD1-7874-265ABB86F4C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B321758-09B0-82A4-5CEB-08E27A9970AE}"/>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4530B914-F0CE-9582-2CBB-D4C85A424474}"/>
              </a:ext>
            </a:extLst>
          </p:cNvPr>
          <p:cNvSpPr>
            <a:spLocks noGrp="1"/>
          </p:cNvSpPr>
          <p:nvPr>
            <p:ph idx="1"/>
          </p:nvPr>
        </p:nvSpPr>
        <p:spPr>
          <a:xfrm>
            <a:off x="1645611"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Let’s put all of these together and created a simple training:</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5797032D-821F-82A4-1DDC-AA9495A59151}"/>
              </a:ext>
            </a:extLst>
          </p:cNvPr>
          <p:cNvSpPr/>
          <p:nvPr/>
        </p:nvSpPr>
        <p:spPr>
          <a:xfrm>
            <a:off x="1751012" y="2019299"/>
            <a:ext cx="9144000" cy="256676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a:lnSpc>
                <a:spcPts val="1725"/>
              </a:lnSpc>
            </a:pPr>
            <a:r>
              <a:rPr lang="en-US" b="0" dirty="0">
                <a:solidFill>
                  <a:srgbClr val="6A9955"/>
                </a:solidFill>
                <a:effectLst/>
                <a:latin typeface="Menlo" panose="020B0609030804020204" pitchFamily="49" charset="0"/>
              </a:rPr>
              <a:t># Load Data</a:t>
            </a:r>
            <a:endParaRPr lang="en-US" b="0" dirty="0">
              <a:solidFill>
                <a:srgbClr val="CCCCCC"/>
              </a:solidFill>
              <a:effectLst/>
              <a:latin typeface="Menlo" panose="020B0609030804020204" pitchFamily="49" charset="0"/>
            </a:endParaRPr>
          </a:p>
          <a:p>
            <a:pPr>
              <a:lnSpc>
                <a:spcPts val="1725"/>
              </a:lnSpc>
            </a:pPr>
            <a:r>
              <a:rPr lang="en-US" b="0" dirty="0" err="1">
                <a:solidFill>
                  <a:srgbClr val="9CDCFE"/>
                </a:solidFill>
                <a:effectLst/>
                <a:latin typeface="Menlo" panose="020B0609030804020204" pitchFamily="49" charset="0"/>
              </a:rPr>
              <a:t>train_dataset</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datasets</a:t>
            </a:r>
            <a:r>
              <a:rPr lang="en-US" b="0" dirty="0" err="1">
                <a:solidFill>
                  <a:srgbClr val="CCCCCC"/>
                </a:solidFill>
                <a:effectLst/>
                <a:latin typeface="Menlo" panose="020B0609030804020204" pitchFamily="49" charset="0"/>
              </a:rPr>
              <a:t>.MNIST</a:t>
            </a:r>
            <a:r>
              <a:rPr lang="en-US" b="0" dirty="0">
                <a:solidFill>
                  <a:srgbClr val="CCCCCC"/>
                </a:solidFill>
                <a:effectLst/>
                <a:latin typeface="Menlo" panose="020B0609030804020204" pitchFamily="49" charset="0"/>
              </a:rPr>
              <a:t>(</a:t>
            </a:r>
          </a:p>
          <a:p>
            <a:pPr>
              <a:lnSpc>
                <a:spcPts val="1725"/>
              </a:lnSpc>
            </a:pPr>
            <a:r>
              <a:rPr lang="en-US" b="0" dirty="0">
                <a:solidFill>
                  <a:srgbClr val="9CDCFE"/>
                </a:solidFill>
                <a:effectLst/>
                <a:latin typeface="Menlo" panose="020B0609030804020204" pitchFamily="49" charset="0"/>
              </a:rPr>
              <a:t>root</a:t>
            </a:r>
            <a:r>
              <a:rPr lang="en-US" b="0" dirty="0">
                <a:solidFill>
                  <a:srgbClr val="D4D4D4"/>
                </a:solidFill>
                <a:effectLst/>
                <a:latin typeface="Menlo" panose="020B0609030804020204" pitchFamily="49" charset="0"/>
              </a:rPr>
              <a:t>=</a:t>
            </a:r>
            <a:r>
              <a:rPr lang="en-US" b="0" dirty="0">
                <a:solidFill>
                  <a:srgbClr val="CE9178"/>
                </a:solidFill>
                <a:effectLst/>
                <a:latin typeface="Menlo" panose="020B0609030804020204" pitchFamily="49" charset="0"/>
              </a:rPr>
              <a:t>"dataset/"</a:t>
            </a:r>
            <a:r>
              <a:rPr lang="en-US" b="0" dirty="0">
                <a:solidFill>
                  <a:srgbClr val="CCCCCC"/>
                </a:solidFill>
                <a:effectLst/>
                <a:latin typeface="Menlo" panose="020B0609030804020204" pitchFamily="49" charset="0"/>
              </a:rPr>
              <a:t>, </a:t>
            </a:r>
            <a:r>
              <a:rPr lang="en-US" b="0" dirty="0">
                <a:solidFill>
                  <a:srgbClr val="9CDCFE"/>
                </a:solidFill>
                <a:effectLst/>
                <a:latin typeface="Menlo" panose="020B0609030804020204" pitchFamily="49" charset="0"/>
              </a:rPr>
              <a:t>train</a:t>
            </a:r>
            <a:r>
              <a:rPr lang="en-US" b="0" dirty="0">
                <a:solidFill>
                  <a:srgbClr val="D4D4D4"/>
                </a:solidFill>
                <a:effectLst/>
                <a:latin typeface="Menlo" panose="020B0609030804020204" pitchFamily="49" charset="0"/>
              </a:rPr>
              <a:t>=</a:t>
            </a:r>
            <a:r>
              <a:rPr lang="en-US" b="0" dirty="0">
                <a:solidFill>
                  <a:srgbClr val="569CD6"/>
                </a:solidFill>
                <a:effectLst/>
                <a:latin typeface="Menlo" panose="020B0609030804020204" pitchFamily="49" charset="0"/>
              </a:rPr>
              <a:t>True</a:t>
            </a:r>
            <a:r>
              <a:rPr lang="en-US" b="0" dirty="0">
                <a:solidFill>
                  <a:srgbClr val="CCCCCC"/>
                </a:solidFill>
                <a:effectLst/>
                <a:latin typeface="Menlo" panose="020B0609030804020204" pitchFamily="49" charset="0"/>
              </a:rPr>
              <a:t>, </a:t>
            </a:r>
            <a:r>
              <a:rPr lang="en-US" b="0" dirty="0">
                <a:solidFill>
                  <a:srgbClr val="9CDCFE"/>
                </a:solidFill>
                <a:effectLst/>
                <a:latin typeface="Menlo" panose="020B0609030804020204" pitchFamily="49" charset="0"/>
              </a:rPr>
              <a:t>transform</a:t>
            </a:r>
            <a:r>
              <a:rPr lang="en-US" b="0" dirty="0">
                <a:solidFill>
                  <a:srgbClr val="D4D4D4"/>
                </a:solidFill>
                <a:effectLst/>
                <a:latin typeface="Menlo" panose="020B0609030804020204" pitchFamily="49" charset="0"/>
              </a:rPr>
              <a:t>=</a:t>
            </a:r>
            <a:r>
              <a:rPr lang="en-US" b="0" dirty="0" err="1">
                <a:solidFill>
                  <a:srgbClr val="4EC9B0"/>
                </a:solidFill>
                <a:effectLst/>
                <a:latin typeface="Menlo" panose="020B0609030804020204" pitchFamily="49" charset="0"/>
              </a:rPr>
              <a:t>transforms</a:t>
            </a:r>
            <a:r>
              <a:rPr lang="en-US" b="0" dirty="0" err="1">
                <a:solidFill>
                  <a:srgbClr val="CCCCCC"/>
                </a:solidFill>
                <a:effectLst/>
                <a:latin typeface="Menlo" panose="020B0609030804020204" pitchFamily="49" charset="0"/>
              </a:rPr>
              <a:t>.ToTensor</a:t>
            </a:r>
            <a:r>
              <a:rPr lang="en-US" b="0" dirty="0">
                <a:solidFill>
                  <a:srgbClr val="CCCCCC"/>
                </a:solidFill>
                <a:effectLst/>
                <a:latin typeface="Menlo" panose="020B0609030804020204" pitchFamily="49" charset="0"/>
              </a:rPr>
              <a:t>(), </a:t>
            </a:r>
            <a:r>
              <a:rPr lang="en-US" b="0" dirty="0">
                <a:solidFill>
                  <a:srgbClr val="9CDCFE"/>
                </a:solidFill>
                <a:effectLst/>
                <a:latin typeface="Menlo" panose="020B0609030804020204" pitchFamily="49" charset="0"/>
              </a:rPr>
              <a:t>download</a:t>
            </a:r>
            <a:r>
              <a:rPr lang="en-US" b="0" dirty="0">
                <a:solidFill>
                  <a:srgbClr val="D4D4D4"/>
                </a:solidFill>
                <a:effectLst/>
                <a:latin typeface="Menlo" panose="020B0609030804020204" pitchFamily="49" charset="0"/>
              </a:rPr>
              <a:t>=</a:t>
            </a:r>
            <a:r>
              <a:rPr lang="en-US" b="0" dirty="0">
                <a:solidFill>
                  <a:srgbClr val="569CD6"/>
                </a:solidFill>
                <a:effectLst/>
                <a:latin typeface="Menlo" panose="020B0609030804020204" pitchFamily="49" charset="0"/>
              </a:rPr>
              <a:t>True</a:t>
            </a:r>
            <a:r>
              <a:rPr lang="en-US" b="0" dirty="0">
                <a:solidFill>
                  <a:srgbClr val="CCCCCC"/>
                </a:solidFill>
                <a:effectLst/>
                <a:latin typeface="Menlo" panose="020B0609030804020204" pitchFamily="49" charset="0"/>
              </a:rPr>
              <a:t>)</a:t>
            </a:r>
          </a:p>
          <a:p>
            <a:pPr>
              <a:lnSpc>
                <a:spcPts val="1725"/>
              </a:lnSpc>
            </a:pPr>
            <a:r>
              <a:rPr lang="en-US" b="0" dirty="0" err="1">
                <a:solidFill>
                  <a:srgbClr val="9CDCFE"/>
                </a:solidFill>
                <a:effectLst/>
                <a:latin typeface="Menlo" panose="020B0609030804020204" pitchFamily="49" charset="0"/>
              </a:rPr>
              <a:t>test_dataset</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datasets</a:t>
            </a:r>
            <a:r>
              <a:rPr lang="en-US" b="0" dirty="0" err="1">
                <a:solidFill>
                  <a:srgbClr val="CCCCCC"/>
                </a:solidFill>
                <a:effectLst/>
                <a:latin typeface="Menlo" panose="020B0609030804020204" pitchFamily="49" charset="0"/>
              </a:rPr>
              <a:t>.MNIST</a:t>
            </a:r>
            <a:r>
              <a:rPr lang="en-US" b="0" dirty="0">
                <a:solidFill>
                  <a:srgbClr val="CCCCCC"/>
                </a:solidFill>
                <a:effectLst/>
                <a:latin typeface="Menlo" panose="020B0609030804020204" pitchFamily="49" charset="0"/>
              </a:rPr>
              <a:t>(</a:t>
            </a:r>
          </a:p>
          <a:p>
            <a:pPr>
              <a:lnSpc>
                <a:spcPts val="1725"/>
              </a:lnSpc>
            </a:pPr>
            <a:r>
              <a:rPr lang="en-US" b="0" dirty="0">
                <a:solidFill>
                  <a:srgbClr val="9CDCFE"/>
                </a:solidFill>
                <a:effectLst/>
                <a:latin typeface="Menlo" panose="020B0609030804020204" pitchFamily="49" charset="0"/>
              </a:rPr>
              <a:t>root</a:t>
            </a:r>
            <a:r>
              <a:rPr lang="en-US" b="0" dirty="0">
                <a:solidFill>
                  <a:srgbClr val="D4D4D4"/>
                </a:solidFill>
                <a:effectLst/>
                <a:latin typeface="Menlo" panose="020B0609030804020204" pitchFamily="49" charset="0"/>
              </a:rPr>
              <a:t>=</a:t>
            </a:r>
            <a:r>
              <a:rPr lang="en-US" b="0" dirty="0">
                <a:solidFill>
                  <a:srgbClr val="CE9178"/>
                </a:solidFill>
                <a:effectLst/>
                <a:latin typeface="Menlo" panose="020B0609030804020204" pitchFamily="49" charset="0"/>
              </a:rPr>
              <a:t>"dataset/"</a:t>
            </a:r>
            <a:r>
              <a:rPr lang="en-US" b="0" dirty="0">
                <a:solidFill>
                  <a:srgbClr val="CCCCCC"/>
                </a:solidFill>
                <a:effectLst/>
                <a:latin typeface="Menlo" panose="020B0609030804020204" pitchFamily="49" charset="0"/>
              </a:rPr>
              <a:t>, </a:t>
            </a:r>
            <a:r>
              <a:rPr lang="en-US" b="0" dirty="0">
                <a:solidFill>
                  <a:srgbClr val="9CDCFE"/>
                </a:solidFill>
                <a:effectLst/>
                <a:latin typeface="Menlo" panose="020B0609030804020204" pitchFamily="49" charset="0"/>
              </a:rPr>
              <a:t>train</a:t>
            </a:r>
            <a:r>
              <a:rPr lang="en-US" b="0" dirty="0">
                <a:solidFill>
                  <a:srgbClr val="D4D4D4"/>
                </a:solidFill>
                <a:effectLst/>
                <a:latin typeface="Menlo" panose="020B0609030804020204" pitchFamily="49" charset="0"/>
              </a:rPr>
              <a:t>=</a:t>
            </a:r>
            <a:r>
              <a:rPr lang="en-US" b="0" dirty="0">
                <a:solidFill>
                  <a:srgbClr val="569CD6"/>
                </a:solidFill>
                <a:effectLst/>
                <a:latin typeface="Menlo" panose="020B0609030804020204" pitchFamily="49" charset="0"/>
              </a:rPr>
              <a:t>False</a:t>
            </a:r>
            <a:r>
              <a:rPr lang="en-US" b="0" dirty="0">
                <a:solidFill>
                  <a:srgbClr val="CCCCCC"/>
                </a:solidFill>
                <a:effectLst/>
                <a:latin typeface="Menlo" panose="020B0609030804020204" pitchFamily="49" charset="0"/>
              </a:rPr>
              <a:t>, </a:t>
            </a:r>
            <a:r>
              <a:rPr lang="en-US" b="0" dirty="0">
                <a:solidFill>
                  <a:srgbClr val="9CDCFE"/>
                </a:solidFill>
                <a:effectLst/>
                <a:latin typeface="Menlo" panose="020B0609030804020204" pitchFamily="49" charset="0"/>
              </a:rPr>
              <a:t>transform</a:t>
            </a:r>
            <a:r>
              <a:rPr lang="en-US" b="0" dirty="0">
                <a:solidFill>
                  <a:srgbClr val="D4D4D4"/>
                </a:solidFill>
                <a:effectLst/>
                <a:latin typeface="Menlo" panose="020B0609030804020204" pitchFamily="49" charset="0"/>
              </a:rPr>
              <a:t>=</a:t>
            </a:r>
            <a:r>
              <a:rPr lang="en-US" b="0" dirty="0" err="1">
                <a:solidFill>
                  <a:srgbClr val="4EC9B0"/>
                </a:solidFill>
                <a:effectLst/>
                <a:latin typeface="Menlo" panose="020B0609030804020204" pitchFamily="49" charset="0"/>
              </a:rPr>
              <a:t>transforms</a:t>
            </a:r>
            <a:r>
              <a:rPr lang="en-US" b="0" dirty="0" err="1">
                <a:solidFill>
                  <a:srgbClr val="CCCCCC"/>
                </a:solidFill>
                <a:effectLst/>
                <a:latin typeface="Menlo" panose="020B0609030804020204" pitchFamily="49" charset="0"/>
              </a:rPr>
              <a:t>.ToTensor</a:t>
            </a:r>
            <a:r>
              <a:rPr lang="en-US" b="0" dirty="0">
                <a:solidFill>
                  <a:srgbClr val="CCCCCC"/>
                </a:solidFill>
                <a:effectLst/>
                <a:latin typeface="Menlo" panose="020B0609030804020204" pitchFamily="49" charset="0"/>
              </a:rPr>
              <a:t>(), </a:t>
            </a:r>
            <a:r>
              <a:rPr lang="en-US" b="0" dirty="0">
                <a:solidFill>
                  <a:srgbClr val="9CDCFE"/>
                </a:solidFill>
                <a:effectLst/>
                <a:latin typeface="Menlo" panose="020B0609030804020204" pitchFamily="49" charset="0"/>
              </a:rPr>
              <a:t>download</a:t>
            </a:r>
            <a:r>
              <a:rPr lang="en-US" b="0" dirty="0">
                <a:solidFill>
                  <a:srgbClr val="D4D4D4"/>
                </a:solidFill>
                <a:effectLst/>
                <a:latin typeface="Menlo" panose="020B0609030804020204" pitchFamily="49" charset="0"/>
              </a:rPr>
              <a:t>=</a:t>
            </a:r>
            <a:r>
              <a:rPr lang="en-US" b="0" dirty="0">
                <a:solidFill>
                  <a:srgbClr val="569CD6"/>
                </a:solidFill>
                <a:effectLst/>
                <a:latin typeface="Menlo" panose="020B0609030804020204" pitchFamily="49" charset="0"/>
              </a:rPr>
              <a:t>True</a:t>
            </a:r>
            <a:r>
              <a:rPr lang="en-US" b="0" dirty="0">
                <a:solidFill>
                  <a:srgbClr val="CCCCCC"/>
                </a:solidFill>
                <a:effectLst/>
                <a:latin typeface="Menlo" panose="020B0609030804020204" pitchFamily="49" charset="0"/>
              </a:rPr>
              <a:t>)</a:t>
            </a:r>
            <a:br>
              <a:rPr lang="en-US" b="0" dirty="0">
                <a:solidFill>
                  <a:srgbClr val="CCCCCC"/>
                </a:solidFill>
                <a:effectLst/>
                <a:latin typeface="Menlo" panose="020B0609030804020204" pitchFamily="49" charset="0"/>
              </a:rPr>
            </a:br>
            <a:endParaRPr lang="en-US" b="0" dirty="0">
              <a:solidFill>
                <a:srgbClr val="CCCCCC"/>
              </a:solidFill>
              <a:effectLst/>
              <a:latin typeface="Menlo" panose="020B0609030804020204" pitchFamily="49" charset="0"/>
            </a:endParaRPr>
          </a:p>
          <a:p>
            <a:pPr>
              <a:lnSpc>
                <a:spcPts val="1725"/>
              </a:lnSpc>
            </a:pPr>
            <a:r>
              <a:rPr lang="en-US" b="0" dirty="0" err="1">
                <a:solidFill>
                  <a:srgbClr val="9CDCFE"/>
                </a:solidFill>
                <a:effectLst/>
                <a:latin typeface="Menlo" panose="020B0609030804020204" pitchFamily="49" charset="0"/>
              </a:rPr>
              <a:t>train_loader</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CCCCCC"/>
                </a:solidFill>
                <a:effectLst/>
                <a:latin typeface="Menlo" panose="020B0609030804020204" pitchFamily="49" charset="0"/>
              </a:rPr>
              <a:t>DataLoader</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dataset</a:t>
            </a:r>
            <a:r>
              <a:rPr lang="en-US" b="0" dirty="0">
                <a:solidFill>
                  <a:srgbClr val="D4D4D4"/>
                </a:solidFill>
                <a:effectLst/>
                <a:latin typeface="Menlo" panose="020B0609030804020204" pitchFamily="49" charset="0"/>
              </a:rPr>
              <a:t>=</a:t>
            </a:r>
            <a:r>
              <a:rPr lang="en-US" b="0" dirty="0" err="1">
                <a:solidFill>
                  <a:srgbClr val="9CDCFE"/>
                </a:solidFill>
                <a:effectLst/>
                <a:latin typeface="Menlo" panose="020B0609030804020204" pitchFamily="49" charset="0"/>
              </a:rPr>
              <a:t>train_dataset</a:t>
            </a:r>
            <a:r>
              <a:rPr lang="en-US" b="0" dirty="0">
                <a:solidFill>
                  <a:srgbClr val="CCCCCC"/>
                </a:solidFill>
                <a:effectLst/>
                <a:latin typeface="Menlo" panose="020B0609030804020204" pitchFamily="49" charset="0"/>
              </a:rPr>
              <a:t>, </a:t>
            </a:r>
            <a:r>
              <a:rPr lang="en-US" b="0" dirty="0" err="1">
                <a:solidFill>
                  <a:srgbClr val="9CDCFE"/>
                </a:solidFill>
                <a:effectLst/>
                <a:latin typeface="Menlo" panose="020B0609030804020204" pitchFamily="49" charset="0"/>
              </a:rPr>
              <a:t>batch_size</a:t>
            </a:r>
            <a:r>
              <a:rPr lang="en-US" b="0" dirty="0">
                <a:solidFill>
                  <a:srgbClr val="D4D4D4"/>
                </a:solidFill>
                <a:effectLst/>
                <a:latin typeface="Menlo" panose="020B0609030804020204" pitchFamily="49" charset="0"/>
              </a:rPr>
              <a:t>=</a:t>
            </a:r>
            <a:r>
              <a:rPr lang="en-US" b="0" dirty="0" err="1">
                <a:solidFill>
                  <a:srgbClr val="9CDCFE"/>
                </a:solidFill>
                <a:effectLst/>
                <a:latin typeface="Menlo" panose="020B0609030804020204" pitchFamily="49" charset="0"/>
              </a:rPr>
              <a:t>batch_size</a:t>
            </a:r>
            <a:r>
              <a:rPr lang="en-US" b="0" dirty="0" err="1">
                <a:solidFill>
                  <a:srgbClr val="CCCCCC"/>
                </a:solidFill>
                <a:effectLst/>
                <a:latin typeface="Menlo" panose="020B0609030804020204" pitchFamily="49" charset="0"/>
              </a:rPr>
              <a:t>,</a:t>
            </a:r>
            <a:r>
              <a:rPr lang="en-US" b="0" dirty="0" err="1">
                <a:solidFill>
                  <a:srgbClr val="9CDCFE"/>
                </a:solidFill>
                <a:effectLst/>
                <a:latin typeface="Menlo" panose="020B0609030804020204" pitchFamily="49" charset="0"/>
              </a:rPr>
              <a:t>shuffle</a:t>
            </a:r>
            <a:r>
              <a:rPr lang="en-US" b="0" dirty="0">
                <a:solidFill>
                  <a:srgbClr val="D4D4D4"/>
                </a:solidFill>
                <a:effectLst/>
                <a:latin typeface="Menlo" panose="020B0609030804020204" pitchFamily="49" charset="0"/>
              </a:rPr>
              <a:t>=</a:t>
            </a:r>
            <a:r>
              <a:rPr lang="en-US" b="0" dirty="0">
                <a:solidFill>
                  <a:srgbClr val="569CD6"/>
                </a:solidFill>
                <a:effectLst/>
                <a:latin typeface="Menlo" panose="020B0609030804020204" pitchFamily="49" charset="0"/>
              </a:rPr>
              <a:t>True</a:t>
            </a:r>
            <a:r>
              <a:rPr lang="en-US" b="0" dirty="0">
                <a:solidFill>
                  <a:srgbClr val="CCCCCC"/>
                </a:solidFill>
                <a:effectLst/>
                <a:latin typeface="Menlo" panose="020B0609030804020204" pitchFamily="49" charset="0"/>
              </a:rPr>
              <a:t>)</a:t>
            </a:r>
          </a:p>
          <a:p>
            <a:pPr>
              <a:lnSpc>
                <a:spcPts val="1725"/>
              </a:lnSpc>
            </a:pPr>
            <a:r>
              <a:rPr lang="en-US" b="0" dirty="0" err="1">
                <a:solidFill>
                  <a:srgbClr val="9CDCFE"/>
                </a:solidFill>
                <a:effectLst/>
                <a:latin typeface="Menlo" panose="020B0609030804020204" pitchFamily="49" charset="0"/>
              </a:rPr>
              <a:t>test_loader</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CCCCCC"/>
                </a:solidFill>
                <a:effectLst/>
                <a:latin typeface="Menlo" panose="020B0609030804020204" pitchFamily="49" charset="0"/>
              </a:rPr>
              <a:t>DataLoader</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dataset</a:t>
            </a:r>
            <a:r>
              <a:rPr lang="en-US" b="0" dirty="0">
                <a:solidFill>
                  <a:srgbClr val="D4D4D4"/>
                </a:solidFill>
                <a:effectLst/>
                <a:latin typeface="Menlo" panose="020B0609030804020204" pitchFamily="49" charset="0"/>
              </a:rPr>
              <a:t>=</a:t>
            </a:r>
            <a:r>
              <a:rPr lang="en-US" b="0" dirty="0" err="1">
                <a:solidFill>
                  <a:srgbClr val="9CDCFE"/>
                </a:solidFill>
                <a:effectLst/>
                <a:latin typeface="Menlo" panose="020B0609030804020204" pitchFamily="49" charset="0"/>
              </a:rPr>
              <a:t>test_dataset</a:t>
            </a:r>
            <a:r>
              <a:rPr lang="en-US" b="0" dirty="0">
                <a:solidFill>
                  <a:srgbClr val="CCCCCC"/>
                </a:solidFill>
                <a:effectLst/>
                <a:latin typeface="Menlo" panose="020B0609030804020204" pitchFamily="49" charset="0"/>
              </a:rPr>
              <a:t>, </a:t>
            </a:r>
            <a:r>
              <a:rPr lang="en-US" b="0" dirty="0" err="1">
                <a:solidFill>
                  <a:srgbClr val="9CDCFE"/>
                </a:solidFill>
                <a:effectLst/>
                <a:latin typeface="Menlo" panose="020B0609030804020204" pitchFamily="49" charset="0"/>
              </a:rPr>
              <a:t>batch_size</a:t>
            </a:r>
            <a:r>
              <a:rPr lang="en-US" b="0" dirty="0">
                <a:solidFill>
                  <a:srgbClr val="D4D4D4"/>
                </a:solidFill>
                <a:effectLst/>
                <a:latin typeface="Menlo" panose="020B0609030804020204" pitchFamily="49" charset="0"/>
              </a:rPr>
              <a:t>=</a:t>
            </a:r>
            <a:r>
              <a:rPr lang="en-US" b="0" dirty="0" err="1">
                <a:solidFill>
                  <a:srgbClr val="9CDCFE"/>
                </a:solidFill>
                <a:effectLst/>
                <a:latin typeface="Menlo" panose="020B0609030804020204" pitchFamily="49" charset="0"/>
              </a:rPr>
              <a:t>batch_size</a:t>
            </a:r>
            <a:r>
              <a:rPr lang="en-US" b="0" dirty="0">
                <a:solidFill>
                  <a:srgbClr val="CCCCCC"/>
                </a:solidFill>
                <a:effectLst/>
                <a:latin typeface="Menlo" panose="020B0609030804020204" pitchFamily="49" charset="0"/>
              </a:rPr>
              <a:t>, </a:t>
            </a:r>
            <a:r>
              <a:rPr lang="en-US" b="0" dirty="0">
                <a:solidFill>
                  <a:srgbClr val="9CDCFE"/>
                </a:solidFill>
                <a:effectLst/>
                <a:latin typeface="Menlo" panose="020B0609030804020204" pitchFamily="49" charset="0"/>
              </a:rPr>
              <a:t>shuffle</a:t>
            </a:r>
            <a:r>
              <a:rPr lang="en-US" b="0" dirty="0">
                <a:solidFill>
                  <a:srgbClr val="D4D4D4"/>
                </a:solidFill>
                <a:effectLst/>
                <a:latin typeface="Menlo" panose="020B0609030804020204" pitchFamily="49" charset="0"/>
              </a:rPr>
              <a:t>=</a:t>
            </a:r>
            <a:r>
              <a:rPr lang="en-US" b="0" dirty="0">
                <a:solidFill>
                  <a:srgbClr val="569CD6"/>
                </a:solidFill>
                <a:effectLst/>
                <a:latin typeface="Menlo" panose="020B0609030804020204" pitchFamily="49" charset="0"/>
              </a:rPr>
              <a:t>True</a:t>
            </a:r>
            <a:r>
              <a:rPr lang="en-US" b="0" dirty="0">
                <a:solidFill>
                  <a:srgbClr val="CCCCCC"/>
                </a:solidFill>
                <a:effectLst/>
                <a:latin typeface="Menlo" panose="020B0609030804020204" pitchFamily="49" charset="0"/>
              </a:rPr>
              <a:t>)</a:t>
            </a: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100" dirty="0">
                <a:effectLst/>
                <a:latin typeface="Consolas" panose="020B0609020204030204" pitchFamily="49" charset="0"/>
                <a:ea typeface="Times New Roman" panose="02020603050405020304" pitchFamily="18" charset="0"/>
                <a:cs typeface="Consolas" panose="020B0609020204030204" pitchFamily="49" charset="0"/>
              </a:rPr>
              <a:t> </a:t>
            </a:r>
          </a:p>
        </p:txBody>
      </p:sp>
      <p:sp>
        <p:nvSpPr>
          <p:cNvPr id="3" name="Rectangle 2">
            <a:extLst>
              <a:ext uri="{FF2B5EF4-FFF2-40B4-BE49-F238E27FC236}">
                <a16:creationId xmlns:a16="http://schemas.microsoft.com/office/drawing/2014/main" id="{706C55FE-E703-F726-5984-B0F64F8FA540}"/>
              </a:ext>
            </a:extLst>
          </p:cNvPr>
          <p:cNvSpPr/>
          <p:nvPr/>
        </p:nvSpPr>
        <p:spPr>
          <a:xfrm>
            <a:off x="1751012" y="4884738"/>
            <a:ext cx="9024840" cy="1143000"/>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Download the </a:t>
            </a:r>
            <a:r>
              <a:rPr lang="en-US" dirty="0" err="1">
                <a:solidFill>
                  <a:schemeClr val="tx2"/>
                </a:solidFill>
                <a:latin typeface="Arial" panose="020B0604020202020204" pitchFamily="34" charset="0"/>
                <a:cs typeface="Arial" panose="020B0604020202020204" pitchFamily="34" charset="0"/>
              </a:rPr>
              <a:t>mnist</a:t>
            </a:r>
            <a:r>
              <a:rPr lang="en-US" dirty="0">
                <a:solidFill>
                  <a:schemeClr val="tx2"/>
                </a:solidFill>
                <a:latin typeface="Arial" panose="020B0604020202020204" pitchFamily="34" charset="0"/>
                <a:cs typeface="Arial" panose="020B0604020202020204" pitchFamily="34" charset="0"/>
              </a:rPr>
              <a:t> training and testing dataset. </a:t>
            </a:r>
          </a:p>
          <a:p>
            <a:r>
              <a:rPr lang="en-US" dirty="0" err="1">
                <a:solidFill>
                  <a:schemeClr val="tx2"/>
                </a:solidFill>
                <a:latin typeface="Arial" panose="020B0604020202020204" pitchFamily="34" charset="0"/>
                <a:cs typeface="Arial" panose="020B0604020202020204" pitchFamily="34" charset="0"/>
              </a:rPr>
              <a:t>Transforms.ToTensor</a:t>
            </a:r>
            <a:r>
              <a:rPr lang="en-US" dirty="0">
                <a:solidFill>
                  <a:schemeClr val="tx2"/>
                </a:solidFill>
                <a:latin typeface="Arial" panose="020B0604020202020204" pitchFamily="34" charset="0"/>
                <a:cs typeface="Arial" panose="020B0604020202020204" pitchFamily="34" charset="0"/>
              </a:rPr>
              <a:t> just converts the input to tensor.</a:t>
            </a:r>
            <a:br>
              <a:rPr lang="en-US" dirty="0">
                <a:solidFill>
                  <a:schemeClr val="tx2"/>
                </a:solidFill>
                <a:latin typeface="Arial" panose="020B0604020202020204" pitchFamily="34" charset="0"/>
                <a:cs typeface="Arial" panose="020B0604020202020204" pitchFamily="34" charset="0"/>
              </a:rPr>
            </a:br>
            <a:br>
              <a:rPr lang="en-US" dirty="0">
                <a:solidFill>
                  <a:schemeClr val="tx2"/>
                </a:solidFill>
                <a:latin typeface="Arial" panose="020B0604020202020204" pitchFamily="34" charset="0"/>
                <a:cs typeface="Arial" panose="020B0604020202020204" pitchFamily="34" charset="0"/>
              </a:rPr>
            </a:br>
            <a:r>
              <a:rPr lang="en-US" dirty="0">
                <a:solidFill>
                  <a:schemeClr val="tx2"/>
                </a:solidFill>
                <a:latin typeface="Arial" panose="020B0604020202020204" pitchFamily="34" charset="0"/>
                <a:cs typeface="Arial" panose="020B0604020202020204" pitchFamily="34" charset="0"/>
              </a:rPr>
              <a:t>Initialize two </a:t>
            </a:r>
            <a:r>
              <a:rPr lang="en-US" dirty="0" err="1">
                <a:solidFill>
                  <a:schemeClr val="tx2"/>
                </a:solidFill>
                <a:latin typeface="Arial" panose="020B0604020202020204" pitchFamily="34" charset="0"/>
                <a:cs typeface="Arial" panose="020B0604020202020204" pitchFamily="34" charset="0"/>
              </a:rPr>
              <a:t>DataLoaders</a:t>
            </a:r>
            <a:r>
              <a:rPr lang="en-US" dirty="0">
                <a:solidFill>
                  <a:schemeClr val="tx2"/>
                </a:solidFill>
                <a:latin typeface="Arial" panose="020B0604020202020204" pitchFamily="34" charset="0"/>
                <a:cs typeface="Arial" panose="020B0604020202020204" pitchFamily="34" charset="0"/>
              </a:rPr>
              <a:t>, one for training and one for testing, using a </a:t>
            </a:r>
            <a:r>
              <a:rPr lang="en-US" dirty="0" err="1">
                <a:solidFill>
                  <a:schemeClr val="tx2"/>
                </a:solidFill>
                <a:latin typeface="Arial" panose="020B0604020202020204" pitchFamily="34" charset="0"/>
                <a:cs typeface="Arial" panose="020B0604020202020204" pitchFamily="34" charset="0"/>
              </a:rPr>
              <a:t>batch_size</a:t>
            </a:r>
            <a:r>
              <a:rPr lang="en-US" dirty="0">
                <a:solidFill>
                  <a:schemeClr val="tx2"/>
                </a:solidFill>
                <a:latin typeface="Arial" panose="020B0604020202020204" pitchFamily="34" charset="0"/>
                <a:cs typeface="Arial" panose="020B0604020202020204" pitchFamily="34" charset="0"/>
              </a:rPr>
              <a:t> of 64</a:t>
            </a:r>
          </a:p>
        </p:txBody>
      </p:sp>
    </p:spTree>
    <p:extLst>
      <p:ext uri="{BB962C8B-B14F-4D97-AF65-F5344CB8AC3E}">
        <p14:creationId xmlns:p14="http://schemas.microsoft.com/office/powerpoint/2010/main" val="40033435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9572B-F07C-35A9-D12D-19F442BCCA0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3FA7AA-10E6-B4C9-A74A-A900272E14B4}"/>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958A93F4-23DA-A951-F088-9055545D5A28}"/>
              </a:ext>
            </a:extLst>
          </p:cNvPr>
          <p:cNvSpPr>
            <a:spLocks noGrp="1"/>
          </p:cNvSpPr>
          <p:nvPr>
            <p:ph idx="1"/>
          </p:nvPr>
        </p:nvSpPr>
        <p:spPr>
          <a:xfrm>
            <a:off x="1645611"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Let’s put all of these together and created a simple training:</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251A97C0-971D-38D0-BAB2-F190F31616B2}"/>
              </a:ext>
            </a:extLst>
          </p:cNvPr>
          <p:cNvSpPr/>
          <p:nvPr/>
        </p:nvSpPr>
        <p:spPr>
          <a:xfrm>
            <a:off x="1751012" y="2019299"/>
            <a:ext cx="9144000" cy="162423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725"/>
              </a:lnSpc>
            </a:pPr>
            <a:r>
              <a:rPr lang="en-US" b="0" dirty="0">
                <a:solidFill>
                  <a:srgbClr val="6A9955"/>
                </a:solidFill>
                <a:effectLst/>
                <a:latin typeface="Menlo" panose="020B0609030804020204" pitchFamily="49" charset="0"/>
              </a:rPr>
              <a:t># Initialize network</a:t>
            </a:r>
            <a:endParaRPr lang="en-US" b="0" dirty="0">
              <a:solidFill>
                <a:srgbClr val="CCCCCC"/>
              </a:solidFill>
              <a:effectLst/>
              <a:latin typeface="Menlo" panose="020B0609030804020204" pitchFamily="49" charset="0"/>
            </a:endParaRPr>
          </a:p>
          <a:p>
            <a:pPr>
              <a:lnSpc>
                <a:spcPts val="1725"/>
              </a:lnSpc>
            </a:pPr>
            <a:r>
              <a:rPr lang="en-US" b="0" dirty="0">
                <a:solidFill>
                  <a:srgbClr val="9CDCFE"/>
                </a:solidFill>
                <a:effectLst/>
                <a:latin typeface="Menlo" panose="020B0609030804020204" pitchFamily="49" charset="0"/>
              </a:rPr>
              <a:t>model</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a:solidFill>
                  <a:srgbClr val="4EC9B0"/>
                </a:solidFill>
                <a:effectLst/>
                <a:latin typeface="Menlo" panose="020B0609030804020204" pitchFamily="49" charset="0"/>
              </a:rPr>
              <a:t>NN</a:t>
            </a:r>
            <a:r>
              <a:rPr lang="en-US" b="0" dirty="0">
                <a:solidFill>
                  <a:srgbClr val="CCCCCC"/>
                </a:solidFill>
                <a:effectLst/>
                <a:latin typeface="Menlo" panose="020B0609030804020204" pitchFamily="49" charset="0"/>
              </a:rPr>
              <a:t>(</a:t>
            </a:r>
            <a:r>
              <a:rPr lang="en-US" b="0" dirty="0" err="1">
                <a:solidFill>
                  <a:srgbClr val="9CDCFE"/>
                </a:solidFill>
                <a:effectLst/>
                <a:latin typeface="Menlo" panose="020B0609030804020204" pitchFamily="49" charset="0"/>
              </a:rPr>
              <a:t>input_size</a:t>
            </a:r>
            <a:r>
              <a:rPr lang="en-US" b="0" dirty="0">
                <a:solidFill>
                  <a:srgbClr val="D4D4D4"/>
                </a:solidFill>
                <a:effectLst/>
                <a:latin typeface="Menlo" panose="020B0609030804020204" pitchFamily="49" charset="0"/>
              </a:rPr>
              <a:t>=</a:t>
            </a:r>
            <a:r>
              <a:rPr lang="en-US" b="0" dirty="0" err="1">
                <a:solidFill>
                  <a:srgbClr val="9CDCFE"/>
                </a:solidFill>
                <a:effectLst/>
                <a:latin typeface="Menlo" panose="020B0609030804020204" pitchFamily="49" charset="0"/>
              </a:rPr>
              <a:t>input_size</a:t>
            </a:r>
            <a:r>
              <a:rPr lang="en-US" b="0" dirty="0">
                <a:solidFill>
                  <a:srgbClr val="CCCCCC"/>
                </a:solidFill>
                <a:effectLst/>
                <a:latin typeface="Menlo" panose="020B0609030804020204" pitchFamily="49" charset="0"/>
              </a:rPr>
              <a:t>, </a:t>
            </a:r>
            <a:r>
              <a:rPr lang="en-US" b="0" dirty="0" err="1">
                <a:solidFill>
                  <a:srgbClr val="9CDCFE"/>
                </a:solidFill>
                <a:effectLst/>
                <a:latin typeface="Menlo" panose="020B0609030804020204" pitchFamily="49" charset="0"/>
              </a:rPr>
              <a:t>num_classes</a:t>
            </a:r>
            <a:r>
              <a:rPr lang="en-US" b="0" dirty="0">
                <a:solidFill>
                  <a:srgbClr val="D4D4D4"/>
                </a:solidFill>
                <a:effectLst/>
                <a:latin typeface="Menlo" panose="020B0609030804020204" pitchFamily="49" charset="0"/>
              </a:rPr>
              <a:t>=</a:t>
            </a:r>
            <a:r>
              <a:rPr lang="en-US" b="0" dirty="0" err="1">
                <a:solidFill>
                  <a:srgbClr val="9CDCFE"/>
                </a:solidFill>
                <a:effectLst/>
                <a:latin typeface="Menlo" panose="020B0609030804020204" pitchFamily="49" charset="0"/>
              </a:rPr>
              <a:t>num_classes</a:t>
            </a:r>
            <a:r>
              <a:rPr lang="en-US" b="0" dirty="0">
                <a:solidFill>
                  <a:srgbClr val="CCCCCC"/>
                </a:solidFill>
                <a:effectLst/>
                <a:latin typeface="Menlo" panose="020B0609030804020204" pitchFamily="49" charset="0"/>
              </a:rPr>
              <a:t>).to(</a:t>
            </a:r>
            <a:r>
              <a:rPr lang="en-US" b="0" dirty="0">
                <a:solidFill>
                  <a:srgbClr val="9CDCFE"/>
                </a:solidFill>
                <a:effectLst/>
                <a:latin typeface="Menlo" panose="020B0609030804020204" pitchFamily="49" charset="0"/>
              </a:rPr>
              <a:t>device</a:t>
            </a:r>
            <a:r>
              <a:rPr lang="en-US" b="0" dirty="0">
                <a:solidFill>
                  <a:srgbClr val="CCCCCC"/>
                </a:solidFill>
                <a:effectLst/>
                <a:latin typeface="Menlo" panose="020B0609030804020204" pitchFamily="49" charset="0"/>
              </a:rPr>
              <a:t>)</a:t>
            </a:r>
          </a:p>
          <a:p>
            <a:pPr>
              <a:lnSpc>
                <a:spcPts val="1725"/>
              </a:lnSpc>
            </a:pPr>
            <a:br>
              <a:rPr lang="en-US" b="0" dirty="0">
                <a:solidFill>
                  <a:srgbClr val="CCCCCC"/>
                </a:solidFill>
                <a:effectLst/>
                <a:latin typeface="Menlo" panose="020B0609030804020204" pitchFamily="49" charset="0"/>
              </a:rPr>
            </a:br>
            <a:r>
              <a:rPr lang="en-US" b="0" dirty="0">
                <a:solidFill>
                  <a:srgbClr val="6A9955"/>
                </a:solidFill>
                <a:effectLst/>
                <a:latin typeface="Menlo" panose="020B0609030804020204" pitchFamily="49" charset="0"/>
              </a:rPr>
              <a:t># Loss and optimizer</a:t>
            </a:r>
            <a:endParaRPr lang="en-US" b="0" dirty="0">
              <a:solidFill>
                <a:srgbClr val="CCCCCC"/>
              </a:solidFill>
              <a:effectLst/>
              <a:latin typeface="Menlo" panose="020B0609030804020204" pitchFamily="49" charset="0"/>
            </a:endParaRPr>
          </a:p>
          <a:p>
            <a:pPr>
              <a:lnSpc>
                <a:spcPts val="1725"/>
              </a:lnSpc>
            </a:pPr>
            <a:r>
              <a:rPr lang="en-US" b="0" dirty="0">
                <a:solidFill>
                  <a:srgbClr val="9CDCFE"/>
                </a:solidFill>
                <a:effectLst/>
                <a:latin typeface="Menlo" panose="020B0609030804020204" pitchFamily="49" charset="0"/>
              </a:rPr>
              <a:t>criterion</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CCCCCC"/>
                </a:solidFill>
                <a:effectLst/>
                <a:latin typeface="Menlo" panose="020B0609030804020204" pitchFamily="49" charset="0"/>
              </a:rPr>
              <a:t>nn.CrossEntropyLoss</a:t>
            </a:r>
            <a:r>
              <a:rPr lang="en-US" b="0" dirty="0">
                <a:solidFill>
                  <a:srgbClr val="CCCCCC"/>
                </a:solidFill>
                <a:effectLst/>
                <a:latin typeface="Menlo" panose="020B0609030804020204" pitchFamily="49" charset="0"/>
              </a:rPr>
              <a:t>()</a:t>
            </a:r>
          </a:p>
          <a:p>
            <a:pPr>
              <a:lnSpc>
                <a:spcPts val="1725"/>
              </a:lnSpc>
            </a:pPr>
            <a:r>
              <a:rPr lang="en-US" b="0" dirty="0">
                <a:solidFill>
                  <a:srgbClr val="9CDCFE"/>
                </a:solidFill>
                <a:effectLst/>
                <a:latin typeface="Menlo" panose="020B0609030804020204" pitchFamily="49" charset="0"/>
              </a:rPr>
              <a:t>optimizer</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CCCCCC"/>
                </a:solidFill>
                <a:effectLst/>
                <a:latin typeface="Menlo" panose="020B0609030804020204" pitchFamily="49" charset="0"/>
              </a:rPr>
              <a:t>optim.Adam</a:t>
            </a:r>
            <a:r>
              <a:rPr lang="en-US" b="0" dirty="0">
                <a:solidFill>
                  <a:srgbClr val="CCCCCC"/>
                </a:solidFill>
                <a:effectLst/>
                <a:latin typeface="Menlo" panose="020B0609030804020204" pitchFamily="49" charset="0"/>
              </a:rPr>
              <a:t>(</a:t>
            </a:r>
            <a:r>
              <a:rPr lang="en-US" b="0" dirty="0" err="1">
                <a:solidFill>
                  <a:srgbClr val="9CDCFE"/>
                </a:solidFill>
                <a:effectLst/>
                <a:latin typeface="Menlo" panose="020B0609030804020204" pitchFamily="49" charset="0"/>
              </a:rPr>
              <a:t>model</a:t>
            </a:r>
            <a:r>
              <a:rPr lang="en-US" b="0" dirty="0" err="1">
                <a:solidFill>
                  <a:srgbClr val="CCCCCC"/>
                </a:solidFill>
                <a:effectLst/>
                <a:latin typeface="Menlo" panose="020B0609030804020204" pitchFamily="49" charset="0"/>
              </a:rPr>
              <a:t>.parameters</a:t>
            </a:r>
            <a:r>
              <a:rPr lang="en-US" b="0" dirty="0">
                <a:solidFill>
                  <a:srgbClr val="CCCCCC"/>
                </a:solidFill>
                <a:effectLst/>
                <a:latin typeface="Menlo" panose="020B0609030804020204" pitchFamily="49" charset="0"/>
              </a:rPr>
              <a:t>(), </a:t>
            </a:r>
            <a:r>
              <a:rPr lang="en-US" b="0" dirty="0" err="1">
                <a:solidFill>
                  <a:srgbClr val="9CDCFE"/>
                </a:solidFill>
                <a:effectLst/>
                <a:latin typeface="Menlo" panose="020B0609030804020204" pitchFamily="49" charset="0"/>
              </a:rPr>
              <a:t>lr</a:t>
            </a:r>
            <a:r>
              <a:rPr lang="en-US" b="0" dirty="0">
                <a:solidFill>
                  <a:srgbClr val="D4D4D4"/>
                </a:solidFill>
                <a:effectLst/>
                <a:latin typeface="Menlo" panose="020B0609030804020204" pitchFamily="49" charset="0"/>
              </a:rPr>
              <a:t>=</a:t>
            </a:r>
            <a:r>
              <a:rPr lang="en-US" b="0" dirty="0" err="1">
                <a:solidFill>
                  <a:srgbClr val="9CDCFE"/>
                </a:solidFill>
                <a:effectLst/>
                <a:latin typeface="Menlo" panose="020B0609030804020204" pitchFamily="49" charset="0"/>
              </a:rPr>
              <a:t>learning_rate</a:t>
            </a:r>
            <a:r>
              <a:rPr lang="en-US" b="0" dirty="0">
                <a:solidFill>
                  <a:srgbClr val="CCCCCC"/>
                </a:solidFill>
                <a:effectLst/>
                <a:latin typeface="Menlo" panose="020B0609030804020204" pitchFamily="49" charset="0"/>
              </a:rPr>
              <a:t>)</a:t>
            </a:r>
          </a:p>
        </p:txBody>
      </p:sp>
      <p:sp>
        <p:nvSpPr>
          <p:cNvPr id="3" name="Rectangle 2">
            <a:extLst>
              <a:ext uri="{FF2B5EF4-FFF2-40B4-BE49-F238E27FC236}">
                <a16:creationId xmlns:a16="http://schemas.microsoft.com/office/drawing/2014/main" id="{814EEAC3-84F8-C259-8D15-BC57271132AE}"/>
              </a:ext>
            </a:extLst>
          </p:cNvPr>
          <p:cNvSpPr/>
          <p:nvPr/>
        </p:nvSpPr>
        <p:spPr>
          <a:xfrm>
            <a:off x="1751012" y="3992562"/>
            <a:ext cx="9024840" cy="1143000"/>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Initialize the network and transfer the model to the detected device(i.e. </a:t>
            </a:r>
            <a:r>
              <a:rPr lang="en-US" dirty="0" err="1">
                <a:solidFill>
                  <a:schemeClr val="tx2"/>
                </a:solidFill>
                <a:latin typeface="Arial" panose="020B0604020202020204" pitchFamily="34" charset="0"/>
                <a:cs typeface="Arial" panose="020B0604020202020204" pitchFamily="34" charset="0"/>
              </a:rPr>
              <a:t>gpu</a:t>
            </a:r>
            <a:r>
              <a:rPr lang="en-US" dirty="0">
                <a:solidFill>
                  <a:schemeClr val="tx2"/>
                </a:solidFill>
                <a:latin typeface="Arial" panose="020B0604020202020204" pitchFamily="34" charset="0"/>
                <a:cs typeface="Arial" panose="020B0604020202020204" pitchFamily="34" charset="0"/>
              </a:rPr>
              <a:t>)</a:t>
            </a:r>
          </a:p>
          <a:p>
            <a:endParaRPr lang="en-US" dirty="0">
              <a:solidFill>
                <a:schemeClr val="tx2"/>
              </a:solidFill>
              <a:latin typeface="Arial" panose="020B0604020202020204" pitchFamily="34" charset="0"/>
              <a:cs typeface="Arial" panose="020B0604020202020204" pitchFamily="34" charset="0"/>
            </a:endParaRPr>
          </a:p>
          <a:p>
            <a:r>
              <a:rPr lang="en-US" dirty="0">
                <a:solidFill>
                  <a:schemeClr val="tx2"/>
                </a:solidFill>
                <a:latin typeface="Arial" panose="020B0604020202020204" pitchFamily="34" charset="0"/>
                <a:cs typeface="Arial" panose="020B0604020202020204" pitchFamily="34" charset="0"/>
              </a:rPr>
              <a:t>Initialize a cross function: </a:t>
            </a:r>
            <a:r>
              <a:rPr lang="en-US" dirty="0" err="1">
                <a:solidFill>
                  <a:schemeClr val="tx2"/>
                </a:solidFill>
                <a:latin typeface="Arial" panose="020B0604020202020204" pitchFamily="34" charset="0"/>
                <a:cs typeface="Arial" panose="020B0604020202020204" pitchFamily="34" charset="0"/>
              </a:rPr>
              <a:t>CrossEntropy</a:t>
            </a:r>
            <a:br>
              <a:rPr lang="en-US" dirty="0">
                <a:solidFill>
                  <a:schemeClr val="tx2"/>
                </a:solidFill>
                <a:latin typeface="Arial" panose="020B0604020202020204" pitchFamily="34" charset="0"/>
                <a:cs typeface="Arial" panose="020B0604020202020204" pitchFamily="34" charset="0"/>
              </a:rPr>
            </a:br>
            <a:r>
              <a:rPr lang="en-US" dirty="0" err="1">
                <a:solidFill>
                  <a:schemeClr val="tx2"/>
                </a:solidFill>
                <a:latin typeface="Arial" panose="020B0604020202020204" pitchFamily="34" charset="0"/>
                <a:cs typeface="Arial" panose="020B0604020202020204" pitchFamily="34" charset="0"/>
              </a:rPr>
              <a:t>Intialize</a:t>
            </a:r>
            <a:r>
              <a:rPr lang="en-US" dirty="0">
                <a:solidFill>
                  <a:schemeClr val="tx2"/>
                </a:solidFill>
                <a:latin typeface="Arial" panose="020B0604020202020204" pitchFamily="34" charset="0"/>
                <a:cs typeface="Arial" panose="020B0604020202020204" pitchFamily="34" charset="0"/>
              </a:rPr>
              <a:t> an optimizer with the model parameters : Adam. </a:t>
            </a:r>
          </a:p>
        </p:txBody>
      </p:sp>
    </p:spTree>
    <p:extLst>
      <p:ext uri="{BB962C8B-B14F-4D97-AF65-F5344CB8AC3E}">
        <p14:creationId xmlns:p14="http://schemas.microsoft.com/office/powerpoint/2010/main" val="17206108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4EA0A-A476-A4EC-1C7E-2AE52096857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0A8347D-F7C5-3D65-1871-3BBA9BC229C5}"/>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8C295674-B1DE-D1DB-E69B-D363973AE0A6}"/>
              </a:ext>
            </a:extLst>
          </p:cNvPr>
          <p:cNvSpPr>
            <a:spLocks noGrp="1"/>
          </p:cNvSpPr>
          <p:nvPr>
            <p:ph idx="1"/>
          </p:nvPr>
        </p:nvSpPr>
        <p:spPr>
          <a:xfrm>
            <a:off x="1645611"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Let’s put all of these together and created a simple training:</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9058DE6D-910C-C7F6-7A20-8E64E3728123}"/>
              </a:ext>
            </a:extLst>
          </p:cNvPr>
          <p:cNvSpPr/>
          <p:nvPr/>
        </p:nvSpPr>
        <p:spPr>
          <a:xfrm>
            <a:off x="1751012" y="2113402"/>
            <a:ext cx="9144000" cy="245422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sz="1600"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for</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epoch</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in</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43C0A0"/>
                </a:solidFill>
                <a:effectLst/>
                <a:latin typeface="Consolas" panose="020B0609020204030204" pitchFamily="49" charset="0"/>
                <a:ea typeface="Aptos" panose="020B0004020202020204" pitchFamily="34" charset="0"/>
                <a:cs typeface="Consolas" panose="020B0609020204030204" pitchFamily="49" charset="0"/>
              </a:rPr>
              <a:t>range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num_epochs</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for</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batch_idx</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data</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targets</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in</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43C0A0"/>
                </a:solidFill>
                <a:effectLst/>
                <a:latin typeface="Consolas" panose="020B0609020204030204" pitchFamily="49" charset="0"/>
                <a:ea typeface="Aptos" panose="020B0004020202020204" pitchFamily="34" charset="0"/>
                <a:cs typeface="Consolas" panose="020B0609020204030204" pitchFamily="49" charset="0"/>
              </a:rPr>
              <a:t>enumerate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tqdm</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train_loader</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Get data to </a:t>
            </a:r>
            <a:r>
              <a:rPr lang="en-US" sz="1600" kern="0" dirty="0" err="1">
                <a:solidFill>
                  <a:srgbClr val="598A43"/>
                </a:solidFill>
                <a:effectLst/>
                <a:latin typeface="Consolas" panose="020B0609020204030204" pitchFamily="49" charset="0"/>
                <a:ea typeface="Aptos" panose="020B0004020202020204" pitchFamily="34" charset="0"/>
                <a:cs typeface="Consolas" panose="020B0609020204030204" pitchFamily="49" charset="0"/>
              </a:rPr>
              <a:t>cuda</a:t>
            </a:r>
            <a:r>
              <a:rPr lang="en-US" sz="1600"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if possible</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data</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data</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.to</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device</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device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targets</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targets</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.to</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device</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device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Get to correct shape</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data</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data</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.reshape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data</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.shape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100" dirty="0">
                <a:effectLst/>
                <a:latin typeface="Consolas" panose="020B0609020204030204" pitchFamily="49" charset="0"/>
                <a:ea typeface="Times New Roman" panose="02020603050405020304" pitchFamily="18" charset="0"/>
                <a:cs typeface="Consolas" panose="020B0609020204030204" pitchFamily="49" charset="0"/>
              </a:rPr>
              <a:t>        . . .</a:t>
            </a:r>
          </a:p>
        </p:txBody>
      </p:sp>
      <p:sp>
        <p:nvSpPr>
          <p:cNvPr id="3" name="Rectangle 2">
            <a:extLst>
              <a:ext uri="{FF2B5EF4-FFF2-40B4-BE49-F238E27FC236}">
                <a16:creationId xmlns:a16="http://schemas.microsoft.com/office/drawing/2014/main" id="{42E1EEEF-EB04-31B5-FCE5-9FF0CE37A042}"/>
              </a:ext>
            </a:extLst>
          </p:cNvPr>
          <p:cNvSpPr/>
          <p:nvPr/>
        </p:nvSpPr>
        <p:spPr>
          <a:xfrm>
            <a:off x="1751013" y="4673991"/>
            <a:ext cx="9144000" cy="1909371"/>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Enumerate through iterations and batches.</a:t>
            </a:r>
          </a:p>
          <a:p>
            <a:endParaRPr lang="en-US" dirty="0">
              <a:solidFill>
                <a:schemeClr val="tx2"/>
              </a:solidFill>
              <a:latin typeface="Arial" panose="020B0604020202020204" pitchFamily="34" charset="0"/>
              <a:cs typeface="Arial" panose="020B0604020202020204" pitchFamily="34" charset="0"/>
            </a:endParaRPr>
          </a:p>
          <a:p>
            <a:r>
              <a:rPr lang="en-US" dirty="0">
                <a:solidFill>
                  <a:schemeClr val="tx2"/>
                </a:solidFill>
                <a:latin typeface="Arial" panose="020B0604020202020204" pitchFamily="34" charset="0"/>
                <a:cs typeface="Arial" panose="020B0604020202020204" pitchFamily="34" charset="0"/>
              </a:rPr>
              <a:t>Enumerate(</a:t>
            </a:r>
            <a:r>
              <a:rPr lang="en-US" dirty="0" err="1">
                <a:solidFill>
                  <a:schemeClr val="tx2"/>
                </a:solidFill>
                <a:latin typeface="Arial" panose="020B0604020202020204" pitchFamily="34" charset="0"/>
                <a:cs typeface="Arial" panose="020B0604020202020204" pitchFamily="34" charset="0"/>
              </a:rPr>
              <a:t>tqdm</a:t>
            </a:r>
            <a:r>
              <a:rPr lang="en-US" dirty="0">
                <a:solidFill>
                  <a:schemeClr val="tx2"/>
                </a:solidFill>
                <a:latin typeface="Arial" panose="020B0604020202020204" pitchFamily="34" charset="0"/>
                <a:cs typeface="Arial" panose="020B0604020202020204" pitchFamily="34" charset="0"/>
              </a:rPr>
              <a:t>(</a:t>
            </a:r>
            <a:r>
              <a:rPr lang="en-US" dirty="0" err="1">
                <a:solidFill>
                  <a:schemeClr val="tx2"/>
                </a:solidFill>
                <a:latin typeface="Arial" panose="020B0604020202020204" pitchFamily="34" charset="0"/>
                <a:cs typeface="Arial" panose="020B0604020202020204" pitchFamily="34" charset="0"/>
              </a:rPr>
              <a:t>train_loader</a:t>
            </a:r>
            <a:r>
              <a:rPr lang="en-US" dirty="0">
                <a:solidFill>
                  <a:schemeClr val="tx2"/>
                </a:solidFill>
                <a:latin typeface="Arial" panose="020B0604020202020204" pitchFamily="34" charset="0"/>
                <a:cs typeface="Arial" panose="020B0604020202020204" pitchFamily="34" charset="0"/>
              </a:rPr>
              <a:t>)) is for displaying the </a:t>
            </a:r>
            <a:r>
              <a:rPr lang="en-US" dirty="0" err="1">
                <a:solidFill>
                  <a:schemeClr val="tx2"/>
                </a:solidFill>
                <a:latin typeface="Arial" panose="020B0604020202020204" pitchFamily="34" charset="0"/>
                <a:cs typeface="Arial" panose="020B0604020202020204" pitchFamily="34" charset="0"/>
              </a:rPr>
              <a:t>progressbar</a:t>
            </a:r>
            <a:r>
              <a:rPr lang="en-US" dirty="0">
                <a:solidFill>
                  <a:schemeClr val="tx2"/>
                </a:solidFill>
                <a:latin typeface="Arial" panose="020B0604020202020204" pitchFamily="34" charset="0"/>
                <a:cs typeface="Arial" panose="020B0604020202020204" pitchFamily="34" charset="0"/>
              </a:rPr>
              <a:t> and the </a:t>
            </a:r>
            <a:r>
              <a:rPr lang="en-US" dirty="0" err="1">
                <a:solidFill>
                  <a:schemeClr val="tx2"/>
                </a:solidFill>
                <a:latin typeface="Arial" panose="020B0604020202020204" pitchFamily="34" charset="0"/>
                <a:cs typeface="Arial" panose="020B0604020202020204" pitchFamily="34" charset="0"/>
              </a:rPr>
              <a:t>batch_index</a:t>
            </a:r>
            <a:br>
              <a:rPr lang="en-US" dirty="0">
                <a:solidFill>
                  <a:schemeClr val="tx2"/>
                </a:solidFill>
                <a:latin typeface="Arial" panose="020B0604020202020204" pitchFamily="34" charset="0"/>
                <a:cs typeface="Arial" panose="020B0604020202020204" pitchFamily="34" charset="0"/>
              </a:rPr>
            </a:br>
            <a:r>
              <a:rPr lang="en-US" dirty="0">
                <a:solidFill>
                  <a:schemeClr val="tx2"/>
                </a:solidFill>
                <a:latin typeface="Arial" panose="020B0604020202020204" pitchFamily="34" charset="0"/>
                <a:cs typeface="Arial" panose="020B0604020202020204" pitchFamily="34" charset="0"/>
              </a:rPr>
              <a:t>ex:</a:t>
            </a:r>
            <a:br>
              <a:rPr lang="en-US" dirty="0">
                <a:solidFill>
                  <a:schemeClr val="tx2"/>
                </a:solidFill>
                <a:latin typeface="Arial" panose="020B0604020202020204" pitchFamily="34" charset="0"/>
                <a:cs typeface="Arial" panose="020B0604020202020204" pitchFamily="34" charset="0"/>
              </a:rPr>
            </a:br>
            <a:r>
              <a:rPr lang="en-US" dirty="0">
                <a:solidFill>
                  <a:schemeClr val="tx2"/>
                </a:solidFill>
              </a:rPr>
              <a:t>78%|█████████████████████████████████████▎          | 730/938 [00:04&lt;00:01, 179.64it/s</a:t>
            </a:r>
          </a:p>
          <a:p>
            <a:endParaRPr lang="en-US" dirty="0">
              <a:solidFill>
                <a:schemeClr val="tx2"/>
              </a:solidFill>
              <a:latin typeface="Arial" panose="020B0604020202020204" pitchFamily="34" charset="0"/>
              <a:cs typeface="Arial" panose="020B0604020202020204" pitchFamily="34" charset="0"/>
            </a:endParaRPr>
          </a:p>
          <a:p>
            <a:r>
              <a:rPr lang="en-US" dirty="0">
                <a:solidFill>
                  <a:schemeClr val="tx2"/>
                </a:solidFill>
                <a:latin typeface="Arial" panose="020B0604020202020204" pitchFamily="34" charset="0"/>
                <a:cs typeface="Arial" panose="020B0604020202020204" pitchFamily="34" charset="0"/>
              </a:rPr>
              <a:t>Move the data and the labels to </a:t>
            </a:r>
            <a:r>
              <a:rPr lang="en-US" dirty="0" err="1">
                <a:solidFill>
                  <a:schemeClr val="tx2"/>
                </a:solidFill>
                <a:latin typeface="Arial" panose="020B0604020202020204" pitchFamily="34" charset="0"/>
                <a:cs typeface="Arial" panose="020B0604020202020204" pitchFamily="34" charset="0"/>
              </a:rPr>
              <a:t>gpu</a:t>
            </a:r>
            <a:r>
              <a:rPr lang="en-US" dirty="0">
                <a:solidFill>
                  <a:schemeClr val="tx2"/>
                </a:solidFill>
                <a:latin typeface="Arial" panose="020B0604020202020204" pitchFamily="34" charset="0"/>
                <a:cs typeface="Arial" panose="020B0604020202020204" pitchFamily="34" charset="0"/>
              </a:rPr>
              <a:t>.</a:t>
            </a:r>
          </a:p>
          <a:p>
            <a:r>
              <a:rPr lang="en-US" dirty="0">
                <a:solidFill>
                  <a:schemeClr val="tx2"/>
                </a:solidFill>
                <a:latin typeface="Arial" panose="020B0604020202020204" pitchFamily="34" charset="0"/>
                <a:cs typeface="Arial" panose="020B0604020202020204" pitchFamily="34" charset="0"/>
              </a:rPr>
              <a:t>Reshape the input data to the format expected by the network (</a:t>
            </a:r>
            <a:r>
              <a:rPr lang="en-US" dirty="0" err="1">
                <a:solidFill>
                  <a:schemeClr val="tx2"/>
                </a:solidFill>
                <a:latin typeface="Arial" panose="020B0604020202020204" pitchFamily="34" charset="0"/>
                <a:cs typeface="Arial" panose="020B0604020202020204" pitchFamily="34" charset="0"/>
              </a:rPr>
              <a:t>batch_size</a:t>
            </a:r>
            <a:r>
              <a:rPr lang="en-US" dirty="0">
                <a:solidFill>
                  <a:schemeClr val="tx2"/>
                </a:solidFill>
                <a:latin typeface="Arial" panose="020B0604020202020204" pitchFamily="34" charset="0"/>
                <a:cs typeface="Arial" panose="020B0604020202020204" pitchFamily="34" charset="0"/>
              </a:rPr>
              <a:t>, 784)</a:t>
            </a:r>
          </a:p>
        </p:txBody>
      </p:sp>
    </p:spTree>
    <p:extLst>
      <p:ext uri="{BB962C8B-B14F-4D97-AF65-F5344CB8AC3E}">
        <p14:creationId xmlns:p14="http://schemas.microsoft.com/office/powerpoint/2010/main" val="2249249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D9EA9-4FD9-4FF9-9162-A04F3C97E79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567375-8D0C-52C2-AA09-0D5228F2E883}"/>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79606AFE-FF7F-3410-1362-B2637EFAD56B}"/>
              </a:ext>
            </a:extLst>
          </p:cNvPr>
          <p:cNvSpPr>
            <a:spLocks noGrp="1"/>
          </p:cNvSpPr>
          <p:nvPr>
            <p:ph idx="1"/>
          </p:nvPr>
        </p:nvSpPr>
        <p:spPr>
          <a:xfrm>
            <a:off x="1645611"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Let’s put all of these together and created a simple training:</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4FD30479-DCBC-F2D8-1DF8-A4D62F953088}"/>
              </a:ext>
            </a:extLst>
          </p:cNvPr>
          <p:cNvSpPr/>
          <p:nvPr/>
        </p:nvSpPr>
        <p:spPr>
          <a:xfrm>
            <a:off x="1751012" y="2113402"/>
            <a:ext cx="9144000" cy="319011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for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epoch</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in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3C0A0"/>
                </a:solidFill>
                <a:effectLst/>
                <a:latin typeface="Consolas" panose="020B0609020204030204" pitchFamily="49" charset="0"/>
                <a:ea typeface="Aptos" panose="020B0004020202020204" pitchFamily="34" charset="0"/>
                <a:cs typeface="Consolas" panose="020B0609020204030204" pitchFamily="49" charset="0"/>
              </a:rPr>
              <a:t>range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num_epochs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for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batch_idx</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data</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targets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in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3C0A0"/>
                </a:solidFill>
                <a:effectLst/>
                <a:latin typeface="Consolas" panose="020B0609020204030204" pitchFamily="49" charset="0"/>
                <a:ea typeface="Aptos" panose="020B0004020202020204" pitchFamily="34" charset="0"/>
                <a:cs typeface="Consolas" panose="020B0609020204030204" pitchFamily="49" charset="0"/>
              </a:rPr>
              <a:t>enumerate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tqdm</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train_loader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100" dirty="0">
                <a:effectLst/>
                <a:latin typeface="Consolas" panose="020B0609020204030204" pitchFamily="49" charset="0"/>
                <a:ea typeface="Times New Roman" panose="02020603050405020304" pitchFamily="18" charset="0"/>
                <a:cs typeface="Consolas" panose="020B0609020204030204" pitchFamily="49" charset="0"/>
              </a:rPr>
              <a:t>        . . .  </a:t>
            </a:r>
          </a:p>
          <a:p>
            <a:pPr marL="0" marR="0"/>
            <a:r>
              <a:rPr lang="en-US" kern="100" dirty="0">
                <a:solidFill>
                  <a:srgbClr val="598A43"/>
                </a:solidFill>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Forward</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scores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model</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data</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loss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criterion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scores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targets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Backward</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optimizer</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.zero_grad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loss</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.backward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Gradient descent or </a:t>
            </a:r>
            <a:r>
              <a:rPr lang="en-US" kern="0" dirty="0" err="1">
                <a:solidFill>
                  <a:srgbClr val="598A43"/>
                </a:solidFill>
                <a:effectLst/>
                <a:latin typeface="Consolas" panose="020B0609020204030204" pitchFamily="49" charset="0"/>
                <a:ea typeface="Aptos" panose="020B0004020202020204" pitchFamily="34" charset="0"/>
                <a:cs typeface="Consolas" panose="020B0609020204030204" pitchFamily="49" charset="0"/>
              </a:rPr>
              <a:t>adam</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step</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optimizer</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.step</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p:txBody>
      </p:sp>
      <p:sp>
        <p:nvSpPr>
          <p:cNvPr id="3" name="Rectangle 2">
            <a:extLst>
              <a:ext uri="{FF2B5EF4-FFF2-40B4-BE49-F238E27FC236}">
                <a16:creationId xmlns:a16="http://schemas.microsoft.com/office/drawing/2014/main" id="{532D0B87-4587-201E-1C8B-074C2D5D777E}"/>
              </a:ext>
            </a:extLst>
          </p:cNvPr>
          <p:cNvSpPr/>
          <p:nvPr/>
        </p:nvSpPr>
        <p:spPr>
          <a:xfrm>
            <a:off x="6537011" y="3079385"/>
            <a:ext cx="4800601" cy="1909371"/>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1. Perform the forward pass</a:t>
            </a:r>
          </a:p>
          <a:p>
            <a:r>
              <a:rPr lang="en-US" dirty="0">
                <a:solidFill>
                  <a:schemeClr val="tx2"/>
                </a:solidFill>
                <a:latin typeface="Arial" panose="020B0604020202020204" pitchFamily="34" charset="0"/>
                <a:cs typeface="Arial" panose="020B0604020202020204" pitchFamily="34" charset="0"/>
              </a:rPr>
              <a:t>2. Compute the loss function given the input and the target</a:t>
            </a:r>
          </a:p>
          <a:p>
            <a:r>
              <a:rPr lang="en-US" dirty="0">
                <a:solidFill>
                  <a:schemeClr val="tx2"/>
                </a:solidFill>
                <a:latin typeface="Arial" panose="020B0604020202020204" pitchFamily="34" charset="0"/>
                <a:cs typeface="Arial" panose="020B0604020202020204" pitchFamily="34" charset="0"/>
              </a:rPr>
              <a:t>3. Reset the value of the gradients</a:t>
            </a:r>
          </a:p>
          <a:p>
            <a:r>
              <a:rPr lang="en-US" dirty="0">
                <a:solidFill>
                  <a:schemeClr val="tx2"/>
                </a:solidFill>
                <a:latin typeface="Arial" panose="020B0604020202020204" pitchFamily="34" charset="0"/>
                <a:cs typeface="Arial" panose="020B0604020202020204" pitchFamily="34" charset="0"/>
              </a:rPr>
              <a:t>4. </a:t>
            </a:r>
            <a:r>
              <a:rPr lang="en-US" dirty="0" err="1">
                <a:solidFill>
                  <a:schemeClr val="tx2"/>
                </a:solidFill>
                <a:latin typeface="Arial" panose="020B0604020202020204" pitchFamily="34" charset="0"/>
                <a:cs typeface="Arial" panose="020B0604020202020204" pitchFamily="34" charset="0"/>
              </a:rPr>
              <a:t>Backproapagate</a:t>
            </a:r>
            <a:r>
              <a:rPr lang="en-US" dirty="0">
                <a:solidFill>
                  <a:schemeClr val="tx2"/>
                </a:solidFill>
                <a:latin typeface="Arial" panose="020B0604020202020204" pitchFamily="34" charset="0"/>
                <a:cs typeface="Arial" panose="020B0604020202020204" pitchFamily="34" charset="0"/>
              </a:rPr>
              <a:t> the loss</a:t>
            </a:r>
          </a:p>
          <a:p>
            <a:r>
              <a:rPr lang="en-US" dirty="0">
                <a:solidFill>
                  <a:schemeClr val="tx2"/>
                </a:solidFill>
                <a:latin typeface="Arial" panose="020B0604020202020204" pitchFamily="34" charset="0"/>
                <a:cs typeface="Arial" panose="020B0604020202020204" pitchFamily="34" charset="0"/>
              </a:rPr>
              <a:t>5. Apply the gradients through the optimizer</a:t>
            </a:r>
          </a:p>
        </p:txBody>
      </p:sp>
    </p:spTree>
    <p:extLst>
      <p:ext uri="{BB962C8B-B14F-4D97-AF65-F5344CB8AC3E}">
        <p14:creationId xmlns:p14="http://schemas.microsoft.com/office/powerpoint/2010/main" val="10976942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15746-2F17-F2BA-825E-B5E03CA2528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C428C1F-1D21-83D5-59B4-C45AA729C00C}"/>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59674006-56D3-7F81-255F-1BD760260224}"/>
              </a:ext>
            </a:extLst>
          </p:cNvPr>
          <p:cNvSpPr>
            <a:spLocks noGrp="1"/>
          </p:cNvSpPr>
          <p:nvPr>
            <p:ph idx="1"/>
          </p:nvPr>
        </p:nvSpPr>
        <p:spPr>
          <a:xfrm>
            <a:off x="1645611"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Measuring results</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0D77638D-CCC0-FC31-9E6B-7C48565536A4}"/>
              </a:ext>
            </a:extLst>
          </p:cNvPr>
          <p:cNvSpPr/>
          <p:nvPr/>
        </p:nvSpPr>
        <p:spPr>
          <a:xfrm>
            <a:off x="1751012" y="2113402"/>
            <a:ext cx="9144000" cy="145979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check_accuracy</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loader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model</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num_correct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num_samples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model</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.eval</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p:txBody>
      </p:sp>
      <p:sp>
        <p:nvSpPr>
          <p:cNvPr id="3" name="Rectangle 2">
            <a:extLst>
              <a:ext uri="{FF2B5EF4-FFF2-40B4-BE49-F238E27FC236}">
                <a16:creationId xmlns:a16="http://schemas.microsoft.com/office/drawing/2014/main" id="{23A2F7F3-B77A-9EDA-1EC6-964C4448C754}"/>
              </a:ext>
            </a:extLst>
          </p:cNvPr>
          <p:cNvSpPr/>
          <p:nvPr/>
        </p:nvSpPr>
        <p:spPr>
          <a:xfrm>
            <a:off x="1736410" y="3679556"/>
            <a:ext cx="9158602" cy="1909371"/>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Create a function to test accuracy:</a:t>
            </a:r>
          </a:p>
          <a:p>
            <a:pPr marL="342900" indent="-342900">
              <a:buAutoNum type="arabicPeriod"/>
            </a:pPr>
            <a:r>
              <a:rPr lang="en-US" dirty="0">
                <a:solidFill>
                  <a:schemeClr val="tx2"/>
                </a:solidFill>
                <a:latin typeface="Arial" panose="020B0604020202020204" pitchFamily="34" charset="0"/>
                <a:cs typeface="Arial" panose="020B0604020202020204" pitchFamily="34" charset="0"/>
              </a:rPr>
              <a:t>The first argument is a </a:t>
            </a:r>
            <a:r>
              <a:rPr lang="en-US" dirty="0" err="1">
                <a:solidFill>
                  <a:schemeClr val="tx2"/>
                </a:solidFill>
                <a:latin typeface="Arial" panose="020B0604020202020204" pitchFamily="34" charset="0"/>
                <a:cs typeface="Arial" panose="020B0604020202020204" pitchFamily="34" charset="0"/>
              </a:rPr>
              <a:t>DataLoader</a:t>
            </a:r>
            <a:r>
              <a:rPr lang="en-US" dirty="0">
                <a:solidFill>
                  <a:schemeClr val="tx2"/>
                </a:solidFill>
                <a:latin typeface="Arial" panose="020B0604020202020204" pitchFamily="34" charset="0"/>
                <a:cs typeface="Arial" panose="020B0604020202020204" pitchFamily="34" charset="0"/>
              </a:rPr>
              <a:t>. This way we can test the accuracy both on training and testing data set</a:t>
            </a:r>
          </a:p>
          <a:p>
            <a:pPr marL="342900" indent="-342900">
              <a:buAutoNum type="arabicPeriod"/>
            </a:pPr>
            <a:r>
              <a:rPr lang="en-US" dirty="0">
                <a:solidFill>
                  <a:schemeClr val="tx2"/>
                </a:solidFill>
                <a:latin typeface="Arial" panose="020B0604020202020204" pitchFamily="34" charset="0"/>
                <a:cs typeface="Arial" panose="020B0604020202020204" pitchFamily="34" charset="0"/>
              </a:rPr>
              <a:t>The second argument is the model which we want to test.</a:t>
            </a:r>
          </a:p>
          <a:p>
            <a:pPr marL="342900" indent="-342900">
              <a:buAutoNum type="arabicPeriod"/>
            </a:pPr>
            <a:endParaRPr lang="en-US" dirty="0">
              <a:solidFill>
                <a:schemeClr val="tx2"/>
              </a:solidFill>
              <a:latin typeface="Arial" panose="020B0604020202020204" pitchFamily="34" charset="0"/>
              <a:cs typeface="Arial" panose="020B0604020202020204" pitchFamily="34" charset="0"/>
            </a:endParaRPr>
          </a:p>
          <a:p>
            <a:r>
              <a:rPr lang="en-US" dirty="0">
                <a:solidFill>
                  <a:schemeClr val="tx2"/>
                </a:solidFill>
                <a:latin typeface="Arial" panose="020B0604020202020204" pitchFamily="34" charset="0"/>
                <a:cs typeface="Arial" panose="020B0604020202020204" pitchFamily="34" charset="0"/>
              </a:rPr>
              <a:t>By calling </a:t>
            </a:r>
            <a:r>
              <a:rPr lang="en-US" dirty="0" err="1">
                <a:solidFill>
                  <a:schemeClr val="tx2"/>
                </a:solidFill>
                <a:latin typeface="Arial" panose="020B0604020202020204" pitchFamily="34" charset="0"/>
                <a:cs typeface="Arial" panose="020B0604020202020204" pitchFamily="34" charset="0"/>
              </a:rPr>
              <a:t>model.eval</a:t>
            </a:r>
            <a:r>
              <a:rPr lang="en-US" dirty="0">
                <a:solidFill>
                  <a:schemeClr val="tx2"/>
                </a:solidFill>
                <a:latin typeface="Arial" panose="020B0604020202020204" pitchFamily="34" charset="0"/>
                <a:cs typeface="Arial" panose="020B0604020202020204" pitchFamily="34" charset="0"/>
              </a:rPr>
              <a:t> we tell the model that it will be in evaluation mode. For this case it doesn’t change anything, but there are layers that behave differently on evaluation than on training. </a:t>
            </a:r>
          </a:p>
        </p:txBody>
      </p:sp>
    </p:spTree>
    <p:extLst>
      <p:ext uri="{BB962C8B-B14F-4D97-AF65-F5344CB8AC3E}">
        <p14:creationId xmlns:p14="http://schemas.microsoft.com/office/powerpoint/2010/main" val="40445375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099B8-A623-C39E-8B45-AAA7461F9EF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F557EC6-FCD5-008D-4B47-74EBBD687937}"/>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C08F9CB6-D5F6-CBCF-C538-4F84C9AC4CAC}"/>
              </a:ext>
            </a:extLst>
          </p:cNvPr>
          <p:cNvSpPr>
            <a:spLocks noGrp="1"/>
          </p:cNvSpPr>
          <p:nvPr>
            <p:ph idx="1"/>
          </p:nvPr>
        </p:nvSpPr>
        <p:spPr>
          <a:xfrm>
            <a:off x="1645611"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Measuring results</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7B3DE505-37FC-74FB-AF26-73C896E5841E}"/>
              </a:ext>
            </a:extLst>
          </p:cNvPr>
          <p:cNvSpPr/>
          <p:nvPr/>
        </p:nvSpPr>
        <p:spPr>
          <a:xfrm>
            <a:off x="1751012" y="1999281"/>
            <a:ext cx="9144000" cy="293847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with</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.no_grad</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Loop through the data</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for</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y</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in</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loader</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solidFill>
                <a:srgbClr val="C1C1C1"/>
              </a:solidFill>
              <a:latin typeface="Consolas" panose="020B0609020204030204" pitchFamily="49" charset="0"/>
              <a:ea typeface="Aptos" panose="020B0004020202020204" pitchFamily="34" charset="0"/>
              <a:cs typeface="Consolas" panose="020B0609020204030204" pitchFamily="49" charset="0"/>
            </a:endParaRPr>
          </a:p>
          <a:p>
            <a:pPr marL="0" marR="0"/>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Move data to device</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.to</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device</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device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y</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y</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.to</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device</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device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Get to correct shape</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.reshape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.shape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p>
          <a:p>
            <a:pPr marL="0" marR="0"/>
            <a:r>
              <a:rPr lang="en-US" sz="1600" dirty="0">
                <a:solidFill>
                  <a:srgbClr val="C1C1C1"/>
                </a:solidFill>
                <a:latin typeface="Consolas" panose="020B0609020204030204" pitchFamily="49" charset="0"/>
                <a:ea typeface="Times New Roman" panose="02020603050405020304" pitchFamily="18" charset="0"/>
                <a:cs typeface="Consolas" panose="020B0609020204030204" pitchFamily="49" charset="0"/>
              </a:rPr>
              <a:t>            . . .</a:t>
            </a:r>
            <a:endParaRPr lang="en-US" sz="1600"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600" kern="100" dirty="0">
                <a:effectLst/>
                <a:latin typeface="Consolas" panose="020B0609020204030204" pitchFamily="49" charset="0"/>
                <a:ea typeface="Times New Roman" panose="02020603050405020304" pitchFamily="18" charset="0"/>
                <a:cs typeface="Consolas" panose="020B0609020204030204" pitchFamily="49" charset="0"/>
              </a:rPr>
              <a:t> </a:t>
            </a:r>
          </a:p>
        </p:txBody>
      </p:sp>
      <p:sp>
        <p:nvSpPr>
          <p:cNvPr id="3" name="Rectangle 2">
            <a:extLst>
              <a:ext uri="{FF2B5EF4-FFF2-40B4-BE49-F238E27FC236}">
                <a16:creationId xmlns:a16="http://schemas.microsoft.com/office/drawing/2014/main" id="{EE9F289B-9D71-0EE9-E38D-180183BD6414}"/>
              </a:ext>
            </a:extLst>
          </p:cNvPr>
          <p:cNvSpPr/>
          <p:nvPr/>
        </p:nvSpPr>
        <p:spPr>
          <a:xfrm>
            <a:off x="1736410" y="5075799"/>
            <a:ext cx="9158602" cy="1369524"/>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With </a:t>
            </a:r>
            <a:r>
              <a:rPr lang="en-US" dirty="0" err="1">
                <a:solidFill>
                  <a:schemeClr val="tx2"/>
                </a:solidFill>
                <a:latin typeface="Arial" panose="020B0604020202020204" pitchFamily="34" charset="0"/>
                <a:cs typeface="Arial" panose="020B0604020202020204" pitchFamily="34" charset="0"/>
              </a:rPr>
              <a:t>torch.no_grad</a:t>
            </a:r>
            <a:r>
              <a:rPr lang="en-US" dirty="0">
                <a:solidFill>
                  <a:schemeClr val="tx2"/>
                </a:solidFill>
                <a:latin typeface="Arial" panose="020B0604020202020204" pitchFamily="34" charset="0"/>
                <a:cs typeface="Arial" panose="020B0604020202020204" pitchFamily="34" charset="0"/>
              </a:rPr>
              <a:t>() is just an optimization. It tells to </a:t>
            </a:r>
            <a:r>
              <a:rPr lang="en-US" dirty="0" err="1">
                <a:solidFill>
                  <a:schemeClr val="tx2"/>
                </a:solidFill>
                <a:latin typeface="Arial" panose="020B0604020202020204" pitchFamily="34" charset="0"/>
                <a:cs typeface="Arial" panose="020B0604020202020204" pitchFamily="34" charset="0"/>
              </a:rPr>
              <a:t>pytorch</a:t>
            </a:r>
            <a:r>
              <a:rPr lang="en-US" dirty="0">
                <a:solidFill>
                  <a:schemeClr val="tx2"/>
                </a:solidFill>
                <a:latin typeface="Arial" panose="020B0604020202020204" pitchFamily="34" charset="0"/>
                <a:cs typeface="Arial" panose="020B0604020202020204" pitchFamily="34" charset="0"/>
              </a:rPr>
              <a:t> that no grads are needed so less memory is needed. Thus a bigger batch size could be used. It doesn’t impact the results</a:t>
            </a:r>
          </a:p>
          <a:p>
            <a:endParaRPr lang="en-US" dirty="0">
              <a:solidFill>
                <a:schemeClr val="tx2"/>
              </a:solidFill>
              <a:latin typeface="Arial" panose="020B0604020202020204" pitchFamily="34" charset="0"/>
              <a:cs typeface="Arial" panose="020B0604020202020204" pitchFamily="34" charset="0"/>
            </a:endParaRPr>
          </a:p>
          <a:p>
            <a:r>
              <a:rPr lang="en-US" dirty="0">
                <a:solidFill>
                  <a:schemeClr val="tx2"/>
                </a:solidFill>
                <a:latin typeface="Arial" panose="020B0604020202020204" pitchFamily="34" charset="0"/>
                <a:cs typeface="Arial" panose="020B0604020202020204" pitchFamily="34" charset="0"/>
              </a:rPr>
              <a:t>Move the data to the device and reshape it in the way expected by the model (</a:t>
            </a:r>
            <a:r>
              <a:rPr lang="en-US" dirty="0" err="1">
                <a:solidFill>
                  <a:schemeClr val="tx2"/>
                </a:solidFill>
                <a:latin typeface="Arial" panose="020B0604020202020204" pitchFamily="34" charset="0"/>
                <a:cs typeface="Arial" panose="020B0604020202020204" pitchFamily="34" charset="0"/>
              </a:rPr>
              <a:t>batch_size</a:t>
            </a:r>
            <a:r>
              <a:rPr lang="en-US" dirty="0">
                <a:solidFill>
                  <a:schemeClr val="tx2"/>
                </a:solidFill>
                <a:latin typeface="Arial" panose="020B0604020202020204" pitchFamily="34" charset="0"/>
                <a:cs typeface="Arial" panose="020B0604020202020204" pitchFamily="34" charset="0"/>
              </a:rPr>
              <a:t>, 784)</a:t>
            </a:r>
          </a:p>
        </p:txBody>
      </p:sp>
    </p:spTree>
    <p:extLst>
      <p:ext uri="{BB962C8B-B14F-4D97-AF65-F5344CB8AC3E}">
        <p14:creationId xmlns:p14="http://schemas.microsoft.com/office/powerpoint/2010/main" val="38280686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07268-E87E-243C-F472-E72E65CB187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C78C133-5C87-FD8B-8AFE-781F9B590343}"/>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C4ACD0D3-40CD-58FB-0447-EAD9AA29C3D5}"/>
              </a:ext>
            </a:extLst>
          </p:cNvPr>
          <p:cNvSpPr>
            <a:spLocks noGrp="1"/>
          </p:cNvSpPr>
          <p:nvPr>
            <p:ph idx="1"/>
          </p:nvPr>
        </p:nvSpPr>
        <p:spPr>
          <a:xfrm>
            <a:off x="1645611"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Measuring results</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773820A6-AE91-C9CA-FECC-E24219BF94AD}"/>
              </a:ext>
            </a:extLst>
          </p:cNvPr>
          <p:cNvSpPr/>
          <p:nvPr/>
        </p:nvSpPr>
        <p:spPr>
          <a:xfrm>
            <a:off x="1751012" y="2113401"/>
            <a:ext cx="9144000" cy="296239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with</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.no_grad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Loop through the data</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for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y</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in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loader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solidFill>
                <a:srgbClr val="C1C1C1"/>
              </a:solidFill>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latin typeface="Consolas" panose="020B0609020204030204" pitchFamily="49" charset="0"/>
                <a:ea typeface="Times New Roman" panose="02020603050405020304" pitchFamily="18" charset="0"/>
                <a:cs typeface="Consolas" panose="020B0609020204030204" pitchFamily="49" charset="0"/>
              </a:rPr>
              <a:t>            </a:t>
            </a:r>
            <a:r>
              <a:rPr lang="en-US" dirty="0">
                <a:solidFill>
                  <a:srgbClr val="C1C1C1"/>
                </a:solidFill>
                <a:latin typeface="Consolas" panose="020B0609020204030204" pitchFamily="49" charset="0"/>
                <a:ea typeface="Times New Roman" panose="02020603050405020304" pitchFamily="18" charset="0"/>
                <a:cs typeface="Consolas" panose="020B0609020204030204" pitchFamily="49" charset="0"/>
              </a:rPr>
              <a:t>. .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457200" marR="0"/>
            <a:r>
              <a:rPr lang="en-US" kern="100" dirty="0">
                <a:effectLst/>
                <a:latin typeface="Consolas" panose="020B0609020204030204" pitchFamily="49" charset="0"/>
                <a:ea typeface="Times New Roman" panose="02020603050405020304" pitchFamily="18" charset="0"/>
                <a:cs typeface="Consolas" panose="020B0609020204030204" pitchFamily="49" charset="0"/>
              </a:rPr>
              <a:t>        </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Forward pass</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45720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scores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model</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45720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_</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predictions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scores</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.max</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45720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45720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Check how many we got correct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45720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num_correct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predictions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y</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).sum()</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45720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45720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Keep track of number of samples</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45720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num_samples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predictions</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.size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p:txBody>
      </p:sp>
      <p:sp>
        <p:nvSpPr>
          <p:cNvPr id="3" name="Rectangle 2">
            <a:extLst>
              <a:ext uri="{FF2B5EF4-FFF2-40B4-BE49-F238E27FC236}">
                <a16:creationId xmlns:a16="http://schemas.microsoft.com/office/drawing/2014/main" id="{57978033-758A-6CCF-94EE-2C9705C6CD3D}"/>
              </a:ext>
            </a:extLst>
          </p:cNvPr>
          <p:cNvSpPr/>
          <p:nvPr/>
        </p:nvSpPr>
        <p:spPr>
          <a:xfrm>
            <a:off x="1736410" y="5213838"/>
            <a:ext cx="9158602" cy="1369524"/>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Perform the forward pass to get the output of the network . </a:t>
            </a:r>
            <a:br>
              <a:rPr lang="en-US" dirty="0">
                <a:solidFill>
                  <a:schemeClr val="tx2"/>
                </a:solidFill>
                <a:latin typeface="Arial" panose="020B0604020202020204" pitchFamily="34" charset="0"/>
                <a:cs typeface="Arial" panose="020B0604020202020204" pitchFamily="34" charset="0"/>
              </a:rPr>
            </a:br>
            <a:r>
              <a:rPr lang="en-US" dirty="0">
                <a:solidFill>
                  <a:schemeClr val="tx2"/>
                </a:solidFill>
                <a:latin typeface="Arial" panose="020B0604020202020204" pitchFamily="34" charset="0"/>
                <a:cs typeface="Arial" panose="020B0604020202020204" pitchFamily="34" charset="0"/>
              </a:rPr>
              <a:t>Get the max value (not used) and maxi index of the output. If the index is equal to the target, add to correctly identified samples</a:t>
            </a:r>
          </a:p>
          <a:p>
            <a:endParaRPr lang="en-US" dirty="0">
              <a:solidFill>
                <a:schemeClr val="tx2"/>
              </a:solidFill>
              <a:latin typeface="Arial" panose="020B0604020202020204" pitchFamily="34" charset="0"/>
              <a:cs typeface="Arial" panose="020B0604020202020204" pitchFamily="34" charset="0"/>
            </a:endParaRPr>
          </a:p>
          <a:p>
            <a:r>
              <a:rPr lang="en-US" dirty="0" err="1">
                <a:solidFill>
                  <a:schemeClr val="tx2"/>
                </a:solidFill>
                <a:latin typeface="Arial" panose="020B0604020202020204" pitchFamily="34" charset="0"/>
                <a:cs typeface="Arial" panose="020B0604020202020204" pitchFamily="34" charset="0"/>
              </a:rPr>
              <a:t>predictions.size</a:t>
            </a:r>
            <a:r>
              <a:rPr lang="en-US" dirty="0">
                <a:solidFill>
                  <a:schemeClr val="tx2"/>
                </a:solidFill>
                <a:latin typeface="Arial" panose="020B0604020202020204" pitchFamily="34" charset="0"/>
                <a:cs typeface="Arial" panose="020B0604020202020204" pitchFamily="34" charset="0"/>
              </a:rPr>
              <a:t>(0) is the size of the minibatch</a:t>
            </a:r>
          </a:p>
        </p:txBody>
      </p:sp>
    </p:spTree>
    <p:extLst>
      <p:ext uri="{BB962C8B-B14F-4D97-AF65-F5344CB8AC3E}">
        <p14:creationId xmlns:p14="http://schemas.microsoft.com/office/powerpoint/2010/main" val="24438122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6BFA6-0565-643F-AA92-70EE40BEABC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A2ABDC8-08BC-A7E9-CC19-D17CC25D1608}"/>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2AE5BD7E-8178-0B00-13D5-81DCD2F7A742}"/>
              </a:ext>
            </a:extLst>
          </p:cNvPr>
          <p:cNvSpPr>
            <a:spLocks noGrp="1"/>
          </p:cNvSpPr>
          <p:nvPr>
            <p:ph idx="1"/>
          </p:nvPr>
        </p:nvSpPr>
        <p:spPr>
          <a:xfrm>
            <a:off x="1645611"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Measuring results</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6D238B8A-524C-F717-E14E-003067601FF3}"/>
              </a:ext>
            </a:extLst>
          </p:cNvPr>
          <p:cNvSpPr/>
          <p:nvPr/>
        </p:nvSpPr>
        <p:spPr>
          <a:xfrm>
            <a:off x="1751012" y="2113402"/>
            <a:ext cx="9144000" cy="300723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check_accuracy</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loader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model</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chemeClr val="tx1">
                    <a:lumMod val="75000"/>
                  </a:schemeClr>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chemeClr val="tx1">
                    <a:lumMod val="75000"/>
                  </a:schemeClr>
                </a:solidFill>
                <a:effectLst/>
                <a:latin typeface="Consolas" panose="020B0609020204030204" pitchFamily="49" charset="0"/>
                <a:ea typeface="Aptos" panose="020B0004020202020204" pitchFamily="34" charset="0"/>
                <a:cs typeface="Consolas" panose="020B0609020204030204" pitchFamily="49" charset="0"/>
              </a:rPr>
              <a:t>num_correct</a:t>
            </a:r>
            <a:r>
              <a:rPr lang="en-US" kern="0" dirty="0">
                <a:solidFill>
                  <a:schemeClr val="tx1">
                    <a:lumMod val="75000"/>
                  </a:schemeClr>
                </a:solidFill>
                <a:effectLst/>
                <a:latin typeface="Consolas" panose="020B0609020204030204" pitchFamily="49" charset="0"/>
                <a:ea typeface="Aptos" panose="020B0004020202020204" pitchFamily="34" charset="0"/>
                <a:cs typeface="Consolas" panose="020B0609020204030204" pitchFamily="49" charset="0"/>
              </a:rPr>
              <a:t> = 0</a:t>
            </a:r>
            <a:endParaRPr lang="en-US" kern="100" dirty="0">
              <a:solidFill>
                <a:schemeClr val="tx1">
                  <a:lumMod val="75000"/>
                </a:schemeClr>
              </a:solidFill>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chemeClr val="tx1">
                    <a:lumMod val="75000"/>
                  </a:schemeClr>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chemeClr val="tx1">
                    <a:lumMod val="75000"/>
                  </a:schemeClr>
                </a:solidFill>
                <a:effectLst/>
                <a:latin typeface="Consolas" panose="020B0609020204030204" pitchFamily="49" charset="0"/>
                <a:ea typeface="Aptos" panose="020B0004020202020204" pitchFamily="34" charset="0"/>
                <a:cs typeface="Consolas" panose="020B0609020204030204" pitchFamily="49" charset="0"/>
              </a:rPr>
              <a:t>num_samples</a:t>
            </a:r>
            <a:r>
              <a:rPr lang="en-US" kern="0" dirty="0">
                <a:solidFill>
                  <a:schemeClr val="tx1">
                    <a:lumMod val="75000"/>
                  </a:schemeClr>
                </a:solidFill>
                <a:effectLst/>
                <a:latin typeface="Consolas" panose="020B0609020204030204" pitchFamily="49" charset="0"/>
                <a:ea typeface="Aptos" panose="020B0004020202020204" pitchFamily="34" charset="0"/>
                <a:cs typeface="Consolas" panose="020B0609020204030204" pitchFamily="49" charset="0"/>
              </a:rPr>
              <a:t> = 0</a:t>
            </a:r>
            <a:endParaRPr lang="en-US" kern="100" dirty="0">
              <a:solidFill>
                <a:schemeClr val="tx1">
                  <a:lumMod val="75000"/>
                </a:schemeClr>
              </a:solidFill>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kern="0" dirty="0">
                <a:solidFill>
                  <a:schemeClr val="tx1">
                    <a:lumMod val="75000"/>
                  </a:schemeClr>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chemeClr val="tx1">
                    <a:lumMod val="75000"/>
                  </a:schemeClr>
                </a:solidFill>
                <a:effectLst/>
                <a:latin typeface="Consolas" panose="020B0609020204030204" pitchFamily="49" charset="0"/>
                <a:ea typeface="Aptos" panose="020B0004020202020204" pitchFamily="34" charset="0"/>
                <a:cs typeface="Consolas" panose="020B0609020204030204" pitchFamily="49" charset="0"/>
              </a:rPr>
              <a:t>model.eval</a:t>
            </a:r>
            <a:r>
              <a:rPr lang="en-US" kern="0" dirty="0">
                <a:solidFill>
                  <a:schemeClr val="tx1">
                    <a:lumMod val="75000"/>
                  </a:schemeClr>
                </a:solidFill>
                <a:effectLst/>
                <a:latin typeface="Consolas" panose="020B0609020204030204" pitchFamily="49" charset="0"/>
                <a:ea typeface="Aptos" panose="020B0004020202020204" pitchFamily="34" charset="0"/>
                <a:cs typeface="Consolas" panose="020B0609020204030204" pitchFamily="49" charset="0"/>
              </a:rPr>
              <a:t>()</a:t>
            </a:r>
          </a:p>
          <a:p>
            <a:pPr marL="0" marR="0"/>
            <a:endParaRPr lang="en-US" kern="0" dirty="0">
              <a:solidFill>
                <a:schemeClr val="tx1">
                  <a:lumMod val="75000"/>
                </a:schemeClr>
              </a:solidFill>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400" kern="0" dirty="0">
                <a:solidFill>
                  <a:schemeClr val="tx1">
                    <a:lumMod val="75000"/>
                  </a:schemeClr>
                </a:solidFill>
                <a:effectLst/>
                <a:latin typeface="Consolas" panose="020B0609020204030204" pitchFamily="49" charset="0"/>
                <a:ea typeface="Aptos" panose="020B0004020202020204" pitchFamily="34" charset="0"/>
                <a:cs typeface="Consolas" panose="020B0609020204030204" pitchFamily="49" charset="0"/>
              </a:rPr>
              <a:t>     with </a:t>
            </a:r>
            <a:r>
              <a:rPr lang="en-US" sz="1400" kern="0" dirty="0" err="1">
                <a:solidFill>
                  <a:schemeClr val="tx1">
                    <a:lumMod val="75000"/>
                  </a:schemeClr>
                </a:solidFill>
                <a:effectLst/>
                <a:latin typeface="Consolas" panose="020B0609020204030204" pitchFamily="49" charset="0"/>
                <a:ea typeface="Aptos" panose="020B0004020202020204" pitchFamily="34" charset="0"/>
                <a:cs typeface="Consolas" panose="020B0609020204030204" pitchFamily="49" charset="0"/>
              </a:rPr>
              <a:t>torch.no_grad</a:t>
            </a:r>
            <a:r>
              <a:rPr lang="en-US" sz="1400" kern="0" dirty="0">
                <a:solidFill>
                  <a:schemeClr val="tx1">
                    <a:lumMod val="75000"/>
                  </a:schemeClr>
                </a:solidFill>
                <a:effectLst/>
                <a:latin typeface="Consolas" panose="020B0609020204030204" pitchFamily="49" charset="0"/>
                <a:ea typeface="Aptos" panose="020B0004020202020204" pitchFamily="34" charset="0"/>
                <a:cs typeface="Consolas" panose="020B0609020204030204" pitchFamily="49" charset="0"/>
              </a:rPr>
              <a:t>():</a:t>
            </a:r>
            <a:endParaRPr lang="en-US" sz="1400" kern="100" dirty="0">
              <a:solidFill>
                <a:schemeClr val="tx1">
                  <a:lumMod val="75000"/>
                </a:schemeClr>
              </a:solidFill>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400" kern="0" dirty="0">
                <a:solidFill>
                  <a:schemeClr val="tx1">
                    <a:lumMod val="75000"/>
                  </a:schemeClr>
                </a:solidFill>
                <a:effectLst/>
                <a:latin typeface="Consolas" panose="020B0609020204030204" pitchFamily="49" charset="0"/>
                <a:ea typeface="Aptos" panose="020B0004020202020204" pitchFamily="34" charset="0"/>
                <a:cs typeface="Consolas" panose="020B0609020204030204" pitchFamily="49" charset="0"/>
              </a:rPr>
              <a:t>        # Loop through the data</a:t>
            </a:r>
            <a:endParaRPr lang="en-US" sz="1400" kern="100" dirty="0">
              <a:solidFill>
                <a:schemeClr val="tx1">
                  <a:lumMod val="75000"/>
                </a:schemeClr>
              </a:solidFill>
              <a:effectLst/>
              <a:latin typeface="Consolas" panose="020B0609020204030204" pitchFamily="49" charset="0"/>
              <a:ea typeface="Times New Roman" panose="02020603050405020304" pitchFamily="18" charset="0"/>
              <a:cs typeface="Consolas" panose="020B0609020204030204" pitchFamily="49" charset="0"/>
            </a:endParaRPr>
          </a:p>
          <a:p>
            <a:pPr marL="0" marR="0"/>
            <a:r>
              <a:rPr lang="en-US" sz="1400" kern="0" dirty="0">
                <a:solidFill>
                  <a:schemeClr val="tx1">
                    <a:lumMod val="75000"/>
                  </a:schemeClr>
                </a:solidFill>
                <a:effectLst/>
                <a:latin typeface="Consolas" panose="020B0609020204030204" pitchFamily="49" charset="0"/>
                <a:ea typeface="Aptos" panose="020B0004020202020204" pitchFamily="34" charset="0"/>
                <a:cs typeface="Consolas" panose="020B0609020204030204" pitchFamily="49" charset="0"/>
              </a:rPr>
              <a:t>        for x, y in loader:</a:t>
            </a:r>
            <a:endParaRPr lang="en-US" sz="1400" kern="100" dirty="0">
              <a:solidFill>
                <a:schemeClr val="tx1">
                  <a:lumMod val="75000"/>
                </a:schemeClr>
              </a:solidFill>
              <a:latin typeface="Consolas" panose="020B0609020204030204" pitchFamily="49" charset="0"/>
              <a:ea typeface="Aptos" panose="020B0004020202020204" pitchFamily="34" charset="0"/>
              <a:cs typeface="Consolas" panose="020B0609020204030204" pitchFamily="49" charset="0"/>
            </a:endParaRPr>
          </a:p>
          <a:p>
            <a:pPr marL="0" marR="0"/>
            <a:r>
              <a:rPr lang="en-US" dirty="0">
                <a:solidFill>
                  <a:schemeClr val="tx1">
                    <a:lumMod val="75000"/>
                  </a:schemeClr>
                </a:solidFill>
                <a:latin typeface="Consolas" panose="020B0609020204030204" pitchFamily="49" charset="0"/>
                <a:ea typeface="Times New Roman" panose="02020603050405020304" pitchFamily="18" charset="0"/>
                <a:cs typeface="Consolas" panose="020B0609020204030204" pitchFamily="49" charset="0"/>
              </a:rPr>
              <a:t>           . . .</a:t>
            </a:r>
            <a:endParaRPr lang="en-US" kern="100" dirty="0">
              <a:solidFill>
                <a:schemeClr val="tx1">
                  <a:lumMod val="75000"/>
                </a:schemeClr>
              </a:solidFill>
              <a:effectLst/>
              <a:latin typeface="Consolas" panose="020B0609020204030204" pitchFamily="49" charset="0"/>
              <a:ea typeface="Times New Roman" panose="02020603050405020304" pitchFamily="18" charset="0"/>
              <a:cs typeface="Consolas" panose="020B0609020204030204" pitchFamily="49" charset="0"/>
            </a:endParaRPr>
          </a:p>
          <a:p>
            <a:pPr>
              <a:lnSpc>
                <a:spcPts val="1725"/>
              </a:lnSpc>
            </a:pPr>
            <a:r>
              <a:rPr lang="en-US" b="0" dirty="0">
                <a:solidFill>
                  <a:srgbClr val="CCCCCC"/>
                </a:solidFill>
                <a:effectLst/>
                <a:latin typeface="Consolas" panose="020B0609020204030204" pitchFamily="49" charset="0"/>
                <a:cs typeface="Consolas" panose="020B0609020204030204" pitchFamily="49" charset="0"/>
              </a:rPr>
              <a:t>    </a:t>
            </a:r>
            <a:br>
              <a:rPr lang="en-US" b="0" dirty="0">
                <a:solidFill>
                  <a:srgbClr val="CCCCCC"/>
                </a:solidFill>
                <a:effectLst/>
                <a:latin typeface="Consolas" panose="020B0609020204030204" pitchFamily="49" charset="0"/>
                <a:cs typeface="Consolas" panose="020B0609020204030204" pitchFamily="49" charset="0"/>
              </a:rPr>
            </a:br>
            <a:r>
              <a:rPr lang="en-US" b="0" dirty="0">
                <a:solidFill>
                  <a:srgbClr val="CCCCCC"/>
                </a:solidFill>
                <a:effectLst/>
                <a:latin typeface="Consolas" panose="020B0609020204030204" pitchFamily="49" charset="0"/>
                <a:cs typeface="Consolas" panose="020B0609020204030204" pitchFamily="49" charset="0"/>
              </a:rPr>
              <a:t>    </a:t>
            </a:r>
            <a:r>
              <a:rPr lang="en-US" b="0" dirty="0" err="1">
                <a:solidFill>
                  <a:srgbClr val="9CDCFE"/>
                </a:solidFill>
                <a:effectLst/>
                <a:latin typeface="Consolas" panose="020B0609020204030204" pitchFamily="49" charset="0"/>
                <a:cs typeface="Consolas" panose="020B0609020204030204" pitchFamily="49" charset="0"/>
              </a:rPr>
              <a:t>model</a:t>
            </a:r>
            <a:r>
              <a:rPr lang="en-US" b="0" dirty="0" err="1">
                <a:solidFill>
                  <a:srgbClr val="CCCCCC"/>
                </a:solidFill>
                <a:effectLst/>
                <a:latin typeface="Consolas" panose="020B0609020204030204" pitchFamily="49" charset="0"/>
                <a:cs typeface="Consolas" panose="020B0609020204030204" pitchFamily="49" charset="0"/>
              </a:rPr>
              <a:t>.train</a:t>
            </a:r>
            <a:r>
              <a:rPr lang="en-US" b="0" dirty="0">
                <a:solidFill>
                  <a:srgbClr val="CCCCCC"/>
                </a:solidFill>
                <a:effectLst/>
                <a:latin typeface="Consolas" panose="020B0609020204030204" pitchFamily="49" charset="0"/>
                <a:cs typeface="Consolas" panose="020B0609020204030204" pitchFamily="49" charset="0"/>
              </a:rPr>
              <a:t>()</a:t>
            </a:r>
          </a:p>
          <a:p>
            <a:pPr>
              <a:lnSpc>
                <a:spcPts val="1725"/>
              </a:lnSpc>
            </a:pPr>
            <a:r>
              <a:rPr lang="en-US" b="0" dirty="0">
                <a:solidFill>
                  <a:srgbClr val="C586C0"/>
                </a:solidFill>
                <a:effectLst/>
                <a:latin typeface="Consolas" panose="020B0609020204030204" pitchFamily="49" charset="0"/>
                <a:cs typeface="Consolas" panose="020B0609020204030204" pitchFamily="49" charset="0"/>
              </a:rPr>
              <a:t>    return</a:t>
            </a:r>
            <a:r>
              <a:rPr lang="en-US" b="0" dirty="0">
                <a:solidFill>
                  <a:srgbClr val="CCCCCC"/>
                </a:solidFill>
                <a:effectLst/>
                <a:latin typeface="Consolas" panose="020B0609020204030204" pitchFamily="49" charset="0"/>
                <a:cs typeface="Consolas" panose="020B0609020204030204" pitchFamily="49" charset="0"/>
              </a:rPr>
              <a:t> </a:t>
            </a:r>
            <a:r>
              <a:rPr lang="en-US" b="0" dirty="0" err="1">
                <a:solidFill>
                  <a:srgbClr val="9CDCFE"/>
                </a:solidFill>
                <a:effectLst/>
                <a:latin typeface="Consolas" panose="020B0609020204030204" pitchFamily="49" charset="0"/>
                <a:cs typeface="Consolas" panose="020B0609020204030204" pitchFamily="49" charset="0"/>
              </a:rPr>
              <a:t>num_correct</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D4D4D4"/>
                </a:solidFill>
                <a:effectLst/>
                <a:latin typeface="Consolas" panose="020B0609020204030204" pitchFamily="49" charset="0"/>
                <a:cs typeface="Consolas" panose="020B0609020204030204" pitchFamily="49" charset="0"/>
              </a:rPr>
              <a:t>/</a:t>
            </a:r>
            <a:r>
              <a:rPr lang="en-US" b="0" dirty="0">
                <a:solidFill>
                  <a:srgbClr val="CCCCCC"/>
                </a:solidFill>
                <a:effectLst/>
                <a:latin typeface="Consolas" panose="020B0609020204030204" pitchFamily="49" charset="0"/>
                <a:cs typeface="Consolas" panose="020B0609020204030204" pitchFamily="49" charset="0"/>
              </a:rPr>
              <a:t> </a:t>
            </a:r>
            <a:r>
              <a:rPr lang="en-US" b="0" dirty="0" err="1">
                <a:solidFill>
                  <a:srgbClr val="9CDCFE"/>
                </a:solidFill>
                <a:effectLst/>
                <a:latin typeface="Consolas" panose="020B0609020204030204" pitchFamily="49" charset="0"/>
                <a:cs typeface="Consolas" panose="020B0609020204030204" pitchFamily="49" charset="0"/>
              </a:rPr>
              <a:t>num_samples</a:t>
            </a:r>
            <a:endParaRPr lang="en-US" b="0" dirty="0">
              <a:solidFill>
                <a:srgbClr val="CCCCCC"/>
              </a:solidFill>
              <a:effectLst/>
              <a:latin typeface="Consolas" panose="020B0609020204030204" pitchFamily="49" charset="0"/>
              <a:cs typeface="Consolas" panose="020B0609020204030204" pitchFamily="49" charset="0"/>
            </a:endParaRPr>
          </a:p>
          <a:p>
            <a:pPr marL="0" marR="0"/>
            <a:endParaRPr lang="en-US" kern="100" dirty="0">
              <a:effectLst/>
              <a:latin typeface="Consolas" panose="020B0609020204030204" pitchFamily="49" charset="0"/>
              <a:ea typeface="Times New Roman" panose="02020603050405020304" pitchFamily="18" charset="0"/>
              <a:cs typeface="Consolas" panose="020B0609020204030204" pitchFamily="49" charset="0"/>
            </a:endParaRPr>
          </a:p>
        </p:txBody>
      </p:sp>
      <p:sp>
        <p:nvSpPr>
          <p:cNvPr id="3" name="Rectangle 2">
            <a:extLst>
              <a:ext uri="{FF2B5EF4-FFF2-40B4-BE49-F238E27FC236}">
                <a16:creationId xmlns:a16="http://schemas.microsoft.com/office/drawing/2014/main" id="{3CAB72F8-3246-767B-39E6-E594C0F26C05}"/>
              </a:ext>
            </a:extLst>
          </p:cNvPr>
          <p:cNvSpPr/>
          <p:nvPr/>
        </p:nvSpPr>
        <p:spPr>
          <a:xfrm>
            <a:off x="1736410" y="5272187"/>
            <a:ext cx="9158602" cy="1311176"/>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Arial" panose="020B0604020202020204" pitchFamily="34" charset="0"/>
                <a:cs typeface="Arial" panose="020B0604020202020204" pitchFamily="34" charset="0"/>
              </a:rPr>
              <a:t>Set the model back to training mode. Compute and return the accuracy</a:t>
            </a:r>
          </a:p>
        </p:txBody>
      </p:sp>
    </p:spTree>
    <p:extLst>
      <p:ext uri="{BB962C8B-B14F-4D97-AF65-F5344CB8AC3E}">
        <p14:creationId xmlns:p14="http://schemas.microsoft.com/office/powerpoint/2010/main" val="3758907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22B67-31F5-6883-9007-A9F5204B9B7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E0CEA1E-6B1F-E568-53DA-91903CA1E976}"/>
              </a:ext>
            </a:extLst>
          </p:cNvPr>
          <p:cNvSpPr>
            <a:spLocks noGrp="1"/>
          </p:cNvSpPr>
          <p:nvPr>
            <p:ph type="title"/>
          </p:nvPr>
        </p:nvSpPr>
        <p:spPr/>
        <p:txBody>
          <a:bodyPr/>
          <a:lstStyle/>
          <a:p>
            <a:r>
              <a:rPr lang="en-US" dirty="0"/>
              <a:t>Backpropagation in </a:t>
            </a:r>
            <a:r>
              <a:rPr lang="en-US" dirty="0" err="1"/>
              <a:t>Pytorch</a:t>
            </a:r>
            <a:endParaRPr lang="en-US" dirty="0"/>
          </a:p>
        </p:txBody>
      </p:sp>
      <p:sp>
        <p:nvSpPr>
          <p:cNvPr id="6" name="Content Placeholder 5">
            <a:extLst>
              <a:ext uri="{FF2B5EF4-FFF2-40B4-BE49-F238E27FC236}">
                <a16:creationId xmlns:a16="http://schemas.microsoft.com/office/drawing/2014/main" id="{FF4D7051-6A1C-517E-2ED3-5F1ADFDE51AC}"/>
              </a:ext>
            </a:extLst>
          </p:cNvPr>
          <p:cNvSpPr>
            <a:spLocks noGrp="1"/>
          </p:cNvSpPr>
          <p:nvPr>
            <p:ph idx="1"/>
          </p:nvPr>
        </p:nvSpPr>
        <p:spPr>
          <a:xfrm>
            <a:off x="1645611" y="1401762"/>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Let’s put all of these together and created a simple training:</a:t>
            </a:r>
          </a:p>
          <a:p>
            <a:pPr marL="514350" indent="-514350">
              <a:buAutoNum type="arabicPeriod"/>
            </a:pPr>
            <a:endParaRPr lang="en-US" dirty="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093E8524-90DE-C400-48B6-732721D69865}"/>
              </a:ext>
            </a:extLst>
          </p:cNvPr>
          <p:cNvSpPr/>
          <p:nvPr/>
        </p:nvSpPr>
        <p:spPr>
          <a:xfrm>
            <a:off x="1508072" y="2138290"/>
            <a:ext cx="10057878" cy="4100732"/>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solidFill>
                  <a:schemeClr val="tx2"/>
                </a:solidFill>
              </a:rPr>
              <a:t>100%|██████████████████████████████████████████████| 938/938 [00:05&lt;00:00, 167.78it/s]</a:t>
            </a:r>
          </a:p>
          <a:p>
            <a:pPr>
              <a:lnSpc>
                <a:spcPct val="150000"/>
              </a:lnSpc>
            </a:pPr>
            <a:r>
              <a:rPr lang="en-US" dirty="0">
                <a:solidFill>
                  <a:schemeClr val="tx2"/>
                </a:solidFill>
              </a:rPr>
              <a:t>100%|██████████████████████████████████████████████| 938/938 [00:05&lt;00:00, 176.65it/s]</a:t>
            </a:r>
          </a:p>
          <a:p>
            <a:pPr>
              <a:lnSpc>
                <a:spcPct val="150000"/>
              </a:lnSpc>
            </a:pPr>
            <a:r>
              <a:rPr lang="en-US" dirty="0">
                <a:solidFill>
                  <a:schemeClr val="tx2"/>
                </a:solidFill>
              </a:rPr>
              <a:t>100%|██████████████████████████████████████████████| 938/938 [00:05&lt;00:00, 176.36it/s]</a:t>
            </a:r>
          </a:p>
          <a:p>
            <a:pPr>
              <a:lnSpc>
                <a:spcPct val="150000"/>
              </a:lnSpc>
            </a:pPr>
            <a:r>
              <a:rPr lang="en-US" dirty="0">
                <a:solidFill>
                  <a:schemeClr val="tx2"/>
                </a:solidFill>
              </a:rPr>
              <a:t>100%|██████████████████████████████████████████████| 938/938 [00:05&lt;00:00, 173.92it/s]</a:t>
            </a:r>
          </a:p>
          <a:p>
            <a:pPr>
              <a:lnSpc>
                <a:spcPct val="150000"/>
              </a:lnSpc>
            </a:pPr>
            <a:r>
              <a:rPr lang="en-US" dirty="0">
                <a:solidFill>
                  <a:schemeClr val="tx2"/>
                </a:solidFill>
              </a:rPr>
              <a:t>100%|██████████████████████████████████████████████| 938/938 [00:05&lt;00:00, 175.19it/s]</a:t>
            </a:r>
          </a:p>
          <a:p>
            <a:pPr>
              <a:lnSpc>
                <a:spcPct val="150000"/>
              </a:lnSpc>
            </a:pPr>
            <a:r>
              <a:rPr lang="en-US" dirty="0">
                <a:solidFill>
                  <a:schemeClr val="tx2"/>
                </a:solidFill>
              </a:rPr>
              <a:t>100%|██████████████████████████████████████████████| 938/938 [00:05&lt;00:00, 175.22it/s]</a:t>
            </a:r>
          </a:p>
          <a:p>
            <a:pPr>
              <a:lnSpc>
                <a:spcPct val="150000"/>
              </a:lnSpc>
            </a:pPr>
            <a:r>
              <a:rPr lang="en-US" dirty="0">
                <a:solidFill>
                  <a:schemeClr val="tx2"/>
                </a:solidFill>
              </a:rPr>
              <a:t>100%|██████████████████████████████████████████████| 938/938 [00:05&lt;00:00, 174.93it/s]</a:t>
            </a:r>
          </a:p>
          <a:p>
            <a:pPr>
              <a:lnSpc>
                <a:spcPct val="150000"/>
              </a:lnSpc>
            </a:pPr>
            <a:r>
              <a:rPr lang="en-US" dirty="0">
                <a:solidFill>
                  <a:schemeClr val="tx2"/>
                </a:solidFill>
              </a:rPr>
              <a:t>100%|██████████████████████████████████████████████| 938/938 [00:05&lt;00:00, 175.81it/s]</a:t>
            </a:r>
          </a:p>
          <a:p>
            <a:pPr>
              <a:lnSpc>
                <a:spcPct val="150000"/>
              </a:lnSpc>
            </a:pPr>
            <a:r>
              <a:rPr lang="en-US" dirty="0">
                <a:solidFill>
                  <a:schemeClr val="tx2"/>
                </a:solidFill>
              </a:rPr>
              <a:t>100%|██████████████████████████████████████████████| 938/938 [00:05&lt;00:00, 175.96it/s]</a:t>
            </a:r>
          </a:p>
          <a:p>
            <a:pPr>
              <a:lnSpc>
                <a:spcPct val="150000"/>
              </a:lnSpc>
            </a:pPr>
            <a:r>
              <a:rPr lang="en-US" dirty="0">
                <a:solidFill>
                  <a:schemeClr val="tx2"/>
                </a:solidFill>
              </a:rPr>
              <a:t>100%|██████████████████████████████████████████████| 938/938 [00:05&lt;00:00, 174.38it/s]</a:t>
            </a:r>
          </a:p>
          <a:p>
            <a:pPr>
              <a:lnSpc>
                <a:spcPct val="150000"/>
              </a:lnSpc>
            </a:pPr>
            <a:r>
              <a:rPr lang="en-US" dirty="0">
                <a:solidFill>
                  <a:schemeClr val="tx2"/>
                </a:solidFill>
              </a:rPr>
              <a:t>Accuracy on training set: 98.56</a:t>
            </a:r>
          </a:p>
          <a:p>
            <a:pPr>
              <a:lnSpc>
                <a:spcPct val="150000"/>
              </a:lnSpc>
            </a:pPr>
            <a:r>
              <a:rPr lang="en-US" dirty="0">
                <a:solidFill>
                  <a:schemeClr val="tx2"/>
                </a:solidFill>
              </a:rPr>
              <a:t>Accuracy on test set: 97.10</a:t>
            </a:r>
          </a:p>
          <a:p>
            <a:endParaRPr lang="en-US" dirty="0">
              <a:solidFill>
                <a:schemeClr val="tx2"/>
              </a:solidFill>
            </a:endParaRPr>
          </a:p>
        </p:txBody>
      </p:sp>
    </p:spTree>
    <p:extLst>
      <p:ext uri="{BB962C8B-B14F-4D97-AF65-F5344CB8AC3E}">
        <p14:creationId xmlns:p14="http://schemas.microsoft.com/office/powerpoint/2010/main" val="702365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875"/>
        <p:cNvGrpSpPr/>
        <p:nvPr/>
      </p:nvGrpSpPr>
      <p:grpSpPr>
        <a:xfrm>
          <a:off x="0" y="0"/>
          <a:ext cx="0" cy="0"/>
          <a:chOff x="0" y="0"/>
          <a:chExt cx="0" cy="0"/>
        </a:xfrm>
      </p:grpSpPr>
      <p:sp>
        <p:nvSpPr>
          <p:cNvPr id="1876" name="Google Shape;1876;p71"/>
          <p:cNvSpPr txBox="1">
            <a:spLocks noGrp="1"/>
          </p:cNvSpPr>
          <p:nvPr>
            <p:ph type="body" idx="1"/>
          </p:nvPr>
        </p:nvSpPr>
        <p:spPr>
          <a:xfrm>
            <a:off x="1522413" y="5102525"/>
            <a:ext cx="9143999" cy="106967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920"/>
              <a:buNone/>
            </a:pPr>
            <a:endParaRPr/>
          </a:p>
        </p:txBody>
      </p:sp>
      <p:sp>
        <p:nvSpPr>
          <p:cNvPr id="1877" name="Google Shape;1877;p71"/>
          <p:cNvSpPr txBox="1">
            <a:spLocks noGrp="1"/>
          </p:cNvSpPr>
          <p:nvPr>
            <p:ph type="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400"/>
              <a:buFont typeface="Century Gothic"/>
              <a:buNone/>
            </a:pPr>
            <a:r>
              <a:rPr lang="en-US"/>
              <a:t>Questions &amp; Discussion</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Student presentation">
  <a:themeElements>
    <a:clrScheme name="text grey dark background">
      <a:dk1>
        <a:srgbClr val="919191"/>
      </a:dk1>
      <a:lt1>
        <a:srgbClr val="FFFFFF"/>
      </a:lt1>
      <a:dk2>
        <a:srgbClr val="212745"/>
      </a:dk2>
      <a:lt2>
        <a:srgbClr val="000000"/>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Slipstream">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18577</TotalTime>
  <Words>11990</Words>
  <Application>Microsoft Macintosh PowerPoint</Application>
  <PresentationFormat>Custom</PresentationFormat>
  <Paragraphs>1606</Paragraphs>
  <Slides>109</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109</vt:i4>
      </vt:variant>
    </vt:vector>
  </HeadingPairs>
  <TitlesOfParts>
    <vt:vector size="119" baseType="lpstr">
      <vt:lpstr>Aptos</vt:lpstr>
      <vt:lpstr>Arial</vt:lpstr>
      <vt:lpstr>Menlo</vt:lpstr>
      <vt:lpstr>Consolas</vt:lpstr>
      <vt:lpstr>Century Gothic</vt:lpstr>
      <vt:lpstr>Noto Sans Symbols</vt:lpstr>
      <vt:lpstr>Berlin Sans FB Demi</vt:lpstr>
      <vt:lpstr>Cambria Math</vt:lpstr>
      <vt:lpstr>Calibri</vt:lpstr>
      <vt:lpstr>Student presentation</vt:lpstr>
      <vt:lpstr>Neural Networks</vt:lpstr>
      <vt:lpstr>Overview</vt:lpstr>
      <vt:lpstr>What is PyTorch</vt:lpstr>
      <vt:lpstr>What is PyTorch</vt:lpstr>
      <vt:lpstr>What is PyTorch</vt:lpstr>
      <vt:lpstr>What is PyTorch</vt:lpstr>
      <vt:lpstr>What is PyTorch</vt:lpstr>
      <vt:lpstr>What is PyTorch</vt:lpstr>
      <vt:lpstr>What is PyTorch</vt:lpstr>
      <vt:lpstr>What is PyTorch</vt:lpstr>
      <vt:lpstr>What is PyTorch</vt:lpstr>
      <vt:lpstr>Data Types</vt:lpstr>
      <vt:lpstr>Data types</vt:lpstr>
      <vt:lpstr>Data types</vt:lpstr>
      <vt:lpstr>Data types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Tensors</vt:lpstr>
      <vt:lpstr>Layers</vt:lpstr>
      <vt:lpstr>Layers</vt:lpstr>
      <vt:lpstr>Layers</vt:lpstr>
      <vt:lpstr>Layers</vt:lpstr>
      <vt:lpstr>Layers</vt:lpstr>
      <vt:lpstr>Layers</vt:lpstr>
      <vt:lpstr>Layers</vt:lpstr>
      <vt:lpstr>Layers</vt:lpstr>
      <vt:lpstr>Layers</vt:lpstr>
      <vt:lpstr>Layers</vt:lpstr>
      <vt:lpstr>Layers</vt:lpstr>
      <vt:lpstr>Layers</vt:lpstr>
      <vt:lpstr>Layers</vt:lpstr>
      <vt:lpstr>Layers</vt:lpstr>
      <vt:lpstr>Layers</vt:lpstr>
      <vt:lpstr>Layers</vt:lpstr>
      <vt:lpstr>Layers</vt:lpstr>
      <vt:lpstr>Layers</vt:lpstr>
      <vt:lpstr>Layers</vt:lpstr>
      <vt:lpstr>Layers</vt:lpstr>
      <vt:lpstr>Module base class</vt:lpstr>
      <vt:lpstr>Module base class</vt:lpstr>
      <vt:lpstr>Module base class</vt:lpstr>
      <vt:lpstr>Module base class</vt:lpstr>
      <vt:lpstr>Datasets &amp; Dataloaders</vt:lpstr>
      <vt:lpstr>Datasets</vt:lpstr>
      <vt:lpstr>Datasets</vt:lpstr>
      <vt:lpstr>Datasets</vt:lpstr>
      <vt:lpstr>Datasets</vt:lpstr>
      <vt:lpstr>Datasets</vt:lpstr>
      <vt:lpstr>Datasets</vt:lpstr>
      <vt:lpstr>Datasets</vt:lpstr>
      <vt:lpstr>Datasets</vt:lpstr>
      <vt:lpstr>Datasets</vt:lpstr>
      <vt:lpstr>Datasets</vt:lpstr>
      <vt:lpstr>Dataloaders</vt:lpstr>
      <vt:lpstr>Dataloaders`</vt:lpstr>
      <vt:lpstr>Checkpoints</vt:lpstr>
      <vt:lpstr>Checkpoints</vt:lpstr>
      <vt:lpstr>Checkpoints</vt:lpstr>
      <vt:lpstr>Checkpoints</vt:lpstr>
      <vt:lpstr>Loss Functions</vt:lpstr>
      <vt:lpstr>Loss Functions</vt:lpstr>
      <vt:lpstr>Loss Functions</vt:lpstr>
      <vt:lpstr>Loss Functions</vt:lpstr>
      <vt:lpstr>Computation Graph</vt:lpstr>
      <vt:lpstr>Computation Graph</vt:lpstr>
      <vt:lpstr>Backpropagation in Pytorch</vt:lpstr>
      <vt:lpstr>Backpropagation in Pytorch</vt:lpstr>
      <vt:lpstr>Backpropagation in Pytorch</vt:lpstr>
      <vt:lpstr>Backpropagation in Pytorch</vt:lpstr>
      <vt:lpstr>Backpropagation in Pytorch</vt:lpstr>
      <vt:lpstr>Backpropagation in Pytorch</vt:lpstr>
      <vt:lpstr>Backpropagation in Pytorch</vt:lpstr>
      <vt:lpstr>Backpropagation in Pytorch</vt:lpstr>
      <vt:lpstr>Backpropagation in Pytorch</vt:lpstr>
      <vt:lpstr>Backpropagation in Pytorch</vt:lpstr>
      <vt:lpstr>Backpropagation in Pytorch</vt:lpstr>
      <vt:lpstr>Backpropagation in Pytorch</vt:lpstr>
      <vt:lpstr>Backpropagation in Pytorch</vt:lpstr>
      <vt:lpstr>Backpropagation in Pytorch</vt:lpstr>
      <vt:lpstr>Backpropagation in Pytorch</vt:lpstr>
      <vt:lpstr>Backpropagation in Pytorch</vt:lpstr>
      <vt:lpstr>Backpropagation in Pytorch</vt:lpstr>
      <vt:lpstr>Backpropagation in Pytorch</vt:lpstr>
      <vt:lpstr>Backpropagation in Pytorch</vt:lpstr>
      <vt:lpstr>Questions &amp; 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Mihai Razvan BENCHEA</cp:lastModifiedBy>
  <cp:revision>35</cp:revision>
  <dcterms:modified xsi:type="dcterms:W3CDTF">2025-11-22T09:49:25Z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d9c527f-5235-45cb-bea5-98c00c666442_Enabled">
    <vt:lpwstr>true</vt:lpwstr>
  </property>
  <property fmtid="{D5CDD505-2E9C-101B-9397-08002B2CF9AE}" pid="3" name="MSIP_Label_9d9c527f-5235-45cb-bea5-98c00c666442_SetDate">
    <vt:lpwstr>2024-09-05T07:30:15Z</vt:lpwstr>
  </property>
  <property fmtid="{D5CDD505-2E9C-101B-9397-08002B2CF9AE}" pid="4" name="MSIP_Label_9d9c527f-5235-45cb-bea5-98c00c666442_Method">
    <vt:lpwstr>Standard</vt:lpwstr>
  </property>
  <property fmtid="{D5CDD505-2E9C-101B-9397-08002B2CF9AE}" pid="5" name="MSIP_Label_9d9c527f-5235-45cb-bea5-98c00c666442_Name">
    <vt:lpwstr>INTERNAL</vt:lpwstr>
  </property>
  <property fmtid="{D5CDD505-2E9C-101B-9397-08002B2CF9AE}" pid="6" name="MSIP_Label_9d9c527f-5235-45cb-bea5-98c00c666442_SiteId">
    <vt:lpwstr>487baf29-f1da-469a-9221-243f830c36f3</vt:lpwstr>
  </property>
  <property fmtid="{D5CDD505-2E9C-101B-9397-08002B2CF9AE}" pid="7" name="MSIP_Label_9d9c527f-5235-45cb-bea5-98c00c666442_ActionId">
    <vt:lpwstr>ab139cd9-dff4-4e92-95e1-97d73c990ad1</vt:lpwstr>
  </property>
  <property fmtid="{D5CDD505-2E9C-101B-9397-08002B2CF9AE}" pid="8" name="MSIP_Label_9d9c527f-5235-45cb-bea5-98c00c666442_ContentBits">
    <vt:lpwstr>1</vt:lpwstr>
  </property>
  <property fmtid="{D5CDD505-2E9C-101B-9397-08002B2CF9AE}" pid="9" name="ClassificationContentMarkingHeaderLocations">
    <vt:lpwstr>Student presentation:3</vt:lpwstr>
  </property>
  <property fmtid="{D5CDD505-2E9C-101B-9397-08002B2CF9AE}" pid="10" name="ClassificationContentMarkingHeaderText">
    <vt:lpwstr>Internal Use Only</vt:lpwstr>
  </property>
</Properties>
</file>